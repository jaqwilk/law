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7" r:id="rId4"/>
    <p:sldId id="268" r:id="rId5"/>
    <p:sldId id="258" r:id="rId6"/>
    <p:sldId id="276" r:id="rId7"/>
    <p:sldId id="275" r:id="rId8"/>
    <p:sldId id="259" r:id="rId9"/>
    <p:sldId id="266" r:id="rId10"/>
    <p:sldId id="265" r:id="rId11"/>
    <p:sldId id="264" r:id="rId12"/>
    <p:sldId id="272" r:id="rId13"/>
    <p:sldId id="273" r:id="rId14"/>
    <p:sldId id="277" r:id="rId15"/>
    <p:sldId id="282" r:id="rId16"/>
    <p:sldId id="281" r:id="rId17"/>
    <p:sldId id="280" r:id="rId18"/>
    <p:sldId id="263" r:id="rId19"/>
    <p:sldId id="278" r:id="rId20"/>
    <p:sldId id="262" r:id="rId21"/>
    <p:sldId id="270" r:id="rId22"/>
    <p:sldId id="269" r:id="rId23"/>
    <p:sldId id="271" r:id="rId24"/>
    <p:sldId id="261" r:id="rId25"/>
    <p:sldId id="260" r:id="rId26"/>
    <p:sldId id="274" r:id="rId27"/>
    <p:sldId id="279" r:id="rId28"/>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DE8181-905C-4C4E-87F7-6A672D9AF5C3}" v="3" dt="2026-01-07T21:33:21.9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demar Hoff" userId="bacb8968-6b42-45e3-b232-453b0d6bde59" providerId="ADAL" clId="{F8C1E58B-402C-4ED2-AD69-E062B24CC05A}"/>
    <pc:docChg chg="undo custSel addSld delSld modSld sldOrd">
      <pc:chgData name="Waldemar Hoff" userId="bacb8968-6b42-45e3-b232-453b0d6bde59" providerId="ADAL" clId="{F8C1E58B-402C-4ED2-AD69-E062B24CC05A}" dt="2026-01-07T21:35:14.220" v="22073" actId="20577"/>
      <pc:docMkLst>
        <pc:docMk/>
      </pc:docMkLst>
      <pc:sldChg chg="modSp new mod">
        <pc:chgData name="Waldemar Hoff" userId="bacb8968-6b42-45e3-b232-453b0d6bde59" providerId="ADAL" clId="{F8C1E58B-402C-4ED2-AD69-E062B24CC05A}" dt="2026-01-07T21:22:30.432" v="21683" actId="27636"/>
        <pc:sldMkLst>
          <pc:docMk/>
          <pc:sldMk cId="2423530334" sldId="256"/>
        </pc:sldMkLst>
        <pc:spChg chg="mod">
          <ac:chgData name="Waldemar Hoff" userId="bacb8968-6b42-45e3-b232-453b0d6bde59" providerId="ADAL" clId="{F8C1E58B-402C-4ED2-AD69-E062B24CC05A}" dt="2026-01-07T21:22:30.432" v="21683" actId="27636"/>
          <ac:spMkLst>
            <pc:docMk/>
            <pc:sldMk cId="2423530334" sldId="256"/>
            <ac:spMk id="2" creationId="{58A295C3-FA7B-1228-BA2E-6D947BBD964B}"/>
          </ac:spMkLst>
        </pc:spChg>
        <pc:spChg chg="mod">
          <ac:chgData name="Waldemar Hoff" userId="bacb8968-6b42-45e3-b232-453b0d6bde59" providerId="ADAL" clId="{F8C1E58B-402C-4ED2-AD69-E062B24CC05A}" dt="2026-01-07T21:22:30.354" v="21682"/>
          <ac:spMkLst>
            <pc:docMk/>
            <pc:sldMk cId="2423530334" sldId="256"/>
            <ac:spMk id="3" creationId="{4075740E-927C-767A-9B98-87886B443236}"/>
          </ac:spMkLst>
        </pc:spChg>
      </pc:sldChg>
      <pc:sldChg chg="modSp new mod">
        <pc:chgData name="Waldemar Hoff" userId="bacb8968-6b42-45e3-b232-453b0d6bde59" providerId="ADAL" clId="{F8C1E58B-402C-4ED2-AD69-E062B24CC05A}" dt="2026-01-07T21:22:30.354" v="21682"/>
        <pc:sldMkLst>
          <pc:docMk/>
          <pc:sldMk cId="2702674500" sldId="257"/>
        </pc:sldMkLst>
        <pc:spChg chg="mod">
          <ac:chgData name="Waldemar Hoff" userId="bacb8968-6b42-45e3-b232-453b0d6bde59" providerId="ADAL" clId="{F8C1E58B-402C-4ED2-AD69-E062B24CC05A}" dt="2026-01-07T21:22:30.354" v="21682"/>
          <ac:spMkLst>
            <pc:docMk/>
            <pc:sldMk cId="2702674500" sldId="257"/>
            <ac:spMk id="2" creationId="{1A5CEA97-772D-9DB2-ED29-D2C005C2324E}"/>
          </ac:spMkLst>
        </pc:spChg>
      </pc:sldChg>
      <pc:sldChg chg="modSp new mod">
        <pc:chgData name="Waldemar Hoff" userId="bacb8968-6b42-45e3-b232-453b0d6bde59" providerId="ADAL" clId="{F8C1E58B-402C-4ED2-AD69-E062B24CC05A}" dt="2026-01-07T21:22:30.354" v="21682"/>
        <pc:sldMkLst>
          <pc:docMk/>
          <pc:sldMk cId="3129939894" sldId="258"/>
        </pc:sldMkLst>
        <pc:spChg chg="mod">
          <ac:chgData name="Waldemar Hoff" userId="bacb8968-6b42-45e3-b232-453b0d6bde59" providerId="ADAL" clId="{F8C1E58B-402C-4ED2-AD69-E062B24CC05A}" dt="2026-01-07T21:22:30.354" v="21682"/>
          <ac:spMkLst>
            <pc:docMk/>
            <pc:sldMk cId="3129939894" sldId="258"/>
            <ac:spMk id="2" creationId="{9A74505B-76D8-A440-92D9-36CBF02EA4D0}"/>
          </ac:spMkLst>
        </pc:spChg>
      </pc:sldChg>
      <pc:sldChg chg="modSp new mod">
        <pc:chgData name="Waldemar Hoff" userId="bacb8968-6b42-45e3-b232-453b0d6bde59" providerId="ADAL" clId="{F8C1E58B-402C-4ED2-AD69-E062B24CC05A}" dt="2026-01-07T21:22:30.496" v="21685" actId="27636"/>
        <pc:sldMkLst>
          <pc:docMk/>
          <pc:sldMk cId="4144265283" sldId="259"/>
        </pc:sldMkLst>
        <pc:spChg chg="mod">
          <ac:chgData name="Waldemar Hoff" userId="bacb8968-6b42-45e3-b232-453b0d6bde59" providerId="ADAL" clId="{F8C1E58B-402C-4ED2-AD69-E062B24CC05A}" dt="2026-01-07T21:22:30.496" v="21685" actId="27636"/>
          <ac:spMkLst>
            <pc:docMk/>
            <pc:sldMk cId="4144265283" sldId="259"/>
            <ac:spMk id="2" creationId="{6171024D-7DB3-B0F1-40E2-4D125ECA3105}"/>
          </ac:spMkLst>
        </pc:spChg>
      </pc:sldChg>
      <pc:sldChg chg="modSp new mod">
        <pc:chgData name="Waldemar Hoff" userId="bacb8968-6b42-45e3-b232-453b0d6bde59" providerId="ADAL" clId="{F8C1E58B-402C-4ED2-AD69-E062B24CC05A}" dt="2026-01-07T21:22:30.354" v="21682"/>
        <pc:sldMkLst>
          <pc:docMk/>
          <pc:sldMk cId="1700192084" sldId="260"/>
        </pc:sldMkLst>
        <pc:spChg chg="mod">
          <ac:chgData name="Waldemar Hoff" userId="bacb8968-6b42-45e3-b232-453b0d6bde59" providerId="ADAL" clId="{F8C1E58B-402C-4ED2-AD69-E062B24CC05A}" dt="2026-01-07T21:22:30.354" v="21682"/>
          <ac:spMkLst>
            <pc:docMk/>
            <pc:sldMk cId="1700192084" sldId="260"/>
            <ac:spMk id="2" creationId="{D3378586-6A0C-03DA-5579-B169018B1264}"/>
          </ac:spMkLst>
        </pc:spChg>
      </pc:sldChg>
      <pc:sldChg chg="addSp delSp modSp new mod">
        <pc:chgData name="Waldemar Hoff" userId="bacb8968-6b42-45e3-b232-453b0d6bde59" providerId="ADAL" clId="{F8C1E58B-402C-4ED2-AD69-E062B24CC05A}" dt="2026-01-07T21:22:30.354" v="21682"/>
        <pc:sldMkLst>
          <pc:docMk/>
          <pc:sldMk cId="1062472053" sldId="261"/>
        </pc:sldMkLst>
        <pc:spChg chg="mod">
          <ac:chgData name="Waldemar Hoff" userId="bacb8968-6b42-45e3-b232-453b0d6bde59" providerId="ADAL" clId="{F8C1E58B-402C-4ED2-AD69-E062B24CC05A}" dt="2026-01-07T21:22:30.354" v="21682"/>
          <ac:spMkLst>
            <pc:docMk/>
            <pc:sldMk cId="1062472053" sldId="261"/>
            <ac:spMk id="2" creationId="{9C2E1138-93A9-892D-3FF8-02FFBCED5FBF}"/>
          </ac:spMkLst>
        </pc:spChg>
      </pc:sldChg>
      <pc:sldChg chg="modSp new mod ord">
        <pc:chgData name="Waldemar Hoff" userId="bacb8968-6b42-45e3-b232-453b0d6bde59" providerId="ADAL" clId="{F8C1E58B-402C-4ED2-AD69-E062B24CC05A}" dt="2026-01-07T21:33:00.759" v="22069" actId="20577"/>
        <pc:sldMkLst>
          <pc:docMk/>
          <pc:sldMk cId="294991716" sldId="262"/>
        </pc:sldMkLst>
        <pc:spChg chg="mod">
          <ac:chgData name="Waldemar Hoff" userId="bacb8968-6b42-45e3-b232-453b0d6bde59" providerId="ADAL" clId="{F8C1E58B-402C-4ED2-AD69-E062B24CC05A}" dt="2026-01-07T21:22:30.354" v="21682"/>
          <ac:spMkLst>
            <pc:docMk/>
            <pc:sldMk cId="294991716" sldId="262"/>
            <ac:spMk id="2" creationId="{967B7C99-8F0E-35E9-7D52-F567EC567208}"/>
          </ac:spMkLst>
        </pc:spChg>
        <pc:spChg chg="mod">
          <ac:chgData name="Waldemar Hoff" userId="bacb8968-6b42-45e3-b232-453b0d6bde59" providerId="ADAL" clId="{F8C1E58B-402C-4ED2-AD69-E062B24CC05A}" dt="2026-01-07T21:33:00.759" v="22069" actId="20577"/>
          <ac:spMkLst>
            <pc:docMk/>
            <pc:sldMk cId="294991716" sldId="262"/>
            <ac:spMk id="3" creationId="{A06068BD-9608-FF96-E9C8-2D50F7918449}"/>
          </ac:spMkLst>
        </pc:spChg>
      </pc:sldChg>
      <pc:sldChg chg="modSp new mod ord">
        <pc:chgData name="Waldemar Hoff" userId="bacb8968-6b42-45e3-b232-453b0d6bde59" providerId="ADAL" clId="{F8C1E58B-402C-4ED2-AD69-E062B24CC05A}" dt="2026-01-07T21:27:45.283" v="21849"/>
        <pc:sldMkLst>
          <pc:docMk/>
          <pc:sldMk cId="3968710949" sldId="263"/>
        </pc:sldMkLst>
        <pc:spChg chg="mod">
          <ac:chgData name="Waldemar Hoff" userId="bacb8968-6b42-45e3-b232-453b0d6bde59" providerId="ADAL" clId="{F8C1E58B-402C-4ED2-AD69-E062B24CC05A}" dt="2026-01-07T21:22:30.354" v="21682"/>
          <ac:spMkLst>
            <pc:docMk/>
            <pc:sldMk cId="3968710949" sldId="263"/>
            <ac:spMk id="2" creationId="{854D7209-9772-687B-FB06-EEEAB3FA3F9A}"/>
          </ac:spMkLst>
        </pc:spChg>
        <pc:spChg chg="mod">
          <ac:chgData name="Waldemar Hoff" userId="bacb8968-6b42-45e3-b232-453b0d6bde59" providerId="ADAL" clId="{F8C1E58B-402C-4ED2-AD69-E062B24CC05A}" dt="2026-01-07T21:27:45.283" v="21849"/>
          <ac:spMkLst>
            <pc:docMk/>
            <pc:sldMk cId="3968710949" sldId="263"/>
            <ac:spMk id="3" creationId="{CA64B335-3B8D-A753-168E-BD63009B84D1}"/>
          </ac:spMkLst>
        </pc:spChg>
      </pc:sldChg>
      <pc:sldChg chg="modSp new mod">
        <pc:chgData name="Waldemar Hoff" userId="bacb8968-6b42-45e3-b232-453b0d6bde59" providerId="ADAL" clId="{F8C1E58B-402C-4ED2-AD69-E062B24CC05A}" dt="2026-01-07T21:22:30.354" v="21682"/>
        <pc:sldMkLst>
          <pc:docMk/>
          <pc:sldMk cId="3321697852" sldId="264"/>
        </pc:sldMkLst>
        <pc:spChg chg="mod">
          <ac:chgData name="Waldemar Hoff" userId="bacb8968-6b42-45e3-b232-453b0d6bde59" providerId="ADAL" clId="{F8C1E58B-402C-4ED2-AD69-E062B24CC05A}" dt="2026-01-07T21:22:30.354" v="21682"/>
          <ac:spMkLst>
            <pc:docMk/>
            <pc:sldMk cId="3321697852" sldId="264"/>
            <ac:spMk id="2" creationId="{70244638-A87F-FEED-2349-4A169AD95176}"/>
          </ac:spMkLst>
        </pc:spChg>
      </pc:sldChg>
      <pc:sldChg chg="modSp new mod">
        <pc:chgData name="Waldemar Hoff" userId="bacb8968-6b42-45e3-b232-453b0d6bde59" providerId="ADAL" clId="{F8C1E58B-402C-4ED2-AD69-E062B24CC05A}" dt="2026-01-07T21:22:30.354" v="21682"/>
        <pc:sldMkLst>
          <pc:docMk/>
          <pc:sldMk cId="591113240" sldId="265"/>
        </pc:sldMkLst>
        <pc:spChg chg="mod">
          <ac:chgData name="Waldemar Hoff" userId="bacb8968-6b42-45e3-b232-453b0d6bde59" providerId="ADAL" clId="{F8C1E58B-402C-4ED2-AD69-E062B24CC05A}" dt="2026-01-07T21:22:30.354" v="21682"/>
          <ac:spMkLst>
            <pc:docMk/>
            <pc:sldMk cId="591113240" sldId="265"/>
            <ac:spMk id="2" creationId="{86EF7DED-265F-6DE1-933F-CF5684995AEC}"/>
          </ac:spMkLst>
        </pc:spChg>
      </pc:sldChg>
      <pc:sldChg chg="modSp new mod">
        <pc:chgData name="Waldemar Hoff" userId="bacb8968-6b42-45e3-b232-453b0d6bde59" providerId="ADAL" clId="{F8C1E58B-402C-4ED2-AD69-E062B24CC05A}" dt="2026-01-07T21:22:30.512" v="21686" actId="27636"/>
        <pc:sldMkLst>
          <pc:docMk/>
          <pc:sldMk cId="874099439" sldId="266"/>
        </pc:sldMkLst>
        <pc:spChg chg="mod">
          <ac:chgData name="Waldemar Hoff" userId="bacb8968-6b42-45e3-b232-453b0d6bde59" providerId="ADAL" clId="{F8C1E58B-402C-4ED2-AD69-E062B24CC05A}" dt="2026-01-07T21:22:30.354" v="21682"/>
          <ac:spMkLst>
            <pc:docMk/>
            <pc:sldMk cId="874099439" sldId="266"/>
            <ac:spMk id="2" creationId="{1323A758-B7A0-04E3-22A7-E7478C1718BA}"/>
          </ac:spMkLst>
        </pc:spChg>
        <pc:spChg chg="mod">
          <ac:chgData name="Waldemar Hoff" userId="bacb8968-6b42-45e3-b232-453b0d6bde59" providerId="ADAL" clId="{F8C1E58B-402C-4ED2-AD69-E062B24CC05A}" dt="2026-01-07T21:22:30.512" v="21686" actId="27636"/>
          <ac:spMkLst>
            <pc:docMk/>
            <pc:sldMk cId="874099439" sldId="266"/>
            <ac:spMk id="3" creationId="{0BB21792-CF18-49A2-99D6-209AAE7CFDC3}"/>
          </ac:spMkLst>
        </pc:spChg>
      </pc:sldChg>
      <pc:sldChg chg="modSp new mod">
        <pc:chgData name="Waldemar Hoff" userId="bacb8968-6b42-45e3-b232-453b0d6bde59" providerId="ADAL" clId="{F8C1E58B-402C-4ED2-AD69-E062B24CC05A}" dt="2026-01-07T21:22:30.354" v="21682"/>
        <pc:sldMkLst>
          <pc:docMk/>
          <pc:sldMk cId="3822364355" sldId="267"/>
        </pc:sldMkLst>
        <pc:spChg chg="mod">
          <ac:chgData name="Waldemar Hoff" userId="bacb8968-6b42-45e3-b232-453b0d6bde59" providerId="ADAL" clId="{F8C1E58B-402C-4ED2-AD69-E062B24CC05A}" dt="2026-01-07T21:22:30.354" v="21682"/>
          <ac:spMkLst>
            <pc:docMk/>
            <pc:sldMk cId="3822364355" sldId="267"/>
            <ac:spMk id="2" creationId="{018BF9EC-7AA2-E82E-8F0E-B02B129E192A}"/>
          </ac:spMkLst>
        </pc:spChg>
      </pc:sldChg>
      <pc:sldChg chg="addSp delSp modSp new mod">
        <pc:chgData name="Waldemar Hoff" userId="bacb8968-6b42-45e3-b232-453b0d6bde59" providerId="ADAL" clId="{F8C1E58B-402C-4ED2-AD69-E062B24CC05A}" dt="2026-01-07T21:22:30.464" v="21684" actId="27636"/>
        <pc:sldMkLst>
          <pc:docMk/>
          <pc:sldMk cId="1223757842" sldId="268"/>
        </pc:sldMkLst>
        <pc:spChg chg="mod">
          <ac:chgData name="Waldemar Hoff" userId="bacb8968-6b42-45e3-b232-453b0d6bde59" providerId="ADAL" clId="{F8C1E58B-402C-4ED2-AD69-E062B24CC05A}" dt="2026-01-07T21:22:30.354" v="21682"/>
          <ac:spMkLst>
            <pc:docMk/>
            <pc:sldMk cId="1223757842" sldId="268"/>
            <ac:spMk id="2" creationId="{565D7C71-1F51-559A-7119-2DFC4C0E108F}"/>
          </ac:spMkLst>
        </pc:spChg>
        <pc:spChg chg="add del mod">
          <ac:chgData name="Waldemar Hoff" userId="bacb8968-6b42-45e3-b232-453b0d6bde59" providerId="ADAL" clId="{F8C1E58B-402C-4ED2-AD69-E062B24CC05A}" dt="2026-01-07T21:22:30.464" v="21684" actId="27636"/>
          <ac:spMkLst>
            <pc:docMk/>
            <pc:sldMk cId="1223757842" sldId="268"/>
            <ac:spMk id="3" creationId="{A55C2E22-F823-D8CE-7DFA-2F1311DAA19F}"/>
          </ac:spMkLst>
        </pc:spChg>
      </pc:sldChg>
      <pc:sldChg chg="modSp new mod">
        <pc:chgData name="Waldemar Hoff" userId="bacb8968-6b42-45e3-b232-453b0d6bde59" providerId="ADAL" clId="{F8C1E58B-402C-4ED2-AD69-E062B24CC05A}" dt="2026-01-07T21:22:30.354" v="21682"/>
        <pc:sldMkLst>
          <pc:docMk/>
          <pc:sldMk cId="3841165386" sldId="269"/>
        </pc:sldMkLst>
        <pc:spChg chg="mod">
          <ac:chgData name="Waldemar Hoff" userId="bacb8968-6b42-45e3-b232-453b0d6bde59" providerId="ADAL" clId="{F8C1E58B-402C-4ED2-AD69-E062B24CC05A}" dt="2026-01-07T21:22:30.354" v="21682"/>
          <ac:spMkLst>
            <pc:docMk/>
            <pc:sldMk cId="3841165386" sldId="269"/>
            <ac:spMk id="2" creationId="{75CB3E82-1D74-1108-C4DC-DB9A7768893A}"/>
          </ac:spMkLst>
        </pc:spChg>
      </pc:sldChg>
      <pc:sldChg chg="modSp new mod">
        <pc:chgData name="Waldemar Hoff" userId="bacb8968-6b42-45e3-b232-453b0d6bde59" providerId="ADAL" clId="{F8C1E58B-402C-4ED2-AD69-E062B24CC05A}" dt="2026-01-07T21:33:53.429" v="22071" actId="20577"/>
        <pc:sldMkLst>
          <pc:docMk/>
          <pc:sldMk cId="2046300228" sldId="270"/>
        </pc:sldMkLst>
        <pc:spChg chg="mod">
          <ac:chgData name="Waldemar Hoff" userId="bacb8968-6b42-45e3-b232-453b0d6bde59" providerId="ADAL" clId="{F8C1E58B-402C-4ED2-AD69-E062B24CC05A}" dt="2026-01-07T21:22:30.354" v="21682"/>
          <ac:spMkLst>
            <pc:docMk/>
            <pc:sldMk cId="2046300228" sldId="270"/>
            <ac:spMk id="2" creationId="{6EE96342-7FA7-D8CA-1F66-39DB5416FC89}"/>
          </ac:spMkLst>
        </pc:spChg>
        <pc:spChg chg="mod">
          <ac:chgData name="Waldemar Hoff" userId="bacb8968-6b42-45e3-b232-453b0d6bde59" providerId="ADAL" clId="{F8C1E58B-402C-4ED2-AD69-E062B24CC05A}" dt="2026-01-07T21:33:53.429" v="22071" actId="20577"/>
          <ac:spMkLst>
            <pc:docMk/>
            <pc:sldMk cId="2046300228" sldId="270"/>
            <ac:spMk id="3" creationId="{98D46F67-F4A2-B8BC-43F4-7B91B20EA3DC}"/>
          </ac:spMkLst>
        </pc:spChg>
      </pc:sldChg>
      <pc:sldChg chg="modSp new mod">
        <pc:chgData name="Waldemar Hoff" userId="bacb8968-6b42-45e3-b232-453b0d6bde59" providerId="ADAL" clId="{F8C1E58B-402C-4ED2-AD69-E062B24CC05A}" dt="2026-01-07T21:22:30.560" v="21691" actId="27636"/>
        <pc:sldMkLst>
          <pc:docMk/>
          <pc:sldMk cId="2265746158" sldId="271"/>
        </pc:sldMkLst>
        <pc:spChg chg="mod">
          <ac:chgData name="Waldemar Hoff" userId="bacb8968-6b42-45e3-b232-453b0d6bde59" providerId="ADAL" clId="{F8C1E58B-402C-4ED2-AD69-E062B24CC05A}" dt="2026-01-07T21:22:30.354" v="21682"/>
          <ac:spMkLst>
            <pc:docMk/>
            <pc:sldMk cId="2265746158" sldId="271"/>
            <ac:spMk id="2" creationId="{49421B30-E058-3465-221F-2C50059D09FF}"/>
          </ac:spMkLst>
        </pc:spChg>
        <pc:spChg chg="mod">
          <ac:chgData name="Waldemar Hoff" userId="bacb8968-6b42-45e3-b232-453b0d6bde59" providerId="ADAL" clId="{F8C1E58B-402C-4ED2-AD69-E062B24CC05A}" dt="2026-01-07T21:22:30.560" v="21691" actId="27636"/>
          <ac:spMkLst>
            <pc:docMk/>
            <pc:sldMk cId="2265746158" sldId="271"/>
            <ac:spMk id="3" creationId="{95D53456-8921-2FD3-7B9F-30D610155A1E}"/>
          </ac:spMkLst>
        </pc:spChg>
      </pc:sldChg>
      <pc:sldChg chg="modSp new mod">
        <pc:chgData name="Waldemar Hoff" userId="bacb8968-6b42-45e3-b232-453b0d6bde59" providerId="ADAL" clId="{F8C1E58B-402C-4ED2-AD69-E062B24CC05A}" dt="2026-01-07T21:22:30.512" v="21687" actId="27636"/>
        <pc:sldMkLst>
          <pc:docMk/>
          <pc:sldMk cId="919199035" sldId="272"/>
        </pc:sldMkLst>
        <pc:spChg chg="mod">
          <ac:chgData name="Waldemar Hoff" userId="bacb8968-6b42-45e3-b232-453b0d6bde59" providerId="ADAL" clId="{F8C1E58B-402C-4ED2-AD69-E062B24CC05A}" dt="2026-01-07T21:22:30.354" v="21682"/>
          <ac:spMkLst>
            <pc:docMk/>
            <pc:sldMk cId="919199035" sldId="272"/>
            <ac:spMk id="2" creationId="{A564439F-1CBE-968C-2F8B-377576299364}"/>
          </ac:spMkLst>
        </pc:spChg>
        <pc:spChg chg="mod">
          <ac:chgData name="Waldemar Hoff" userId="bacb8968-6b42-45e3-b232-453b0d6bde59" providerId="ADAL" clId="{F8C1E58B-402C-4ED2-AD69-E062B24CC05A}" dt="2026-01-07T21:22:30.512" v="21687" actId="27636"/>
          <ac:spMkLst>
            <pc:docMk/>
            <pc:sldMk cId="919199035" sldId="272"/>
            <ac:spMk id="3" creationId="{9C9E7CAF-7D5F-7B12-2402-162D2B98C1E8}"/>
          </ac:spMkLst>
        </pc:spChg>
      </pc:sldChg>
      <pc:sldChg chg="modSp new add del mod">
        <pc:chgData name="Waldemar Hoff" userId="bacb8968-6b42-45e3-b232-453b0d6bde59" providerId="ADAL" clId="{F8C1E58B-402C-4ED2-AD69-E062B24CC05A}" dt="2026-01-07T21:22:30.512" v="21688" actId="27636"/>
        <pc:sldMkLst>
          <pc:docMk/>
          <pc:sldMk cId="3171205094" sldId="273"/>
        </pc:sldMkLst>
        <pc:spChg chg="mod">
          <ac:chgData name="Waldemar Hoff" userId="bacb8968-6b42-45e3-b232-453b0d6bde59" providerId="ADAL" clId="{F8C1E58B-402C-4ED2-AD69-E062B24CC05A}" dt="2026-01-07T21:22:30.354" v="21682"/>
          <ac:spMkLst>
            <pc:docMk/>
            <pc:sldMk cId="3171205094" sldId="273"/>
            <ac:spMk id="2" creationId="{981BEF55-5C7D-5A34-23E0-3DBF2F6A74A1}"/>
          </ac:spMkLst>
        </pc:spChg>
        <pc:spChg chg="mod">
          <ac:chgData name="Waldemar Hoff" userId="bacb8968-6b42-45e3-b232-453b0d6bde59" providerId="ADAL" clId="{F8C1E58B-402C-4ED2-AD69-E062B24CC05A}" dt="2026-01-07T21:22:30.512" v="21688" actId="27636"/>
          <ac:spMkLst>
            <pc:docMk/>
            <pc:sldMk cId="3171205094" sldId="273"/>
            <ac:spMk id="3" creationId="{83FB5EFC-6DDA-38E2-4113-217E41C79E4C}"/>
          </ac:spMkLst>
        </pc:spChg>
      </pc:sldChg>
      <pc:sldChg chg="modSp new mod ord">
        <pc:chgData name="Waldemar Hoff" userId="bacb8968-6b42-45e3-b232-453b0d6bde59" providerId="ADAL" clId="{F8C1E58B-402C-4ED2-AD69-E062B24CC05A}" dt="2026-01-07T21:22:30.354" v="21682"/>
        <pc:sldMkLst>
          <pc:docMk/>
          <pc:sldMk cId="1005332990" sldId="274"/>
        </pc:sldMkLst>
        <pc:spChg chg="mod">
          <ac:chgData name="Waldemar Hoff" userId="bacb8968-6b42-45e3-b232-453b0d6bde59" providerId="ADAL" clId="{F8C1E58B-402C-4ED2-AD69-E062B24CC05A}" dt="2026-01-07T21:22:30.354" v="21682"/>
          <ac:spMkLst>
            <pc:docMk/>
            <pc:sldMk cId="1005332990" sldId="274"/>
            <ac:spMk id="2" creationId="{4C2C8224-1D0D-3F0B-974A-403A2CCAB02B}"/>
          </ac:spMkLst>
        </pc:spChg>
      </pc:sldChg>
      <pc:sldChg chg="modSp new mod">
        <pc:chgData name="Waldemar Hoff" userId="bacb8968-6b42-45e3-b232-453b0d6bde59" providerId="ADAL" clId="{F8C1E58B-402C-4ED2-AD69-E062B24CC05A}" dt="2026-01-07T21:22:30.354" v="21682"/>
        <pc:sldMkLst>
          <pc:docMk/>
          <pc:sldMk cId="1997185696" sldId="275"/>
        </pc:sldMkLst>
        <pc:spChg chg="mod">
          <ac:chgData name="Waldemar Hoff" userId="bacb8968-6b42-45e3-b232-453b0d6bde59" providerId="ADAL" clId="{F8C1E58B-402C-4ED2-AD69-E062B24CC05A}" dt="2026-01-07T21:22:30.354" v="21682"/>
          <ac:spMkLst>
            <pc:docMk/>
            <pc:sldMk cId="1997185696" sldId="275"/>
            <ac:spMk id="2" creationId="{E33B29A2-0523-3D05-811D-87BE44A4B48B}"/>
          </ac:spMkLst>
        </pc:spChg>
        <pc:spChg chg="mod">
          <ac:chgData name="Waldemar Hoff" userId="bacb8968-6b42-45e3-b232-453b0d6bde59" providerId="ADAL" clId="{F8C1E58B-402C-4ED2-AD69-E062B24CC05A}" dt="2026-01-07T21:22:30.354" v="21682"/>
          <ac:spMkLst>
            <pc:docMk/>
            <pc:sldMk cId="1997185696" sldId="275"/>
            <ac:spMk id="3" creationId="{6EBFB46F-8097-E595-2688-629B4A18A139}"/>
          </ac:spMkLst>
        </pc:spChg>
      </pc:sldChg>
      <pc:sldChg chg="modSp new mod">
        <pc:chgData name="Waldemar Hoff" userId="bacb8968-6b42-45e3-b232-453b0d6bde59" providerId="ADAL" clId="{F8C1E58B-402C-4ED2-AD69-E062B24CC05A}" dt="2026-01-07T21:22:30.354" v="21682"/>
        <pc:sldMkLst>
          <pc:docMk/>
          <pc:sldMk cId="3675619739" sldId="276"/>
        </pc:sldMkLst>
        <pc:spChg chg="mod">
          <ac:chgData name="Waldemar Hoff" userId="bacb8968-6b42-45e3-b232-453b0d6bde59" providerId="ADAL" clId="{F8C1E58B-402C-4ED2-AD69-E062B24CC05A}" dt="2026-01-07T21:22:30.354" v="21682"/>
          <ac:spMkLst>
            <pc:docMk/>
            <pc:sldMk cId="3675619739" sldId="276"/>
            <ac:spMk id="2" creationId="{0F03D068-51E8-ABE0-9F48-672C6FA0902B}"/>
          </ac:spMkLst>
        </pc:spChg>
      </pc:sldChg>
      <pc:sldChg chg="modSp new mod">
        <pc:chgData name="Waldemar Hoff" userId="bacb8968-6b42-45e3-b232-453b0d6bde59" providerId="ADAL" clId="{F8C1E58B-402C-4ED2-AD69-E062B24CC05A}" dt="2026-01-07T21:22:30.354" v="21682"/>
        <pc:sldMkLst>
          <pc:docMk/>
          <pc:sldMk cId="351932667" sldId="277"/>
        </pc:sldMkLst>
        <pc:spChg chg="mod">
          <ac:chgData name="Waldemar Hoff" userId="bacb8968-6b42-45e3-b232-453b0d6bde59" providerId="ADAL" clId="{F8C1E58B-402C-4ED2-AD69-E062B24CC05A}" dt="2026-01-07T21:22:30.354" v="21682"/>
          <ac:spMkLst>
            <pc:docMk/>
            <pc:sldMk cId="351932667" sldId="277"/>
            <ac:spMk id="2" creationId="{224754DB-9251-7946-73BD-547C597BC2FD}"/>
          </ac:spMkLst>
        </pc:spChg>
      </pc:sldChg>
      <pc:sldChg chg="modSp new mod">
        <pc:chgData name="Waldemar Hoff" userId="bacb8968-6b42-45e3-b232-453b0d6bde59" providerId="ADAL" clId="{F8C1E58B-402C-4ED2-AD69-E062B24CC05A}" dt="2026-01-07T21:22:30.354" v="21682"/>
        <pc:sldMkLst>
          <pc:docMk/>
          <pc:sldMk cId="3347781726" sldId="278"/>
        </pc:sldMkLst>
        <pc:spChg chg="mod">
          <ac:chgData name="Waldemar Hoff" userId="bacb8968-6b42-45e3-b232-453b0d6bde59" providerId="ADAL" clId="{F8C1E58B-402C-4ED2-AD69-E062B24CC05A}" dt="2026-01-07T21:22:30.354" v="21682"/>
          <ac:spMkLst>
            <pc:docMk/>
            <pc:sldMk cId="3347781726" sldId="278"/>
            <ac:spMk id="2" creationId="{B50BBA3C-200F-EEE0-3A04-C418F3DD6E7E}"/>
          </ac:spMkLst>
        </pc:spChg>
        <pc:spChg chg="mod">
          <ac:chgData name="Waldemar Hoff" userId="bacb8968-6b42-45e3-b232-453b0d6bde59" providerId="ADAL" clId="{F8C1E58B-402C-4ED2-AD69-E062B24CC05A}" dt="2026-01-07T21:22:30.354" v="21682"/>
          <ac:spMkLst>
            <pc:docMk/>
            <pc:sldMk cId="3347781726" sldId="278"/>
            <ac:spMk id="3" creationId="{93F5B7C5-12BF-9482-16A9-C3E5524C6408}"/>
          </ac:spMkLst>
        </pc:spChg>
      </pc:sldChg>
      <pc:sldChg chg="modSp new mod">
        <pc:chgData name="Waldemar Hoff" userId="bacb8968-6b42-45e3-b232-453b0d6bde59" providerId="ADAL" clId="{F8C1E58B-402C-4ED2-AD69-E062B24CC05A}" dt="2026-01-07T21:35:14.220" v="22073" actId="20577"/>
        <pc:sldMkLst>
          <pc:docMk/>
          <pc:sldMk cId="4143335954" sldId="279"/>
        </pc:sldMkLst>
        <pc:spChg chg="mod">
          <ac:chgData name="Waldemar Hoff" userId="bacb8968-6b42-45e3-b232-453b0d6bde59" providerId="ADAL" clId="{F8C1E58B-402C-4ED2-AD69-E062B24CC05A}" dt="2026-01-07T21:22:30.354" v="21682"/>
          <ac:spMkLst>
            <pc:docMk/>
            <pc:sldMk cId="4143335954" sldId="279"/>
            <ac:spMk id="2" creationId="{8C6C7E43-9B11-0655-63D1-DE2F460A3354}"/>
          </ac:spMkLst>
        </pc:spChg>
        <pc:spChg chg="mod">
          <ac:chgData name="Waldemar Hoff" userId="bacb8968-6b42-45e3-b232-453b0d6bde59" providerId="ADAL" clId="{F8C1E58B-402C-4ED2-AD69-E062B24CC05A}" dt="2026-01-07T21:35:14.220" v="22073" actId="20577"/>
          <ac:spMkLst>
            <pc:docMk/>
            <pc:sldMk cId="4143335954" sldId="279"/>
            <ac:spMk id="3" creationId="{9716F8BE-4DA3-77D2-3F13-AC1736D56A86}"/>
          </ac:spMkLst>
        </pc:spChg>
      </pc:sldChg>
      <pc:sldChg chg="modSp new mod">
        <pc:chgData name="Waldemar Hoff" userId="bacb8968-6b42-45e3-b232-453b0d6bde59" providerId="ADAL" clId="{F8C1E58B-402C-4ED2-AD69-E062B24CC05A}" dt="2026-01-07T21:32:33.520" v="22056" actId="20577"/>
        <pc:sldMkLst>
          <pc:docMk/>
          <pc:sldMk cId="2647267652" sldId="280"/>
        </pc:sldMkLst>
        <pc:spChg chg="mod">
          <ac:chgData name="Waldemar Hoff" userId="bacb8968-6b42-45e3-b232-453b0d6bde59" providerId="ADAL" clId="{F8C1E58B-402C-4ED2-AD69-E062B24CC05A}" dt="2026-01-07T21:22:30.354" v="21682"/>
          <ac:spMkLst>
            <pc:docMk/>
            <pc:sldMk cId="2647267652" sldId="280"/>
            <ac:spMk id="2" creationId="{83C19497-4546-1D99-4353-A67552E58CA9}"/>
          </ac:spMkLst>
        </pc:spChg>
        <pc:spChg chg="mod">
          <ac:chgData name="Waldemar Hoff" userId="bacb8968-6b42-45e3-b232-453b0d6bde59" providerId="ADAL" clId="{F8C1E58B-402C-4ED2-AD69-E062B24CC05A}" dt="2026-01-07T21:32:33.520" v="22056" actId="20577"/>
          <ac:spMkLst>
            <pc:docMk/>
            <pc:sldMk cId="2647267652" sldId="280"/>
            <ac:spMk id="3" creationId="{31A8437E-2A20-6152-C94D-BE624ECA2DEE}"/>
          </ac:spMkLst>
        </pc:spChg>
      </pc:sldChg>
      <pc:sldChg chg="modSp new">
        <pc:chgData name="Waldemar Hoff" userId="bacb8968-6b42-45e3-b232-453b0d6bde59" providerId="ADAL" clId="{F8C1E58B-402C-4ED2-AD69-E062B24CC05A}" dt="2026-01-07T21:22:30.354" v="21682"/>
        <pc:sldMkLst>
          <pc:docMk/>
          <pc:sldMk cId="4213035035" sldId="281"/>
        </pc:sldMkLst>
        <pc:spChg chg="mod">
          <ac:chgData name="Waldemar Hoff" userId="bacb8968-6b42-45e3-b232-453b0d6bde59" providerId="ADAL" clId="{F8C1E58B-402C-4ED2-AD69-E062B24CC05A}" dt="2026-01-07T21:22:30.354" v="21682"/>
          <ac:spMkLst>
            <pc:docMk/>
            <pc:sldMk cId="4213035035" sldId="281"/>
            <ac:spMk id="2" creationId="{26A4A183-E0CC-BBE5-8A9B-A6C298D127D6}"/>
          </ac:spMkLst>
        </pc:spChg>
        <pc:spChg chg="mod">
          <ac:chgData name="Waldemar Hoff" userId="bacb8968-6b42-45e3-b232-453b0d6bde59" providerId="ADAL" clId="{F8C1E58B-402C-4ED2-AD69-E062B24CC05A}" dt="2026-01-07T21:22:30.354" v="21682"/>
          <ac:spMkLst>
            <pc:docMk/>
            <pc:sldMk cId="4213035035" sldId="281"/>
            <ac:spMk id="3" creationId="{49C11A2B-DD39-DE3B-0415-0E98F97595C1}"/>
          </ac:spMkLst>
        </pc:spChg>
      </pc:sldChg>
      <pc:sldChg chg="modSp new mod">
        <pc:chgData name="Waldemar Hoff" userId="bacb8968-6b42-45e3-b232-453b0d6bde59" providerId="ADAL" clId="{F8C1E58B-402C-4ED2-AD69-E062B24CC05A}" dt="2026-01-07T21:22:30.528" v="21689" actId="27636"/>
        <pc:sldMkLst>
          <pc:docMk/>
          <pc:sldMk cId="326001316" sldId="282"/>
        </pc:sldMkLst>
        <pc:spChg chg="mod">
          <ac:chgData name="Waldemar Hoff" userId="bacb8968-6b42-45e3-b232-453b0d6bde59" providerId="ADAL" clId="{F8C1E58B-402C-4ED2-AD69-E062B24CC05A}" dt="2026-01-07T21:22:30.354" v="21682"/>
          <ac:spMkLst>
            <pc:docMk/>
            <pc:sldMk cId="326001316" sldId="282"/>
            <ac:spMk id="2" creationId="{E3A788E0-6F9D-D5FB-10F9-1BF5B44A6256}"/>
          </ac:spMkLst>
        </pc:spChg>
        <pc:spChg chg="mod">
          <ac:chgData name="Waldemar Hoff" userId="bacb8968-6b42-45e3-b232-453b0d6bde59" providerId="ADAL" clId="{F8C1E58B-402C-4ED2-AD69-E062B24CC05A}" dt="2026-01-07T21:22:30.528" v="21689" actId="27636"/>
          <ac:spMkLst>
            <pc:docMk/>
            <pc:sldMk cId="326001316" sldId="282"/>
            <ac:spMk id="3" creationId="{C5922B79-BA49-12E5-85E1-5F84B3217E0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800C600-8FF6-7A97-2012-46DEF47AF826}"/>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8F0D444D-85FB-D98D-75A1-81F88B069C94}"/>
              </a:ext>
            </a:extLst>
          </p:cNvPr>
          <p:cNvSpPr>
            <a:spLocks noGrp="1"/>
          </p:cNvSpPr>
          <p:nvPr>
            <p:ph type="subTitle" idx="1"/>
          </p:nvPr>
        </p:nvSpPr>
        <p:spPr>
          <a:xfrm>
            <a:off x="1524000" y="3602038"/>
            <a:ext cx="9144000" cy="1655762"/>
          </a:xfrm>
        </p:spPr>
        <p:txBody>
          <a:bodyPr/>
          <a:lstStyle>
            <a:lvl1pPr marL="0" indent="0" algn="ctr">
              <a:buNone/>
              <a:defRPr sz="2400">
                <a:solidFill>
                  <a:schemeClr val="accent6">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pl-PL" dirty="0"/>
          </a:p>
        </p:txBody>
      </p:sp>
    </p:spTree>
    <p:extLst>
      <p:ext uri="{BB962C8B-B14F-4D97-AF65-F5344CB8AC3E}">
        <p14:creationId xmlns:p14="http://schemas.microsoft.com/office/powerpoint/2010/main" val="1947293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4784C1-997B-6A92-4BC4-BCD892812850}"/>
              </a:ext>
            </a:extLst>
          </p:cNvPr>
          <p:cNvSpPr>
            <a:spLocks noGrp="1"/>
          </p:cNvSpPr>
          <p:nvPr>
            <p:ph type="title"/>
          </p:nvPr>
        </p:nvSpPr>
        <p:spPr/>
        <p:txBody>
          <a:bodyPr>
            <a:normAutofit/>
          </a:bodyPr>
          <a:lstStyle>
            <a:lvl1pPr>
              <a:defRPr sz="2800"/>
            </a:lvl1pPr>
          </a:lstStyle>
          <a:p>
            <a:r>
              <a:rPr lang="pl-PL"/>
              <a:t>Kliknij, aby edytować styl</a:t>
            </a:r>
            <a:endParaRPr lang="pl-PL" dirty="0"/>
          </a:p>
        </p:txBody>
      </p:sp>
      <p:sp>
        <p:nvSpPr>
          <p:cNvPr id="3" name="Symbol zastępczy zawartości 2">
            <a:extLst>
              <a:ext uri="{FF2B5EF4-FFF2-40B4-BE49-F238E27FC236}">
                <a16:creationId xmlns:a16="http://schemas.microsoft.com/office/drawing/2014/main" id="{6B99B5A7-48DC-CADF-2818-03921E6E12B0}"/>
              </a:ext>
            </a:extLst>
          </p:cNvPr>
          <p:cNvSpPr>
            <a:spLocks noGrp="1"/>
          </p:cNvSpPr>
          <p:nvPr>
            <p:ph idx="1"/>
          </p:nvPr>
        </p:nvSpPr>
        <p:spPr/>
        <p:txBody>
          <a:bodyPr/>
          <a:lstStyle>
            <a:lvl1pPr>
              <a:defRPr sz="2400"/>
            </a:lvl1pPr>
            <a:lvl2pPr>
              <a:defRPr sz="2400"/>
            </a:lvl2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4" name="Symbol zastępczy daty 3">
            <a:extLst>
              <a:ext uri="{FF2B5EF4-FFF2-40B4-BE49-F238E27FC236}">
                <a16:creationId xmlns:a16="http://schemas.microsoft.com/office/drawing/2014/main" id="{DC83CB1A-D62D-A919-3935-8AFFB23B4137}"/>
              </a:ext>
            </a:extLst>
          </p:cNvPr>
          <p:cNvSpPr>
            <a:spLocks noGrp="1"/>
          </p:cNvSpPr>
          <p:nvPr>
            <p:ph type="dt" sz="half" idx="10"/>
          </p:nvPr>
        </p:nvSpPr>
        <p:spPr/>
        <p:txBody>
          <a:bodyPr/>
          <a:lstStyle/>
          <a:p>
            <a:fld id="{495643F8-85DF-4C73-9E90-80F4D6D0E137}" type="datetimeFigureOut">
              <a:rPr lang="pl-PL" smtClean="0"/>
              <a:t>07.01.2026</a:t>
            </a:fld>
            <a:endParaRPr lang="pl-PL"/>
          </a:p>
        </p:txBody>
      </p:sp>
      <p:sp>
        <p:nvSpPr>
          <p:cNvPr id="5" name="Symbol zastępczy stopki 4">
            <a:extLst>
              <a:ext uri="{FF2B5EF4-FFF2-40B4-BE49-F238E27FC236}">
                <a16:creationId xmlns:a16="http://schemas.microsoft.com/office/drawing/2014/main" id="{076CFBA1-B5B0-D735-B002-C627687AA228}"/>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B000279D-0C8E-26F0-EFA2-94A51FB537C2}"/>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10229221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A7FEC98-68AE-A17A-3E4C-B79FBF374F67}"/>
              </a:ext>
            </a:extLst>
          </p:cNvPr>
          <p:cNvSpPr>
            <a:spLocks noGrp="1"/>
          </p:cNvSpPr>
          <p:nvPr>
            <p:ph type="title"/>
          </p:nvPr>
        </p:nvSpPr>
        <p:spPr>
          <a:xfrm>
            <a:off x="831850" y="1709738"/>
            <a:ext cx="10515600" cy="2852737"/>
          </a:xfrm>
        </p:spPr>
        <p:txBody>
          <a:bodyPr anchor="b">
            <a:normAutofit/>
          </a:bodyPr>
          <a:lstStyle>
            <a:lvl1pPr>
              <a:defRPr sz="3600"/>
            </a:lvl1pPr>
          </a:lstStyle>
          <a:p>
            <a:r>
              <a:rPr lang="pl-PL"/>
              <a:t>Kliknij, aby edytować styl</a:t>
            </a:r>
            <a:endParaRPr lang="pl-PL" dirty="0"/>
          </a:p>
        </p:txBody>
      </p:sp>
      <p:sp>
        <p:nvSpPr>
          <p:cNvPr id="3" name="Symbol zastępczy tekstu 2">
            <a:extLst>
              <a:ext uri="{FF2B5EF4-FFF2-40B4-BE49-F238E27FC236}">
                <a16:creationId xmlns:a16="http://schemas.microsoft.com/office/drawing/2014/main" id="{5144E67D-61BE-DD61-B543-B99C2CE3C8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D9F15712-CCFE-7FC2-DABD-5619C5DE5E31}"/>
              </a:ext>
            </a:extLst>
          </p:cNvPr>
          <p:cNvSpPr>
            <a:spLocks noGrp="1"/>
          </p:cNvSpPr>
          <p:nvPr>
            <p:ph type="dt" sz="half" idx="10"/>
          </p:nvPr>
        </p:nvSpPr>
        <p:spPr/>
        <p:txBody>
          <a:bodyPr/>
          <a:lstStyle/>
          <a:p>
            <a:fld id="{495643F8-85DF-4C73-9E90-80F4D6D0E137}" type="datetimeFigureOut">
              <a:rPr lang="pl-PL" smtClean="0"/>
              <a:t>07.01.2026</a:t>
            </a:fld>
            <a:endParaRPr lang="pl-PL"/>
          </a:p>
        </p:txBody>
      </p:sp>
      <p:sp>
        <p:nvSpPr>
          <p:cNvPr id="5" name="Symbol zastępczy stopki 4">
            <a:extLst>
              <a:ext uri="{FF2B5EF4-FFF2-40B4-BE49-F238E27FC236}">
                <a16:creationId xmlns:a16="http://schemas.microsoft.com/office/drawing/2014/main" id="{4AF4D2D5-A54C-7FF4-68ED-61D95E6EE9CB}"/>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B40500A8-07FB-A348-3ED9-3CD4B53B86C7}"/>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14661762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DA08300-10BB-8B35-1299-C9A38D046390}"/>
              </a:ext>
            </a:extLst>
          </p:cNvPr>
          <p:cNvSpPr>
            <a:spLocks noGrp="1"/>
          </p:cNvSpPr>
          <p:nvPr>
            <p:ph type="title"/>
          </p:nvPr>
        </p:nvSpPr>
        <p:spPr/>
        <p:txBody>
          <a:bodyPr>
            <a:normAutofit/>
          </a:bodyPr>
          <a:lstStyle>
            <a:lvl1pPr>
              <a:defRPr sz="2800"/>
            </a:lvl1pPr>
          </a:lstStyle>
          <a:p>
            <a:r>
              <a:rPr lang="pl-PL"/>
              <a:t>Kliknij, aby edytować styl</a:t>
            </a:r>
            <a:endParaRPr lang="pl-PL" dirty="0"/>
          </a:p>
        </p:txBody>
      </p:sp>
      <p:sp>
        <p:nvSpPr>
          <p:cNvPr id="3" name="Symbol zastępczy zawartości 2">
            <a:extLst>
              <a:ext uri="{FF2B5EF4-FFF2-40B4-BE49-F238E27FC236}">
                <a16:creationId xmlns:a16="http://schemas.microsoft.com/office/drawing/2014/main" id="{FDC44532-FF0A-D2D9-7B6A-59A309165220}"/>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765A82E4-DEF8-BBC5-32CE-C6679EA9FB30}"/>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71428BC0-A5A4-557F-B513-CE7B1D5AB9B2}"/>
              </a:ext>
            </a:extLst>
          </p:cNvPr>
          <p:cNvSpPr>
            <a:spLocks noGrp="1"/>
          </p:cNvSpPr>
          <p:nvPr>
            <p:ph type="dt" sz="half" idx="10"/>
          </p:nvPr>
        </p:nvSpPr>
        <p:spPr/>
        <p:txBody>
          <a:bodyPr/>
          <a:lstStyle/>
          <a:p>
            <a:fld id="{495643F8-85DF-4C73-9E90-80F4D6D0E137}" type="datetimeFigureOut">
              <a:rPr lang="pl-PL" smtClean="0"/>
              <a:t>07.01.2026</a:t>
            </a:fld>
            <a:endParaRPr lang="pl-PL"/>
          </a:p>
        </p:txBody>
      </p:sp>
      <p:sp>
        <p:nvSpPr>
          <p:cNvPr id="6" name="Symbol zastępczy stopki 5">
            <a:extLst>
              <a:ext uri="{FF2B5EF4-FFF2-40B4-BE49-F238E27FC236}">
                <a16:creationId xmlns:a16="http://schemas.microsoft.com/office/drawing/2014/main" id="{B03FF53E-3CD7-777B-1D3F-30F9677B1830}"/>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66F1D7E5-C72F-2172-2148-037BEFA1E423}"/>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2561729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8682DB6-0262-619C-15C7-E0E5A10DC624}"/>
              </a:ext>
            </a:extLst>
          </p:cNvPr>
          <p:cNvSpPr>
            <a:spLocks noGrp="1"/>
          </p:cNvSpPr>
          <p:nvPr>
            <p:ph type="title"/>
          </p:nvPr>
        </p:nvSpPr>
        <p:spPr>
          <a:xfrm>
            <a:off x="839788" y="365125"/>
            <a:ext cx="10515600" cy="1325563"/>
          </a:xfrm>
        </p:spPr>
        <p:txBody>
          <a:bodyPr>
            <a:normAutofit/>
          </a:bodyPr>
          <a:lstStyle>
            <a:lvl1pPr>
              <a:defRPr sz="2800"/>
            </a:lvl1pPr>
          </a:lstStyle>
          <a:p>
            <a:r>
              <a:rPr lang="pl-PL"/>
              <a:t>Kliknij, aby edytować styl</a:t>
            </a:r>
            <a:endParaRPr lang="pl-PL" dirty="0"/>
          </a:p>
        </p:txBody>
      </p:sp>
      <p:sp>
        <p:nvSpPr>
          <p:cNvPr id="3" name="Symbol zastępczy tekstu 2">
            <a:extLst>
              <a:ext uri="{FF2B5EF4-FFF2-40B4-BE49-F238E27FC236}">
                <a16:creationId xmlns:a16="http://schemas.microsoft.com/office/drawing/2014/main" id="{F810DB0A-BC88-E08A-C66A-ACA091E704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E6A2EF2E-41DA-BAB7-6AAA-4F16A66B2AA1}"/>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AEC169F7-DDC9-2134-BD09-F35D4C56BC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A4CF6FF1-DCC8-7F35-8D3E-AF860417C5D4}"/>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9E3233AD-71D6-A5DE-E079-E930485776DE}"/>
              </a:ext>
            </a:extLst>
          </p:cNvPr>
          <p:cNvSpPr>
            <a:spLocks noGrp="1"/>
          </p:cNvSpPr>
          <p:nvPr>
            <p:ph type="dt" sz="half" idx="10"/>
          </p:nvPr>
        </p:nvSpPr>
        <p:spPr/>
        <p:txBody>
          <a:bodyPr/>
          <a:lstStyle/>
          <a:p>
            <a:fld id="{495643F8-85DF-4C73-9E90-80F4D6D0E137}" type="datetimeFigureOut">
              <a:rPr lang="pl-PL" smtClean="0"/>
              <a:t>07.01.2026</a:t>
            </a:fld>
            <a:endParaRPr lang="pl-PL"/>
          </a:p>
        </p:txBody>
      </p:sp>
      <p:sp>
        <p:nvSpPr>
          <p:cNvPr id="8" name="Symbol zastępczy stopki 7">
            <a:extLst>
              <a:ext uri="{FF2B5EF4-FFF2-40B4-BE49-F238E27FC236}">
                <a16:creationId xmlns:a16="http://schemas.microsoft.com/office/drawing/2014/main" id="{FE27CEC9-E93D-F7F6-E605-4316652BA229}"/>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55B63DCE-61CF-180A-A13E-512FEB6A6C67}"/>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29602823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9B391DE-6D7E-5529-13A9-D252894D9D52}"/>
              </a:ext>
            </a:extLst>
          </p:cNvPr>
          <p:cNvSpPr>
            <a:spLocks noGrp="1"/>
          </p:cNvSpPr>
          <p:nvPr>
            <p:ph type="title"/>
          </p:nvPr>
        </p:nvSpPr>
        <p:spPr/>
        <p:txBody>
          <a:bodyPr>
            <a:normAutofit/>
          </a:bodyPr>
          <a:lstStyle>
            <a:lvl1pPr>
              <a:defRPr sz="2800"/>
            </a:lvl1pPr>
          </a:lstStyle>
          <a:p>
            <a:r>
              <a:rPr lang="pl-PL"/>
              <a:t>Kliknij, aby edytować styl</a:t>
            </a:r>
            <a:endParaRPr lang="pl-PL" dirty="0"/>
          </a:p>
        </p:txBody>
      </p:sp>
      <p:sp>
        <p:nvSpPr>
          <p:cNvPr id="3" name="Symbol zastępczy daty 2">
            <a:extLst>
              <a:ext uri="{FF2B5EF4-FFF2-40B4-BE49-F238E27FC236}">
                <a16:creationId xmlns:a16="http://schemas.microsoft.com/office/drawing/2014/main" id="{779351F6-ACF3-E6EB-9ECD-76299856AD0E}"/>
              </a:ext>
            </a:extLst>
          </p:cNvPr>
          <p:cNvSpPr>
            <a:spLocks noGrp="1"/>
          </p:cNvSpPr>
          <p:nvPr>
            <p:ph type="dt" sz="half" idx="10"/>
          </p:nvPr>
        </p:nvSpPr>
        <p:spPr/>
        <p:txBody>
          <a:bodyPr/>
          <a:lstStyle/>
          <a:p>
            <a:fld id="{495643F8-85DF-4C73-9E90-80F4D6D0E137}" type="datetimeFigureOut">
              <a:rPr lang="pl-PL" smtClean="0"/>
              <a:t>07.01.2026</a:t>
            </a:fld>
            <a:endParaRPr lang="pl-PL"/>
          </a:p>
        </p:txBody>
      </p:sp>
      <p:sp>
        <p:nvSpPr>
          <p:cNvPr id="4" name="Symbol zastępczy stopki 3">
            <a:extLst>
              <a:ext uri="{FF2B5EF4-FFF2-40B4-BE49-F238E27FC236}">
                <a16:creationId xmlns:a16="http://schemas.microsoft.com/office/drawing/2014/main" id="{B16E8048-344D-C9C5-4A95-516A7B83FDD9}"/>
              </a:ext>
            </a:extLst>
          </p:cNvPr>
          <p:cNvSpPr>
            <a:spLocks noGrp="1"/>
          </p:cNvSpPr>
          <p:nvPr>
            <p:ph type="ftr" sz="quarter" idx="11"/>
          </p:nvPr>
        </p:nvSpPr>
        <p:spPr/>
        <p:txBody>
          <a:bodyPr/>
          <a:lstStyle/>
          <a:p>
            <a:endParaRPr lang="en-US" dirty="0"/>
          </a:p>
        </p:txBody>
      </p:sp>
      <p:sp>
        <p:nvSpPr>
          <p:cNvPr id="5" name="Symbol zastępczy numeru slajdu 4">
            <a:extLst>
              <a:ext uri="{FF2B5EF4-FFF2-40B4-BE49-F238E27FC236}">
                <a16:creationId xmlns:a16="http://schemas.microsoft.com/office/drawing/2014/main" id="{A77A23A4-7CEE-A89A-AEDA-8E119CE2E3D8}"/>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8500400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11E8E01F-F574-FDEB-D48F-D0A01381A4FB}"/>
              </a:ext>
            </a:extLst>
          </p:cNvPr>
          <p:cNvSpPr>
            <a:spLocks noGrp="1"/>
          </p:cNvSpPr>
          <p:nvPr>
            <p:ph type="dt" sz="half" idx="10"/>
          </p:nvPr>
        </p:nvSpPr>
        <p:spPr/>
        <p:txBody>
          <a:bodyPr/>
          <a:lstStyle/>
          <a:p>
            <a:fld id="{495643F8-85DF-4C73-9E90-80F4D6D0E137}" type="datetimeFigureOut">
              <a:rPr lang="pl-PL" smtClean="0"/>
              <a:t>07.01.2026</a:t>
            </a:fld>
            <a:endParaRPr lang="pl-PL"/>
          </a:p>
        </p:txBody>
      </p:sp>
      <p:sp>
        <p:nvSpPr>
          <p:cNvPr id="3" name="Symbol zastępczy stopki 2">
            <a:extLst>
              <a:ext uri="{FF2B5EF4-FFF2-40B4-BE49-F238E27FC236}">
                <a16:creationId xmlns:a16="http://schemas.microsoft.com/office/drawing/2014/main" id="{EF71F7EB-DB47-CB23-3AED-BE559900E773}"/>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B18E8E7C-8373-E77F-9964-4EA50BE607A2}"/>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940707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5223A87-C7B6-45A9-E7D1-DA969C867794}"/>
              </a:ext>
            </a:extLst>
          </p:cNvPr>
          <p:cNvSpPr>
            <a:spLocks noGrp="1"/>
          </p:cNvSpPr>
          <p:nvPr>
            <p:ph type="title"/>
          </p:nvPr>
        </p:nvSpPr>
        <p:spPr>
          <a:xfrm>
            <a:off x="839788" y="457200"/>
            <a:ext cx="3932237" cy="1600200"/>
          </a:xfrm>
        </p:spPr>
        <p:txBody>
          <a:bodyPr anchor="b">
            <a:normAutofit/>
          </a:bodyPr>
          <a:lstStyle>
            <a:lvl1pPr>
              <a:defRPr sz="2800"/>
            </a:lvl1pPr>
          </a:lstStyle>
          <a:p>
            <a:r>
              <a:rPr lang="pl-PL"/>
              <a:t>Kliknij, aby edytować styl</a:t>
            </a:r>
            <a:endParaRPr lang="pl-PL" dirty="0"/>
          </a:p>
        </p:txBody>
      </p:sp>
      <p:sp>
        <p:nvSpPr>
          <p:cNvPr id="3" name="Symbol zastępczy zawartości 2">
            <a:extLst>
              <a:ext uri="{FF2B5EF4-FFF2-40B4-BE49-F238E27FC236}">
                <a16:creationId xmlns:a16="http://schemas.microsoft.com/office/drawing/2014/main" id="{47CA3F37-968F-654B-1DB7-B9B5C1B4CE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084A5BC2-A2DA-F657-0DC7-A08C4984EB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0B7363BF-C7BF-F582-C148-A4BA0A290900}"/>
              </a:ext>
            </a:extLst>
          </p:cNvPr>
          <p:cNvSpPr>
            <a:spLocks noGrp="1"/>
          </p:cNvSpPr>
          <p:nvPr>
            <p:ph type="dt" sz="half" idx="10"/>
          </p:nvPr>
        </p:nvSpPr>
        <p:spPr/>
        <p:txBody>
          <a:bodyPr/>
          <a:lstStyle/>
          <a:p>
            <a:fld id="{495643F8-85DF-4C73-9E90-80F4D6D0E137}" type="datetimeFigureOut">
              <a:rPr lang="pl-PL" smtClean="0"/>
              <a:t>07.01.2026</a:t>
            </a:fld>
            <a:endParaRPr lang="pl-PL"/>
          </a:p>
        </p:txBody>
      </p:sp>
      <p:sp>
        <p:nvSpPr>
          <p:cNvPr id="6" name="Symbol zastępczy stopki 5">
            <a:extLst>
              <a:ext uri="{FF2B5EF4-FFF2-40B4-BE49-F238E27FC236}">
                <a16:creationId xmlns:a16="http://schemas.microsoft.com/office/drawing/2014/main" id="{D3A24784-3E5C-2007-12D8-DFDF98E95409}"/>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3CFE686C-EA9E-43E0-6069-39455DFC9618}"/>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18930895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EBF02C6-A6D2-FF1C-6B4A-B8B107048769}"/>
              </a:ext>
            </a:extLst>
          </p:cNvPr>
          <p:cNvSpPr>
            <a:spLocks noGrp="1"/>
          </p:cNvSpPr>
          <p:nvPr>
            <p:ph type="title"/>
          </p:nvPr>
        </p:nvSpPr>
        <p:spPr>
          <a:xfrm>
            <a:off x="839788" y="457200"/>
            <a:ext cx="3932237" cy="1600200"/>
          </a:xfrm>
        </p:spPr>
        <p:txBody>
          <a:bodyPr anchor="b">
            <a:normAutofit/>
          </a:bodyPr>
          <a:lstStyle>
            <a:lvl1pPr>
              <a:defRPr sz="2800"/>
            </a:lvl1pPr>
          </a:lstStyle>
          <a:p>
            <a:r>
              <a:rPr lang="pl-PL"/>
              <a:t>Kliknij, aby edytować styl</a:t>
            </a:r>
            <a:endParaRPr lang="pl-PL" dirty="0"/>
          </a:p>
        </p:txBody>
      </p:sp>
      <p:sp>
        <p:nvSpPr>
          <p:cNvPr id="3" name="Symbol zastępczy obrazu 2">
            <a:extLst>
              <a:ext uri="{FF2B5EF4-FFF2-40B4-BE49-F238E27FC236}">
                <a16:creationId xmlns:a16="http://schemas.microsoft.com/office/drawing/2014/main" id="{02FEBA59-63E7-3B39-3736-183495937C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l-PL"/>
              <a:t>Kliknij ikonę, aby dodać obraz</a:t>
            </a:r>
          </a:p>
        </p:txBody>
      </p:sp>
      <p:sp>
        <p:nvSpPr>
          <p:cNvPr id="4" name="Symbol zastępczy tekstu 3">
            <a:extLst>
              <a:ext uri="{FF2B5EF4-FFF2-40B4-BE49-F238E27FC236}">
                <a16:creationId xmlns:a16="http://schemas.microsoft.com/office/drawing/2014/main" id="{2CC5F966-3644-137D-94D3-BE4B3145F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9632053C-DEE4-B9A7-F3E4-8F14362BEA72}"/>
              </a:ext>
            </a:extLst>
          </p:cNvPr>
          <p:cNvSpPr>
            <a:spLocks noGrp="1"/>
          </p:cNvSpPr>
          <p:nvPr>
            <p:ph type="dt" sz="half" idx="10"/>
          </p:nvPr>
        </p:nvSpPr>
        <p:spPr/>
        <p:txBody>
          <a:bodyPr/>
          <a:lstStyle/>
          <a:p>
            <a:fld id="{495643F8-85DF-4C73-9E90-80F4D6D0E137}" type="datetimeFigureOut">
              <a:rPr lang="pl-PL" smtClean="0"/>
              <a:t>07.01.2026</a:t>
            </a:fld>
            <a:endParaRPr lang="pl-PL"/>
          </a:p>
        </p:txBody>
      </p:sp>
      <p:sp>
        <p:nvSpPr>
          <p:cNvPr id="6" name="Symbol zastępczy stopki 5">
            <a:extLst>
              <a:ext uri="{FF2B5EF4-FFF2-40B4-BE49-F238E27FC236}">
                <a16:creationId xmlns:a16="http://schemas.microsoft.com/office/drawing/2014/main" id="{6352A1D4-25C1-A263-F37D-3D51B945E85B}"/>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2989E317-0255-0D92-DCA2-71DEE2883259}"/>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510035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3B4610B-74C9-8D98-B107-8C500DCBF75C}"/>
              </a:ext>
            </a:extLst>
          </p:cNvPr>
          <p:cNvSpPr>
            <a:spLocks noGrp="1"/>
          </p:cNvSpPr>
          <p:nvPr>
            <p:ph type="title"/>
          </p:nvPr>
        </p:nvSpPr>
        <p:spPr/>
        <p:txBody>
          <a:bodyPr>
            <a:normAutofit/>
          </a:bodyPr>
          <a:lstStyle>
            <a:lvl1pPr>
              <a:defRPr sz="2800"/>
            </a:lvl1pPr>
          </a:lstStyle>
          <a:p>
            <a:r>
              <a:rPr lang="pl-PL"/>
              <a:t>Kliknij, aby edytować styl</a:t>
            </a:r>
            <a:endParaRPr lang="pl-PL" dirty="0"/>
          </a:p>
        </p:txBody>
      </p:sp>
      <p:sp>
        <p:nvSpPr>
          <p:cNvPr id="3" name="Symbol zastępczy tytułu pionowego 2">
            <a:extLst>
              <a:ext uri="{FF2B5EF4-FFF2-40B4-BE49-F238E27FC236}">
                <a16:creationId xmlns:a16="http://schemas.microsoft.com/office/drawing/2014/main" id="{E1548815-6368-F86D-7B0F-8FFCEE5EC8E6}"/>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DF3A208B-EF84-9317-B8D6-950B3816CA7D}"/>
              </a:ext>
            </a:extLst>
          </p:cNvPr>
          <p:cNvSpPr>
            <a:spLocks noGrp="1"/>
          </p:cNvSpPr>
          <p:nvPr>
            <p:ph type="dt" sz="half" idx="10"/>
          </p:nvPr>
        </p:nvSpPr>
        <p:spPr/>
        <p:txBody>
          <a:bodyPr/>
          <a:lstStyle/>
          <a:p>
            <a:fld id="{495643F8-85DF-4C73-9E90-80F4D6D0E137}" type="datetimeFigureOut">
              <a:rPr lang="pl-PL" smtClean="0"/>
              <a:t>07.01.2026</a:t>
            </a:fld>
            <a:endParaRPr lang="pl-PL"/>
          </a:p>
        </p:txBody>
      </p:sp>
      <p:sp>
        <p:nvSpPr>
          <p:cNvPr id="5" name="Symbol zastępczy stopki 4">
            <a:extLst>
              <a:ext uri="{FF2B5EF4-FFF2-40B4-BE49-F238E27FC236}">
                <a16:creationId xmlns:a16="http://schemas.microsoft.com/office/drawing/2014/main" id="{775AA465-2E19-FF4D-A81F-773B4A2FD221}"/>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146A29DE-825A-79D4-5825-D4A5E19E34F9}"/>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16529564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2B1B4A3D-6B2A-AA3C-4E40-40EEBC324EBE}"/>
              </a:ext>
            </a:extLst>
          </p:cNvPr>
          <p:cNvSpPr>
            <a:spLocks noGrp="1"/>
          </p:cNvSpPr>
          <p:nvPr>
            <p:ph type="title" orient="vert"/>
          </p:nvPr>
        </p:nvSpPr>
        <p:spPr>
          <a:xfrm>
            <a:off x="8724900" y="365125"/>
            <a:ext cx="2628900" cy="5811838"/>
          </a:xfrm>
        </p:spPr>
        <p:txBody>
          <a:bodyPr vert="eaVert">
            <a:normAutofit/>
          </a:bodyPr>
          <a:lstStyle>
            <a:lvl1pPr>
              <a:defRPr sz="2800"/>
            </a:lvl1pPr>
          </a:lstStyle>
          <a:p>
            <a:r>
              <a:rPr lang="pl-PL"/>
              <a:t>Kliknij, aby edytować styl</a:t>
            </a:r>
            <a:endParaRPr lang="pl-PL" dirty="0"/>
          </a:p>
        </p:txBody>
      </p:sp>
      <p:sp>
        <p:nvSpPr>
          <p:cNvPr id="3" name="Symbol zastępczy tytułu pionowego 2">
            <a:extLst>
              <a:ext uri="{FF2B5EF4-FFF2-40B4-BE49-F238E27FC236}">
                <a16:creationId xmlns:a16="http://schemas.microsoft.com/office/drawing/2014/main" id="{A6462A6D-B658-E7AE-6FEB-55CC04A8213D}"/>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A1931249-CE0B-F3C2-36BD-9F7A5607E6AC}"/>
              </a:ext>
            </a:extLst>
          </p:cNvPr>
          <p:cNvSpPr>
            <a:spLocks noGrp="1"/>
          </p:cNvSpPr>
          <p:nvPr>
            <p:ph type="dt" sz="half" idx="10"/>
          </p:nvPr>
        </p:nvSpPr>
        <p:spPr/>
        <p:txBody>
          <a:bodyPr/>
          <a:lstStyle/>
          <a:p>
            <a:fld id="{495643F8-85DF-4C73-9E90-80F4D6D0E137}" type="datetimeFigureOut">
              <a:rPr lang="pl-PL" smtClean="0"/>
              <a:t>07.01.2026</a:t>
            </a:fld>
            <a:endParaRPr lang="pl-PL"/>
          </a:p>
        </p:txBody>
      </p:sp>
      <p:sp>
        <p:nvSpPr>
          <p:cNvPr id="5" name="Symbol zastępczy stopki 4">
            <a:extLst>
              <a:ext uri="{FF2B5EF4-FFF2-40B4-BE49-F238E27FC236}">
                <a16:creationId xmlns:a16="http://schemas.microsoft.com/office/drawing/2014/main" id="{DB6F213C-CB12-1D41-C48C-D98201B72BF2}"/>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D068A6BF-2D89-5E91-2B1E-2FE5040BE517}"/>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35091591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8A8ED001-1A35-B962-25E5-5BC770DA3B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A7B18F7B-AD4E-3756-D770-80C1466389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AC6B7FBB-357F-100F-5CA0-3664DAFB1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5643F8-85DF-4C73-9E90-80F4D6D0E137}" type="datetimeFigureOut">
              <a:rPr lang="pl-PL" smtClean="0"/>
              <a:t>07.01.2026</a:t>
            </a:fld>
            <a:endParaRPr lang="pl-PL"/>
          </a:p>
        </p:txBody>
      </p:sp>
      <p:sp>
        <p:nvSpPr>
          <p:cNvPr id="5" name="Symbol zastępczy stopki 4">
            <a:extLst>
              <a:ext uri="{FF2B5EF4-FFF2-40B4-BE49-F238E27FC236}">
                <a16:creationId xmlns:a16="http://schemas.microsoft.com/office/drawing/2014/main" id="{BD340CE9-A27D-7E3C-09B5-29DEDD6AA6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B9AE6980-B34F-8DF3-BA3B-E899AA09D7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AF6AAD-7FCE-4087-9480-7F01B9F7F525}" type="slidenum">
              <a:rPr lang="pl-PL" smtClean="0"/>
              <a:t>‹#›</a:t>
            </a:fld>
            <a:endParaRPr lang="pl-PL"/>
          </a:p>
        </p:txBody>
      </p:sp>
    </p:spTree>
    <p:extLst>
      <p:ext uri="{BB962C8B-B14F-4D97-AF65-F5344CB8AC3E}">
        <p14:creationId xmlns:p14="http://schemas.microsoft.com/office/powerpoint/2010/main" val="25992757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8A295C3-FA7B-1228-BA2E-6D947BBD964B}"/>
              </a:ext>
            </a:extLst>
          </p:cNvPr>
          <p:cNvSpPr>
            <a:spLocks noGrp="1"/>
          </p:cNvSpPr>
          <p:nvPr>
            <p:ph type="ctrTitle"/>
          </p:nvPr>
        </p:nvSpPr>
        <p:spPr/>
        <p:txBody>
          <a:bodyPr>
            <a:normAutofit fontScale="90000"/>
          </a:bodyPr>
          <a:lstStyle/>
          <a:p>
            <a:r>
              <a:rPr lang="pl-PL" dirty="0">
                <a:solidFill>
                  <a:srgbClr val="002060"/>
                </a:solidFill>
                <a:effectLst>
                  <a:outerShdw blurRad="38100" dist="38100" dir="2700000" algn="tl">
                    <a:srgbClr val="000000">
                      <a:alpha val="43137"/>
                    </a:srgbClr>
                  </a:outerShdw>
                </a:effectLst>
              </a:rPr>
              <a:t>Law and </a:t>
            </a:r>
            <a:r>
              <a:rPr lang="pl-PL" dirty="0" err="1">
                <a:solidFill>
                  <a:srgbClr val="002060"/>
                </a:solidFill>
                <a:effectLst>
                  <a:outerShdw blurRad="38100" dist="38100" dir="2700000" algn="tl">
                    <a:srgbClr val="000000">
                      <a:alpha val="43137"/>
                    </a:srgbClr>
                  </a:outerShdw>
                </a:effectLst>
              </a:rPr>
              <a:t>Its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Interpretation</a:t>
            </a:r>
            <a:br>
              <a:rPr lang="pl-PL" dirty="0">
                <a:solidFill>
                  <a:srgbClr val="002060"/>
                </a:solidFill>
                <a:effectLst>
                  <a:outerShdw blurRad="38100" dist="38100" dir="2700000" algn="tl">
                    <a:srgbClr val="000000">
                      <a:alpha val="43137"/>
                    </a:srgbClr>
                  </a:outerShdw>
                </a:effectLst>
              </a:rPr>
            </a:br>
            <a:r>
              <a:rPr lang="pl-PL" dirty="0">
                <a:solidFill>
                  <a:srgbClr val="002060"/>
                </a:solidFill>
                <a:effectLst>
                  <a:outerShdw blurRad="38100" dist="38100" dir="2700000" algn="tl">
                    <a:srgbClr val="000000">
                      <a:alpha val="43137"/>
                    </a:srgbClr>
                  </a:outerShdw>
                </a:effectLst>
              </a:rPr>
              <a:t>Part 1 </a:t>
            </a:r>
            <a:r>
              <a:rPr lang="pl-PL" dirty="0" err="1">
                <a:solidFill>
                  <a:srgbClr val="002060"/>
                </a:solidFill>
                <a:effectLst>
                  <a:outerShdw blurRad="38100" dist="38100" dir="2700000" algn="tl">
                    <a:srgbClr val="000000">
                      <a:alpha val="43137"/>
                    </a:srgbClr>
                  </a:outerShdw>
                </a:effectLst>
              </a:rPr>
              <a:t>Introduction</a:t>
            </a:r>
            <a:endParaRPr lang="en-US" dirty="0">
              <a:solidFill>
                <a:srgbClr val="002060"/>
              </a:solidFill>
              <a:effectLst>
                <a:outerShdw blurRad="38100" dist="38100" dir="2700000" algn="tl">
                  <a:srgbClr val="000000">
                    <a:alpha val="43137"/>
                  </a:srgbClr>
                </a:outerShdw>
              </a:effectLst>
            </a:endParaRPr>
          </a:p>
        </p:txBody>
      </p:sp>
      <p:sp>
        <p:nvSpPr>
          <p:cNvPr id="3" name="Podtytuł 2">
            <a:extLst>
              <a:ext uri="{FF2B5EF4-FFF2-40B4-BE49-F238E27FC236}">
                <a16:creationId xmlns:a16="http://schemas.microsoft.com/office/drawing/2014/main" id="{4075740E-927C-767A-9B98-87886B443236}"/>
              </a:ext>
            </a:extLst>
          </p:cNvPr>
          <p:cNvSpPr>
            <a:spLocks noGrp="1"/>
          </p:cNvSpPr>
          <p:nvPr>
            <p:ph type="subTitle" idx="1"/>
          </p:nvPr>
        </p:nvSpPr>
        <p:spPr/>
        <p:txBody>
          <a:bodyPr/>
          <a:lstStyle/>
          <a:p>
            <a:endParaRPr lang="pl-PL" dirty="0"/>
          </a:p>
          <a:p>
            <a:r>
              <a:rPr lang="pl-PL" b="1" dirty="0">
                <a:solidFill>
                  <a:srgbClr val="002060"/>
                </a:solidFill>
                <a:effectLst>
                  <a:outerShdw blurRad="38100" dist="38100" dir="2700000" algn="tl">
                    <a:srgbClr val="000000">
                      <a:alpha val="43137"/>
                    </a:srgbClr>
                  </a:outerShdw>
                </a:effectLst>
              </a:rPr>
              <a:t>KU prof. Waldemar Hoff</a:t>
            </a:r>
          </a:p>
        </p:txBody>
      </p:sp>
    </p:spTree>
    <p:extLst>
      <p:ext uri="{BB962C8B-B14F-4D97-AF65-F5344CB8AC3E}">
        <p14:creationId xmlns:p14="http://schemas.microsoft.com/office/powerpoint/2010/main" val="2423530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A5CEA97-772D-9DB2-ED29-D2C005C2324E}"/>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Natural Law vs. </a:t>
            </a:r>
            <a:r>
              <a:rPr lang="pl-PL" dirty="0" err="1">
                <a:solidFill>
                  <a:srgbClr val="002060"/>
                </a:solidFill>
                <a:effectLst>
                  <a:outerShdw blurRad="38100" dist="38100" dir="2700000" algn="tl">
                    <a:srgbClr val="000000">
                      <a:alpha val="43137"/>
                    </a:srgbClr>
                  </a:outerShdw>
                </a:effectLst>
              </a:rPr>
              <a:t>Positive</a:t>
            </a:r>
            <a:r>
              <a:rPr lang="pl-PL" dirty="0">
                <a:solidFill>
                  <a:srgbClr val="002060"/>
                </a:solidFill>
                <a:effectLst>
                  <a:outerShdw blurRad="38100" dist="38100" dir="2700000" algn="tl">
                    <a:srgbClr val="000000">
                      <a:alpha val="43137"/>
                    </a:srgbClr>
                  </a:outerShdw>
                </a:effectLst>
              </a:rPr>
              <a:t> law</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39DA0D5E-1376-9BDF-B793-DEEE9B79C25F}"/>
              </a:ext>
            </a:extLst>
          </p:cNvPr>
          <p:cNvSpPr>
            <a:spLocks noGrp="1"/>
          </p:cNvSpPr>
          <p:nvPr>
            <p:ph idx="1"/>
          </p:nvPr>
        </p:nvSpPr>
        <p:spPr>
          <a:xfrm>
            <a:off x="838200" y="1825624"/>
            <a:ext cx="10515600" cy="5032375"/>
          </a:xfrm>
        </p:spPr>
        <p:txBody>
          <a:bodyPr>
            <a:noAutofit/>
          </a:bodyPr>
          <a:lstStyle/>
          <a:p>
            <a:pPr marL="0" indent="0">
              <a:buNone/>
            </a:pPr>
            <a:r>
              <a:rPr lang="en-US" sz="2000" noProof="0"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Natural law </a:t>
            </a:r>
            <a:r>
              <a:rPr lang="en-US" sz="2000" noProof="0" dirty="0">
                <a:solidFill>
                  <a:srgbClr val="002060"/>
                </a:solidFill>
                <a:effectLst>
                  <a:outerShdw blurRad="38100" dist="38100" dir="2700000" algn="tl">
                    <a:srgbClr val="000000">
                      <a:alpha val="43137"/>
                    </a:srgbClr>
                  </a:outerShdw>
                </a:effectLst>
              </a:rPr>
              <a:t>– law of nature, God’s law, customary law – rooted in morality; it precedes human-made law.</a:t>
            </a:r>
            <a:r>
              <a:rPr lang="pl-PL" sz="2000" noProof="0" dirty="0">
                <a:solidFill>
                  <a:srgbClr val="002060"/>
                </a:solidFill>
                <a:effectLst>
                  <a:outerShdw blurRad="38100" dist="38100" dir="2700000" algn="tl">
                    <a:srgbClr val="000000">
                      <a:alpha val="43137"/>
                    </a:srgbClr>
                  </a:outerShdw>
                </a:effectLst>
              </a:rPr>
              <a:t> </a:t>
            </a:r>
            <a:r>
              <a:rPr lang="pl-PL" sz="2000" b="1" noProof="0" dirty="0">
                <a:solidFill>
                  <a:srgbClr val="002060"/>
                </a:solidFill>
                <a:effectLst>
                  <a:outerShdw blurRad="38100" dist="38100" dir="2700000" algn="tl">
                    <a:srgbClr val="000000">
                      <a:alpha val="43137"/>
                    </a:srgbClr>
                  </a:outerShdw>
                </a:effectLst>
              </a:rPr>
              <a:t>Courts are not formally bound by </a:t>
            </a:r>
            <a:r>
              <a:rPr lang="pl-PL" sz="2000" b="1" noProof="0" dirty="0" err="1">
                <a:solidFill>
                  <a:srgbClr val="002060"/>
                </a:solidFill>
                <a:effectLst>
                  <a:outerShdw blurRad="38100" dist="38100" dir="2700000" algn="tl">
                    <a:srgbClr val="000000">
                      <a:alpha val="43137"/>
                    </a:srgbClr>
                  </a:outerShdw>
                </a:effectLst>
              </a:rPr>
              <a:t>it</a:t>
            </a:r>
            <a:r>
              <a:rPr lang="pl-PL" sz="2000" b="1" noProof="0" dirty="0">
                <a:solidFill>
                  <a:srgbClr val="002060"/>
                </a:solidFill>
                <a:effectLst>
                  <a:outerShdw blurRad="38100" dist="38100" dir="2700000" algn="tl">
                    <a:srgbClr val="000000">
                      <a:alpha val="43137"/>
                    </a:srgbClr>
                  </a:outerShdw>
                </a:effectLst>
              </a:rPr>
              <a:t>.</a:t>
            </a:r>
            <a:endParaRPr lang="en-US" sz="2000" noProof="0" dirty="0">
              <a:solidFill>
                <a:srgbClr val="002060"/>
              </a:solidFill>
              <a:effectLst>
                <a:outerShdw blurRad="38100" dist="38100" dir="2700000" algn="tl">
                  <a:srgbClr val="000000">
                    <a:alpha val="43137"/>
                  </a:srgbClr>
                </a:outerShdw>
              </a:effectLst>
            </a:endParaRPr>
          </a:p>
          <a:p>
            <a:pPr algn="just"/>
            <a:r>
              <a:rPr lang="en-US" sz="2000" noProof="0" dirty="0">
                <a:solidFill>
                  <a:srgbClr val="002060"/>
                </a:solidFill>
                <a:effectLst>
                  <a:outerShdw blurRad="38100" dist="38100" dir="2700000" algn="tl">
                    <a:srgbClr val="000000">
                      <a:alpha val="43137"/>
                    </a:srgbClr>
                  </a:outerShdw>
                </a:effectLst>
              </a:rPr>
              <a:t>Natural law theory holds that the existence of a set of </a:t>
            </a:r>
            <a:r>
              <a:rPr lang="en-US" sz="2000" b="1" noProof="0" dirty="0">
                <a:solidFill>
                  <a:srgbClr val="002060"/>
                </a:solidFill>
                <a:effectLst>
                  <a:outerShdw blurRad="38100" dist="38100" dir="2700000" algn="tl">
                    <a:srgbClr val="000000">
                      <a:alpha val="43137"/>
                    </a:srgbClr>
                  </a:outerShdw>
                </a:effectLst>
              </a:rPr>
              <a:t>inherent rules </a:t>
            </a:r>
            <a:r>
              <a:rPr lang="en-US" sz="2000" noProof="0" dirty="0">
                <a:solidFill>
                  <a:srgbClr val="002060"/>
                </a:solidFill>
                <a:effectLst>
                  <a:outerShdw blurRad="38100" dist="38100" dir="2700000" algn="tl">
                    <a:srgbClr val="000000">
                      <a:alpha val="43137"/>
                    </a:srgbClr>
                  </a:outerShdw>
                </a:effectLst>
              </a:rPr>
              <a:t>derived from nature and </a:t>
            </a:r>
            <a:r>
              <a:rPr lang="en-US" sz="2000" b="1" noProof="0" dirty="0">
                <a:solidFill>
                  <a:srgbClr val="002060"/>
                </a:solidFill>
                <a:effectLst>
                  <a:outerShdw blurRad="38100" dist="38100" dir="2700000" algn="tl">
                    <a:srgbClr val="000000">
                      <a:alpha val="43137"/>
                    </a:srgbClr>
                  </a:outerShdw>
                </a:effectLst>
              </a:rPr>
              <a:t>universal</a:t>
            </a:r>
            <a:r>
              <a:rPr lang="en-US" sz="2000" noProof="0" dirty="0">
                <a:solidFill>
                  <a:srgbClr val="002060"/>
                </a:solidFill>
                <a:effectLst>
                  <a:outerShdw blurRad="38100" dist="38100" dir="2700000" algn="tl">
                    <a:srgbClr val="000000">
                      <a:alpha val="43137"/>
                    </a:srgbClr>
                  </a:outerShdw>
                </a:effectLst>
              </a:rPr>
              <a:t> principles, which are </a:t>
            </a:r>
            <a:r>
              <a:rPr lang="en-US" sz="2000" b="1" noProof="0" dirty="0">
                <a:solidFill>
                  <a:srgbClr val="FF0000"/>
                </a:solidFill>
                <a:effectLst>
                  <a:outerShdw blurRad="38100" dist="38100" dir="2700000" algn="tl">
                    <a:srgbClr val="000000">
                      <a:alpha val="43137"/>
                    </a:srgbClr>
                  </a:outerShdw>
                </a:effectLst>
              </a:rPr>
              <a:t>discoverable</a:t>
            </a:r>
            <a:r>
              <a:rPr lang="en-US" sz="2000" b="1" noProof="0" dirty="0">
                <a:solidFill>
                  <a:srgbClr val="002060"/>
                </a:solidFill>
                <a:effectLst>
                  <a:outerShdw blurRad="38100" dist="38100" dir="2700000" algn="tl">
                    <a:srgbClr val="000000">
                      <a:alpha val="43137"/>
                    </a:srgbClr>
                  </a:outerShdw>
                </a:effectLst>
              </a:rPr>
              <a:t> </a:t>
            </a:r>
            <a:r>
              <a:rPr lang="en-US" sz="2000" noProof="0" dirty="0">
                <a:solidFill>
                  <a:srgbClr val="002060"/>
                </a:solidFill>
                <a:effectLst>
                  <a:outerShdw blurRad="38100" dist="38100" dir="2700000" algn="tl">
                    <a:srgbClr val="000000">
                      <a:alpha val="43137"/>
                    </a:srgbClr>
                  </a:outerShdw>
                </a:effectLst>
              </a:rPr>
              <a:t>through reason (</a:t>
            </a:r>
            <a:r>
              <a:rPr lang="en-US" sz="2000" b="1" noProof="0" dirty="0">
                <a:solidFill>
                  <a:srgbClr val="FF0000"/>
                </a:solidFill>
                <a:effectLst>
                  <a:outerShdw blurRad="38100" dist="38100" dir="2700000" algn="tl">
                    <a:srgbClr val="000000">
                      <a:alpha val="43137"/>
                    </a:srgbClr>
                  </a:outerShdw>
                </a:effectLst>
              </a:rPr>
              <a:t>not granted</a:t>
            </a:r>
            <a:r>
              <a:rPr lang="en-US" sz="2000" noProof="0" dirty="0">
                <a:solidFill>
                  <a:srgbClr val="002060"/>
                </a:solidFill>
                <a:effectLst>
                  <a:outerShdw blurRad="38100" dist="38100" dir="2700000" algn="tl">
                    <a:srgbClr val="000000">
                      <a:alpha val="43137"/>
                    </a:srgbClr>
                  </a:outerShdw>
                </a:effectLst>
              </a:rPr>
              <a:t>). </a:t>
            </a:r>
          </a:p>
          <a:p>
            <a:pPr algn="just"/>
            <a:r>
              <a:rPr lang="en-US" sz="2000" noProof="0" dirty="0">
                <a:solidFill>
                  <a:srgbClr val="002060"/>
                </a:solidFill>
                <a:effectLst>
                  <a:outerShdw blurRad="38100" dist="38100" dir="2700000" algn="tl">
                    <a:srgbClr val="000000">
                      <a:alpha val="43137"/>
                    </a:srgbClr>
                  </a:outerShdw>
                </a:effectLst>
              </a:rPr>
              <a:t>Certain rights and ethical values are </a:t>
            </a:r>
            <a:r>
              <a:rPr lang="en-US" sz="2000" b="1" noProof="0" dirty="0">
                <a:solidFill>
                  <a:srgbClr val="002060"/>
                </a:solidFill>
                <a:effectLst>
                  <a:outerShdw blurRad="38100" dist="38100" dir="2700000" algn="tl">
                    <a:srgbClr val="000000">
                      <a:alpha val="43137"/>
                    </a:srgbClr>
                  </a:outerShdw>
                </a:effectLst>
              </a:rPr>
              <a:t>inherent in our nature </a:t>
            </a:r>
            <a:r>
              <a:rPr lang="en-US" sz="2000" noProof="0" dirty="0">
                <a:solidFill>
                  <a:srgbClr val="002060"/>
                </a:solidFill>
                <a:effectLst>
                  <a:outerShdw blurRad="38100" dist="38100" dir="2700000" algn="tl">
                    <a:srgbClr val="000000">
                      <a:alpha val="43137"/>
                    </a:srgbClr>
                  </a:outerShdw>
                </a:effectLst>
              </a:rPr>
              <a:t>and can be understood </a:t>
            </a:r>
            <a:r>
              <a:rPr lang="en-US" sz="2000" b="1" noProof="0" dirty="0">
                <a:solidFill>
                  <a:srgbClr val="FF0000"/>
                </a:solidFill>
                <a:effectLst>
                  <a:outerShdw blurRad="38100" dist="38100" dir="2700000" algn="tl">
                    <a:srgbClr val="000000">
                      <a:alpha val="43137"/>
                    </a:srgbClr>
                  </a:outerShdw>
                </a:effectLst>
              </a:rPr>
              <a:t>universally</a:t>
            </a:r>
            <a:r>
              <a:rPr lang="en-US" sz="2000" noProof="0" dirty="0">
                <a:solidFill>
                  <a:srgbClr val="002060"/>
                </a:solidFill>
                <a:effectLst>
                  <a:outerShdw blurRad="38100" dist="38100" dir="2700000" algn="tl">
                    <a:srgbClr val="000000">
                      <a:alpha val="43137"/>
                    </a:srgbClr>
                  </a:outerShdw>
                </a:effectLst>
              </a:rPr>
              <a:t>, </a:t>
            </a:r>
            <a:r>
              <a:rPr lang="en-US" sz="2000" b="1" noProof="0" dirty="0">
                <a:solidFill>
                  <a:srgbClr val="FF0000"/>
                </a:solidFill>
                <a:effectLst>
                  <a:outerShdw blurRad="38100" dist="38100" dir="2700000" algn="tl">
                    <a:srgbClr val="000000">
                      <a:alpha val="43137"/>
                    </a:srgbClr>
                  </a:outerShdw>
                </a:effectLst>
              </a:rPr>
              <a:t>independent of enacted law</a:t>
            </a:r>
            <a:r>
              <a:rPr lang="pl-PL" sz="2000" b="1" noProof="0" dirty="0">
                <a:solidFill>
                  <a:srgbClr val="FF0000"/>
                </a:solidFill>
                <a:effectLst>
                  <a:outerShdw blurRad="38100" dist="38100" dir="2700000" algn="tl">
                    <a:srgbClr val="000000">
                      <a:alpha val="43137"/>
                    </a:srgbClr>
                  </a:outerShdw>
                </a:effectLst>
              </a:rPr>
              <a:t>s</a:t>
            </a:r>
            <a:r>
              <a:rPr lang="pl-PL" sz="2000" noProof="0" dirty="0">
                <a:solidFill>
                  <a:srgbClr val="002060"/>
                </a:solidFill>
                <a:effectLst>
                  <a:outerShdw blurRad="38100" dist="38100" dir="2700000" algn="tl">
                    <a:srgbClr val="000000">
                      <a:alpha val="43137"/>
                    </a:srgbClr>
                  </a:outerShdw>
                </a:effectLst>
              </a:rPr>
              <a:t>.</a:t>
            </a:r>
            <a:endParaRPr lang="en-US" sz="2000" noProof="0" dirty="0">
              <a:solidFill>
                <a:srgbClr val="002060"/>
              </a:solidFill>
              <a:effectLst>
                <a:outerShdw blurRad="38100" dist="38100" dir="2700000" algn="tl">
                  <a:srgbClr val="000000">
                    <a:alpha val="43137"/>
                  </a:srgbClr>
                </a:outerShdw>
              </a:effectLst>
            </a:endParaRPr>
          </a:p>
          <a:p>
            <a:pPr algn="just"/>
            <a:r>
              <a:rPr lang="en-US" sz="2000" noProof="0" dirty="0">
                <a:solidFill>
                  <a:srgbClr val="002060"/>
                </a:solidFill>
                <a:effectLst>
                  <a:outerShdw blurRad="38100" dist="38100" dir="2700000" algn="tl">
                    <a:srgbClr val="000000">
                      <a:alpha val="43137"/>
                    </a:srgbClr>
                  </a:outerShdw>
                </a:effectLst>
              </a:rPr>
              <a:t>There are </a:t>
            </a:r>
            <a:r>
              <a:rPr lang="en-US" sz="2000" b="1" noProof="0" dirty="0">
                <a:solidFill>
                  <a:srgbClr val="002060"/>
                </a:solidFill>
                <a:effectLst>
                  <a:outerShdw blurRad="38100" dist="38100" dir="2700000" algn="tl">
                    <a:srgbClr val="000000">
                      <a:alpha val="43137"/>
                    </a:srgbClr>
                  </a:outerShdw>
                </a:effectLst>
              </a:rPr>
              <a:t>objective</a:t>
            </a:r>
            <a:r>
              <a:rPr lang="en-US" sz="2000" noProof="0" dirty="0">
                <a:solidFill>
                  <a:srgbClr val="002060"/>
                </a:solidFill>
                <a:effectLst>
                  <a:outerShdw blurRad="38100" dist="38100" dir="2700000" algn="tl">
                    <a:srgbClr val="000000">
                      <a:alpha val="43137"/>
                    </a:srgbClr>
                  </a:outerShdw>
                </a:effectLst>
              </a:rPr>
              <a:t> legal standards</a:t>
            </a:r>
            <a:r>
              <a:rPr lang="pl-PL" sz="2000" noProof="0" dirty="0">
                <a:solidFill>
                  <a:srgbClr val="002060"/>
                </a:solidFill>
                <a:effectLst>
                  <a:outerShdw blurRad="38100" dist="38100" dir="2700000" algn="tl">
                    <a:srgbClr val="000000">
                      <a:alpha val="43137"/>
                    </a:srgbClr>
                  </a:outerShdw>
                </a:effectLst>
              </a:rPr>
              <a:t>,</a:t>
            </a:r>
            <a:r>
              <a:rPr lang="en-US" sz="2000" noProof="0" dirty="0">
                <a:solidFill>
                  <a:srgbClr val="002060"/>
                </a:solidFill>
                <a:effectLst>
                  <a:outerShdw blurRad="38100" dist="38100" dir="2700000" algn="tl">
                    <a:srgbClr val="000000">
                      <a:alpha val="43137"/>
                    </a:srgbClr>
                  </a:outerShdw>
                </a:effectLst>
              </a:rPr>
              <a:t> </a:t>
            </a:r>
            <a:r>
              <a:rPr lang="en-US" sz="2000" dirty="0">
                <a:solidFill>
                  <a:srgbClr val="002060"/>
                </a:solidFill>
                <a:effectLst>
                  <a:outerShdw blurRad="38100" dist="38100" dir="2700000" algn="tl">
                    <a:srgbClr val="000000">
                      <a:alpha val="43137"/>
                    </a:srgbClr>
                  </a:outerShdw>
                </a:effectLst>
              </a:rPr>
              <a:t>grounded in morality, that </a:t>
            </a:r>
            <a:r>
              <a:rPr lang="en-US" sz="2000" b="1" dirty="0">
                <a:solidFill>
                  <a:srgbClr val="002060"/>
                </a:solidFill>
                <a:effectLst>
                  <a:outerShdw blurRad="38100" dist="38100" dir="2700000" algn="tl">
                    <a:srgbClr val="000000">
                      <a:alpha val="43137"/>
                    </a:srgbClr>
                  </a:outerShdw>
                </a:effectLst>
              </a:rPr>
              <a:t>underlie and shape</a:t>
            </a:r>
            <a:r>
              <a:rPr lang="en-US" sz="2000" b="1" noProof="0" dirty="0">
                <a:solidFill>
                  <a:srgbClr val="002060"/>
                </a:solidFill>
                <a:effectLst>
                  <a:outerShdw blurRad="38100" dist="38100" dir="2700000" algn="tl">
                    <a:srgbClr val="000000">
                      <a:alpha val="43137"/>
                    </a:srgbClr>
                  </a:outerShdw>
                </a:effectLst>
              </a:rPr>
              <a:t> the creation</a:t>
            </a:r>
            <a:r>
              <a:rPr lang="en-US" sz="2000" noProof="0" dirty="0">
                <a:solidFill>
                  <a:srgbClr val="002060"/>
                </a:solidFill>
                <a:effectLst>
                  <a:outerShdw blurRad="38100" dist="38100" dir="2700000" algn="tl">
                    <a:srgbClr val="000000">
                      <a:alpha val="43137"/>
                    </a:srgbClr>
                  </a:outerShdw>
                </a:effectLst>
              </a:rPr>
              <a:t>, </a:t>
            </a:r>
            <a:r>
              <a:rPr lang="en-US" sz="2000" b="1" noProof="0" dirty="0">
                <a:solidFill>
                  <a:srgbClr val="002060"/>
                </a:solidFill>
                <a:effectLst>
                  <a:outerShdw blurRad="38100" dist="38100" dir="2700000" algn="tl">
                    <a:srgbClr val="000000">
                      <a:alpha val="43137"/>
                    </a:srgbClr>
                  </a:outerShdw>
                </a:effectLst>
              </a:rPr>
              <a:t>interpretation, and application of human-made laws</a:t>
            </a:r>
            <a:r>
              <a:rPr lang="en-US" sz="2000" noProof="0" dirty="0">
                <a:solidFill>
                  <a:srgbClr val="002060"/>
                </a:solidFill>
                <a:effectLst>
                  <a:outerShdw blurRad="38100" dist="38100" dir="2700000" algn="tl">
                    <a:srgbClr val="000000">
                      <a:alpha val="43137"/>
                    </a:srgbClr>
                  </a:outerShdw>
                </a:effectLst>
              </a:rPr>
              <a:t>. </a:t>
            </a:r>
          </a:p>
          <a:p>
            <a:pPr marL="0" indent="0">
              <a:buNone/>
            </a:pPr>
            <a:r>
              <a:rPr lang="en-US" sz="2000" noProof="0"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Positive law </a:t>
            </a:r>
            <a:r>
              <a:rPr lang="en-US" sz="2000" noProof="0" dirty="0">
                <a:solidFill>
                  <a:srgbClr val="FF0000"/>
                </a:solidFill>
                <a:effectLst>
                  <a:outerShdw blurRad="38100" dist="38100" dir="2700000" algn="tl">
                    <a:srgbClr val="000000">
                      <a:alpha val="43137"/>
                    </a:srgbClr>
                  </a:outerShdw>
                </a:effectLst>
                <a:latin typeface="Arial Black" panose="020B0A04020102020204" pitchFamily="34" charset="0"/>
              </a:rPr>
              <a:t>(human-made law)</a:t>
            </a:r>
            <a:endParaRPr lang="pl-PL" sz="2000" noProof="0" dirty="0">
              <a:solidFill>
                <a:srgbClr val="FF0000"/>
              </a:solidFill>
              <a:effectLst>
                <a:outerShdw blurRad="38100" dist="38100" dir="2700000" algn="tl">
                  <a:srgbClr val="000000">
                    <a:alpha val="43137"/>
                  </a:srgbClr>
                </a:outerShdw>
              </a:effectLst>
              <a:latin typeface="Arial Black" panose="020B0A04020102020204" pitchFamily="34" charset="0"/>
            </a:endParaRPr>
          </a:p>
          <a:p>
            <a:r>
              <a:rPr lang="en-US" sz="2000" noProof="0" dirty="0">
                <a:solidFill>
                  <a:srgbClr val="002060"/>
                </a:solidFill>
                <a:effectLst>
                  <a:outerShdw blurRad="38100" dist="38100" dir="2700000" algn="tl">
                    <a:srgbClr val="000000">
                      <a:alpha val="43137"/>
                    </a:srgbClr>
                  </a:outerShdw>
                </a:effectLst>
              </a:rPr>
              <a:t> </a:t>
            </a:r>
            <a:r>
              <a:rPr lang="pl-PL" sz="2000" b="1" dirty="0">
                <a:solidFill>
                  <a:srgbClr val="002060"/>
                </a:solidFill>
                <a:effectLst>
                  <a:outerShdw blurRad="38100" dist="38100" dir="2700000" algn="tl">
                    <a:srgbClr val="000000">
                      <a:alpha val="43137"/>
                    </a:srgbClr>
                  </a:outerShdw>
                </a:effectLst>
              </a:rPr>
              <a:t>L</a:t>
            </a:r>
            <a:r>
              <a:rPr lang="en-US" sz="2000" b="1" noProof="0" dirty="0">
                <a:solidFill>
                  <a:srgbClr val="002060"/>
                </a:solidFill>
                <a:effectLst>
                  <a:outerShdw blurRad="38100" dist="38100" dir="2700000" algn="tl">
                    <a:srgbClr val="000000">
                      <a:alpha val="43137"/>
                    </a:srgbClr>
                  </a:outerShdw>
                </a:effectLst>
              </a:rPr>
              <a:t>aw made by monarchs, parliaments, „statutory law”, governments</a:t>
            </a:r>
            <a:r>
              <a:rPr lang="en-US" sz="2000" noProof="0" dirty="0">
                <a:solidFill>
                  <a:srgbClr val="002060"/>
                </a:solidFill>
                <a:effectLst>
                  <a:outerShdw blurRad="38100" dist="38100" dir="2700000" algn="tl">
                    <a:srgbClr val="000000">
                      <a:alpha val="43137"/>
                    </a:srgbClr>
                  </a:outerShdw>
                </a:effectLst>
              </a:rPr>
              <a:t>, municipalities, domestic law, international agreements, law made by international organizations</a:t>
            </a:r>
            <a:r>
              <a:rPr lang="pl-PL" sz="2000" noProof="0" dirty="0">
                <a:solidFill>
                  <a:srgbClr val="002060"/>
                </a:solidFill>
                <a:effectLst>
                  <a:outerShdw blurRad="38100" dist="38100" dir="2700000" algn="tl">
                    <a:srgbClr val="000000">
                      <a:alpha val="43137"/>
                    </a:srgbClr>
                  </a:outerShdw>
                </a:effectLst>
              </a:rPr>
              <a:t>,</a:t>
            </a:r>
            <a:r>
              <a:rPr lang="en-US" sz="2000" noProof="0" dirty="0">
                <a:solidFill>
                  <a:srgbClr val="002060"/>
                </a:solidFill>
                <a:effectLst>
                  <a:outerShdw blurRad="38100" dist="38100" dir="2700000" algn="tl">
                    <a:srgbClr val="000000">
                      <a:alpha val="43137"/>
                    </a:srgbClr>
                  </a:outerShdw>
                </a:effectLst>
              </a:rPr>
              <a:t> „supranational”, </a:t>
            </a:r>
            <a:r>
              <a:rPr lang="en-US" sz="2000" b="1" noProof="0" dirty="0">
                <a:solidFill>
                  <a:srgbClr val="002060"/>
                </a:solidFill>
                <a:effectLst>
                  <a:outerShdw blurRad="38100" dist="38100" dir="2700000" algn="tl">
                    <a:srgbClr val="000000">
                      <a:alpha val="43137"/>
                    </a:srgbClr>
                  </a:outerShdw>
                </a:effectLst>
              </a:rPr>
              <a:t>customary law </a:t>
            </a:r>
            <a:r>
              <a:rPr lang="en-US" sz="2000" noProof="0" dirty="0">
                <a:solidFill>
                  <a:srgbClr val="002060"/>
                </a:solidFill>
                <a:effectLst>
                  <a:outerShdw blurRad="38100" dist="38100" dir="2700000" algn="tl">
                    <a:srgbClr val="000000">
                      <a:alpha val="43137"/>
                    </a:srgbClr>
                  </a:outerShdw>
                </a:effectLst>
              </a:rPr>
              <a:t>(?)</a:t>
            </a:r>
            <a:r>
              <a:rPr lang="pl-PL" sz="2000" dirty="0">
                <a:solidFill>
                  <a:srgbClr val="002060"/>
                </a:solidFill>
                <a:effectLst>
                  <a:outerShdw blurRad="38100" dist="38100" dir="2700000" algn="tl">
                    <a:srgbClr val="000000">
                      <a:alpha val="43137"/>
                    </a:srgbClr>
                  </a:outerShdw>
                </a:effectLst>
              </a:rPr>
              <a:t> --</a:t>
            </a:r>
            <a:r>
              <a:rPr lang="pl-PL" sz="2000" b="1" dirty="0">
                <a:solidFill>
                  <a:srgbClr val="FF0000"/>
                </a:solidFill>
                <a:effectLst>
                  <a:outerShdw blurRad="38100" dist="38100" dir="2700000" algn="tl">
                    <a:srgbClr val="000000">
                      <a:alpha val="43137"/>
                    </a:srgbClr>
                  </a:outerShdw>
                </a:effectLst>
              </a:rPr>
              <a:t>Not necessarily based on morality/ethics </a:t>
            </a:r>
            <a:r>
              <a:rPr lang="pl-PL" sz="2000" dirty="0">
                <a:solidFill>
                  <a:srgbClr val="002060"/>
                </a:solidFill>
                <a:effectLst>
                  <a:outerShdw blurRad="38100" dist="38100" dir="2700000" algn="tl">
                    <a:srgbClr val="000000">
                      <a:alpha val="43137"/>
                    </a:srgbClr>
                  </a:outerShdw>
                </a:effectLst>
              </a:rPr>
              <a:t>[Exception: human rights]</a:t>
            </a:r>
            <a:endParaRPr lang="en-US" sz="2000" noProof="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02674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18BF9EC-7AA2-E82E-8F0E-B02B129E192A}"/>
              </a:ext>
            </a:extLst>
          </p:cNvPr>
          <p:cNvSpPr>
            <a:spLocks noGrp="1"/>
          </p:cNvSpPr>
          <p:nvPr>
            <p:ph type="title"/>
          </p:nvPr>
        </p:nvSpPr>
        <p:spPr/>
        <p:txBody>
          <a:bodyPr>
            <a:normAutofit/>
          </a:bodyPr>
          <a:lstStyle/>
          <a:p>
            <a:r>
              <a:rPr lang="pl-PL" sz="4000" b="1" dirty="0">
                <a:solidFill>
                  <a:srgbClr val="FF0000"/>
                </a:solidFill>
                <a:effectLst>
                  <a:outerShdw blurRad="38100" dist="38100" dir="2700000" algn="tl">
                    <a:srgbClr val="000000">
                      <a:alpha val="43137"/>
                    </a:srgbClr>
                  </a:outerShdw>
                </a:effectLst>
              </a:rPr>
              <a:t>Conflicts</a:t>
            </a:r>
            <a:r>
              <a:rPr lang="pl-PL" sz="4000" dirty="0">
                <a:solidFill>
                  <a:srgbClr val="002060"/>
                </a:solidFill>
                <a:effectLst>
                  <a:outerShdw blurRad="38100" dist="38100" dir="2700000" algn="tl">
                    <a:srgbClr val="000000">
                      <a:alpha val="43137"/>
                    </a:srgbClr>
                  </a:outerShdw>
                </a:effectLst>
              </a:rPr>
              <a:t> between natural law and positive law</a:t>
            </a:r>
            <a:endParaRPr lang="en-US" sz="4000"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C07894F3-ADCA-A086-3415-5C46E76E89A5}"/>
              </a:ext>
            </a:extLst>
          </p:cNvPr>
          <p:cNvSpPr>
            <a:spLocks noGrp="1"/>
          </p:cNvSpPr>
          <p:nvPr>
            <p:ph idx="1"/>
          </p:nvPr>
        </p:nvSpPr>
        <p:spPr>
          <a:xfrm>
            <a:off x="838200" y="1825625"/>
            <a:ext cx="10515600" cy="4840646"/>
          </a:xfrm>
        </p:spPr>
        <p:txBody>
          <a:bodyPr>
            <a:normAutofit/>
          </a:bodyPr>
          <a:lstStyle/>
          <a:p>
            <a:r>
              <a:rPr lang="en-US" sz="2000" noProof="0" dirty="0">
                <a:solidFill>
                  <a:srgbClr val="002060"/>
                </a:solidFill>
                <a:effectLst>
                  <a:outerShdw blurRad="38100" dist="38100" dir="2700000" algn="tl">
                    <a:srgbClr val="000000">
                      <a:alpha val="43137"/>
                    </a:srgbClr>
                  </a:outerShdw>
                </a:effectLst>
              </a:rPr>
              <a:t>At some points in history, positive law and the sense of justice characterizing natural law become </a:t>
            </a:r>
            <a:r>
              <a:rPr lang="en-US" sz="2000" b="1" noProof="0" dirty="0">
                <a:solidFill>
                  <a:srgbClr val="FF0000"/>
                </a:solidFill>
                <a:effectLst>
                  <a:outerShdw blurRad="38100" dist="38100" dir="2700000" algn="tl">
                    <a:srgbClr val="000000">
                      <a:alpha val="43137"/>
                    </a:srgbClr>
                  </a:outerShdw>
                </a:effectLst>
              </a:rPr>
              <a:t>irreconcilable</a:t>
            </a:r>
            <a:r>
              <a:rPr lang="en-US" sz="2000" noProof="0" dirty="0">
                <a:solidFill>
                  <a:srgbClr val="002060"/>
                </a:solidFill>
                <a:effectLst>
                  <a:outerShdw blurRad="38100" dist="38100" dir="2700000" algn="tl">
                    <a:srgbClr val="000000">
                      <a:alpha val="43137"/>
                    </a:srgbClr>
                  </a:outerShdw>
                </a:effectLst>
              </a:rPr>
              <a:t>.</a:t>
            </a:r>
            <a:r>
              <a:rPr lang="pl-PL" sz="2000" noProof="0" dirty="0">
                <a:solidFill>
                  <a:srgbClr val="002060"/>
                </a:solidFill>
                <a:effectLst>
                  <a:outerShdw blurRad="38100" dist="38100" dir="2700000" algn="tl">
                    <a:srgbClr val="000000">
                      <a:alpha val="43137"/>
                    </a:srgbClr>
                  </a:outerShdw>
                </a:effectLst>
              </a:rPr>
              <a:t> </a:t>
            </a:r>
            <a:r>
              <a:rPr lang="en-US" sz="2000" noProof="0" dirty="0">
                <a:solidFill>
                  <a:srgbClr val="002060"/>
                </a:solidFill>
                <a:effectLst>
                  <a:outerShdw blurRad="38100" dist="38100" dir="2700000" algn="tl">
                    <a:srgbClr val="000000">
                      <a:alpha val="43137"/>
                    </a:srgbClr>
                  </a:outerShdw>
                </a:effectLst>
              </a:rPr>
              <a:t>One of such points was the </a:t>
            </a:r>
            <a:r>
              <a:rPr lang="en-US" sz="2000" b="1" noProof="0" dirty="0">
                <a:solidFill>
                  <a:srgbClr val="002060"/>
                </a:solidFill>
                <a:effectLst>
                  <a:outerShdw blurRad="38100" dist="38100" dir="2700000" algn="tl">
                    <a:srgbClr val="000000">
                      <a:alpha val="43137"/>
                    </a:srgbClr>
                  </a:outerShdw>
                </a:effectLst>
              </a:rPr>
              <a:t>atrocities of the </a:t>
            </a:r>
            <a:r>
              <a:rPr lang="en-US" sz="2000" b="1" noProof="0" dirty="0">
                <a:solidFill>
                  <a:srgbClr val="FF0000"/>
                </a:solidFill>
                <a:effectLst>
                  <a:outerShdw blurRad="38100" dist="38100" dir="2700000" algn="tl">
                    <a:srgbClr val="000000">
                      <a:alpha val="43137"/>
                    </a:srgbClr>
                  </a:outerShdw>
                </a:effectLst>
              </a:rPr>
              <a:t>Nazi </a:t>
            </a:r>
            <a:r>
              <a:rPr lang="en-US" sz="2000" b="1" noProof="0" dirty="0">
                <a:solidFill>
                  <a:srgbClr val="002060"/>
                </a:solidFill>
                <a:effectLst>
                  <a:outerShdw blurRad="38100" dist="38100" dir="2700000" algn="tl">
                    <a:srgbClr val="000000">
                      <a:alpha val="43137"/>
                    </a:srgbClr>
                  </a:outerShdw>
                </a:effectLst>
              </a:rPr>
              <a:t>regime </a:t>
            </a:r>
            <a:r>
              <a:rPr lang="en-US" sz="2000" noProof="0" dirty="0">
                <a:solidFill>
                  <a:srgbClr val="002060"/>
                </a:solidFill>
                <a:effectLst>
                  <a:outerShdw blurRad="38100" dist="38100" dir="2700000" algn="tl">
                    <a:srgbClr val="000000">
                      <a:alpha val="43137"/>
                    </a:srgbClr>
                  </a:outerShdw>
                </a:effectLst>
              </a:rPr>
              <a:t>and of World War II</a:t>
            </a:r>
          </a:p>
          <a:p>
            <a:r>
              <a:rPr lang="en-US" sz="2000" noProof="0" dirty="0">
                <a:solidFill>
                  <a:srgbClr val="002060"/>
                </a:solidFill>
                <a:effectLst>
                  <a:outerShdw blurRad="38100" dist="38100" dir="2700000" algn="tl">
                    <a:srgbClr val="000000">
                      <a:alpha val="43137"/>
                    </a:srgbClr>
                  </a:outerShdw>
                </a:effectLst>
              </a:rPr>
              <a:t> A German theorist, </a:t>
            </a:r>
            <a:r>
              <a:rPr lang="en-US" sz="2000" b="1" noProof="0" dirty="0">
                <a:solidFill>
                  <a:srgbClr val="FF0000"/>
                </a:solidFill>
                <a:effectLst>
                  <a:outerShdw blurRad="38100" dist="38100" dir="2700000" algn="tl">
                    <a:srgbClr val="000000">
                      <a:alpha val="43137"/>
                    </a:srgbClr>
                  </a:outerShdw>
                </a:effectLst>
              </a:rPr>
              <a:t>Gustav Radbruch</a:t>
            </a:r>
            <a:r>
              <a:rPr lang="en-US" sz="2000" noProof="0" dirty="0">
                <a:solidFill>
                  <a:srgbClr val="002060"/>
                </a:solidFill>
                <a:effectLst>
                  <a:outerShdw blurRad="38100" dist="38100" dir="2700000" algn="tl">
                    <a:srgbClr val="000000">
                      <a:alpha val="43137"/>
                    </a:srgbClr>
                  </a:outerShdw>
                </a:effectLst>
              </a:rPr>
              <a:t>, came up with a formula (The Radbruch Formula) that a law that violates the fundamental human right to dignity (understood broadly) has </a:t>
            </a:r>
            <a:r>
              <a:rPr lang="en-US" sz="2000" b="1" noProof="0" dirty="0">
                <a:solidFill>
                  <a:srgbClr val="002060"/>
                </a:solidFill>
                <a:effectLst>
                  <a:outerShdw blurRad="38100" dist="38100" dir="2700000" algn="tl">
                    <a:srgbClr val="000000">
                      <a:alpha val="43137"/>
                    </a:srgbClr>
                  </a:outerShdw>
                </a:effectLst>
              </a:rPr>
              <a:t>no binding power</a:t>
            </a:r>
            <a:r>
              <a:rPr lang="en-US" sz="2000" noProof="0" dirty="0">
                <a:solidFill>
                  <a:srgbClr val="002060"/>
                </a:solidFill>
                <a:effectLst>
                  <a:outerShdw blurRad="38100" dist="38100" dir="2700000" algn="tl">
                    <a:srgbClr val="000000">
                      <a:alpha val="43137"/>
                    </a:srgbClr>
                  </a:outerShdw>
                </a:effectLst>
              </a:rPr>
              <a:t>. Therefore, those who are accomplices in crimes </a:t>
            </a:r>
            <a:r>
              <a:rPr lang="pl-PL" sz="2000" noProof="0" dirty="0">
                <a:solidFill>
                  <a:srgbClr val="002060"/>
                </a:solidFill>
                <a:effectLst>
                  <a:outerShdw blurRad="38100" dist="38100" dir="2700000" algn="tl">
                    <a:srgbClr val="000000">
                      <a:alpha val="43137"/>
                    </a:srgbClr>
                  </a:outerShdw>
                </a:effectLst>
              </a:rPr>
              <a:t>(lower-ranking soldiers, guards, officials) </a:t>
            </a:r>
            <a:r>
              <a:rPr lang="en-US" sz="2000" noProof="0" dirty="0">
                <a:solidFill>
                  <a:srgbClr val="002060"/>
                </a:solidFill>
                <a:effectLst>
                  <a:outerShdw blurRad="38100" dist="38100" dir="2700000" algn="tl">
                    <a:srgbClr val="000000">
                      <a:alpha val="43137"/>
                    </a:srgbClr>
                  </a:outerShdw>
                </a:effectLst>
              </a:rPr>
              <a:t>are </a:t>
            </a:r>
            <a:r>
              <a:rPr lang="en-US" sz="2000" b="1" noProof="0" dirty="0">
                <a:solidFill>
                  <a:srgbClr val="002060"/>
                </a:solidFill>
                <a:effectLst>
                  <a:outerShdw blurRad="38100" dist="38100" dir="2700000" algn="tl">
                    <a:srgbClr val="000000">
                      <a:alpha val="43137"/>
                    </a:srgbClr>
                  </a:outerShdw>
                </a:effectLst>
              </a:rPr>
              <a:t>not excused because they „only obeyed the orders</a:t>
            </a:r>
            <a:r>
              <a:rPr lang="en-US" sz="2000" noProof="0" dirty="0">
                <a:solidFill>
                  <a:srgbClr val="002060"/>
                </a:solidFill>
                <a:effectLst>
                  <a:outerShdw blurRad="38100" dist="38100" dir="2700000" algn="tl">
                    <a:srgbClr val="000000">
                      <a:alpha val="43137"/>
                    </a:srgbClr>
                  </a:outerShdw>
                </a:effectLst>
              </a:rPr>
              <a:t>”.</a:t>
            </a:r>
          </a:p>
          <a:p>
            <a:r>
              <a:rPr lang="en-US" sz="2000" noProof="0" dirty="0">
                <a:solidFill>
                  <a:srgbClr val="002060"/>
                </a:solidFill>
                <a:effectLst>
                  <a:outerShdw blurRad="38100" dist="38100" dir="2700000" algn="tl">
                    <a:srgbClr val="000000">
                      <a:alpha val="43137"/>
                    </a:srgbClr>
                  </a:outerShdw>
                </a:effectLst>
              </a:rPr>
              <a:t>Thus</a:t>
            </a:r>
            <a:r>
              <a:rPr lang="pl-PL" sz="2000" noProof="0" dirty="0">
                <a:solidFill>
                  <a:srgbClr val="002060"/>
                </a:solidFill>
                <a:effectLst>
                  <a:outerShdw blurRad="38100" dist="38100" dir="2700000" algn="tl">
                    <a:srgbClr val="000000">
                      <a:alpha val="43137"/>
                    </a:srgbClr>
                  </a:outerShdw>
                </a:effectLst>
              </a:rPr>
              <a:t>,</a:t>
            </a:r>
            <a:r>
              <a:rPr lang="en-US" sz="2000" noProof="0" dirty="0">
                <a:solidFill>
                  <a:srgbClr val="002060"/>
                </a:solidFill>
                <a:effectLst>
                  <a:outerShdw blurRad="38100" dist="38100" dir="2700000" algn="tl">
                    <a:srgbClr val="000000">
                      <a:alpha val="43137"/>
                    </a:srgbClr>
                  </a:outerShdw>
                </a:effectLst>
              </a:rPr>
              <a:t> many WWII criminals were executed</a:t>
            </a:r>
            <a:r>
              <a:rPr lang="pl-PL" sz="2000" noProof="0" dirty="0">
                <a:solidFill>
                  <a:srgbClr val="002060"/>
                </a:solidFill>
                <a:effectLst>
                  <a:outerShdw blurRad="38100" dist="38100" dir="2700000" algn="tl">
                    <a:srgbClr val="000000">
                      <a:alpha val="43137"/>
                    </a:srgbClr>
                  </a:outerShdw>
                </a:effectLst>
              </a:rPr>
              <a:t>,</a:t>
            </a:r>
            <a:r>
              <a:rPr lang="en-US" sz="2000" noProof="0" dirty="0">
                <a:solidFill>
                  <a:srgbClr val="002060"/>
                </a:solidFill>
                <a:effectLst>
                  <a:outerShdw blurRad="38100" dist="38100" dir="2700000" algn="tl">
                    <a:srgbClr val="000000">
                      <a:alpha val="43137"/>
                    </a:srgbClr>
                  </a:outerShdw>
                </a:effectLst>
              </a:rPr>
              <a:t> although they did not violate positive law (Hitler’s laws)</a:t>
            </a:r>
          </a:p>
          <a:p>
            <a:r>
              <a:rPr lang="en-US" sz="2000" noProof="0" dirty="0">
                <a:solidFill>
                  <a:srgbClr val="002060"/>
                </a:solidFill>
                <a:effectLst>
                  <a:outerShdw blurRad="38100" dist="38100" dir="2700000" algn="tl">
                    <a:srgbClr val="000000">
                      <a:alpha val="43137"/>
                    </a:srgbClr>
                  </a:outerShdw>
                </a:effectLst>
              </a:rPr>
              <a:t>This logic was applied to the German </a:t>
            </a:r>
            <a:r>
              <a:rPr lang="en-US" sz="2000" b="1" noProof="0" dirty="0">
                <a:solidFill>
                  <a:srgbClr val="FF0000"/>
                </a:solidFill>
                <a:effectLst>
                  <a:outerShdw blurRad="38100" dist="38100" dir="2700000" algn="tl">
                    <a:srgbClr val="000000">
                      <a:alpha val="43137"/>
                    </a:srgbClr>
                  </a:outerShdw>
                </a:effectLst>
              </a:rPr>
              <a:t>Berlin Wall guards </a:t>
            </a:r>
            <a:r>
              <a:rPr lang="en-US" sz="2000" noProof="0" dirty="0">
                <a:solidFill>
                  <a:srgbClr val="002060"/>
                </a:solidFill>
                <a:effectLst>
                  <a:outerShdw blurRad="38100" dist="38100" dir="2700000" algn="tl">
                    <a:srgbClr val="000000">
                      <a:alpha val="43137"/>
                    </a:srgbClr>
                  </a:outerShdw>
                </a:effectLst>
              </a:rPr>
              <a:t>who shot and killed those trying to escape from the Communist East Germany to West Germany before November 9, 1989</a:t>
            </a:r>
            <a:r>
              <a:rPr lang="en-US" sz="2400" noProof="0" dirty="0">
                <a:solidFill>
                  <a:srgbClr val="00206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822364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65D7C71-1F51-559A-7119-2DFC4C0E108F}"/>
              </a:ext>
            </a:extLst>
          </p:cNvPr>
          <p:cNvSpPr>
            <a:spLocks noGrp="1"/>
          </p:cNvSpPr>
          <p:nvPr>
            <p:ph type="title"/>
          </p:nvPr>
        </p:nvSpPr>
        <p:spPr/>
        <p:txBody>
          <a:bodyPr>
            <a:normAutofit/>
          </a:bodyPr>
          <a:lstStyle/>
          <a:p>
            <a:r>
              <a:rPr lang="pl-PL" sz="4000" b="1" dirty="0">
                <a:solidFill>
                  <a:srgbClr val="FF0000"/>
                </a:solidFill>
                <a:effectLst>
                  <a:outerShdw blurRad="38100" dist="38100" dir="2700000" algn="tl">
                    <a:srgbClr val="000000">
                      <a:alpha val="43137"/>
                    </a:srgbClr>
                  </a:outerShdw>
                </a:effectLst>
              </a:rPr>
              <a:t>Conflicts</a:t>
            </a:r>
            <a:r>
              <a:rPr lang="pl-PL" sz="4000" dirty="0">
                <a:solidFill>
                  <a:srgbClr val="002060"/>
                </a:solidFill>
                <a:effectLst>
                  <a:outerShdw blurRad="38100" dist="38100" dir="2700000" algn="tl">
                    <a:srgbClr val="000000">
                      <a:alpha val="43137"/>
                    </a:srgbClr>
                  </a:outerShdw>
                </a:effectLst>
              </a:rPr>
              <a:t> between natural law and positive law</a:t>
            </a:r>
            <a:endParaRPr lang="en-US" sz="4000" dirty="0"/>
          </a:p>
        </p:txBody>
      </p:sp>
      <p:sp>
        <p:nvSpPr>
          <p:cNvPr id="3" name="Symbol zastępczy zawartości 2">
            <a:extLst>
              <a:ext uri="{FF2B5EF4-FFF2-40B4-BE49-F238E27FC236}">
                <a16:creationId xmlns:a16="http://schemas.microsoft.com/office/drawing/2014/main" id="{A55C2E22-F823-D8CE-7DFA-2F1311DAA19F}"/>
              </a:ext>
            </a:extLst>
          </p:cNvPr>
          <p:cNvSpPr>
            <a:spLocks noGrp="1"/>
          </p:cNvSpPr>
          <p:nvPr>
            <p:ph idx="1"/>
          </p:nvPr>
        </p:nvSpPr>
        <p:spPr>
          <a:xfrm>
            <a:off x="838200" y="1825624"/>
            <a:ext cx="10515600" cy="4889807"/>
          </a:xfrm>
        </p:spPr>
        <p:txBody>
          <a:bodyPr>
            <a:normAutofit/>
          </a:bodyPr>
          <a:lstStyle/>
          <a:p>
            <a:r>
              <a:rPr lang="en-US" noProof="0" dirty="0">
                <a:solidFill>
                  <a:srgbClr val="002060"/>
                </a:solidFill>
                <a:effectLst>
                  <a:outerShdw blurRad="38100" dist="38100" dir="2700000" algn="tl">
                    <a:srgbClr val="000000">
                      <a:alpha val="43137"/>
                    </a:srgbClr>
                  </a:outerShdw>
                </a:effectLst>
              </a:rPr>
              <a:t>Another legal theory to solve the above conflict was the emergence of the </a:t>
            </a:r>
            <a:r>
              <a:rPr lang="en-US" b="1" noProof="0" dirty="0">
                <a:solidFill>
                  <a:srgbClr val="FF0000"/>
                </a:solidFill>
                <a:effectLst>
                  <a:outerShdw blurRad="38100" dist="38100" dir="2700000" algn="tl">
                    <a:srgbClr val="000000">
                      <a:alpha val="43137"/>
                    </a:srgbClr>
                  </a:outerShdw>
                </a:effectLst>
              </a:rPr>
              <a:t>Militant Democracy </a:t>
            </a:r>
            <a:r>
              <a:rPr lang="en-US" noProof="0" dirty="0">
                <a:solidFill>
                  <a:srgbClr val="002060"/>
                </a:solidFill>
                <a:effectLst>
                  <a:outerShdw blurRad="38100" dist="38100" dir="2700000" algn="tl">
                    <a:srgbClr val="000000">
                      <a:alpha val="43137"/>
                    </a:srgbClr>
                  </a:outerShdw>
                </a:effectLst>
              </a:rPr>
              <a:t>doctrine.</a:t>
            </a:r>
          </a:p>
          <a:p>
            <a:r>
              <a:rPr lang="en-US" noProof="0" dirty="0">
                <a:solidFill>
                  <a:srgbClr val="002060"/>
                </a:solidFill>
                <a:effectLst>
                  <a:outerShdw blurRad="38100" dist="38100" dir="2700000" algn="tl">
                    <a:srgbClr val="000000">
                      <a:alpha val="43137"/>
                    </a:srgbClr>
                  </a:outerShdw>
                </a:effectLst>
              </a:rPr>
              <a:t>Formulated by Karl Loewenstein, it promoted the idea of restricting the rights of the enemies of democracy („</a:t>
            </a:r>
            <a:r>
              <a:rPr lang="en-US" b="1" noProof="0" dirty="0">
                <a:solidFill>
                  <a:srgbClr val="FF0000"/>
                </a:solidFill>
                <a:effectLst>
                  <a:outerShdw blurRad="38100" dist="38100" dir="2700000" algn="tl">
                    <a:srgbClr val="000000">
                      <a:alpha val="43137"/>
                    </a:srgbClr>
                  </a:outerShdw>
                </a:effectLst>
              </a:rPr>
              <a:t>no democracy for the enemies of democracy</a:t>
            </a:r>
            <a:r>
              <a:rPr lang="en-US" noProof="0" dirty="0">
                <a:solidFill>
                  <a:srgbClr val="002060"/>
                </a:solidFill>
                <a:effectLst>
                  <a:outerShdw blurRad="38100" dist="38100" dir="2700000" algn="tl">
                    <a:srgbClr val="000000">
                      <a:alpha val="43137"/>
                    </a:srgbClr>
                  </a:outerShdw>
                </a:effectLst>
              </a:rPr>
              <a:t>”). The concept, although formed in 1937, picked up momentum in Germany in the 1970s in the face of indigenous German </a:t>
            </a:r>
            <a:r>
              <a:rPr lang="en-US" b="1" noProof="0" dirty="0">
                <a:solidFill>
                  <a:srgbClr val="002060"/>
                </a:solidFill>
                <a:effectLst>
                  <a:outerShdw blurRad="38100" dist="38100" dir="2700000" algn="tl">
                    <a:srgbClr val="000000">
                      <a:alpha val="43137"/>
                    </a:srgbClr>
                  </a:outerShdw>
                </a:effectLst>
              </a:rPr>
              <a:t>leftist terrorism</a:t>
            </a:r>
            <a:r>
              <a:rPr lang="en-US" noProof="0" dirty="0">
                <a:solidFill>
                  <a:srgbClr val="002060"/>
                </a:solidFill>
                <a:effectLst>
                  <a:outerShdw blurRad="38100" dist="38100" dir="2700000" algn="tl">
                    <a:srgbClr val="000000">
                      <a:alpha val="43137"/>
                    </a:srgbClr>
                  </a:outerShdw>
                </a:effectLst>
              </a:rPr>
              <a:t>.</a:t>
            </a:r>
          </a:p>
          <a:p>
            <a:r>
              <a:rPr lang="en-US" noProof="0" dirty="0">
                <a:solidFill>
                  <a:srgbClr val="002060"/>
                </a:solidFill>
                <a:effectLst>
                  <a:outerShdw blurRad="38100" dist="38100" dir="2700000" algn="tl">
                    <a:srgbClr val="000000">
                      <a:alpha val="43137"/>
                    </a:srgbClr>
                  </a:outerShdw>
                </a:effectLst>
              </a:rPr>
              <a:t>In our time, it </a:t>
            </a:r>
            <a:r>
              <a:rPr lang="en-US" b="1" noProof="0" dirty="0">
                <a:solidFill>
                  <a:srgbClr val="FF0000"/>
                </a:solidFill>
                <a:effectLst>
                  <a:outerShdw blurRad="38100" dist="38100" dir="2700000" algn="tl">
                    <a:srgbClr val="000000">
                      <a:alpha val="43137"/>
                    </a:srgbClr>
                  </a:outerShdw>
                </a:effectLst>
              </a:rPr>
              <a:t>lost its original purpose </a:t>
            </a:r>
            <a:r>
              <a:rPr lang="en-US" noProof="0" dirty="0">
                <a:solidFill>
                  <a:srgbClr val="002060"/>
                </a:solidFill>
                <a:effectLst>
                  <a:outerShdw blurRad="38100" dist="38100" dir="2700000" algn="tl">
                    <a:srgbClr val="000000">
                      <a:alpha val="43137"/>
                    </a:srgbClr>
                  </a:outerShdw>
                </a:effectLst>
              </a:rPr>
              <a:t>and is used against </a:t>
            </a:r>
            <a:r>
              <a:rPr lang="pl-PL" b="1" noProof="0" dirty="0">
                <a:solidFill>
                  <a:srgbClr val="FF0000"/>
                </a:solidFill>
                <a:effectLst>
                  <a:outerShdw blurRad="38100" dist="38100" dir="2700000" algn="tl">
                    <a:srgbClr val="000000">
                      <a:alpha val="43137"/>
                    </a:srgbClr>
                  </a:outerShdw>
                </a:effectLst>
              </a:rPr>
              <a:t>political opposition </a:t>
            </a:r>
            <a:r>
              <a:rPr lang="pl-PL" noProof="0" dirty="0">
                <a:solidFill>
                  <a:srgbClr val="002060"/>
                </a:solidFill>
                <a:effectLst>
                  <a:outerShdw blurRad="38100" dist="38100" dir="2700000" algn="tl">
                    <a:srgbClr val="000000">
                      <a:alpha val="43137"/>
                    </a:srgbClr>
                  </a:outerShdw>
                </a:effectLst>
              </a:rPr>
              <a:t>by falsely</a:t>
            </a:r>
            <a:r>
              <a:rPr lang="en-US" noProof="0" dirty="0">
                <a:solidFill>
                  <a:srgbClr val="002060"/>
                </a:solidFill>
                <a:effectLst>
                  <a:outerShdw blurRad="38100" dist="38100" dir="2700000" algn="tl">
                    <a:srgbClr val="000000">
                      <a:alpha val="43137"/>
                    </a:srgbClr>
                  </a:outerShdw>
                </a:effectLst>
              </a:rPr>
              <a:t> attributing it with the intention to abolish democracy. The instruments of the modern version of militant democracy are censorship, criminal charges against politicians, disqualification from office, and the delegalization of political parties</a:t>
            </a:r>
            <a:r>
              <a:rPr lang="en-US" noProof="0" dirty="0"/>
              <a:t>.  </a:t>
            </a:r>
          </a:p>
          <a:p>
            <a:endParaRPr lang="en-US" dirty="0"/>
          </a:p>
        </p:txBody>
      </p:sp>
    </p:spTree>
    <p:extLst>
      <p:ext uri="{BB962C8B-B14F-4D97-AF65-F5344CB8AC3E}">
        <p14:creationId xmlns:p14="http://schemas.microsoft.com/office/powerpoint/2010/main" val="1223757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A74505B-76D8-A440-92D9-36CBF02EA4D0}"/>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Elements of a legal act</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A66B205C-6732-D47A-FE18-AF335D56941C}"/>
              </a:ext>
            </a:extLst>
          </p:cNvPr>
          <p:cNvSpPr>
            <a:spLocks noGrp="1"/>
          </p:cNvSpPr>
          <p:nvPr>
            <p:ph idx="1"/>
          </p:nvPr>
        </p:nvSpPr>
        <p:spPr>
          <a:xfrm>
            <a:off x="838200" y="1825624"/>
            <a:ext cx="10515600" cy="5032375"/>
          </a:xfrm>
        </p:spPr>
        <p:txBody>
          <a:bodyPr>
            <a:normAutofit/>
          </a:bodyPr>
          <a:lstStyle/>
          <a:p>
            <a:pPr marL="0" indent="0">
              <a:buNone/>
            </a:pPr>
            <a:r>
              <a:rPr lang="pl-PL" sz="2400" dirty="0">
                <a:solidFill>
                  <a:srgbClr val="FF0000"/>
                </a:solidFill>
                <a:effectLst>
                  <a:outerShdw blurRad="38100" dist="38100" dir="2700000" algn="tl">
                    <a:srgbClr val="000000">
                      <a:alpha val="43137"/>
                    </a:srgbClr>
                  </a:outerShdw>
                </a:effectLst>
                <a:latin typeface="Arial Black" panose="020B0A04020102020204" pitchFamily="34" charset="0"/>
              </a:rPr>
              <a:t>Legal norm </a:t>
            </a:r>
            <a:r>
              <a:rPr lang="pl-PL" sz="2400" dirty="0">
                <a:solidFill>
                  <a:srgbClr val="002060"/>
                </a:solidFill>
                <a:effectLst>
                  <a:outerShdw blurRad="38100" dist="38100" dir="2700000" algn="tl">
                    <a:srgbClr val="000000">
                      <a:alpha val="43137"/>
                    </a:srgbClr>
                  </a:outerShdw>
                </a:effectLst>
              </a:rPr>
              <a:t>– an abstract rule of behavior, or a command (for example,</a:t>
            </a:r>
          </a:p>
          <a:p>
            <a:r>
              <a:rPr lang="pl-PL" sz="2400" dirty="0">
                <a:solidFill>
                  <a:srgbClr val="002060"/>
                </a:solidFill>
                <a:effectLst>
                  <a:outerShdw blurRad="38100" dist="38100" dir="2700000" algn="tl">
                    <a:srgbClr val="000000">
                      <a:alpha val="43137"/>
                    </a:srgbClr>
                  </a:outerShdw>
                </a:effectLst>
              </a:rPr>
              <a:t>„A driver must stop at a </a:t>
            </a:r>
            <a:r>
              <a:rPr lang="pl-PL" sz="2400" b="1" dirty="0">
                <a:solidFill>
                  <a:srgbClr val="002060"/>
                </a:solidFill>
                <a:effectLst>
                  <a:outerShdw blurRad="38100" dist="38100" dir="2700000" algn="tl">
                    <a:srgbClr val="000000">
                      <a:alpha val="43137"/>
                    </a:srgbClr>
                  </a:outerShdw>
                </a:effectLst>
              </a:rPr>
              <a:t>red light</a:t>
            </a:r>
            <a:r>
              <a:rPr lang="pl-PL" sz="2400" dirty="0">
                <a:solidFill>
                  <a:srgbClr val="002060"/>
                </a:solidFill>
                <a:effectLst>
                  <a:outerShdw blurRad="38100" dist="38100" dir="2700000" algn="tl">
                    <a:srgbClr val="000000">
                      <a:alpha val="43137"/>
                    </a:srgbClr>
                  </a:outerShdw>
                </a:effectLst>
              </a:rPr>
              <a:t>.”</a:t>
            </a:r>
          </a:p>
          <a:p>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Anyone who takes part in </a:t>
            </a:r>
            <a:r>
              <a:rPr lang="en-US" sz="2400" b="1" dirty="0">
                <a:solidFill>
                  <a:srgbClr val="002060"/>
                </a:solidFill>
                <a:effectLst>
                  <a:outerShdw blurRad="38100" dist="38100" dir="2700000" algn="tl">
                    <a:srgbClr val="000000">
                      <a:alpha val="43137"/>
                    </a:srgbClr>
                  </a:outerShdw>
                </a:effectLst>
              </a:rPr>
              <a:t>a fight or beating </a:t>
            </a:r>
            <a:r>
              <a:rPr lang="en-US" sz="2400" dirty="0">
                <a:solidFill>
                  <a:srgbClr val="002060"/>
                </a:solidFill>
                <a:effectLst>
                  <a:outerShdw blurRad="38100" dist="38100" dir="2700000" algn="tl">
                    <a:srgbClr val="000000">
                      <a:alpha val="43137"/>
                    </a:srgbClr>
                  </a:outerShdw>
                </a:effectLst>
              </a:rPr>
              <a:t>using a firearm, knife</a:t>
            </a:r>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 or other similarly dangerous object is liable to imprisonment for between six months and eight years.</a:t>
            </a:r>
            <a:r>
              <a:rPr lang="pl-PL" sz="2400" dirty="0">
                <a:solidFill>
                  <a:srgbClr val="002060"/>
                </a:solidFill>
                <a:effectLst>
                  <a:outerShdw blurRad="38100" dist="38100" dir="2700000" algn="tl">
                    <a:srgbClr val="000000">
                      <a:alpha val="43137"/>
                    </a:srgbClr>
                  </a:outerShdw>
                </a:effectLst>
              </a:rPr>
              <a:t>”</a:t>
            </a:r>
          </a:p>
          <a:p>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Anyone who has </a:t>
            </a:r>
            <a:r>
              <a:rPr lang="en-US" sz="2400" b="1" dirty="0">
                <a:solidFill>
                  <a:srgbClr val="002060"/>
                </a:solidFill>
                <a:effectLst>
                  <a:outerShdw blurRad="38100" dist="38100" dir="2700000" algn="tl">
                    <a:srgbClr val="000000">
                      <a:alpha val="43137"/>
                    </a:srgbClr>
                  </a:outerShdw>
                </a:effectLst>
              </a:rPr>
              <a:t>sexual intercourse </a:t>
            </a:r>
            <a:r>
              <a:rPr lang="en-US" sz="2400" dirty="0">
                <a:solidFill>
                  <a:srgbClr val="002060"/>
                </a:solidFill>
                <a:effectLst>
                  <a:outerShdw blurRad="38100" dist="38100" dir="2700000" algn="tl">
                    <a:srgbClr val="000000">
                      <a:alpha val="43137"/>
                    </a:srgbClr>
                  </a:outerShdw>
                </a:effectLst>
              </a:rPr>
              <a:t>with a minor under the age of 15, or commits any other sexual act, or leads </a:t>
            </a:r>
            <a:r>
              <a:rPr lang="en-US" sz="2400" b="1" dirty="0">
                <a:solidFill>
                  <a:srgbClr val="002060"/>
                </a:solidFill>
                <a:effectLst>
                  <a:outerShdw blurRad="38100" dist="38100" dir="2700000" algn="tl">
                    <a:srgbClr val="000000">
                      <a:alpha val="43137"/>
                    </a:srgbClr>
                  </a:outerShdw>
                </a:effectLst>
              </a:rPr>
              <a:t>him or her </a:t>
            </a:r>
            <a:r>
              <a:rPr lang="en-US" sz="2400" dirty="0">
                <a:solidFill>
                  <a:srgbClr val="002060"/>
                </a:solidFill>
                <a:effectLst>
                  <a:outerShdw blurRad="38100" dist="38100" dir="2700000" algn="tl">
                    <a:srgbClr val="000000">
                      <a:alpha val="43137"/>
                    </a:srgbClr>
                  </a:outerShdw>
                </a:effectLst>
              </a:rPr>
              <a:t>to undergo such an act or to execute such an act, is liable to imprisonment from two to 12 years</a:t>
            </a:r>
            <a:r>
              <a:rPr lang="pl-PL" sz="2400" dirty="0">
                <a:solidFill>
                  <a:srgbClr val="002060"/>
                </a:solidFill>
                <a:effectLst>
                  <a:outerShdw blurRad="38100" dist="38100" dir="2700000" algn="tl">
                    <a:srgbClr val="000000">
                      <a:alpha val="43137"/>
                    </a:srgbClr>
                  </a:outerShdw>
                </a:effectLst>
              </a:rPr>
              <a:t> [</a:t>
            </a:r>
            <a:r>
              <a:rPr lang="pl-PL" sz="2400" i="1" dirty="0">
                <a:solidFill>
                  <a:srgbClr val="0070C0"/>
                </a:solidFill>
                <a:effectLst>
                  <a:outerShdw blurRad="38100" dist="38100" dir="2700000" algn="tl">
                    <a:srgbClr val="000000">
                      <a:alpha val="43137"/>
                    </a:srgbClr>
                  </a:outerShdw>
                </a:effectLst>
              </a:rPr>
              <a:t>Does it apply to non-binary persons?]</a:t>
            </a:r>
          </a:p>
          <a:p>
            <a:pPr marL="0" indent="0">
              <a:buNone/>
            </a:pPr>
            <a:r>
              <a:rPr lang="pl-PL" sz="2400" dirty="0">
                <a:solidFill>
                  <a:srgbClr val="FF0000"/>
                </a:solidFill>
                <a:effectLst>
                  <a:outerShdw blurRad="38100" dist="38100" dir="2700000" algn="tl">
                    <a:srgbClr val="000000">
                      <a:alpha val="43137"/>
                    </a:srgbClr>
                  </a:outerShdw>
                </a:effectLst>
                <a:latin typeface="Arial Black" panose="020B0A04020102020204" pitchFamily="34" charset="0"/>
              </a:rPr>
              <a:t>Legal provision </a:t>
            </a:r>
            <a:r>
              <a:rPr lang="pl-PL" sz="2400" dirty="0">
                <a:solidFill>
                  <a:srgbClr val="002060"/>
                </a:solidFill>
                <a:effectLst>
                  <a:outerShdw blurRad="38100" dist="38100" dir="2700000" algn="tl">
                    <a:srgbClr val="000000">
                      <a:alpha val="43137"/>
                    </a:srgbClr>
                  </a:outerShdw>
                </a:effectLst>
              </a:rPr>
              <a:t>is a </a:t>
            </a:r>
            <a:r>
              <a:rPr lang="pl-PL" sz="2400" b="1" dirty="0">
                <a:solidFill>
                  <a:srgbClr val="FF0000"/>
                </a:solidFill>
                <a:effectLst>
                  <a:outerShdw blurRad="38100" dist="38100" dir="2700000" algn="tl">
                    <a:srgbClr val="000000">
                      <a:alpha val="43137"/>
                    </a:srgbClr>
                  </a:outerShdw>
                </a:effectLst>
              </a:rPr>
              <a:t>single sentence </a:t>
            </a:r>
            <a:r>
              <a:rPr lang="pl-PL" sz="2400" dirty="0">
                <a:solidFill>
                  <a:srgbClr val="002060"/>
                </a:solidFill>
                <a:effectLst>
                  <a:outerShdw blurRad="38100" dist="38100" dir="2700000" algn="tl">
                    <a:srgbClr val="000000">
                      <a:alpha val="43137"/>
                    </a:srgbClr>
                  </a:outerShdw>
                </a:effectLst>
              </a:rPr>
              <a:t>in the legal act, while a norm is an abstract rule that can be deduced from one or several provisions.”</a:t>
            </a:r>
          </a:p>
          <a:p>
            <a:endParaRPr lang="en-US" dirty="0"/>
          </a:p>
        </p:txBody>
      </p:sp>
    </p:spTree>
    <p:extLst>
      <p:ext uri="{BB962C8B-B14F-4D97-AF65-F5344CB8AC3E}">
        <p14:creationId xmlns:p14="http://schemas.microsoft.com/office/powerpoint/2010/main" val="3129939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F03D068-51E8-ABE0-9F48-672C6FA0902B}"/>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Elements of a legal act</a:t>
            </a:r>
            <a:endParaRPr lang="en-US" dirty="0">
              <a:solidFill>
                <a:srgbClr val="FF0000"/>
              </a:solidFill>
            </a:endParaRPr>
          </a:p>
        </p:txBody>
      </p:sp>
      <p:sp>
        <p:nvSpPr>
          <p:cNvPr id="3" name="Symbol zastępczy zawartości 2">
            <a:extLst>
              <a:ext uri="{FF2B5EF4-FFF2-40B4-BE49-F238E27FC236}">
                <a16:creationId xmlns:a16="http://schemas.microsoft.com/office/drawing/2014/main" id="{0C7F7DD1-DEA5-18C1-F9DB-3997AF8875AD}"/>
              </a:ext>
            </a:extLst>
          </p:cNvPr>
          <p:cNvSpPr>
            <a:spLocks noGrp="1"/>
          </p:cNvSpPr>
          <p:nvPr>
            <p:ph idx="1"/>
          </p:nvPr>
        </p:nvSpPr>
        <p:spPr>
          <a:xfrm>
            <a:off x="838200" y="1825624"/>
            <a:ext cx="10515600" cy="5125781"/>
          </a:xfrm>
        </p:spPr>
        <p:txBody>
          <a:bodyPr>
            <a:normAutofit/>
          </a:bodyPr>
          <a:lstStyle/>
          <a:p>
            <a:r>
              <a:rPr lang="pl-PL" sz="2400" dirty="0" err="1">
                <a:solidFill>
                  <a:srgbClr val="002060"/>
                </a:solidFill>
                <a:effectLst>
                  <a:outerShdw blurRad="38100" dist="38100" dir="2700000" algn="tl">
                    <a:srgbClr val="000000">
                      <a:alpha val="43137"/>
                    </a:srgbClr>
                  </a:outerShdw>
                </a:effectLst>
              </a:rPr>
              <a:t>Criminal</a:t>
            </a:r>
            <a:r>
              <a:rPr lang="pl-PL" sz="2400" dirty="0">
                <a:solidFill>
                  <a:srgbClr val="002060"/>
                </a:solidFill>
                <a:effectLst>
                  <a:outerShdw blurRad="38100" dist="38100" dir="2700000" algn="tl">
                    <a:srgbClr val="000000">
                      <a:alpha val="43137"/>
                    </a:srgbClr>
                  </a:outerShdw>
                </a:effectLst>
              </a:rPr>
              <a:t> </a:t>
            </a:r>
            <a:r>
              <a:rPr lang="pl-PL" sz="2400" dirty="0" err="1">
                <a:solidFill>
                  <a:srgbClr val="002060"/>
                </a:solidFill>
                <a:effectLst>
                  <a:outerShdw blurRad="38100" dist="38100" dir="2700000" algn="tl">
                    <a:srgbClr val="000000">
                      <a:alpha val="43137"/>
                    </a:srgbClr>
                  </a:outerShdw>
                </a:effectLst>
              </a:rPr>
              <a:t>Code</a:t>
            </a:r>
            <a:r>
              <a:rPr lang="pl-PL" sz="2400" dirty="0">
                <a:solidFill>
                  <a:srgbClr val="002060"/>
                </a:solidFill>
                <a:effectLst>
                  <a:outerShdw blurRad="38100" dist="38100" dir="2700000" algn="tl">
                    <a:srgbClr val="000000">
                      <a:alpha val="43137"/>
                    </a:srgbClr>
                  </a:outerShdw>
                </a:effectLst>
              </a:rPr>
              <a:t>         </a:t>
            </a:r>
            <a:r>
              <a:rPr lang="en-US" sz="2400" dirty="0">
                <a:solidFill>
                  <a:srgbClr val="002060"/>
                </a:solidFill>
                <a:effectLst>
                  <a:outerShdw blurRad="38100" dist="38100" dir="2700000" algn="tl">
                    <a:srgbClr val="000000">
                      <a:alpha val="43137"/>
                    </a:srgbClr>
                  </a:outerShdw>
                </a:effectLst>
              </a:rPr>
              <a:t>Art. 148. Homicide. </a:t>
            </a:r>
            <a:endParaRPr lang="pl-PL" sz="2400" dirty="0">
              <a:solidFill>
                <a:srgbClr val="002060"/>
              </a:solidFill>
              <a:effectLst>
                <a:outerShdw blurRad="38100" dist="38100" dir="2700000" algn="tl">
                  <a:srgbClr val="000000">
                    <a:alpha val="43137"/>
                  </a:srgbClr>
                </a:outerShdw>
              </a:effectLst>
            </a:endParaRPr>
          </a:p>
          <a:p>
            <a:pPr marL="0" indent="0">
              <a:buNone/>
            </a:pPr>
            <a:r>
              <a:rPr lang="en-US" sz="2400" dirty="0">
                <a:solidFill>
                  <a:srgbClr val="002060"/>
                </a:solidFill>
                <a:effectLst>
                  <a:outerShdw blurRad="38100" dist="38100" dir="2700000" algn="tl">
                    <a:srgbClr val="000000">
                      <a:alpha val="43137"/>
                    </a:srgbClr>
                  </a:outerShdw>
                </a:effectLst>
              </a:rPr>
              <a:t>§ 1. </a:t>
            </a:r>
            <a:r>
              <a:rPr lang="en-US" sz="2400" b="1" dirty="0">
                <a:solidFill>
                  <a:srgbClr val="FF0000"/>
                </a:solidFill>
                <a:effectLst>
                  <a:outerShdw blurRad="38100" dist="38100" dir="2700000" algn="tl">
                    <a:srgbClr val="000000">
                      <a:alpha val="43137"/>
                    </a:srgbClr>
                  </a:outerShdw>
                </a:effectLst>
              </a:rPr>
              <a:t>Anyone who kills a person </a:t>
            </a:r>
            <a:r>
              <a:rPr lang="en-US" sz="2400" dirty="0">
                <a:solidFill>
                  <a:srgbClr val="002060"/>
                </a:solidFill>
                <a:effectLst>
                  <a:outerShdw blurRad="38100" dist="38100" dir="2700000" algn="tl">
                    <a:srgbClr val="000000">
                      <a:alpha val="43137"/>
                    </a:srgbClr>
                  </a:outerShdw>
                </a:effectLst>
              </a:rPr>
              <a:t>is liable to imprisonment for a minimum term of </a:t>
            </a:r>
            <a:r>
              <a:rPr lang="en-US" sz="2400" b="1" dirty="0">
                <a:solidFill>
                  <a:srgbClr val="002060"/>
                </a:solidFill>
                <a:effectLst>
                  <a:outerShdw blurRad="38100" dist="38100" dir="2700000" algn="tl">
                    <a:srgbClr val="000000">
                      <a:alpha val="43137"/>
                    </a:srgbClr>
                  </a:outerShdw>
                </a:effectLst>
              </a:rPr>
              <a:t>eight years</a:t>
            </a:r>
            <a:r>
              <a:rPr lang="en-US" sz="2400" dirty="0">
                <a:solidFill>
                  <a:srgbClr val="002060"/>
                </a:solidFill>
                <a:effectLst>
                  <a:outerShdw blurRad="38100" dist="38100" dir="2700000" algn="tl">
                    <a:srgbClr val="000000">
                      <a:alpha val="43137"/>
                    </a:srgbClr>
                  </a:outerShdw>
                </a:effectLst>
              </a:rPr>
              <a:t>, imprisonment for 25 years</a:t>
            </a:r>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 or imprisonment for life.</a:t>
            </a:r>
            <a:endParaRPr lang="pl-PL" sz="2400" dirty="0">
              <a:solidFill>
                <a:srgbClr val="002060"/>
              </a:solidFill>
              <a:effectLst>
                <a:outerShdw blurRad="38100" dist="38100" dir="2700000" algn="tl">
                  <a:srgbClr val="000000">
                    <a:alpha val="43137"/>
                  </a:srgbClr>
                </a:outerShdw>
              </a:effectLst>
            </a:endParaRPr>
          </a:p>
          <a:p>
            <a:pPr marL="0" indent="0">
              <a:buNone/>
            </a:pPr>
            <a:r>
              <a:rPr lang="en-US" sz="2400" dirty="0">
                <a:solidFill>
                  <a:srgbClr val="002060"/>
                </a:solidFill>
                <a:effectLst>
                  <a:outerShdw blurRad="38100" dist="38100" dir="2700000" algn="tl">
                    <a:srgbClr val="000000">
                      <a:alpha val="43137"/>
                    </a:srgbClr>
                  </a:outerShdw>
                </a:effectLst>
              </a:rPr>
              <a:t> § 2. Anyone who kills a person: 1) </a:t>
            </a:r>
            <a:r>
              <a:rPr lang="en-US" sz="2400" b="1" dirty="0">
                <a:solidFill>
                  <a:srgbClr val="002060"/>
                </a:solidFill>
                <a:effectLst>
                  <a:outerShdw blurRad="38100" dist="38100" dir="2700000" algn="tl">
                    <a:srgbClr val="000000">
                      <a:alpha val="43137"/>
                    </a:srgbClr>
                  </a:outerShdw>
                </a:effectLst>
              </a:rPr>
              <a:t>with particular cruelty</a:t>
            </a:r>
            <a:r>
              <a:rPr lang="en-US" sz="2400" dirty="0">
                <a:solidFill>
                  <a:srgbClr val="002060"/>
                </a:solidFill>
                <a:effectLst>
                  <a:outerShdw blurRad="38100" dist="38100" dir="2700000" algn="tl">
                    <a:srgbClr val="000000">
                      <a:alpha val="43137"/>
                    </a:srgbClr>
                  </a:outerShdw>
                </a:effectLst>
              </a:rPr>
              <a:t>, 2) in connection with taking a hostage, rape</a:t>
            </a:r>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 or robbery, 3) for motives deserving particular condemnation, 4) through the use of firearms or explosives, is liable to imprisonment for a minimum term of 12 years, imprisonment for 25 years</a:t>
            </a:r>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 or imprisonment for life. </a:t>
            </a:r>
            <a:endParaRPr lang="pl-PL" sz="2400" dirty="0">
              <a:solidFill>
                <a:srgbClr val="002060"/>
              </a:solidFill>
              <a:effectLst>
                <a:outerShdw blurRad="38100" dist="38100" dir="2700000" algn="tl">
                  <a:srgbClr val="000000">
                    <a:alpha val="43137"/>
                  </a:srgbClr>
                </a:outerShdw>
              </a:effectLst>
            </a:endParaRPr>
          </a:p>
          <a:p>
            <a:pPr marL="0" indent="0">
              <a:buNone/>
            </a:pPr>
            <a:r>
              <a:rPr lang="en-US" sz="2400" dirty="0">
                <a:solidFill>
                  <a:srgbClr val="002060"/>
                </a:solidFill>
                <a:effectLst>
                  <a:outerShdw blurRad="38100" dist="38100" dir="2700000" algn="tl">
                    <a:srgbClr val="000000">
                      <a:alpha val="43137"/>
                    </a:srgbClr>
                  </a:outerShdw>
                </a:effectLst>
              </a:rPr>
              <a:t>§ 3. </a:t>
            </a:r>
            <a:r>
              <a:rPr lang="pl-PL" sz="2400" dirty="0">
                <a:solidFill>
                  <a:srgbClr val="002060"/>
                </a:solidFill>
                <a:effectLst>
                  <a:outerShdw blurRad="38100" dist="38100" dir="2700000" algn="tl">
                    <a:srgbClr val="000000">
                      <a:alpha val="43137"/>
                    </a:srgbClr>
                  </a:outerShdw>
                </a:effectLst>
              </a:rPr>
              <a:t> (…)</a:t>
            </a:r>
          </a:p>
          <a:p>
            <a:pPr marL="0" indent="0">
              <a:buNone/>
            </a:pPr>
            <a:r>
              <a:rPr lang="en-US" sz="2400" dirty="0">
                <a:solidFill>
                  <a:srgbClr val="002060"/>
                </a:solidFill>
                <a:effectLst>
                  <a:outerShdw blurRad="38100" dist="38100" dir="2700000" algn="tl">
                    <a:srgbClr val="000000">
                      <a:alpha val="43137"/>
                    </a:srgbClr>
                  </a:outerShdw>
                </a:effectLst>
              </a:rPr>
              <a:t>§ 4. Anyone who kills a person due to the influence of an </a:t>
            </a:r>
            <a:r>
              <a:rPr lang="en-US" sz="2400" b="1" dirty="0">
                <a:solidFill>
                  <a:srgbClr val="FF0000"/>
                </a:solidFill>
                <a:effectLst>
                  <a:outerShdw blurRad="38100" dist="38100" dir="2700000" algn="tl">
                    <a:srgbClr val="000000">
                      <a:alpha val="43137"/>
                    </a:srgbClr>
                  </a:outerShdw>
                </a:effectLst>
              </a:rPr>
              <a:t>intense emotion justified by the circumstances</a:t>
            </a:r>
            <a:r>
              <a:rPr lang="en-US" sz="2400" dirty="0">
                <a:solidFill>
                  <a:srgbClr val="002060"/>
                </a:solidFill>
                <a:effectLst>
                  <a:outerShdw blurRad="38100" dist="38100" dir="2700000" algn="tl">
                    <a:srgbClr val="000000">
                      <a:alpha val="43137"/>
                    </a:srgbClr>
                  </a:outerShdw>
                </a:effectLst>
              </a:rPr>
              <a:t> is liable to imprisonment for between one and 10 years</a:t>
            </a:r>
          </a:p>
        </p:txBody>
      </p:sp>
    </p:spTree>
    <p:extLst>
      <p:ext uri="{BB962C8B-B14F-4D97-AF65-F5344CB8AC3E}">
        <p14:creationId xmlns:p14="http://schemas.microsoft.com/office/powerpoint/2010/main" val="3675619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33B29A2-0523-3D05-811D-87BE44A4B48B}"/>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Elements of a legal act</a:t>
            </a:r>
            <a:endParaRPr lang="en-US" dirty="0"/>
          </a:p>
        </p:txBody>
      </p:sp>
      <p:sp>
        <p:nvSpPr>
          <p:cNvPr id="3" name="Symbol zastępczy zawartości 2">
            <a:extLst>
              <a:ext uri="{FF2B5EF4-FFF2-40B4-BE49-F238E27FC236}">
                <a16:creationId xmlns:a16="http://schemas.microsoft.com/office/drawing/2014/main" id="{6EBFB46F-8097-E595-2688-629B4A18A139}"/>
              </a:ext>
            </a:extLst>
          </p:cNvPr>
          <p:cNvSpPr>
            <a:spLocks noGrp="1"/>
          </p:cNvSpPr>
          <p:nvPr>
            <p:ph idx="1"/>
          </p:nvPr>
        </p:nvSpPr>
        <p:spPr/>
        <p:txBody>
          <a:bodyPr/>
          <a:lstStyle/>
          <a:p>
            <a:r>
              <a:rPr lang="en-US" noProof="0" dirty="0">
                <a:solidFill>
                  <a:srgbClr val="FF0000"/>
                </a:solidFill>
                <a:effectLst>
                  <a:outerShdw blurRad="38100" dist="38100" dir="2700000" algn="tl">
                    <a:srgbClr val="000000">
                      <a:alpha val="43137"/>
                    </a:srgbClr>
                  </a:outerShdw>
                </a:effectLst>
                <a:latin typeface="Arial Black" panose="020B0A04020102020204" pitchFamily="34" charset="0"/>
              </a:rPr>
              <a:t>Subsumption</a:t>
            </a:r>
            <a:r>
              <a:rPr lang="en-US" noProof="0" dirty="0">
                <a:solidFill>
                  <a:srgbClr val="002060"/>
                </a:solidFill>
                <a:effectLst>
                  <a:outerShdw blurRad="38100" dist="38100" dir="2700000" algn="tl">
                    <a:srgbClr val="000000">
                      <a:alpha val="43137"/>
                    </a:srgbClr>
                  </a:outerShdw>
                </a:effectLst>
              </a:rPr>
              <a:t> </a:t>
            </a:r>
          </a:p>
          <a:p>
            <a:r>
              <a:rPr lang="en-US" noProof="0" dirty="0">
                <a:solidFill>
                  <a:srgbClr val="002060"/>
                </a:solidFill>
                <a:effectLst>
                  <a:outerShdw blurRad="38100" dist="38100" dir="2700000" algn="tl">
                    <a:srgbClr val="000000">
                      <a:alpha val="43137"/>
                    </a:srgbClr>
                  </a:outerShdw>
                </a:effectLst>
              </a:rPr>
              <a:t>Subsumption in law is the process of </a:t>
            </a:r>
            <a:r>
              <a:rPr lang="en-US" b="1" noProof="0" dirty="0">
                <a:solidFill>
                  <a:srgbClr val="FF0000"/>
                </a:solidFill>
                <a:effectLst>
                  <a:outerShdw blurRad="38100" dist="38100" dir="2700000" algn="tl">
                    <a:srgbClr val="000000">
                      <a:alpha val="43137"/>
                    </a:srgbClr>
                  </a:outerShdw>
                </a:effectLst>
              </a:rPr>
              <a:t>assigning</a:t>
            </a:r>
            <a:r>
              <a:rPr lang="en-US" noProof="0" dirty="0">
                <a:solidFill>
                  <a:srgbClr val="002060"/>
                </a:solidFill>
                <a:effectLst>
                  <a:outerShdw blurRad="38100" dist="38100" dir="2700000" algn="tl">
                    <a:srgbClr val="000000">
                      <a:alpha val="43137"/>
                    </a:srgbClr>
                  </a:outerShdw>
                </a:effectLst>
              </a:rPr>
              <a:t> a specific factual situation </a:t>
            </a:r>
            <a:r>
              <a:rPr lang="en-US" b="1" noProof="0" dirty="0">
                <a:solidFill>
                  <a:srgbClr val="FF0000"/>
                </a:solidFill>
                <a:effectLst>
                  <a:outerShdw blurRad="38100" dist="38100" dir="2700000" algn="tl">
                    <a:srgbClr val="000000">
                      <a:alpha val="43137"/>
                    </a:srgbClr>
                  </a:outerShdw>
                </a:effectLst>
              </a:rPr>
              <a:t>to</a:t>
            </a:r>
            <a:r>
              <a:rPr lang="en-US" noProof="0" dirty="0">
                <a:solidFill>
                  <a:srgbClr val="002060"/>
                </a:solidFill>
                <a:effectLst>
                  <a:outerShdw blurRad="38100" dist="38100" dir="2700000" algn="tl">
                    <a:srgbClr val="000000">
                      <a:alpha val="43137"/>
                    </a:srgbClr>
                  </a:outerShdw>
                </a:effectLst>
              </a:rPr>
              <a:t> a general legal norm, often referred to as legal qualification</a:t>
            </a:r>
          </a:p>
          <a:p>
            <a:pPr marL="0" indent="0">
              <a:buNone/>
            </a:pPr>
            <a:r>
              <a:rPr lang="en-US" noProof="0" dirty="0">
                <a:solidFill>
                  <a:srgbClr val="002060"/>
                </a:solidFill>
                <a:effectLst>
                  <a:outerShdw blurRad="38100" dist="38100" dir="2700000" algn="tl">
                    <a:srgbClr val="000000">
                      <a:alpha val="43137"/>
                    </a:srgbClr>
                  </a:outerShdw>
                </a:effectLst>
              </a:rPr>
              <a:t>         	The act of connecting </a:t>
            </a:r>
            <a:r>
              <a:rPr lang="en-US" b="1" noProof="0" dirty="0">
                <a:solidFill>
                  <a:srgbClr val="FF0000"/>
                </a:solidFill>
                <a:effectLst>
                  <a:outerShdw blurRad="38100" dist="38100" dir="2700000" algn="tl">
                    <a:srgbClr val="000000">
                      <a:alpha val="43137"/>
                    </a:srgbClr>
                  </a:outerShdw>
                </a:effectLst>
              </a:rPr>
              <a:t>the fact </a:t>
            </a:r>
            <a:r>
              <a:rPr lang="en-US" noProof="0" dirty="0">
                <a:solidFill>
                  <a:srgbClr val="002060"/>
                </a:solidFill>
                <a:effectLst>
                  <a:outerShdw blurRad="38100" dist="38100" dir="2700000" algn="tl">
                    <a:srgbClr val="000000">
                      <a:alpha val="43137"/>
                    </a:srgbClr>
                  </a:outerShdw>
                </a:effectLst>
              </a:rPr>
              <a:t>that X killed Y cruelly to art. 	148 par. 2 item 1</a:t>
            </a:r>
          </a:p>
          <a:p>
            <a:r>
              <a:rPr lang="en-US" noProof="0" dirty="0">
                <a:solidFill>
                  <a:srgbClr val="002060"/>
                </a:solidFill>
                <a:effectLst>
                  <a:outerShdw blurRad="38100" dist="38100" dir="2700000" algn="tl">
                    <a:srgbClr val="000000">
                      <a:alpha val="43137"/>
                    </a:srgbClr>
                  </a:outerShdw>
                </a:effectLst>
              </a:rPr>
              <a:t> Subsumption requires a separate </a:t>
            </a:r>
            <a:r>
              <a:rPr lang="en-US" b="1" noProof="0" dirty="0">
                <a:solidFill>
                  <a:srgbClr val="FF0000"/>
                </a:solidFill>
                <a:effectLst>
                  <a:outerShdw blurRad="38100" dist="38100" dir="2700000" algn="tl">
                    <a:srgbClr val="000000">
                      <a:alpha val="43137"/>
                    </a:srgbClr>
                  </a:outerShdw>
                </a:effectLst>
              </a:rPr>
              <a:t>act of implementation </a:t>
            </a:r>
            <a:r>
              <a:rPr lang="en-US" noProof="0" dirty="0">
                <a:solidFill>
                  <a:srgbClr val="002060"/>
                </a:solidFill>
                <a:effectLst>
                  <a:outerShdw blurRad="38100" dist="38100" dir="2700000" algn="tl">
                    <a:srgbClr val="000000">
                      <a:alpha val="43137"/>
                    </a:srgbClr>
                  </a:outerShdw>
                </a:effectLst>
              </a:rPr>
              <a:t>(contracts, administrative decisions, court decisions)</a:t>
            </a:r>
            <a:endParaRPr lang="en-US" i="1" noProof="0"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1997185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171024D-7DB3-B0F1-40E2-4D125ECA3105}"/>
              </a:ext>
            </a:extLst>
          </p:cNvPr>
          <p:cNvSpPr>
            <a:spLocks noGrp="1"/>
          </p:cNvSpPr>
          <p:nvPr>
            <p:ph type="title"/>
          </p:nvPr>
        </p:nvSpPr>
        <p:spPr/>
        <p:txBody>
          <a:bodyPr>
            <a:normAutofit fontScale="90000"/>
          </a:bodyPr>
          <a:lstStyle/>
          <a:p>
            <a:r>
              <a:rPr lang="pl-PL" sz="3200" dirty="0">
                <a:solidFill>
                  <a:srgbClr val="002060"/>
                </a:solidFill>
                <a:effectLst>
                  <a:outerShdw blurRad="38100" dist="38100" dir="2700000" algn="tl">
                    <a:srgbClr val="000000">
                      <a:alpha val="43137"/>
                    </a:srgbClr>
                  </a:outerShdw>
                </a:effectLst>
              </a:rPr>
              <a:t>Branches of </a:t>
            </a:r>
            <a:r>
              <a:rPr lang="pl-PL" sz="3200" b="1" dirty="0">
                <a:solidFill>
                  <a:srgbClr val="002060"/>
                </a:solidFill>
                <a:effectLst>
                  <a:outerShdw blurRad="38100" dist="38100" dir="2700000" algn="tl">
                    <a:srgbClr val="000000">
                      <a:alpha val="43137"/>
                    </a:srgbClr>
                  </a:outerShdw>
                </a:effectLst>
              </a:rPr>
              <a:t>positive law </a:t>
            </a:r>
            <a:br>
              <a:rPr lang="pl-PL" sz="3200" dirty="0">
                <a:solidFill>
                  <a:srgbClr val="002060"/>
                </a:solidFill>
                <a:effectLst>
                  <a:outerShdw blurRad="38100" dist="38100" dir="2700000" algn="tl">
                    <a:srgbClr val="000000">
                      <a:alpha val="43137"/>
                    </a:srgbClr>
                  </a:outerShdw>
                </a:effectLst>
              </a:rPr>
            </a:br>
            <a:r>
              <a:rPr lang="pl-PL" sz="3200" dirty="0">
                <a:solidFill>
                  <a:srgbClr val="002060"/>
                </a:solidFill>
                <a:effectLst>
                  <a:outerShdw blurRad="38100" dist="38100" dir="2700000" algn="tl">
                    <a:srgbClr val="000000">
                      <a:alpha val="43137"/>
                    </a:srgbClr>
                  </a:outerShdw>
                </a:effectLst>
              </a:rPr>
              <a:t>(</a:t>
            </a:r>
            <a:r>
              <a:rPr lang="pl-PL" sz="3200" dirty="0" err="1">
                <a:solidFill>
                  <a:srgbClr val="002060"/>
                </a:solidFill>
                <a:effectLst>
                  <a:outerShdw blurRad="38100" dist="38100" dir="2700000" algn="tl">
                    <a:srgbClr val="000000">
                      <a:alpha val="43137"/>
                    </a:srgbClr>
                  </a:outerShdw>
                </a:effectLst>
              </a:rPr>
              <a:t>leading</a:t>
            </a:r>
            <a:r>
              <a:rPr lang="pl-PL" sz="3200" dirty="0">
                <a:solidFill>
                  <a:srgbClr val="002060"/>
                </a:solidFill>
                <a:effectLst>
                  <a:outerShdw blurRad="38100" dist="38100" dir="2700000" algn="tl">
                    <a:srgbClr val="000000">
                      <a:alpha val="43137"/>
                    </a:srgbClr>
                  </a:outerShdw>
                </a:effectLst>
              </a:rPr>
              <a:t> </a:t>
            </a:r>
            <a:r>
              <a:rPr lang="pl-PL" sz="3200" dirty="0" err="1">
                <a:solidFill>
                  <a:srgbClr val="002060"/>
                </a:solidFill>
                <a:effectLst>
                  <a:outerShdw blurRad="38100" dist="38100" dir="2700000" algn="tl">
                    <a:srgbClr val="000000">
                      <a:alpha val="43137"/>
                    </a:srgbClr>
                  </a:outerShdw>
                </a:effectLst>
              </a:rPr>
              <a:t>branches</a:t>
            </a:r>
            <a:r>
              <a:rPr lang="pl-PL" sz="3200" dirty="0">
                <a:solidFill>
                  <a:srgbClr val="002060"/>
                </a:solidFill>
                <a:effectLst>
                  <a:outerShdw blurRad="38100" dist="38100" dir="2700000" algn="tl">
                    <a:srgbClr val="000000">
                      <a:alpha val="43137"/>
                    </a:srgbClr>
                  </a:outerShdw>
                </a:effectLst>
              </a:rPr>
              <a:t> </a:t>
            </a:r>
            <a:r>
              <a:rPr lang="pl-PL" sz="3200" dirty="0" err="1">
                <a:solidFill>
                  <a:srgbClr val="002060"/>
                </a:solidFill>
                <a:effectLst>
                  <a:outerShdw blurRad="38100" dist="38100" dir="2700000" algn="tl">
                    <a:srgbClr val="000000">
                      <a:alpha val="43137"/>
                    </a:srgbClr>
                  </a:outerShdw>
                </a:effectLst>
              </a:rPr>
              <a:t>distinguished</a:t>
            </a:r>
            <a:r>
              <a:rPr lang="pl-PL" sz="3200" dirty="0">
                <a:solidFill>
                  <a:srgbClr val="002060"/>
                </a:solidFill>
                <a:effectLst>
                  <a:outerShdw blurRad="38100" dist="38100" dir="2700000" algn="tl">
                    <a:srgbClr val="000000">
                      <a:alpha val="43137"/>
                    </a:srgbClr>
                  </a:outerShdw>
                </a:effectLst>
              </a:rPr>
              <a:t> by the </a:t>
            </a:r>
            <a:r>
              <a:rPr lang="pl-PL" sz="3200" b="1" dirty="0" err="1">
                <a:solidFill>
                  <a:srgbClr val="002060"/>
                </a:solidFill>
                <a:effectLst>
                  <a:outerShdw blurRad="38100" dist="38100" dir="2700000" algn="tl">
                    <a:srgbClr val="000000">
                      <a:alpha val="43137"/>
                    </a:srgbClr>
                  </a:outerShdw>
                </a:effectLst>
              </a:rPr>
              <a:t>method</a:t>
            </a:r>
            <a:r>
              <a:rPr lang="pl-PL" sz="3200" dirty="0">
                <a:solidFill>
                  <a:srgbClr val="002060"/>
                </a:solidFill>
                <a:effectLst>
                  <a:outerShdw blurRad="38100" dist="38100" dir="2700000" algn="tl">
                    <a:srgbClr val="000000">
                      <a:alpha val="43137"/>
                    </a:srgbClr>
                  </a:outerShdw>
                </a:effectLst>
              </a:rPr>
              <a:t> of </a:t>
            </a:r>
            <a:r>
              <a:rPr lang="pl-PL" sz="3200" dirty="0" err="1">
                <a:solidFill>
                  <a:srgbClr val="002060"/>
                </a:solidFill>
                <a:effectLst>
                  <a:outerShdw blurRad="38100" dist="38100" dir="2700000" algn="tl">
                    <a:srgbClr val="000000">
                      <a:alpha val="43137"/>
                    </a:srgbClr>
                  </a:outerShdw>
                </a:effectLst>
              </a:rPr>
              <a:t>operation</a:t>
            </a:r>
            <a:r>
              <a:rPr lang="pl-PL" sz="3200" dirty="0">
                <a:solidFill>
                  <a:srgbClr val="002060"/>
                </a:solidFill>
                <a:effectLst>
                  <a:outerShdw blurRad="38100" dist="38100" dir="2700000" algn="tl">
                    <a:srgbClr val="000000">
                      <a:alpha val="43137"/>
                    </a:srgbClr>
                  </a:outerShdw>
                </a:effectLst>
              </a:rPr>
              <a:t>)</a:t>
            </a:r>
            <a:endParaRPr lang="en-US" sz="3200"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30F1B18F-AD80-7E8E-FDF0-1DBFC75786CA}"/>
              </a:ext>
            </a:extLst>
          </p:cNvPr>
          <p:cNvSpPr>
            <a:spLocks noGrp="1"/>
          </p:cNvSpPr>
          <p:nvPr>
            <p:ph idx="1"/>
          </p:nvPr>
        </p:nvSpPr>
        <p:spPr>
          <a:xfrm>
            <a:off x="838200" y="1825624"/>
            <a:ext cx="10515600" cy="4667251"/>
          </a:xfrm>
        </p:spPr>
        <p:txBody>
          <a:bodyPr>
            <a:normAutofit fontScale="77500" lnSpcReduction="20000"/>
          </a:bodyPr>
          <a:lstStyle/>
          <a:p>
            <a:pPr marL="0" indent="0">
              <a:buNone/>
            </a:pPr>
            <a:r>
              <a:rPr lang="en-US" sz="2600" noProof="0" dirty="0">
                <a:solidFill>
                  <a:srgbClr val="FF0000"/>
                </a:solidFill>
                <a:effectLst>
                  <a:outerShdw blurRad="38100" dist="38100" dir="2700000" algn="tl">
                    <a:srgbClr val="000000">
                      <a:alpha val="43137"/>
                    </a:srgbClr>
                  </a:outerShdw>
                </a:effectLst>
                <a:latin typeface="Arial Black" panose="020B0A04020102020204" pitchFamily="34" charset="0"/>
              </a:rPr>
              <a:t>Civil law</a:t>
            </a:r>
          </a:p>
          <a:p>
            <a:r>
              <a:rPr lang="en-US" sz="2600" noProof="0" dirty="0">
                <a:solidFill>
                  <a:srgbClr val="002060"/>
                </a:solidFill>
                <a:effectLst>
                  <a:outerShdw blurRad="38100" dist="38100" dir="2700000" algn="tl">
                    <a:srgbClr val="000000">
                      <a:alpha val="43137"/>
                    </a:srgbClr>
                  </a:outerShdw>
                </a:effectLst>
              </a:rPr>
              <a:t>Distinguished based on the </a:t>
            </a:r>
            <a:r>
              <a:rPr lang="en-US" sz="2600" b="1" noProof="0" dirty="0">
                <a:solidFill>
                  <a:srgbClr val="002060"/>
                </a:solidFill>
                <a:effectLst>
                  <a:outerShdw blurRad="38100" dist="38100" dir="2700000" algn="tl">
                    <a:srgbClr val="000000">
                      <a:alpha val="43137"/>
                    </a:srgbClr>
                  </a:outerShdw>
                </a:effectLst>
              </a:rPr>
              <a:t>criterion of equality of the parties </a:t>
            </a:r>
            <a:r>
              <a:rPr lang="en-US" sz="2600" noProof="0" dirty="0">
                <a:solidFill>
                  <a:srgbClr val="002060"/>
                </a:solidFill>
                <a:effectLst>
                  <a:outerShdw blurRad="38100" dist="38100" dir="2700000" algn="tl">
                    <a:srgbClr val="000000">
                      <a:alpha val="43137"/>
                    </a:srgbClr>
                  </a:outerShdw>
                </a:effectLst>
              </a:rPr>
              <a:t>to the legal relationship</a:t>
            </a:r>
          </a:p>
          <a:p>
            <a:pPr marL="0" indent="0">
              <a:buNone/>
            </a:pPr>
            <a:r>
              <a:rPr lang="en-US" sz="2600" b="1" noProof="0" dirty="0">
                <a:solidFill>
                  <a:srgbClr val="002060"/>
                </a:solidFill>
                <a:effectLst>
                  <a:outerShdw blurRad="38100" dist="38100" dir="2700000" algn="tl">
                    <a:srgbClr val="000000">
                      <a:alpha val="43137"/>
                    </a:srgbClr>
                  </a:outerShdw>
                </a:effectLst>
              </a:rPr>
              <a:t>Sub-branches</a:t>
            </a:r>
            <a:r>
              <a:rPr lang="en-US" sz="2600" noProof="0" dirty="0">
                <a:solidFill>
                  <a:srgbClr val="002060"/>
                </a:solidFill>
                <a:effectLst>
                  <a:outerShdw blurRad="38100" dist="38100" dir="2700000" algn="tl">
                    <a:srgbClr val="000000">
                      <a:alpha val="43137"/>
                    </a:srgbClr>
                  </a:outerShdw>
                </a:effectLst>
              </a:rPr>
              <a:t>: contracts, real estate, family law, inheritance (last wills and testaments)</a:t>
            </a:r>
          </a:p>
          <a:p>
            <a:pPr marL="0" indent="0">
              <a:buNone/>
            </a:pPr>
            <a:r>
              <a:rPr lang="en-US" sz="2600" noProof="0" dirty="0">
                <a:solidFill>
                  <a:srgbClr val="FF0000"/>
                </a:solidFill>
                <a:effectLst>
                  <a:outerShdw blurRad="38100" dist="38100" dir="2700000" algn="tl">
                    <a:srgbClr val="000000">
                      <a:alpha val="43137"/>
                    </a:srgbClr>
                  </a:outerShdw>
                </a:effectLst>
                <a:latin typeface="Arial Black" panose="020B0A04020102020204" pitchFamily="34" charset="0"/>
              </a:rPr>
              <a:t>Criminal law</a:t>
            </a:r>
          </a:p>
          <a:p>
            <a:r>
              <a:rPr lang="en-US" sz="2600" noProof="0" dirty="0">
                <a:solidFill>
                  <a:srgbClr val="002060"/>
                </a:solidFill>
                <a:effectLst>
                  <a:outerShdw blurRad="38100" dist="38100" dir="2700000" algn="tl">
                    <a:srgbClr val="000000">
                      <a:alpha val="43137"/>
                    </a:srgbClr>
                  </a:outerShdw>
                </a:effectLst>
              </a:rPr>
              <a:t>Distinguished based on the </a:t>
            </a:r>
            <a:r>
              <a:rPr lang="en-US" sz="2600" b="1" noProof="0" dirty="0">
                <a:solidFill>
                  <a:srgbClr val="002060"/>
                </a:solidFill>
                <a:effectLst>
                  <a:outerShdw blurRad="38100" dist="38100" dir="2700000" algn="tl">
                    <a:srgbClr val="000000">
                      <a:alpha val="43137"/>
                    </a:srgbClr>
                  </a:outerShdw>
                </a:effectLst>
              </a:rPr>
              <a:t>criterion of the relationship between the offender and the </a:t>
            </a:r>
            <a:r>
              <a:rPr lang="en-US" sz="2600" noProof="0" dirty="0">
                <a:solidFill>
                  <a:srgbClr val="002060"/>
                </a:solidFill>
                <a:effectLst>
                  <a:outerShdw blurRad="38100" dist="38100" dir="2700000" algn="tl">
                    <a:srgbClr val="000000">
                      <a:alpha val="43137"/>
                    </a:srgbClr>
                  </a:outerShdw>
                </a:effectLst>
              </a:rPr>
              <a:t>state, where the state prosecutes the offender and punishes an individual (sometimes on a motion from a private party)</a:t>
            </a:r>
          </a:p>
          <a:p>
            <a:r>
              <a:rPr lang="en-US" sz="2600" b="1" noProof="0" dirty="0">
                <a:solidFill>
                  <a:srgbClr val="002060"/>
                </a:solidFill>
                <a:effectLst>
                  <a:outerShdw blurRad="38100" dist="38100" dir="2700000" algn="tl">
                    <a:srgbClr val="000000">
                      <a:alpha val="43137"/>
                    </a:srgbClr>
                  </a:outerShdw>
                </a:effectLst>
              </a:rPr>
              <a:t>Sub-brunches </a:t>
            </a:r>
            <a:r>
              <a:rPr lang="en-US" sz="2600" noProof="0" dirty="0">
                <a:solidFill>
                  <a:srgbClr val="002060"/>
                </a:solidFill>
                <a:effectLst>
                  <a:outerShdw blurRad="38100" dist="38100" dir="2700000" algn="tl">
                    <a:srgbClr val="000000">
                      <a:alpha val="43137"/>
                    </a:srgbClr>
                  </a:outerShdw>
                </a:effectLst>
              </a:rPr>
              <a:t>– crimes, misdemeanors, juvenile matters, corporate crimes, prosecution ex officio, and</a:t>
            </a:r>
            <a:r>
              <a:rPr lang="pl-PL" sz="2600" noProof="0" dirty="0">
                <a:solidFill>
                  <a:srgbClr val="002060"/>
                </a:solidFill>
                <a:effectLst>
                  <a:outerShdw blurRad="38100" dist="38100" dir="2700000" algn="tl">
                    <a:srgbClr val="000000">
                      <a:alpha val="43137"/>
                    </a:srgbClr>
                  </a:outerShdw>
                </a:effectLst>
              </a:rPr>
              <a:t>,</a:t>
            </a:r>
            <a:r>
              <a:rPr lang="en-US" sz="2600" noProof="0" dirty="0">
                <a:solidFill>
                  <a:srgbClr val="002060"/>
                </a:solidFill>
                <a:effectLst>
                  <a:outerShdw blurRad="38100" dist="38100" dir="2700000" algn="tl">
                    <a:srgbClr val="000000">
                      <a:alpha val="43137"/>
                    </a:srgbClr>
                  </a:outerShdw>
                </a:effectLst>
              </a:rPr>
              <a:t> on a motion from the aggrieved party, fighting terrorism and others </a:t>
            </a:r>
          </a:p>
          <a:p>
            <a:pPr marL="0" indent="0">
              <a:buNone/>
            </a:pPr>
            <a:r>
              <a:rPr lang="en-US" sz="2600" noProof="0" dirty="0">
                <a:solidFill>
                  <a:srgbClr val="FF0000"/>
                </a:solidFill>
                <a:effectLst>
                  <a:outerShdw blurRad="38100" dist="38100" dir="2700000" algn="tl">
                    <a:srgbClr val="000000">
                      <a:alpha val="43137"/>
                    </a:srgbClr>
                  </a:outerShdw>
                </a:effectLst>
                <a:latin typeface="Arial Black" panose="020B0A04020102020204" pitchFamily="34" charset="0"/>
              </a:rPr>
              <a:t>Administrative law </a:t>
            </a:r>
          </a:p>
          <a:p>
            <a:r>
              <a:rPr lang="en-US" sz="2600" noProof="0" dirty="0">
                <a:solidFill>
                  <a:srgbClr val="002060"/>
                </a:solidFill>
                <a:effectLst>
                  <a:outerShdw blurRad="38100" dist="38100" dir="2700000" algn="tl">
                    <a:srgbClr val="000000">
                      <a:alpha val="43137"/>
                    </a:srgbClr>
                  </a:outerShdw>
                </a:effectLst>
              </a:rPr>
              <a:t>Distinguished based on the criterion of </a:t>
            </a:r>
            <a:r>
              <a:rPr lang="en-US" sz="2600" b="1" noProof="0" dirty="0">
                <a:solidFill>
                  <a:srgbClr val="002060"/>
                </a:solidFill>
                <a:effectLst>
                  <a:outerShdw blurRad="38100" dist="38100" dir="2700000" algn="tl">
                    <a:srgbClr val="000000">
                      <a:alpha val="43137"/>
                    </a:srgbClr>
                  </a:outerShdw>
                </a:effectLst>
              </a:rPr>
              <a:t>protection of public interest, characteri</a:t>
            </a:r>
            <a:r>
              <a:rPr lang="pl-PL" sz="2600" b="1" noProof="0" dirty="0">
                <a:solidFill>
                  <a:srgbClr val="002060"/>
                </a:solidFill>
                <a:effectLst>
                  <a:outerShdw blurRad="38100" dist="38100" dir="2700000" algn="tl">
                    <a:srgbClr val="000000">
                      <a:alpha val="43137"/>
                    </a:srgbClr>
                  </a:outerShdw>
                </a:effectLst>
              </a:rPr>
              <a:t>z</a:t>
            </a:r>
            <a:r>
              <a:rPr lang="en-US" sz="2600" b="1" noProof="0" dirty="0">
                <a:solidFill>
                  <a:srgbClr val="002060"/>
                </a:solidFill>
                <a:effectLst>
                  <a:outerShdw blurRad="38100" dist="38100" dir="2700000" algn="tl">
                    <a:srgbClr val="000000">
                      <a:alpha val="43137"/>
                    </a:srgbClr>
                  </a:outerShdw>
                </a:effectLst>
              </a:rPr>
              <a:t>ed by inequality between the government and the governed</a:t>
            </a:r>
            <a:r>
              <a:rPr lang="en-US" sz="2600" noProof="0" dirty="0">
                <a:solidFill>
                  <a:srgbClr val="002060"/>
                </a:solidFill>
                <a:effectLst>
                  <a:outerShdw blurRad="38100" dist="38100" dir="2700000" algn="tl">
                    <a:srgbClr val="000000">
                      <a:alpha val="43137"/>
                    </a:srgbClr>
                  </a:outerShdw>
                </a:effectLst>
              </a:rPr>
              <a:t>. </a:t>
            </a:r>
          </a:p>
          <a:p>
            <a:r>
              <a:rPr lang="en-US" sz="2600" b="1" noProof="0" dirty="0">
                <a:solidFill>
                  <a:srgbClr val="002060"/>
                </a:solidFill>
                <a:effectLst>
                  <a:outerShdw blurRad="38100" dist="38100" dir="2700000" algn="tl">
                    <a:srgbClr val="000000">
                      <a:alpha val="43137"/>
                    </a:srgbClr>
                  </a:outerShdw>
                </a:effectLst>
              </a:rPr>
              <a:t>Many sub-branches</a:t>
            </a:r>
            <a:r>
              <a:rPr lang="en-US" sz="2600" noProof="0" dirty="0">
                <a:solidFill>
                  <a:srgbClr val="002060"/>
                </a:solidFill>
                <a:effectLst>
                  <a:outerShdw blurRad="38100" dist="38100" dir="2700000" algn="tl">
                    <a:srgbClr val="000000">
                      <a:alpha val="43137"/>
                    </a:srgbClr>
                  </a:outerShdw>
                </a:effectLst>
              </a:rPr>
              <a:t>, not codified because of the variety of subjects: e.g., construction law, land planning, water administration, roads and traffic, public order</a:t>
            </a:r>
            <a:r>
              <a:rPr lang="en-US" noProof="0" dirty="0">
                <a:solidFill>
                  <a:srgbClr val="002060"/>
                </a:solidFill>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4144265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323A758-B7A0-04E3-22A7-E7478C1718BA}"/>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Branches of positive law (by subject-matter)</a:t>
            </a:r>
            <a:endParaRPr lang="en-US" dirty="0"/>
          </a:p>
        </p:txBody>
      </p:sp>
      <p:sp>
        <p:nvSpPr>
          <p:cNvPr id="3" name="Symbol zastępczy zawartości 2">
            <a:extLst>
              <a:ext uri="{FF2B5EF4-FFF2-40B4-BE49-F238E27FC236}">
                <a16:creationId xmlns:a16="http://schemas.microsoft.com/office/drawing/2014/main" id="{0BB21792-CF18-49A2-99D6-209AAE7CFDC3}"/>
              </a:ext>
            </a:extLst>
          </p:cNvPr>
          <p:cNvSpPr>
            <a:spLocks noGrp="1"/>
          </p:cNvSpPr>
          <p:nvPr>
            <p:ph idx="1"/>
          </p:nvPr>
        </p:nvSpPr>
        <p:spPr>
          <a:xfrm>
            <a:off x="838200" y="1825624"/>
            <a:ext cx="10515600" cy="5032375"/>
          </a:xfrm>
        </p:spPr>
        <p:txBody>
          <a:bodyPr>
            <a:normAutofit fontScale="62500" lnSpcReduction="20000"/>
          </a:bodyPr>
          <a:lstStyle/>
          <a:p>
            <a:r>
              <a:rPr lang="en-US" b="1" noProof="0" dirty="0">
                <a:solidFill>
                  <a:srgbClr val="002060"/>
                </a:solidFill>
                <a:effectLst>
                  <a:outerShdw blurRad="38100" dist="38100" dir="2700000" algn="tl">
                    <a:srgbClr val="000000">
                      <a:alpha val="43137"/>
                    </a:srgbClr>
                  </a:outerShdw>
                </a:effectLst>
              </a:rPr>
              <a:t>Constitutional law </a:t>
            </a:r>
            <a:r>
              <a:rPr lang="en-US" noProof="0" dirty="0">
                <a:solidFill>
                  <a:srgbClr val="002060"/>
                </a:solidFill>
                <a:effectLst>
                  <a:outerShdw blurRad="38100" dist="38100" dir="2700000" algn="tl">
                    <a:srgbClr val="000000">
                      <a:alpha val="43137"/>
                    </a:srgbClr>
                  </a:outerShdw>
                </a:effectLst>
              </a:rPr>
              <a:t>(covers many business-related issues such as the freedom to do business, labor issues, and the social-market economy)</a:t>
            </a:r>
          </a:p>
          <a:p>
            <a:r>
              <a:rPr lang="en-US" b="1" noProof="0" dirty="0">
                <a:solidFill>
                  <a:srgbClr val="002060"/>
                </a:solidFill>
                <a:effectLst>
                  <a:outerShdw blurRad="38100" dist="38100" dir="2700000" algn="tl">
                    <a:srgbClr val="000000">
                      <a:alpha val="43137"/>
                    </a:srgbClr>
                  </a:outerShdw>
                </a:effectLst>
              </a:rPr>
              <a:t>Corporate law </a:t>
            </a:r>
            <a:r>
              <a:rPr lang="en-US" noProof="0" dirty="0">
                <a:solidFill>
                  <a:srgbClr val="002060"/>
                </a:solidFill>
                <a:effectLst>
                  <a:outerShdw blurRad="38100" dist="38100" dir="2700000" algn="tl">
                    <a:srgbClr val="000000">
                      <a:alpha val="43137"/>
                    </a:srgbClr>
                  </a:outerShdw>
                </a:effectLst>
              </a:rPr>
              <a:t>(company law)</a:t>
            </a:r>
          </a:p>
          <a:p>
            <a:r>
              <a:rPr lang="en-US" b="1" noProof="0" dirty="0">
                <a:solidFill>
                  <a:srgbClr val="002060"/>
                </a:solidFill>
                <a:effectLst>
                  <a:outerShdw blurRad="38100" dist="38100" dir="2700000" algn="tl">
                    <a:srgbClr val="000000">
                      <a:alpha val="43137"/>
                    </a:srgbClr>
                  </a:outerShdw>
                </a:effectLst>
              </a:rPr>
              <a:t>Financial law</a:t>
            </a:r>
          </a:p>
          <a:p>
            <a:r>
              <a:rPr lang="en-US" b="1" noProof="0" dirty="0">
                <a:solidFill>
                  <a:srgbClr val="002060"/>
                </a:solidFill>
                <a:effectLst>
                  <a:outerShdw blurRad="38100" dist="38100" dir="2700000" algn="tl">
                    <a:srgbClr val="000000">
                      <a:alpha val="43137"/>
                    </a:srgbClr>
                  </a:outerShdw>
                </a:effectLst>
              </a:rPr>
              <a:t>Tax law</a:t>
            </a:r>
          </a:p>
          <a:p>
            <a:r>
              <a:rPr lang="en-US" b="1" noProof="0" dirty="0">
                <a:solidFill>
                  <a:srgbClr val="002060"/>
                </a:solidFill>
                <a:effectLst>
                  <a:outerShdw blurRad="38100" dist="38100" dir="2700000" algn="tl">
                    <a:srgbClr val="000000">
                      <a:alpha val="43137"/>
                    </a:srgbClr>
                  </a:outerShdw>
                </a:effectLst>
              </a:rPr>
              <a:t>Banking law</a:t>
            </a:r>
          </a:p>
          <a:p>
            <a:r>
              <a:rPr lang="en-US" b="1" noProof="0" dirty="0">
                <a:solidFill>
                  <a:srgbClr val="002060"/>
                </a:solidFill>
                <a:effectLst>
                  <a:outerShdw blurRad="38100" dist="38100" dir="2700000" algn="tl">
                    <a:srgbClr val="000000">
                      <a:alpha val="43137"/>
                    </a:srgbClr>
                  </a:outerShdw>
                </a:effectLst>
              </a:rPr>
              <a:t>Bankruptcy law</a:t>
            </a:r>
          </a:p>
          <a:p>
            <a:r>
              <a:rPr lang="en-US" b="1" noProof="0" dirty="0">
                <a:solidFill>
                  <a:srgbClr val="002060"/>
                </a:solidFill>
                <a:effectLst>
                  <a:outerShdw blurRad="38100" dist="38100" dir="2700000" algn="tl">
                    <a:srgbClr val="000000">
                      <a:alpha val="43137"/>
                    </a:srgbClr>
                  </a:outerShdw>
                </a:effectLst>
              </a:rPr>
              <a:t>Intellectual property law</a:t>
            </a:r>
          </a:p>
          <a:p>
            <a:r>
              <a:rPr lang="en-US" b="1" noProof="0" dirty="0">
                <a:solidFill>
                  <a:srgbClr val="002060"/>
                </a:solidFill>
                <a:effectLst>
                  <a:outerShdw blurRad="38100" dist="38100" dir="2700000" algn="tl">
                    <a:srgbClr val="000000">
                      <a:alpha val="43137"/>
                    </a:srgbClr>
                  </a:outerShdw>
                </a:effectLst>
              </a:rPr>
              <a:t>Medical law </a:t>
            </a:r>
            <a:r>
              <a:rPr lang="en-US" noProof="0" dirty="0">
                <a:solidFill>
                  <a:srgbClr val="002060"/>
                </a:solidFill>
                <a:effectLst>
                  <a:outerShdw blurRad="38100" dist="38100" dir="2700000" algn="tl">
                    <a:srgbClr val="000000">
                      <a:alpha val="43137"/>
                    </a:srgbClr>
                  </a:outerShdw>
                </a:effectLst>
              </a:rPr>
              <a:t>(Health law)</a:t>
            </a:r>
          </a:p>
          <a:p>
            <a:r>
              <a:rPr lang="en-US" b="1" noProof="0" dirty="0">
                <a:solidFill>
                  <a:srgbClr val="002060"/>
                </a:solidFill>
                <a:effectLst>
                  <a:outerShdw blurRad="38100" dist="38100" dir="2700000" algn="tl">
                    <a:srgbClr val="000000">
                      <a:alpha val="43137"/>
                    </a:srgbClr>
                  </a:outerShdw>
                </a:effectLst>
              </a:rPr>
              <a:t>Labor law </a:t>
            </a:r>
            <a:r>
              <a:rPr lang="en-US" noProof="0" dirty="0">
                <a:solidFill>
                  <a:srgbClr val="002060"/>
                </a:solidFill>
                <a:effectLst>
                  <a:outerShdw blurRad="38100" dist="38100" dir="2700000" algn="tl">
                    <a:srgbClr val="000000">
                      <a:alpha val="43137"/>
                    </a:srgbClr>
                  </a:outerShdw>
                </a:effectLst>
              </a:rPr>
              <a:t>(employment law)</a:t>
            </a:r>
          </a:p>
          <a:p>
            <a:r>
              <a:rPr lang="en-US" b="1" noProof="0" dirty="0">
                <a:solidFill>
                  <a:srgbClr val="002060"/>
                </a:solidFill>
                <a:effectLst>
                  <a:outerShdw blurRad="38100" dist="38100" dir="2700000" algn="tl">
                    <a:srgbClr val="000000">
                      <a:alpha val="43137"/>
                    </a:srgbClr>
                  </a:outerShdw>
                </a:effectLst>
              </a:rPr>
              <a:t>Traffic law</a:t>
            </a:r>
          </a:p>
          <a:p>
            <a:r>
              <a:rPr lang="pl-PL" b="1" noProof="0" dirty="0" err="1">
                <a:solidFill>
                  <a:srgbClr val="002060"/>
                </a:solidFill>
                <a:effectLst>
                  <a:outerShdw blurRad="38100" dist="38100" dir="2700000" algn="tl">
                    <a:srgbClr val="000000">
                      <a:alpha val="43137"/>
                    </a:srgbClr>
                  </a:outerShdw>
                </a:effectLst>
              </a:rPr>
              <a:t>Sectoral</a:t>
            </a:r>
            <a:r>
              <a:rPr lang="en-US" b="1" noProof="0" dirty="0">
                <a:solidFill>
                  <a:srgbClr val="002060"/>
                </a:solidFill>
                <a:effectLst>
                  <a:outerShdw blurRad="38100" dist="38100" dir="2700000" algn="tl">
                    <a:srgbClr val="000000">
                      <a:alpha val="43137"/>
                    </a:srgbClr>
                  </a:outerShdw>
                </a:effectLst>
              </a:rPr>
              <a:t> laws (Energy law, telecommunications law, railway law)</a:t>
            </a:r>
          </a:p>
          <a:p>
            <a:r>
              <a:rPr lang="en-US" b="1" noProof="0" dirty="0">
                <a:solidFill>
                  <a:srgbClr val="002060"/>
                </a:solidFill>
                <a:effectLst>
                  <a:outerShdw blurRad="38100" dist="38100" dir="2700000" algn="tl">
                    <a:srgbClr val="000000">
                      <a:alpha val="43137"/>
                    </a:srgbClr>
                  </a:outerShdw>
                </a:effectLst>
              </a:rPr>
              <a:t>Immigration law</a:t>
            </a:r>
          </a:p>
          <a:p>
            <a:pPr marL="0" indent="0">
              <a:buNone/>
            </a:pPr>
            <a:r>
              <a:rPr lang="en-US" b="1" noProof="0" dirty="0">
                <a:solidFill>
                  <a:srgbClr val="FF0000"/>
                </a:solidFill>
                <a:effectLst>
                  <a:outerShdw blurRad="38100" dist="38100" dir="2700000" algn="tl">
                    <a:srgbClr val="000000">
                      <a:alpha val="43137"/>
                    </a:srgbClr>
                  </a:outerShdw>
                </a:effectLst>
              </a:rPr>
              <a:t>The contours of particular branches are fluid</a:t>
            </a:r>
            <a:r>
              <a:rPr lang="en-US" noProof="0" dirty="0">
                <a:solidFill>
                  <a:srgbClr val="002060"/>
                </a:solidFill>
                <a:effectLst>
                  <a:outerShdw blurRad="38100" dist="38100" dir="2700000" algn="tl">
                    <a:srgbClr val="000000">
                      <a:alpha val="43137"/>
                    </a:srgbClr>
                  </a:outerShdw>
                </a:effectLst>
              </a:rPr>
              <a:t>. Sometimes, single statutes adopt the name of „law” to raise their rank, e.g., the Higher Education Law, which actually is an Act. </a:t>
            </a:r>
          </a:p>
          <a:p>
            <a:r>
              <a:rPr lang="en-US" noProof="0" dirty="0">
                <a:solidFill>
                  <a:srgbClr val="002060"/>
                </a:solidFill>
                <a:effectLst>
                  <a:outerShdw blurRad="38100" dist="38100" dir="2700000" algn="tl">
                    <a:srgbClr val="000000">
                      <a:alpha val="43137"/>
                    </a:srgbClr>
                  </a:outerShdw>
                </a:effectLst>
              </a:rPr>
              <a:t>Some branches </a:t>
            </a:r>
            <a:r>
              <a:rPr lang="en-US" b="1" noProof="0" dirty="0">
                <a:solidFill>
                  <a:srgbClr val="FF0000"/>
                </a:solidFill>
                <a:effectLst>
                  <a:outerShdw blurRad="38100" dist="38100" dir="2700000" algn="tl">
                    <a:srgbClr val="000000">
                      <a:alpha val="43137"/>
                    </a:srgbClr>
                  </a:outerShdw>
                </a:effectLst>
              </a:rPr>
              <a:t>overlap</a:t>
            </a:r>
            <a:r>
              <a:rPr lang="en-US" noProof="0" dirty="0">
                <a:solidFill>
                  <a:srgbClr val="002060"/>
                </a:solidFill>
                <a:effectLst>
                  <a:outerShdw blurRad="38100" dist="38100" dir="2700000" algn="tl">
                    <a:srgbClr val="000000">
                      <a:alpha val="43137"/>
                    </a:srgbClr>
                  </a:outerShdw>
                </a:effectLst>
              </a:rPr>
              <a:t>, for example, medical and tax law with criminal law</a:t>
            </a:r>
          </a:p>
          <a:p>
            <a:r>
              <a:rPr lang="en-US" noProof="0" dirty="0">
                <a:solidFill>
                  <a:srgbClr val="002060"/>
                </a:solidFill>
                <a:effectLst>
                  <a:outerShdw blurRad="38100" dist="38100" dir="2700000" algn="tl">
                    <a:srgbClr val="000000">
                      <a:alpha val="43137"/>
                    </a:srgbClr>
                  </a:outerShdw>
                </a:effectLst>
              </a:rPr>
              <a:t>Some branches use </a:t>
            </a:r>
            <a:r>
              <a:rPr lang="en-US" b="1" noProof="0" dirty="0">
                <a:solidFill>
                  <a:srgbClr val="FF0000"/>
                </a:solidFill>
                <a:effectLst>
                  <a:outerShdw blurRad="38100" dist="38100" dir="2700000" algn="tl">
                    <a:srgbClr val="000000">
                      <a:alpha val="43137"/>
                    </a:srgbClr>
                  </a:outerShdw>
                </a:effectLst>
              </a:rPr>
              <a:t>several methods</a:t>
            </a:r>
            <a:r>
              <a:rPr lang="en-US" noProof="0" dirty="0">
                <a:solidFill>
                  <a:srgbClr val="002060"/>
                </a:solidFill>
                <a:effectLst>
                  <a:outerShdw blurRad="38100" dist="38100" dir="2700000" algn="tl">
                    <a:srgbClr val="000000">
                      <a:alpha val="43137"/>
                    </a:srgbClr>
                  </a:outerShdw>
                </a:effectLst>
              </a:rPr>
              <a:t>, for example, labor law refers to contracts and administrative coercion</a:t>
            </a:r>
          </a:p>
          <a:p>
            <a:endParaRPr lang="en-US" dirty="0"/>
          </a:p>
        </p:txBody>
      </p:sp>
    </p:spTree>
    <p:extLst>
      <p:ext uri="{BB962C8B-B14F-4D97-AF65-F5344CB8AC3E}">
        <p14:creationId xmlns:p14="http://schemas.microsoft.com/office/powerpoint/2010/main" val="874099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6EF7DED-265F-6DE1-933F-CF5684995AEC}"/>
              </a:ext>
            </a:extLst>
          </p:cNvPr>
          <p:cNvSpPr>
            <a:spLocks noGrp="1"/>
          </p:cNvSpPr>
          <p:nvPr>
            <p:ph type="title"/>
          </p:nvPr>
        </p:nvSpPr>
        <p:spPr/>
        <p:txBody>
          <a:bodyPr/>
          <a:lstStyle/>
          <a:p>
            <a:r>
              <a:rPr lang="pl-PL" dirty="0">
                <a:solidFill>
                  <a:srgbClr val="002060"/>
                </a:solidFill>
              </a:rPr>
              <a:t>Binding power</a:t>
            </a:r>
            <a:endParaRPr lang="en-US" dirty="0">
              <a:solidFill>
                <a:srgbClr val="002060"/>
              </a:solidFill>
            </a:endParaRPr>
          </a:p>
        </p:txBody>
      </p:sp>
      <p:sp>
        <p:nvSpPr>
          <p:cNvPr id="3" name="Symbol zastępczy zawartości 2">
            <a:extLst>
              <a:ext uri="{FF2B5EF4-FFF2-40B4-BE49-F238E27FC236}">
                <a16:creationId xmlns:a16="http://schemas.microsoft.com/office/drawing/2014/main" id="{1F77F551-5014-EFF8-07C8-DC23B418D845}"/>
              </a:ext>
            </a:extLst>
          </p:cNvPr>
          <p:cNvSpPr>
            <a:spLocks noGrp="1"/>
          </p:cNvSpPr>
          <p:nvPr>
            <p:ph idx="1"/>
          </p:nvPr>
        </p:nvSpPr>
        <p:spPr>
          <a:xfrm>
            <a:off x="838200" y="1825625"/>
            <a:ext cx="10515600" cy="4752156"/>
          </a:xfrm>
        </p:spPr>
        <p:txBody>
          <a:bodyPr>
            <a:normAutofit/>
          </a:bodyPr>
          <a:lstStyle/>
          <a:p>
            <a:r>
              <a:rPr lang="en-US" sz="2000" noProof="0" dirty="0">
                <a:solidFill>
                  <a:srgbClr val="002060"/>
                </a:solidFill>
                <a:effectLst>
                  <a:outerShdw blurRad="38100" dist="38100" dir="2700000" algn="tl">
                    <a:srgbClr val="000000">
                      <a:alpha val="43137"/>
                    </a:srgbClr>
                  </a:outerShdw>
                </a:effectLst>
              </a:rPr>
              <a:t>Most laws are binding, and their binding power is </a:t>
            </a:r>
            <a:r>
              <a:rPr lang="en-US" sz="2000" b="1" noProof="0" dirty="0">
                <a:solidFill>
                  <a:srgbClr val="FF0000"/>
                </a:solidFill>
                <a:effectLst>
                  <a:outerShdw blurRad="38100" dist="38100" dir="2700000" algn="tl">
                    <a:srgbClr val="000000">
                      <a:alpha val="43137"/>
                    </a:srgbClr>
                  </a:outerShdw>
                </a:effectLst>
              </a:rPr>
              <a:t>backed </a:t>
            </a:r>
            <a:r>
              <a:rPr lang="en-US" sz="2000" b="1" dirty="0">
                <a:solidFill>
                  <a:srgbClr val="FF0000"/>
                </a:solidFill>
                <a:effectLst>
                  <a:outerShdw blurRad="38100" dist="38100" dir="2700000" algn="tl">
                    <a:srgbClr val="000000">
                      <a:alpha val="43137"/>
                    </a:srgbClr>
                  </a:outerShdw>
                </a:effectLst>
              </a:rPr>
              <a:t>by coercion </a:t>
            </a:r>
            <a:r>
              <a:rPr lang="en-US" sz="2000" dirty="0">
                <a:solidFill>
                  <a:srgbClr val="002060"/>
                </a:solidFill>
                <a:effectLst>
                  <a:outerShdw blurRad="38100" dist="38100" dir="2700000" algn="tl">
                    <a:srgbClr val="000000">
                      <a:alpha val="43137"/>
                    </a:srgbClr>
                  </a:outerShdw>
                </a:effectLst>
              </a:rPr>
              <a:t>– </a:t>
            </a:r>
            <a:r>
              <a:rPr lang="en-US" sz="2000" b="1" dirty="0">
                <a:solidFill>
                  <a:srgbClr val="0070C0"/>
                </a:solidFill>
                <a:effectLst>
                  <a:outerShdw blurRad="38100" dist="38100" dir="2700000" algn="tl">
                    <a:srgbClr val="000000">
                      <a:alpha val="43137"/>
                    </a:srgbClr>
                  </a:outerShdw>
                </a:effectLst>
              </a:rPr>
              <a:t>fines</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imprisonment</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limitations</a:t>
            </a:r>
            <a:r>
              <a:rPr lang="pl-PL" sz="2000" b="1" dirty="0">
                <a:solidFill>
                  <a:srgbClr val="0070C0"/>
                </a:solidFill>
                <a:effectLst>
                  <a:outerShdw blurRad="38100" dist="38100" dir="2700000" algn="tl">
                    <a:srgbClr val="000000">
                      <a:alpha val="43137"/>
                    </a:srgbClr>
                  </a:outerShdw>
                </a:effectLst>
              </a:rPr>
              <a:t> of </a:t>
            </a:r>
            <a:r>
              <a:rPr lang="pl-PL" sz="2000" b="1" dirty="0" err="1">
                <a:solidFill>
                  <a:srgbClr val="0070C0"/>
                </a:solidFill>
                <a:effectLst>
                  <a:outerShdw blurRad="38100" dist="38100" dir="2700000" algn="tl">
                    <a:srgbClr val="000000">
                      <a:alpha val="43137"/>
                    </a:srgbClr>
                  </a:outerShdw>
                </a:effectLst>
              </a:rPr>
              <a:t>freedom</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administrative</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imposition</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e.g</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pulling</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away</a:t>
            </a:r>
            <a:r>
              <a:rPr lang="pl-PL" sz="2000" b="1" dirty="0">
                <a:solidFill>
                  <a:srgbClr val="0070C0"/>
                </a:solidFill>
                <a:effectLst>
                  <a:outerShdw blurRad="38100" dist="38100" dir="2700000" algn="tl">
                    <a:srgbClr val="000000">
                      <a:alpha val="43137"/>
                    </a:srgbClr>
                  </a:outerShdw>
                </a:effectLst>
              </a:rPr>
              <a:t> a </a:t>
            </a:r>
            <a:r>
              <a:rPr lang="pl-PL" sz="2000" b="1" dirty="0" err="1">
                <a:solidFill>
                  <a:srgbClr val="0070C0"/>
                </a:solidFill>
                <a:effectLst>
                  <a:outerShdw blurRad="38100" dist="38100" dir="2700000" algn="tl">
                    <a:srgbClr val="000000">
                      <a:alpha val="43137"/>
                    </a:srgbClr>
                  </a:outerShdw>
                </a:effectLst>
              </a:rPr>
              <a:t>vehicle</a:t>
            </a:r>
            <a:r>
              <a:rPr lang="pl-PL" sz="2000" b="1" dirty="0">
                <a:solidFill>
                  <a:srgbClr val="0070C0"/>
                </a:solidFill>
                <a:effectLst>
                  <a:outerShdw blurRad="38100" dist="38100" dir="2700000" algn="tl">
                    <a:srgbClr val="000000">
                      <a:alpha val="43137"/>
                    </a:srgbClr>
                  </a:outerShdw>
                </a:effectLst>
              </a:rPr>
              <a:t> for </a:t>
            </a:r>
            <a:r>
              <a:rPr lang="pl-PL" sz="2000" b="1" dirty="0" err="1">
                <a:solidFill>
                  <a:srgbClr val="0070C0"/>
                </a:solidFill>
                <a:effectLst>
                  <a:outerShdw blurRad="38100" dist="38100" dir="2700000" algn="tl">
                    <a:srgbClr val="000000">
                      <a:alpha val="43137"/>
                    </a:srgbClr>
                  </a:outerShdw>
                </a:effectLst>
              </a:rPr>
              <a:t>illegal</a:t>
            </a:r>
            <a:r>
              <a:rPr lang="pl-PL" sz="2000" b="1" dirty="0">
                <a:solidFill>
                  <a:srgbClr val="0070C0"/>
                </a:solidFill>
                <a:effectLst>
                  <a:outerShdw blurRad="38100" dist="38100" dir="2700000" algn="tl">
                    <a:srgbClr val="000000">
                      <a:alpha val="43137"/>
                    </a:srgbClr>
                  </a:outerShdw>
                </a:effectLst>
              </a:rPr>
              <a:t> parking, </a:t>
            </a:r>
            <a:r>
              <a:rPr lang="pl-PL" sz="2000" b="1" dirty="0" err="1">
                <a:solidFill>
                  <a:srgbClr val="0070C0"/>
                </a:solidFill>
                <a:effectLst>
                  <a:outerShdw blurRad="38100" dist="38100" dir="2700000" algn="tl">
                    <a:srgbClr val="000000">
                      <a:alpha val="43137"/>
                    </a:srgbClr>
                  </a:outerShdw>
                </a:effectLst>
              </a:rPr>
              <a:t>dismantling</a:t>
            </a:r>
            <a:r>
              <a:rPr lang="pl-PL" sz="2000" b="1" dirty="0">
                <a:solidFill>
                  <a:srgbClr val="0070C0"/>
                </a:solidFill>
                <a:effectLst>
                  <a:outerShdw blurRad="38100" dist="38100" dir="2700000" algn="tl">
                    <a:srgbClr val="000000">
                      <a:alpha val="43137"/>
                    </a:srgbClr>
                  </a:outerShdw>
                </a:effectLst>
              </a:rPr>
              <a:t> a </a:t>
            </a:r>
            <a:r>
              <a:rPr lang="pl-PL" sz="2000" b="1" dirty="0" err="1">
                <a:solidFill>
                  <a:srgbClr val="0070C0"/>
                </a:solidFill>
                <a:effectLst>
                  <a:outerShdw blurRad="38100" dist="38100" dir="2700000" algn="tl">
                    <a:srgbClr val="000000">
                      <a:alpha val="43137"/>
                    </a:srgbClr>
                  </a:outerShdw>
                </a:effectLst>
              </a:rPr>
              <a:t>building</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raised</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without</a:t>
            </a:r>
            <a:r>
              <a:rPr lang="pl-PL" sz="2000" b="1" dirty="0">
                <a:solidFill>
                  <a:srgbClr val="0070C0"/>
                </a:solidFill>
                <a:effectLst>
                  <a:outerShdw blurRad="38100" dist="38100" dir="2700000" algn="tl">
                    <a:srgbClr val="000000">
                      <a:alpha val="43137"/>
                    </a:srgbClr>
                  </a:outerShdw>
                </a:effectLst>
              </a:rPr>
              <a:t> </a:t>
            </a:r>
            <a:r>
              <a:rPr lang="pl-PL" sz="2000" b="1" dirty="0" err="1">
                <a:solidFill>
                  <a:srgbClr val="0070C0"/>
                </a:solidFill>
                <a:effectLst>
                  <a:outerShdw blurRad="38100" dist="38100" dir="2700000" algn="tl">
                    <a:srgbClr val="000000">
                      <a:alpha val="43137"/>
                    </a:srgbClr>
                  </a:outerShdw>
                </a:effectLst>
              </a:rPr>
              <a:t>permission</a:t>
            </a:r>
            <a:r>
              <a:rPr lang="pl-PL" sz="2000" b="1" dirty="0">
                <a:solidFill>
                  <a:srgbClr val="0070C0"/>
                </a:solidFill>
                <a:effectLst>
                  <a:outerShdw blurRad="38100" dist="38100" dir="2700000" algn="tl">
                    <a:srgbClr val="000000">
                      <a:alpha val="43137"/>
                    </a:srgbClr>
                  </a:outerShdw>
                </a:effectLst>
              </a:rPr>
              <a:t>),</a:t>
            </a:r>
            <a:r>
              <a:rPr lang="en-US" sz="2000" dirty="0">
                <a:solidFill>
                  <a:srgbClr val="0070C0"/>
                </a:solidFill>
                <a:effectLst>
                  <a:outerShdw blurRad="38100" dist="38100" dir="2700000" algn="tl">
                    <a:srgbClr val="000000">
                      <a:alpha val="43137"/>
                    </a:srgbClr>
                  </a:outerShdw>
                </a:effectLst>
              </a:rPr>
              <a:t> </a:t>
            </a:r>
            <a:r>
              <a:rPr lang="en-US" sz="2000" dirty="0">
                <a:solidFill>
                  <a:srgbClr val="002060"/>
                </a:solidFill>
                <a:effectLst>
                  <a:outerShdw blurRad="38100" dist="38100" dir="2700000" algn="tl">
                    <a:srgbClr val="000000">
                      <a:alpha val="43137"/>
                    </a:srgbClr>
                  </a:outerShdw>
                </a:effectLst>
              </a:rPr>
              <a:t>and </a:t>
            </a:r>
            <a:r>
              <a:rPr lang="pl-PL" sz="2000" dirty="0">
                <a:solidFill>
                  <a:srgbClr val="002060"/>
                </a:solidFill>
                <a:effectLst>
                  <a:outerShdw blurRad="38100" dist="38100" dir="2700000" algn="tl">
                    <a:srgbClr val="000000">
                      <a:alpha val="43137"/>
                    </a:srgbClr>
                  </a:outerShdw>
                </a:effectLst>
              </a:rPr>
              <a:t>by </a:t>
            </a:r>
            <a:r>
              <a:rPr lang="en-US" sz="2000" dirty="0">
                <a:solidFill>
                  <a:srgbClr val="002060"/>
                </a:solidFill>
                <a:effectLst>
                  <a:outerShdw blurRad="38100" dist="38100" dir="2700000" algn="tl">
                    <a:srgbClr val="000000">
                      <a:alpha val="43137"/>
                    </a:srgbClr>
                  </a:outerShdw>
                </a:effectLst>
              </a:rPr>
              <a:t>an organizational apparatus: police, central and local governments</a:t>
            </a:r>
            <a:r>
              <a:rPr lang="en-US" sz="2000" noProof="0" dirty="0">
                <a:solidFill>
                  <a:srgbClr val="002060"/>
                </a:solidFill>
                <a:effectLst>
                  <a:outerShdw blurRad="38100" dist="38100" dir="2700000" algn="tl">
                    <a:srgbClr val="000000">
                      <a:alpha val="43137"/>
                    </a:srgbClr>
                  </a:outerShdw>
                </a:effectLst>
              </a:rPr>
              <a:t>, including security agencies, courts, and the military. </a:t>
            </a:r>
          </a:p>
          <a:p>
            <a:r>
              <a:rPr lang="en-US" sz="2000" noProof="0" dirty="0">
                <a:solidFill>
                  <a:srgbClr val="002060"/>
                </a:solidFill>
                <a:effectLst>
                  <a:outerShdw blurRad="38100" dist="38100" dir="2700000" algn="tl">
                    <a:srgbClr val="000000">
                      <a:alpha val="43137"/>
                    </a:srgbClr>
                  </a:outerShdw>
                </a:effectLst>
              </a:rPr>
              <a:t>Some laws are formally binding </a:t>
            </a:r>
            <a:r>
              <a:rPr lang="en-US" sz="2000" dirty="0">
                <a:solidFill>
                  <a:srgbClr val="002060"/>
                </a:solidFill>
                <a:effectLst>
                  <a:outerShdw blurRad="38100" dist="38100" dir="2700000" algn="tl">
                    <a:srgbClr val="000000">
                      <a:alpha val="43137"/>
                    </a:srgbClr>
                  </a:outerShdw>
                </a:effectLst>
              </a:rPr>
              <a:t>even though they </a:t>
            </a:r>
            <a:r>
              <a:rPr lang="en-US" sz="2000" b="1" dirty="0">
                <a:solidFill>
                  <a:srgbClr val="FF0000"/>
                </a:solidFill>
                <a:effectLst>
                  <a:outerShdw blurRad="38100" dist="38100" dir="2700000" algn="tl">
                    <a:srgbClr val="000000">
                      <a:alpha val="43137"/>
                    </a:srgbClr>
                  </a:outerShdw>
                </a:effectLst>
              </a:rPr>
              <a:t>lack sanctions</a:t>
            </a:r>
            <a:r>
              <a:rPr lang="en-US" sz="2000" dirty="0">
                <a:solidFill>
                  <a:srgbClr val="002060"/>
                </a:solidFill>
                <a:effectLst>
                  <a:outerShdw blurRad="38100" dist="38100" dir="2700000" algn="tl">
                    <a:srgbClr val="000000">
                      <a:alpha val="43137"/>
                    </a:srgbClr>
                  </a:outerShdw>
                </a:effectLst>
              </a:rPr>
              <a:t>, because the lawmakers „forgot” to include them</a:t>
            </a:r>
            <a:r>
              <a:rPr lang="en-US" sz="2000" noProof="0" dirty="0">
                <a:solidFill>
                  <a:srgbClr val="002060"/>
                </a:solidFill>
                <a:effectLst>
                  <a:outerShdw blurRad="38100" dist="38100" dir="2700000" algn="tl">
                    <a:srgbClr val="000000">
                      <a:alpha val="43137"/>
                    </a:srgbClr>
                  </a:outerShdw>
                </a:effectLst>
              </a:rPr>
              <a:t> (Lex imperfecta). For example, for many years, there was no sanction if the applicant declared having met the statutory conditions in cases where the public authority had the </a:t>
            </a:r>
            <a:r>
              <a:rPr lang="en-US" sz="2000" b="1" noProof="0" dirty="0">
                <a:solidFill>
                  <a:srgbClr val="002060"/>
                </a:solidFill>
                <a:effectLst>
                  <a:outerShdw blurRad="38100" dist="38100" dir="2700000" algn="tl">
                    <a:srgbClr val="000000">
                      <a:alpha val="43137"/>
                    </a:srgbClr>
                  </a:outerShdw>
                </a:effectLst>
              </a:rPr>
              <a:t>veto power </a:t>
            </a:r>
            <a:r>
              <a:rPr lang="en-US" sz="2000" noProof="0" dirty="0">
                <a:solidFill>
                  <a:srgbClr val="002060"/>
                </a:solidFill>
                <a:effectLst>
                  <a:outerShdw blurRad="38100" dist="38100" dir="2700000" algn="tl">
                    <a:srgbClr val="000000">
                      <a:alpha val="43137"/>
                    </a:srgbClr>
                  </a:outerShdw>
                </a:effectLst>
              </a:rPr>
              <a:t>but not the power to issue permission (certain types of business, such as travel agencies, or small buildings) </a:t>
            </a:r>
          </a:p>
          <a:p>
            <a:r>
              <a:rPr lang="en-US" sz="2000" noProof="0" dirty="0">
                <a:solidFill>
                  <a:srgbClr val="002060"/>
                </a:solidFill>
                <a:effectLst>
                  <a:outerShdw blurRad="38100" dist="38100" dir="2700000" algn="tl">
                    <a:srgbClr val="000000">
                      <a:alpha val="43137"/>
                    </a:srgbClr>
                  </a:outerShdw>
                </a:effectLst>
              </a:rPr>
              <a:t>There are laws backed by </a:t>
            </a:r>
            <a:r>
              <a:rPr lang="en-US" sz="2000" b="1" noProof="0" dirty="0">
                <a:solidFill>
                  <a:srgbClr val="FF0000"/>
                </a:solidFill>
                <a:effectLst>
                  <a:outerShdw blurRad="38100" dist="38100" dir="2700000" algn="tl">
                    <a:srgbClr val="000000">
                      <a:alpha val="43137"/>
                    </a:srgbClr>
                  </a:outerShdw>
                </a:effectLst>
              </a:rPr>
              <a:t>positive and negative financial or similar</a:t>
            </a:r>
            <a:r>
              <a:rPr lang="en-US" sz="2000" b="1" dirty="0">
                <a:solidFill>
                  <a:srgbClr val="FF0000"/>
                </a:solidFill>
                <a:effectLst>
                  <a:outerShdw blurRad="38100" dist="38100" dir="2700000" algn="tl">
                    <a:srgbClr val="000000">
                      <a:alpha val="43137"/>
                    </a:srgbClr>
                  </a:outerShdw>
                </a:effectLst>
              </a:rPr>
              <a:t> incentives</a:t>
            </a:r>
            <a:r>
              <a:rPr lang="en-US" sz="2000" noProof="0" dirty="0">
                <a:solidFill>
                  <a:srgbClr val="002060"/>
                </a:solidFill>
                <a:effectLst>
                  <a:outerShdw blurRad="38100" dist="38100" dir="2700000" algn="tl">
                    <a:srgbClr val="000000">
                      <a:alpha val="43137"/>
                    </a:srgbClr>
                  </a:outerShdw>
                </a:effectLst>
              </a:rPr>
              <a:t>, and</a:t>
            </a:r>
          </a:p>
          <a:p>
            <a:r>
              <a:rPr lang="en-US" sz="2000" noProof="0" dirty="0">
                <a:solidFill>
                  <a:srgbClr val="002060"/>
                </a:solidFill>
                <a:effectLst>
                  <a:outerShdw blurRad="38100" dist="38100" dir="2700000" algn="tl">
                    <a:srgbClr val="000000">
                      <a:alpha val="43137"/>
                    </a:srgbClr>
                  </a:outerShdw>
                </a:effectLst>
              </a:rPr>
              <a:t>Laws that formally have </a:t>
            </a:r>
            <a:r>
              <a:rPr lang="en-US" sz="2000" b="1" noProof="0" dirty="0">
                <a:solidFill>
                  <a:srgbClr val="FF0000"/>
                </a:solidFill>
                <a:effectLst>
                  <a:outerShdw blurRad="38100" dist="38100" dir="2700000" algn="tl">
                    <a:srgbClr val="000000">
                      <a:alpha val="43137"/>
                    </a:srgbClr>
                  </a:outerShdw>
                </a:effectLst>
              </a:rPr>
              <a:t>no binding power </a:t>
            </a:r>
            <a:r>
              <a:rPr lang="en-US" sz="2000" noProof="0" dirty="0">
                <a:solidFill>
                  <a:srgbClr val="002060"/>
                </a:solidFill>
                <a:effectLst>
                  <a:outerShdw blurRad="38100" dist="38100" dir="2700000" algn="tl">
                    <a:srgbClr val="000000">
                      <a:alpha val="43137"/>
                    </a:srgbClr>
                  </a:outerShdw>
                </a:effectLst>
              </a:rPr>
              <a:t>(guidelines, recommendations</a:t>
            </a:r>
            <a:r>
              <a:rPr lang="en-US" sz="2400" noProof="0" dirty="0">
                <a:solidFill>
                  <a:srgbClr val="002060"/>
                </a:solidFill>
                <a:effectLst>
                  <a:outerShdw blurRad="38100" dist="38100" dir="2700000" algn="tl">
                    <a:srgbClr val="000000">
                      <a:alpha val="43137"/>
                    </a:srgbClr>
                  </a:outerShdw>
                </a:effectLst>
              </a:rPr>
              <a:t>)</a:t>
            </a:r>
          </a:p>
          <a:p>
            <a:pPr marL="0" indent="0">
              <a:buNone/>
            </a:pPr>
            <a:endParaRPr lang="en-US" dirty="0"/>
          </a:p>
        </p:txBody>
      </p:sp>
    </p:spTree>
    <p:extLst>
      <p:ext uri="{BB962C8B-B14F-4D97-AF65-F5344CB8AC3E}">
        <p14:creationId xmlns:p14="http://schemas.microsoft.com/office/powerpoint/2010/main" val="591113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0244638-A87F-FEED-2349-4A169AD95176}"/>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Interpretation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9E1EE48C-0187-8E9C-743E-52CEC2B7755D}"/>
              </a:ext>
            </a:extLst>
          </p:cNvPr>
          <p:cNvSpPr>
            <a:spLocks noGrp="1"/>
          </p:cNvSpPr>
          <p:nvPr>
            <p:ph idx="1"/>
          </p:nvPr>
        </p:nvSpPr>
        <p:spPr>
          <a:xfrm>
            <a:off x="838200" y="1825624"/>
            <a:ext cx="10515600" cy="5032376"/>
          </a:xfrm>
        </p:spPr>
        <p:txBody>
          <a:bodyPr>
            <a:normAutofit/>
          </a:bodyPr>
          <a:lstStyle/>
          <a:p>
            <a:pPr marL="0" indent="0">
              <a:buNone/>
            </a:pPr>
            <a:r>
              <a:rPr lang="en-US" b="1" dirty="0">
                <a:solidFill>
                  <a:srgbClr val="FF0000"/>
                </a:solidFill>
                <a:effectLst>
                  <a:outerShdw blurRad="38100" dist="38100" dir="2700000" algn="tl">
                    <a:srgbClr val="000000">
                      <a:alpha val="43137"/>
                    </a:srgbClr>
                  </a:outerShdw>
                </a:effectLst>
              </a:rPr>
              <a:t>P</a:t>
            </a:r>
            <a:r>
              <a:rPr lang="en-US" b="1" noProof="0" dirty="0">
                <a:solidFill>
                  <a:srgbClr val="FF0000"/>
                </a:solidFill>
                <a:effectLst>
                  <a:outerShdw blurRad="38100" dist="38100" dir="2700000" algn="tl">
                    <a:srgbClr val="000000">
                      <a:alpha val="43137"/>
                    </a:srgbClr>
                  </a:outerShdw>
                </a:effectLst>
              </a:rPr>
              <a:t>rinciples of interpretation may differ </a:t>
            </a:r>
            <a:r>
              <a:rPr lang="en-US" noProof="0" dirty="0">
                <a:solidFill>
                  <a:srgbClr val="002060"/>
                </a:solidFill>
                <a:effectLst>
                  <a:outerShdw blurRad="38100" dist="38100" dir="2700000" algn="tl">
                    <a:srgbClr val="000000">
                      <a:alpha val="43137"/>
                    </a:srgbClr>
                  </a:outerShdw>
                </a:effectLst>
              </a:rPr>
              <a:t>from one legal culture, or a system to another, and between </a:t>
            </a:r>
            <a:r>
              <a:rPr lang="en-US" dirty="0">
                <a:solidFill>
                  <a:srgbClr val="002060"/>
                </a:solidFill>
                <a:effectLst>
                  <a:outerShdw blurRad="38100" dist="38100" dir="2700000" algn="tl">
                    <a:srgbClr val="000000">
                      <a:alpha val="43137"/>
                    </a:srgbClr>
                  </a:outerShdw>
                </a:effectLst>
              </a:rPr>
              <a:t>distinct</a:t>
            </a:r>
            <a:r>
              <a:rPr lang="en-US" noProof="0" dirty="0">
                <a:solidFill>
                  <a:srgbClr val="002060"/>
                </a:solidFill>
                <a:effectLst>
                  <a:outerShdw blurRad="38100" dist="38100" dir="2700000" algn="tl">
                    <a:srgbClr val="000000">
                      <a:alpha val="43137"/>
                    </a:srgbClr>
                  </a:outerShdw>
                </a:effectLst>
              </a:rPr>
              <a:t> branches of law. </a:t>
            </a:r>
          </a:p>
          <a:p>
            <a:r>
              <a:rPr lang="en-US" b="1" noProof="0" dirty="0">
                <a:solidFill>
                  <a:srgbClr val="FF0000"/>
                </a:solidFill>
                <a:effectLst>
                  <a:outerShdw blurRad="38100" dist="38100" dir="2700000" algn="tl">
                    <a:srgbClr val="000000">
                      <a:alpha val="43137"/>
                    </a:srgbClr>
                  </a:outerShdw>
                </a:effectLst>
                <a:highlight>
                  <a:srgbClr val="00FF00"/>
                </a:highlight>
              </a:rPr>
              <a:t>In the branches characterized by coercion </a:t>
            </a:r>
            <a:r>
              <a:rPr lang="en-US" noProof="0" dirty="0">
                <a:solidFill>
                  <a:srgbClr val="002060"/>
                </a:solidFill>
                <a:effectLst>
                  <a:outerShdw blurRad="38100" dist="38100" dir="2700000" algn="tl">
                    <a:srgbClr val="000000">
                      <a:alpha val="43137"/>
                    </a:srgbClr>
                  </a:outerShdw>
                </a:effectLst>
              </a:rPr>
              <a:t>(criminal, administrative law), </a:t>
            </a:r>
            <a:r>
              <a:rPr lang="en-US" b="1" noProof="0" dirty="0">
                <a:solidFill>
                  <a:srgbClr val="FF0000"/>
                </a:solidFill>
                <a:effectLst>
                  <a:outerShdw blurRad="38100" dist="38100" dir="2700000" algn="tl">
                    <a:srgbClr val="000000">
                      <a:alpha val="43137"/>
                    </a:srgbClr>
                  </a:outerShdw>
                </a:effectLst>
                <a:highlight>
                  <a:srgbClr val="FFFF00"/>
                </a:highlight>
              </a:rPr>
              <a:t>a narrow </a:t>
            </a:r>
            <a:r>
              <a:rPr lang="en-US" noProof="0" dirty="0">
                <a:solidFill>
                  <a:srgbClr val="002060"/>
                </a:solidFill>
                <a:effectLst>
                  <a:outerShdw blurRad="38100" dist="38100" dir="2700000" algn="tl">
                    <a:srgbClr val="000000">
                      <a:alpha val="43137"/>
                    </a:srgbClr>
                  </a:outerShdw>
                </a:effectLst>
                <a:highlight>
                  <a:srgbClr val="FFFF00"/>
                </a:highlight>
              </a:rPr>
              <a:t>(</a:t>
            </a:r>
            <a:r>
              <a:rPr lang="en-US" b="1" noProof="0" dirty="0">
                <a:solidFill>
                  <a:srgbClr val="FF0000"/>
                </a:solidFill>
                <a:effectLst>
                  <a:outerShdw blurRad="38100" dist="38100" dir="2700000" algn="tl">
                    <a:srgbClr val="000000">
                      <a:alpha val="43137"/>
                    </a:srgbClr>
                  </a:outerShdw>
                </a:effectLst>
                <a:highlight>
                  <a:srgbClr val="FFFF00"/>
                </a:highlight>
              </a:rPr>
              <a:t>restrictive) interpretation </a:t>
            </a:r>
            <a:r>
              <a:rPr lang="en-US" noProof="0" dirty="0">
                <a:solidFill>
                  <a:srgbClr val="002060"/>
                </a:solidFill>
                <a:effectLst>
                  <a:outerShdw blurRad="38100" dist="38100" dir="2700000" algn="tl">
                    <a:srgbClr val="000000">
                      <a:alpha val="43137"/>
                    </a:srgbClr>
                  </a:outerShdw>
                </a:effectLst>
              </a:rPr>
              <a:t>of the terms used in the law prevails. Thus, the authority must not assume that a person committed a crime or misdemeanor. It must not assume that a taxpayer should pay more than is strictly required by law.</a:t>
            </a:r>
          </a:p>
          <a:p>
            <a:r>
              <a:rPr lang="en-US" b="1" noProof="0" dirty="0">
                <a:solidFill>
                  <a:srgbClr val="FF0000"/>
                </a:solidFill>
                <a:effectLst>
                  <a:outerShdw blurRad="38100" dist="38100" dir="2700000" algn="tl">
                    <a:srgbClr val="000000">
                      <a:alpha val="43137"/>
                    </a:srgbClr>
                  </a:outerShdw>
                </a:effectLst>
              </a:rPr>
              <a:t>The burden of proof </a:t>
            </a:r>
            <a:r>
              <a:rPr lang="en-US" noProof="0" dirty="0">
                <a:solidFill>
                  <a:srgbClr val="002060"/>
                </a:solidFill>
                <a:effectLst>
                  <a:outerShdw blurRad="38100" dist="38100" dir="2700000" algn="tl">
                    <a:srgbClr val="000000">
                      <a:alpha val="43137"/>
                    </a:srgbClr>
                  </a:outerShdw>
                </a:effectLst>
              </a:rPr>
              <a:t>is always on the accusing party (prosecutor) or public authority.</a:t>
            </a:r>
          </a:p>
        </p:txBody>
      </p:sp>
    </p:spTree>
    <p:extLst>
      <p:ext uri="{BB962C8B-B14F-4D97-AF65-F5344CB8AC3E}">
        <p14:creationId xmlns:p14="http://schemas.microsoft.com/office/powerpoint/2010/main" val="3321697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64439F-1CBE-968C-2F8B-377576299364}"/>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Interpretation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9C9E7CAF-7D5F-7B12-2402-162D2B98C1E8}"/>
              </a:ext>
            </a:extLst>
          </p:cNvPr>
          <p:cNvSpPr>
            <a:spLocks noGrp="1"/>
          </p:cNvSpPr>
          <p:nvPr>
            <p:ph idx="1"/>
          </p:nvPr>
        </p:nvSpPr>
        <p:spPr/>
        <p:txBody>
          <a:bodyPr>
            <a:normAutofit/>
          </a:bodyPr>
          <a:lstStyle/>
          <a:p>
            <a:r>
              <a:rPr lang="en-US" b="1" dirty="0">
                <a:solidFill>
                  <a:srgbClr val="002060"/>
                </a:solidFill>
                <a:effectLst>
                  <a:outerShdw blurRad="38100" dist="38100" dir="2700000" algn="tl">
                    <a:srgbClr val="000000">
                      <a:alpha val="43137"/>
                    </a:srgbClr>
                  </a:outerShdw>
                </a:effectLst>
                <a:highlight>
                  <a:srgbClr val="00FF00"/>
                </a:highlight>
              </a:rPr>
              <a:t>In branches characterized by eq</a:t>
            </a:r>
            <a:r>
              <a:rPr lang="pl-PL" b="1" dirty="0">
                <a:solidFill>
                  <a:srgbClr val="002060"/>
                </a:solidFill>
                <a:effectLst>
                  <a:outerShdw blurRad="38100" dist="38100" dir="2700000" algn="tl">
                    <a:srgbClr val="000000">
                      <a:alpha val="43137"/>
                    </a:srgbClr>
                  </a:outerShdw>
                </a:effectLst>
                <a:highlight>
                  <a:srgbClr val="00FF00"/>
                </a:highlight>
              </a:rPr>
              <a:t>u</a:t>
            </a:r>
            <a:r>
              <a:rPr lang="en-US" b="1" dirty="0">
                <a:solidFill>
                  <a:srgbClr val="002060"/>
                </a:solidFill>
                <a:effectLst>
                  <a:outerShdw blurRad="38100" dist="38100" dir="2700000" algn="tl">
                    <a:srgbClr val="000000">
                      <a:alpha val="43137"/>
                    </a:srgbClr>
                  </a:outerShdw>
                </a:effectLst>
                <a:highlight>
                  <a:srgbClr val="00FF00"/>
                </a:highlight>
              </a:rPr>
              <a:t>ality</a:t>
            </a:r>
            <a:r>
              <a:rPr lang="en-US" dirty="0">
                <a:solidFill>
                  <a:srgbClr val="002060"/>
                </a:solidFill>
                <a:effectLst>
                  <a:outerShdw blurRad="38100" dist="38100" dir="2700000" algn="tl">
                    <a:srgbClr val="000000">
                      <a:alpha val="43137"/>
                    </a:srgbClr>
                  </a:outerShdw>
                </a:effectLst>
                <a:highlight>
                  <a:srgbClr val="00FF00"/>
                </a:highlight>
              </a:rPr>
              <a:t> </a:t>
            </a:r>
            <a:r>
              <a:rPr lang="en-US" dirty="0">
                <a:solidFill>
                  <a:srgbClr val="002060"/>
                </a:solidFill>
                <a:effectLst>
                  <a:outerShdw blurRad="38100" dist="38100" dir="2700000" algn="tl">
                    <a:srgbClr val="000000">
                      <a:alpha val="43137"/>
                    </a:srgbClr>
                  </a:outerShdw>
                </a:effectLst>
              </a:rPr>
              <a:t>between the parties, like in civil law, </a:t>
            </a:r>
            <a:r>
              <a:rPr lang="en-US" b="1" dirty="0">
                <a:solidFill>
                  <a:srgbClr val="FF0000"/>
                </a:solidFill>
                <a:effectLst>
                  <a:outerShdw blurRad="38100" dist="38100" dir="2700000" algn="tl">
                    <a:srgbClr val="000000">
                      <a:alpha val="43137"/>
                    </a:srgbClr>
                  </a:outerShdw>
                </a:effectLst>
                <a:highlight>
                  <a:srgbClr val="FFFF00"/>
                </a:highlight>
              </a:rPr>
              <a:t>expansive interpretation </a:t>
            </a:r>
            <a:r>
              <a:rPr lang="en-US" dirty="0">
                <a:solidFill>
                  <a:srgbClr val="002060"/>
                </a:solidFill>
                <a:effectLst>
                  <a:outerShdw blurRad="38100" dist="38100" dir="2700000" algn="tl">
                    <a:srgbClr val="000000">
                      <a:alpha val="43137"/>
                    </a:srgbClr>
                  </a:outerShdw>
                </a:effectLst>
              </a:rPr>
              <a:t>is allowed. Under civil law, authorities are equal to individuals</a:t>
            </a:r>
            <a:r>
              <a:rPr lang="pl-PL" dirty="0">
                <a:solidFill>
                  <a:srgbClr val="002060"/>
                </a:solidFill>
                <a:effectLst>
                  <a:outerShdw blurRad="38100" dist="38100" dir="2700000" algn="tl">
                    <a:srgbClr val="000000">
                      <a:alpha val="43137"/>
                    </a:srgbClr>
                  </a:outerShdw>
                </a:effectLst>
              </a:rPr>
              <a:t>, for</a:t>
            </a:r>
            <a:r>
              <a:rPr lang="en-US" dirty="0">
                <a:solidFill>
                  <a:srgbClr val="002060"/>
                </a:solidFill>
                <a:effectLst>
                  <a:outerShdw blurRad="38100" dist="38100" dir="2700000" algn="tl">
                    <a:srgbClr val="000000">
                      <a:alpha val="43137"/>
                    </a:srgbClr>
                  </a:outerShdw>
                </a:effectLst>
              </a:rPr>
              <a:t> example, in a case where a company sells vehicles to the city police.</a:t>
            </a:r>
          </a:p>
          <a:p>
            <a:r>
              <a:rPr lang="en-US" b="1" dirty="0">
                <a:solidFill>
                  <a:srgbClr val="FF0000"/>
                </a:solidFill>
                <a:effectLst>
                  <a:outerShdw blurRad="38100" dist="38100" dir="2700000" algn="tl">
                    <a:srgbClr val="000000">
                      <a:alpha val="43137"/>
                    </a:srgbClr>
                  </a:outerShdw>
                </a:effectLst>
              </a:rPr>
              <a:t>The burden of proof </a:t>
            </a:r>
            <a:r>
              <a:rPr lang="en-US" dirty="0">
                <a:solidFill>
                  <a:srgbClr val="002060"/>
                </a:solidFill>
                <a:effectLst>
                  <a:outerShdw blurRad="38100" dist="38100" dir="2700000" algn="tl">
                    <a:srgbClr val="000000">
                      <a:alpha val="43137"/>
                    </a:srgbClr>
                  </a:outerShdw>
                </a:effectLst>
              </a:rPr>
              <a:t>is on the </a:t>
            </a:r>
            <a:r>
              <a:rPr lang="en-US" b="1" dirty="0">
                <a:solidFill>
                  <a:srgbClr val="002060"/>
                </a:solidFill>
                <a:effectLst>
                  <a:outerShdw blurRad="38100" dist="38100" dir="2700000" algn="tl">
                    <a:srgbClr val="000000">
                      <a:alpha val="43137"/>
                    </a:srgbClr>
                  </a:outerShdw>
                </a:effectLst>
              </a:rPr>
              <a:t>party that makes the claim</a:t>
            </a:r>
            <a:r>
              <a:rPr lang="en-US"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In one branch of law</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different methods of regulation </a:t>
            </a:r>
            <a:r>
              <a:rPr lang="en-US" dirty="0">
                <a:solidFill>
                  <a:srgbClr val="002060"/>
                </a:solidFill>
                <a:effectLst>
                  <a:outerShdw blurRad="38100" dist="38100" dir="2700000" algn="tl">
                    <a:srgbClr val="000000">
                      <a:alpha val="43137"/>
                    </a:srgbClr>
                  </a:outerShdw>
                </a:effectLst>
              </a:rPr>
              <a:t>are often applied. In medical law, for example, a civil law contract may govern relations between the parties when a party purchases medical services, or criminal law may apply if a doctor commits malpractice. Administrative law is used to provide the rules of public order</a:t>
            </a:r>
          </a:p>
          <a:p>
            <a:endParaRPr lang="en-US" dirty="0"/>
          </a:p>
        </p:txBody>
      </p:sp>
    </p:spTree>
    <p:extLst>
      <p:ext uri="{BB962C8B-B14F-4D97-AF65-F5344CB8AC3E}">
        <p14:creationId xmlns:p14="http://schemas.microsoft.com/office/powerpoint/2010/main" val="919199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81BEF55-5C7D-5A34-23E0-3DBF2F6A74A1}"/>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Interpretation</a:t>
            </a:r>
            <a:endParaRPr lang="en-US" dirty="0"/>
          </a:p>
        </p:txBody>
      </p:sp>
      <p:sp>
        <p:nvSpPr>
          <p:cNvPr id="3" name="Symbol zastępczy zawartości 2">
            <a:extLst>
              <a:ext uri="{FF2B5EF4-FFF2-40B4-BE49-F238E27FC236}">
                <a16:creationId xmlns:a16="http://schemas.microsoft.com/office/drawing/2014/main" id="{83FB5EFC-6DDA-38E2-4113-217E41C79E4C}"/>
              </a:ext>
            </a:extLst>
          </p:cNvPr>
          <p:cNvSpPr>
            <a:spLocks noGrp="1"/>
          </p:cNvSpPr>
          <p:nvPr>
            <p:ph idx="1"/>
          </p:nvPr>
        </p:nvSpPr>
        <p:spPr/>
        <p:txBody>
          <a:bodyPr>
            <a:normAutofit/>
          </a:bodyPr>
          <a:lstStyle/>
          <a:p>
            <a:pPr marL="0" indent="0">
              <a:buNone/>
            </a:pPr>
            <a:r>
              <a:rPr lang="en-US" b="1" noProof="0" dirty="0">
                <a:solidFill>
                  <a:srgbClr val="FF0000"/>
                </a:solidFill>
                <a:effectLst>
                  <a:outerShdw blurRad="38100" dist="38100" dir="2700000" algn="tl">
                    <a:srgbClr val="000000">
                      <a:alpha val="43137"/>
                    </a:srgbClr>
                  </a:outerShdw>
                </a:effectLst>
              </a:rPr>
              <a:t>Consequences of narrow or expansive interpretation</a:t>
            </a:r>
          </a:p>
          <a:p>
            <a:r>
              <a:rPr lang="en-US" noProof="0" dirty="0">
                <a:solidFill>
                  <a:srgbClr val="002060"/>
                </a:solidFill>
                <a:effectLst>
                  <a:outerShdw blurRad="38100" dist="38100" dir="2700000" algn="tl">
                    <a:srgbClr val="000000">
                      <a:alpha val="43137"/>
                    </a:srgbClr>
                  </a:outerShdw>
                </a:effectLst>
              </a:rPr>
              <a:t>The term </a:t>
            </a:r>
            <a:r>
              <a:rPr lang="en-US" b="1" noProof="0" dirty="0">
                <a:solidFill>
                  <a:srgbClr val="FF0000"/>
                </a:solidFill>
                <a:effectLst>
                  <a:outerShdw blurRad="38100" dist="38100" dir="2700000" algn="tl">
                    <a:srgbClr val="000000">
                      <a:alpha val="43137"/>
                    </a:srgbClr>
                  </a:outerShdw>
                </a:effectLst>
              </a:rPr>
              <a:t>„building</a:t>
            </a:r>
            <a:r>
              <a:rPr lang="en-US" noProof="0" dirty="0">
                <a:solidFill>
                  <a:srgbClr val="002060"/>
                </a:solidFill>
                <a:effectLst>
                  <a:outerShdw blurRad="38100" dist="38100" dir="2700000" algn="tl">
                    <a:srgbClr val="000000">
                      <a:alpha val="43137"/>
                    </a:srgbClr>
                  </a:outerShdw>
                </a:effectLst>
              </a:rPr>
              <a:t>” can be </a:t>
            </a:r>
            <a:r>
              <a:rPr lang="en-US" b="1" noProof="0" dirty="0">
                <a:solidFill>
                  <a:srgbClr val="002060"/>
                </a:solidFill>
                <a:effectLst>
                  <a:outerShdw blurRad="38100" dist="38100" dir="2700000" algn="tl">
                    <a:srgbClr val="000000">
                      <a:alpha val="43137"/>
                    </a:srgbClr>
                  </a:outerShdw>
                </a:effectLst>
              </a:rPr>
              <a:t>interpreted expansively </a:t>
            </a:r>
            <a:r>
              <a:rPr lang="en-US" noProof="0" dirty="0">
                <a:solidFill>
                  <a:srgbClr val="002060"/>
                </a:solidFill>
                <a:effectLst>
                  <a:outerShdw blurRad="38100" dist="38100" dir="2700000" algn="tl">
                    <a:srgbClr val="000000">
                      <a:alpha val="43137"/>
                    </a:srgbClr>
                  </a:outerShdw>
                </a:effectLst>
              </a:rPr>
              <a:t>to include not only houses or office buildings but also sheds, tents used by traders, or automatic mailboxes (the case of InPost)</a:t>
            </a:r>
          </a:p>
          <a:p>
            <a:r>
              <a:rPr lang="en-US" b="1" dirty="0">
                <a:solidFill>
                  <a:srgbClr val="FF0000"/>
                </a:solidFill>
                <a:effectLst>
                  <a:outerShdw blurRad="38100" dist="38100" dir="2700000" algn="tl">
                    <a:srgbClr val="000000">
                      <a:alpha val="43137"/>
                    </a:srgbClr>
                  </a:outerShdw>
                </a:effectLst>
              </a:rPr>
              <a:t>„Enterprise”</a:t>
            </a:r>
            <a:r>
              <a:rPr lang="en-US" dirty="0">
                <a:solidFill>
                  <a:srgbClr val="002060"/>
                </a:solidFill>
                <a:effectLst>
                  <a:outerShdw blurRad="38100" dist="38100" dir="2700000" algn="tl">
                    <a:srgbClr val="000000">
                      <a:alpha val="43137"/>
                    </a:srgbClr>
                  </a:outerShdw>
                </a:effectLst>
              </a:rPr>
              <a:t> is expansively interpreted under competition law to include artists, administrative entities, and anyone able to affect the market.</a:t>
            </a:r>
            <a:endParaRPr lang="en-US" noProof="0" dirty="0">
              <a:solidFill>
                <a:srgbClr val="002060"/>
              </a:solidFill>
              <a:effectLst>
                <a:outerShdw blurRad="38100" dist="38100" dir="2700000" algn="tl">
                  <a:srgbClr val="000000">
                    <a:alpha val="43137"/>
                  </a:srgbClr>
                </a:outerShdw>
              </a:effectLst>
            </a:endParaRPr>
          </a:p>
          <a:p>
            <a:r>
              <a:rPr lang="en-US" b="1" noProof="0" dirty="0">
                <a:solidFill>
                  <a:srgbClr val="FF0000"/>
                </a:solidFill>
                <a:effectLst>
                  <a:outerShdw blurRad="38100" dist="38100" dir="2700000" algn="tl">
                    <a:srgbClr val="000000">
                      <a:alpha val="43137"/>
                    </a:srgbClr>
                  </a:outerShdw>
                </a:effectLst>
              </a:rPr>
              <a:t>The consequences </a:t>
            </a:r>
            <a:r>
              <a:rPr lang="en-US" noProof="0" dirty="0">
                <a:solidFill>
                  <a:srgbClr val="002060"/>
                </a:solidFill>
                <a:effectLst>
                  <a:outerShdw blurRad="38100" dist="38100" dir="2700000" algn="tl">
                    <a:srgbClr val="000000">
                      <a:alpha val="43137"/>
                    </a:srgbClr>
                  </a:outerShdw>
                </a:effectLst>
              </a:rPr>
              <a:t>of expansive interpretation</a:t>
            </a:r>
            <a:r>
              <a:rPr lang="pl-PL" noProof="0" dirty="0">
                <a:solidFill>
                  <a:srgbClr val="002060"/>
                </a:solidFill>
                <a:effectLst>
                  <a:outerShdw blurRad="38100" dist="38100" dir="2700000" algn="tl">
                    <a:srgbClr val="000000">
                      <a:alpha val="43137"/>
                    </a:srgbClr>
                  </a:outerShdw>
                </a:effectLst>
              </a:rPr>
              <a:t> (</a:t>
            </a:r>
            <a:r>
              <a:rPr lang="pl-PL" noProof="0" dirty="0" err="1">
                <a:solidFill>
                  <a:srgbClr val="002060"/>
                </a:solidFill>
                <a:effectLst>
                  <a:outerShdw blurRad="38100" dist="38100" dir="2700000" algn="tl">
                    <a:srgbClr val="000000">
                      <a:alpha val="43137"/>
                    </a:srgbClr>
                  </a:outerShdw>
                </a:effectLst>
              </a:rPr>
              <a:t>examples</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a:t>
            </a:r>
          </a:p>
          <a:p>
            <a:pPr marL="0" indent="0">
              <a:buNone/>
            </a:pPr>
            <a:r>
              <a:rPr lang="en-US" noProof="0" dirty="0">
                <a:solidFill>
                  <a:srgbClr val="002060"/>
                </a:solidFill>
                <a:effectLst>
                  <a:outerShdw blurRad="38100" dist="38100" dir="2700000" algn="tl">
                    <a:srgbClr val="000000">
                      <a:alpha val="43137"/>
                    </a:srgbClr>
                  </a:outerShdw>
                </a:effectLst>
              </a:rPr>
              <a:t>   1) an obligation to apply for a building </a:t>
            </a:r>
            <a:r>
              <a:rPr lang="en-US" b="1" noProof="0" dirty="0">
                <a:solidFill>
                  <a:srgbClr val="FF0000"/>
                </a:solidFill>
                <a:effectLst>
                  <a:outerShdw blurRad="38100" dist="38100" dir="2700000" algn="tl">
                    <a:srgbClr val="000000">
                      <a:alpha val="43137"/>
                    </a:srgbClr>
                  </a:outerShdw>
                </a:effectLst>
              </a:rPr>
              <a:t>permit,</a:t>
            </a:r>
            <a:r>
              <a:rPr lang="en-US" noProof="0" dirty="0">
                <a:solidFill>
                  <a:srgbClr val="002060"/>
                </a:solidFill>
                <a:effectLst>
                  <a:outerShdw blurRad="38100" dist="38100" dir="2700000" algn="tl">
                    <a:srgbClr val="000000">
                      <a:alpha val="43137"/>
                    </a:srgbClr>
                  </a:outerShdw>
                </a:effectLst>
              </a:rPr>
              <a:t> and possibly to 	comply with the standards of safety for buildings</a:t>
            </a:r>
          </a:p>
          <a:p>
            <a:pPr marL="0" indent="0">
              <a:buNone/>
            </a:pPr>
            <a:r>
              <a:rPr lang="en-US" noProof="0" dirty="0">
                <a:solidFill>
                  <a:srgbClr val="002060"/>
                </a:solidFill>
                <a:effectLst>
                  <a:outerShdw blurRad="38100" dist="38100" dir="2700000" algn="tl">
                    <a:srgbClr val="000000">
                      <a:alpha val="43137"/>
                    </a:srgbClr>
                  </a:outerShdw>
                </a:effectLst>
              </a:rPr>
              <a:t>  2) an obligation to pay real estate </a:t>
            </a:r>
            <a:r>
              <a:rPr lang="en-US" b="1" noProof="0" dirty="0">
                <a:solidFill>
                  <a:srgbClr val="FF0000"/>
                </a:solidFill>
                <a:effectLst>
                  <a:outerShdw blurRad="38100" dist="38100" dir="2700000" algn="tl">
                    <a:srgbClr val="000000">
                      <a:alpha val="43137"/>
                    </a:srgbClr>
                  </a:outerShdw>
                </a:effectLst>
              </a:rPr>
              <a:t>taxes</a:t>
            </a:r>
          </a:p>
        </p:txBody>
      </p:sp>
    </p:spTree>
    <p:extLst>
      <p:ext uri="{BB962C8B-B14F-4D97-AF65-F5344CB8AC3E}">
        <p14:creationId xmlns:p14="http://schemas.microsoft.com/office/powerpoint/2010/main" val="3171205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24754DB-9251-7946-73BD-547C597BC2FD}"/>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Interpretation</a:t>
            </a:r>
            <a:r>
              <a:rPr lang="pl-PL" dirty="0">
                <a:solidFill>
                  <a:srgbClr val="002060"/>
                </a:solidFill>
                <a:effectLst>
                  <a:outerShdw blurRad="38100" dist="38100" dir="2700000" algn="tl">
                    <a:srgbClr val="000000">
                      <a:alpha val="43137"/>
                    </a:srgbClr>
                  </a:outerShdw>
                </a:effectLst>
              </a:rPr>
              <a:t> – </a:t>
            </a:r>
            <a:r>
              <a:rPr lang="pl-PL" dirty="0" err="1">
                <a:solidFill>
                  <a:srgbClr val="002060"/>
                </a:solidFill>
                <a:effectLst>
                  <a:outerShdw blurRad="38100" dist="38100" dir="2700000" algn="tl">
                    <a:srgbClr val="000000">
                      <a:alpha val="43137"/>
                    </a:srgbClr>
                  </a:outerShdw>
                </a:effectLst>
              </a:rPr>
              <a:t>statutory</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definition</a:t>
            </a:r>
            <a:endParaRPr lang="en-US" dirty="0"/>
          </a:p>
        </p:txBody>
      </p:sp>
      <p:sp>
        <p:nvSpPr>
          <p:cNvPr id="3" name="Symbol zastępczy zawartości 2">
            <a:extLst>
              <a:ext uri="{FF2B5EF4-FFF2-40B4-BE49-F238E27FC236}">
                <a16:creationId xmlns:a16="http://schemas.microsoft.com/office/drawing/2014/main" id="{01707D59-19D4-E4B4-0F77-0A0A942FDD55}"/>
              </a:ext>
            </a:extLst>
          </p:cNvPr>
          <p:cNvSpPr>
            <a:spLocks noGrp="1"/>
          </p:cNvSpPr>
          <p:nvPr>
            <p:ph idx="1"/>
          </p:nvPr>
        </p:nvSpPr>
        <p:spPr>
          <a:xfrm>
            <a:off x="838200" y="1825625"/>
            <a:ext cx="10515600" cy="4850478"/>
          </a:xfrm>
        </p:spPr>
        <p:txBody>
          <a:bodyPr>
            <a:normAutofit/>
          </a:bodyPr>
          <a:lstStyle/>
          <a:p>
            <a:r>
              <a:rPr lang="en-US" noProof="0" dirty="0">
                <a:solidFill>
                  <a:srgbClr val="002060"/>
                </a:solidFill>
                <a:effectLst>
                  <a:outerShdw blurRad="38100" dist="38100" dir="2700000" algn="tl">
                    <a:srgbClr val="000000">
                      <a:alpha val="43137"/>
                    </a:srgbClr>
                  </a:outerShdw>
                </a:effectLst>
              </a:rPr>
              <a:t>If a term is </a:t>
            </a:r>
            <a:r>
              <a:rPr lang="en-US" b="1" noProof="0" dirty="0">
                <a:solidFill>
                  <a:srgbClr val="FF0000"/>
                </a:solidFill>
                <a:effectLst>
                  <a:outerShdw blurRad="38100" dist="38100" dir="2700000" algn="tl">
                    <a:srgbClr val="000000">
                      <a:alpha val="43137"/>
                    </a:srgbClr>
                  </a:outerShdw>
                </a:effectLst>
              </a:rPr>
              <a:t>defined by the statute </a:t>
            </a:r>
            <a:r>
              <a:rPr lang="en-US" noProof="0" dirty="0">
                <a:solidFill>
                  <a:srgbClr val="002060"/>
                </a:solidFill>
                <a:effectLst>
                  <a:outerShdw blurRad="38100" dist="38100" dir="2700000" algn="tl">
                    <a:srgbClr val="000000">
                      <a:alpha val="43137"/>
                    </a:srgbClr>
                  </a:outerShdw>
                </a:effectLst>
              </a:rPr>
              <a:t>(</a:t>
            </a:r>
            <a:r>
              <a:rPr lang="pl-PL" noProof="0" dirty="0">
                <a:solidFill>
                  <a:srgbClr val="002060"/>
                </a:solidFill>
                <a:effectLst>
                  <a:outerShdw blurRad="38100" dist="38100" dir="2700000" algn="tl">
                    <a:srgbClr val="000000">
                      <a:alpha val="43137"/>
                    </a:srgbClr>
                  </a:outerShdw>
                </a:effectLst>
              </a:rPr>
              <a:t>„b</a:t>
            </a:r>
            <a:r>
              <a:rPr lang="en-US" noProof="0" dirty="0">
                <a:solidFill>
                  <a:srgbClr val="002060"/>
                </a:solidFill>
                <a:effectLst>
                  <a:outerShdw blurRad="38100" dist="38100" dir="2700000" algn="tl">
                    <a:srgbClr val="000000">
                      <a:alpha val="43137"/>
                    </a:srgbClr>
                  </a:outerShdw>
                </a:effectLst>
              </a:rPr>
              <a:t>uilding</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taxpayer</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enterprise</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the interpret</a:t>
            </a:r>
            <a:r>
              <a:rPr lang="pl-PL" noProof="0" dirty="0">
                <a:solidFill>
                  <a:srgbClr val="002060"/>
                </a:solidFill>
                <a:effectLst>
                  <a:outerShdw blurRad="38100" dist="38100" dir="2700000" algn="tl">
                    <a:srgbClr val="000000">
                      <a:alpha val="43137"/>
                    </a:srgbClr>
                  </a:outerShdw>
                </a:effectLst>
              </a:rPr>
              <a:t>e</a:t>
            </a:r>
            <a:r>
              <a:rPr lang="en-US" noProof="0" dirty="0">
                <a:solidFill>
                  <a:srgbClr val="002060"/>
                </a:solidFill>
                <a:effectLst>
                  <a:outerShdw blurRad="38100" dist="38100" dir="2700000" algn="tl">
                    <a:srgbClr val="000000">
                      <a:alpha val="43137"/>
                    </a:srgbClr>
                  </a:outerShdw>
                </a:effectLst>
              </a:rPr>
              <a:t>r must use it</a:t>
            </a:r>
          </a:p>
          <a:p>
            <a:r>
              <a:rPr lang="en-US" noProof="0" dirty="0">
                <a:solidFill>
                  <a:srgbClr val="002060"/>
                </a:solidFill>
                <a:effectLst>
                  <a:outerShdw blurRad="38100" dist="38100" dir="2700000" algn="tl">
                    <a:srgbClr val="000000">
                      <a:alpha val="43137"/>
                    </a:srgbClr>
                  </a:outerShdw>
                </a:effectLst>
              </a:rPr>
              <a:t>If there is room for interpretation (expansive/narrowing)</a:t>
            </a:r>
            <a:r>
              <a:rPr lang="pl-PL" noProof="0" dirty="0">
                <a:solidFill>
                  <a:srgbClr val="002060"/>
                </a:solidFill>
                <a:effectLst>
                  <a:outerShdw blurRad="38100" dist="38100" dir="2700000" algn="tl">
                    <a:srgbClr val="000000">
                      <a:alpha val="43137"/>
                    </a:srgbClr>
                  </a:outerShdw>
                </a:effectLst>
              </a:rPr>
              <a:t>,</a:t>
            </a:r>
            <a:r>
              <a:rPr lang="en-US" noProof="0" dirty="0">
                <a:solidFill>
                  <a:srgbClr val="002060"/>
                </a:solidFill>
                <a:effectLst>
                  <a:outerShdw blurRad="38100" dist="38100" dir="2700000" algn="tl">
                    <a:srgbClr val="000000">
                      <a:alpha val="43137"/>
                    </a:srgbClr>
                  </a:outerShdw>
                </a:effectLst>
              </a:rPr>
              <a:t> the adopted meaning has to be used consistently throughout the text</a:t>
            </a:r>
            <a:endParaRPr lang="pl-PL" noProof="0" dirty="0">
              <a:solidFill>
                <a:srgbClr val="002060"/>
              </a:solidFill>
              <a:effectLst>
                <a:outerShdw blurRad="38100" dist="38100" dir="2700000" algn="tl">
                  <a:srgbClr val="000000">
                    <a:alpha val="43137"/>
                  </a:srgbClr>
                </a:outerShdw>
              </a:effectLst>
            </a:endParaRPr>
          </a:p>
          <a:p>
            <a:r>
              <a:rPr lang="en-US" i="1" dirty="0">
                <a:solidFill>
                  <a:srgbClr val="0070C0"/>
                </a:solidFill>
                <a:effectLst>
                  <a:outerShdw blurRad="38100" dist="38100" dir="2700000" algn="tl">
                    <a:srgbClr val="000000">
                      <a:alpha val="43137"/>
                    </a:srgbClr>
                  </a:outerShdw>
                </a:effectLst>
              </a:rPr>
              <a:t>(1) ‘</a:t>
            </a:r>
            <a:r>
              <a:rPr lang="en-US" b="1" i="1" dirty="0">
                <a:solidFill>
                  <a:srgbClr val="FF0000"/>
                </a:solidFill>
                <a:effectLst>
                  <a:outerShdw blurRad="38100" dist="38100" dir="2700000" algn="tl">
                    <a:srgbClr val="000000">
                      <a:alpha val="43137"/>
                    </a:srgbClr>
                  </a:outerShdw>
                </a:effectLst>
              </a:rPr>
              <a:t>AI system</a:t>
            </a:r>
            <a:r>
              <a:rPr lang="en-US" i="1" dirty="0">
                <a:solidFill>
                  <a:srgbClr val="0070C0"/>
                </a:solidFill>
                <a:effectLst>
                  <a:outerShdw blurRad="38100" dist="38100" dir="2700000" algn="tl">
                    <a:srgbClr val="000000">
                      <a:alpha val="43137"/>
                    </a:srgbClr>
                  </a:outerShdw>
                </a:effectLst>
              </a:rPr>
              <a:t>’ means a </a:t>
            </a:r>
            <a:r>
              <a:rPr lang="en-US" b="1" i="1" dirty="0">
                <a:solidFill>
                  <a:srgbClr val="002060"/>
                </a:solidFill>
                <a:effectLst>
                  <a:outerShdw blurRad="38100" dist="38100" dir="2700000" algn="tl">
                    <a:srgbClr val="000000">
                      <a:alpha val="43137"/>
                    </a:srgbClr>
                  </a:outerShdw>
                </a:effectLst>
              </a:rPr>
              <a:t>machine-based</a:t>
            </a:r>
            <a:r>
              <a:rPr lang="en-US" b="1" i="1" dirty="0">
                <a:solidFill>
                  <a:srgbClr val="0070C0"/>
                </a:solidFill>
                <a:effectLst>
                  <a:outerShdw blurRad="38100" dist="38100" dir="2700000" algn="tl">
                    <a:srgbClr val="000000">
                      <a:alpha val="43137"/>
                    </a:srgbClr>
                  </a:outerShdw>
                </a:effectLst>
              </a:rPr>
              <a:t> system </a:t>
            </a:r>
            <a:r>
              <a:rPr lang="en-US" i="1" dirty="0">
                <a:solidFill>
                  <a:srgbClr val="0070C0"/>
                </a:solidFill>
                <a:effectLst>
                  <a:outerShdw blurRad="38100" dist="38100" dir="2700000" algn="tl">
                    <a:srgbClr val="000000">
                      <a:alpha val="43137"/>
                    </a:srgbClr>
                  </a:outerShdw>
                </a:effectLst>
              </a:rPr>
              <a:t>that is designed to operate with varying levels of </a:t>
            </a:r>
            <a:r>
              <a:rPr lang="en-US" b="1" i="1" dirty="0">
                <a:solidFill>
                  <a:srgbClr val="002060"/>
                </a:solidFill>
                <a:effectLst>
                  <a:outerShdw blurRad="38100" dist="38100" dir="2700000" algn="tl">
                    <a:srgbClr val="000000">
                      <a:alpha val="43137"/>
                    </a:srgbClr>
                  </a:outerShdw>
                </a:effectLst>
              </a:rPr>
              <a:t>autonomy</a:t>
            </a:r>
            <a:r>
              <a:rPr lang="en-US" i="1" dirty="0">
                <a:solidFill>
                  <a:srgbClr val="0070C0"/>
                </a:solidFill>
                <a:effectLst>
                  <a:outerShdw blurRad="38100" dist="38100" dir="2700000" algn="tl">
                    <a:srgbClr val="000000">
                      <a:alpha val="43137"/>
                    </a:srgbClr>
                  </a:outerShdw>
                </a:effectLst>
              </a:rPr>
              <a:t> and that may exhibit </a:t>
            </a:r>
            <a:r>
              <a:rPr lang="en-US" b="1" i="1" dirty="0">
                <a:solidFill>
                  <a:srgbClr val="0070C0"/>
                </a:solidFill>
                <a:effectLst>
                  <a:outerShdw blurRad="38100" dist="38100" dir="2700000" algn="tl">
                    <a:srgbClr val="000000">
                      <a:alpha val="43137"/>
                    </a:srgbClr>
                  </a:outerShdw>
                </a:effectLst>
              </a:rPr>
              <a:t>adaptiveness</a:t>
            </a:r>
            <a:r>
              <a:rPr lang="en-US" i="1" dirty="0">
                <a:solidFill>
                  <a:srgbClr val="0070C0"/>
                </a:solidFill>
                <a:effectLst>
                  <a:outerShdw blurRad="38100" dist="38100" dir="2700000" algn="tl">
                    <a:srgbClr val="000000">
                      <a:alpha val="43137"/>
                    </a:srgbClr>
                  </a:outerShdw>
                </a:effectLst>
              </a:rPr>
              <a:t> after deployment, and that, for explicit or implicit objectives, </a:t>
            </a:r>
            <a:r>
              <a:rPr lang="en-US" b="1" i="1" dirty="0">
                <a:solidFill>
                  <a:srgbClr val="0070C0"/>
                </a:solidFill>
                <a:effectLst>
                  <a:outerShdw blurRad="38100" dist="38100" dir="2700000" algn="tl">
                    <a:srgbClr val="000000">
                      <a:alpha val="43137"/>
                    </a:srgbClr>
                  </a:outerShdw>
                </a:effectLst>
              </a:rPr>
              <a:t>infers</a:t>
            </a:r>
            <a:r>
              <a:rPr lang="en-US" i="1" dirty="0">
                <a:solidFill>
                  <a:srgbClr val="0070C0"/>
                </a:solidFill>
                <a:effectLst>
                  <a:outerShdw blurRad="38100" dist="38100" dir="2700000" algn="tl">
                    <a:srgbClr val="000000">
                      <a:alpha val="43137"/>
                    </a:srgbClr>
                  </a:outerShdw>
                </a:effectLst>
              </a:rPr>
              <a:t>, from the input it receives, </a:t>
            </a:r>
            <a:r>
              <a:rPr lang="en-US" b="1" i="1" dirty="0">
                <a:solidFill>
                  <a:srgbClr val="0070C0"/>
                </a:solidFill>
                <a:effectLst>
                  <a:outerShdw blurRad="38100" dist="38100" dir="2700000" algn="tl">
                    <a:srgbClr val="000000">
                      <a:alpha val="43137"/>
                    </a:srgbClr>
                  </a:outerShdw>
                </a:effectLst>
              </a:rPr>
              <a:t>how to generate </a:t>
            </a:r>
            <a:r>
              <a:rPr lang="en-US" b="1" i="1" dirty="0">
                <a:solidFill>
                  <a:srgbClr val="002060"/>
                </a:solidFill>
                <a:effectLst>
                  <a:outerShdw blurRad="38100" dist="38100" dir="2700000" algn="tl">
                    <a:srgbClr val="000000">
                      <a:alpha val="43137"/>
                    </a:srgbClr>
                  </a:outerShdw>
                </a:effectLst>
              </a:rPr>
              <a:t>outputs such as </a:t>
            </a:r>
            <a:r>
              <a:rPr lang="en-US" b="1" i="1" dirty="0">
                <a:solidFill>
                  <a:srgbClr val="0070C0"/>
                </a:solidFill>
                <a:effectLst>
                  <a:outerShdw blurRad="38100" dist="38100" dir="2700000" algn="tl">
                    <a:srgbClr val="000000">
                      <a:alpha val="43137"/>
                    </a:srgbClr>
                  </a:outerShdw>
                </a:effectLst>
              </a:rPr>
              <a:t>predictions, content, recommendations, or decisions </a:t>
            </a:r>
            <a:r>
              <a:rPr lang="en-US" i="1" dirty="0">
                <a:solidFill>
                  <a:srgbClr val="0070C0"/>
                </a:solidFill>
                <a:effectLst>
                  <a:outerShdw blurRad="38100" dist="38100" dir="2700000" algn="tl">
                    <a:srgbClr val="000000">
                      <a:alpha val="43137"/>
                    </a:srgbClr>
                  </a:outerShdw>
                </a:effectLst>
              </a:rPr>
              <a:t>that can </a:t>
            </a:r>
            <a:r>
              <a:rPr lang="en-US" b="1" i="1" dirty="0">
                <a:solidFill>
                  <a:srgbClr val="002060"/>
                </a:solidFill>
                <a:effectLst>
                  <a:outerShdw blurRad="38100" dist="38100" dir="2700000" algn="tl">
                    <a:srgbClr val="000000">
                      <a:alpha val="43137"/>
                    </a:srgbClr>
                  </a:outerShdw>
                </a:effectLst>
              </a:rPr>
              <a:t>influence</a:t>
            </a:r>
            <a:r>
              <a:rPr lang="en-US" i="1" dirty="0">
                <a:solidFill>
                  <a:srgbClr val="002060"/>
                </a:solidFill>
                <a:effectLst>
                  <a:outerShdw blurRad="38100" dist="38100" dir="2700000" algn="tl">
                    <a:srgbClr val="000000">
                      <a:alpha val="43137"/>
                    </a:srgbClr>
                  </a:outerShdw>
                </a:effectLst>
              </a:rPr>
              <a:t> p</a:t>
            </a:r>
            <a:r>
              <a:rPr lang="en-US" i="1" dirty="0">
                <a:solidFill>
                  <a:srgbClr val="0070C0"/>
                </a:solidFill>
                <a:effectLst>
                  <a:outerShdw blurRad="38100" dist="38100" dir="2700000" algn="tl">
                    <a:srgbClr val="000000">
                      <a:alpha val="43137"/>
                    </a:srgbClr>
                  </a:outerShdw>
                </a:effectLst>
              </a:rPr>
              <a:t>hysical or virtual environments</a:t>
            </a:r>
            <a:r>
              <a:rPr lang="pl-PL" i="1" dirty="0">
                <a:solidFill>
                  <a:srgbClr val="0070C0"/>
                </a:solidFill>
                <a:effectLst>
                  <a:outerShdw blurRad="38100" dist="38100" dir="2700000" algn="tl">
                    <a:srgbClr val="000000">
                      <a:alpha val="43137"/>
                    </a:srgbClr>
                  </a:outerShdw>
                </a:effectLst>
              </a:rPr>
              <a:t> (reg. 2024/1689, the AI </a:t>
            </a:r>
            <a:r>
              <a:rPr lang="pl-PL" i="1" dirty="0" err="1">
                <a:solidFill>
                  <a:srgbClr val="0070C0"/>
                </a:solidFill>
                <a:effectLst>
                  <a:outerShdw blurRad="38100" dist="38100" dir="2700000" algn="tl">
                    <a:srgbClr val="000000">
                      <a:alpha val="43137"/>
                    </a:srgbClr>
                  </a:outerShdw>
                </a:effectLst>
              </a:rPr>
              <a:t>Act</a:t>
            </a:r>
            <a:r>
              <a:rPr lang="pl-PL" i="1" dirty="0">
                <a:solidFill>
                  <a:srgbClr val="0070C0"/>
                </a:solidFill>
                <a:effectLst>
                  <a:outerShdw blurRad="38100" dist="38100" dir="2700000" algn="tl">
                    <a:srgbClr val="000000">
                      <a:alpha val="43137"/>
                    </a:srgbClr>
                  </a:outerShdw>
                </a:effectLst>
              </a:rPr>
              <a:t>)</a:t>
            </a:r>
            <a:endParaRPr lang="en-US" i="1" noProof="0"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1932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3A788E0-6F9D-D5FB-10F9-1BF5B44A6256}"/>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Interpretation</a:t>
            </a:r>
            <a:r>
              <a:rPr lang="pl-PL" dirty="0">
                <a:solidFill>
                  <a:srgbClr val="002060"/>
                </a:solidFill>
                <a:effectLst>
                  <a:outerShdw blurRad="38100" dist="38100" dir="2700000" algn="tl">
                    <a:srgbClr val="000000">
                      <a:alpha val="43137"/>
                    </a:srgbClr>
                  </a:outerShdw>
                </a:effectLst>
              </a:rPr>
              <a:t> – </a:t>
            </a:r>
            <a:r>
              <a:rPr lang="pl-PL" dirty="0" err="1">
                <a:solidFill>
                  <a:srgbClr val="002060"/>
                </a:solidFill>
                <a:effectLst>
                  <a:outerShdw blurRad="38100" dist="38100" dir="2700000" algn="tl">
                    <a:srgbClr val="000000">
                      <a:alpha val="43137"/>
                    </a:srgbClr>
                  </a:outerShdw>
                </a:effectLst>
              </a:rPr>
              <a:t>statutory</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definition</a:t>
            </a:r>
            <a:endParaRPr lang="en-US" dirty="0"/>
          </a:p>
        </p:txBody>
      </p:sp>
      <p:sp>
        <p:nvSpPr>
          <p:cNvPr id="3" name="Symbol zastępczy zawartości 2">
            <a:extLst>
              <a:ext uri="{FF2B5EF4-FFF2-40B4-BE49-F238E27FC236}">
                <a16:creationId xmlns:a16="http://schemas.microsoft.com/office/drawing/2014/main" id="{C5922B79-BA49-12E5-85E1-5F84B3217E0A}"/>
              </a:ext>
            </a:extLst>
          </p:cNvPr>
          <p:cNvSpPr>
            <a:spLocks noGrp="1"/>
          </p:cNvSpPr>
          <p:nvPr>
            <p:ph idx="1"/>
          </p:nvPr>
        </p:nvSpPr>
        <p:spPr>
          <a:xfrm>
            <a:off x="624840" y="2074598"/>
            <a:ext cx="10515600" cy="4434357"/>
          </a:xfrm>
        </p:spPr>
        <p:txBody>
          <a:bodyPr>
            <a:normAutofit lnSpcReduction="10000"/>
          </a:bodyPr>
          <a:lstStyle/>
          <a:p>
            <a:r>
              <a:rPr lang="pl-PL" sz="3200" i="1" dirty="0" err="1">
                <a:solidFill>
                  <a:srgbClr val="0070C0"/>
                </a:solidFill>
                <a:effectLst>
                  <a:outerShdw blurRad="38100" dist="38100" dir="2700000" algn="tl">
                    <a:srgbClr val="000000">
                      <a:alpha val="43137"/>
                    </a:srgbClr>
                  </a:outerShdw>
                </a:effectLst>
              </a:rPr>
              <a:t>An</a:t>
            </a:r>
            <a:r>
              <a:rPr lang="pl-PL" sz="3200" i="1" dirty="0">
                <a:solidFill>
                  <a:srgbClr val="0070C0"/>
                </a:solidFill>
                <a:effectLst>
                  <a:outerShdw blurRad="38100" dist="38100" dir="2700000" algn="tl">
                    <a:srgbClr val="000000">
                      <a:alpha val="43137"/>
                    </a:srgbClr>
                  </a:outerShdw>
                </a:effectLst>
              </a:rPr>
              <a:t> </a:t>
            </a:r>
            <a:r>
              <a:rPr lang="pl-PL" sz="3200" i="1" dirty="0" err="1">
                <a:solidFill>
                  <a:srgbClr val="0070C0"/>
                </a:solidFill>
                <a:effectLst>
                  <a:outerShdw blurRad="38100" dist="38100" dir="2700000" algn="tl">
                    <a:srgbClr val="000000">
                      <a:alpha val="43137"/>
                    </a:srgbClr>
                  </a:outerShdw>
                </a:effectLst>
              </a:rPr>
              <a:t>example</a:t>
            </a:r>
            <a:r>
              <a:rPr lang="pl-PL" sz="3200" i="1" dirty="0">
                <a:solidFill>
                  <a:srgbClr val="0070C0"/>
                </a:solidFill>
                <a:effectLst>
                  <a:outerShdw blurRad="38100" dist="38100" dir="2700000" algn="tl">
                    <a:srgbClr val="000000">
                      <a:alpha val="43137"/>
                    </a:srgbClr>
                  </a:outerShdw>
                </a:effectLst>
              </a:rPr>
              <a:t> of a </a:t>
            </a:r>
            <a:r>
              <a:rPr lang="pl-PL" sz="3200" b="1" i="1" dirty="0" err="1">
                <a:solidFill>
                  <a:srgbClr val="FF0000"/>
                </a:solidFill>
                <a:effectLst>
                  <a:outerShdw blurRad="38100" dist="38100" dir="2700000" algn="tl">
                    <a:srgbClr val="000000">
                      <a:alpha val="43137"/>
                    </a:srgbClr>
                  </a:outerShdw>
                </a:effectLst>
              </a:rPr>
              <a:t>statutory</a:t>
            </a:r>
            <a:r>
              <a:rPr lang="pl-PL" sz="3200" b="1" i="1" dirty="0">
                <a:solidFill>
                  <a:srgbClr val="FF0000"/>
                </a:solidFill>
                <a:effectLst>
                  <a:outerShdw blurRad="38100" dist="38100" dir="2700000" algn="tl">
                    <a:srgbClr val="000000">
                      <a:alpha val="43137"/>
                    </a:srgbClr>
                  </a:outerShdw>
                </a:effectLst>
              </a:rPr>
              <a:t> </a:t>
            </a:r>
            <a:r>
              <a:rPr lang="pl-PL" sz="3200" b="1" i="1" dirty="0" err="1">
                <a:solidFill>
                  <a:srgbClr val="FF0000"/>
                </a:solidFill>
                <a:effectLst>
                  <a:outerShdw blurRad="38100" dist="38100" dir="2700000" algn="tl">
                    <a:srgbClr val="000000">
                      <a:alpha val="43137"/>
                    </a:srgbClr>
                  </a:outerShdw>
                </a:effectLst>
              </a:rPr>
              <a:t>definition</a:t>
            </a:r>
            <a:r>
              <a:rPr lang="pl-PL" sz="3200" b="1" i="1" dirty="0">
                <a:solidFill>
                  <a:srgbClr val="FF0000"/>
                </a:solidFill>
                <a:effectLst>
                  <a:outerShdw blurRad="38100" dist="38100" dir="2700000" algn="tl">
                    <a:srgbClr val="000000">
                      <a:alpha val="43137"/>
                    </a:srgbClr>
                  </a:outerShdw>
                </a:effectLst>
              </a:rPr>
              <a:t> </a:t>
            </a:r>
            <a:r>
              <a:rPr lang="pl-PL" sz="3200" i="1" dirty="0">
                <a:solidFill>
                  <a:srgbClr val="0070C0"/>
                </a:solidFill>
                <a:effectLst>
                  <a:outerShdw blurRad="38100" dist="38100" dir="2700000" algn="tl">
                    <a:srgbClr val="000000">
                      <a:alpha val="43137"/>
                    </a:srgbClr>
                  </a:outerShdw>
                </a:effectLst>
              </a:rPr>
              <a:t>from the Radio and </a:t>
            </a:r>
            <a:r>
              <a:rPr lang="pl-PL" sz="3200" i="1" dirty="0" err="1">
                <a:solidFill>
                  <a:srgbClr val="0070C0"/>
                </a:solidFill>
                <a:effectLst>
                  <a:outerShdw blurRad="38100" dist="38100" dir="2700000" algn="tl">
                    <a:srgbClr val="000000">
                      <a:alpha val="43137"/>
                    </a:srgbClr>
                  </a:outerShdw>
                </a:effectLst>
              </a:rPr>
              <a:t>Television</a:t>
            </a:r>
            <a:r>
              <a:rPr lang="pl-PL" sz="3200" i="1" dirty="0">
                <a:solidFill>
                  <a:srgbClr val="0070C0"/>
                </a:solidFill>
                <a:effectLst>
                  <a:outerShdw blurRad="38100" dist="38100" dir="2700000" algn="tl">
                    <a:srgbClr val="000000">
                      <a:alpha val="43137"/>
                    </a:srgbClr>
                  </a:outerShdw>
                </a:effectLst>
              </a:rPr>
              <a:t> </a:t>
            </a:r>
            <a:r>
              <a:rPr lang="pl-PL" sz="3200" i="1" dirty="0" err="1">
                <a:solidFill>
                  <a:srgbClr val="0070C0"/>
                </a:solidFill>
                <a:effectLst>
                  <a:outerShdw blurRad="38100" dist="38100" dir="2700000" algn="tl">
                    <a:srgbClr val="000000">
                      <a:alpha val="43137"/>
                    </a:srgbClr>
                  </a:outerShdw>
                </a:effectLst>
              </a:rPr>
              <a:t>Act</a:t>
            </a:r>
            <a:endParaRPr lang="pl-PL" sz="3200" i="1" dirty="0">
              <a:solidFill>
                <a:srgbClr val="0070C0"/>
              </a:solidFill>
              <a:effectLst>
                <a:outerShdw blurRad="38100" dist="38100" dir="2700000" algn="tl">
                  <a:srgbClr val="000000">
                    <a:alpha val="43137"/>
                  </a:srgbClr>
                </a:outerShdw>
              </a:effectLst>
            </a:endParaRPr>
          </a:p>
          <a:p>
            <a:r>
              <a:rPr lang="pl-PL" sz="3200" i="1" dirty="0">
                <a:solidFill>
                  <a:srgbClr val="0070C0"/>
                </a:solidFill>
                <a:effectLst>
                  <a:outerShdw blurRad="38100" dist="38100" dir="2700000" algn="tl">
                    <a:srgbClr val="000000">
                      <a:alpha val="43137"/>
                    </a:srgbClr>
                  </a:outerShdw>
                </a:effectLst>
              </a:rPr>
              <a:t>„</a:t>
            </a:r>
            <a:r>
              <a:rPr lang="pl-PL" sz="3200" b="1" i="1" dirty="0">
                <a:solidFill>
                  <a:srgbClr val="FF0000"/>
                </a:solidFill>
                <a:effectLst>
                  <a:outerShdw blurRad="38100" dist="38100" dir="2700000" algn="tl">
                    <a:srgbClr val="000000">
                      <a:alpha val="43137"/>
                    </a:srgbClr>
                  </a:outerShdw>
                </a:effectLst>
              </a:rPr>
              <a:t>A</a:t>
            </a:r>
            <a:r>
              <a:rPr lang="en-US" sz="3200" b="1" i="1" dirty="0">
                <a:solidFill>
                  <a:srgbClr val="FF0000"/>
                </a:solidFill>
                <a:effectLst>
                  <a:outerShdw blurRad="38100" dist="38100" dir="2700000" algn="tl">
                    <a:srgbClr val="000000">
                      <a:alpha val="43137"/>
                    </a:srgbClr>
                  </a:outerShdw>
                </a:effectLst>
              </a:rPr>
              <a:t> hidden commercial message </a:t>
            </a:r>
            <a:r>
              <a:rPr lang="en-US" sz="3200" i="1" dirty="0">
                <a:solidFill>
                  <a:srgbClr val="0070C0"/>
                </a:solidFill>
                <a:effectLst>
                  <a:outerShdw blurRad="38100" dist="38100" dir="2700000" algn="tl">
                    <a:srgbClr val="000000">
                      <a:alpha val="43137"/>
                    </a:srgbClr>
                  </a:outerShdw>
                </a:effectLst>
              </a:rPr>
              <a:t>is the presentation in programs of goods, services, name, company name, trademark or activity of an entrepreneur who is a producer of goods or provides services, if the </a:t>
            </a:r>
            <a:r>
              <a:rPr lang="en-US" sz="3200" b="1" i="1" dirty="0">
                <a:solidFill>
                  <a:srgbClr val="002060"/>
                </a:solidFill>
                <a:effectLst>
                  <a:outerShdw blurRad="38100" dist="38100" dir="2700000" algn="tl">
                    <a:srgbClr val="000000">
                      <a:alpha val="43137"/>
                    </a:srgbClr>
                  </a:outerShdw>
                </a:effectLst>
              </a:rPr>
              <a:t>intention</a:t>
            </a:r>
            <a:r>
              <a:rPr lang="en-US" sz="3200" i="1" dirty="0">
                <a:solidFill>
                  <a:srgbClr val="0070C0"/>
                </a:solidFill>
                <a:effectLst>
                  <a:outerShdw blurRad="38100" dist="38100" dir="2700000" algn="tl">
                    <a:srgbClr val="000000">
                      <a:alpha val="43137"/>
                    </a:srgbClr>
                  </a:outerShdw>
                </a:effectLst>
              </a:rPr>
              <a:t> of the media service provider, in particular related to remuneration or obtaining another </a:t>
            </a:r>
            <a:r>
              <a:rPr lang="en-US" sz="3200" b="1" i="1" dirty="0">
                <a:solidFill>
                  <a:srgbClr val="002060"/>
                </a:solidFill>
                <a:effectLst>
                  <a:outerShdw blurRad="38100" dist="38100" dir="2700000" algn="tl">
                    <a:srgbClr val="000000">
                      <a:alpha val="43137"/>
                    </a:srgbClr>
                  </a:outerShdw>
                </a:effectLst>
              </a:rPr>
              <a:t>benefit</a:t>
            </a:r>
            <a:r>
              <a:rPr lang="en-US" sz="3200" i="1" dirty="0">
                <a:solidFill>
                  <a:srgbClr val="0070C0"/>
                </a:solidFill>
                <a:effectLst>
                  <a:outerShdw blurRad="38100" dist="38100" dir="2700000" algn="tl">
                    <a:srgbClr val="000000">
                      <a:alpha val="43137"/>
                    </a:srgbClr>
                  </a:outerShdw>
                </a:effectLst>
              </a:rPr>
              <a:t>, is to </a:t>
            </a:r>
            <a:r>
              <a:rPr lang="en-US" sz="3200" b="1" i="1" dirty="0">
                <a:solidFill>
                  <a:srgbClr val="002060"/>
                </a:solidFill>
                <a:effectLst>
                  <a:outerShdw blurRad="38100" dist="38100" dir="2700000" algn="tl">
                    <a:srgbClr val="000000">
                      <a:alpha val="43137"/>
                    </a:srgbClr>
                  </a:outerShdw>
                </a:effectLst>
              </a:rPr>
              <a:t>achieve an advertising effect </a:t>
            </a:r>
            <a:r>
              <a:rPr lang="en-US" sz="3200" i="1" dirty="0">
                <a:solidFill>
                  <a:srgbClr val="0070C0"/>
                </a:solidFill>
                <a:effectLst>
                  <a:outerShdw blurRad="38100" dist="38100" dir="2700000" algn="tl">
                    <a:srgbClr val="000000">
                      <a:alpha val="43137"/>
                    </a:srgbClr>
                  </a:outerShdw>
                </a:effectLst>
              </a:rPr>
              <a:t>and it is possible to </a:t>
            </a:r>
            <a:r>
              <a:rPr lang="en-US" sz="3200" b="1" i="1" dirty="0">
                <a:solidFill>
                  <a:srgbClr val="002060"/>
                </a:solidFill>
                <a:effectLst>
                  <a:outerShdw blurRad="38100" dist="38100" dir="2700000" algn="tl">
                    <a:srgbClr val="000000">
                      <a:alpha val="43137"/>
                    </a:srgbClr>
                  </a:outerShdw>
                </a:effectLst>
              </a:rPr>
              <a:t>mislead</a:t>
            </a:r>
            <a:r>
              <a:rPr lang="en-US" sz="3200" i="1" dirty="0">
                <a:solidFill>
                  <a:srgbClr val="0070C0"/>
                </a:solidFill>
                <a:effectLst>
                  <a:outerShdw blurRad="38100" dist="38100" dir="2700000" algn="tl">
                    <a:srgbClr val="000000">
                      <a:alpha val="43137"/>
                    </a:srgbClr>
                  </a:outerShdw>
                </a:effectLst>
              </a:rPr>
              <a:t> the audience as to the nature of the message</a:t>
            </a:r>
            <a:r>
              <a:rPr lang="pl-PL" sz="3200" i="1" dirty="0">
                <a:solidFill>
                  <a:srgbClr val="0070C0"/>
                </a:solidFill>
                <a:effectLst>
                  <a:outerShdw blurRad="38100" dist="38100" dir="2700000" algn="tl">
                    <a:srgbClr val="000000">
                      <a:alpha val="43137"/>
                    </a:srgbClr>
                  </a:outerShdw>
                </a:effectLst>
              </a:rPr>
              <a:t>”;</a:t>
            </a:r>
            <a:endParaRPr lang="en-US" sz="3200" i="1" dirty="0">
              <a:solidFill>
                <a:srgbClr val="0070C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326001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6A4A183-E0CC-BBE5-8A9B-A6C298D127D6}"/>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Interpretation</a:t>
            </a:r>
            <a:endParaRPr lang="en-US" dirty="0"/>
          </a:p>
        </p:txBody>
      </p:sp>
      <p:sp>
        <p:nvSpPr>
          <p:cNvPr id="3" name="Symbol zastępczy zawartości 2">
            <a:extLst>
              <a:ext uri="{FF2B5EF4-FFF2-40B4-BE49-F238E27FC236}">
                <a16:creationId xmlns:a16="http://schemas.microsoft.com/office/drawing/2014/main" id="{49C11A2B-DD39-DE3B-0415-0E98F97595C1}"/>
              </a:ext>
            </a:extLst>
          </p:cNvPr>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rPr>
              <a:t>Preambles</a:t>
            </a:r>
            <a:r>
              <a:rPr lang="en-US"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are</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usually</a:t>
            </a:r>
            <a:r>
              <a:rPr lang="en-US" dirty="0">
                <a:solidFill>
                  <a:srgbClr val="002060"/>
                </a:solidFill>
                <a:effectLst>
                  <a:outerShdw blurRad="38100" dist="38100" dir="2700000" algn="tl">
                    <a:srgbClr val="000000">
                      <a:alpha val="43137"/>
                    </a:srgbClr>
                  </a:outerShdw>
                </a:effectLst>
              </a:rPr>
              <a:t> treated by courts as an integral part of the text, or at the very least, they can be used as an interpretation guideline</a:t>
            </a:r>
          </a:p>
          <a:p>
            <a:r>
              <a:rPr lang="en-US" dirty="0">
                <a:solidFill>
                  <a:srgbClr val="002060"/>
                </a:solidFill>
                <a:effectLst>
                  <a:outerShdw blurRad="38100" dist="38100" dir="2700000" algn="tl">
                    <a:srgbClr val="000000">
                      <a:alpha val="43137"/>
                    </a:srgbClr>
                  </a:outerShdw>
                </a:effectLst>
              </a:rPr>
              <a:t>EU laws (treaties, regulations, directives) contain preambles in which the legislative authorities </a:t>
            </a:r>
            <a:r>
              <a:rPr lang="en-US" b="1" dirty="0">
                <a:solidFill>
                  <a:srgbClr val="002060"/>
                </a:solidFill>
                <a:effectLst>
                  <a:outerShdw blurRad="38100" dist="38100" dir="2700000" algn="tl">
                    <a:srgbClr val="000000">
                      <a:alpha val="43137"/>
                    </a:srgbClr>
                  </a:outerShdw>
                </a:effectLst>
              </a:rPr>
              <a:t>explain the purpose and the rationale </a:t>
            </a:r>
            <a:r>
              <a:rPr lang="en-US" dirty="0">
                <a:solidFill>
                  <a:srgbClr val="002060"/>
                </a:solidFill>
                <a:effectLst>
                  <a:outerShdw blurRad="38100" dist="38100" dir="2700000" algn="tl">
                    <a:srgbClr val="000000">
                      <a:alpha val="43137"/>
                    </a:srgbClr>
                  </a:outerShdw>
                </a:effectLst>
              </a:rPr>
              <a:t>for passing </a:t>
            </a:r>
            <a:r>
              <a:rPr lang="pl-PL" dirty="0" err="1">
                <a:solidFill>
                  <a:srgbClr val="002060"/>
                </a:solidFill>
                <a:effectLst>
                  <a:outerShdw blurRad="38100" dist="38100" dir="2700000" algn="tl">
                    <a:srgbClr val="000000">
                      <a:alpha val="43137"/>
                    </a:srgbClr>
                  </a:outerShdw>
                </a:effectLst>
              </a:rPr>
              <a:t>them</a:t>
            </a:r>
            <a:r>
              <a:rPr lang="en-US" dirty="0">
                <a:solidFill>
                  <a:srgbClr val="002060"/>
                </a:solidFill>
                <a:effectLst>
                  <a:outerShdw blurRad="38100" dist="38100" dir="2700000" algn="tl">
                    <a:srgbClr val="000000">
                      <a:alpha val="43137"/>
                    </a:srgbClr>
                  </a:outerShdw>
                </a:effectLst>
              </a:rPr>
              <a:t>. Preambles are divided into </a:t>
            </a:r>
            <a:r>
              <a:rPr lang="pl-PL" dirty="0" err="1">
                <a:solidFill>
                  <a:srgbClr val="002060"/>
                </a:solidFill>
                <a:effectLst>
                  <a:outerShdw blurRad="38100" dist="38100" dir="2700000" algn="tl">
                    <a:srgbClr val="000000">
                      <a:alpha val="43137"/>
                    </a:srgbClr>
                  </a:outerShdw>
                </a:effectLst>
              </a:rPr>
              <a:t>numbered</a:t>
            </a:r>
            <a:r>
              <a:rPr lang="en-US" dirty="0">
                <a:solidFill>
                  <a:srgbClr val="002060"/>
                </a:solidFill>
                <a:effectLst>
                  <a:outerShdw blurRad="38100" dist="38100" dir="2700000" algn="tl">
                    <a:srgbClr val="000000">
                      <a:alpha val="43137"/>
                    </a:srgbClr>
                  </a:outerShdw>
                </a:effectLst>
              </a:rPr>
              <a:t> recitals.</a:t>
            </a:r>
          </a:p>
          <a:p>
            <a:endParaRPr lang="en-US" dirty="0"/>
          </a:p>
        </p:txBody>
      </p:sp>
    </p:spTree>
    <p:extLst>
      <p:ext uri="{BB962C8B-B14F-4D97-AF65-F5344CB8AC3E}">
        <p14:creationId xmlns:p14="http://schemas.microsoft.com/office/powerpoint/2010/main" val="4213035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3C19497-4546-1D99-4353-A67552E58CA9}"/>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Interpretation</a:t>
            </a:r>
            <a:endParaRPr lang="en-US" dirty="0"/>
          </a:p>
        </p:txBody>
      </p:sp>
      <p:sp>
        <p:nvSpPr>
          <p:cNvPr id="3" name="Symbol zastępczy zawartości 2">
            <a:extLst>
              <a:ext uri="{FF2B5EF4-FFF2-40B4-BE49-F238E27FC236}">
                <a16:creationId xmlns:a16="http://schemas.microsoft.com/office/drawing/2014/main" id="{31A8437E-2A20-6152-C94D-BE624ECA2DEE}"/>
              </a:ext>
            </a:extLst>
          </p:cNvPr>
          <p:cNvSpPr>
            <a:spLocks noGrp="1"/>
          </p:cNvSpPr>
          <p:nvPr>
            <p:ph idx="1"/>
          </p:nvPr>
        </p:nvSpPr>
        <p:spPr/>
        <p:txBody>
          <a:bodyPr/>
          <a:lstStyle/>
          <a:p>
            <a:r>
              <a:rPr lang="pl-PL" b="1" dirty="0" err="1">
                <a:solidFill>
                  <a:srgbClr val="002060"/>
                </a:solidFill>
                <a:effectLst>
                  <a:outerShdw blurRad="38100" dist="38100" dir="2700000" algn="tl">
                    <a:srgbClr val="000000">
                      <a:alpha val="43137"/>
                    </a:srgbClr>
                  </a:outerShdw>
                </a:effectLst>
              </a:rPr>
              <a:t>Often</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used</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expressions</a:t>
            </a:r>
            <a:r>
              <a:rPr lang="pl-PL" b="1" dirty="0">
                <a:solidFill>
                  <a:srgbClr val="002060"/>
                </a:solidFill>
                <a:effectLst>
                  <a:outerShdw blurRad="38100" dist="38100" dir="2700000" algn="tl">
                    <a:srgbClr val="000000">
                      <a:alpha val="43137"/>
                    </a:srgbClr>
                  </a:outerShdw>
                </a:effectLst>
              </a:rPr>
              <a:t>:</a:t>
            </a:r>
          </a:p>
          <a:p>
            <a:r>
              <a:rPr lang="en-US" b="1" dirty="0">
                <a:solidFill>
                  <a:srgbClr val="FF0000"/>
                </a:solidFill>
                <a:effectLst>
                  <a:outerShdw blurRad="38100" dist="38100" dir="2700000" algn="tl">
                    <a:srgbClr val="000000">
                      <a:alpha val="43137"/>
                    </a:srgbClr>
                  </a:outerShdw>
                </a:effectLst>
              </a:rPr>
              <a:t>Bona fide </a:t>
            </a:r>
            <a:r>
              <a:rPr lang="en-US" dirty="0">
                <a:solidFill>
                  <a:srgbClr val="002060"/>
                </a:solidFill>
                <a:effectLst>
                  <a:outerShdw blurRad="38100" dist="38100" dir="2700000" algn="tl">
                    <a:srgbClr val="000000">
                      <a:alpha val="43137"/>
                    </a:srgbClr>
                  </a:outerShdw>
                </a:effectLst>
              </a:rPr>
              <a:t>– In </a:t>
            </a:r>
            <a:r>
              <a:rPr lang="en-US" b="1" dirty="0">
                <a:solidFill>
                  <a:srgbClr val="002060"/>
                </a:solidFill>
                <a:effectLst>
                  <a:outerShdw blurRad="38100" dist="38100" dir="2700000" algn="tl">
                    <a:srgbClr val="000000">
                      <a:alpha val="43137"/>
                    </a:srgbClr>
                  </a:outerShdw>
                </a:effectLst>
              </a:rPr>
              <a:t>good faith</a:t>
            </a:r>
            <a:r>
              <a:rPr lang="pl-PL" b="1" dirty="0">
                <a:solidFill>
                  <a:srgbClr val="002060"/>
                </a:solidFill>
                <a:effectLst>
                  <a:outerShdw blurRad="38100" dist="38100" dir="2700000" algn="tl">
                    <a:srgbClr val="000000">
                      <a:alpha val="43137"/>
                    </a:srgbClr>
                  </a:outerShdw>
                </a:effectLst>
              </a:rPr>
              <a:t> (with </a:t>
            </a:r>
            <a:r>
              <a:rPr lang="pl-PL" b="1" dirty="0" err="1">
                <a:solidFill>
                  <a:srgbClr val="002060"/>
                </a:solidFill>
                <a:effectLst>
                  <a:outerShdw blurRad="38100" dist="38100" dir="2700000" algn="tl">
                    <a:srgbClr val="000000">
                      <a:alpha val="43137"/>
                    </a:srgbClr>
                  </a:outerShdw>
                </a:effectLst>
              </a:rPr>
              <a:t>good</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intention</a:t>
            </a:r>
            <a:r>
              <a:rPr lang="pl-PL" b="1" dirty="0">
                <a:solidFill>
                  <a:srgbClr val="002060"/>
                </a:solidFill>
                <a:effectLst>
                  <a:outerShdw blurRad="38100" dist="38100" dir="2700000" algn="tl">
                    <a:srgbClr val="000000">
                      <a:alpha val="43137"/>
                    </a:srgbClr>
                  </a:outerShdw>
                </a:effectLst>
              </a:rPr>
              <a:t>)</a:t>
            </a:r>
            <a:endParaRPr lang="en-US" dirty="0">
              <a:solidFill>
                <a:srgbClr val="002060"/>
              </a:solidFill>
              <a:effectLst>
                <a:outerShdw blurRad="38100" dist="38100" dir="2700000" algn="tl">
                  <a:srgbClr val="000000">
                    <a:alpha val="43137"/>
                  </a:srgbClr>
                </a:outerShdw>
              </a:effectLst>
            </a:endParaRPr>
          </a:p>
          <a:p>
            <a:r>
              <a:rPr lang="en-US" b="1" dirty="0">
                <a:solidFill>
                  <a:srgbClr val="FF0000"/>
                </a:solidFill>
                <a:effectLst>
                  <a:outerShdw blurRad="38100" dist="38100" dir="2700000" algn="tl">
                    <a:srgbClr val="000000">
                      <a:alpha val="43137"/>
                    </a:srgbClr>
                  </a:outerShdw>
                </a:effectLst>
              </a:rPr>
              <a:t>Legal presumption </a:t>
            </a:r>
            <a:r>
              <a:rPr lang="en-US" dirty="0">
                <a:solidFill>
                  <a:srgbClr val="002060"/>
                </a:solidFill>
                <a:effectLst>
                  <a:outerShdw blurRad="38100" dist="38100" dir="2700000" algn="tl">
                    <a:srgbClr val="000000">
                      <a:alpha val="43137"/>
                    </a:srgbClr>
                  </a:outerShdw>
                </a:effectLst>
              </a:rPr>
              <a:t>– in contrast to </a:t>
            </a:r>
            <a:r>
              <a:rPr lang="en-US" b="1" dirty="0">
                <a:solidFill>
                  <a:srgbClr val="FF0000"/>
                </a:solidFill>
                <a:effectLst>
                  <a:outerShdw blurRad="38100" dist="38100" dir="2700000" algn="tl">
                    <a:srgbClr val="000000">
                      <a:alpha val="43137"/>
                    </a:srgbClr>
                  </a:outerShdw>
                </a:effectLst>
              </a:rPr>
              <a:t>factual presumption</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based on logic, it is </a:t>
            </a:r>
            <a:r>
              <a:rPr lang="en-US" b="1" dirty="0">
                <a:solidFill>
                  <a:srgbClr val="FF0000"/>
                </a:solidFill>
                <a:effectLst>
                  <a:outerShdw blurRad="38100" dist="38100" dir="2700000" algn="tl">
                    <a:srgbClr val="000000">
                      <a:alpha val="43137"/>
                    </a:srgbClr>
                  </a:outerShdw>
                </a:effectLst>
              </a:rPr>
              <a:t>required by the law</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dirty="0" err="1">
                <a:solidFill>
                  <a:srgbClr val="002060"/>
                </a:solidFill>
                <a:effectLst>
                  <a:outerShdw blurRad="38100" dist="38100" dir="2700000" algn="tl">
                    <a:srgbClr val="000000">
                      <a:alpha val="43137"/>
                    </a:srgbClr>
                  </a:outerShdw>
                </a:effectLst>
              </a:rPr>
              <a:t>An</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example</a:t>
            </a:r>
            <a:r>
              <a:rPr lang="pl-PL" dirty="0">
                <a:solidFill>
                  <a:srgbClr val="002060"/>
                </a:solidFill>
                <a:effectLst>
                  <a:outerShdw blurRad="38100" dist="38100" dir="2700000" algn="tl">
                    <a:srgbClr val="000000">
                      <a:alpha val="43137"/>
                    </a:srgbClr>
                  </a:outerShdw>
                </a:effectLst>
              </a:rPr>
              <a:t> of </a:t>
            </a:r>
            <a:r>
              <a:rPr lang="pl-PL" b="1" dirty="0">
                <a:solidFill>
                  <a:srgbClr val="FF0000"/>
                </a:solidFill>
                <a:effectLst>
                  <a:outerShdw blurRad="38100" dist="38100" dir="2700000" algn="tl">
                    <a:srgbClr val="000000">
                      <a:alpha val="43137"/>
                    </a:srgbClr>
                  </a:outerShdw>
                </a:effectLst>
              </a:rPr>
              <a:t>a </a:t>
            </a:r>
            <a:r>
              <a:rPr lang="pl-PL" b="1" dirty="0" err="1">
                <a:solidFill>
                  <a:srgbClr val="FF0000"/>
                </a:solidFill>
                <a:effectLst>
                  <a:outerShdw blurRad="38100" dist="38100" dir="2700000" algn="tl">
                    <a:srgbClr val="000000">
                      <a:alpha val="43137"/>
                    </a:srgbClr>
                  </a:outerShdw>
                </a:effectLst>
              </a:rPr>
              <a:t>legal</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presumption</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 Polish family law presumes that if a woman gets pregnant within 300 days of a divorce, her divorced husband is the father of the child. A presumption can be rebutted by proof to the contrary</a:t>
            </a:r>
            <a:r>
              <a:rPr lang="pl-PL" dirty="0">
                <a:solidFill>
                  <a:srgbClr val="002060"/>
                </a:solidFill>
                <a:effectLst>
                  <a:outerShdw blurRad="38100" dist="38100" dir="2700000" algn="tl">
                    <a:srgbClr val="000000">
                      <a:alpha val="43137"/>
                    </a:srgbClr>
                  </a:outerShdw>
                </a:effectLst>
              </a:rPr>
              <a:t>—a </a:t>
            </a:r>
            <a:r>
              <a:rPr lang="pl-PL" b="1" dirty="0" err="1">
                <a:solidFill>
                  <a:srgbClr val="FF0000"/>
                </a:solidFill>
                <a:effectLst>
                  <a:outerShdw blurRad="38100" dist="38100" dir="2700000" algn="tl">
                    <a:srgbClr val="000000">
                      <a:alpha val="43137"/>
                    </a:srgbClr>
                  </a:outerShdw>
                </a:effectLst>
              </a:rPr>
              <a:t>factual</a:t>
            </a:r>
            <a:r>
              <a:rPr lang="en-US" b="1" dirty="0">
                <a:solidFill>
                  <a:srgbClr val="FF0000"/>
                </a:solidFill>
                <a:effectLst>
                  <a:outerShdw blurRad="38100" dist="38100" dir="2700000" algn="tl">
                    <a:srgbClr val="000000">
                      <a:alpha val="43137"/>
                    </a:srgbClr>
                  </a:outerShdw>
                </a:effectLst>
              </a:rPr>
              <a:t> presumption – smoking gun</a:t>
            </a:r>
            <a:r>
              <a:rPr lang="en-US"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2647267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54D7209-9772-687B-FB06-EEEAB3FA3F9A}"/>
              </a:ext>
            </a:extLst>
          </p:cNvPr>
          <p:cNvSpPr>
            <a:spLocks noGrp="1"/>
          </p:cNvSpPr>
          <p:nvPr>
            <p:ph type="title"/>
          </p:nvPr>
        </p:nvSpPr>
        <p:spPr/>
        <p:txBody>
          <a:bodyPr>
            <a:normAutofit/>
          </a:bodyPr>
          <a:lstStyle/>
          <a:p>
            <a:r>
              <a:rPr lang="pl-PL" sz="3600" dirty="0">
                <a:solidFill>
                  <a:srgbClr val="FF0000"/>
                </a:solidFill>
                <a:effectLst>
                  <a:outerShdw blurRad="38100" dist="38100" dir="2700000" algn="tl">
                    <a:srgbClr val="000000">
                      <a:alpha val="43137"/>
                    </a:srgbClr>
                  </a:outerShdw>
                </a:effectLst>
              </a:rPr>
              <a:t>Ancient (Roman) principles of interpretation of law</a:t>
            </a:r>
            <a:endParaRPr lang="en-US" sz="3600"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CA64B335-3B8D-A753-168E-BD63009B84D1}"/>
              </a:ext>
            </a:extLst>
          </p:cNvPr>
          <p:cNvSpPr>
            <a:spLocks noGrp="1"/>
          </p:cNvSpPr>
          <p:nvPr>
            <p:ph idx="1"/>
          </p:nvPr>
        </p:nvSpPr>
        <p:spPr>
          <a:xfrm>
            <a:off x="838200" y="1825624"/>
            <a:ext cx="10515600" cy="5032376"/>
          </a:xfrm>
        </p:spPr>
        <p:txBody>
          <a:bodyPr>
            <a:normAutofit/>
          </a:bodyPr>
          <a:lstStyle/>
          <a:p>
            <a:r>
              <a:rPr lang="en-US" b="1" noProof="0" dirty="0">
                <a:solidFill>
                  <a:srgbClr val="FF0000"/>
                </a:solidFill>
                <a:effectLst>
                  <a:outerShdw blurRad="38100" dist="38100" dir="2700000" algn="tl">
                    <a:srgbClr val="000000">
                      <a:alpha val="43137"/>
                    </a:srgbClr>
                  </a:outerShdw>
                </a:effectLst>
              </a:rPr>
              <a:t>A higher-ranking law repeals a lower-ranking one (</a:t>
            </a:r>
            <a:r>
              <a:rPr lang="en-US" noProof="0" dirty="0">
                <a:solidFill>
                  <a:srgbClr val="002060"/>
                </a:solidFill>
                <a:effectLst>
                  <a:outerShdw blurRad="38100" dist="38100" dir="2700000" algn="tl">
                    <a:srgbClr val="000000">
                      <a:alpha val="43137"/>
                    </a:srgbClr>
                  </a:outerShdw>
                </a:effectLst>
              </a:rPr>
              <a:t>Latin maxim: </a:t>
            </a:r>
            <a:r>
              <a:rPr lang="en-US" i="1" noProof="0" dirty="0">
                <a:solidFill>
                  <a:srgbClr val="002060"/>
                </a:solidFill>
                <a:effectLst>
                  <a:outerShdw blurRad="38100" dist="38100" dir="2700000" algn="tl">
                    <a:srgbClr val="000000">
                      <a:alpha val="43137"/>
                    </a:srgbClr>
                  </a:outerShdw>
                </a:effectLst>
              </a:rPr>
              <a:t>Lex superior derogat legi inferiori</a:t>
            </a:r>
            <a:r>
              <a:rPr lang="en-US" noProof="0" dirty="0">
                <a:solidFill>
                  <a:srgbClr val="002060"/>
                </a:solidFill>
                <a:effectLst>
                  <a:outerShdw blurRad="38100" dist="38100" dir="2700000" algn="tl">
                    <a:srgbClr val="000000">
                      <a:alpha val="43137"/>
                    </a:srgbClr>
                  </a:outerShdw>
                </a:effectLst>
              </a:rPr>
              <a:t>). Government regulations must not contradict statutes, and statutes must not contradict the Constitution, and the Constitution must not contradict EU law (the latter only in some areas)</a:t>
            </a:r>
          </a:p>
          <a:p>
            <a:r>
              <a:rPr lang="en-US" b="1" noProof="0" dirty="0">
                <a:solidFill>
                  <a:srgbClr val="FF0000"/>
                </a:solidFill>
                <a:effectLst>
                  <a:outerShdw blurRad="38100" dist="38100" dir="2700000" algn="tl">
                    <a:srgbClr val="000000">
                      <a:alpha val="43137"/>
                    </a:srgbClr>
                  </a:outerShdw>
                </a:effectLst>
              </a:rPr>
              <a:t>A later law repeals an earlier law </a:t>
            </a:r>
            <a:r>
              <a:rPr lang="en-US" noProof="0" dirty="0">
                <a:solidFill>
                  <a:srgbClr val="002060"/>
                </a:solidFill>
                <a:effectLst>
                  <a:outerShdw blurRad="38100" dist="38100" dir="2700000" algn="tl">
                    <a:srgbClr val="000000">
                      <a:alpha val="43137"/>
                    </a:srgbClr>
                  </a:outerShdw>
                </a:effectLst>
              </a:rPr>
              <a:t>(Latin: </a:t>
            </a:r>
            <a:r>
              <a:rPr lang="en-US" i="1" noProof="0" dirty="0">
                <a:solidFill>
                  <a:srgbClr val="002060"/>
                </a:solidFill>
                <a:effectLst>
                  <a:outerShdw blurRad="38100" dist="38100" dir="2700000" algn="tl">
                    <a:srgbClr val="000000">
                      <a:alpha val="43137"/>
                    </a:srgbClr>
                  </a:outerShdw>
                </a:effectLst>
              </a:rPr>
              <a:t>Lex posterior derogat priori</a:t>
            </a:r>
            <a:r>
              <a:rPr lang="en-US" noProof="0" dirty="0">
                <a:solidFill>
                  <a:srgbClr val="002060"/>
                </a:solidFill>
                <a:effectLst>
                  <a:outerShdw blurRad="38100" dist="38100" dir="2700000" algn="tl">
                    <a:srgbClr val="000000">
                      <a:alpha val="43137"/>
                    </a:srgbClr>
                  </a:outerShdw>
                </a:effectLst>
              </a:rPr>
              <a:t>)</a:t>
            </a:r>
          </a:p>
          <a:p>
            <a:r>
              <a:rPr lang="en-US" b="1" noProof="0" dirty="0">
                <a:solidFill>
                  <a:srgbClr val="FF0000"/>
                </a:solidFill>
                <a:effectLst>
                  <a:outerShdw blurRad="38100" dist="38100" dir="2700000" algn="tl">
                    <a:srgbClr val="000000">
                      <a:alpha val="43137"/>
                    </a:srgbClr>
                  </a:outerShdw>
                </a:effectLst>
              </a:rPr>
              <a:t>The law does not act retroactively </a:t>
            </a:r>
            <a:r>
              <a:rPr lang="en-US" noProof="0" dirty="0">
                <a:solidFill>
                  <a:srgbClr val="002060"/>
                </a:solidFill>
                <a:effectLst>
                  <a:outerShdw blurRad="38100" dist="38100" dir="2700000" algn="tl">
                    <a:srgbClr val="000000">
                      <a:alpha val="43137"/>
                    </a:srgbClr>
                  </a:outerShdw>
                </a:effectLst>
              </a:rPr>
              <a:t>(Latin maxim: </a:t>
            </a:r>
            <a:r>
              <a:rPr lang="en-US" i="1" noProof="0" dirty="0">
                <a:solidFill>
                  <a:srgbClr val="002060"/>
                </a:solidFill>
                <a:effectLst>
                  <a:outerShdw blurRad="38100" dist="38100" dir="2700000" algn="tl">
                    <a:srgbClr val="000000">
                      <a:alpha val="43137"/>
                    </a:srgbClr>
                  </a:outerShdw>
                </a:effectLst>
              </a:rPr>
              <a:t>Lex retro non agit</a:t>
            </a:r>
            <a:r>
              <a:rPr lang="pl-PL" i="1" noProof="0" dirty="0">
                <a:solidFill>
                  <a:srgbClr val="002060"/>
                </a:solidFill>
                <a:effectLst>
                  <a:outerShdw blurRad="38100" dist="38100" dir="2700000" algn="tl">
                    <a:srgbClr val="000000">
                      <a:alpha val="43137"/>
                    </a:srgbClr>
                  </a:outerShdw>
                </a:effectLst>
              </a:rPr>
              <a:t>). A person </a:t>
            </a:r>
            <a:r>
              <a:rPr lang="pl-PL" i="1" noProof="0" dirty="0" err="1">
                <a:solidFill>
                  <a:srgbClr val="002060"/>
                </a:solidFill>
                <a:effectLst>
                  <a:outerShdw blurRad="38100" dist="38100" dir="2700000" algn="tl">
                    <a:srgbClr val="000000">
                      <a:alpha val="43137"/>
                    </a:srgbClr>
                  </a:outerShdw>
                </a:effectLst>
              </a:rPr>
              <a:t>must</a:t>
            </a:r>
            <a:r>
              <a:rPr lang="pl-PL" i="1" noProof="0" dirty="0">
                <a:solidFill>
                  <a:srgbClr val="002060"/>
                </a:solidFill>
                <a:effectLst>
                  <a:outerShdw blurRad="38100" dist="38100" dir="2700000" algn="tl">
                    <a:srgbClr val="000000">
                      <a:alpha val="43137"/>
                    </a:srgbClr>
                  </a:outerShdw>
                </a:effectLst>
              </a:rPr>
              <a:t> not be </a:t>
            </a:r>
            <a:r>
              <a:rPr lang="pl-PL" i="1" noProof="0" dirty="0" err="1">
                <a:solidFill>
                  <a:srgbClr val="002060"/>
                </a:solidFill>
                <a:effectLst>
                  <a:outerShdw blurRad="38100" dist="38100" dir="2700000" algn="tl">
                    <a:srgbClr val="000000">
                      <a:alpha val="43137"/>
                    </a:srgbClr>
                  </a:outerShdw>
                </a:effectLst>
              </a:rPr>
              <a:t>punished</a:t>
            </a:r>
            <a:r>
              <a:rPr lang="pl-PL" i="1" noProof="0" dirty="0">
                <a:solidFill>
                  <a:srgbClr val="002060"/>
                </a:solidFill>
                <a:effectLst>
                  <a:outerShdw blurRad="38100" dist="38100" dir="2700000" algn="tl">
                    <a:srgbClr val="000000">
                      <a:alpha val="43137"/>
                    </a:srgbClr>
                  </a:outerShdw>
                </a:effectLst>
              </a:rPr>
              <a:t> for </a:t>
            </a:r>
            <a:r>
              <a:rPr lang="en-US" i="1" dirty="0">
                <a:solidFill>
                  <a:srgbClr val="002060"/>
                </a:solidFill>
                <a:effectLst>
                  <a:outerShdw blurRad="38100" dist="38100" dir="2700000" algn="tl">
                    <a:srgbClr val="000000">
                      <a:alpha val="43137"/>
                    </a:srgbClr>
                  </a:outerShdw>
                </a:effectLst>
              </a:rPr>
              <a:t>an act committed before the law was enacted</a:t>
            </a:r>
            <a:r>
              <a:rPr lang="pl-PL" i="1" noProof="0" dirty="0">
                <a:solidFill>
                  <a:srgbClr val="002060"/>
                </a:solidFill>
                <a:effectLst>
                  <a:outerShdw blurRad="38100" dist="38100" dir="2700000" algn="tl">
                    <a:srgbClr val="000000">
                      <a:alpha val="43137"/>
                    </a:srgbClr>
                  </a:outerShdw>
                </a:effectLst>
              </a:rPr>
              <a:t>. </a:t>
            </a:r>
            <a:r>
              <a:rPr lang="en-US" i="1" noProof="0" dirty="0">
                <a:solidFill>
                  <a:srgbClr val="002060"/>
                </a:solidFill>
                <a:effectLst>
                  <a:outerShdw blurRad="38100" dist="38100" dir="2700000" algn="tl">
                    <a:srgbClr val="000000">
                      <a:alpha val="43137"/>
                    </a:srgbClr>
                  </a:outerShdw>
                </a:effectLst>
              </a:rPr>
              <a:t> </a:t>
            </a:r>
            <a:endParaRPr lang="pl-PL" i="1" dirty="0">
              <a:solidFill>
                <a:srgbClr val="002060"/>
              </a:solidFill>
              <a:effectLst>
                <a:outerShdw blurRad="38100" dist="38100" dir="2700000" algn="tl">
                  <a:srgbClr val="000000">
                    <a:alpha val="43137"/>
                  </a:srgbClr>
                </a:outerShdw>
              </a:effectLst>
            </a:endParaRPr>
          </a:p>
          <a:p>
            <a:pPr marL="457200" indent="-457200">
              <a:buFont typeface="Arial" panose="020B0604020202020204" pitchFamily="34" charset="0"/>
              <a:buChar char="•"/>
            </a:pPr>
            <a:r>
              <a:rPr lang="pl-PL" i="1" noProof="0" dirty="0" err="1">
                <a:solidFill>
                  <a:srgbClr val="002060"/>
                </a:solidFill>
                <a:effectLst>
                  <a:outerShdw blurRad="38100" dist="38100" dir="2700000" algn="tl">
                    <a:srgbClr val="000000">
                      <a:alpha val="43137"/>
                    </a:srgbClr>
                  </a:outerShdw>
                </a:effectLst>
                <a:highlight>
                  <a:srgbClr val="FFFF00"/>
                </a:highlight>
                <a:latin typeface="Georgia" panose="02040502050405020303" pitchFamily="18" charset="0"/>
              </a:rPr>
              <a:t>Students</a:t>
            </a:r>
            <a:r>
              <a:rPr lang="en-US" i="1" noProof="0" dirty="0">
                <a:solidFill>
                  <a:srgbClr val="002060"/>
                </a:solidFill>
                <a:effectLst>
                  <a:outerShdw blurRad="38100" dist="38100" dir="2700000" algn="tl">
                    <a:srgbClr val="000000">
                      <a:alpha val="43137"/>
                    </a:srgbClr>
                  </a:outerShdw>
                </a:effectLst>
                <a:highlight>
                  <a:srgbClr val="FFFF00"/>
                </a:highlight>
                <a:latin typeface="Georgia" panose="02040502050405020303" pitchFamily="18" charset="0"/>
              </a:rPr>
              <a:t> do not need to remember the Latin version</a:t>
            </a:r>
            <a:r>
              <a:rPr lang="pl-PL" i="1" dirty="0">
                <a:solidFill>
                  <a:srgbClr val="002060"/>
                </a:solidFill>
                <a:effectLst>
                  <a:outerShdw blurRad="38100" dist="38100" dir="2700000" algn="tl">
                    <a:srgbClr val="000000">
                      <a:alpha val="43137"/>
                    </a:srgbClr>
                  </a:outerShdw>
                </a:effectLst>
                <a:highlight>
                  <a:srgbClr val="FFFF00"/>
                </a:highlight>
              </a:rPr>
              <a:t>s</a:t>
            </a:r>
            <a:r>
              <a:rPr lang="en-US" noProof="0" dirty="0">
                <a:solidFill>
                  <a:srgbClr val="002060"/>
                </a:solidFill>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3968710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0BBA3C-200F-EEE0-3A04-C418F3DD6E7E}"/>
              </a:ext>
            </a:extLst>
          </p:cNvPr>
          <p:cNvSpPr>
            <a:spLocks noGrp="1"/>
          </p:cNvSpPr>
          <p:nvPr>
            <p:ph type="title"/>
          </p:nvPr>
        </p:nvSpPr>
        <p:spPr/>
        <p:txBody>
          <a:bodyPr>
            <a:normAutofit/>
          </a:bodyPr>
          <a:lstStyle/>
          <a:p>
            <a:r>
              <a:rPr lang="pl-PL" sz="3600" dirty="0">
                <a:solidFill>
                  <a:srgbClr val="FF0000"/>
                </a:solidFill>
                <a:effectLst>
                  <a:outerShdw blurRad="38100" dist="38100" dir="2700000" algn="tl">
                    <a:srgbClr val="000000">
                      <a:alpha val="43137"/>
                    </a:srgbClr>
                  </a:outerShdw>
                </a:effectLst>
              </a:rPr>
              <a:t>Ancient (Roman) </a:t>
            </a:r>
            <a:r>
              <a:rPr lang="pl-PL" sz="3600" dirty="0" err="1">
                <a:solidFill>
                  <a:srgbClr val="FF0000"/>
                </a:solidFill>
                <a:effectLst>
                  <a:outerShdw blurRad="38100" dist="38100" dir="2700000" algn="tl">
                    <a:srgbClr val="000000">
                      <a:alpha val="43137"/>
                    </a:srgbClr>
                  </a:outerShdw>
                </a:effectLst>
              </a:rPr>
              <a:t>principles</a:t>
            </a:r>
            <a:r>
              <a:rPr lang="pl-PL" sz="3600" dirty="0">
                <a:solidFill>
                  <a:srgbClr val="FF0000"/>
                </a:solidFill>
                <a:effectLst>
                  <a:outerShdw blurRad="38100" dist="38100" dir="2700000" algn="tl">
                    <a:srgbClr val="000000">
                      <a:alpha val="43137"/>
                    </a:srgbClr>
                  </a:outerShdw>
                </a:effectLst>
              </a:rPr>
              <a:t> of </a:t>
            </a:r>
            <a:r>
              <a:rPr lang="pl-PL" sz="3600" dirty="0" err="1">
                <a:solidFill>
                  <a:srgbClr val="FF0000"/>
                </a:solidFill>
                <a:effectLst>
                  <a:outerShdw blurRad="38100" dist="38100" dir="2700000" algn="tl">
                    <a:srgbClr val="000000">
                      <a:alpha val="43137"/>
                    </a:srgbClr>
                  </a:outerShdw>
                </a:effectLst>
              </a:rPr>
              <a:t>interpretation</a:t>
            </a:r>
            <a:r>
              <a:rPr lang="pl-PL" sz="3600" dirty="0">
                <a:solidFill>
                  <a:srgbClr val="FF0000"/>
                </a:solidFill>
                <a:effectLst>
                  <a:outerShdw blurRad="38100" dist="38100" dir="2700000" algn="tl">
                    <a:srgbClr val="000000">
                      <a:alpha val="43137"/>
                    </a:srgbClr>
                  </a:outerShdw>
                </a:effectLst>
              </a:rPr>
              <a:t> of law</a:t>
            </a:r>
            <a:endParaRPr lang="en-US" sz="3600" dirty="0"/>
          </a:p>
        </p:txBody>
      </p:sp>
      <p:sp>
        <p:nvSpPr>
          <p:cNvPr id="3" name="Symbol zastępczy zawartości 2">
            <a:extLst>
              <a:ext uri="{FF2B5EF4-FFF2-40B4-BE49-F238E27FC236}">
                <a16:creationId xmlns:a16="http://schemas.microsoft.com/office/drawing/2014/main" id="{93F5B7C5-12BF-9482-16A9-C3E5524C6408}"/>
              </a:ext>
            </a:extLst>
          </p:cNvPr>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rPr>
              <a:t>No punishment without law</a:t>
            </a:r>
            <a:r>
              <a:rPr lang="en-US" dirty="0">
                <a:solidFill>
                  <a:srgbClr val="002060"/>
                </a:solidFill>
                <a:effectLst>
                  <a:outerShdw blurRad="38100" dist="38100" dir="2700000" algn="tl">
                    <a:srgbClr val="000000">
                      <a:alpha val="43137"/>
                    </a:srgbClr>
                  </a:outerShdw>
                </a:effectLst>
              </a:rPr>
              <a:t> (Latin: </a:t>
            </a:r>
            <a:r>
              <a:rPr lang="en-US" i="1" dirty="0" err="1">
                <a:solidFill>
                  <a:srgbClr val="002060"/>
                </a:solidFill>
                <a:effectLst>
                  <a:outerShdw blurRad="38100" dist="38100" dir="2700000" algn="tl">
                    <a:srgbClr val="000000">
                      <a:alpha val="43137"/>
                    </a:srgbClr>
                  </a:outerShdw>
                </a:effectLst>
              </a:rPr>
              <a:t>Nulla</a:t>
            </a:r>
            <a:r>
              <a:rPr lang="en-US" i="1" dirty="0">
                <a:solidFill>
                  <a:srgbClr val="002060"/>
                </a:solidFill>
                <a:effectLst>
                  <a:outerShdw blurRad="38100" dist="38100" dir="2700000" algn="tl">
                    <a:srgbClr val="000000">
                      <a:alpha val="43137"/>
                    </a:srgbClr>
                  </a:outerShdw>
                </a:effectLst>
              </a:rPr>
              <a:t> </a:t>
            </a:r>
            <a:r>
              <a:rPr lang="en-US" i="1" dirty="0" err="1">
                <a:solidFill>
                  <a:srgbClr val="002060"/>
                </a:solidFill>
                <a:effectLst>
                  <a:outerShdw blurRad="38100" dist="38100" dir="2700000" algn="tl">
                    <a:srgbClr val="000000">
                      <a:alpha val="43137"/>
                    </a:srgbClr>
                  </a:outerShdw>
                </a:effectLst>
              </a:rPr>
              <a:t>poena</a:t>
            </a:r>
            <a:r>
              <a:rPr lang="en-US" i="1" dirty="0">
                <a:solidFill>
                  <a:srgbClr val="002060"/>
                </a:solidFill>
                <a:effectLst>
                  <a:outerShdw blurRad="38100" dist="38100" dir="2700000" algn="tl">
                    <a:srgbClr val="000000">
                      <a:alpha val="43137"/>
                    </a:srgbClr>
                  </a:outerShdw>
                </a:effectLst>
              </a:rPr>
              <a:t> sine </a:t>
            </a:r>
            <a:r>
              <a:rPr lang="en-US" i="1" dirty="0" err="1">
                <a:solidFill>
                  <a:srgbClr val="002060"/>
                </a:solidFill>
                <a:effectLst>
                  <a:outerShdw blurRad="38100" dist="38100" dir="2700000" algn="tl">
                    <a:srgbClr val="000000">
                      <a:alpha val="43137"/>
                    </a:srgbClr>
                  </a:outerShdw>
                </a:effectLst>
              </a:rPr>
              <a:t>lege</a:t>
            </a:r>
            <a:r>
              <a:rPr lang="en-US" dirty="0">
                <a:solidFill>
                  <a:srgbClr val="002060"/>
                </a:solidFill>
                <a:effectLst>
                  <a:outerShdw blurRad="38100" dist="38100" dir="2700000" algn="tl">
                    <a:srgbClr val="000000">
                      <a:alpha val="43137"/>
                    </a:srgbClr>
                  </a:outerShdw>
                </a:effectLst>
              </a:rPr>
              <a:t>). A principle of criminal law stating that a person cannot be punished for an act </a:t>
            </a:r>
            <a:r>
              <a:rPr lang="en-US" b="1" dirty="0">
                <a:solidFill>
                  <a:srgbClr val="002060"/>
                </a:solidFill>
                <a:effectLst>
                  <a:outerShdw blurRad="38100" dist="38100" dir="2700000" algn="tl">
                    <a:srgbClr val="000000">
                      <a:alpha val="43137"/>
                    </a:srgbClr>
                  </a:outerShdw>
                </a:effectLst>
              </a:rPr>
              <a:t>unless it was defined as a crime</a:t>
            </a:r>
            <a:r>
              <a:rPr lang="en-US" dirty="0">
                <a:solidFill>
                  <a:srgbClr val="002060"/>
                </a:solidFill>
                <a:effectLst>
                  <a:outerShdw blurRad="38100" dist="38100" dir="2700000" algn="tl">
                    <a:srgbClr val="000000">
                      <a:alpha val="43137"/>
                    </a:srgbClr>
                  </a:outerShdw>
                </a:effectLst>
              </a:rPr>
              <a:t>. This principle is a safeguard against arbitrary state power</a:t>
            </a:r>
          </a:p>
          <a:p>
            <a:r>
              <a:rPr lang="en-US" b="1" dirty="0">
                <a:solidFill>
                  <a:srgbClr val="FF0000"/>
                </a:solidFill>
                <a:effectLst>
                  <a:outerShdw blurRad="38100" dist="38100" dir="2700000" algn="tl">
                    <a:srgbClr val="000000">
                      <a:alpha val="43137"/>
                    </a:srgbClr>
                  </a:outerShdw>
                </a:effectLst>
              </a:rPr>
              <a:t>When in doubt, rule for the accused </a:t>
            </a:r>
            <a:r>
              <a:rPr lang="en-US" dirty="0">
                <a:solidFill>
                  <a:srgbClr val="002060"/>
                </a:solidFill>
                <a:effectLst>
                  <a:outerShdw blurRad="38100" dist="38100" dir="2700000" algn="tl">
                    <a:srgbClr val="000000">
                      <a:alpha val="43137"/>
                    </a:srgbClr>
                  </a:outerShdw>
                </a:effectLst>
              </a:rPr>
              <a:t>(Latin: </a:t>
            </a:r>
            <a:r>
              <a:rPr lang="en-US" i="1" dirty="0">
                <a:solidFill>
                  <a:srgbClr val="002060"/>
                </a:solidFill>
                <a:effectLst>
                  <a:outerShdw blurRad="38100" dist="38100" dir="2700000" algn="tl">
                    <a:srgbClr val="000000">
                      <a:alpha val="43137"/>
                    </a:srgbClr>
                  </a:outerShdw>
                </a:effectLst>
              </a:rPr>
              <a:t>In </a:t>
            </a:r>
            <a:r>
              <a:rPr lang="en-US" i="1" dirty="0" err="1">
                <a:solidFill>
                  <a:srgbClr val="002060"/>
                </a:solidFill>
                <a:effectLst>
                  <a:outerShdw blurRad="38100" dist="38100" dir="2700000" algn="tl">
                    <a:srgbClr val="000000">
                      <a:alpha val="43137"/>
                    </a:srgbClr>
                  </a:outerShdw>
                </a:effectLst>
              </a:rPr>
              <a:t>dubio</a:t>
            </a:r>
            <a:r>
              <a:rPr lang="en-US" i="1" dirty="0">
                <a:solidFill>
                  <a:srgbClr val="002060"/>
                </a:solidFill>
                <a:effectLst>
                  <a:outerShdw blurRad="38100" dist="38100" dir="2700000" algn="tl">
                    <a:srgbClr val="000000">
                      <a:alpha val="43137"/>
                    </a:srgbClr>
                  </a:outerShdw>
                </a:effectLst>
              </a:rPr>
              <a:t> pro </a:t>
            </a:r>
            <a:r>
              <a:rPr lang="en-US" i="1" dirty="0" err="1">
                <a:solidFill>
                  <a:srgbClr val="002060"/>
                </a:solidFill>
                <a:effectLst>
                  <a:outerShdw blurRad="38100" dist="38100" dir="2700000" algn="tl">
                    <a:srgbClr val="000000">
                      <a:alpha val="43137"/>
                    </a:srgbClr>
                  </a:outerShdw>
                </a:effectLst>
              </a:rPr>
              <a:t>reo</a:t>
            </a:r>
            <a:r>
              <a:rPr lang="en-US"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 Modern version – when in doubt, rule for the taxpayer.</a:t>
            </a:r>
          </a:p>
          <a:p>
            <a:r>
              <a:rPr lang="en-US" b="1" dirty="0">
                <a:solidFill>
                  <a:srgbClr val="FF0000"/>
                </a:solidFill>
                <a:effectLst>
                  <a:outerShdw blurRad="38100" dist="38100" dir="2700000" algn="tl">
                    <a:srgbClr val="000000">
                      <a:alpha val="43137"/>
                    </a:srgbClr>
                  </a:outerShdw>
                </a:effectLst>
              </a:rPr>
              <a:t>Ignorance of the law is no excuse </a:t>
            </a:r>
            <a:r>
              <a:rPr lang="en-US" dirty="0">
                <a:solidFill>
                  <a:srgbClr val="002060"/>
                </a:solidFill>
                <a:effectLst>
                  <a:outerShdw blurRad="38100" dist="38100" dir="2700000" algn="tl">
                    <a:srgbClr val="000000">
                      <a:alpha val="43137"/>
                    </a:srgbClr>
                  </a:outerShdw>
                </a:effectLst>
              </a:rPr>
              <a:t>(Latin: </a:t>
            </a:r>
            <a:r>
              <a:rPr lang="en-US" i="1" dirty="0" err="1">
                <a:solidFill>
                  <a:srgbClr val="002060"/>
                </a:solidFill>
                <a:effectLst>
                  <a:outerShdw blurRad="38100" dist="38100" dir="2700000" algn="tl">
                    <a:srgbClr val="000000">
                      <a:alpha val="43137"/>
                    </a:srgbClr>
                  </a:outerShdw>
                </a:effectLst>
              </a:rPr>
              <a:t>Ignorantia</a:t>
            </a:r>
            <a:r>
              <a:rPr lang="en-US" i="1" dirty="0">
                <a:solidFill>
                  <a:srgbClr val="002060"/>
                </a:solidFill>
                <a:effectLst>
                  <a:outerShdw blurRad="38100" dist="38100" dir="2700000" algn="tl">
                    <a:srgbClr val="000000">
                      <a:alpha val="43137"/>
                    </a:srgbClr>
                  </a:outerShdw>
                </a:effectLst>
              </a:rPr>
              <a:t> </a:t>
            </a:r>
            <a:r>
              <a:rPr lang="en-US" i="1" dirty="0" err="1">
                <a:solidFill>
                  <a:srgbClr val="002060"/>
                </a:solidFill>
                <a:effectLst>
                  <a:outerShdw blurRad="38100" dist="38100" dir="2700000" algn="tl">
                    <a:srgbClr val="000000">
                      <a:alpha val="43137"/>
                    </a:srgbClr>
                  </a:outerShdw>
                </a:effectLst>
              </a:rPr>
              <a:t>legis</a:t>
            </a:r>
            <a:r>
              <a:rPr lang="en-US" i="1" dirty="0">
                <a:solidFill>
                  <a:srgbClr val="002060"/>
                </a:solidFill>
                <a:effectLst>
                  <a:outerShdw blurRad="38100" dist="38100" dir="2700000" algn="tl">
                    <a:srgbClr val="000000">
                      <a:alpha val="43137"/>
                    </a:srgbClr>
                  </a:outerShdw>
                </a:effectLst>
              </a:rPr>
              <a:t> non </a:t>
            </a:r>
            <a:r>
              <a:rPr lang="en-US" i="1" dirty="0" err="1">
                <a:solidFill>
                  <a:srgbClr val="002060"/>
                </a:solidFill>
                <a:effectLst>
                  <a:outerShdw blurRad="38100" dist="38100" dir="2700000" algn="tl">
                    <a:srgbClr val="000000">
                      <a:alpha val="43137"/>
                    </a:srgbClr>
                  </a:outerShdw>
                </a:effectLst>
              </a:rPr>
              <a:t>excusat</a:t>
            </a:r>
            <a:r>
              <a:rPr lang="en-US" dirty="0">
                <a:solidFill>
                  <a:srgbClr val="002060"/>
                </a:solidFill>
                <a:effectLst>
                  <a:outerShdw blurRad="38100" dist="38100" dir="2700000" algn="tl">
                    <a:srgbClr val="000000">
                      <a:alpha val="43137"/>
                    </a:srgbClr>
                  </a:outerShdw>
                </a:effectLst>
              </a:rPr>
              <a:t>, also: </a:t>
            </a:r>
            <a:r>
              <a:rPr lang="en-US" i="1" dirty="0" err="1">
                <a:solidFill>
                  <a:srgbClr val="002060"/>
                </a:solidFill>
                <a:effectLst>
                  <a:outerShdw blurRad="38100" dist="38100" dir="2700000" algn="tl">
                    <a:srgbClr val="000000">
                      <a:alpha val="43137"/>
                    </a:srgbClr>
                  </a:outerShdw>
                </a:effectLst>
              </a:rPr>
              <a:t>Ignorantia</a:t>
            </a:r>
            <a:r>
              <a:rPr lang="en-US" i="1" dirty="0">
                <a:solidFill>
                  <a:srgbClr val="002060"/>
                </a:solidFill>
                <a:effectLst>
                  <a:outerShdw blurRad="38100" dist="38100" dir="2700000" algn="tl">
                    <a:srgbClr val="000000">
                      <a:alpha val="43137"/>
                    </a:srgbClr>
                  </a:outerShdw>
                </a:effectLst>
              </a:rPr>
              <a:t> </a:t>
            </a:r>
            <a:r>
              <a:rPr lang="en-US" i="1" dirty="0" err="1">
                <a:solidFill>
                  <a:srgbClr val="002060"/>
                </a:solidFill>
                <a:effectLst>
                  <a:outerShdw blurRad="38100" dist="38100" dir="2700000" algn="tl">
                    <a:srgbClr val="000000">
                      <a:alpha val="43137"/>
                    </a:srgbClr>
                  </a:outerShdw>
                </a:effectLst>
              </a:rPr>
              <a:t>iuris</a:t>
            </a:r>
            <a:r>
              <a:rPr lang="en-US" i="1" dirty="0">
                <a:solidFill>
                  <a:srgbClr val="002060"/>
                </a:solidFill>
                <a:effectLst>
                  <a:outerShdw blurRad="38100" dist="38100" dir="2700000" algn="tl">
                    <a:srgbClr val="000000">
                      <a:alpha val="43137"/>
                    </a:srgbClr>
                  </a:outerShdw>
                </a:effectLst>
              </a:rPr>
              <a:t> </a:t>
            </a:r>
            <a:r>
              <a:rPr lang="en-US" i="1" dirty="0" err="1">
                <a:solidFill>
                  <a:srgbClr val="002060"/>
                </a:solidFill>
                <a:effectLst>
                  <a:outerShdw blurRad="38100" dist="38100" dir="2700000" algn="tl">
                    <a:srgbClr val="000000">
                      <a:alpha val="43137"/>
                    </a:srgbClr>
                  </a:outerShdw>
                </a:effectLst>
              </a:rPr>
              <a:t>nocet</a:t>
            </a:r>
            <a:r>
              <a:rPr lang="en-US"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3347781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67B7C99-8F0E-35E9-7D52-F567EC567208}"/>
              </a:ext>
            </a:extLst>
          </p:cNvPr>
          <p:cNvSpPr>
            <a:spLocks noGrp="1"/>
          </p:cNvSpPr>
          <p:nvPr>
            <p:ph type="title"/>
          </p:nvPr>
        </p:nvSpPr>
        <p:spPr/>
        <p:txBody>
          <a:bodyPr>
            <a:normAutofit/>
          </a:bodyPr>
          <a:lstStyle/>
          <a:p>
            <a:r>
              <a:rPr lang="pl-PL" sz="3600" dirty="0">
                <a:solidFill>
                  <a:srgbClr val="FF0000"/>
                </a:solidFill>
                <a:effectLst>
                  <a:outerShdw blurRad="38100" dist="38100" dir="2700000" algn="tl">
                    <a:srgbClr val="000000">
                      <a:alpha val="43137"/>
                    </a:srgbClr>
                  </a:outerShdw>
                </a:effectLst>
              </a:rPr>
              <a:t>Ancient (Roman) principles of interpretation of law</a:t>
            </a:r>
            <a:endParaRPr lang="en-US" sz="3600" dirty="0"/>
          </a:p>
        </p:txBody>
      </p:sp>
      <p:sp>
        <p:nvSpPr>
          <p:cNvPr id="3" name="Symbol zastępczy zawartości 2">
            <a:extLst>
              <a:ext uri="{FF2B5EF4-FFF2-40B4-BE49-F238E27FC236}">
                <a16:creationId xmlns:a16="http://schemas.microsoft.com/office/drawing/2014/main" id="{A06068BD-9608-FF96-E9C8-2D50F7918449}"/>
              </a:ext>
            </a:extLst>
          </p:cNvPr>
          <p:cNvSpPr>
            <a:spLocks noGrp="1"/>
          </p:cNvSpPr>
          <p:nvPr>
            <p:ph idx="1"/>
          </p:nvPr>
        </p:nvSpPr>
        <p:spPr/>
        <p:txBody>
          <a:bodyPr>
            <a:normAutofit/>
          </a:bodyPr>
          <a:lstStyle/>
          <a:p>
            <a:r>
              <a:rPr lang="pl-PL" b="1" dirty="0">
                <a:solidFill>
                  <a:srgbClr val="FF0000"/>
                </a:solidFill>
                <a:effectLst>
                  <a:outerShdw blurRad="38100" dist="38100" dir="2700000" algn="tl">
                    <a:srgbClr val="000000">
                      <a:alpha val="43137"/>
                    </a:srgbClr>
                  </a:outerShdw>
                </a:effectLst>
              </a:rPr>
              <a:t>Hear the other side </a:t>
            </a:r>
            <a:r>
              <a:rPr lang="pl-PL" dirty="0">
                <a:solidFill>
                  <a:srgbClr val="002060"/>
                </a:solidFill>
                <a:effectLst>
                  <a:outerShdw blurRad="38100" dist="38100" dir="2700000" algn="tl">
                    <a:srgbClr val="000000">
                      <a:alpha val="43137"/>
                    </a:srgbClr>
                  </a:outerShdw>
                </a:effectLst>
              </a:rPr>
              <a:t>(Latin: </a:t>
            </a:r>
            <a:r>
              <a:rPr lang="pl-PL" i="1" dirty="0">
                <a:solidFill>
                  <a:srgbClr val="002060"/>
                </a:solidFill>
                <a:effectLst>
                  <a:outerShdw blurRad="38100" dist="38100" dir="2700000" algn="tl">
                    <a:srgbClr val="000000">
                      <a:alpha val="43137"/>
                    </a:srgbClr>
                  </a:outerShdw>
                </a:effectLst>
              </a:rPr>
              <a:t>Audiatur et altera pars</a:t>
            </a:r>
            <a:r>
              <a:rPr lang="pl-PL" dirty="0">
                <a:solidFill>
                  <a:srgbClr val="002060"/>
                </a:solidFill>
                <a:effectLst>
                  <a:outerShdw blurRad="38100" dist="38100" dir="2700000" algn="tl">
                    <a:srgbClr val="000000">
                      <a:alpha val="43137"/>
                    </a:srgbClr>
                  </a:outerShdw>
                </a:effectLst>
              </a:rPr>
              <a:t>). An important procedural rule</a:t>
            </a:r>
          </a:p>
          <a:p>
            <a:r>
              <a:rPr lang="pl-PL" b="1" dirty="0">
                <a:solidFill>
                  <a:srgbClr val="FF0000"/>
                </a:solidFill>
                <a:effectLst>
                  <a:outerShdw blurRad="38100" dist="38100" dir="2700000" algn="tl">
                    <a:srgbClr val="000000">
                      <a:alpha val="43137"/>
                    </a:srgbClr>
                  </a:outerShdw>
                </a:effectLst>
              </a:rPr>
              <a:t>A matter already judged </a:t>
            </a:r>
            <a:r>
              <a:rPr lang="pl-PL" dirty="0">
                <a:solidFill>
                  <a:srgbClr val="002060"/>
                </a:solidFill>
                <a:effectLst>
                  <a:outerShdw blurRad="38100" dist="38100" dir="2700000" algn="tl">
                    <a:srgbClr val="000000">
                      <a:alpha val="43137"/>
                    </a:srgbClr>
                  </a:outerShdw>
                </a:effectLst>
              </a:rPr>
              <a:t>(Latin: </a:t>
            </a:r>
            <a:r>
              <a:rPr lang="pl-PL" i="1" dirty="0">
                <a:solidFill>
                  <a:srgbClr val="002060"/>
                </a:solidFill>
                <a:effectLst>
                  <a:outerShdw blurRad="38100" dist="38100" dir="2700000" algn="tl">
                    <a:srgbClr val="000000">
                      <a:alpha val="43137"/>
                    </a:srgbClr>
                  </a:outerShdw>
                </a:effectLst>
              </a:rPr>
              <a:t>Res iudicata</a:t>
            </a:r>
            <a:r>
              <a:rPr lang="pl-PL" dirty="0">
                <a:solidFill>
                  <a:srgbClr val="002060"/>
                </a:solidFill>
                <a:effectLst>
                  <a:outerShdw blurRad="38100" dist="38100" dir="2700000" algn="tl">
                    <a:srgbClr val="000000">
                      <a:alpha val="43137"/>
                    </a:srgbClr>
                  </a:outerShdw>
                </a:effectLst>
              </a:rPr>
              <a:t>). The same case must not be decided a second time. No person </a:t>
            </a:r>
            <a:r>
              <a:rPr lang="pl-PL" dirty="0" err="1">
                <a:solidFill>
                  <a:srgbClr val="002060"/>
                </a:solidFill>
                <a:effectLst>
                  <a:outerShdw blurRad="38100" dist="38100" dir="2700000" algn="tl">
                    <a:srgbClr val="000000">
                      <a:alpha val="43137"/>
                    </a:srgbClr>
                  </a:outerShdw>
                </a:effectLst>
              </a:rPr>
              <a:t>may</a:t>
            </a:r>
            <a:r>
              <a:rPr lang="pl-PL" dirty="0">
                <a:solidFill>
                  <a:srgbClr val="002060"/>
                </a:solidFill>
                <a:effectLst>
                  <a:outerShdw blurRad="38100" dist="38100" dir="2700000" algn="tl">
                    <a:srgbClr val="000000">
                      <a:alpha val="43137"/>
                    </a:srgbClr>
                  </a:outerShdw>
                </a:effectLst>
              </a:rPr>
              <a:t> be </a:t>
            </a:r>
            <a:r>
              <a:rPr lang="pl-PL" b="1" dirty="0" err="1">
                <a:solidFill>
                  <a:srgbClr val="002060"/>
                </a:solidFill>
                <a:effectLst>
                  <a:outerShdw blurRad="38100" dist="38100" dir="2700000" algn="tl">
                    <a:srgbClr val="000000">
                      <a:alpha val="43137"/>
                    </a:srgbClr>
                  </a:outerShdw>
                </a:effectLst>
              </a:rPr>
              <a:t>tried</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punished</a:t>
            </a:r>
            <a:r>
              <a:rPr lang="pl-PL" b="1" dirty="0">
                <a:solidFill>
                  <a:srgbClr val="002060"/>
                </a:solidFill>
                <a:effectLst>
                  <a:outerShdw blurRad="38100" dist="38100" dir="2700000" algn="tl">
                    <a:srgbClr val="000000">
                      <a:alpha val="43137"/>
                    </a:srgbClr>
                  </a:outerShdw>
                </a:effectLst>
              </a:rPr>
              <a:t>) twice </a:t>
            </a:r>
            <a:r>
              <a:rPr lang="pl-PL" dirty="0">
                <a:solidFill>
                  <a:srgbClr val="002060"/>
                </a:solidFill>
                <a:effectLst>
                  <a:outerShdw blurRad="38100" dist="38100" dir="2700000" algn="tl">
                    <a:srgbClr val="000000">
                      <a:alpha val="43137"/>
                    </a:srgbClr>
                  </a:outerShdw>
                </a:effectLst>
              </a:rPr>
              <a:t>for the same crime or for the same other illegal act. For example, the court said, „not guilty.” However, </a:t>
            </a:r>
            <a:r>
              <a:rPr lang="en-US" dirty="0">
                <a:solidFill>
                  <a:srgbClr val="002060"/>
                </a:solidFill>
                <a:effectLst>
                  <a:outerShdw blurRad="38100" dist="38100" dir="2700000" algn="tl">
                    <a:srgbClr val="000000">
                      <a:alpha val="43137"/>
                    </a:srgbClr>
                  </a:outerShdw>
                </a:effectLst>
              </a:rPr>
              <a:t>courts or authorities sometimes </a:t>
            </a:r>
            <a:r>
              <a:rPr lang="en-US" b="1" dirty="0">
                <a:solidFill>
                  <a:srgbClr val="002060"/>
                </a:solidFill>
                <a:effectLst>
                  <a:outerShdw blurRad="38100" dist="38100" dir="2700000" algn="tl">
                    <a:srgbClr val="000000">
                      <a:alpha val="43137"/>
                    </a:srgbClr>
                  </a:outerShdw>
                </a:effectLst>
              </a:rPr>
              <a:t>reopen cases </a:t>
            </a:r>
            <a:r>
              <a:rPr lang="en-US" dirty="0">
                <a:solidFill>
                  <a:srgbClr val="002060"/>
                </a:solidFill>
                <a:effectLst>
                  <a:outerShdw blurRad="38100" dist="38100" dir="2700000" algn="tl">
                    <a:srgbClr val="000000">
                      <a:alpha val="43137"/>
                    </a:srgbClr>
                  </a:outerShdw>
                </a:effectLst>
              </a:rPr>
              <a:t>when new evidence comes to light</a:t>
            </a:r>
            <a:r>
              <a:rPr lang="pl-PL" dirty="0">
                <a:solidFill>
                  <a:srgbClr val="002060"/>
                </a:solidFill>
                <a:effectLst>
                  <a:outerShdw blurRad="38100" dist="38100" dir="2700000" algn="tl">
                    <a:srgbClr val="000000">
                      <a:alpha val="43137"/>
                    </a:srgbClr>
                  </a:outerShdw>
                </a:effectLst>
              </a:rPr>
              <a:t>. This principle is related to the </a:t>
            </a:r>
            <a:r>
              <a:rPr lang="pl-PL" b="1" dirty="0">
                <a:solidFill>
                  <a:srgbClr val="FF0000"/>
                </a:solidFill>
                <a:effectLst>
                  <a:outerShdw blurRad="38100" dist="38100" dir="2700000" algn="tl">
                    <a:srgbClr val="000000">
                      <a:alpha val="43137"/>
                    </a:srgbClr>
                  </a:outerShdw>
                </a:effectLst>
              </a:rPr>
              <a:t>„acquired </a:t>
            </a:r>
            <a:r>
              <a:rPr lang="pl-PL" b="1" dirty="0" err="1">
                <a:solidFill>
                  <a:srgbClr val="FF0000"/>
                </a:solidFill>
                <a:effectLst>
                  <a:outerShdw blurRad="38100" dist="38100" dir="2700000" algn="tl">
                    <a:srgbClr val="000000">
                      <a:alpha val="43137"/>
                    </a:srgbClr>
                  </a:outerShdw>
                </a:effectLst>
              </a:rPr>
              <a:t>rights</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doctrine</a:t>
            </a:r>
            <a:r>
              <a:rPr lang="pl-PL" b="1" dirty="0">
                <a:solidFill>
                  <a:srgbClr val="FF0000"/>
                </a:solidFill>
                <a:effectLst>
                  <a:outerShdw blurRad="38100" dist="38100" dir="2700000" algn="tl">
                    <a:srgbClr val="000000">
                      <a:alpha val="43137"/>
                    </a:srgbClr>
                  </a:outerShdw>
                </a:effectLst>
              </a:rPr>
              <a:t>.”</a:t>
            </a:r>
          </a:p>
          <a:p>
            <a:r>
              <a:rPr lang="en-US" b="1" dirty="0">
                <a:solidFill>
                  <a:srgbClr val="FF0000"/>
                </a:solidFill>
                <a:effectLst>
                  <a:outerShdw blurRad="38100" dist="38100" dir="2700000" algn="tl">
                    <a:srgbClr val="000000">
                      <a:alpha val="43137"/>
                    </a:srgbClr>
                  </a:outerShdw>
                </a:effectLst>
              </a:rPr>
              <a:t>To a willing person, injury is not done</a:t>
            </a:r>
            <a:r>
              <a:rPr lang="pl-PL" b="1" dirty="0">
                <a:solidFill>
                  <a:srgbClr val="FF0000"/>
                </a:solidFill>
                <a:effectLst>
                  <a:outerShdw blurRad="38100" dist="38100" dir="2700000" algn="tl">
                    <a:srgbClr val="000000">
                      <a:alpha val="43137"/>
                    </a:srgbClr>
                  </a:outerShdw>
                </a:effectLst>
              </a:rPr>
              <a:t> </a:t>
            </a:r>
            <a:r>
              <a:rPr lang="pl-PL" dirty="0"/>
              <a:t>(Latin: </a:t>
            </a:r>
            <a:r>
              <a:rPr lang="pl-PL" i="1" dirty="0">
                <a:effectLst>
                  <a:outerShdw blurRad="38100" dist="38100" dir="2700000" algn="tl">
                    <a:srgbClr val="000000">
                      <a:alpha val="43137"/>
                    </a:srgbClr>
                  </a:outerShdw>
                </a:effectLst>
              </a:rPr>
              <a:t>Volenti non fit injuria</a:t>
            </a:r>
            <a:r>
              <a:rPr lang="pl-PL" b="1" dirty="0"/>
              <a:t>)</a:t>
            </a:r>
            <a:r>
              <a:rPr lang="en-US" dirty="0"/>
              <a:t>. </a:t>
            </a:r>
            <a:r>
              <a:rPr lang="pl-PL" dirty="0">
                <a:solidFill>
                  <a:srgbClr val="002060"/>
                </a:solidFill>
                <a:effectLst>
                  <a:outerShdw blurRad="38100" dist="38100" dir="2700000" algn="tl">
                    <a:srgbClr val="000000">
                      <a:alpha val="43137"/>
                    </a:srgbClr>
                  </a:outerShdw>
                </a:effectLst>
              </a:rPr>
              <a:t>A </a:t>
            </a:r>
            <a:r>
              <a:rPr lang="en-US" dirty="0">
                <a:solidFill>
                  <a:srgbClr val="002060"/>
                </a:solidFill>
                <a:effectLst>
                  <a:outerShdw blurRad="38100" dist="38100" dir="2700000" algn="tl">
                    <a:srgbClr val="000000">
                      <a:alpha val="43137"/>
                    </a:srgbClr>
                  </a:outerShdw>
                </a:effectLst>
              </a:rPr>
              <a:t>voluntary assumption of risk</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does</a:t>
            </a:r>
            <a:r>
              <a:rPr lang="pl-PL" dirty="0">
                <a:solidFill>
                  <a:srgbClr val="002060"/>
                </a:solidFill>
                <a:effectLst>
                  <a:outerShdw blurRad="38100" dist="38100" dir="2700000" algn="tl">
                    <a:srgbClr val="000000">
                      <a:alpha val="43137"/>
                    </a:srgbClr>
                  </a:outerShdw>
                </a:effectLst>
              </a:rPr>
              <a:t> not </a:t>
            </a:r>
            <a:r>
              <a:rPr lang="pl-PL" dirty="0" err="1">
                <a:solidFill>
                  <a:srgbClr val="002060"/>
                </a:solidFill>
                <a:effectLst>
                  <a:outerShdw blurRad="38100" dist="38100" dir="2700000" algn="tl">
                    <a:srgbClr val="000000">
                      <a:alpha val="43137"/>
                    </a:srgbClr>
                  </a:outerShdw>
                </a:effectLst>
              </a:rPr>
              <a:t>make</a:t>
            </a:r>
            <a:r>
              <a:rPr lang="pl-PL" dirty="0">
                <a:solidFill>
                  <a:srgbClr val="002060"/>
                </a:solidFill>
                <a:effectLst>
                  <a:outerShdw blurRad="38100" dist="38100" dir="2700000" algn="tl">
                    <a:srgbClr val="000000">
                      <a:alpha val="43137"/>
                    </a:srgbClr>
                  </a:outerShdw>
                </a:effectLst>
              </a:rPr>
              <a:t> one a </a:t>
            </a:r>
            <a:r>
              <a:rPr lang="pl-PL" dirty="0" err="1">
                <a:solidFill>
                  <a:srgbClr val="002060"/>
                </a:solidFill>
                <a:effectLst>
                  <a:outerShdw blurRad="38100" dist="38100" dir="2700000" algn="tl">
                    <a:srgbClr val="000000">
                      <a:alpha val="43137"/>
                    </a:srgbClr>
                  </a:outerShdw>
                </a:effectLst>
              </a:rPr>
              <a:t>victim</a:t>
            </a:r>
            <a:r>
              <a:rPr lang="en-US" dirty="0">
                <a:solidFill>
                  <a:srgbClr val="002060"/>
                </a:solidFill>
                <a:effectLst>
                  <a:outerShdw blurRad="38100" dist="38100" dir="2700000" algn="tl">
                    <a:srgbClr val="000000">
                      <a:alpha val="43137"/>
                    </a:srgbClr>
                  </a:outerShdw>
                </a:effectLst>
              </a:rPr>
              <a:t>. </a:t>
            </a:r>
            <a:endParaRPr lang="pl-PL" b="1"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94991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EE96342-7FA7-D8CA-1F66-39DB5416FC89}"/>
              </a:ext>
            </a:extLst>
          </p:cNvPr>
          <p:cNvSpPr>
            <a:spLocks noGrp="1"/>
          </p:cNvSpPr>
          <p:nvPr>
            <p:ph type="title"/>
          </p:nvPr>
        </p:nvSpPr>
        <p:spPr/>
        <p:txBody>
          <a:bodyPr>
            <a:normAutofit/>
          </a:bodyPr>
          <a:lstStyle/>
          <a:p>
            <a:r>
              <a:rPr lang="pl-PL" sz="3600" dirty="0">
                <a:solidFill>
                  <a:srgbClr val="FF0000"/>
                </a:solidFill>
                <a:effectLst>
                  <a:outerShdw blurRad="38100" dist="38100" dir="2700000" algn="tl">
                    <a:srgbClr val="000000">
                      <a:alpha val="43137"/>
                    </a:srgbClr>
                  </a:outerShdw>
                </a:effectLst>
              </a:rPr>
              <a:t>Ancient (Roman) principles of interpretation of law</a:t>
            </a:r>
            <a:endParaRPr lang="en-US" sz="3600" dirty="0"/>
          </a:p>
        </p:txBody>
      </p:sp>
      <p:sp>
        <p:nvSpPr>
          <p:cNvPr id="3" name="Symbol zastępczy zawartości 2">
            <a:extLst>
              <a:ext uri="{FF2B5EF4-FFF2-40B4-BE49-F238E27FC236}">
                <a16:creationId xmlns:a16="http://schemas.microsoft.com/office/drawing/2014/main" id="{98D46F67-F4A2-B8BC-43F4-7B91B20EA3DC}"/>
              </a:ext>
            </a:extLst>
          </p:cNvPr>
          <p:cNvSpPr>
            <a:spLocks noGrp="1"/>
          </p:cNvSpPr>
          <p:nvPr>
            <p:ph idx="1"/>
          </p:nvPr>
        </p:nvSpPr>
        <p:spPr>
          <a:xfrm>
            <a:off x="838200" y="1825625"/>
            <a:ext cx="10515600" cy="4667250"/>
          </a:xfrm>
        </p:spPr>
        <p:txBody>
          <a:bodyPr>
            <a:normAutofit/>
          </a:bodyPr>
          <a:lstStyle/>
          <a:p>
            <a:r>
              <a:rPr lang="en-US" b="1" noProof="0" dirty="0">
                <a:solidFill>
                  <a:srgbClr val="FF0000"/>
                </a:solidFill>
                <a:effectLst>
                  <a:outerShdw blurRad="38100" dist="38100" dir="2700000" algn="tl">
                    <a:srgbClr val="000000">
                      <a:alpha val="43137"/>
                    </a:srgbClr>
                  </a:outerShdw>
                </a:effectLst>
              </a:rPr>
              <a:t>Let the buyer beware</a:t>
            </a:r>
            <a:r>
              <a:rPr lang="en-US" b="1" noProof="0" dirty="0">
                <a:solidFill>
                  <a:srgbClr val="002060"/>
                </a:solidFill>
                <a:effectLst>
                  <a:outerShdw blurRad="38100" dist="38100" dir="2700000" algn="tl">
                    <a:srgbClr val="000000">
                      <a:alpha val="43137"/>
                    </a:srgbClr>
                  </a:outerShdw>
                </a:effectLst>
              </a:rPr>
              <a:t> </a:t>
            </a:r>
            <a:r>
              <a:rPr lang="en-US" noProof="0" dirty="0">
                <a:solidFill>
                  <a:srgbClr val="002060"/>
                </a:solidFill>
                <a:effectLst>
                  <a:outerShdw blurRad="38100" dist="38100" dir="2700000" algn="tl">
                    <a:srgbClr val="000000">
                      <a:alpha val="43137"/>
                    </a:srgbClr>
                  </a:outerShdw>
                </a:effectLst>
              </a:rPr>
              <a:t>(Latin: </a:t>
            </a:r>
            <a:r>
              <a:rPr lang="en-US" i="1" noProof="0" dirty="0">
                <a:solidFill>
                  <a:srgbClr val="002060"/>
                </a:solidFill>
                <a:effectLst>
                  <a:outerShdw blurRad="38100" dist="38100" dir="2700000" algn="tl">
                    <a:srgbClr val="000000">
                      <a:alpha val="43137"/>
                    </a:srgbClr>
                  </a:outerShdw>
                </a:effectLst>
              </a:rPr>
              <a:t>Caveat emptor</a:t>
            </a:r>
            <a:r>
              <a:rPr lang="en-US" noProof="0" dirty="0">
                <a:solidFill>
                  <a:srgbClr val="002060"/>
                </a:solidFill>
                <a:effectLst>
                  <a:outerShdw blurRad="38100" dist="38100" dir="2700000" algn="tl">
                    <a:srgbClr val="000000">
                      <a:alpha val="43137"/>
                    </a:srgbClr>
                  </a:outerShdw>
                </a:effectLst>
              </a:rPr>
              <a:t>). A principle often used in trade disputes.</a:t>
            </a:r>
            <a:r>
              <a:rPr lang="pl-PL" noProof="0" dirty="0">
                <a:solidFill>
                  <a:srgbClr val="002060"/>
                </a:solidFill>
                <a:effectLst>
                  <a:outerShdw blurRad="38100" dist="38100" dir="2700000" algn="tl">
                    <a:srgbClr val="000000">
                      <a:alpha val="43137"/>
                    </a:srgbClr>
                  </a:outerShdw>
                </a:effectLst>
              </a:rPr>
              <a:t> </a:t>
            </a:r>
            <a:endParaRPr lang="en-US" noProof="0" dirty="0">
              <a:solidFill>
                <a:srgbClr val="002060"/>
              </a:solidFill>
              <a:effectLst>
                <a:outerShdw blurRad="38100" dist="38100" dir="2700000" algn="tl">
                  <a:srgbClr val="000000">
                    <a:alpha val="43137"/>
                  </a:srgbClr>
                </a:outerShdw>
              </a:effectLst>
            </a:endParaRPr>
          </a:p>
          <a:p>
            <a:r>
              <a:rPr lang="en-US" b="1" dirty="0">
                <a:solidFill>
                  <a:srgbClr val="FF0000"/>
                </a:solidFill>
                <a:effectLst>
                  <a:outerShdw blurRad="38100" dist="38100" dir="2700000" algn="tl">
                    <a:srgbClr val="000000">
                      <a:alpha val="43137"/>
                    </a:srgbClr>
                  </a:outerShdw>
                </a:effectLst>
              </a:rPr>
              <a:t>A more specific law prevails over a more general law </a:t>
            </a:r>
            <a:r>
              <a:rPr lang="en-US" dirty="0">
                <a:solidFill>
                  <a:srgbClr val="002060"/>
                </a:solidFill>
                <a:effectLst>
                  <a:outerShdw blurRad="38100" dist="38100" dir="2700000" algn="tl">
                    <a:srgbClr val="000000">
                      <a:alpha val="43137"/>
                    </a:srgbClr>
                  </a:outerShdw>
                </a:effectLst>
              </a:rPr>
              <a:t>(Latin: </a:t>
            </a:r>
            <a:r>
              <a:rPr lang="en-US" i="1" dirty="0">
                <a:solidFill>
                  <a:srgbClr val="002060"/>
                </a:solidFill>
                <a:effectLst>
                  <a:outerShdw blurRad="38100" dist="38100" dir="2700000" algn="tl">
                    <a:srgbClr val="000000">
                      <a:alpha val="43137"/>
                    </a:srgbClr>
                  </a:outerShdw>
                </a:effectLst>
              </a:rPr>
              <a:t>Lex specialis derogat legi generali</a:t>
            </a:r>
            <a:r>
              <a:rPr lang="en-US" dirty="0">
                <a:solidFill>
                  <a:srgbClr val="002060"/>
                </a:solidFill>
                <a:effectLst>
                  <a:outerShdw blurRad="38100" dist="38100" dir="2700000" algn="tl">
                    <a:srgbClr val="000000">
                      <a:alpha val="43137"/>
                    </a:srgbClr>
                  </a:outerShdw>
                </a:effectLst>
              </a:rPr>
              <a:t>). For example, company law establishes conditions for all businesses, whereas financial law sets different conditions for accountants. The latter is a specific law that prevails.</a:t>
            </a:r>
            <a:endParaRPr lang="en-US" noProof="0" dirty="0">
              <a:solidFill>
                <a:srgbClr val="002060"/>
              </a:solidFill>
              <a:effectLst>
                <a:outerShdw blurRad="38100" dist="38100" dir="2700000" algn="tl">
                  <a:srgbClr val="000000">
                    <a:alpha val="43137"/>
                  </a:srgbClr>
                </a:outerShdw>
              </a:effectLst>
            </a:endParaRPr>
          </a:p>
          <a:p>
            <a:r>
              <a:rPr lang="en-US" b="1" noProof="0" dirty="0">
                <a:solidFill>
                  <a:srgbClr val="FF0000"/>
                </a:solidFill>
                <a:effectLst>
                  <a:outerShdw blurRad="38100" dist="38100" dir="2700000" algn="tl">
                    <a:srgbClr val="000000">
                      <a:alpha val="43137"/>
                    </a:srgbClr>
                  </a:outerShdw>
                </a:effectLst>
              </a:rPr>
              <a:t>Agreements must be kept </a:t>
            </a:r>
            <a:r>
              <a:rPr lang="en-US" noProof="0" dirty="0">
                <a:solidFill>
                  <a:srgbClr val="002060"/>
                </a:solidFill>
                <a:effectLst>
                  <a:outerShdw blurRad="38100" dist="38100" dir="2700000" algn="tl">
                    <a:srgbClr val="000000">
                      <a:alpha val="43137"/>
                    </a:srgbClr>
                  </a:outerShdw>
                </a:effectLst>
              </a:rPr>
              <a:t>(Latin: </a:t>
            </a:r>
            <a:r>
              <a:rPr lang="en-US" i="1" noProof="0" dirty="0">
                <a:solidFill>
                  <a:srgbClr val="002060"/>
                </a:solidFill>
                <a:effectLst>
                  <a:outerShdw blurRad="38100" dist="38100" dir="2700000" algn="tl">
                    <a:srgbClr val="000000">
                      <a:alpha val="43137"/>
                    </a:srgbClr>
                  </a:outerShdw>
                </a:effectLst>
              </a:rPr>
              <a:t>Pacta sund servanda</a:t>
            </a:r>
            <a:r>
              <a:rPr lang="en-US" noProof="0" dirty="0">
                <a:solidFill>
                  <a:srgbClr val="002060"/>
                </a:solidFill>
                <a:effectLst>
                  <a:outerShdw blurRad="38100" dist="38100" dir="2700000" algn="tl">
                    <a:srgbClr val="000000">
                      <a:alpha val="43137"/>
                    </a:srgbClr>
                  </a:outerShdw>
                </a:effectLst>
              </a:rPr>
              <a:t>)</a:t>
            </a:r>
          </a:p>
          <a:p>
            <a:r>
              <a:rPr lang="en-US" b="1" noProof="0" dirty="0">
                <a:solidFill>
                  <a:srgbClr val="FF0000"/>
                </a:solidFill>
                <a:effectLst>
                  <a:outerShdw blurRad="38100" dist="38100" dir="2700000" algn="tl">
                    <a:srgbClr val="000000">
                      <a:alpha val="43137"/>
                    </a:srgbClr>
                  </a:outerShdw>
                </a:effectLst>
              </a:rPr>
              <a:t>The welfare of the people will be the supreme law </a:t>
            </a:r>
            <a:r>
              <a:rPr lang="en-US" noProof="0" dirty="0">
                <a:solidFill>
                  <a:srgbClr val="002060"/>
                </a:solidFill>
                <a:effectLst>
                  <a:outerShdw blurRad="38100" dist="38100" dir="2700000" algn="tl">
                    <a:srgbClr val="000000">
                      <a:alpha val="43137"/>
                    </a:srgbClr>
                  </a:outerShdw>
                </a:effectLst>
              </a:rPr>
              <a:t>(Latin: </a:t>
            </a:r>
            <a:r>
              <a:rPr lang="en-US" i="1" noProof="0" dirty="0">
                <a:solidFill>
                  <a:srgbClr val="002060"/>
                </a:solidFill>
                <a:effectLst>
                  <a:outerShdw blurRad="38100" dist="38100" dir="2700000" algn="tl">
                    <a:srgbClr val="000000">
                      <a:alpha val="43137"/>
                    </a:srgbClr>
                  </a:outerShdw>
                </a:effectLst>
                <a:highlight>
                  <a:srgbClr val="00FF00"/>
                </a:highlight>
              </a:rPr>
              <a:t>Salus populi suprema lex esto</a:t>
            </a:r>
            <a:r>
              <a:rPr lang="en-US" noProof="0" dirty="0">
                <a:solidFill>
                  <a:srgbClr val="002060"/>
                </a:solidFill>
                <a:effectLst>
                  <a:outerShdw blurRad="38100" dist="38100" dir="2700000" algn="tl">
                    <a:srgbClr val="000000">
                      <a:alpha val="43137"/>
                    </a:srgbClr>
                  </a:outerShdw>
                </a:effectLst>
                <a:highlight>
                  <a:srgbClr val="00FF00"/>
                </a:highlight>
              </a:rPr>
              <a:t>). </a:t>
            </a:r>
            <a:r>
              <a:rPr lang="en-US" noProof="0" dirty="0">
                <a:solidFill>
                  <a:srgbClr val="002060"/>
                </a:solidFill>
                <a:effectLst>
                  <a:outerShdw blurRad="38100" dist="38100" dir="2700000" algn="tl">
                    <a:srgbClr val="000000">
                      <a:alpha val="43137"/>
                    </a:srgbClr>
                  </a:outerShdw>
                </a:effectLst>
              </a:rPr>
              <a:t>Attributed to Julius Caesar, it is often used in debates over </a:t>
            </a:r>
            <a:r>
              <a:rPr lang="en-US" b="1" noProof="0" dirty="0">
                <a:solidFill>
                  <a:srgbClr val="002060"/>
                </a:solidFill>
                <a:effectLst>
                  <a:outerShdw blurRad="38100" dist="38100" dir="2700000" algn="tl">
                    <a:srgbClr val="000000">
                      <a:alpha val="43137"/>
                    </a:srgbClr>
                  </a:outerShdw>
                </a:effectLst>
              </a:rPr>
              <a:t>public security</a:t>
            </a:r>
            <a:r>
              <a:rPr lang="en-US" noProof="0"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2046300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5CB3E82-1D74-1108-C4DC-DB9A7768893A}"/>
              </a:ext>
            </a:extLst>
          </p:cNvPr>
          <p:cNvSpPr>
            <a:spLocks noGrp="1"/>
          </p:cNvSpPr>
          <p:nvPr>
            <p:ph type="title"/>
          </p:nvPr>
        </p:nvSpPr>
        <p:spPr/>
        <p:txBody>
          <a:bodyPr>
            <a:normAutofit/>
          </a:bodyPr>
          <a:lstStyle/>
          <a:p>
            <a:r>
              <a:rPr lang="pl-PL" sz="2800" b="1" dirty="0">
                <a:solidFill>
                  <a:srgbClr val="FF0000"/>
                </a:solidFill>
                <a:effectLst>
                  <a:outerShdw blurRad="38100" dist="38100" dir="2700000" algn="tl">
                    <a:srgbClr val="000000">
                      <a:alpha val="43137"/>
                    </a:srgbClr>
                  </a:outerShdw>
                </a:effectLst>
              </a:rPr>
              <a:t>Contemporary principles </a:t>
            </a:r>
            <a:r>
              <a:rPr lang="pl-PL" sz="2800" dirty="0">
                <a:solidFill>
                  <a:srgbClr val="FF0000"/>
                </a:solidFill>
                <a:effectLst>
                  <a:outerShdw blurRad="38100" dist="38100" dir="2700000" algn="tl">
                    <a:srgbClr val="000000">
                      <a:alpha val="43137"/>
                    </a:srgbClr>
                  </a:outerShdw>
                </a:effectLst>
              </a:rPr>
              <a:t>and </a:t>
            </a:r>
            <a:r>
              <a:rPr lang="pl-PL" sz="2800" b="1" dirty="0">
                <a:solidFill>
                  <a:srgbClr val="FF0000"/>
                </a:solidFill>
                <a:effectLst>
                  <a:outerShdw blurRad="38100" dist="38100" dir="2700000" algn="tl">
                    <a:srgbClr val="000000">
                      <a:alpha val="43137"/>
                    </a:srgbClr>
                  </a:outerShdw>
                </a:effectLst>
              </a:rPr>
              <a:t>tendencies</a:t>
            </a:r>
            <a:r>
              <a:rPr lang="pl-PL" sz="2800" dirty="0">
                <a:solidFill>
                  <a:srgbClr val="FF0000"/>
                </a:solidFill>
                <a:effectLst>
                  <a:outerShdw blurRad="38100" dist="38100" dir="2700000" algn="tl">
                    <a:srgbClr val="000000">
                      <a:alpha val="43137"/>
                    </a:srgbClr>
                  </a:outerShdw>
                </a:effectLst>
              </a:rPr>
              <a:t> in the </a:t>
            </a:r>
            <a:r>
              <a:rPr lang="pl-PL" sz="2800" b="1" dirty="0">
                <a:solidFill>
                  <a:srgbClr val="FF0000"/>
                </a:solidFill>
                <a:effectLst>
                  <a:outerShdw blurRad="38100" dist="38100" dir="2700000" algn="tl">
                    <a:srgbClr val="000000">
                      <a:alpha val="43137"/>
                    </a:srgbClr>
                  </a:outerShdw>
                </a:effectLst>
              </a:rPr>
              <a:t>interpretation</a:t>
            </a:r>
            <a:r>
              <a:rPr lang="pl-PL" sz="2800" dirty="0">
                <a:solidFill>
                  <a:srgbClr val="FF0000"/>
                </a:solidFill>
                <a:effectLst>
                  <a:outerShdw blurRad="38100" dist="38100" dir="2700000" algn="tl">
                    <a:srgbClr val="000000">
                      <a:alpha val="43137"/>
                    </a:srgbClr>
                  </a:outerShdw>
                </a:effectLst>
              </a:rPr>
              <a:t> of law</a:t>
            </a:r>
            <a:endParaRPr lang="en-US" sz="2800"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D32E8CA1-DDCD-06E3-A12B-5A84A2952ED5}"/>
              </a:ext>
            </a:extLst>
          </p:cNvPr>
          <p:cNvSpPr>
            <a:spLocks noGrp="1"/>
          </p:cNvSpPr>
          <p:nvPr>
            <p:ph idx="1"/>
          </p:nvPr>
        </p:nvSpPr>
        <p:spPr>
          <a:xfrm>
            <a:off x="838200" y="1825625"/>
            <a:ext cx="10515600" cy="4850478"/>
          </a:xfrm>
        </p:spPr>
        <p:txBody>
          <a:bodyPr>
            <a:normAutofit/>
          </a:bodyPr>
          <a:lstStyle/>
          <a:p>
            <a:pPr marL="0" indent="0">
              <a:buNone/>
            </a:pPr>
            <a:r>
              <a:rPr lang="pl-PL" b="1" dirty="0">
                <a:solidFill>
                  <a:srgbClr val="002060"/>
                </a:solidFill>
                <a:effectLst>
                  <a:outerShdw blurRad="38100" dist="38100" dir="2700000" algn="tl">
                    <a:srgbClr val="000000">
                      <a:alpha val="43137"/>
                    </a:srgbClr>
                  </a:outerShdw>
                </a:effectLst>
              </a:rPr>
              <a:t>Interpretation methods should be applied in the </a:t>
            </a:r>
            <a:r>
              <a:rPr lang="pl-PL" b="1" dirty="0">
                <a:solidFill>
                  <a:srgbClr val="FF0000"/>
                </a:solidFill>
                <a:effectLst>
                  <a:outerShdw blurRad="38100" dist="38100" dir="2700000" algn="tl">
                    <a:srgbClr val="000000">
                      <a:alpha val="43137"/>
                    </a:srgbClr>
                  </a:outerShdw>
                </a:effectLst>
              </a:rPr>
              <a:t>following order</a:t>
            </a:r>
            <a:r>
              <a:rPr lang="pl-PL" dirty="0">
                <a:solidFill>
                  <a:srgbClr val="002060"/>
                </a:solidFill>
                <a:effectLst>
                  <a:outerShdw blurRad="38100" dist="38100" dir="2700000" algn="tl">
                    <a:srgbClr val="000000">
                      <a:alpha val="43137"/>
                    </a:srgbClr>
                  </a:outerShdw>
                </a:effectLst>
              </a:rPr>
              <a:t>: </a:t>
            </a:r>
          </a:p>
          <a:p>
            <a:pPr marL="0" indent="0">
              <a:buNone/>
            </a:pPr>
            <a:r>
              <a:rPr lang="pl-PL" dirty="0">
                <a:solidFill>
                  <a:srgbClr val="002060"/>
                </a:solidFill>
                <a:effectLst>
                  <a:outerShdw blurRad="38100" dist="38100" dir="2700000" algn="tl">
                    <a:srgbClr val="000000">
                      <a:alpha val="43137"/>
                    </a:srgbClr>
                  </a:outerShdw>
                </a:effectLst>
              </a:rPr>
              <a:t>1) </a:t>
            </a:r>
            <a:r>
              <a:rPr lang="pl-PL" b="1" dirty="0">
                <a:solidFill>
                  <a:srgbClr val="FF0000"/>
                </a:solidFill>
                <a:effectLst>
                  <a:outerShdw blurRad="38100" dist="38100" dir="2700000" algn="tl">
                    <a:srgbClr val="000000">
                      <a:alpha val="43137"/>
                    </a:srgbClr>
                  </a:outerShdw>
                </a:effectLst>
              </a:rPr>
              <a:t>Literal reading </a:t>
            </a:r>
            <a:r>
              <a:rPr lang="pl-PL" dirty="0">
                <a:solidFill>
                  <a:srgbClr val="002060"/>
                </a:solidFill>
                <a:effectLst>
                  <a:outerShdw blurRad="38100" dist="38100" dir="2700000" algn="tl">
                    <a:srgbClr val="000000">
                      <a:alpha val="43137"/>
                    </a:srgbClr>
                  </a:outerShdw>
                </a:effectLst>
              </a:rPr>
              <a:t>of the </a:t>
            </a:r>
            <a:r>
              <a:rPr lang="pl-PL" dirty="0" err="1">
                <a:solidFill>
                  <a:srgbClr val="002060"/>
                </a:solidFill>
                <a:effectLst>
                  <a:outerShdw blurRad="38100" dist="38100" dir="2700000" algn="tl">
                    <a:srgbClr val="000000">
                      <a:alpha val="43137"/>
                    </a:srgbClr>
                  </a:outerShdw>
                </a:effectLst>
              </a:rPr>
              <a:t>text</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this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method</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is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given</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priority</a:t>
            </a:r>
            <a:r>
              <a:rPr lang="pl-PL" dirty="0">
                <a:solidFill>
                  <a:srgbClr val="002060"/>
                </a:solidFill>
                <a:effectLst>
                  <a:outerShdw blurRad="38100" dist="38100" dir="2700000" algn="tl">
                    <a:srgbClr val="000000">
                      <a:alpha val="43137"/>
                    </a:srgbClr>
                  </a:outerShdw>
                </a:effectLst>
              </a:rPr>
              <a:t>), </a:t>
            </a:r>
          </a:p>
          <a:p>
            <a:pPr marL="0" indent="0">
              <a:buNone/>
            </a:pPr>
            <a:r>
              <a:rPr lang="pl-PL" dirty="0">
                <a:solidFill>
                  <a:srgbClr val="002060"/>
                </a:solidFill>
                <a:effectLst>
                  <a:outerShdw blurRad="38100" dist="38100" dir="2700000" algn="tl">
                    <a:srgbClr val="000000">
                      <a:alpha val="43137"/>
                    </a:srgbClr>
                  </a:outerShdw>
                </a:effectLst>
              </a:rPr>
              <a:t>2) </a:t>
            </a:r>
            <a:r>
              <a:rPr lang="en-US" dirty="0">
                <a:solidFill>
                  <a:srgbClr val="002060"/>
                </a:solidFill>
                <a:effectLst>
                  <a:outerShdw blurRad="38100" dist="38100" dir="2700000" algn="tl">
                    <a:srgbClr val="000000">
                      <a:alpha val="43137"/>
                    </a:srgbClr>
                  </a:outerShdw>
                </a:effectLst>
              </a:rPr>
              <a:t>If the meaning of the text (the norm, the rule of behavior) is still not clear, it is possible to apply other methods</a:t>
            </a:r>
            <a:r>
              <a:rPr lang="pl-PL" dirty="0">
                <a:solidFill>
                  <a:srgbClr val="002060"/>
                </a:solidFill>
                <a:effectLst>
                  <a:outerShdw blurRad="38100" dist="38100" dir="2700000" algn="tl">
                    <a:srgbClr val="000000">
                      <a:alpha val="43137"/>
                    </a:srgbClr>
                  </a:outerShdw>
                </a:effectLst>
              </a:rPr>
              <a:t> of interpretation</a:t>
            </a:r>
            <a:r>
              <a:rPr lang="en-US" dirty="0">
                <a:solidFill>
                  <a:srgbClr val="002060"/>
                </a:solidFill>
                <a:effectLst>
                  <a:outerShdw blurRad="38100" dist="38100" dir="2700000" algn="tl">
                    <a:srgbClr val="000000">
                      <a:alpha val="43137"/>
                    </a:srgbClr>
                  </a:outerShdw>
                </a:effectLst>
              </a:rPr>
              <a:t>,</a:t>
            </a:r>
            <a:r>
              <a:rPr lang="pl-PL" dirty="0">
                <a:solidFill>
                  <a:srgbClr val="002060"/>
                </a:solidFill>
                <a:effectLst>
                  <a:outerShdw blurRad="38100" dist="38100" dir="2700000" algn="tl">
                    <a:srgbClr val="000000">
                      <a:alpha val="43137"/>
                    </a:srgbClr>
                  </a:outerShdw>
                </a:effectLst>
              </a:rPr>
              <a:t> such as </a:t>
            </a:r>
            <a:r>
              <a:rPr lang="pl-PL" b="1" dirty="0">
                <a:solidFill>
                  <a:srgbClr val="FF0000"/>
                </a:solidFill>
                <a:effectLst>
                  <a:outerShdw blurRad="38100" dist="38100" dir="2700000" algn="tl">
                    <a:srgbClr val="000000">
                      <a:alpha val="43137"/>
                    </a:srgbClr>
                  </a:outerShdw>
                </a:effectLst>
              </a:rPr>
              <a:t>logical,</a:t>
            </a:r>
            <a:r>
              <a:rPr lang="pl-PL" dirty="0">
                <a:solidFill>
                  <a:srgbClr val="002060"/>
                </a:solidFill>
                <a:effectLst>
                  <a:outerShdw blurRad="38100" dist="38100" dir="2700000" algn="tl">
                    <a:srgbClr val="000000">
                      <a:alpha val="43137"/>
                    </a:srgbClr>
                  </a:outerShdw>
                </a:effectLst>
              </a:rPr>
              <a:t> </a:t>
            </a:r>
            <a:r>
              <a:rPr lang="pl-PL" b="1" dirty="0">
                <a:solidFill>
                  <a:srgbClr val="FF0000"/>
                </a:solidFill>
                <a:effectLst>
                  <a:outerShdw blurRad="38100" dist="38100" dir="2700000" algn="tl">
                    <a:srgbClr val="000000">
                      <a:alpha val="43137"/>
                    </a:srgbClr>
                  </a:outerShdw>
                </a:effectLst>
              </a:rPr>
              <a:t>systemic, purposive, or historical</a:t>
            </a:r>
          </a:p>
          <a:p>
            <a:r>
              <a:rPr lang="pl-PL" b="1" dirty="0">
                <a:solidFill>
                  <a:srgbClr val="FF0000"/>
                </a:solidFill>
                <a:effectLst>
                  <a:outerShdw blurRad="38100" dist="38100" dir="2700000" algn="tl">
                    <a:srgbClr val="000000">
                      <a:alpha val="43137"/>
                    </a:srgbClr>
                  </a:outerShdw>
                </a:effectLst>
              </a:rPr>
              <a:t> Regardless of the method used, it is prohibited to reach conclusions contrary to the literal reading of the text </a:t>
            </a:r>
            <a:r>
              <a:rPr lang="pl-PL" dirty="0">
                <a:solidFill>
                  <a:srgbClr val="002060"/>
                </a:solidFill>
                <a:effectLst>
                  <a:outerShdw blurRad="38100" dist="38100" dir="2700000" algn="tl">
                    <a:srgbClr val="000000">
                      <a:alpha val="43137"/>
                    </a:srgbClr>
                  </a:outerShdw>
                </a:effectLst>
              </a:rPr>
              <a:t>(sometimes disregarded, for example</a:t>
            </a:r>
            <a:r>
              <a:rPr lang="en-US" dirty="0">
                <a:solidFill>
                  <a:srgbClr val="002060"/>
                </a:solidFill>
                <a:effectLst>
                  <a:outerShdw blurRad="38100" dist="38100" dir="2700000" algn="tl">
                    <a:srgbClr val="000000">
                      <a:alpha val="43137"/>
                    </a:srgbClr>
                  </a:outerShdw>
                </a:effectLst>
              </a:rPr>
              <a:t>, when the law says  „citizens”, various forms of protection also apply</a:t>
            </a:r>
            <a:r>
              <a:rPr lang="pl-PL" dirty="0">
                <a:solidFill>
                  <a:srgbClr val="002060"/>
                </a:solidFill>
                <a:effectLst>
                  <a:outerShdw blurRad="38100" dist="38100" dir="2700000" algn="tl">
                    <a:srgbClr val="000000">
                      <a:alpha val="43137"/>
                    </a:srgbClr>
                  </a:outerShdw>
                </a:effectLst>
              </a:rPr>
              <a:t> to non-citizens.  </a:t>
            </a:r>
          </a:p>
        </p:txBody>
      </p:sp>
    </p:spTree>
    <p:extLst>
      <p:ext uri="{BB962C8B-B14F-4D97-AF65-F5344CB8AC3E}">
        <p14:creationId xmlns:p14="http://schemas.microsoft.com/office/powerpoint/2010/main" val="3841165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9421B30-E058-3465-221F-2C50059D09FF}"/>
              </a:ext>
            </a:extLst>
          </p:cNvPr>
          <p:cNvSpPr>
            <a:spLocks noGrp="1"/>
          </p:cNvSpPr>
          <p:nvPr>
            <p:ph type="title"/>
          </p:nvPr>
        </p:nvSpPr>
        <p:spPr/>
        <p:txBody>
          <a:bodyPr>
            <a:normAutofit/>
          </a:bodyPr>
          <a:lstStyle/>
          <a:p>
            <a:r>
              <a:rPr lang="pl-PL" sz="2800" dirty="0">
                <a:solidFill>
                  <a:srgbClr val="FF0000"/>
                </a:solidFill>
                <a:effectLst>
                  <a:outerShdw blurRad="38100" dist="38100" dir="2700000" algn="tl">
                    <a:srgbClr val="000000">
                      <a:alpha val="43137"/>
                    </a:srgbClr>
                  </a:outerShdw>
                </a:effectLst>
              </a:rPr>
              <a:t>Contemporary principles and tendencies in the interpretation of law</a:t>
            </a:r>
            <a:endParaRPr lang="en-US" sz="2800" dirty="0"/>
          </a:p>
        </p:txBody>
      </p:sp>
      <p:sp>
        <p:nvSpPr>
          <p:cNvPr id="3" name="Symbol zastępczy zawartości 2">
            <a:extLst>
              <a:ext uri="{FF2B5EF4-FFF2-40B4-BE49-F238E27FC236}">
                <a16:creationId xmlns:a16="http://schemas.microsoft.com/office/drawing/2014/main" id="{95D53456-8921-2FD3-7B9F-30D610155A1E}"/>
              </a:ext>
            </a:extLst>
          </p:cNvPr>
          <p:cNvSpPr>
            <a:spLocks noGrp="1"/>
          </p:cNvSpPr>
          <p:nvPr>
            <p:ph idx="1"/>
          </p:nvPr>
        </p:nvSpPr>
        <p:spPr>
          <a:xfrm>
            <a:off x="838200" y="1825625"/>
            <a:ext cx="10515600" cy="4899640"/>
          </a:xfrm>
        </p:spPr>
        <p:txBody>
          <a:bodyPr>
            <a:normAutofit lnSpcReduction="10000"/>
          </a:bodyPr>
          <a:lstStyle/>
          <a:p>
            <a:pPr marL="0" indent="0">
              <a:buNone/>
            </a:pPr>
            <a:r>
              <a:rPr lang="en-US" b="1" noProof="0" dirty="0">
                <a:solidFill>
                  <a:srgbClr val="FF0000"/>
                </a:solidFill>
                <a:effectLst>
                  <a:outerShdw blurRad="38100" dist="38100" dir="2700000" algn="tl">
                    <a:srgbClr val="000000">
                      <a:alpha val="43137"/>
                    </a:srgbClr>
                  </a:outerShdw>
                </a:effectLst>
              </a:rPr>
              <a:t>Logical interpretation </a:t>
            </a:r>
            <a:r>
              <a:rPr lang="en-US" b="1" noProof="0" dirty="0">
                <a:solidFill>
                  <a:srgbClr val="002060"/>
                </a:solidFill>
                <a:effectLst>
                  <a:outerShdw blurRad="38100" dist="38100" dir="2700000" algn="tl">
                    <a:srgbClr val="000000">
                      <a:alpha val="43137"/>
                    </a:srgbClr>
                  </a:outerShdw>
                </a:effectLst>
              </a:rPr>
              <a:t>– </a:t>
            </a:r>
            <a:r>
              <a:rPr lang="en-US" noProof="0" dirty="0">
                <a:solidFill>
                  <a:srgbClr val="002060"/>
                </a:solidFill>
                <a:effectLst>
                  <a:outerShdw blurRad="38100" dist="38100" dir="2700000" algn="tl">
                    <a:srgbClr val="000000">
                      <a:alpha val="43137"/>
                    </a:srgbClr>
                  </a:outerShdw>
                </a:effectLst>
              </a:rPr>
              <a:t>e.g., a </a:t>
            </a:r>
            <a:r>
              <a:rPr lang="en-US" b="1" noProof="0" dirty="0">
                <a:solidFill>
                  <a:srgbClr val="002060"/>
                </a:solidFill>
                <a:effectLst>
                  <a:outerShdw blurRad="38100" dist="38100" dir="2700000" algn="tl">
                    <a:srgbClr val="000000">
                      <a:alpha val="43137"/>
                    </a:srgbClr>
                  </a:outerShdw>
                </a:effectLst>
              </a:rPr>
              <a:t>maiori ad minus</a:t>
            </a:r>
            <a:r>
              <a:rPr lang="pl-PL" b="1" noProof="0" dirty="0">
                <a:solidFill>
                  <a:srgbClr val="002060"/>
                </a:solidFill>
                <a:effectLst>
                  <a:outerShdw blurRad="38100" dist="38100" dir="2700000" algn="tl">
                    <a:srgbClr val="000000">
                      <a:alpha val="43137"/>
                    </a:srgbClr>
                  </a:outerShdw>
                </a:effectLst>
              </a:rPr>
              <a:t> (from more to less)</a:t>
            </a:r>
            <a:r>
              <a:rPr lang="en-US" noProof="0" dirty="0">
                <a:solidFill>
                  <a:srgbClr val="002060"/>
                </a:solidFill>
                <a:effectLst>
                  <a:outerShdw blurRad="38100" dist="38100" dir="2700000" algn="tl">
                    <a:srgbClr val="000000">
                      <a:alpha val="43137"/>
                    </a:srgbClr>
                  </a:outerShdw>
                </a:effectLst>
              </a:rPr>
              <a:t>. This Latin phrase means that if I have the right to do more, I can also do less. If I have the right to </a:t>
            </a:r>
            <a:r>
              <a:rPr lang="en-US" b="1" i="1" noProof="0" dirty="0">
                <a:solidFill>
                  <a:srgbClr val="00B0F0"/>
                </a:solidFill>
                <a:effectLst>
                  <a:outerShdw blurRad="38100" dist="38100" dir="2700000" algn="tl">
                    <a:srgbClr val="000000">
                      <a:alpha val="43137"/>
                    </a:srgbClr>
                  </a:outerShdw>
                </a:effectLst>
              </a:rPr>
              <a:t>drive through someone’s property, I can also walk through it. </a:t>
            </a:r>
            <a:endParaRPr lang="pl-PL" b="1" i="1" noProof="0" dirty="0">
              <a:solidFill>
                <a:srgbClr val="00B0F0"/>
              </a:solidFill>
              <a:effectLst>
                <a:outerShdw blurRad="38100" dist="38100" dir="2700000" algn="tl">
                  <a:srgbClr val="000000">
                    <a:alpha val="43137"/>
                  </a:srgbClr>
                </a:outerShdw>
              </a:effectLst>
            </a:endParaRPr>
          </a:p>
          <a:p>
            <a:r>
              <a:rPr lang="en-US" noProof="0" dirty="0">
                <a:solidFill>
                  <a:srgbClr val="002060"/>
                </a:solidFill>
                <a:effectLst>
                  <a:outerShdw blurRad="38100" dist="38100" dir="2700000" algn="tl">
                    <a:srgbClr val="000000">
                      <a:alpha val="43137"/>
                    </a:srgbClr>
                  </a:outerShdw>
                </a:effectLst>
              </a:rPr>
              <a:t>Conversely, </a:t>
            </a:r>
            <a:r>
              <a:rPr lang="en-US" b="1" noProof="0" dirty="0">
                <a:solidFill>
                  <a:srgbClr val="FF0000"/>
                </a:solidFill>
                <a:effectLst>
                  <a:outerShdw blurRad="38100" dist="38100" dir="2700000" algn="tl">
                    <a:srgbClr val="000000">
                      <a:alpha val="43137"/>
                    </a:srgbClr>
                  </a:outerShdw>
                </a:effectLst>
              </a:rPr>
              <a:t>a</a:t>
            </a:r>
            <a:r>
              <a:rPr lang="en-US" b="1" noProof="0" dirty="0">
                <a:solidFill>
                  <a:srgbClr val="002060"/>
                </a:solidFill>
                <a:effectLst>
                  <a:outerShdw blurRad="38100" dist="38100" dir="2700000" algn="tl">
                    <a:srgbClr val="000000">
                      <a:alpha val="43137"/>
                    </a:srgbClr>
                  </a:outerShdw>
                </a:effectLst>
              </a:rPr>
              <a:t> </a:t>
            </a:r>
            <a:r>
              <a:rPr lang="en-US" b="1" noProof="0" dirty="0">
                <a:solidFill>
                  <a:srgbClr val="FF0000"/>
                </a:solidFill>
                <a:effectLst>
                  <a:outerShdw blurRad="38100" dist="38100" dir="2700000" algn="tl">
                    <a:srgbClr val="000000">
                      <a:alpha val="43137"/>
                    </a:srgbClr>
                  </a:outerShdw>
                </a:effectLst>
              </a:rPr>
              <a:t>minori ad maius </a:t>
            </a:r>
            <a:r>
              <a:rPr lang="pl-PL" b="1" noProof="0" dirty="0">
                <a:solidFill>
                  <a:srgbClr val="002060"/>
                </a:solidFill>
                <a:effectLst>
                  <a:outerShdw blurRad="38100" dist="38100" dir="2700000" algn="tl">
                    <a:srgbClr val="000000">
                      <a:alpha val="43137"/>
                    </a:srgbClr>
                  </a:outerShdw>
                </a:effectLst>
              </a:rPr>
              <a:t>( from less to more)</a:t>
            </a:r>
            <a:r>
              <a:rPr lang="en-US" noProof="0" dirty="0">
                <a:solidFill>
                  <a:srgbClr val="002060"/>
                </a:solidFill>
                <a:effectLst>
                  <a:outerShdw blurRad="38100" dist="38100" dir="2700000" algn="tl">
                    <a:srgbClr val="000000">
                      <a:alpha val="43137"/>
                    </a:srgbClr>
                  </a:outerShdw>
                </a:effectLst>
              </a:rPr>
              <a:t>– if during the COVID-19 pandemic </a:t>
            </a:r>
            <a:r>
              <a:rPr lang="en-US" i="1" noProof="0" dirty="0">
                <a:solidFill>
                  <a:srgbClr val="00B0F0"/>
                </a:solidFill>
                <a:effectLst>
                  <a:outerShdw blurRad="38100" dist="38100" dir="2700000" algn="tl">
                    <a:srgbClr val="000000">
                      <a:alpha val="43137"/>
                    </a:srgbClr>
                  </a:outerShdw>
                </a:effectLst>
              </a:rPr>
              <a:t>one was prohibited from </a:t>
            </a:r>
            <a:r>
              <a:rPr lang="en-US" b="1" i="1" noProof="0" dirty="0">
                <a:solidFill>
                  <a:srgbClr val="00B0F0"/>
                </a:solidFill>
                <a:effectLst>
                  <a:outerShdw blurRad="38100" dist="38100" dir="2700000" algn="tl">
                    <a:srgbClr val="000000">
                      <a:alpha val="43137"/>
                    </a:srgbClr>
                  </a:outerShdw>
                </a:effectLst>
              </a:rPr>
              <a:t>leaving the house</a:t>
            </a:r>
            <a:r>
              <a:rPr lang="en-US" i="1" noProof="0" dirty="0">
                <a:solidFill>
                  <a:srgbClr val="00B0F0"/>
                </a:solidFill>
                <a:effectLst>
                  <a:outerShdw blurRad="38100" dist="38100" dir="2700000" algn="tl">
                    <a:srgbClr val="000000">
                      <a:alpha val="43137"/>
                    </a:srgbClr>
                  </a:outerShdw>
                </a:effectLst>
              </a:rPr>
              <a:t>, even more so was </a:t>
            </a:r>
            <a:r>
              <a:rPr lang="pl-PL" i="1" noProof="0" dirty="0">
                <a:solidFill>
                  <a:srgbClr val="00B0F0"/>
                </a:solidFill>
                <a:effectLst>
                  <a:outerShdw blurRad="38100" dist="38100" dir="2700000" algn="tl">
                    <a:srgbClr val="000000">
                      <a:alpha val="43137"/>
                    </a:srgbClr>
                  </a:outerShdw>
                </a:effectLst>
              </a:rPr>
              <a:t>one banned</a:t>
            </a:r>
            <a:r>
              <a:rPr lang="en-US" i="1" noProof="0" dirty="0">
                <a:solidFill>
                  <a:srgbClr val="00B0F0"/>
                </a:solidFill>
                <a:effectLst>
                  <a:outerShdw blurRad="38100" dist="38100" dir="2700000" algn="tl">
                    <a:srgbClr val="000000">
                      <a:alpha val="43137"/>
                    </a:srgbClr>
                  </a:outerShdw>
                </a:effectLst>
              </a:rPr>
              <a:t> from jogging in the park</a:t>
            </a:r>
            <a:r>
              <a:rPr lang="pl-PL" i="1" dirty="0">
                <a:solidFill>
                  <a:srgbClr val="00B0F0"/>
                </a:solidFill>
                <a:effectLst>
                  <a:outerShdw blurRad="38100" dist="38100" dir="2700000" algn="tl">
                    <a:srgbClr val="000000">
                      <a:alpha val="43137"/>
                    </a:srgbClr>
                  </a:outerShdw>
                </a:effectLst>
              </a:rPr>
              <a:t>. </a:t>
            </a:r>
          </a:p>
          <a:p>
            <a:r>
              <a:rPr lang="pl-PL" b="1" dirty="0">
                <a:solidFill>
                  <a:srgbClr val="FF0000"/>
                </a:solidFill>
                <a:effectLst>
                  <a:outerShdw blurRad="38100" dist="38100" dir="2700000" algn="tl">
                    <a:srgbClr val="000000">
                      <a:alpha val="43137"/>
                    </a:srgbClr>
                  </a:outerShdw>
                </a:effectLst>
              </a:rPr>
              <a:t>Argument a contrario </a:t>
            </a:r>
            <a:r>
              <a:rPr lang="pl-PL" dirty="0">
                <a:solidFill>
                  <a:srgbClr val="002060"/>
                </a:solidFill>
                <a:effectLst>
                  <a:outerShdw blurRad="38100" dist="38100" dir="2700000" algn="tl">
                    <a:srgbClr val="000000">
                      <a:alpha val="43137"/>
                    </a:srgbClr>
                  </a:outerShdw>
                </a:effectLst>
              </a:rPr>
              <a:t>-  </a:t>
            </a:r>
            <a:r>
              <a:rPr lang="en-US" noProof="0" dirty="0">
                <a:solidFill>
                  <a:srgbClr val="002060"/>
                </a:solidFill>
                <a:effectLst>
                  <a:outerShdw blurRad="38100" dist="38100" dir="2700000" algn="tl">
                    <a:srgbClr val="000000">
                      <a:alpha val="43137"/>
                    </a:srgbClr>
                  </a:outerShdw>
                </a:effectLst>
              </a:rPr>
              <a:t>if, according to the Constitution, </a:t>
            </a:r>
            <a:r>
              <a:rPr lang="en-US" b="1" noProof="0" dirty="0">
                <a:solidFill>
                  <a:srgbClr val="FF0000"/>
                </a:solidFill>
                <a:effectLst>
                  <a:outerShdw blurRad="38100" dist="38100" dir="2700000" algn="tl">
                    <a:srgbClr val="000000">
                      <a:alpha val="43137"/>
                    </a:srgbClr>
                  </a:outerShdw>
                </a:effectLst>
              </a:rPr>
              <a:t>what is not prohibited is allowed</a:t>
            </a:r>
            <a:r>
              <a:rPr lang="en-US" noProof="0" dirty="0">
                <a:solidFill>
                  <a:srgbClr val="002060"/>
                </a:solidFill>
                <a:effectLst>
                  <a:outerShdw blurRad="38100" dist="38100" dir="2700000" algn="tl">
                    <a:srgbClr val="000000">
                      <a:alpha val="43137"/>
                    </a:srgbClr>
                  </a:outerShdw>
                </a:effectLst>
              </a:rPr>
              <a:t>, </a:t>
            </a:r>
            <a:r>
              <a:rPr lang="en-US" i="1" noProof="0" dirty="0">
                <a:solidFill>
                  <a:srgbClr val="0070C0"/>
                </a:solidFill>
                <a:effectLst>
                  <a:outerShdw blurRad="38100" dist="38100" dir="2700000" algn="tl">
                    <a:srgbClr val="000000">
                      <a:alpha val="43137"/>
                    </a:srgbClr>
                  </a:outerShdw>
                </a:effectLst>
              </a:rPr>
              <a:t>I can start doing business without permission because the law does not mention</a:t>
            </a:r>
            <a:r>
              <a:rPr lang="pl-PL" i="1" noProof="0" dirty="0">
                <a:solidFill>
                  <a:srgbClr val="0070C0"/>
                </a:solidFill>
                <a:effectLst>
                  <a:outerShdw blurRad="38100" dist="38100" dir="2700000" algn="tl">
                    <a:srgbClr val="000000">
                      <a:alpha val="43137"/>
                    </a:srgbClr>
                  </a:outerShdw>
                </a:effectLst>
              </a:rPr>
              <a:t> </a:t>
            </a:r>
            <a:r>
              <a:rPr lang="pl-PL" i="1" noProof="0" dirty="0" err="1">
                <a:solidFill>
                  <a:srgbClr val="0070C0"/>
                </a:solidFill>
                <a:effectLst>
                  <a:outerShdw blurRad="38100" dist="38100" dir="2700000" algn="tl">
                    <a:srgbClr val="000000">
                      <a:alpha val="43137"/>
                    </a:srgbClr>
                  </a:outerShdw>
                </a:effectLst>
              </a:rPr>
              <a:t>this</a:t>
            </a:r>
            <a:r>
              <a:rPr lang="pl-PL" i="1" noProof="0" dirty="0">
                <a:solidFill>
                  <a:srgbClr val="0070C0"/>
                </a:solidFill>
                <a:effectLst>
                  <a:outerShdw blurRad="38100" dist="38100" dir="2700000" algn="tl">
                    <a:srgbClr val="000000">
                      <a:alpha val="43137"/>
                    </a:srgbClr>
                  </a:outerShdw>
                </a:effectLst>
              </a:rPr>
              <a:t> </a:t>
            </a:r>
            <a:r>
              <a:rPr lang="pl-PL" i="1" noProof="0" dirty="0" err="1">
                <a:solidFill>
                  <a:srgbClr val="0070C0"/>
                </a:solidFill>
                <a:effectLst>
                  <a:outerShdw blurRad="38100" dist="38100" dir="2700000" algn="tl">
                    <a:srgbClr val="000000">
                      <a:alpha val="43137"/>
                    </a:srgbClr>
                  </a:outerShdw>
                </a:effectLst>
              </a:rPr>
              <a:t>type</a:t>
            </a:r>
            <a:r>
              <a:rPr lang="pl-PL" i="1" noProof="0" dirty="0">
                <a:solidFill>
                  <a:srgbClr val="0070C0"/>
                </a:solidFill>
                <a:effectLst>
                  <a:outerShdw blurRad="38100" dist="38100" dir="2700000" algn="tl">
                    <a:srgbClr val="000000">
                      <a:alpha val="43137"/>
                    </a:srgbClr>
                  </a:outerShdw>
                </a:effectLst>
              </a:rPr>
              <a:t> of </a:t>
            </a:r>
            <a:r>
              <a:rPr lang="pl-PL" i="1" noProof="0" dirty="0" err="1">
                <a:solidFill>
                  <a:srgbClr val="0070C0"/>
                </a:solidFill>
                <a:effectLst>
                  <a:outerShdw blurRad="38100" dist="38100" dir="2700000" algn="tl">
                    <a:srgbClr val="000000">
                      <a:alpha val="43137"/>
                    </a:srgbClr>
                  </a:outerShdw>
                </a:effectLst>
              </a:rPr>
              <a:t>activity</a:t>
            </a:r>
            <a:endParaRPr lang="pl-PL" i="1" noProof="0" dirty="0">
              <a:solidFill>
                <a:srgbClr val="0070C0"/>
              </a:solidFill>
              <a:effectLst>
                <a:outerShdw blurRad="38100" dist="38100" dir="2700000" algn="tl">
                  <a:srgbClr val="000000">
                    <a:alpha val="43137"/>
                  </a:srgbClr>
                </a:outerShdw>
              </a:effectLst>
            </a:endParaRPr>
          </a:p>
          <a:p>
            <a:r>
              <a:rPr lang="pl-PL" b="1" dirty="0">
                <a:solidFill>
                  <a:srgbClr val="FF0000"/>
                </a:solidFill>
                <a:effectLst>
                  <a:outerShdw blurRad="38100" dist="38100" dir="2700000" algn="tl">
                    <a:srgbClr val="000000">
                      <a:alpha val="43137"/>
                    </a:srgbClr>
                  </a:outerShdw>
                </a:effectLst>
              </a:rPr>
              <a:t>Analogy</a:t>
            </a:r>
            <a:r>
              <a:rPr lang="pl-PL" dirty="0">
                <a:solidFill>
                  <a:srgbClr val="002060"/>
                </a:solidFill>
                <a:effectLst>
                  <a:outerShdw blurRad="38100" dist="38100" dir="2700000" algn="tl">
                    <a:srgbClr val="000000">
                      <a:alpha val="43137"/>
                    </a:srgbClr>
                  </a:outerShdw>
                </a:effectLst>
              </a:rPr>
              <a:t> – It is </a:t>
            </a:r>
            <a:r>
              <a:rPr lang="pl-PL" b="1" dirty="0">
                <a:solidFill>
                  <a:srgbClr val="FF0000"/>
                </a:solidFill>
                <a:effectLst>
                  <a:outerShdw blurRad="38100" dist="38100" dir="2700000" algn="tl">
                    <a:srgbClr val="000000">
                      <a:alpha val="43137"/>
                    </a:srgbClr>
                  </a:outerShdw>
                </a:effectLst>
              </a:rPr>
              <a:t>not </a:t>
            </a:r>
            <a:r>
              <a:rPr lang="en-US" b="1" dirty="0">
                <a:solidFill>
                  <a:srgbClr val="FF0000"/>
                </a:solidFill>
                <a:effectLst>
                  <a:outerShdw blurRad="38100" dist="38100" dir="2700000" algn="tl">
                    <a:srgbClr val="000000">
                      <a:alpha val="43137"/>
                    </a:srgbClr>
                  </a:outerShdw>
                </a:effectLst>
              </a:rPr>
              <a:t>permitted to interpret laws limiting freedom (criminal or</a:t>
            </a:r>
            <a:r>
              <a:rPr lang="pl-PL" dirty="0">
                <a:solidFill>
                  <a:srgbClr val="002060"/>
                </a:solidFill>
                <a:effectLst>
                  <a:outerShdw blurRad="38100" dist="38100" dir="2700000" algn="tl">
                    <a:srgbClr val="000000">
                      <a:alpha val="43137"/>
                    </a:srgbClr>
                  </a:outerShdw>
                </a:effectLst>
              </a:rPr>
              <a:t> </a:t>
            </a:r>
            <a:r>
              <a:rPr lang="pl-PL" b="1" dirty="0">
                <a:solidFill>
                  <a:srgbClr val="FF0000"/>
                </a:solidFill>
                <a:effectLst>
                  <a:outerShdw blurRad="38100" dist="38100" dir="2700000" algn="tl">
                    <a:srgbClr val="000000">
                      <a:alpha val="43137"/>
                    </a:srgbClr>
                  </a:outerShdw>
                </a:effectLst>
              </a:rPr>
              <a:t>administrative</a:t>
            </a:r>
            <a:r>
              <a:rPr lang="pl-PL" dirty="0">
                <a:solidFill>
                  <a:srgbClr val="002060"/>
                </a:solidFill>
                <a:effectLst>
                  <a:outerShdw blurRad="38100" dist="38100" dir="2700000" algn="tl">
                    <a:srgbClr val="000000">
                      <a:alpha val="43137"/>
                    </a:srgbClr>
                  </a:outerShdw>
                </a:effectLst>
              </a:rPr>
              <a:t>). </a:t>
            </a:r>
            <a:r>
              <a:rPr lang="pl-PL" i="1" dirty="0">
                <a:solidFill>
                  <a:srgbClr val="0070C0"/>
                </a:solidFill>
                <a:effectLst>
                  <a:outerShdw blurRad="38100" dist="38100" dir="2700000" algn="tl">
                    <a:srgbClr val="000000">
                      <a:alpha val="43137"/>
                    </a:srgbClr>
                  </a:outerShdw>
                </a:effectLst>
              </a:rPr>
              <a:t>If </a:t>
            </a:r>
            <a:r>
              <a:rPr lang="en-US" i="1" dirty="0">
                <a:solidFill>
                  <a:srgbClr val="0070C0"/>
                </a:solidFill>
                <a:effectLst>
                  <a:outerShdw blurRad="38100" dist="38100" dir="2700000" algn="tl">
                    <a:srgbClr val="000000">
                      <a:alpha val="43137"/>
                    </a:srgbClr>
                  </a:outerShdw>
                </a:effectLst>
              </a:rPr>
              <a:t>a tax is imposed on the possession of dogs, it does not affect owners of cats (there has to be </a:t>
            </a:r>
            <a:r>
              <a:rPr lang="pl-PL" i="1" dirty="0">
                <a:solidFill>
                  <a:srgbClr val="0070C0"/>
                </a:solidFill>
                <a:effectLst>
                  <a:outerShdw blurRad="38100" dist="38100" dir="2700000" algn="tl">
                    <a:srgbClr val="000000">
                      <a:alpha val="43137"/>
                    </a:srgbClr>
                  </a:outerShdw>
                </a:effectLst>
              </a:rPr>
              <a:t>a separate provision of law on cat taxes).  </a:t>
            </a:r>
            <a:r>
              <a:rPr lang="pl-PL" b="1" dirty="0">
                <a:solidFill>
                  <a:srgbClr val="FF0000"/>
                </a:solidFill>
                <a:effectLst>
                  <a:outerShdw blurRad="38100" dist="38100" dir="2700000" algn="tl">
                    <a:srgbClr val="000000">
                      <a:alpha val="43137"/>
                    </a:srgbClr>
                  </a:outerShdw>
                </a:effectLst>
              </a:rPr>
              <a:t>Analogy is allowed in private law (civil law).</a:t>
            </a:r>
            <a:endParaRPr lang="en-US" b="1" noProof="0" dirty="0">
              <a:solidFill>
                <a:srgbClr val="FF000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265746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C2E1138-93A9-892D-3FF8-02FFBCED5FBF}"/>
              </a:ext>
            </a:extLst>
          </p:cNvPr>
          <p:cNvSpPr>
            <a:spLocks noGrp="1"/>
          </p:cNvSpPr>
          <p:nvPr>
            <p:ph type="title"/>
          </p:nvPr>
        </p:nvSpPr>
        <p:spPr/>
        <p:txBody>
          <a:bodyPr>
            <a:normAutofit/>
          </a:bodyPr>
          <a:lstStyle/>
          <a:p>
            <a:r>
              <a:rPr lang="pl-PL" sz="2800" dirty="0">
                <a:solidFill>
                  <a:srgbClr val="FF0000"/>
                </a:solidFill>
                <a:effectLst>
                  <a:outerShdw blurRad="38100" dist="38100" dir="2700000" algn="tl">
                    <a:srgbClr val="000000">
                      <a:alpha val="43137"/>
                    </a:srgbClr>
                  </a:outerShdw>
                </a:effectLst>
              </a:rPr>
              <a:t>Contemporary principles and tendencies in the interpretation of law</a:t>
            </a:r>
            <a:endParaRPr lang="en-US" sz="2800" dirty="0"/>
          </a:p>
        </p:txBody>
      </p:sp>
      <p:sp>
        <p:nvSpPr>
          <p:cNvPr id="3" name="Symbol zastępczy zawartości 2">
            <a:extLst>
              <a:ext uri="{FF2B5EF4-FFF2-40B4-BE49-F238E27FC236}">
                <a16:creationId xmlns:a16="http://schemas.microsoft.com/office/drawing/2014/main" id="{9AA0D8E7-B5BD-C5B9-31FB-6F40D33370C4}"/>
              </a:ext>
            </a:extLst>
          </p:cNvPr>
          <p:cNvSpPr>
            <a:spLocks noGrp="1"/>
          </p:cNvSpPr>
          <p:nvPr>
            <p:ph idx="1"/>
          </p:nvPr>
        </p:nvSpPr>
        <p:spPr>
          <a:xfrm>
            <a:off x="838200" y="1825625"/>
            <a:ext cx="10515600" cy="4909472"/>
          </a:xfrm>
        </p:spPr>
        <p:txBody>
          <a:bodyPr>
            <a:normAutofit/>
          </a:bodyPr>
          <a:lstStyle/>
          <a:p>
            <a:r>
              <a:rPr lang="en-US" b="1" noProof="0" dirty="0">
                <a:solidFill>
                  <a:srgbClr val="FF0000"/>
                </a:solidFill>
                <a:effectLst>
                  <a:outerShdw blurRad="38100" dist="38100" dir="2700000" algn="tl">
                    <a:srgbClr val="000000">
                      <a:alpha val="43137"/>
                    </a:srgbClr>
                  </a:outerShdw>
                </a:effectLst>
              </a:rPr>
              <a:t>Systemic method </a:t>
            </a:r>
            <a:r>
              <a:rPr lang="en-US" noProof="0" dirty="0">
                <a:solidFill>
                  <a:srgbClr val="002060"/>
                </a:solidFill>
                <a:effectLst>
                  <a:outerShdw blurRad="38100" dist="38100" dir="2700000" algn="tl">
                    <a:srgbClr val="000000">
                      <a:alpha val="43137"/>
                    </a:srgbClr>
                  </a:outerShdw>
                </a:effectLst>
              </a:rPr>
              <a:t>– applied to determine the place of the legal norm in the system. Is it placed lower or higher in the system? Lower law (executive orders issued by a minister </a:t>
            </a:r>
            <a:r>
              <a:rPr lang="en-US" b="1" noProof="0" dirty="0">
                <a:solidFill>
                  <a:srgbClr val="002060"/>
                </a:solidFill>
                <a:effectLst>
                  <a:outerShdw blurRad="38100" dist="38100" dir="2700000" algn="tl">
                    <a:srgbClr val="000000">
                      <a:alpha val="43137"/>
                    </a:srgbClr>
                  </a:outerShdw>
                </a:effectLst>
              </a:rPr>
              <a:t>must be consistent with the higher law</a:t>
            </a:r>
            <a:r>
              <a:rPr lang="en-US" noProof="0" dirty="0">
                <a:solidFill>
                  <a:srgbClr val="002060"/>
                </a:solidFill>
                <a:effectLst>
                  <a:outerShdw blurRad="38100" dist="38100" dir="2700000" algn="tl">
                    <a:srgbClr val="000000">
                      <a:alpha val="43137"/>
                    </a:srgbClr>
                  </a:outerShdw>
                </a:effectLst>
              </a:rPr>
              <a:t>, a statute (an act of parliament), or an EU regulation)</a:t>
            </a:r>
            <a:r>
              <a:rPr lang="pl-PL" noProof="0" dirty="0">
                <a:solidFill>
                  <a:srgbClr val="002060"/>
                </a:solidFill>
                <a:effectLst>
                  <a:outerShdw blurRad="38100" dist="38100" dir="2700000" algn="tl">
                    <a:srgbClr val="000000">
                      <a:alpha val="43137"/>
                    </a:srgbClr>
                  </a:outerShdw>
                </a:effectLst>
              </a:rPr>
              <a:t>, and with the EU/</a:t>
            </a:r>
            <a:r>
              <a:rPr lang="pl-PL" noProof="0" dirty="0" err="1">
                <a:solidFill>
                  <a:srgbClr val="002060"/>
                </a:solidFill>
                <a:effectLst>
                  <a:outerShdw blurRad="38100" dist="38100" dir="2700000" algn="tl">
                    <a:srgbClr val="000000">
                      <a:alpha val="43137"/>
                    </a:srgbClr>
                  </a:outerShdw>
                </a:effectLst>
              </a:rPr>
              <a:t>international</a:t>
            </a:r>
            <a:r>
              <a:rPr lang="pl-PL" noProof="0" dirty="0">
                <a:solidFill>
                  <a:srgbClr val="002060"/>
                </a:solidFill>
                <a:effectLst>
                  <a:outerShdw blurRad="38100" dist="38100" dir="2700000" algn="tl">
                    <a:srgbClr val="000000">
                      <a:alpha val="43137"/>
                    </a:srgbClr>
                  </a:outerShdw>
                </a:effectLst>
              </a:rPr>
              <a:t> law</a:t>
            </a:r>
            <a:endParaRPr lang="en-US" noProof="0" dirty="0">
              <a:solidFill>
                <a:srgbClr val="002060"/>
              </a:solidFill>
              <a:effectLst>
                <a:outerShdw blurRad="38100" dist="38100" dir="2700000" algn="tl">
                  <a:srgbClr val="000000">
                    <a:alpha val="43137"/>
                  </a:srgbClr>
                </a:outerShdw>
              </a:effectLst>
            </a:endParaRPr>
          </a:p>
          <a:p>
            <a:r>
              <a:rPr lang="en-US" noProof="0" dirty="0">
                <a:solidFill>
                  <a:srgbClr val="002060"/>
                </a:solidFill>
                <a:effectLst>
                  <a:outerShdw blurRad="38100" dist="38100" dir="2700000" algn="tl">
                    <a:srgbClr val="000000">
                      <a:alpha val="43137"/>
                    </a:srgbClr>
                  </a:outerShdw>
                </a:effectLst>
              </a:rPr>
              <a:t>It is</a:t>
            </a:r>
            <a:r>
              <a:rPr lang="pl-PL" noProof="0" dirty="0">
                <a:solidFill>
                  <a:srgbClr val="002060"/>
                </a:solidFill>
                <a:effectLst>
                  <a:outerShdw blurRad="38100" dist="38100" dir="2700000" algn="tl">
                    <a:srgbClr val="000000">
                      <a:alpha val="43137"/>
                    </a:srgbClr>
                  </a:outerShdw>
                </a:effectLst>
              </a:rPr>
              <a:t> </a:t>
            </a:r>
            <a:r>
              <a:rPr lang="pl-PL" noProof="0" dirty="0" err="1">
                <a:solidFill>
                  <a:srgbClr val="002060"/>
                </a:solidFill>
                <a:effectLst>
                  <a:outerShdw blurRad="38100" dist="38100" dir="2700000" algn="tl">
                    <a:srgbClr val="000000">
                      <a:alpha val="43137"/>
                    </a:srgbClr>
                  </a:outerShdw>
                </a:effectLst>
              </a:rPr>
              <a:t>essential</a:t>
            </a:r>
            <a:r>
              <a:rPr lang="en-US" noProof="0" dirty="0">
                <a:solidFill>
                  <a:srgbClr val="002060"/>
                </a:solidFill>
                <a:effectLst>
                  <a:outerShdw blurRad="38100" dist="38100" dir="2700000" algn="tl">
                    <a:srgbClr val="000000">
                      <a:alpha val="43137"/>
                    </a:srgbClr>
                  </a:outerShdw>
                </a:effectLst>
              </a:rPr>
              <a:t> </a:t>
            </a:r>
            <a:r>
              <a:rPr lang="pl-PL" noProof="0" dirty="0">
                <a:solidFill>
                  <a:srgbClr val="002060"/>
                </a:solidFill>
                <a:effectLst>
                  <a:outerShdw blurRad="38100" dist="38100" dir="2700000" algn="tl">
                    <a:srgbClr val="000000">
                      <a:alpha val="43137"/>
                    </a:srgbClr>
                  </a:outerShdw>
                </a:effectLst>
              </a:rPr>
              <a:t>to note whether</a:t>
            </a:r>
            <a:r>
              <a:rPr lang="en-US" noProof="0" dirty="0">
                <a:solidFill>
                  <a:srgbClr val="002060"/>
                </a:solidFill>
                <a:effectLst>
                  <a:outerShdw blurRad="38100" dist="38100" dir="2700000" algn="tl">
                    <a:srgbClr val="000000">
                      <a:alpha val="43137"/>
                    </a:srgbClr>
                  </a:outerShdw>
                </a:effectLst>
              </a:rPr>
              <a:t> the act or provision is </a:t>
            </a:r>
            <a:r>
              <a:rPr lang="en-US" b="1" noProof="0" dirty="0">
                <a:solidFill>
                  <a:srgbClr val="FF0000"/>
                </a:solidFill>
                <a:effectLst>
                  <a:outerShdw blurRad="38100" dist="38100" dir="2700000" algn="tl">
                    <a:srgbClr val="000000">
                      <a:alpha val="43137"/>
                    </a:srgbClr>
                  </a:outerShdw>
                </a:effectLst>
              </a:rPr>
              <a:t>general or special(ized). </a:t>
            </a:r>
            <a:r>
              <a:rPr lang="en-US" noProof="0" dirty="0">
                <a:solidFill>
                  <a:srgbClr val="002060"/>
                </a:solidFill>
                <a:effectLst>
                  <a:outerShdw blurRad="38100" dist="38100" dir="2700000" algn="tl">
                    <a:srgbClr val="000000">
                      <a:alpha val="43137"/>
                    </a:srgbClr>
                  </a:outerShdw>
                </a:effectLst>
              </a:rPr>
              <a:t>The Criminal Code is a general act, but many statutes contain special norms that </a:t>
            </a:r>
            <a:r>
              <a:rPr lang="en-US" dirty="0">
                <a:solidFill>
                  <a:srgbClr val="002060"/>
                </a:solidFill>
                <a:effectLst>
                  <a:outerShdw blurRad="38100" dist="38100" dir="2700000" algn="tl">
                    <a:srgbClr val="000000">
                      <a:alpha val="43137"/>
                    </a:srgbClr>
                  </a:outerShdw>
                </a:effectLst>
              </a:rPr>
              <a:t>apply only to a particular profession or industry —</a:t>
            </a:r>
            <a:r>
              <a:rPr lang="en-US" noProof="0" dirty="0">
                <a:solidFill>
                  <a:srgbClr val="002060"/>
                </a:solidFill>
                <a:effectLst>
                  <a:outerShdw blurRad="38100" dist="38100" dir="2700000" algn="tl">
                    <a:srgbClr val="000000">
                      <a:alpha val="43137"/>
                    </a:srgbClr>
                  </a:outerShdw>
                </a:effectLst>
              </a:rPr>
              <a:t>for example, brokers or investors (</a:t>
            </a:r>
            <a:r>
              <a:rPr lang="en-US" b="1" noProof="0" dirty="0">
                <a:solidFill>
                  <a:srgbClr val="FF0000"/>
                </a:solidFill>
                <a:effectLst>
                  <a:outerShdw blurRad="38100" dist="38100" dir="2700000" algn="tl">
                    <a:srgbClr val="000000">
                      <a:alpha val="43137"/>
                    </a:srgbClr>
                  </a:outerShdw>
                </a:effectLst>
              </a:rPr>
              <a:t>insider trading</a:t>
            </a:r>
            <a:r>
              <a:rPr lang="en-US" noProof="0" dirty="0">
                <a:solidFill>
                  <a:srgbClr val="002060"/>
                </a:solidFill>
                <a:effectLst>
                  <a:outerShdw blurRad="38100" dist="38100" dir="2700000" algn="tl">
                    <a:srgbClr val="000000">
                      <a:alpha val="43137"/>
                    </a:srgbClr>
                  </a:outerShdw>
                </a:effectLst>
              </a:rPr>
              <a:t>). Special norms </a:t>
            </a:r>
            <a:r>
              <a:rPr lang="pl-PL" noProof="0" dirty="0" err="1">
                <a:solidFill>
                  <a:srgbClr val="002060"/>
                </a:solidFill>
                <a:effectLst>
                  <a:outerShdw blurRad="38100" dist="38100" dir="2700000" algn="tl">
                    <a:srgbClr val="000000">
                      <a:alpha val="43137"/>
                    </a:srgbClr>
                  </a:outerShdw>
                </a:effectLst>
              </a:rPr>
              <a:t>take</a:t>
            </a:r>
            <a:r>
              <a:rPr lang="pl-PL" noProof="0" dirty="0">
                <a:solidFill>
                  <a:srgbClr val="002060"/>
                </a:solidFill>
                <a:effectLst>
                  <a:outerShdw blurRad="38100" dist="38100" dir="2700000" algn="tl">
                    <a:srgbClr val="000000">
                      <a:alpha val="43137"/>
                    </a:srgbClr>
                  </a:outerShdw>
                </a:effectLst>
              </a:rPr>
              <a:t> </a:t>
            </a:r>
            <a:r>
              <a:rPr lang="pl-PL" noProof="0" dirty="0" err="1">
                <a:solidFill>
                  <a:srgbClr val="002060"/>
                </a:solidFill>
                <a:effectLst>
                  <a:outerShdw blurRad="38100" dist="38100" dir="2700000" algn="tl">
                    <a:srgbClr val="000000">
                      <a:alpha val="43137"/>
                    </a:srgbClr>
                  </a:outerShdw>
                </a:effectLst>
              </a:rPr>
              <a:t>precedence</a:t>
            </a:r>
            <a:r>
              <a:rPr lang="pl-PL" noProof="0" dirty="0">
                <a:solidFill>
                  <a:srgbClr val="002060"/>
                </a:solidFill>
                <a:effectLst>
                  <a:outerShdw blurRad="38100" dist="38100" dir="2700000" algn="tl">
                    <a:srgbClr val="000000">
                      <a:alpha val="43137"/>
                    </a:srgbClr>
                  </a:outerShdw>
                </a:effectLst>
              </a:rPr>
              <a:t> </a:t>
            </a:r>
            <a:r>
              <a:rPr lang="pl-PL" noProof="0" dirty="0" err="1">
                <a:solidFill>
                  <a:srgbClr val="002060"/>
                </a:solidFill>
                <a:effectLst>
                  <a:outerShdw blurRad="38100" dist="38100" dir="2700000" algn="tl">
                    <a:srgbClr val="000000">
                      <a:alpha val="43137"/>
                    </a:srgbClr>
                  </a:outerShdw>
                </a:effectLst>
              </a:rPr>
              <a:t>over</a:t>
            </a:r>
            <a:r>
              <a:rPr lang="en-US" noProof="0" dirty="0">
                <a:solidFill>
                  <a:srgbClr val="002060"/>
                </a:solidFill>
                <a:effectLst>
                  <a:outerShdw blurRad="38100" dist="38100" dir="2700000" algn="tl">
                    <a:srgbClr val="000000">
                      <a:alpha val="43137"/>
                    </a:srgbClr>
                  </a:outerShdw>
                </a:effectLst>
              </a:rPr>
              <a:t> general norms</a:t>
            </a:r>
            <a:r>
              <a:rPr lang="en-US" dirty="0">
                <a:solidFill>
                  <a:srgbClr val="002060"/>
                </a:solidFill>
                <a:effectLst>
                  <a:outerShdw blurRad="38100" dist="38100" dir="2700000" algn="tl">
                    <a:srgbClr val="000000">
                      <a:alpha val="43137"/>
                    </a:srgbClr>
                  </a:outerShdw>
                </a:effectLst>
              </a:rPr>
              <a:t>. Then the insider trading offender would be tried by the court under those special norms</a:t>
            </a:r>
            <a:r>
              <a:rPr lang="en-US" noProof="0"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1062472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3378586-6A0C-03DA-5579-B169018B1264}"/>
              </a:ext>
            </a:extLst>
          </p:cNvPr>
          <p:cNvSpPr>
            <a:spLocks noGrp="1"/>
          </p:cNvSpPr>
          <p:nvPr>
            <p:ph type="title"/>
          </p:nvPr>
        </p:nvSpPr>
        <p:spPr/>
        <p:txBody>
          <a:bodyPr>
            <a:normAutofit/>
          </a:bodyPr>
          <a:lstStyle/>
          <a:p>
            <a:r>
              <a:rPr lang="pl-PL" sz="2800" dirty="0">
                <a:solidFill>
                  <a:srgbClr val="FF0000"/>
                </a:solidFill>
                <a:effectLst>
                  <a:outerShdw blurRad="38100" dist="38100" dir="2700000" algn="tl">
                    <a:srgbClr val="000000">
                      <a:alpha val="43137"/>
                    </a:srgbClr>
                  </a:outerShdw>
                </a:effectLst>
              </a:rPr>
              <a:t>Contemporary principles and tendencies in the interpretation of law</a:t>
            </a:r>
            <a:endParaRPr lang="en-US" sz="2800" dirty="0"/>
          </a:p>
        </p:txBody>
      </p:sp>
      <p:sp>
        <p:nvSpPr>
          <p:cNvPr id="3" name="Symbol zastępczy zawartości 2">
            <a:extLst>
              <a:ext uri="{FF2B5EF4-FFF2-40B4-BE49-F238E27FC236}">
                <a16:creationId xmlns:a16="http://schemas.microsoft.com/office/drawing/2014/main" id="{9BB2B180-6A1B-3324-D44B-CE9840BC1B8A}"/>
              </a:ext>
            </a:extLst>
          </p:cNvPr>
          <p:cNvSpPr>
            <a:spLocks noGrp="1"/>
          </p:cNvSpPr>
          <p:nvPr>
            <p:ph idx="1"/>
          </p:nvPr>
        </p:nvSpPr>
        <p:spPr>
          <a:xfrm>
            <a:off x="838200" y="1825625"/>
            <a:ext cx="10515600" cy="4899640"/>
          </a:xfrm>
        </p:spPr>
        <p:txBody>
          <a:bodyPr/>
          <a:lstStyle/>
          <a:p>
            <a:r>
              <a:rPr lang="en-US" b="1" noProof="0" dirty="0">
                <a:solidFill>
                  <a:srgbClr val="FF0000"/>
                </a:solidFill>
                <a:effectLst>
                  <a:outerShdw blurRad="38100" dist="38100" dir="2700000" algn="tl">
                    <a:srgbClr val="000000">
                      <a:alpha val="43137"/>
                    </a:srgbClr>
                  </a:outerShdw>
                </a:effectLst>
              </a:rPr>
              <a:t>Purposive interpretation</a:t>
            </a:r>
            <a:r>
              <a:rPr lang="en-US" noProof="0" dirty="0">
                <a:solidFill>
                  <a:srgbClr val="002060"/>
                </a:solidFill>
                <a:effectLst>
                  <a:outerShdw blurRad="38100" dist="38100" dir="2700000" algn="tl">
                    <a:srgbClr val="000000">
                      <a:alpha val="43137"/>
                    </a:srgbClr>
                  </a:outerShdw>
                </a:effectLst>
              </a:rPr>
              <a:t>: aims to determine the purpose of legislation. What economic or social effect did the legislator wanted to achieve? Helpful for such analysis are </a:t>
            </a:r>
            <a:r>
              <a:rPr lang="en-US" b="1" noProof="0" dirty="0">
                <a:solidFill>
                  <a:srgbClr val="002060"/>
                </a:solidFill>
                <a:effectLst>
                  <a:outerShdw blurRad="38100" dist="38100" dir="2700000" algn="tl">
                    <a:srgbClr val="000000">
                      <a:alpha val="43137"/>
                    </a:srgbClr>
                  </a:outerShdw>
                </a:effectLst>
              </a:rPr>
              <a:t>draft versions </a:t>
            </a:r>
            <a:r>
              <a:rPr lang="en-US" noProof="0" dirty="0">
                <a:solidFill>
                  <a:srgbClr val="002060"/>
                </a:solidFill>
                <a:effectLst>
                  <a:outerShdw blurRad="38100" dist="38100" dir="2700000" algn="tl">
                    <a:srgbClr val="000000">
                      <a:alpha val="43137"/>
                    </a:srgbClr>
                  </a:outerShdw>
                </a:effectLst>
              </a:rPr>
              <a:t>of the act, </a:t>
            </a:r>
            <a:r>
              <a:rPr lang="en-US" b="1" noProof="0" dirty="0">
                <a:solidFill>
                  <a:srgbClr val="002060"/>
                </a:solidFill>
                <a:effectLst>
                  <a:outerShdw blurRad="38100" dist="38100" dir="2700000" algn="tl">
                    <a:srgbClr val="000000">
                      <a:alpha val="43137"/>
                    </a:srgbClr>
                  </a:outerShdw>
                </a:effectLst>
              </a:rPr>
              <a:t>stenographic records (minutes) </a:t>
            </a:r>
            <a:r>
              <a:rPr lang="en-US" noProof="0" dirty="0">
                <a:solidFill>
                  <a:srgbClr val="002060"/>
                </a:solidFill>
                <a:effectLst>
                  <a:outerShdw blurRad="38100" dist="38100" dir="2700000" algn="tl">
                    <a:srgbClr val="000000">
                      <a:alpha val="43137"/>
                    </a:srgbClr>
                  </a:outerShdw>
                </a:effectLst>
              </a:rPr>
              <a:t>of parliamentary debates, and </a:t>
            </a:r>
            <a:r>
              <a:rPr lang="en-US" b="1" noProof="0" dirty="0">
                <a:solidFill>
                  <a:srgbClr val="002060"/>
                </a:solidFill>
                <a:effectLst>
                  <a:outerShdw blurRad="38100" dist="38100" dir="2700000" algn="tl">
                    <a:srgbClr val="000000">
                      <a:alpha val="43137"/>
                    </a:srgbClr>
                  </a:outerShdw>
                </a:effectLst>
              </a:rPr>
              <a:t>preparatory works</a:t>
            </a:r>
            <a:r>
              <a:rPr lang="en-US" noProof="0" dirty="0">
                <a:solidFill>
                  <a:srgbClr val="002060"/>
                </a:solidFill>
                <a:effectLst>
                  <a:outerShdw blurRad="38100" dist="38100" dir="2700000" algn="tl">
                    <a:srgbClr val="000000">
                      <a:alpha val="43137"/>
                    </a:srgbClr>
                  </a:outerShdw>
                </a:effectLst>
              </a:rPr>
              <a:t>. </a:t>
            </a:r>
          </a:p>
          <a:p>
            <a:r>
              <a:rPr lang="en-US" b="1" noProof="0" dirty="0">
                <a:solidFill>
                  <a:srgbClr val="FF0000"/>
                </a:solidFill>
                <a:effectLst>
                  <a:outerShdw blurRad="38100" dist="38100" dir="2700000" algn="tl">
                    <a:srgbClr val="000000">
                      <a:alpha val="43137"/>
                    </a:srgbClr>
                  </a:outerShdw>
                </a:effectLst>
              </a:rPr>
              <a:t>Functional interpretation</a:t>
            </a:r>
            <a:r>
              <a:rPr lang="en-US" noProof="0" dirty="0">
                <a:solidFill>
                  <a:srgbClr val="002060"/>
                </a:solidFill>
                <a:effectLst>
                  <a:outerShdw blurRad="38100" dist="38100" dir="2700000" algn="tl">
                    <a:srgbClr val="000000">
                      <a:alpha val="43137"/>
                    </a:srgbClr>
                  </a:outerShdw>
                </a:effectLst>
              </a:rPr>
              <a:t>: aims to determine the practical effect of the law. Helpful for such analysis is </a:t>
            </a:r>
            <a:r>
              <a:rPr lang="pl-PL" noProof="0" dirty="0">
                <a:solidFill>
                  <a:srgbClr val="002060"/>
                </a:solidFill>
                <a:effectLst>
                  <a:outerShdw blurRad="38100" dist="38100" dir="2700000" algn="tl">
                    <a:srgbClr val="000000">
                      <a:alpha val="43137"/>
                    </a:srgbClr>
                  </a:outerShdw>
                </a:effectLst>
              </a:rPr>
              <a:t>the </a:t>
            </a:r>
            <a:r>
              <a:rPr lang="en-US" b="1" noProof="0" dirty="0">
                <a:solidFill>
                  <a:srgbClr val="FF0000"/>
                </a:solidFill>
                <a:effectLst>
                  <a:outerShdw blurRad="38100" dist="38100" dir="2700000" algn="tl">
                    <a:srgbClr val="000000">
                      <a:alpha val="43137"/>
                    </a:srgbClr>
                  </a:outerShdw>
                </a:effectLst>
              </a:rPr>
              <a:t>R</a:t>
            </a:r>
            <a:r>
              <a:rPr lang="en-US" noProof="0" dirty="0">
                <a:solidFill>
                  <a:srgbClr val="002060"/>
                </a:solidFill>
                <a:effectLst>
                  <a:outerShdw blurRad="38100" dist="38100" dir="2700000" algn="tl">
                    <a:srgbClr val="000000">
                      <a:alpha val="43137"/>
                    </a:srgbClr>
                  </a:outerShdw>
                </a:effectLst>
              </a:rPr>
              <a:t>egulatory </a:t>
            </a:r>
            <a:r>
              <a:rPr lang="en-US" b="1" noProof="0" dirty="0">
                <a:solidFill>
                  <a:srgbClr val="FF0000"/>
                </a:solidFill>
                <a:effectLst>
                  <a:outerShdw blurRad="38100" dist="38100" dir="2700000" algn="tl">
                    <a:srgbClr val="000000">
                      <a:alpha val="43137"/>
                    </a:srgbClr>
                  </a:outerShdw>
                </a:effectLst>
              </a:rPr>
              <a:t>I</a:t>
            </a:r>
            <a:r>
              <a:rPr lang="en-US" noProof="0" dirty="0">
                <a:solidFill>
                  <a:srgbClr val="002060"/>
                </a:solidFill>
                <a:effectLst>
                  <a:outerShdw blurRad="38100" dist="38100" dir="2700000" algn="tl">
                    <a:srgbClr val="000000">
                      <a:alpha val="43137"/>
                    </a:srgbClr>
                  </a:outerShdw>
                </a:effectLst>
              </a:rPr>
              <a:t>mpact </a:t>
            </a:r>
            <a:r>
              <a:rPr lang="en-US" b="1" noProof="0" dirty="0">
                <a:solidFill>
                  <a:srgbClr val="FF0000"/>
                </a:solidFill>
                <a:effectLst>
                  <a:outerShdw blurRad="38100" dist="38100" dir="2700000" algn="tl">
                    <a:srgbClr val="000000">
                      <a:alpha val="43137"/>
                    </a:srgbClr>
                  </a:outerShdw>
                </a:effectLst>
              </a:rPr>
              <a:t>A</a:t>
            </a:r>
            <a:r>
              <a:rPr lang="en-US" noProof="0" dirty="0">
                <a:solidFill>
                  <a:srgbClr val="002060"/>
                </a:solidFill>
                <a:effectLst>
                  <a:outerShdw blurRad="38100" dist="38100" dir="2700000" algn="tl">
                    <a:srgbClr val="000000">
                      <a:alpha val="43137"/>
                    </a:srgbClr>
                  </a:outerShdw>
                </a:effectLst>
              </a:rPr>
              <a:t>ssessment (</a:t>
            </a:r>
            <a:r>
              <a:rPr lang="en-US" b="1" noProof="0" dirty="0">
                <a:solidFill>
                  <a:srgbClr val="002060"/>
                </a:solidFill>
                <a:effectLst>
                  <a:outerShdw blurRad="38100" dist="38100" dir="2700000" algn="tl">
                    <a:srgbClr val="000000">
                      <a:alpha val="43137"/>
                    </a:srgbClr>
                  </a:outerShdw>
                </a:effectLst>
              </a:rPr>
              <a:t>RIA</a:t>
            </a:r>
            <a:r>
              <a:rPr lang="en-US" noProof="0" dirty="0">
                <a:solidFill>
                  <a:srgbClr val="002060"/>
                </a:solidFill>
                <a:effectLst>
                  <a:outerShdw blurRad="38100" dist="38100" dir="2700000" algn="tl">
                    <a:srgbClr val="000000">
                      <a:alpha val="43137"/>
                    </a:srgbClr>
                  </a:outerShdw>
                </a:effectLst>
              </a:rPr>
              <a:t>), which is </a:t>
            </a:r>
            <a:r>
              <a:rPr lang="en-US" b="1" noProof="0" dirty="0">
                <a:solidFill>
                  <a:srgbClr val="002060"/>
                </a:solidFill>
                <a:effectLst>
                  <a:outerShdw blurRad="38100" dist="38100" dir="2700000" algn="tl">
                    <a:srgbClr val="000000">
                      <a:alpha val="43137"/>
                    </a:srgbClr>
                  </a:outerShdw>
                </a:effectLst>
              </a:rPr>
              <a:t>mandatory</a:t>
            </a:r>
            <a:r>
              <a:rPr lang="en-US" noProof="0" dirty="0">
                <a:solidFill>
                  <a:srgbClr val="002060"/>
                </a:solidFill>
                <a:effectLst>
                  <a:outerShdw blurRad="38100" dist="38100" dir="2700000" algn="tl">
                    <a:srgbClr val="000000">
                      <a:alpha val="43137"/>
                    </a:srgbClr>
                  </a:outerShdw>
                </a:effectLst>
              </a:rPr>
              <a:t> before the draft is submitted to the legislative body.</a:t>
            </a:r>
          </a:p>
          <a:p>
            <a:endParaRPr lang="en-US"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00192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C2C8224-1D0D-3F0B-974A-403A2CCAB02B}"/>
              </a:ext>
            </a:extLst>
          </p:cNvPr>
          <p:cNvSpPr>
            <a:spLocks noGrp="1"/>
          </p:cNvSpPr>
          <p:nvPr>
            <p:ph type="title"/>
          </p:nvPr>
        </p:nvSpPr>
        <p:spPr/>
        <p:txBody>
          <a:bodyPr>
            <a:normAutofit/>
          </a:bodyPr>
          <a:lstStyle/>
          <a:p>
            <a:r>
              <a:rPr lang="pl-PL" sz="2800" dirty="0">
                <a:solidFill>
                  <a:srgbClr val="FF0000"/>
                </a:solidFill>
                <a:effectLst>
                  <a:outerShdw blurRad="38100" dist="38100" dir="2700000" algn="tl">
                    <a:srgbClr val="000000">
                      <a:alpha val="43137"/>
                    </a:srgbClr>
                  </a:outerShdw>
                </a:effectLst>
              </a:rPr>
              <a:t>Contemporary principles and tendencies in the interpretation of law</a:t>
            </a:r>
            <a:endParaRPr lang="en-US" sz="2800" dirty="0"/>
          </a:p>
        </p:txBody>
      </p:sp>
      <p:sp>
        <p:nvSpPr>
          <p:cNvPr id="3" name="Symbol zastępczy zawartości 2">
            <a:extLst>
              <a:ext uri="{FF2B5EF4-FFF2-40B4-BE49-F238E27FC236}">
                <a16:creationId xmlns:a16="http://schemas.microsoft.com/office/drawing/2014/main" id="{4C40E21F-0C2A-5ADE-866A-5BD8BE87490A}"/>
              </a:ext>
            </a:extLst>
          </p:cNvPr>
          <p:cNvSpPr>
            <a:spLocks noGrp="1"/>
          </p:cNvSpPr>
          <p:nvPr>
            <p:ph idx="1"/>
          </p:nvPr>
        </p:nvSpPr>
        <p:spPr>
          <a:xfrm>
            <a:off x="838200" y="1825624"/>
            <a:ext cx="10515600" cy="5032376"/>
          </a:xfrm>
        </p:spPr>
        <p:txBody>
          <a:bodyPr>
            <a:normAutofit/>
          </a:bodyPr>
          <a:lstStyle/>
          <a:p>
            <a:r>
              <a:rPr lang="en-US" b="1" noProof="0" dirty="0">
                <a:solidFill>
                  <a:srgbClr val="FF0000"/>
                </a:solidFill>
                <a:effectLst>
                  <a:outerShdw blurRad="38100" dist="38100" dir="2700000" algn="tl">
                    <a:srgbClr val="000000">
                      <a:alpha val="43137"/>
                    </a:srgbClr>
                  </a:outerShdw>
                </a:effectLst>
              </a:rPr>
              <a:t>Historical method </a:t>
            </a:r>
            <a:r>
              <a:rPr lang="en-US" noProof="0" dirty="0">
                <a:solidFill>
                  <a:srgbClr val="002060"/>
                </a:solidFill>
                <a:effectLst>
                  <a:outerShdw blurRad="38100" dist="38100" dir="2700000" algn="tl">
                    <a:srgbClr val="000000">
                      <a:alpha val="43137"/>
                    </a:srgbClr>
                  </a:outerShdw>
                </a:effectLst>
              </a:rPr>
              <a:t>– reconstructs the norm from the historical circumstances surrounding the passing of an act, including political, social, economic, and cultural circumstances. </a:t>
            </a:r>
            <a:endParaRPr lang="pl-PL" noProof="0" dirty="0">
              <a:solidFill>
                <a:srgbClr val="002060"/>
              </a:solidFill>
              <a:effectLst>
                <a:outerShdw blurRad="38100" dist="38100" dir="2700000" algn="tl">
                  <a:srgbClr val="000000">
                    <a:alpha val="43137"/>
                  </a:srgbClr>
                </a:outerShdw>
              </a:effectLst>
            </a:endParaRPr>
          </a:p>
          <a:p>
            <a:r>
              <a:rPr lang="en-US" b="1" dirty="0">
                <a:solidFill>
                  <a:srgbClr val="002060"/>
                </a:solidFill>
                <a:effectLst>
                  <a:outerShdw blurRad="38100" dist="38100" dir="2700000" algn="tl">
                    <a:srgbClr val="000000">
                      <a:alpha val="43137"/>
                    </a:srgbClr>
                  </a:outerShdw>
                </a:effectLst>
              </a:rPr>
              <a:t>The concept of the </a:t>
            </a:r>
            <a:r>
              <a:rPr lang="en-US" b="1" dirty="0">
                <a:solidFill>
                  <a:srgbClr val="FF0000"/>
                </a:solidFill>
                <a:effectLst>
                  <a:outerShdw blurRad="38100" dist="38100" dir="2700000" algn="tl">
                    <a:srgbClr val="000000">
                      <a:alpha val="43137"/>
                    </a:srgbClr>
                  </a:outerShdw>
                </a:effectLst>
                <a:highlight>
                  <a:srgbClr val="00FF00"/>
                </a:highlight>
              </a:rPr>
              <a:t>living constitution </a:t>
            </a:r>
            <a:r>
              <a:rPr lang="pl-PL" b="1" dirty="0" err="1">
                <a:solidFill>
                  <a:srgbClr val="002060"/>
                </a:solidFill>
                <a:effectLst>
                  <a:outerShdw blurRad="38100" dist="38100" dir="2700000" algn="tl">
                    <a:srgbClr val="000000">
                      <a:alpha val="43137"/>
                    </a:srgbClr>
                  </a:outerShdw>
                </a:effectLst>
              </a:rPr>
              <a:t>directs</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interpreters</a:t>
            </a:r>
            <a:r>
              <a:rPr lang="pl-PL" b="1" dirty="0">
                <a:solidFill>
                  <a:srgbClr val="002060"/>
                </a:solidFill>
                <a:effectLst>
                  <a:outerShdw blurRad="38100" dist="38100" dir="2700000" algn="tl">
                    <a:srgbClr val="000000">
                      <a:alpha val="43137"/>
                    </a:srgbClr>
                  </a:outerShdw>
                </a:effectLst>
              </a:rPr>
              <a:t> to </a:t>
            </a:r>
            <a:r>
              <a:rPr lang="pl-PL" b="1" dirty="0" err="1">
                <a:solidFill>
                  <a:srgbClr val="002060"/>
                </a:solidFill>
                <a:effectLst>
                  <a:outerShdw blurRad="38100" dist="38100" dir="2700000" algn="tl">
                    <a:srgbClr val="000000">
                      <a:alpha val="43137"/>
                    </a:srgbClr>
                  </a:outerShdw>
                </a:effectLst>
              </a:rPr>
              <a:t>derive</a:t>
            </a:r>
            <a:r>
              <a:rPr lang="pl-PL" b="1" dirty="0">
                <a:solidFill>
                  <a:srgbClr val="002060"/>
                </a:solidFill>
                <a:effectLst>
                  <a:outerShdw blurRad="38100" dist="38100" dir="2700000" algn="tl">
                    <a:srgbClr val="000000">
                      <a:alpha val="43137"/>
                    </a:srgbClr>
                  </a:outerShdw>
                </a:effectLst>
              </a:rPr>
              <a:t> the </a:t>
            </a:r>
            <a:r>
              <a:rPr lang="pl-PL" b="1" dirty="0" err="1">
                <a:solidFill>
                  <a:srgbClr val="002060"/>
                </a:solidFill>
                <a:effectLst>
                  <a:outerShdw blurRad="38100" dist="38100" dir="2700000" algn="tl">
                    <a:srgbClr val="000000">
                      <a:alpha val="43137"/>
                    </a:srgbClr>
                  </a:outerShdw>
                </a:effectLst>
              </a:rPr>
              <a:t>meaning</a:t>
            </a:r>
            <a:r>
              <a:rPr lang="pl-PL" b="1" dirty="0">
                <a:solidFill>
                  <a:srgbClr val="002060"/>
                </a:solidFill>
                <a:effectLst>
                  <a:outerShdw blurRad="38100" dist="38100" dir="2700000" algn="tl">
                    <a:srgbClr val="000000">
                      <a:alpha val="43137"/>
                    </a:srgbClr>
                  </a:outerShdw>
                </a:effectLst>
              </a:rPr>
              <a:t> of the law from </a:t>
            </a:r>
            <a:r>
              <a:rPr lang="pl-PL" b="1" dirty="0" err="1">
                <a:solidFill>
                  <a:srgbClr val="002060"/>
                </a:solidFill>
                <a:effectLst>
                  <a:outerShdw blurRad="38100" dist="38100" dir="2700000" algn="tl">
                    <a:srgbClr val="000000">
                      <a:alpha val="43137"/>
                    </a:srgbClr>
                  </a:outerShdw>
                </a:effectLst>
              </a:rPr>
              <a:t>current</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circumstances</a:t>
            </a:r>
            <a:endParaRPr lang="pl-PL" noProof="0" dirty="0">
              <a:solidFill>
                <a:srgbClr val="002060"/>
              </a:solidFill>
              <a:effectLst>
                <a:outerShdw blurRad="38100" dist="38100" dir="2700000" algn="tl">
                  <a:srgbClr val="000000">
                    <a:alpha val="43137"/>
                  </a:srgbClr>
                </a:outerShdw>
              </a:effectLst>
            </a:endParaRPr>
          </a:p>
          <a:p>
            <a:r>
              <a:rPr lang="pl-PL" noProof="0" dirty="0">
                <a:solidFill>
                  <a:srgbClr val="002060"/>
                </a:solidFill>
                <a:effectLst>
                  <a:outerShdw blurRad="38100" dist="38100" dir="2700000" algn="tl">
                    <a:srgbClr val="000000">
                      <a:alpha val="43137"/>
                    </a:srgbClr>
                  </a:outerShdw>
                </a:effectLst>
              </a:rPr>
              <a:t>The above method is opposed by </a:t>
            </a:r>
            <a:r>
              <a:rPr lang="pl-PL" b="1" noProof="0" dirty="0">
                <a:solidFill>
                  <a:srgbClr val="FF0000"/>
                </a:solidFill>
                <a:effectLst>
                  <a:outerShdw blurRad="38100" dist="38100" dir="2700000" algn="tl">
                    <a:srgbClr val="000000">
                      <a:alpha val="43137"/>
                    </a:srgbClr>
                  </a:outerShdw>
                </a:effectLst>
                <a:highlight>
                  <a:srgbClr val="00FF00"/>
                </a:highlight>
              </a:rPr>
              <a:t>originalists</a:t>
            </a:r>
            <a:r>
              <a:rPr lang="pl-PL" noProof="0" dirty="0">
                <a:solidFill>
                  <a:srgbClr val="002060"/>
                </a:solidFill>
                <a:effectLst>
                  <a:outerShdw blurRad="38100" dist="38100" dir="2700000" algn="tl">
                    <a:srgbClr val="000000">
                      <a:alpha val="43137"/>
                    </a:srgbClr>
                  </a:outerShdw>
                </a:effectLst>
              </a:rPr>
              <a:t> seeking to establish the original intent.</a:t>
            </a:r>
            <a:r>
              <a:rPr lang="en-US" dirty="0">
                <a:solidFill>
                  <a:srgbClr val="002060"/>
                </a:solidFill>
                <a:effectLst>
                  <a:outerShdw blurRad="38100" dist="38100" dir="2700000" algn="tl">
                    <a:srgbClr val="000000">
                      <a:alpha val="43137"/>
                    </a:srgbClr>
                  </a:outerShdw>
                </a:effectLst>
              </a:rPr>
              <a:t> The </a:t>
            </a:r>
            <a:r>
              <a:rPr lang="en-US" b="1" dirty="0">
                <a:solidFill>
                  <a:srgbClr val="FF0000"/>
                </a:solidFill>
                <a:effectLst>
                  <a:outerShdw blurRad="38100" dist="38100" dir="2700000" algn="tl">
                    <a:srgbClr val="000000">
                      <a:alpha val="43137"/>
                    </a:srgbClr>
                  </a:outerShdw>
                </a:effectLst>
              </a:rPr>
              <a:t>origin</a:t>
            </a:r>
            <a:r>
              <a:rPr lang="pl-PL" b="1" dirty="0">
                <a:solidFill>
                  <a:srgbClr val="FF0000"/>
                </a:solidFill>
                <a:effectLst>
                  <a:outerShdw blurRad="38100" dist="38100" dir="2700000" algn="tl">
                    <a:srgbClr val="000000">
                      <a:alpha val="43137"/>
                    </a:srgbClr>
                  </a:outerShdw>
                </a:effectLst>
              </a:rPr>
              <a:t>a</a:t>
            </a:r>
            <a:r>
              <a:rPr lang="en-US" b="1" dirty="0">
                <a:solidFill>
                  <a:srgbClr val="FF0000"/>
                </a:solidFill>
                <a:effectLst>
                  <a:outerShdw blurRad="38100" dist="38100" dir="2700000" algn="tl">
                    <a:srgbClr val="000000">
                      <a:alpha val="43137"/>
                    </a:srgbClr>
                  </a:outerShdw>
                </a:effectLst>
              </a:rPr>
              <a:t>lists</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such as Justice Antonin Scalia</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oppose updating the meaning of laws by the courts and other interpreters in the belief that such an update should be made by the representatives of the people (US </a:t>
            </a:r>
            <a:r>
              <a:rPr lang="pl-PL" dirty="0">
                <a:solidFill>
                  <a:srgbClr val="002060"/>
                </a:solidFill>
                <a:effectLst>
                  <a:outerShdw blurRad="38100" dist="38100" dir="2700000" algn="tl">
                    <a:srgbClr val="000000">
                      <a:alpha val="43137"/>
                    </a:srgbClr>
                  </a:outerShdw>
                </a:effectLst>
              </a:rPr>
              <a:t>Congress</a:t>
            </a:r>
            <a:r>
              <a:rPr lang="en-US" dirty="0">
                <a:solidFill>
                  <a:srgbClr val="002060"/>
                </a:solidFill>
                <a:effectLst>
                  <a:outerShdw blurRad="38100" dist="38100" dir="2700000" algn="tl">
                    <a:srgbClr val="000000">
                      <a:alpha val="43137"/>
                    </a:srgbClr>
                  </a:outerShdw>
                </a:effectLst>
              </a:rPr>
              <a:t>, parliaments)</a:t>
            </a:r>
            <a:endParaRPr lang="en-US" noProof="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05332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6C7E43-9B11-0655-63D1-DE2F460A3354}"/>
              </a:ext>
            </a:extLst>
          </p:cNvPr>
          <p:cNvSpPr>
            <a:spLocks noGrp="1"/>
          </p:cNvSpPr>
          <p:nvPr>
            <p:ph type="title"/>
          </p:nvPr>
        </p:nvSpPr>
        <p:spPr/>
        <p:txBody>
          <a:bodyPr>
            <a:normAutofit/>
          </a:bodyPr>
          <a:lstStyle/>
          <a:p>
            <a:r>
              <a:rPr lang="pl-PL" sz="2800" dirty="0" err="1">
                <a:solidFill>
                  <a:srgbClr val="FF0000"/>
                </a:solidFill>
                <a:effectLst>
                  <a:outerShdw blurRad="38100" dist="38100" dir="2700000" algn="tl">
                    <a:srgbClr val="000000">
                      <a:alpha val="43137"/>
                    </a:srgbClr>
                  </a:outerShdw>
                </a:effectLst>
              </a:rPr>
              <a:t>Contemporary</a:t>
            </a:r>
            <a:r>
              <a:rPr lang="pl-PL" sz="2800" dirty="0">
                <a:solidFill>
                  <a:srgbClr val="FF0000"/>
                </a:solidFill>
                <a:effectLst>
                  <a:outerShdw blurRad="38100" dist="38100" dir="2700000" algn="tl">
                    <a:srgbClr val="000000">
                      <a:alpha val="43137"/>
                    </a:srgbClr>
                  </a:outerShdw>
                </a:effectLst>
              </a:rPr>
              <a:t> </a:t>
            </a:r>
            <a:r>
              <a:rPr lang="pl-PL" sz="2800" dirty="0" err="1">
                <a:solidFill>
                  <a:srgbClr val="FF0000"/>
                </a:solidFill>
                <a:effectLst>
                  <a:outerShdw blurRad="38100" dist="38100" dir="2700000" algn="tl">
                    <a:srgbClr val="000000">
                      <a:alpha val="43137"/>
                    </a:srgbClr>
                  </a:outerShdw>
                </a:effectLst>
              </a:rPr>
              <a:t>principles</a:t>
            </a:r>
            <a:r>
              <a:rPr lang="pl-PL" sz="2800" dirty="0">
                <a:solidFill>
                  <a:srgbClr val="FF0000"/>
                </a:solidFill>
                <a:effectLst>
                  <a:outerShdw blurRad="38100" dist="38100" dir="2700000" algn="tl">
                    <a:srgbClr val="000000">
                      <a:alpha val="43137"/>
                    </a:srgbClr>
                  </a:outerShdw>
                </a:effectLst>
              </a:rPr>
              <a:t> and </a:t>
            </a:r>
            <a:r>
              <a:rPr lang="pl-PL" sz="2800" dirty="0" err="1">
                <a:solidFill>
                  <a:srgbClr val="FF0000"/>
                </a:solidFill>
                <a:effectLst>
                  <a:outerShdw blurRad="38100" dist="38100" dir="2700000" algn="tl">
                    <a:srgbClr val="000000">
                      <a:alpha val="43137"/>
                    </a:srgbClr>
                  </a:outerShdw>
                </a:effectLst>
              </a:rPr>
              <a:t>tendencies</a:t>
            </a:r>
            <a:r>
              <a:rPr lang="pl-PL" sz="2800" dirty="0">
                <a:solidFill>
                  <a:srgbClr val="FF0000"/>
                </a:solidFill>
                <a:effectLst>
                  <a:outerShdw blurRad="38100" dist="38100" dir="2700000" algn="tl">
                    <a:srgbClr val="000000">
                      <a:alpha val="43137"/>
                    </a:srgbClr>
                  </a:outerShdw>
                </a:effectLst>
              </a:rPr>
              <a:t> in the </a:t>
            </a:r>
            <a:r>
              <a:rPr lang="pl-PL" sz="2800" dirty="0" err="1">
                <a:solidFill>
                  <a:srgbClr val="FF0000"/>
                </a:solidFill>
                <a:effectLst>
                  <a:outerShdw blurRad="38100" dist="38100" dir="2700000" algn="tl">
                    <a:srgbClr val="000000">
                      <a:alpha val="43137"/>
                    </a:srgbClr>
                  </a:outerShdw>
                </a:effectLst>
              </a:rPr>
              <a:t>interpretation</a:t>
            </a:r>
            <a:r>
              <a:rPr lang="pl-PL" sz="2800" dirty="0">
                <a:solidFill>
                  <a:srgbClr val="FF0000"/>
                </a:solidFill>
                <a:effectLst>
                  <a:outerShdw blurRad="38100" dist="38100" dir="2700000" algn="tl">
                    <a:srgbClr val="000000">
                      <a:alpha val="43137"/>
                    </a:srgbClr>
                  </a:outerShdw>
                </a:effectLst>
              </a:rPr>
              <a:t> of law</a:t>
            </a:r>
            <a:endParaRPr lang="en-US" sz="2800" dirty="0"/>
          </a:p>
        </p:txBody>
      </p:sp>
      <p:sp>
        <p:nvSpPr>
          <p:cNvPr id="3" name="Symbol zastępczy zawartości 2">
            <a:extLst>
              <a:ext uri="{FF2B5EF4-FFF2-40B4-BE49-F238E27FC236}">
                <a16:creationId xmlns:a16="http://schemas.microsoft.com/office/drawing/2014/main" id="{9716F8BE-4DA3-77D2-3F13-AC1736D56A86}"/>
              </a:ext>
            </a:extLst>
          </p:cNvPr>
          <p:cNvSpPr>
            <a:spLocks noGrp="1"/>
          </p:cNvSpPr>
          <p:nvPr>
            <p:ph idx="1"/>
          </p:nvPr>
        </p:nvSpPr>
        <p:spPr/>
        <p:txBody>
          <a:bodyPr>
            <a:normAutofit lnSpcReduction="10000"/>
          </a:bodyPr>
          <a:lstStyle/>
          <a:p>
            <a:r>
              <a:rPr lang="pl-PL" b="1" dirty="0" err="1">
                <a:solidFill>
                  <a:srgbClr val="FF0000"/>
                </a:solidFill>
                <a:effectLst>
                  <a:outerShdw blurRad="38100" dist="38100" dir="2700000" algn="tl">
                    <a:srgbClr val="000000">
                      <a:alpha val="43137"/>
                    </a:srgbClr>
                  </a:outerShdw>
                </a:effectLst>
              </a:rPr>
              <a:t>Historical</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method</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cont</a:t>
            </a:r>
            <a:r>
              <a:rPr lang="pl-PL" b="1" dirty="0">
                <a:solidFill>
                  <a:srgbClr val="FF000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An example</a:t>
            </a:r>
            <a:r>
              <a:rPr lang="pl-PL" dirty="0">
                <a:solidFill>
                  <a:srgbClr val="002060"/>
                </a:solidFill>
                <a:effectLst>
                  <a:outerShdw blurRad="38100" dist="38100" dir="2700000" algn="tl">
                    <a:srgbClr val="000000">
                      <a:alpha val="43137"/>
                    </a:srgbClr>
                  </a:outerShdw>
                </a:effectLst>
              </a:rPr>
              <a:t> of </a:t>
            </a:r>
            <a:r>
              <a:rPr lang="pl-PL" b="1" dirty="0" err="1">
                <a:solidFill>
                  <a:srgbClr val="FF0000"/>
                </a:solidFill>
                <a:effectLst>
                  <a:outerShdw blurRad="38100" dist="38100" dir="2700000" algn="tl">
                    <a:srgbClr val="000000">
                      <a:alpha val="43137"/>
                    </a:srgbClr>
                  </a:outerShdw>
                </a:effectLst>
                <a:highlight>
                  <a:srgbClr val="00FF00"/>
                </a:highlight>
              </a:rPr>
              <a:t>aging</a:t>
            </a:r>
            <a:r>
              <a:rPr lang="pl-PL" b="1" dirty="0">
                <a:solidFill>
                  <a:srgbClr val="FF0000"/>
                </a:solidFill>
                <a:effectLst>
                  <a:outerShdw blurRad="38100" dist="38100" dir="2700000" algn="tl">
                    <a:srgbClr val="000000">
                      <a:alpha val="43137"/>
                    </a:srgbClr>
                  </a:outerShdw>
                </a:effectLst>
                <a:highlight>
                  <a:srgbClr val="00FF00"/>
                </a:highlight>
              </a:rPr>
              <a:t> of law</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the constitutional </a:t>
            </a:r>
            <a:r>
              <a:rPr lang="en-US" b="1" dirty="0">
                <a:solidFill>
                  <a:srgbClr val="FF0000"/>
                </a:solidFill>
                <a:effectLst>
                  <a:outerShdw blurRad="38100" dist="38100" dir="2700000" algn="tl">
                    <a:srgbClr val="000000">
                      <a:alpha val="43137"/>
                    </a:srgbClr>
                  </a:outerShdw>
                </a:effectLst>
              </a:rPr>
              <a:t>protection of </a:t>
            </a:r>
            <a:r>
              <a:rPr lang="pl-PL" b="1" dirty="0" err="1">
                <a:solidFill>
                  <a:srgbClr val="FF0000"/>
                </a:solidFill>
                <a:effectLst>
                  <a:outerShdw blurRad="38100" dist="38100" dir="2700000" algn="tl">
                    <a:srgbClr val="000000">
                      <a:alpha val="43137"/>
                    </a:srgbClr>
                  </a:outerShdw>
                </a:effectLst>
              </a:rPr>
              <a:t>private</a:t>
            </a:r>
            <a:r>
              <a:rPr lang="pl-PL" b="1" dirty="0">
                <a:solidFill>
                  <a:srgbClr val="FF000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property</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also</a:t>
            </a:r>
            <a:r>
              <a:rPr lang="pl-PL" b="1" dirty="0">
                <a:solidFill>
                  <a:srgbClr val="FF0000"/>
                </a:solidFill>
                <a:effectLst>
                  <a:outerShdw blurRad="38100" dist="38100" dir="2700000" algn="tl">
                    <a:srgbClr val="000000">
                      <a:alpha val="43137"/>
                    </a:srgbClr>
                  </a:outerShdw>
                </a:effectLst>
              </a:rPr>
              <a:t> a </a:t>
            </a:r>
            <a:r>
              <a:rPr lang="pl-PL" b="1" dirty="0" err="1">
                <a:solidFill>
                  <a:srgbClr val="FF0000"/>
                </a:solidFill>
                <a:effectLst>
                  <a:outerShdw blurRad="38100" dist="38100" dir="2700000" algn="tl">
                    <a:srgbClr val="000000">
                      <a:alpha val="43137"/>
                    </a:srgbClr>
                  </a:outerShdw>
                </a:effectLst>
              </a:rPr>
              <a:t>human</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right</a:t>
            </a:r>
            <a:r>
              <a:rPr lang="pl-PL" b="1" dirty="0">
                <a:solidFill>
                  <a:srgbClr val="FF000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applied the Roman principle that the </a:t>
            </a:r>
            <a:r>
              <a:rPr lang="en-US" b="1" dirty="0">
                <a:solidFill>
                  <a:srgbClr val="FF0000"/>
                </a:solidFill>
                <a:effectLst>
                  <a:outerShdw blurRad="38100" dist="38100" dir="2700000" algn="tl">
                    <a:srgbClr val="000000">
                      <a:alpha val="43137"/>
                    </a:srgbClr>
                  </a:outerShdw>
                </a:effectLst>
              </a:rPr>
              <a:t>owner of the land is also the owner of the entire space above and beneath the ground </a:t>
            </a:r>
            <a:r>
              <a:rPr lang="en-US" dirty="0">
                <a:solidFill>
                  <a:srgbClr val="002060"/>
                </a:solidFill>
                <a:effectLst>
                  <a:outerShdw blurRad="38100" dist="38100" dir="2700000" algn="tl">
                    <a:srgbClr val="000000">
                      <a:alpha val="43137"/>
                    </a:srgbClr>
                  </a:outerShdw>
                </a:effectLst>
              </a:rPr>
              <a:t>(</a:t>
            </a:r>
            <a:r>
              <a:rPr lang="en-US" i="1" dirty="0">
                <a:solidFill>
                  <a:srgbClr val="002060"/>
                </a:solidFill>
                <a:effectLst>
                  <a:outerShdw blurRad="38100" dist="38100" dir="2700000" algn="tl">
                    <a:srgbClr val="000000">
                      <a:alpha val="43137"/>
                    </a:srgbClr>
                  </a:outerShdw>
                </a:effectLst>
              </a:rPr>
              <a:t>dominus soli </a:t>
            </a:r>
            <a:r>
              <a:rPr lang="en-US" i="1" dirty="0" err="1">
                <a:solidFill>
                  <a:srgbClr val="002060"/>
                </a:solidFill>
                <a:effectLst>
                  <a:outerShdw blurRad="38100" dist="38100" dir="2700000" algn="tl">
                    <a:srgbClr val="000000">
                      <a:alpha val="43137"/>
                    </a:srgbClr>
                  </a:outerShdw>
                </a:effectLst>
              </a:rPr>
              <a:t>est</a:t>
            </a:r>
            <a:r>
              <a:rPr lang="en-US" i="1" dirty="0">
                <a:solidFill>
                  <a:srgbClr val="002060"/>
                </a:solidFill>
                <a:effectLst>
                  <a:outerShdw blurRad="38100" dist="38100" dir="2700000" algn="tl">
                    <a:srgbClr val="000000">
                      <a:alpha val="43137"/>
                    </a:srgbClr>
                  </a:outerShdw>
                </a:effectLst>
              </a:rPr>
              <a:t> dominus </a:t>
            </a:r>
            <a:r>
              <a:rPr lang="en-US" i="1" dirty="0" err="1">
                <a:solidFill>
                  <a:srgbClr val="002060"/>
                </a:solidFill>
                <a:effectLst>
                  <a:outerShdw blurRad="38100" dist="38100" dir="2700000" algn="tl">
                    <a:srgbClr val="000000">
                      <a:alpha val="43137"/>
                    </a:srgbClr>
                  </a:outerShdw>
                </a:effectLst>
              </a:rPr>
              <a:t>coeli</a:t>
            </a:r>
            <a:r>
              <a:rPr lang="en-US" i="1" dirty="0">
                <a:solidFill>
                  <a:srgbClr val="002060"/>
                </a:solidFill>
                <a:effectLst>
                  <a:outerShdw blurRad="38100" dist="38100" dir="2700000" algn="tl">
                    <a:srgbClr val="000000">
                      <a:alpha val="43137"/>
                    </a:srgbClr>
                  </a:outerShdw>
                </a:effectLst>
              </a:rPr>
              <a:t> et </a:t>
            </a:r>
            <a:r>
              <a:rPr lang="en-US" i="1" dirty="0" err="1">
                <a:solidFill>
                  <a:srgbClr val="002060"/>
                </a:solidFill>
                <a:effectLst>
                  <a:outerShdw blurRad="38100" dist="38100" dir="2700000" algn="tl">
                    <a:srgbClr val="000000">
                      <a:alpha val="43137"/>
                    </a:srgbClr>
                  </a:outerShdw>
                </a:effectLst>
              </a:rPr>
              <a:t>inferrorum</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This ancient theory could make it impossible for </a:t>
            </a:r>
            <a:r>
              <a:rPr lang="en-US" b="1" dirty="0">
                <a:solidFill>
                  <a:srgbClr val="FF0000"/>
                </a:solidFill>
                <a:effectLst>
                  <a:outerShdw blurRad="38100" dist="38100" dir="2700000" algn="tl">
                    <a:srgbClr val="000000">
                      <a:alpha val="43137"/>
                    </a:srgbClr>
                  </a:outerShdw>
                </a:effectLst>
              </a:rPr>
              <a:t>airplanes</a:t>
            </a:r>
            <a:r>
              <a:rPr lang="en-US" dirty="0">
                <a:solidFill>
                  <a:srgbClr val="002060"/>
                </a:solidFill>
                <a:effectLst>
                  <a:outerShdw blurRad="38100" dist="38100" dir="2700000" algn="tl">
                    <a:srgbClr val="000000">
                      <a:alpha val="43137"/>
                    </a:srgbClr>
                  </a:outerShdw>
                </a:effectLst>
              </a:rPr>
              <a:t> to fly above someone’s property without permission. Therefore, </a:t>
            </a:r>
            <a:r>
              <a:rPr lang="en-US" b="1" dirty="0" err="1">
                <a:solidFill>
                  <a:srgbClr val="FF0000"/>
                </a:solidFill>
                <a:effectLst>
                  <a:outerShdw blurRad="38100" dist="38100" dir="2700000" algn="tl">
                    <a:srgbClr val="000000">
                      <a:alpha val="43137"/>
                    </a:srgbClr>
                  </a:outerShdw>
                </a:effectLst>
                <a:highlight>
                  <a:srgbClr val="FFFF00"/>
                </a:highlight>
              </a:rPr>
              <a:t>th</a:t>
            </a:r>
            <a:r>
              <a:rPr lang="pl-PL" b="1" dirty="0">
                <a:solidFill>
                  <a:srgbClr val="FF0000"/>
                </a:solidFill>
                <a:effectLst>
                  <a:outerShdw blurRad="38100" dist="38100" dir="2700000" algn="tl">
                    <a:srgbClr val="000000">
                      <a:alpha val="43137"/>
                    </a:srgbClr>
                  </a:outerShdw>
                </a:effectLst>
                <a:highlight>
                  <a:srgbClr val="FFFF00"/>
                </a:highlight>
              </a:rPr>
              <a:t>e</a:t>
            </a:r>
            <a:r>
              <a:rPr lang="en-US" dirty="0">
                <a:solidFill>
                  <a:srgbClr val="002060"/>
                </a:solidFill>
                <a:effectLst>
                  <a:outerShdw blurRad="38100" dist="38100" dir="2700000" algn="tl">
                    <a:srgbClr val="000000">
                      <a:alpha val="43137"/>
                    </a:srgbClr>
                  </a:outerShdw>
                </a:effectLst>
                <a:highlight>
                  <a:srgbClr val="FFFF00"/>
                </a:highlight>
              </a:rPr>
              <a:t> </a:t>
            </a:r>
            <a:r>
              <a:rPr lang="en-US" b="1" dirty="0">
                <a:solidFill>
                  <a:srgbClr val="FF0000"/>
                </a:solidFill>
                <a:effectLst>
                  <a:outerShdw blurRad="38100" dist="38100" dir="2700000" algn="tl">
                    <a:srgbClr val="000000">
                      <a:alpha val="43137"/>
                    </a:srgbClr>
                  </a:outerShdw>
                </a:effectLst>
                <a:highlight>
                  <a:srgbClr val="FFFF00"/>
                </a:highlight>
              </a:rPr>
              <a:t>old doctrine has been modified to restrict ownership of the space above and beneath </a:t>
            </a:r>
            <a:r>
              <a:rPr lang="en-US" b="1" dirty="0">
                <a:solidFill>
                  <a:srgbClr val="FF0000"/>
                </a:solidFill>
                <a:effectLst>
                  <a:outerShdw blurRad="38100" dist="38100" dir="2700000" algn="tl">
                    <a:srgbClr val="000000">
                      <a:alpha val="43137"/>
                    </a:srgbClr>
                  </a:outerShdw>
                </a:effectLst>
              </a:rPr>
              <a:t>to what the owner actually needs to enjoy ownership.</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Laws differ regarding the scope of the right to the space </a:t>
            </a:r>
            <a:r>
              <a:rPr lang="pl-PL" dirty="0" err="1">
                <a:solidFill>
                  <a:srgbClr val="002060"/>
                </a:solidFill>
                <a:effectLst>
                  <a:outerShdw blurRad="38100" dist="38100" dir="2700000" algn="tl">
                    <a:srgbClr val="000000">
                      <a:alpha val="43137"/>
                    </a:srgbClr>
                  </a:outerShdw>
                </a:effectLst>
              </a:rPr>
              <a:t>underneath</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Under the </a:t>
            </a:r>
            <a:r>
              <a:rPr lang="en-US" b="1" dirty="0">
                <a:solidFill>
                  <a:srgbClr val="FF0000"/>
                </a:solidFill>
                <a:effectLst>
                  <a:outerShdw blurRad="38100" dist="38100" dir="2700000" algn="tl">
                    <a:srgbClr val="000000">
                      <a:alpha val="43137"/>
                    </a:srgbClr>
                  </a:outerShdw>
                </a:effectLst>
              </a:rPr>
              <a:t>Polish </a:t>
            </a:r>
            <a:r>
              <a:rPr lang="en-US" b="1" dirty="0">
                <a:solidFill>
                  <a:srgbClr val="FF0000"/>
                </a:solidFill>
                <a:effectLst>
                  <a:outerShdw blurRad="38100" dist="38100" dir="2700000" algn="tl">
                    <a:srgbClr val="000000">
                      <a:alpha val="43137"/>
                    </a:srgbClr>
                  </a:outerShdw>
                </a:effectLst>
                <a:highlight>
                  <a:srgbClr val="FFFF00"/>
                </a:highlight>
              </a:rPr>
              <a:t>mining and geology law</a:t>
            </a:r>
            <a:r>
              <a:rPr lang="en-US" dirty="0">
                <a:solidFill>
                  <a:srgbClr val="002060"/>
                </a:solidFill>
                <a:effectLst>
                  <a:outerShdw blurRad="38100" dist="38100" dir="2700000" algn="tl">
                    <a:srgbClr val="000000">
                      <a:alpha val="43137"/>
                    </a:srgbClr>
                  </a:outerShdw>
                </a:effectLst>
              </a:rPr>
              <a:t>, ownership of </a:t>
            </a:r>
            <a:r>
              <a:rPr lang="pl-PL" dirty="0">
                <a:solidFill>
                  <a:srgbClr val="002060"/>
                </a:solidFill>
                <a:effectLst>
                  <a:outerShdw blurRad="38100" dist="38100" dir="2700000" algn="tl">
                    <a:srgbClr val="000000">
                      <a:alpha val="43137"/>
                    </a:srgbClr>
                  </a:outerShdw>
                </a:effectLst>
              </a:rPr>
              <a:t>underground</a:t>
            </a:r>
            <a:r>
              <a:rPr lang="en-US" dirty="0">
                <a:solidFill>
                  <a:srgbClr val="002060"/>
                </a:solidFill>
                <a:effectLst>
                  <a:outerShdw blurRad="38100" dist="38100" dir="2700000" algn="tl">
                    <a:srgbClr val="000000">
                      <a:alpha val="43137"/>
                    </a:srgbClr>
                  </a:outerShdw>
                </a:effectLst>
              </a:rPr>
              <a:t> resources (coal, oil, metals, minerals) belongs to the state (a state monopoly</a:t>
            </a:r>
            <a:r>
              <a:rPr lang="en-US" i="1" dirty="0">
                <a:solidFill>
                  <a:srgbClr val="002060"/>
                </a:solidFill>
                <a:effectLst>
                  <a:outerShdw blurRad="38100" dist="38100" dir="2700000" algn="tl">
                    <a:srgbClr val="000000">
                      <a:alpha val="43137"/>
                    </a:srgbClr>
                  </a:outerShdw>
                </a:effectLst>
              </a:rPr>
              <a:t>)</a:t>
            </a:r>
          </a:p>
          <a:p>
            <a:endParaRPr lang="en-US" dirty="0"/>
          </a:p>
        </p:txBody>
      </p:sp>
    </p:spTree>
    <p:extLst>
      <p:ext uri="{BB962C8B-B14F-4D97-AF65-F5344CB8AC3E}">
        <p14:creationId xmlns:p14="http://schemas.microsoft.com/office/powerpoint/2010/main" val="4143335954"/>
      </p:ext>
    </p:extLst>
  </p:cSld>
  <p:clrMapOvr>
    <a:masterClrMapping/>
  </p:clrMapOvr>
</p:sld>
</file>

<file path=ppt/theme/theme1.xml><?xml version="1.0" encoding="utf-8"?>
<a:theme xmlns:a="http://schemas.openxmlformats.org/drawingml/2006/main" name="Kozminski University Prezentacja 2025_ 09">
  <a:themeElements>
    <a:clrScheme name="Kozminski colorurs">
      <a:dk1>
        <a:srgbClr val="030928"/>
      </a:dk1>
      <a:lt1>
        <a:srgbClr val="EFF2FC"/>
      </a:lt1>
      <a:dk2>
        <a:srgbClr val="030928"/>
      </a:dk2>
      <a:lt2>
        <a:srgbClr val="EFF2FC"/>
      </a:lt2>
      <a:accent1>
        <a:srgbClr val="030928"/>
      </a:accent1>
      <a:accent2>
        <a:srgbClr val="B4865E"/>
      </a:accent2>
      <a:accent3>
        <a:srgbClr val="C5A181"/>
      </a:accent3>
      <a:accent4>
        <a:srgbClr val="CFB399"/>
      </a:accent4>
      <a:accent5>
        <a:srgbClr val="DAC4B0"/>
      </a:accent5>
      <a:accent6>
        <a:srgbClr val="EBDFD5"/>
      </a:accent6>
      <a:hlink>
        <a:srgbClr val="EFF2FC"/>
      </a:hlink>
      <a:folHlink>
        <a:srgbClr val="EFF2FC"/>
      </a:folHlink>
    </a:clrScheme>
    <a:fontScheme name="Open Sans">
      <a:majorFont>
        <a:latin typeface="Open Sans Semibold"/>
        <a:ea typeface=""/>
        <a:cs typeface=""/>
      </a:majorFont>
      <a:minorFont>
        <a:latin typeface="Open Sans"/>
        <a:ea typeface=""/>
        <a:cs typeface=""/>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Kozminski University Prezentacja 2025_ 09</Template>
  <TotalTime>691</TotalTime>
  <Words>3325</Words>
  <Application>Microsoft Office PowerPoint</Application>
  <PresentationFormat>Panoramiczny</PresentationFormat>
  <Paragraphs>140</Paragraphs>
  <Slides>27</Slides>
  <Notes>0</Notes>
  <HiddenSlides>0</HiddenSlides>
  <MMClips>0</MMClips>
  <ScaleCrop>false</ScaleCrop>
  <HeadingPairs>
    <vt:vector size="6" baseType="variant">
      <vt:variant>
        <vt:lpstr>Używane czcionki</vt:lpstr>
      </vt:variant>
      <vt:variant>
        <vt:i4>5</vt:i4>
      </vt:variant>
      <vt:variant>
        <vt:lpstr>Motyw</vt:lpstr>
      </vt:variant>
      <vt:variant>
        <vt:i4>1</vt:i4>
      </vt:variant>
      <vt:variant>
        <vt:lpstr>Tytuły slajdów</vt:lpstr>
      </vt:variant>
      <vt:variant>
        <vt:i4>27</vt:i4>
      </vt:variant>
    </vt:vector>
  </HeadingPairs>
  <TitlesOfParts>
    <vt:vector size="33" baseType="lpstr">
      <vt:lpstr>Arial</vt:lpstr>
      <vt:lpstr>Arial Black</vt:lpstr>
      <vt:lpstr>Georgia</vt:lpstr>
      <vt:lpstr>Open Sans</vt:lpstr>
      <vt:lpstr>Open Sans Semibold</vt:lpstr>
      <vt:lpstr>Kozminski University Prezentacja 2025_ 09</vt:lpstr>
      <vt:lpstr>Law and Its Interpretation Part 1 Introduction</vt:lpstr>
      <vt:lpstr>Natural Law vs. Positive law</vt:lpstr>
      <vt:lpstr>Conflicts between natural law and positive law</vt:lpstr>
      <vt:lpstr>Conflicts between natural law and positive law</vt:lpstr>
      <vt:lpstr>Elements of a legal act</vt:lpstr>
      <vt:lpstr>Elements of a legal act</vt:lpstr>
      <vt:lpstr>Elements of a legal act</vt:lpstr>
      <vt:lpstr>Branches of positive law  (leading branches distinguished by the method of operation)</vt:lpstr>
      <vt:lpstr>Branches of positive law (by subject-matter)</vt:lpstr>
      <vt:lpstr>Binding power</vt:lpstr>
      <vt:lpstr>Interpretation</vt:lpstr>
      <vt:lpstr>Interpretation</vt:lpstr>
      <vt:lpstr>Interpretation</vt:lpstr>
      <vt:lpstr>Interpretation – statutory definition</vt:lpstr>
      <vt:lpstr>Interpretation – statutory definition</vt:lpstr>
      <vt:lpstr>Interpretation</vt:lpstr>
      <vt:lpstr>Interpretation</vt:lpstr>
      <vt:lpstr>Ancient (Roman) principles of interpretation of law</vt:lpstr>
      <vt:lpstr>Ancient (Roman) principles of interpretation of law</vt:lpstr>
      <vt:lpstr>Ancient (Roman) principles of interpretation of law</vt:lpstr>
      <vt:lpstr>Ancient (Roman) principles of interpretation of law</vt:lpstr>
      <vt:lpstr>Contemporary principles and tendencies in the interpretation of law</vt:lpstr>
      <vt:lpstr>Contemporary principles and tendencies in the interpretation of law</vt:lpstr>
      <vt:lpstr>Contemporary principles and tendencies in the interpretation of law</vt:lpstr>
      <vt:lpstr>Contemporary principles and tendencies in the interpretation of law</vt:lpstr>
      <vt:lpstr>Contemporary principles and tendencies in the interpretation of law</vt:lpstr>
      <vt:lpstr>Contemporary principles and tendencies in the interpretation of law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Waldemar Hoff</dc:creator>
  <cp:lastModifiedBy>Waldemar Hoff</cp:lastModifiedBy>
  <cp:revision>1</cp:revision>
  <dcterms:created xsi:type="dcterms:W3CDTF">2025-10-25T07:39:43Z</dcterms:created>
  <dcterms:modified xsi:type="dcterms:W3CDTF">2026-01-07T21:35:23Z</dcterms:modified>
</cp:coreProperties>
</file>