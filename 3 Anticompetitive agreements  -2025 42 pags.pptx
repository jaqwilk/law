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4"/>
    <p:sldMasterId id="2147483756" r:id="rId5"/>
    <p:sldMasterId id="2147483768" r:id="rId6"/>
    <p:sldMasterId id="2147483780" r:id="rId7"/>
    <p:sldMasterId id="2147483804" r:id="rId8"/>
  </p:sldMasterIdLst>
  <p:notesMasterIdLst>
    <p:notesMasterId r:id="rId64"/>
  </p:notesMasterIdLst>
  <p:sldIdLst>
    <p:sldId id="256" r:id="rId9"/>
    <p:sldId id="312" r:id="rId10"/>
    <p:sldId id="347" r:id="rId11"/>
    <p:sldId id="345" r:id="rId12"/>
    <p:sldId id="346" r:id="rId13"/>
    <p:sldId id="348" r:id="rId14"/>
    <p:sldId id="279" r:id="rId15"/>
    <p:sldId id="257" r:id="rId16"/>
    <p:sldId id="259" r:id="rId17"/>
    <p:sldId id="283" r:id="rId18"/>
    <p:sldId id="281" r:id="rId19"/>
    <p:sldId id="280" r:id="rId20"/>
    <p:sldId id="278" r:id="rId21"/>
    <p:sldId id="309" r:id="rId22"/>
    <p:sldId id="310" r:id="rId23"/>
    <p:sldId id="271" r:id="rId24"/>
    <p:sldId id="282" r:id="rId25"/>
    <p:sldId id="275" r:id="rId26"/>
    <p:sldId id="272" r:id="rId27"/>
    <p:sldId id="258" r:id="rId28"/>
    <p:sldId id="285" r:id="rId29"/>
    <p:sldId id="286" r:id="rId30"/>
    <p:sldId id="308" r:id="rId31"/>
    <p:sldId id="276" r:id="rId32"/>
    <p:sldId id="288" r:id="rId33"/>
    <p:sldId id="338" r:id="rId34"/>
    <p:sldId id="290" r:id="rId35"/>
    <p:sldId id="339" r:id="rId36"/>
    <p:sldId id="270" r:id="rId37"/>
    <p:sldId id="340" r:id="rId38"/>
    <p:sldId id="341" r:id="rId39"/>
    <p:sldId id="342" r:id="rId40"/>
    <p:sldId id="284" r:id="rId41"/>
    <p:sldId id="343" r:id="rId42"/>
    <p:sldId id="344" r:id="rId43"/>
    <p:sldId id="287" r:id="rId44"/>
    <p:sldId id="336" r:id="rId45"/>
    <p:sldId id="294" r:id="rId46"/>
    <p:sldId id="311" r:id="rId47"/>
    <p:sldId id="293" r:id="rId48"/>
    <p:sldId id="295" r:id="rId49"/>
    <p:sldId id="296" r:id="rId50"/>
    <p:sldId id="297" r:id="rId51"/>
    <p:sldId id="298" r:id="rId52"/>
    <p:sldId id="299" r:id="rId53"/>
    <p:sldId id="300" r:id="rId54"/>
    <p:sldId id="291" r:id="rId55"/>
    <p:sldId id="304" r:id="rId56"/>
    <p:sldId id="292" r:id="rId57"/>
    <p:sldId id="301" r:id="rId58"/>
    <p:sldId id="303" r:id="rId59"/>
    <p:sldId id="305" r:id="rId60"/>
    <p:sldId id="302" r:id="rId61"/>
    <p:sldId id="306" r:id="rId62"/>
    <p:sldId id="307" r:id="rId63"/>
  </p:sldIdLst>
  <p:sldSz cx="9144000" cy="6858000" type="screen4x3"/>
  <p:notesSz cx="6858000" cy="9144000"/>
  <p:defaultTextStyle>
    <a:defPPr>
      <a:defRPr lang="pl-PL"/>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1361F3-F65B-46DE-AAB0-588D51728381}" v="50" dt="2025-11-18T07:52:16.1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902"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theme" Target="theme/theme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demar Hoff" userId="bacb8968-6b42-45e3-b232-453b0d6bde59" providerId="ADAL" clId="{F8C1E58B-402C-4ED2-AD69-E062B24CC05A}"/>
    <pc:docChg chg="undo custSel addSld delSld modSld sldOrd">
      <pc:chgData name="Waldemar Hoff" userId="bacb8968-6b42-45e3-b232-453b0d6bde59" providerId="ADAL" clId="{F8C1E58B-402C-4ED2-AD69-E062B24CC05A}" dt="2025-11-18T07:54:36.096" v="5475" actId="207"/>
      <pc:docMkLst>
        <pc:docMk/>
      </pc:docMkLst>
      <pc:sldChg chg="modSp mod">
        <pc:chgData name="Waldemar Hoff" userId="bacb8968-6b42-45e3-b232-453b0d6bde59" providerId="ADAL" clId="{F8C1E58B-402C-4ED2-AD69-E062B24CC05A}" dt="2025-11-16T15:47:15.450" v="2687" actId="207"/>
        <pc:sldMkLst>
          <pc:docMk/>
          <pc:sldMk cId="0" sldId="256"/>
        </pc:sldMkLst>
        <pc:spChg chg="mod">
          <ac:chgData name="Waldemar Hoff" userId="bacb8968-6b42-45e3-b232-453b0d6bde59" providerId="ADAL" clId="{F8C1E58B-402C-4ED2-AD69-E062B24CC05A}" dt="2025-11-16T15:47:09.230" v="2685" actId="20577"/>
          <ac:spMkLst>
            <pc:docMk/>
            <pc:sldMk cId="0" sldId="256"/>
            <ac:spMk id="2" creationId="{00000000-0000-0000-0000-000000000000}"/>
          </ac:spMkLst>
        </pc:spChg>
        <pc:spChg chg="mod">
          <ac:chgData name="Waldemar Hoff" userId="bacb8968-6b42-45e3-b232-453b0d6bde59" providerId="ADAL" clId="{F8C1E58B-402C-4ED2-AD69-E062B24CC05A}" dt="2025-11-16T15:47:15.450" v="2687" actId="207"/>
          <ac:spMkLst>
            <pc:docMk/>
            <pc:sldMk cId="0" sldId="256"/>
            <ac:spMk id="3" creationId="{00000000-0000-0000-0000-000000000000}"/>
          </ac:spMkLst>
        </pc:spChg>
      </pc:sldChg>
      <pc:sldChg chg="modSp mod">
        <pc:chgData name="Waldemar Hoff" userId="bacb8968-6b42-45e3-b232-453b0d6bde59" providerId="ADAL" clId="{F8C1E58B-402C-4ED2-AD69-E062B24CC05A}" dt="2025-11-16T16:22:22.707" v="3036" actId="207"/>
        <pc:sldMkLst>
          <pc:docMk/>
          <pc:sldMk cId="0" sldId="257"/>
        </pc:sldMkLst>
        <pc:spChg chg="mod">
          <ac:chgData name="Waldemar Hoff" userId="bacb8968-6b42-45e3-b232-453b0d6bde59" providerId="ADAL" clId="{F8C1E58B-402C-4ED2-AD69-E062B24CC05A}" dt="2025-11-16T16:21:27.258" v="3028" actId="20577"/>
          <ac:spMkLst>
            <pc:docMk/>
            <pc:sldMk cId="0" sldId="257"/>
            <ac:spMk id="2" creationId="{00000000-0000-0000-0000-000000000000}"/>
          </ac:spMkLst>
        </pc:spChg>
        <pc:spChg chg="mod">
          <ac:chgData name="Waldemar Hoff" userId="bacb8968-6b42-45e3-b232-453b0d6bde59" providerId="ADAL" clId="{F8C1E58B-402C-4ED2-AD69-E062B24CC05A}" dt="2025-11-16T16:22:22.707" v="3036" actId="207"/>
          <ac:spMkLst>
            <pc:docMk/>
            <pc:sldMk cId="0" sldId="257"/>
            <ac:spMk id="3" creationId="{00000000-0000-0000-0000-000000000000}"/>
          </ac:spMkLst>
        </pc:spChg>
      </pc:sldChg>
      <pc:sldChg chg="modSp mod">
        <pc:chgData name="Waldemar Hoff" userId="bacb8968-6b42-45e3-b232-453b0d6bde59" providerId="ADAL" clId="{F8C1E58B-402C-4ED2-AD69-E062B24CC05A}" dt="2025-11-18T07:54:36.096" v="5475" actId="207"/>
        <pc:sldMkLst>
          <pc:docMk/>
          <pc:sldMk cId="0" sldId="259"/>
        </pc:sldMkLst>
        <pc:spChg chg="mod">
          <ac:chgData name="Waldemar Hoff" userId="bacb8968-6b42-45e3-b232-453b0d6bde59" providerId="ADAL" clId="{F8C1E58B-402C-4ED2-AD69-E062B24CC05A}" dt="2025-11-18T07:54:36.096" v="5475" actId="207"/>
          <ac:spMkLst>
            <pc:docMk/>
            <pc:sldMk cId="0" sldId="259"/>
            <ac:spMk id="3" creationId="{00000000-0000-0000-0000-000000000000}"/>
          </ac:spMkLst>
        </pc:spChg>
      </pc:sldChg>
      <pc:sldChg chg="modSp add del mod modTransition">
        <pc:chgData name="Waldemar Hoff" userId="bacb8968-6b42-45e3-b232-453b0d6bde59" providerId="ADAL" clId="{F8C1E58B-402C-4ED2-AD69-E062B24CC05A}" dt="2025-11-16T16:20:12.634" v="2978" actId="27636"/>
        <pc:sldMkLst>
          <pc:docMk/>
          <pc:sldMk cId="2513988704" sldId="270"/>
        </pc:sldMkLst>
        <pc:spChg chg="mod">
          <ac:chgData name="Waldemar Hoff" userId="bacb8968-6b42-45e3-b232-453b0d6bde59" providerId="ADAL" clId="{F8C1E58B-402C-4ED2-AD69-E062B24CC05A}" dt="2025-11-16T16:20:12.634" v="2978" actId="27636"/>
          <ac:spMkLst>
            <pc:docMk/>
            <pc:sldMk cId="2513988704" sldId="270"/>
            <ac:spMk id="3" creationId="{CB53C8A3-0143-DD6A-D6FE-29D93EBFC113}"/>
          </ac:spMkLst>
        </pc:spChg>
      </pc:sldChg>
      <pc:sldChg chg="modSp mod">
        <pc:chgData name="Waldemar Hoff" userId="bacb8968-6b42-45e3-b232-453b0d6bde59" providerId="ADAL" clId="{F8C1E58B-402C-4ED2-AD69-E062B24CC05A}" dt="2025-11-18T07:52:42.318" v="5470" actId="20577"/>
        <pc:sldMkLst>
          <pc:docMk/>
          <pc:sldMk cId="0" sldId="271"/>
        </pc:sldMkLst>
        <pc:spChg chg="mod">
          <ac:chgData name="Waldemar Hoff" userId="bacb8968-6b42-45e3-b232-453b0d6bde59" providerId="ADAL" clId="{F8C1E58B-402C-4ED2-AD69-E062B24CC05A}" dt="2025-11-18T07:52:42.318" v="5470" actId="20577"/>
          <ac:spMkLst>
            <pc:docMk/>
            <pc:sldMk cId="0" sldId="271"/>
            <ac:spMk id="3" creationId="{00000000-0000-0000-0000-000000000000}"/>
          </ac:spMkLst>
        </pc:spChg>
      </pc:sldChg>
      <pc:sldChg chg="modSp mod">
        <pc:chgData name="Waldemar Hoff" userId="bacb8968-6b42-45e3-b232-453b0d6bde59" providerId="ADAL" clId="{F8C1E58B-402C-4ED2-AD69-E062B24CC05A}" dt="2025-11-16T15:19:00.911" v="191" actId="20577"/>
        <pc:sldMkLst>
          <pc:docMk/>
          <pc:sldMk cId="0" sldId="272"/>
        </pc:sldMkLst>
        <pc:spChg chg="mod">
          <ac:chgData name="Waldemar Hoff" userId="bacb8968-6b42-45e3-b232-453b0d6bde59" providerId="ADAL" clId="{F8C1E58B-402C-4ED2-AD69-E062B24CC05A}" dt="2025-11-16T15:19:00.911" v="191" actId="20577"/>
          <ac:spMkLst>
            <pc:docMk/>
            <pc:sldMk cId="0" sldId="272"/>
            <ac:spMk id="3" creationId="{00000000-0000-0000-0000-000000000000}"/>
          </ac:spMkLst>
        </pc:spChg>
      </pc:sldChg>
      <pc:sldChg chg="modSp mod">
        <pc:chgData name="Waldemar Hoff" userId="bacb8968-6b42-45e3-b232-453b0d6bde59" providerId="ADAL" clId="{F8C1E58B-402C-4ED2-AD69-E062B24CC05A}" dt="2025-11-16T15:14:06.577" v="2" actId="20577"/>
        <pc:sldMkLst>
          <pc:docMk/>
          <pc:sldMk cId="0" sldId="275"/>
        </pc:sldMkLst>
        <pc:spChg chg="mod">
          <ac:chgData name="Waldemar Hoff" userId="bacb8968-6b42-45e3-b232-453b0d6bde59" providerId="ADAL" clId="{F8C1E58B-402C-4ED2-AD69-E062B24CC05A}" dt="2025-11-16T15:14:06.577" v="2" actId="20577"/>
          <ac:spMkLst>
            <pc:docMk/>
            <pc:sldMk cId="0" sldId="275"/>
            <ac:spMk id="3" creationId="{00000000-0000-0000-0000-000000000000}"/>
          </ac:spMkLst>
        </pc:spChg>
      </pc:sldChg>
      <pc:sldChg chg="addSp delSp modSp mod">
        <pc:chgData name="Waldemar Hoff" userId="bacb8968-6b42-45e3-b232-453b0d6bde59" providerId="ADAL" clId="{F8C1E58B-402C-4ED2-AD69-E062B24CC05A}" dt="2025-11-16T16:19:27.444" v="2975" actId="22"/>
        <pc:sldMkLst>
          <pc:docMk/>
          <pc:sldMk cId="0" sldId="276"/>
        </pc:sldMkLst>
        <pc:spChg chg="mod">
          <ac:chgData name="Waldemar Hoff" userId="bacb8968-6b42-45e3-b232-453b0d6bde59" providerId="ADAL" clId="{F8C1E58B-402C-4ED2-AD69-E062B24CC05A}" dt="2025-11-16T15:27:07.064" v="898"/>
          <ac:spMkLst>
            <pc:docMk/>
            <pc:sldMk cId="0" sldId="276"/>
            <ac:spMk id="3" creationId="{00000000-0000-0000-0000-000000000000}"/>
          </ac:spMkLst>
        </pc:spChg>
      </pc:sldChg>
      <pc:sldChg chg="modSp mod">
        <pc:chgData name="Waldemar Hoff" userId="bacb8968-6b42-45e3-b232-453b0d6bde59" providerId="ADAL" clId="{F8C1E58B-402C-4ED2-AD69-E062B24CC05A}" dt="2025-11-18T07:49:47.903" v="5430" actId="20577"/>
        <pc:sldMkLst>
          <pc:docMk/>
          <pc:sldMk cId="2190369418" sldId="279"/>
        </pc:sldMkLst>
        <pc:spChg chg="mod">
          <ac:chgData name="Waldemar Hoff" userId="bacb8968-6b42-45e3-b232-453b0d6bde59" providerId="ADAL" clId="{F8C1E58B-402C-4ED2-AD69-E062B24CC05A}" dt="2025-11-16T16:21:13.075" v="3026" actId="20577"/>
          <ac:spMkLst>
            <pc:docMk/>
            <pc:sldMk cId="2190369418" sldId="279"/>
            <ac:spMk id="2" creationId="{00000000-0000-0000-0000-000000000000}"/>
          </ac:spMkLst>
        </pc:spChg>
        <pc:spChg chg="mod">
          <ac:chgData name="Waldemar Hoff" userId="bacb8968-6b42-45e3-b232-453b0d6bde59" providerId="ADAL" clId="{F8C1E58B-402C-4ED2-AD69-E062B24CC05A}" dt="2025-11-18T07:49:47.903" v="5430" actId="20577"/>
          <ac:spMkLst>
            <pc:docMk/>
            <pc:sldMk cId="2190369418" sldId="279"/>
            <ac:spMk id="3" creationId="{00000000-0000-0000-0000-000000000000}"/>
          </ac:spMkLst>
        </pc:spChg>
      </pc:sldChg>
      <pc:sldChg chg="modSp mod">
        <pc:chgData name="Waldemar Hoff" userId="bacb8968-6b42-45e3-b232-453b0d6bde59" providerId="ADAL" clId="{F8C1E58B-402C-4ED2-AD69-E062B24CC05A}" dt="2025-11-16T16:24:04.386" v="3071" actId="207"/>
        <pc:sldMkLst>
          <pc:docMk/>
          <pc:sldMk cId="166593375" sldId="280"/>
        </pc:sldMkLst>
        <pc:spChg chg="mod">
          <ac:chgData name="Waldemar Hoff" userId="bacb8968-6b42-45e3-b232-453b0d6bde59" providerId="ADAL" clId="{F8C1E58B-402C-4ED2-AD69-E062B24CC05A}" dt="2025-11-16T16:24:04.386" v="3071" actId="207"/>
          <ac:spMkLst>
            <pc:docMk/>
            <pc:sldMk cId="166593375" sldId="280"/>
            <ac:spMk id="3" creationId="{00000000-0000-0000-0000-000000000000}"/>
          </ac:spMkLst>
        </pc:spChg>
      </pc:sldChg>
      <pc:sldChg chg="modSp mod">
        <pc:chgData name="Waldemar Hoff" userId="bacb8968-6b42-45e3-b232-453b0d6bde59" providerId="ADAL" clId="{F8C1E58B-402C-4ED2-AD69-E062B24CC05A}" dt="2025-11-16T16:23:27.092" v="3039" actId="207"/>
        <pc:sldMkLst>
          <pc:docMk/>
          <pc:sldMk cId="3552482515" sldId="281"/>
        </pc:sldMkLst>
        <pc:spChg chg="mod">
          <ac:chgData name="Waldemar Hoff" userId="bacb8968-6b42-45e3-b232-453b0d6bde59" providerId="ADAL" clId="{F8C1E58B-402C-4ED2-AD69-E062B24CC05A}" dt="2025-11-16T16:23:27.092" v="3039" actId="207"/>
          <ac:spMkLst>
            <pc:docMk/>
            <pc:sldMk cId="3552482515" sldId="281"/>
            <ac:spMk id="3" creationId="{00000000-0000-0000-0000-000000000000}"/>
          </ac:spMkLst>
        </pc:spChg>
      </pc:sldChg>
      <pc:sldChg chg="modSp">
        <pc:chgData name="Waldemar Hoff" userId="bacb8968-6b42-45e3-b232-453b0d6bde59" providerId="ADAL" clId="{F8C1E58B-402C-4ED2-AD69-E062B24CC05A}" dt="2025-11-18T07:50:28.855" v="5431"/>
        <pc:sldMkLst>
          <pc:docMk/>
          <pc:sldMk cId="2386151490" sldId="283"/>
        </pc:sldMkLst>
        <pc:spChg chg="mod">
          <ac:chgData name="Waldemar Hoff" userId="bacb8968-6b42-45e3-b232-453b0d6bde59" providerId="ADAL" clId="{F8C1E58B-402C-4ED2-AD69-E062B24CC05A}" dt="2025-11-18T07:50:28.855" v="5431"/>
          <ac:spMkLst>
            <pc:docMk/>
            <pc:sldMk cId="2386151490" sldId="283"/>
            <ac:spMk id="3" creationId="{00000000-0000-0000-0000-000000000000}"/>
          </ac:spMkLst>
        </pc:spChg>
      </pc:sldChg>
      <pc:sldChg chg="add del modTransition">
        <pc:chgData name="Waldemar Hoff" userId="bacb8968-6b42-45e3-b232-453b0d6bde59" providerId="ADAL" clId="{F8C1E58B-402C-4ED2-AD69-E062B24CC05A}" dt="2025-11-16T16:20:12.539" v="2976"/>
        <pc:sldMkLst>
          <pc:docMk/>
          <pc:sldMk cId="420720555" sldId="284"/>
        </pc:sldMkLst>
      </pc:sldChg>
      <pc:sldChg chg="modSp mod">
        <pc:chgData name="Waldemar Hoff" userId="bacb8968-6b42-45e3-b232-453b0d6bde59" providerId="ADAL" clId="{F8C1E58B-402C-4ED2-AD69-E062B24CC05A}" dt="2025-11-16T15:19:38.424" v="225" actId="20577"/>
        <pc:sldMkLst>
          <pc:docMk/>
          <pc:sldMk cId="2847597670" sldId="285"/>
        </pc:sldMkLst>
        <pc:spChg chg="mod">
          <ac:chgData name="Waldemar Hoff" userId="bacb8968-6b42-45e3-b232-453b0d6bde59" providerId="ADAL" clId="{F8C1E58B-402C-4ED2-AD69-E062B24CC05A}" dt="2025-11-16T15:19:38.424" v="225" actId="20577"/>
          <ac:spMkLst>
            <pc:docMk/>
            <pc:sldMk cId="2847597670" sldId="285"/>
            <ac:spMk id="3" creationId="{00000000-0000-0000-0000-000000000000}"/>
          </ac:spMkLst>
        </pc:spChg>
      </pc:sldChg>
      <pc:sldChg chg="add del modTransition">
        <pc:chgData name="Waldemar Hoff" userId="bacb8968-6b42-45e3-b232-453b0d6bde59" providerId="ADAL" clId="{F8C1E58B-402C-4ED2-AD69-E062B24CC05A}" dt="2025-11-16T16:20:12.539" v="2976"/>
        <pc:sldMkLst>
          <pc:docMk/>
          <pc:sldMk cId="4067126463" sldId="287"/>
        </pc:sldMkLst>
      </pc:sldChg>
      <pc:sldChg chg="modSp mod">
        <pc:chgData name="Waldemar Hoff" userId="bacb8968-6b42-45e3-b232-453b0d6bde59" providerId="ADAL" clId="{F8C1E58B-402C-4ED2-AD69-E062B24CC05A}" dt="2025-11-16T15:25:35.798" v="836" actId="790"/>
        <pc:sldMkLst>
          <pc:docMk/>
          <pc:sldMk cId="4169275795" sldId="288"/>
        </pc:sldMkLst>
        <pc:spChg chg="mod">
          <ac:chgData name="Waldemar Hoff" userId="bacb8968-6b42-45e3-b232-453b0d6bde59" providerId="ADAL" clId="{F8C1E58B-402C-4ED2-AD69-E062B24CC05A}" dt="2025-11-16T15:25:35.798" v="836" actId="790"/>
          <ac:spMkLst>
            <pc:docMk/>
            <pc:sldMk cId="4169275795" sldId="288"/>
            <ac:spMk id="3" creationId="{00000000-0000-0000-0000-000000000000}"/>
          </ac:spMkLst>
        </pc:spChg>
      </pc:sldChg>
      <pc:sldChg chg="add del modTransition">
        <pc:chgData name="Waldemar Hoff" userId="bacb8968-6b42-45e3-b232-453b0d6bde59" providerId="ADAL" clId="{F8C1E58B-402C-4ED2-AD69-E062B24CC05A}" dt="2025-11-16T16:20:12.539" v="2976"/>
        <pc:sldMkLst>
          <pc:docMk/>
          <pc:sldMk cId="2037734146" sldId="290"/>
        </pc:sldMkLst>
      </pc:sldChg>
      <pc:sldChg chg="modSp mod">
        <pc:chgData name="Waldemar Hoff" userId="bacb8968-6b42-45e3-b232-453b0d6bde59" providerId="ADAL" clId="{F8C1E58B-402C-4ED2-AD69-E062B24CC05A}" dt="2025-11-16T15:36:27.847" v="1697" actId="20577"/>
        <pc:sldMkLst>
          <pc:docMk/>
          <pc:sldMk cId="2589258560" sldId="294"/>
        </pc:sldMkLst>
        <pc:spChg chg="mod">
          <ac:chgData name="Waldemar Hoff" userId="bacb8968-6b42-45e3-b232-453b0d6bde59" providerId="ADAL" clId="{F8C1E58B-402C-4ED2-AD69-E062B24CC05A}" dt="2025-11-16T15:35:34.850" v="1684" actId="790"/>
          <ac:spMkLst>
            <pc:docMk/>
            <pc:sldMk cId="2589258560" sldId="294"/>
            <ac:spMk id="2" creationId="{00000000-0000-0000-0000-000000000000}"/>
          </ac:spMkLst>
        </pc:spChg>
        <pc:spChg chg="mod">
          <ac:chgData name="Waldemar Hoff" userId="bacb8968-6b42-45e3-b232-453b0d6bde59" providerId="ADAL" clId="{F8C1E58B-402C-4ED2-AD69-E062B24CC05A}" dt="2025-11-16T15:36:27.847" v="1697" actId="20577"/>
          <ac:spMkLst>
            <pc:docMk/>
            <pc:sldMk cId="2589258560" sldId="294"/>
            <ac:spMk id="3" creationId="{00000000-0000-0000-0000-000000000000}"/>
          </ac:spMkLst>
        </pc:spChg>
      </pc:sldChg>
      <pc:sldChg chg="modSp mod">
        <pc:chgData name="Waldemar Hoff" userId="bacb8968-6b42-45e3-b232-453b0d6bde59" providerId="ADAL" clId="{F8C1E58B-402C-4ED2-AD69-E062B24CC05A}" dt="2025-11-16T15:15:49.155" v="76" actId="27636"/>
        <pc:sldMkLst>
          <pc:docMk/>
          <pc:sldMk cId="1809228164" sldId="300"/>
        </pc:sldMkLst>
        <pc:spChg chg="mod">
          <ac:chgData name="Waldemar Hoff" userId="bacb8968-6b42-45e3-b232-453b0d6bde59" providerId="ADAL" clId="{F8C1E58B-402C-4ED2-AD69-E062B24CC05A}" dt="2025-11-16T15:15:49.155" v="76" actId="27636"/>
          <ac:spMkLst>
            <pc:docMk/>
            <pc:sldMk cId="1809228164" sldId="300"/>
            <ac:spMk id="3" creationId="{00000000-0000-0000-0000-000000000000}"/>
          </ac:spMkLst>
        </pc:spChg>
      </pc:sldChg>
      <pc:sldChg chg="modSp mod">
        <pc:chgData name="Waldemar Hoff" userId="bacb8968-6b42-45e3-b232-453b0d6bde59" providerId="ADAL" clId="{F8C1E58B-402C-4ED2-AD69-E062B24CC05A}" dt="2025-11-18T07:51:45.225" v="5461" actId="207"/>
        <pc:sldMkLst>
          <pc:docMk/>
          <pc:sldMk cId="3418093341" sldId="309"/>
        </pc:sldMkLst>
        <pc:spChg chg="mod">
          <ac:chgData name="Waldemar Hoff" userId="bacb8968-6b42-45e3-b232-453b0d6bde59" providerId="ADAL" clId="{F8C1E58B-402C-4ED2-AD69-E062B24CC05A}" dt="2025-11-18T07:51:45.225" v="5461" actId="207"/>
          <ac:spMkLst>
            <pc:docMk/>
            <pc:sldMk cId="3418093341" sldId="309"/>
            <ac:spMk id="3" creationId="{7395CD90-2FD0-9560-FD4C-577F82562590}"/>
          </ac:spMkLst>
        </pc:spChg>
      </pc:sldChg>
      <pc:sldChg chg="modSp mod">
        <pc:chgData name="Waldemar Hoff" userId="bacb8968-6b42-45e3-b232-453b0d6bde59" providerId="ADAL" clId="{F8C1E58B-402C-4ED2-AD69-E062B24CC05A}" dt="2025-11-16T15:15:49.193" v="77" actId="27636"/>
        <pc:sldMkLst>
          <pc:docMk/>
          <pc:sldMk cId="3363288062" sldId="310"/>
        </pc:sldMkLst>
        <pc:spChg chg="mod">
          <ac:chgData name="Waldemar Hoff" userId="bacb8968-6b42-45e3-b232-453b0d6bde59" providerId="ADAL" clId="{F8C1E58B-402C-4ED2-AD69-E062B24CC05A}" dt="2025-11-16T15:15:49.193" v="77" actId="27636"/>
          <ac:spMkLst>
            <pc:docMk/>
            <pc:sldMk cId="3363288062" sldId="310"/>
            <ac:spMk id="3" creationId="{90DCE8E3-FEF6-6117-791B-F15973383BA2}"/>
          </ac:spMkLst>
        </pc:spChg>
      </pc:sldChg>
      <pc:sldChg chg="modSp new mod">
        <pc:chgData name="Waldemar Hoff" userId="bacb8968-6b42-45e3-b232-453b0d6bde59" providerId="ADAL" clId="{F8C1E58B-402C-4ED2-AD69-E062B24CC05A}" dt="2025-11-16T15:34:21.768" v="1619"/>
        <pc:sldMkLst>
          <pc:docMk/>
          <pc:sldMk cId="990608820" sldId="311"/>
        </pc:sldMkLst>
        <pc:spChg chg="mod">
          <ac:chgData name="Waldemar Hoff" userId="bacb8968-6b42-45e3-b232-453b0d6bde59" providerId="ADAL" clId="{F8C1E58B-402C-4ED2-AD69-E062B24CC05A}" dt="2025-11-16T15:34:21.768" v="1619"/>
          <ac:spMkLst>
            <pc:docMk/>
            <pc:sldMk cId="990608820" sldId="311"/>
            <ac:spMk id="2" creationId="{FE5F0CD2-4CC7-2950-861D-DE2644EC3401}"/>
          </ac:spMkLst>
        </pc:spChg>
        <pc:spChg chg="mod">
          <ac:chgData name="Waldemar Hoff" userId="bacb8968-6b42-45e3-b232-453b0d6bde59" providerId="ADAL" clId="{F8C1E58B-402C-4ED2-AD69-E062B24CC05A}" dt="2025-11-16T15:34:12.334" v="1618" actId="255"/>
          <ac:spMkLst>
            <pc:docMk/>
            <pc:sldMk cId="990608820" sldId="311"/>
            <ac:spMk id="3" creationId="{21BE5EC1-80FA-4795-DF62-85F0F8C15BD5}"/>
          </ac:spMkLst>
        </pc:spChg>
      </pc:sldChg>
      <pc:sldChg chg="modSp new mod">
        <pc:chgData name="Waldemar Hoff" userId="bacb8968-6b42-45e3-b232-453b0d6bde59" providerId="ADAL" clId="{F8C1E58B-402C-4ED2-AD69-E062B24CC05A}" dt="2025-11-16T16:53:20.957" v="4785" actId="27636"/>
        <pc:sldMkLst>
          <pc:docMk/>
          <pc:sldMk cId="1991023091" sldId="312"/>
        </pc:sldMkLst>
        <pc:spChg chg="mod">
          <ac:chgData name="Waldemar Hoff" userId="bacb8968-6b42-45e3-b232-453b0d6bde59" providerId="ADAL" clId="{F8C1E58B-402C-4ED2-AD69-E062B24CC05A}" dt="2025-11-16T15:48:57.732" v="2823" actId="20577"/>
          <ac:spMkLst>
            <pc:docMk/>
            <pc:sldMk cId="1991023091" sldId="312"/>
            <ac:spMk id="2" creationId="{46407DD0-4209-6AE0-0FB5-95794352C307}"/>
          </ac:spMkLst>
        </pc:spChg>
        <pc:spChg chg="mod">
          <ac:chgData name="Waldemar Hoff" userId="bacb8968-6b42-45e3-b232-453b0d6bde59" providerId="ADAL" clId="{F8C1E58B-402C-4ED2-AD69-E062B24CC05A}" dt="2025-11-16T16:53:20.957" v="4785" actId="27636"/>
          <ac:spMkLst>
            <pc:docMk/>
            <pc:sldMk cId="1991023091" sldId="312"/>
            <ac:spMk id="3" creationId="{CCD92321-60FB-EDA1-74D8-785C708F5925}"/>
          </ac:spMkLst>
        </pc:spChg>
      </pc:sldChg>
      <pc:sldChg chg="modSp add mod modTransition">
        <pc:chgData name="Waldemar Hoff" userId="bacb8968-6b42-45e3-b232-453b0d6bde59" providerId="ADAL" clId="{F8C1E58B-402C-4ED2-AD69-E062B24CC05A}" dt="2025-11-16T16:20:12.659" v="2979" actId="27636"/>
        <pc:sldMkLst>
          <pc:docMk/>
          <pc:sldMk cId="2123856178" sldId="336"/>
        </pc:sldMkLst>
        <pc:spChg chg="mod">
          <ac:chgData name="Waldemar Hoff" userId="bacb8968-6b42-45e3-b232-453b0d6bde59" providerId="ADAL" clId="{F8C1E58B-402C-4ED2-AD69-E062B24CC05A}" dt="2025-11-16T16:20:12.659" v="2979" actId="27636"/>
          <ac:spMkLst>
            <pc:docMk/>
            <pc:sldMk cId="2123856178" sldId="336"/>
            <ac:spMk id="3" creationId="{CFAD9C3E-20EC-187F-9995-181EBE5B0624}"/>
          </ac:spMkLst>
        </pc:spChg>
      </pc:sldChg>
      <pc:sldChg chg="modSp add mod modTransition">
        <pc:chgData name="Waldemar Hoff" userId="bacb8968-6b42-45e3-b232-453b0d6bde59" providerId="ADAL" clId="{F8C1E58B-402C-4ED2-AD69-E062B24CC05A}" dt="2025-11-18T07:53:50.398" v="5471" actId="20577"/>
        <pc:sldMkLst>
          <pc:docMk/>
          <pc:sldMk cId="4292973358" sldId="338"/>
        </pc:sldMkLst>
        <pc:spChg chg="mod">
          <ac:chgData name="Waldemar Hoff" userId="bacb8968-6b42-45e3-b232-453b0d6bde59" providerId="ADAL" clId="{F8C1E58B-402C-4ED2-AD69-E062B24CC05A}" dt="2025-11-18T07:53:50.398" v="5471" actId="20577"/>
          <ac:spMkLst>
            <pc:docMk/>
            <pc:sldMk cId="4292973358" sldId="338"/>
            <ac:spMk id="3" creationId="{A88409D2-CFBF-F0F6-7101-2B49F5943605}"/>
          </ac:spMkLst>
        </pc:spChg>
      </pc:sldChg>
      <pc:sldChg chg="add modTransition">
        <pc:chgData name="Waldemar Hoff" userId="bacb8968-6b42-45e3-b232-453b0d6bde59" providerId="ADAL" clId="{F8C1E58B-402C-4ED2-AD69-E062B24CC05A}" dt="2025-11-16T16:20:12.539" v="2976"/>
        <pc:sldMkLst>
          <pc:docMk/>
          <pc:sldMk cId="2774271717" sldId="339"/>
        </pc:sldMkLst>
      </pc:sldChg>
      <pc:sldChg chg="add modTransition">
        <pc:chgData name="Waldemar Hoff" userId="bacb8968-6b42-45e3-b232-453b0d6bde59" providerId="ADAL" clId="{F8C1E58B-402C-4ED2-AD69-E062B24CC05A}" dt="2025-11-16T16:20:12.539" v="2976"/>
        <pc:sldMkLst>
          <pc:docMk/>
          <pc:sldMk cId="4292019360" sldId="340"/>
        </pc:sldMkLst>
      </pc:sldChg>
      <pc:sldChg chg="add modTransition">
        <pc:chgData name="Waldemar Hoff" userId="bacb8968-6b42-45e3-b232-453b0d6bde59" providerId="ADAL" clId="{F8C1E58B-402C-4ED2-AD69-E062B24CC05A}" dt="2025-11-16T16:20:12.539" v="2976"/>
        <pc:sldMkLst>
          <pc:docMk/>
          <pc:sldMk cId="3141611739" sldId="341"/>
        </pc:sldMkLst>
      </pc:sldChg>
      <pc:sldChg chg="add modTransition">
        <pc:chgData name="Waldemar Hoff" userId="bacb8968-6b42-45e3-b232-453b0d6bde59" providerId="ADAL" clId="{F8C1E58B-402C-4ED2-AD69-E062B24CC05A}" dt="2025-11-16T16:20:12.539" v="2976"/>
        <pc:sldMkLst>
          <pc:docMk/>
          <pc:sldMk cId="51554413" sldId="342"/>
        </pc:sldMkLst>
      </pc:sldChg>
      <pc:sldChg chg="add modTransition">
        <pc:chgData name="Waldemar Hoff" userId="bacb8968-6b42-45e3-b232-453b0d6bde59" providerId="ADAL" clId="{F8C1E58B-402C-4ED2-AD69-E062B24CC05A}" dt="2025-11-16T16:20:12.539" v="2976"/>
        <pc:sldMkLst>
          <pc:docMk/>
          <pc:sldMk cId="60397897" sldId="343"/>
        </pc:sldMkLst>
      </pc:sldChg>
      <pc:sldChg chg="add modTransition">
        <pc:chgData name="Waldemar Hoff" userId="bacb8968-6b42-45e3-b232-453b0d6bde59" providerId="ADAL" clId="{F8C1E58B-402C-4ED2-AD69-E062B24CC05A}" dt="2025-11-16T16:20:12.539" v="2976"/>
        <pc:sldMkLst>
          <pc:docMk/>
          <pc:sldMk cId="57382693" sldId="344"/>
        </pc:sldMkLst>
      </pc:sldChg>
      <pc:sldChg chg="addSp delSp modSp new mod ord">
        <pc:chgData name="Waldemar Hoff" userId="bacb8968-6b42-45e3-b232-453b0d6bde59" providerId="ADAL" clId="{F8C1E58B-402C-4ED2-AD69-E062B24CC05A}" dt="2025-11-16T16:49:32.048" v="4436"/>
        <pc:sldMkLst>
          <pc:docMk/>
          <pc:sldMk cId="543731904" sldId="345"/>
        </pc:sldMkLst>
        <pc:spChg chg="mod">
          <ac:chgData name="Waldemar Hoff" userId="bacb8968-6b42-45e3-b232-453b0d6bde59" providerId="ADAL" clId="{F8C1E58B-402C-4ED2-AD69-E062B24CC05A}" dt="2025-11-16T16:40:02.435" v="4040" actId="255"/>
          <ac:spMkLst>
            <pc:docMk/>
            <pc:sldMk cId="543731904" sldId="345"/>
            <ac:spMk id="2" creationId="{DAD0A5FB-88FC-EEE1-6098-8BC40B64A70D}"/>
          </ac:spMkLst>
        </pc:spChg>
        <pc:spChg chg="add del mod">
          <ac:chgData name="Waldemar Hoff" userId="bacb8968-6b42-45e3-b232-453b0d6bde59" providerId="ADAL" clId="{F8C1E58B-402C-4ED2-AD69-E062B24CC05A}" dt="2025-11-16T16:46:01.786" v="4379" actId="20577"/>
          <ac:spMkLst>
            <pc:docMk/>
            <pc:sldMk cId="543731904" sldId="345"/>
            <ac:spMk id="3" creationId="{AE9EFFCF-2FBC-11F0-4755-10C8F0624A96}"/>
          </ac:spMkLst>
        </pc:spChg>
      </pc:sldChg>
      <pc:sldChg chg="modSp new mod ord">
        <pc:chgData name="Waldemar Hoff" userId="bacb8968-6b42-45e3-b232-453b0d6bde59" providerId="ADAL" clId="{F8C1E58B-402C-4ED2-AD69-E062B24CC05A}" dt="2025-11-16T16:49:32.048" v="4436"/>
        <pc:sldMkLst>
          <pc:docMk/>
          <pc:sldMk cId="1957726595" sldId="346"/>
        </pc:sldMkLst>
        <pc:spChg chg="mod">
          <ac:chgData name="Waldemar Hoff" userId="bacb8968-6b42-45e3-b232-453b0d6bde59" providerId="ADAL" clId="{F8C1E58B-402C-4ED2-AD69-E062B24CC05A}" dt="2025-11-16T16:31:51.967" v="3284" actId="20577"/>
          <ac:spMkLst>
            <pc:docMk/>
            <pc:sldMk cId="1957726595" sldId="346"/>
            <ac:spMk id="2" creationId="{6DE827AD-F428-0287-A49F-C2E2C2F434F2}"/>
          </ac:spMkLst>
        </pc:spChg>
        <pc:spChg chg="mod">
          <ac:chgData name="Waldemar Hoff" userId="bacb8968-6b42-45e3-b232-453b0d6bde59" providerId="ADAL" clId="{F8C1E58B-402C-4ED2-AD69-E062B24CC05A}" dt="2025-11-16T16:48:58.036" v="4433" actId="12"/>
          <ac:spMkLst>
            <pc:docMk/>
            <pc:sldMk cId="1957726595" sldId="346"/>
            <ac:spMk id="3" creationId="{AA947036-839B-4801-1AEB-E87920E19C8F}"/>
          </ac:spMkLst>
        </pc:spChg>
      </pc:sldChg>
      <pc:sldChg chg="modSp new mod">
        <pc:chgData name="Waldemar Hoff" userId="bacb8968-6b42-45e3-b232-453b0d6bde59" providerId="ADAL" clId="{F8C1E58B-402C-4ED2-AD69-E062B24CC05A}" dt="2025-11-16T16:57:56.783" v="5126" actId="20577"/>
        <pc:sldMkLst>
          <pc:docMk/>
          <pc:sldMk cId="808418633" sldId="347"/>
        </pc:sldMkLst>
        <pc:spChg chg="mod">
          <ac:chgData name="Waldemar Hoff" userId="bacb8968-6b42-45e3-b232-453b0d6bde59" providerId="ADAL" clId="{F8C1E58B-402C-4ED2-AD69-E062B24CC05A}" dt="2025-11-16T16:50:02.990" v="4438"/>
          <ac:spMkLst>
            <pc:docMk/>
            <pc:sldMk cId="808418633" sldId="347"/>
            <ac:spMk id="2" creationId="{CF1E5825-E931-9FD2-1319-AFAB165229B3}"/>
          </ac:spMkLst>
        </pc:spChg>
        <pc:spChg chg="mod">
          <ac:chgData name="Waldemar Hoff" userId="bacb8968-6b42-45e3-b232-453b0d6bde59" providerId="ADAL" clId="{F8C1E58B-402C-4ED2-AD69-E062B24CC05A}" dt="2025-11-16T16:57:56.783" v="5126" actId="20577"/>
          <ac:spMkLst>
            <pc:docMk/>
            <pc:sldMk cId="808418633" sldId="347"/>
            <ac:spMk id="3" creationId="{73DA34D3-2411-4D84-ADEE-C2AFB41BA092}"/>
          </ac:spMkLst>
        </pc:spChg>
      </pc:sldChg>
      <pc:sldChg chg="modSp new mod">
        <pc:chgData name="Waldemar Hoff" userId="bacb8968-6b42-45e3-b232-453b0d6bde59" providerId="ADAL" clId="{F8C1E58B-402C-4ED2-AD69-E062B24CC05A}" dt="2025-11-18T07:49:23.375" v="5429" actId="207"/>
        <pc:sldMkLst>
          <pc:docMk/>
          <pc:sldMk cId="3662021107" sldId="348"/>
        </pc:sldMkLst>
        <pc:spChg chg="mod">
          <ac:chgData name="Waldemar Hoff" userId="bacb8968-6b42-45e3-b232-453b0d6bde59" providerId="ADAL" clId="{F8C1E58B-402C-4ED2-AD69-E062B24CC05A}" dt="2025-11-16T19:43:51.186" v="5406" actId="20577"/>
          <ac:spMkLst>
            <pc:docMk/>
            <pc:sldMk cId="3662021107" sldId="348"/>
            <ac:spMk id="2" creationId="{0F775159-CD24-B6A7-8299-D8DD0C36B5FC}"/>
          </ac:spMkLst>
        </pc:spChg>
        <pc:spChg chg="mod">
          <ac:chgData name="Waldemar Hoff" userId="bacb8968-6b42-45e3-b232-453b0d6bde59" providerId="ADAL" clId="{F8C1E58B-402C-4ED2-AD69-E062B24CC05A}" dt="2025-11-18T07:49:23.375" v="5429" actId="207"/>
          <ac:spMkLst>
            <pc:docMk/>
            <pc:sldMk cId="3662021107" sldId="348"/>
            <ac:spMk id="3" creationId="{34D52D01-5C58-D90D-5ED9-8DBC4E6B72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l-PL" dirty="0"/>
          </a:p>
        </p:txBody>
      </p:sp>
      <p:sp>
        <p:nvSpPr>
          <p:cNvPr id="3" name="Symbol zastępczy daty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404CB7-A894-470A-BAD5-01B7A40B9D29}" type="datetimeFigureOut">
              <a:rPr lang="pl-PL" smtClean="0"/>
              <a:pPr/>
              <a:t>18.11.2025</a:t>
            </a:fld>
            <a:endParaRPr lang="pl-PL" dirty="0"/>
          </a:p>
        </p:txBody>
      </p:sp>
      <p:sp>
        <p:nvSpPr>
          <p:cNvPr id="4" name="Symbol zastępczy obrazu slajd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l-PL" dirty="0"/>
          </a:p>
        </p:txBody>
      </p:sp>
      <p:sp>
        <p:nvSpPr>
          <p:cNvPr id="5" name="Symbol zastępczy notatek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l-PL" dirty="0"/>
          </a:p>
        </p:txBody>
      </p:sp>
      <p:sp>
        <p:nvSpPr>
          <p:cNvPr id="7" name="Symbol zastępczy numeru slajd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C29007-DC16-40ED-9CFE-B2D5B18F2445}" type="slidenum">
              <a:rPr lang="pl-PL" smtClean="0"/>
              <a:pPr/>
              <a:t>‹#›</a:t>
            </a:fld>
            <a:endParaRPr lang="pl-PL" dirty="0"/>
          </a:p>
        </p:txBody>
      </p:sp>
    </p:spTree>
    <p:extLst>
      <p:ext uri="{BB962C8B-B14F-4D97-AF65-F5344CB8AC3E}">
        <p14:creationId xmlns:p14="http://schemas.microsoft.com/office/powerpoint/2010/main" val="1969701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F1C29007-DC16-40ED-9CFE-B2D5B18F2445}" type="slidenum">
              <a:rPr lang="pl-PL" smtClean="0"/>
              <a:pPr/>
              <a:t>1</a:t>
            </a:fld>
            <a:endParaRPr lang="pl-PL" dirty="0"/>
          </a:p>
        </p:txBody>
      </p:sp>
    </p:spTree>
    <p:extLst>
      <p:ext uri="{BB962C8B-B14F-4D97-AF65-F5344CB8AC3E}">
        <p14:creationId xmlns:p14="http://schemas.microsoft.com/office/powerpoint/2010/main" val="952725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F1C29007-DC16-40ED-9CFE-B2D5B18F2445}" type="slidenum">
              <a:rPr lang="pl-PL" smtClean="0"/>
              <a:pPr/>
              <a:t>8</a:t>
            </a:fld>
            <a:endParaRPr lang="pl-PL" dirty="0"/>
          </a:p>
        </p:txBody>
      </p:sp>
    </p:spTree>
    <p:extLst>
      <p:ext uri="{BB962C8B-B14F-4D97-AF65-F5344CB8AC3E}">
        <p14:creationId xmlns:p14="http://schemas.microsoft.com/office/powerpoint/2010/main" val="3617287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F1C29007-DC16-40ED-9CFE-B2D5B18F2445}" type="slidenum">
              <a:rPr lang="pl-PL" smtClean="0"/>
              <a:pPr/>
              <a:t>9</a:t>
            </a:fld>
            <a:endParaRPr lang="pl-PL" dirty="0"/>
          </a:p>
        </p:txBody>
      </p:sp>
    </p:spTree>
    <p:extLst>
      <p:ext uri="{BB962C8B-B14F-4D97-AF65-F5344CB8AC3E}">
        <p14:creationId xmlns:p14="http://schemas.microsoft.com/office/powerpoint/2010/main" val="2586601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F1C29007-DC16-40ED-9CFE-B2D5B18F2445}" type="slidenum">
              <a:rPr lang="pl-PL" smtClean="0"/>
              <a:pPr/>
              <a:t>20</a:t>
            </a:fld>
            <a:endParaRPr lang="pl-PL" dirty="0"/>
          </a:p>
        </p:txBody>
      </p:sp>
    </p:spTree>
    <p:extLst>
      <p:ext uri="{BB962C8B-B14F-4D97-AF65-F5344CB8AC3E}">
        <p14:creationId xmlns:p14="http://schemas.microsoft.com/office/powerpoint/2010/main" val="77079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US" dirty="0"/>
          </a:p>
        </p:txBody>
      </p:sp>
      <p:sp>
        <p:nvSpPr>
          <p:cNvPr id="4" name="Symbol zastępczy numeru slajdu 3"/>
          <p:cNvSpPr>
            <a:spLocks noGrp="1"/>
          </p:cNvSpPr>
          <p:nvPr>
            <p:ph type="sldNum" sz="quarter" idx="5"/>
          </p:nvPr>
        </p:nvSpPr>
        <p:spPr/>
        <p:txBody>
          <a:bodyPr/>
          <a:lstStyle/>
          <a:p>
            <a:fld id="{EAB9CF81-3798-403D-839C-1F028F435E6C}" type="slidenum">
              <a:rPr lang="en-US" smtClean="0"/>
              <a:t>36</a:t>
            </a:fld>
            <a:endParaRPr lang="en-US" dirty="0"/>
          </a:p>
        </p:txBody>
      </p:sp>
    </p:spTree>
    <p:extLst>
      <p:ext uri="{BB962C8B-B14F-4D97-AF65-F5344CB8AC3E}">
        <p14:creationId xmlns:p14="http://schemas.microsoft.com/office/powerpoint/2010/main" val="1943954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lvl1pPr eaLnBrk="0" hangingPunct="0">
              <a:defRPr/>
            </a:lvl1pPr>
          </a:lstStyle>
          <a:p>
            <a:fld id="{2178DBA2-A6CE-4753-8E1C-09DDD552B4C2}"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3963744484"/>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eaLnBrk="0" hangingPunct="0">
              <a:defRPr/>
            </a:lvl1pPr>
          </a:lstStyle>
          <a:p>
            <a:fld id="{17ACFA99-A54F-4E64-BBAA-F814949C1B1F}"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96571394"/>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lvl1pPr eaLnBrk="0" hangingPunct="0">
              <a:defRPr/>
            </a:lvl1pPr>
          </a:lstStyle>
          <a:p>
            <a:fld id="{F2A2910A-2601-4FA2-8F1D-66C44D9B9594}"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1172600408"/>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3"/>
          <p:cNvSpPr>
            <a:spLocks noGrp="1"/>
          </p:cNvSpPr>
          <p:nvPr>
            <p:ph type="dt" sz="half" idx="10"/>
          </p:nvPr>
        </p:nvSpPr>
        <p:spPr/>
        <p:txBody>
          <a:bodyPr/>
          <a:lstStyle>
            <a:lvl1pPr eaLnBrk="0" hangingPunct="0">
              <a:defRPr/>
            </a:lvl1pPr>
          </a:lstStyle>
          <a:p>
            <a:fld id="{DE0B916E-F25C-4917-B538-CB61B940C477}" type="datetime1">
              <a:rPr lang="pl-PL" smtClean="0"/>
              <a:pPr/>
              <a:t>18.11.2025</a:t>
            </a:fld>
            <a:endParaRPr lang="pl-PL" dirty="0"/>
          </a:p>
        </p:txBody>
      </p:sp>
      <p:sp>
        <p:nvSpPr>
          <p:cNvPr id="6" name="Symbol zastępczy stopki 4"/>
          <p:cNvSpPr>
            <a:spLocks noGrp="1"/>
          </p:cNvSpPr>
          <p:nvPr>
            <p:ph type="ftr" sz="quarter" idx="11"/>
          </p:nvPr>
        </p:nvSpPr>
        <p:spPr/>
        <p:txBody>
          <a:bodyPr/>
          <a:lstStyle>
            <a:lvl1pPr eaLnBrk="0" hangingPunct="0">
              <a:defRPr/>
            </a:lvl1pPr>
          </a:lstStyle>
          <a:p>
            <a:endParaRPr lang="pl-PL" dirty="0"/>
          </a:p>
        </p:txBody>
      </p:sp>
      <p:sp>
        <p:nvSpPr>
          <p:cNvPr id="7"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274380709"/>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3"/>
          <p:cNvSpPr>
            <a:spLocks noGrp="1"/>
          </p:cNvSpPr>
          <p:nvPr>
            <p:ph type="dt" sz="half" idx="10"/>
          </p:nvPr>
        </p:nvSpPr>
        <p:spPr/>
        <p:txBody>
          <a:bodyPr/>
          <a:lstStyle>
            <a:lvl1pPr eaLnBrk="0" hangingPunct="0">
              <a:defRPr/>
            </a:lvl1pPr>
          </a:lstStyle>
          <a:p>
            <a:fld id="{9AF5A57D-865E-44AE-9BC4-CACD423F4D22}" type="datetime1">
              <a:rPr lang="pl-PL" smtClean="0"/>
              <a:pPr/>
              <a:t>18.11.2025</a:t>
            </a:fld>
            <a:endParaRPr lang="pl-PL" dirty="0"/>
          </a:p>
        </p:txBody>
      </p:sp>
      <p:sp>
        <p:nvSpPr>
          <p:cNvPr id="8" name="Symbol zastępczy stopki 4"/>
          <p:cNvSpPr>
            <a:spLocks noGrp="1"/>
          </p:cNvSpPr>
          <p:nvPr>
            <p:ph type="ftr" sz="quarter" idx="11"/>
          </p:nvPr>
        </p:nvSpPr>
        <p:spPr/>
        <p:txBody>
          <a:bodyPr/>
          <a:lstStyle>
            <a:lvl1pPr eaLnBrk="0" hangingPunct="0">
              <a:defRPr/>
            </a:lvl1pPr>
          </a:lstStyle>
          <a:p>
            <a:endParaRPr lang="pl-PL" dirty="0"/>
          </a:p>
        </p:txBody>
      </p:sp>
      <p:sp>
        <p:nvSpPr>
          <p:cNvPr id="9"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3479387016"/>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3"/>
          <p:cNvSpPr>
            <a:spLocks noGrp="1"/>
          </p:cNvSpPr>
          <p:nvPr>
            <p:ph type="dt" sz="half" idx="10"/>
          </p:nvPr>
        </p:nvSpPr>
        <p:spPr/>
        <p:txBody>
          <a:bodyPr/>
          <a:lstStyle>
            <a:lvl1pPr eaLnBrk="0" hangingPunct="0">
              <a:defRPr/>
            </a:lvl1pPr>
          </a:lstStyle>
          <a:p>
            <a:fld id="{400AB22D-090A-4E4C-BB70-250D72B380A7}" type="datetime1">
              <a:rPr lang="pl-PL" smtClean="0"/>
              <a:pPr/>
              <a:t>18.11.2025</a:t>
            </a:fld>
            <a:endParaRPr lang="pl-PL" dirty="0"/>
          </a:p>
        </p:txBody>
      </p:sp>
      <p:sp>
        <p:nvSpPr>
          <p:cNvPr id="4" name="Symbol zastępczy stopki 4"/>
          <p:cNvSpPr>
            <a:spLocks noGrp="1"/>
          </p:cNvSpPr>
          <p:nvPr>
            <p:ph type="ftr" sz="quarter" idx="11"/>
          </p:nvPr>
        </p:nvSpPr>
        <p:spPr/>
        <p:txBody>
          <a:bodyPr/>
          <a:lstStyle>
            <a:lvl1pPr eaLnBrk="0" hangingPunct="0">
              <a:defRPr/>
            </a:lvl1pPr>
          </a:lstStyle>
          <a:p>
            <a:endParaRPr lang="pl-PL" dirty="0"/>
          </a:p>
        </p:txBody>
      </p:sp>
      <p:sp>
        <p:nvSpPr>
          <p:cNvPr id="5"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1910167227"/>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3"/>
          <p:cNvSpPr>
            <a:spLocks noGrp="1"/>
          </p:cNvSpPr>
          <p:nvPr>
            <p:ph type="dt" sz="half" idx="10"/>
          </p:nvPr>
        </p:nvSpPr>
        <p:spPr/>
        <p:txBody>
          <a:bodyPr/>
          <a:lstStyle>
            <a:lvl1pPr eaLnBrk="0" hangingPunct="0">
              <a:defRPr/>
            </a:lvl1pPr>
          </a:lstStyle>
          <a:p>
            <a:fld id="{3837B763-F8E0-449E-8109-DC0DC0CC6EBF}" type="datetime1">
              <a:rPr lang="pl-PL" smtClean="0"/>
              <a:pPr/>
              <a:t>18.11.2025</a:t>
            </a:fld>
            <a:endParaRPr lang="pl-PL" dirty="0"/>
          </a:p>
        </p:txBody>
      </p:sp>
      <p:sp>
        <p:nvSpPr>
          <p:cNvPr id="3" name="Symbol zastępczy stopki 4"/>
          <p:cNvSpPr>
            <a:spLocks noGrp="1"/>
          </p:cNvSpPr>
          <p:nvPr>
            <p:ph type="ftr" sz="quarter" idx="11"/>
          </p:nvPr>
        </p:nvSpPr>
        <p:spPr/>
        <p:txBody>
          <a:bodyPr/>
          <a:lstStyle>
            <a:lvl1pPr eaLnBrk="0" hangingPunct="0">
              <a:defRPr/>
            </a:lvl1pPr>
          </a:lstStyle>
          <a:p>
            <a:endParaRPr lang="pl-PL" dirty="0"/>
          </a:p>
        </p:txBody>
      </p:sp>
      <p:sp>
        <p:nvSpPr>
          <p:cNvPr id="4"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4225258404"/>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Symbol zastępczy daty 3"/>
          <p:cNvSpPr>
            <a:spLocks noGrp="1"/>
          </p:cNvSpPr>
          <p:nvPr>
            <p:ph type="dt" sz="half" idx="10"/>
          </p:nvPr>
        </p:nvSpPr>
        <p:spPr/>
        <p:txBody>
          <a:bodyPr/>
          <a:lstStyle>
            <a:lvl1pPr eaLnBrk="0" hangingPunct="0">
              <a:defRPr/>
            </a:lvl1pPr>
          </a:lstStyle>
          <a:p>
            <a:fld id="{737C5CCF-7111-48A5-BCCA-8F4445879A3E}" type="datetime1">
              <a:rPr lang="pl-PL" smtClean="0"/>
              <a:pPr/>
              <a:t>18.11.2025</a:t>
            </a:fld>
            <a:endParaRPr lang="pl-PL" dirty="0"/>
          </a:p>
        </p:txBody>
      </p:sp>
      <p:sp>
        <p:nvSpPr>
          <p:cNvPr id="6" name="Symbol zastępczy stopki 4"/>
          <p:cNvSpPr>
            <a:spLocks noGrp="1"/>
          </p:cNvSpPr>
          <p:nvPr>
            <p:ph type="ftr" sz="quarter" idx="11"/>
          </p:nvPr>
        </p:nvSpPr>
        <p:spPr/>
        <p:txBody>
          <a:bodyPr/>
          <a:lstStyle>
            <a:lvl1pPr eaLnBrk="0" hangingPunct="0">
              <a:defRPr/>
            </a:lvl1pPr>
          </a:lstStyle>
          <a:p>
            <a:endParaRPr lang="pl-PL" dirty="0"/>
          </a:p>
        </p:txBody>
      </p:sp>
      <p:sp>
        <p:nvSpPr>
          <p:cNvPr id="7"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2519146365"/>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pl-PL" noProof="0" dirty="0"/>
              <a:t>Kliknij ikonę, aby dodać obraz</a:t>
            </a:r>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Symbol zastępczy daty 3"/>
          <p:cNvSpPr>
            <a:spLocks noGrp="1"/>
          </p:cNvSpPr>
          <p:nvPr>
            <p:ph type="dt" sz="half" idx="10"/>
          </p:nvPr>
        </p:nvSpPr>
        <p:spPr/>
        <p:txBody>
          <a:bodyPr/>
          <a:lstStyle>
            <a:lvl1pPr eaLnBrk="0" hangingPunct="0">
              <a:defRPr/>
            </a:lvl1pPr>
          </a:lstStyle>
          <a:p>
            <a:fld id="{C1888631-4F7B-4EC3-96A5-46FAB771E1E9}" type="datetime1">
              <a:rPr lang="pl-PL" smtClean="0"/>
              <a:pPr/>
              <a:t>18.11.2025</a:t>
            </a:fld>
            <a:endParaRPr lang="pl-PL" dirty="0"/>
          </a:p>
        </p:txBody>
      </p:sp>
      <p:sp>
        <p:nvSpPr>
          <p:cNvPr id="6" name="Symbol zastępczy stopki 4"/>
          <p:cNvSpPr>
            <a:spLocks noGrp="1"/>
          </p:cNvSpPr>
          <p:nvPr>
            <p:ph type="ftr" sz="quarter" idx="11"/>
          </p:nvPr>
        </p:nvSpPr>
        <p:spPr/>
        <p:txBody>
          <a:bodyPr/>
          <a:lstStyle>
            <a:lvl1pPr eaLnBrk="0" hangingPunct="0">
              <a:defRPr/>
            </a:lvl1pPr>
          </a:lstStyle>
          <a:p>
            <a:endParaRPr lang="pl-PL" dirty="0"/>
          </a:p>
        </p:txBody>
      </p:sp>
      <p:sp>
        <p:nvSpPr>
          <p:cNvPr id="7"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456397365"/>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eaLnBrk="0" hangingPunct="0">
              <a:defRPr/>
            </a:lvl1pPr>
          </a:lstStyle>
          <a:p>
            <a:fld id="{DFAA95CD-9626-4E93-8AC6-C8480FDC4B78}"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1584424086"/>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eaLnBrk="0" hangingPunct="0">
              <a:defRPr/>
            </a:lvl1pPr>
          </a:lstStyle>
          <a:p>
            <a:fld id="{78E15B86-33CF-45ED-89D8-8F62FBAE9301}"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639653191"/>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lvl1pPr>
              <a:defRPr/>
            </a:lvl1pPr>
          </a:lstStyle>
          <a:p>
            <a:pPr>
              <a:defRPr/>
            </a:pPr>
            <a:fld id="{7066EF4F-0285-4857-91F7-05AE225B29CB}"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C41BCE2B-3339-4AE2-BB10-A746CA2E5DE0}" type="slidenum">
              <a:rPr lang="pl-PL"/>
              <a:pPr>
                <a:defRPr/>
              </a:pPr>
              <a:t>‹#›</a:t>
            </a:fld>
            <a:endParaRPr lang="pl-PL" dirty="0"/>
          </a:p>
        </p:txBody>
      </p:sp>
    </p:spTree>
    <p:extLst>
      <p:ext uri="{BB962C8B-B14F-4D97-AF65-F5344CB8AC3E}">
        <p14:creationId xmlns:p14="http://schemas.microsoft.com/office/powerpoint/2010/main" val="3338846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pPr>
              <a:defRPr/>
            </a:pPr>
            <a:fld id="{33833926-E3E7-4AF4-AFC9-BBE98C4588E6}"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6E01FC25-C06E-4FAA-864A-117BB3B35D04}" type="slidenum">
              <a:rPr lang="pl-PL"/>
              <a:pPr>
                <a:defRPr/>
              </a:pPr>
              <a:t>‹#›</a:t>
            </a:fld>
            <a:endParaRPr lang="pl-PL" dirty="0"/>
          </a:p>
        </p:txBody>
      </p:sp>
    </p:spTree>
    <p:extLst>
      <p:ext uri="{BB962C8B-B14F-4D97-AF65-F5344CB8AC3E}">
        <p14:creationId xmlns:p14="http://schemas.microsoft.com/office/powerpoint/2010/main" val="4208671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lvl1pPr>
              <a:defRPr/>
            </a:lvl1pPr>
          </a:lstStyle>
          <a:p>
            <a:pPr>
              <a:defRPr/>
            </a:pPr>
            <a:fld id="{44CB794D-0B1E-4C85-99C0-6D1DF3D03B62}"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3D027F9B-B04E-4C2E-9CA3-F67B16452CE7}" type="slidenum">
              <a:rPr lang="pl-PL"/>
              <a:pPr>
                <a:defRPr/>
              </a:pPr>
              <a:t>‹#›</a:t>
            </a:fld>
            <a:endParaRPr lang="pl-PL" dirty="0"/>
          </a:p>
        </p:txBody>
      </p:sp>
    </p:spTree>
    <p:extLst>
      <p:ext uri="{BB962C8B-B14F-4D97-AF65-F5344CB8AC3E}">
        <p14:creationId xmlns:p14="http://schemas.microsoft.com/office/powerpoint/2010/main" val="3034336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3"/>
          <p:cNvSpPr>
            <a:spLocks noGrp="1"/>
          </p:cNvSpPr>
          <p:nvPr>
            <p:ph type="dt" sz="half" idx="10"/>
          </p:nvPr>
        </p:nvSpPr>
        <p:spPr/>
        <p:txBody>
          <a:bodyPr/>
          <a:lstStyle>
            <a:lvl1pPr>
              <a:defRPr/>
            </a:lvl1pPr>
          </a:lstStyle>
          <a:p>
            <a:pPr>
              <a:defRPr/>
            </a:pPr>
            <a:fld id="{BF64B602-D9B6-434B-9CF5-64B4B8A298A9}" type="datetime1">
              <a:rPr lang="pl-PL" smtClean="0"/>
              <a:t>18.11.2025</a:t>
            </a:fld>
            <a:endParaRPr lang="pl-PL" dirty="0"/>
          </a:p>
        </p:txBody>
      </p:sp>
      <p:sp>
        <p:nvSpPr>
          <p:cNvPr id="6" name="Symbol zastępczy stopki 4"/>
          <p:cNvSpPr>
            <a:spLocks noGrp="1"/>
          </p:cNvSpPr>
          <p:nvPr>
            <p:ph type="ftr" sz="quarter" idx="11"/>
          </p:nvPr>
        </p:nvSpPr>
        <p:spPr/>
        <p:txBody>
          <a:bodyPr/>
          <a:lstStyle>
            <a:lvl1pPr>
              <a:defRPr/>
            </a:lvl1pPr>
          </a:lstStyle>
          <a:p>
            <a:pPr>
              <a:defRPr/>
            </a:pPr>
            <a:endParaRPr lang="pl-PL" dirty="0"/>
          </a:p>
        </p:txBody>
      </p:sp>
      <p:sp>
        <p:nvSpPr>
          <p:cNvPr id="7" name="Symbol zastępczy numeru slajdu 5"/>
          <p:cNvSpPr>
            <a:spLocks noGrp="1"/>
          </p:cNvSpPr>
          <p:nvPr>
            <p:ph type="sldNum" sz="quarter" idx="12"/>
          </p:nvPr>
        </p:nvSpPr>
        <p:spPr/>
        <p:txBody>
          <a:bodyPr/>
          <a:lstStyle>
            <a:lvl1pPr>
              <a:defRPr/>
            </a:lvl1pPr>
          </a:lstStyle>
          <a:p>
            <a:pPr>
              <a:defRPr/>
            </a:pPr>
            <a:fld id="{47C7CD4F-7444-40C4-9005-A4C5737F425D}" type="slidenum">
              <a:rPr lang="pl-PL"/>
              <a:pPr>
                <a:defRPr/>
              </a:pPr>
              <a:t>‹#›</a:t>
            </a:fld>
            <a:endParaRPr lang="pl-PL" dirty="0"/>
          </a:p>
        </p:txBody>
      </p:sp>
    </p:spTree>
    <p:extLst>
      <p:ext uri="{BB962C8B-B14F-4D97-AF65-F5344CB8AC3E}">
        <p14:creationId xmlns:p14="http://schemas.microsoft.com/office/powerpoint/2010/main" val="6192041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3"/>
          <p:cNvSpPr>
            <a:spLocks noGrp="1"/>
          </p:cNvSpPr>
          <p:nvPr>
            <p:ph type="dt" sz="half" idx="10"/>
          </p:nvPr>
        </p:nvSpPr>
        <p:spPr/>
        <p:txBody>
          <a:bodyPr/>
          <a:lstStyle>
            <a:lvl1pPr>
              <a:defRPr/>
            </a:lvl1pPr>
          </a:lstStyle>
          <a:p>
            <a:pPr>
              <a:defRPr/>
            </a:pPr>
            <a:fld id="{CC3EA364-1777-4DCA-9966-CA842B3FDCCB}" type="datetime1">
              <a:rPr lang="pl-PL" smtClean="0"/>
              <a:t>18.11.2025</a:t>
            </a:fld>
            <a:endParaRPr lang="pl-PL" dirty="0"/>
          </a:p>
        </p:txBody>
      </p:sp>
      <p:sp>
        <p:nvSpPr>
          <p:cNvPr id="8" name="Symbol zastępczy stopki 4"/>
          <p:cNvSpPr>
            <a:spLocks noGrp="1"/>
          </p:cNvSpPr>
          <p:nvPr>
            <p:ph type="ftr" sz="quarter" idx="11"/>
          </p:nvPr>
        </p:nvSpPr>
        <p:spPr/>
        <p:txBody>
          <a:bodyPr/>
          <a:lstStyle>
            <a:lvl1pPr>
              <a:defRPr/>
            </a:lvl1pPr>
          </a:lstStyle>
          <a:p>
            <a:pPr>
              <a:defRPr/>
            </a:pPr>
            <a:endParaRPr lang="pl-PL" dirty="0"/>
          </a:p>
        </p:txBody>
      </p:sp>
      <p:sp>
        <p:nvSpPr>
          <p:cNvPr id="9" name="Symbol zastępczy numeru slajdu 5"/>
          <p:cNvSpPr>
            <a:spLocks noGrp="1"/>
          </p:cNvSpPr>
          <p:nvPr>
            <p:ph type="sldNum" sz="quarter" idx="12"/>
          </p:nvPr>
        </p:nvSpPr>
        <p:spPr/>
        <p:txBody>
          <a:bodyPr/>
          <a:lstStyle>
            <a:lvl1pPr>
              <a:defRPr/>
            </a:lvl1pPr>
          </a:lstStyle>
          <a:p>
            <a:pPr>
              <a:defRPr/>
            </a:pPr>
            <a:fld id="{4873E00B-91BB-4EC2-8929-586D26EEB363}" type="slidenum">
              <a:rPr lang="pl-PL"/>
              <a:pPr>
                <a:defRPr/>
              </a:pPr>
              <a:t>‹#›</a:t>
            </a:fld>
            <a:endParaRPr lang="pl-PL" dirty="0"/>
          </a:p>
        </p:txBody>
      </p:sp>
    </p:spTree>
    <p:extLst>
      <p:ext uri="{BB962C8B-B14F-4D97-AF65-F5344CB8AC3E}">
        <p14:creationId xmlns:p14="http://schemas.microsoft.com/office/powerpoint/2010/main" val="1614773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3"/>
          <p:cNvSpPr>
            <a:spLocks noGrp="1"/>
          </p:cNvSpPr>
          <p:nvPr>
            <p:ph type="dt" sz="half" idx="10"/>
          </p:nvPr>
        </p:nvSpPr>
        <p:spPr/>
        <p:txBody>
          <a:bodyPr/>
          <a:lstStyle>
            <a:lvl1pPr>
              <a:defRPr/>
            </a:lvl1pPr>
          </a:lstStyle>
          <a:p>
            <a:pPr>
              <a:defRPr/>
            </a:pPr>
            <a:fld id="{B5A7638A-CCD3-44B7-8B7F-87C5732A4BA2}" type="datetime1">
              <a:rPr lang="pl-PL" smtClean="0"/>
              <a:t>18.11.2025</a:t>
            </a:fld>
            <a:endParaRPr lang="pl-PL" dirty="0"/>
          </a:p>
        </p:txBody>
      </p:sp>
      <p:sp>
        <p:nvSpPr>
          <p:cNvPr id="4" name="Symbol zastępczy stopki 4"/>
          <p:cNvSpPr>
            <a:spLocks noGrp="1"/>
          </p:cNvSpPr>
          <p:nvPr>
            <p:ph type="ftr" sz="quarter" idx="11"/>
          </p:nvPr>
        </p:nvSpPr>
        <p:spPr/>
        <p:txBody>
          <a:bodyPr/>
          <a:lstStyle>
            <a:lvl1pPr>
              <a:defRPr/>
            </a:lvl1pPr>
          </a:lstStyle>
          <a:p>
            <a:pPr>
              <a:defRPr/>
            </a:pPr>
            <a:endParaRPr lang="pl-PL" dirty="0"/>
          </a:p>
        </p:txBody>
      </p:sp>
      <p:sp>
        <p:nvSpPr>
          <p:cNvPr id="5" name="Symbol zastępczy numeru slajdu 5"/>
          <p:cNvSpPr>
            <a:spLocks noGrp="1"/>
          </p:cNvSpPr>
          <p:nvPr>
            <p:ph type="sldNum" sz="quarter" idx="12"/>
          </p:nvPr>
        </p:nvSpPr>
        <p:spPr/>
        <p:txBody>
          <a:bodyPr/>
          <a:lstStyle>
            <a:lvl1pPr>
              <a:defRPr/>
            </a:lvl1pPr>
          </a:lstStyle>
          <a:p>
            <a:pPr>
              <a:defRPr/>
            </a:pPr>
            <a:fld id="{7EF5BC77-7CBD-42B3-BAFB-7DC4BA6C754E}" type="slidenum">
              <a:rPr lang="pl-PL"/>
              <a:pPr>
                <a:defRPr/>
              </a:pPr>
              <a:t>‹#›</a:t>
            </a:fld>
            <a:endParaRPr lang="pl-PL" dirty="0"/>
          </a:p>
        </p:txBody>
      </p:sp>
    </p:spTree>
    <p:extLst>
      <p:ext uri="{BB962C8B-B14F-4D97-AF65-F5344CB8AC3E}">
        <p14:creationId xmlns:p14="http://schemas.microsoft.com/office/powerpoint/2010/main" val="3740324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2" name="Symbol zastępczy daty 3"/>
          <p:cNvSpPr>
            <a:spLocks noGrp="1"/>
          </p:cNvSpPr>
          <p:nvPr>
            <p:ph type="dt" sz="half" idx="10"/>
          </p:nvPr>
        </p:nvSpPr>
        <p:spPr/>
        <p:txBody>
          <a:bodyPr/>
          <a:lstStyle>
            <a:lvl1pPr>
              <a:defRPr/>
            </a:lvl1pPr>
          </a:lstStyle>
          <a:p>
            <a:pPr>
              <a:defRPr/>
            </a:pPr>
            <a:fld id="{E239E1F2-2F79-4474-922A-F370C62174FF}" type="datetime1">
              <a:rPr lang="pl-PL" smtClean="0"/>
              <a:t>18.11.2025</a:t>
            </a:fld>
            <a:endParaRPr lang="pl-PL" dirty="0"/>
          </a:p>
        </p:txBody>
      </p:sp>
      <p:sp>
        <p:nvSpPr>
          <p:cNvPr id="3" name="Symbol zastępczy stopki 4"/>
          <p:cNvSpPr>
            <a:spLocks noGrp="1"/>
          </p:cNvSpPr>
          <p:nvPr>
            <p:ph type="ftr" sz="quarter" idx="11"/>
          </p:nvPr>
        </p:nvSpPr>
        <p:spPr/>
        <p:txBody>
          <a:bodyPr/>
          <a:lstStyle>
            <a:lvl1pPr>
              <a:defRPr/>
            </a:lvl1pPr>
          </a:lstStyle>
          <a:p>
            <a:pPr>
              <a:defRPr/>
            </a:pPr>
            <a:endParaRPr lang="pl-PL" dirty="0"/>
          </a:p>
        </p:txBody>
      </p:sp>
      <p:sp>
        <p:nvSpPr>
          <p:cNvPr id="4" name="Symbol zastępczy numeru slajdu 5"/>
          <p:cNvSpPr>
            <a:spLocks noGrp="1"/>
          </p:cNvSpPr>
          <p:nvPr>
            <p:ph type="sldNum" sz="quarter" idx="12"/>
          </p:nvPr>
        </p:nvSpPr>
        <p:spPr/>
        <p:txBody>
          <a:bodyPr/>
          <a:lstStyle>
            <a:lvl1pPr>
              <a:defRPr/>
            </a:lvl1pPr>
          </a:lstStyle>
          <a:p>
            <a:pPr>
              <a:defRPr/>
            </a:pPr>
            <a:fld id="{6EF2256B-4C61-4468-8C65-DD7C4105D81B}" type="slidenum">
              <a:rPr lang="pl-PL"/>
              <a:pPr>
                <a:defRPr/>
              </a:pPr>
              <a:t>‹#›</a:t>
            </a:fld>
            <a:endParaRPr lang="pl-PL" dirty="0"/>
          </a:p>
        </p:txBody>
      </p:sp>
    </p:spTree>
    <p:extLst>
      <p:ext uri="{BB962C8B-B14F-4D97-AF65-F5344CB8AC3E}">
        <p14:creationId xmlns:p14="http://schemas.microsoft.com/office/powerpoint/2010/main" val="2056305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Symbol zastępczy daty 3"/>
          <p:cNvSpPr>
            <a:spLocks noGrp="1"/>
          </p:cNvSpPr>
          <p:nvPr>
            <p:ph type="dt" sz="half" idx="10"/>
          </p:nvPr>
        </p:nvSpPr>
        <p:spPr/>
        <p:txBody>
          <a:bodyPr/>
          <a:lstStyle>
            <a:lvl1pPr>
              <a:defRPr/>
            </a:lvl1pPr>
          </a:lstStyle>
          <a:p>
            <a:pPr>
              <a:defRPr/>
            </a:pPr>
            <a:fld id="{A6457263-6FD7-4A22-B26F-DBD81DA84C08}" type="datetime1">
              <a:rPr lang="pl-PL" smtClean="0"/>
              <a:t>18.11.2025</a:t>
            </a:fld>
            <a:endParaRPr lang="pl-PL" dirty="0"/>
          </a:p>
        </p:txBody>
      </p:sp>
      <p:sp>
        <p:nvSpPr>
          <p:cNvPr id="6" name="Symbol zastępczy stopki 4"/>
          <p:cNvSpPr>
            <a:spLocks noGrp="1"/>
          </p:cNvSpPr>
          <p:nvPr>
            <p:ph type="ftr" sz="quarter" idx="11"/>
          </p:nvPr>
        </p:nvSpPr>
        <p:spPr/>
        <p:txBody>
          <a:bodyPr/>
          <a:lstStyle>
            <a:lvl1pPr>
              <a:defRPr/>
            </a:lvl1pPr>
          </a:lstStyle>
          <a:p>
            <a:pPr>
              <a:defRPr/>
            </a:pPr>
            <a:endParaRPr lang="pl-PL" dirty="0"/>
          </a:p>
        </p:txBody>
      </p:sp>
      <p:sp>
        <p:nvSpPr>
          <p:cNvPr id="7" name="Symbol zastępczy numeru slajdu 5"/>
          <p:cNvSpPr>
            <a:spLocks noGrp="1"/>
          </p:cNvSpPr>
          <p:nvPr>
            <p:ph type="sldNum" sz="quarter" idx="12"/>
          </p:nvPr>
        </p:nvSpPr>
        <p:spPr/>
        <p:txBody>
          <a:bodyPr/>
          <a:lstStyle>
            <a:lvl1pPr>
              <a:defRPr/>
            </a:lvl1pPr>
          </a:lstStyle>
          <a:p>
            <a:pPr>
              <a:defRPr/>
            </a:pPr>
            <a:fld id="{4C38D6DF-805B-49B4-A290-636F454CE8D6}" type="slidenum">
              <a:rPr lang="pl-PL"/>
              <a:pPr>
                <a:defRPr/>
              </a:pPr>
              <a:t>‹#›</a:t>
            </a:fld>
            <a:endParaRPr lang="pl-PL" dirty="0"/>
          </a:p>
        </p:txBody>
      </p:sp>
    </p:spTree>
    <p:extLst>
      <p:ext uri="{BB962C8B-B14F-4D97-AF65-F5344CB8AC3E}">
        <p14:creationId xmlns:p14="http://schemas.microsoft.com/office/powerpoint/2010/main" val="428212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pl-PL" noProof="0" dirty="0"/>
              <a:t>Kliknij ikonę, aby dodać obraz</a:t>
            </a:r>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Symbol zastępczy daty 3"/>
          <p:cNvSpPr>
            <a:spLocks noGrp="1"/>
          </p:cNvSpPr>
          <p:nvPr>
            <p:ph type="dt" sz="half" idx="10"/>
          </p:nvPr>
        </p:nvSpPr>
        <p:spPr/>
        <p:txBody>
          <a:bodyPr/>
          <a:lstStyle>
            <a:lvl1pPr>
              <a:defRPr/>
            </a:lvl1pPr>
          </a:lstStyle>
          <a:p>
            <a:pPr>
              <a:defRPr/>
            </a:pPr>
            <a:fld id="{193837EA-7E57-4C7D-8CE4-1DBC1B9F06A6}" type="datetime1">
              <a:rPr lang="pl-PL" smtClean="0"/>
              <a:t>18.11.2025</a:t>
            </a:fld>
            <a:endParaRPr lang="pl-PL" dirty="0"/>
          </a:p>
        </p:txBody>
      </p:sp>
      <p:sp>
        <p:nvSpPr>
          <p:cNvPr id="6" name="Symbol zastępczy stopki 4"/>
          <p:cNvSpPr>
            <a:spLocks noGrp="1"/>
          </p:cNvSpPr>
          <p:nvPr>
            <p:ph type="ftr" sz="quarter" idx="11"/>
          </p:nvPr>
        </p:nvSpPr>
        <p:spPr/>
        <p:txBody>
          <a:bodyPr/>
          <a:lstStyle>
            <a:lvl1pPr>
              <a:defRPr/>
            </a:lvl1pPr>
          </a:lstStyle>
          <a:p>
            <a:pPr>
              <a:defRPr/>
            </a:pPr>
            <a:endParaRPr lang="pl-PL" dirty="0"/>
          </a:p>
        </p:txBody>
      </p:sp>
      <p:sp>
        <p:nvSpPr>
          <p:cNvPr id="7" name="Symbol zastępczy numeru slajdu 5"/>
          <p:cNvSpPr>
            <a:spLocks noGrp="1"/>
          </p:cNvSpPr>
          <p:nvPr>
            <p:ph type="sldNum" sz="quarter" idx="12"/>
          </p:nvPr>
        </p:nvSpPr>
        <p:spPr/>
        <p:txBody>
          <a:bodyPr/>
          <a:lstStyle>
            <a:lvl1pPr>
              <a:defRPr/>
            </a:lvl1pPr>
          </a:lstStyle>
          <a:p>
            <a:pPr>
              <a:defRPr/>
            </a:pPr>
            <a:fld id="{67CB4F68-BFDD-4F52-B23D-D75A0C5D6550}" type="slidenum">
              <a:rPr lang="pl-PL"/>
              <a:pPr>
                <a:defRPr/>
              </a:pPr>
              <a:t>‹#›</a:t>
            </a:fld>
            <a:endParaRPr lang="pl-PL" dirty="0"/>
          </a:p>
        </p:txBody>
      </p:sp>
    </p:spTree>
    <p:extLst>
      <p:ext uri="{BB962C8B-B14F-4D97-AF65-F5344CB8AC3E}">
        <p14:creationId xmlns:p14="http://schemas.microsoft.com/office/powerpoint/2010/main" val="18329231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pPr>
              <a:defRPr/>
            </a:pPr>
            <a:fld id="{FFE47670-8C77-4213-A00B-D6B2C987D0E2}"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DBCC1E53-0205-459B-969D-47BB28DF049B}" type="slidenum">
              <a:rPr lang="pl-PL"/>
              <a:pPr>
                <a:defRPr/>
              </a:pPr>
              <a:t>‹#›</a:t>
            </a:fld>
            <a:endParaRPr lang="pl-PL" dirty="0"/>
          </a:p>
        </p:txBody>
      </p:sp>
    </p:spTree>
    <p:extLst>
      <p:ext uri="{BB962C8B-B14F-4D97-AF65-F5344CB8AC3E}">
        <p14:creationId xmlns:p14="http://schemas.microsoft.com/office/powerpoint/2010/main" val="25984739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pPr>
              <a:defRPr/>
            </a:pPr>
            <a:fld id="{6E557CB8-0E35-446C-ACA6-BB670F9C8A2F}"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00B896CC-C6CF-4BE7-BC37-377BCD2D9AC1}" type="slidenum">
              <a:rPr lang="pl-PL"/>
              <a:pPr>
                <a:defRPr/>
              </a:pPr>
              <a:t>‹#›</a:t>
            </a:fld>
            <a:endParaRPr lang="pl-PL" dirty="0"/>
          </a:p>
        </p:txBody>
      </p:sp>
    </p:spTree>
    <p:extLst>
      <p:ext uri="{BB962C8B-B14F-4D97-AF65-F5344CB8AC3E}">
        <p14:creationId xmlns:p14="http://schemas.microsoft.com/office/powerpoint/2010/main" val="20816463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lvl1pPr eaLnBrk="0" hangingPunct="0">
              <a:defRPr/>
            </a:lvl1pPr>
          </a:lstStyle>
          <a:p>
            <a:fld id="{2178DBA2-A6CE-4753-8E1C-09DDD552B4C2}"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4055968820"/>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eaLnBrk="0" hangingPunct="0">
              <a:defRPr/>
            </a:lvl1pPr>
          </a:lstStyle>
          <a:p>
            <a:fld id="{17ACFA99-A54F-4E64-BBAA-F814949C1B1F}"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3329615965"/>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lvl1pPr eaLnBrk="0" hangingPunct="0">
              <a:defRPr/>
            </a:lvl1pPr>
          </a:lstStyle>
          <a:p>
            <a:fld id="{F2A2910A-2601-4FA2-8F1D-66C44D9B9594}"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2373273707"/>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3"/>
          <p:cNvSpPr>
            <a:spLocks noGrp="1"/>
          </p:cNvSpPr>
          <p:nvPr>
            <p:ph type="dt" sz="half" idx="10"/>
          </p:nvPr>
        </p:nvSpPr>
        <p:spPr/>
        <p:txBody>
          <a:bodyPr/>
          <a:lstStyle>
            <a:lvl1pPr eaLnBrk="0" hangingPunct="0">
              <a:defRPr/>
            </a:lvl1pPr>
          </a:lstStyle>
          <a:p>
            <a:fld id="{DE0B916E-F25C-4917-B538-CB61B940C477}" type="datetime1">
              <a:rPr lang="pl-PL" smtClean="0"/>
              <a:pPr/>
              <a:t>18.11.2025</a:t>
            </a:fld>
            <a:endParaRPr lang="pl-PL" dirty="0"/>
          </a:p>
        </p:txBody>
      </p:sp>
      <p:sp>
        <p:nvSpPr>
          <p:cNvPr id="6" name="Symbol zastępczy stopki 4"/>
          <p:cNvSpPr>
            <a:spLocks noGrp="1"/>
          </p:cNvSpPr>
          <p:nvPr>
            <p:ph type="ftr" sz="quarter" idx="11"/>
          </p:nvPr>
        </p:nvSpPr>
        <p:spPr/>
        <p:txBody>
          <a:bodyPr/>
          <a:lstStyle>
            <a:lvl1pPr eaLnBrk="0" hangingPunct="0">
              <a:defRPr/>
            </a:lvl1pPr>
          </a:lstStyle>
          <a:p>
            <a:endParaRPr lang="pl-PL" dirty="0"/>
          </a:p>
        </p:txBody>
      </p:sp>
      <p:sp>
        <p:nvSpPr>
          <p:cNvPr id="7"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1076499776"/>
      </p:ext>
    </p:extLst>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3"/>
          <p:cNvSpPr>
            <a:spLocks noGrp="1"/>
          </p:cNvSpPr>
          <p:nvPr>
            <p:ph type="dt" sz="half" idx="10"/>
          </p:nvPr>
        </p:nvSpPr>
        <p:spPr/>
        <p:txBody>
          <a:bodyPr/>
          <a:lstStyle>
            <a:lvl1pPr eaLnBrk="0" hangingPunct="0">
              <a:defRPr/>
            </a:lvl1pPr>
          </a:lstStyle>
          <a:p>
            <a:fld id="{9AF5A57D-865E-44AE-9BC4-CACD423F4D22}" type="datetime1">
              <a:rPr lang="pl-PL" smtClean="0"/>
              <a:pPr/>
              <a:t>18.11.2025</a:t>
            </a:fld>
            <a:endParaRPr lang="pl-PL" dirty="0"/>
          </a:p>
        </p:txBody>
      </p:sp>
      <p:sp>
        <p:nvSpPr>
          <p:cNvPr id="8" name="Symbol zastępczy stopki 4"/>
          <p:cNvSpPr>
            <a:spLocks noGrp="1"/>
          </p:cNvSpPr>
          <p:nvPr>
            <p:ph type="ftr" sz="quarter" idx="11"/>
          </p:nvPr>
        </p:nvSpPr>
        <p:spPr/>
        <p:txBody>
          <a:bodyPr/>
          <a:lstStyle>
            <a:lvl1pPr eaLnBrk="0" hangingPunct="0">
              <a:defRPr/>
            </a:lvl1pPr>
          </a:lstStyle>
          <a:p>
            <a:endParaRPr lang="pl-PL" dirty="0"/>
          </a:p>
        </p:txBody>
      </p:sp>
      <p:sp>
        <p:nvSpPr>
          <p:cNvPr id="9"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740319862"/>
      </p:ext>
    </p:extLst>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3"/>
          <p:cNvSpPr>
            <a:spLocks noGrp="1"/>
          </p:cNvSpPr>
          <p:nvPr>
            <p:ph type="dt" sz="half" idx="10"/>
          </p:nvPr>
        </p:nvSpPr>
        <p:spPr/>
        <p:txBody>
          <a:bodyPr/>
          <a:lstStyle>
            <a:lvl1pPr eaLnBrk="0" hangingPunct="0">
              <a:defRPr/>
            </a:lvl1pPr>
          </a:lstStyle>
          <a:p>
            <a:fld id="{400AB22D-090A-4E4C-BB70-250D72B380A7}" type="datetime1">
              <a:rPr lang="pl-PL" smtClean="0"/>
              <a:pPr/>
              <a:t>18.11.2025</a:t>
            </a:fld>
            <a:endParaRPr lang="pl-PL" dirty="0"/>
          </a:p>
        </p:txBody>
      </p:sp>
      <p:sp>
        <p:nvSpPr>
          <p:cNvPr id="4" name="Symbol zastępczy stopki 4"/>
          <p:cNvSpPr>
            <a:spLocks noGrp="1"/>
          </p:cNvSpPr>
          <p:nvPr>
            <p:ph type="ftr" sz="quarter" idx="11"/>
          </p:nvPr>
        </p:nvSpPr>
        <p:spPr/>
        <p:txBody>
          <a:bodyPr/>
          <a:lstStyle>
            <a:lvl1pPr eaLnBrk="0" hangingPunct="0">
              <a:defRPr/>
            </a:lvl1pPr>
          </a:lstStyle>
          <a:p>
            <a:endParaRPr lang="pl-PL" dirty="0"/>
          </a:p>
        </p:txBody>
      </p:sp>
      <p:sp>
        <p:nvSpPr>
          <p:cNvPr id="5"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1598916940"/>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3"/>
          <p:cNvSpPr>
            <a:spLocks noGrp="1"/>
          </p:cNvSpPr>
          <p:nvPr>
            <p:ph type="dt" sz="half" idx="10"/>
          </p:nvPr>
        </p:nvSpPr>
        <p:spPr/>
        <p:txBody>
          <a:bodyPr/>
          <a:lstStyle>
            <a:lvl1pPr eaLnBrk="0" hangingPunct="0">
              <a:defRPr/>
            </a:lvl1pPr>
          </a:lstStyle>
          <a:p>
            <a:fld id="{3837B763-F8E0-449E-8109-DC0DC0CC6EBF}" type="datetime1">
              <a:rPr lang="pl-PL" smtClean="0"/>
              <a:pPr/>
              <a:t>18.11.2025</a:t>
            </a:fld>
            <a:endParaRPr lang="pl-PL" dirty="0"/>
          </a:p>
        </p:txBody>
      </p:sp>
      <p:sp>
        <p:nvSpPr>
          <p:cNvPr id="3" name="Symbol zastępczy stopki 4"/>
          <p:cNvSpPr>
            <a:spLocks noGrp="1"/>
          </p:cNvSpPr>
          <p:nvPr>
            <p:ph type="ftr" sz="quarter" idx="11"/>
          </p:nvPr>
        </p:nvSpPr>
        <p:spPr/>
        <p:txBody>
          <a:bodyPr/>
          <a:lstStyle>
            <a:lvl1pPr eaLnBrk="0" hangingPunct="0">
              <a:defRPr/>
            </a:lvl1pPr>
          </a:lstStyle>
          <a:p>
            <a:endParaRPr lang="pl-PL" dirty="0"/>
          </a:p>
        </p:txBody>
      </p:sp>
      <p:sp>
        <p:nvSpPr>
          <p:cNvPr id="4"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414764952"/>
      </p:ext>
    </p:extLst>
  </p:cSld>
  <p:clrMapOvr>
    <a:masterClrMapping/>
  </p:clrMapOvr>
  <p:transition spd="med">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Symbol zastępczy daty 3"/>
          <p:cNvSpPr>
            <a:spLocks noGrp="1"/>
          </p:cNvSpPr>
          <p:nvPr>
            <p:ph type="dt" sz="half" idx="10"/>
          </p:nvPr>
        </p:nvSpPr>
        <p:spPr/>
        <p:txBody>
          <a:bodyPr/>
          <a:lstStyle>
            <a:lvl1pPr eaLnBrk="0" hangingPunct="0">
              <a:defRPr/>
            </a:lvl1pPr>
          </a:lstStyle>
          <a:p>
            <a:fld id="{737C5CCF-7111-48A5-BCCA-8F4445879A3E}" type="datetime1">
              <a:rPr lang="pl-PL" smtClean="0"/>
              <a:pPr/>
              <a:t>18.11.2025</a:t>
            </a:fld>
            <a:endParaRPr lang="pl-PL" dirty="0"/>
          </a:p>
        </p:txBody>
      </p:sp>
      <p:sp>
        <p:nvSpPr>
          <p:cNvPr id="6" name="Symbol zastępczy stopki 4"/>
          <p:cNvSpPr>
            <a:spLocks noGrp="1"/>
          </p:cNvSpPr>
          <p:nvPr>
            <p:ph type="ftr" sz="quarter" idx="11"/>
          </p:nvPr>
        </p:nvSpPr>
        <p:spPr/>
        <p:txBody>
          <a:bodyPr/>
          <a:lstStyle>
            <a:lvl1pPr eaLnBrk="0" hangingPunct="0">
              <a:defRPr/>
            </a:lvl1pPr>
          </a:lstStyle>
          <a:p>
            <a:endParaRPr lang="pl-PL" dirty="0"/>
          </a:p>
        </p:txBody>
      </p:sp>
      <p:sp>
        <p:nvSpPr>
          <p:cNvPr id="7"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3035051858"/>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pl-PL" noProof="0" dirty="0"/>
              <a:t>Kliknij ikonę, aby dodać obraz</a:t>
            </a:r>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Symbol zastępczy daty 3"/>
          <p:cNvSpPr>
            <a:spLocks noGrp="1"/>
          </p:cNvSpPr>
          <p:nvPr>
            <p:ph type="dt" sz="half" idx="10"/>
          </p:nvPr>
        </p:nvSpPr>
        <p:spPr/>
        <p:txBody>
          <a:bodyPr/>
          <a:lstStyle>
            <a:lvl1pPr eaLnBrk="0" hangingPunct="0">
              <a:defRPr/>
            </a:lvl1pPr>
          </a:lstStyle>
          <a:p>
            <a:fld id="{C1888631-4F7B-4EC3-96A5-46FAB771E1E9}" type="datetime1">
              <a:rPr lang="pl-PL" smtClean="0"/>
              <a:pPr/>
              <a:t>18.11.2025</a:t>
            </a:fld>
            <a:endParaRPr lang="pl-PL" dirty="0"/>
          </a:p>
        </p:txBody>
      </p:sp>
      <p:sp>
        <p:nvSpPr>
          <p:cNvPr id="6" name="Symbol zastępczy stopki 4"/>
          <p:cNvSpPr>
            <a:spLocks noGrp="1"/>
          </p:cNvSpPr>
          <p:nvPr>
            <p:ph type="ftr" sz="quarter" idx="11"/>
          </p:nvPr>
        </p:nvSpPr>
        <p:spPr/>
        <p:txBody>
          <a:bodyPr/>
          <a:lstStyle>
            <a:lvl1pPr eaLnBrk="0" hangingPunct="0">
              <a:defRPr/>
            </a:lvl1pPr>
          </a:lstStyle>
          <a:p>
            <a:endParaRPr lang="pl-PL" dirty="0"/>
          </a:p>
        </p:txBody>
      </p:sp>
      <p:sp>
        <p:nvSpPr>
          <p:cNvPr id="7"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1289600632"/>
      </p:ext>
    </p:extLst>
  </p:cSld>
  <p:clrMapOvr>
    <a:masterClrMapping/>
  </p:clrMapOvr>
  <p:transition spd="med">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eaLnBrk="0" hangingPunct="0">
              <a:defRPr/>
            </a:lvl1pPr>
          </a:lstStyle>
          <a:p>
            <a:fld id="{DFAA95CD-9626-4E93-8AC6-C8480FDC4B78}"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3916354457"/>
      </p:ext>
    </p:extLst>
  </p:cSld>
  <p:clrMapOvr>
    <a:masterClrMapping/>
  </p:clrMapOvr>
  <p:transition spd="med">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eaLnBrk="0" hangingPunct="0">
              <a:defRPr/>
            </a:lvl1pPr>
          </a:lstStyle>
          <a:p>
            <a:fld id="{78E15B86-33CF-45ED-89D8-8F62FBAE9301}" type="datetime1">
              <a:rPr lang="pl-PL" smtClean="0"/>
              <a:pPr/>
              <a:t>18.11.2025</a:t>
            </a:fld>
            <a:endParaRPr lang="pl-PL" dirty="0"/>
          </a:p>
        </p:txBody>
      </p:sp>
      <p:sp>
        <p:nvSpPr>
          <p:cNvPr id="5" name="Symbol zastępczy stopki 4"/>
          <p:cNvSpPr>
            <a:spLocks noGrp="1"/>
          </p:cNvSpPr>
          <p:nvPr>
            <p:ph type="ftr" sz="quarter" idx="11"/>
          </p:nvPr>
        </p:nvSpPr>
        <p:spPr/>
        <p:txBody>
          <a:bodyPr/>
          <a:lstStyle>
            <a:lvl1pPr eaLnBrk="0" hangingPunct="0">
              <a:defRPr/>
            </a:lvl1pPr>
          </a:lstStyle>
          <a:p>
            <a:endParaRPr lang="pl-PL" dirty="0"/>
          </a:p>
        </p:txBody>
      </p:sp>
      <p:sp>
        <p:nvSpPr>
          <p:cNvPr id="6" name="Symbol zastępczy numeru slajdu 5"/>
          <p:cNvSpPr>
            <a:spLocks noGrp="1"/>
          </p:cNvSpPr>
          <p:nvPr>
            <p:ph type="sldNum" sz="quarter" idx="12"/>
          </p:nvPr>
        </p:nvSpPr>
        <p:spPr/>
        <p:txBody>
          <a:bodyPr/>
          <a:lstStyle>
            <a:lvl1pPr eaLnBrk="0" hangingPunct="0">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3081130601"/>
      </p:ext>
    </p:extLst>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lvl1pPr>
              <a:defRPr/>
            </a:lvl1pPr>
          </a:lstStyle>
          <a:p>
            <a:pPr>
              <a:defRPr/>
            </a:pPr>
            <a:fld id="{7066EF4F-0285-4857-91F7-05AE225B29CB}"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C41BCE2B-3339-4AE2-BB10-A746CA2E5DE0}" type="slidenum">
              <a:rPr lang="pl-PL"/>
              <a:pPr>
                <a:defRPr/>
              </a:pPr>
              <a:t>‹#›</a:t>
            </a:fld>
            <a:endParaRPr lang="pl-PL" dirty="0"/>
          </a:p>
        </p:txBody>
      </p:sp>
    </p:spTree>
    <p:extLst>
      <p:ext uri="{BB962C8B-B14F-4D97-AF65-F5344CB8AC3E}">
        <p14:creationId xmlns:p14="http://schemas.microsoft.com/office/powerpoint/2010/main" val="7665156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pPr>
              <a:defRPr/>
            </a:pPr>
            <a:fld id="{33833926-E3E7-4AF4-AFC9-BBE98C4588E6}"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6E01FC25-C06E-4FAA-864A-117BB3B35D04}" type="slidenum">
              <a:rPr lang="pl-PL"/>
              <a:pPr>
                <a:defRPr/>
              </a:pPr>
              <a:t>‹#›</a:t>
            </a:fld>
            <a:endParaRPr lang="pl-PL" dirty="0"/>
          </a:p>
        </p:txBody>
      </p:sp>
    </p:spTree>
    <p:extLst>
      <p:ext uri="{BB962C8B-B14F-4D97-AF65-F5344CB8AC3E}">
        <p14:creationId xmlns:p14="http://schemas.microsoft.com/office/powerpoint/2010/main" val="36044495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Edytuj style wzorca tekstu</a:t>
            </a:r>
          </a:p>
        </p:txBody>
      </p:sp>
      <p:sp>
        <p:nvSpPr>
          <p:cNvPr id="4" name="Symbol zastępczy daty 3"/>
          <p:cNvSpPr>
            <a:spLocks noGrp="1"/>
          </p:cNvSpPr>
          <p:nvPr>
            <p:ph type="dt" sz="half" idx="10"/>
          </p:nvPr>
        </p:nvSpPr>
        <p:spPr/>
        <p:txBody>
          <a:bodyPr/>
          <a:lstStyle>
            <a:lvl1pPr>
              <a:defRPr/>
            </a:lvl1pPr>
          </a:lstStyle>
          <a:p>
            <a:pPr>
              <a:defRPr/>
            </a:pPr>
            <a:fld id="{44CB794D-0B1E-4C85-99C0-6D1DF3D03B62}"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3D027F9B-B04E-4C2E-9CA3-F67B16452CE7}" type="slidenum">
              <a:rPr lang="pl-PL"/>
              <a:pPr>
                <a:defRPr/>
              </a:pPr>
              <a:t>‹#›</a:t>
            </a:fld>
            <a:endParaRPr lang="pl-PL" dirty="0"/>
          </a:p>
        </p:txBody>
      </p:sp>
    </p:spTree>
    <p:extLst>
      <p:ext uri="{BB962C8B-B14F-4D97-AF65-F5344CB8AC3E}">
        <p14:creationId xmlns:p14="http://schemas.microsoft.com/office/powerpoint/2010/main" val="7990314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3"/>
          <p:cNvSpPr>
            <a:spLocks noGrp="1"/>
          </p:cNvSpPr>
          <p:nvPr>
            <p:ph type="dt" sz="half" idx="10"/>
          </p:nvPr>
        </p:nvSpPr>
        <p:spPr/>
        <p:txBody>
          <a:bodyPr/>
          <a:lstStyle>
            <a:lvl1pPr>
              <a:defRPr/>
            </a:lvl1pPr>
          </a:lstStyle>
          <a:p>
            <a:pPr>
              <a:defRPr/>
            </a:pPr>
            <a:fld id="{BF64B602-D9B6-434B-9CF5-64B4B8A298A9}" type="datetime1">
              <a:rPr lang="pl-PL" smtClean="0"/>
              <a:t>18.11.2025</a:t>
            </a:fld>
            <a:endParaRPr lang="pl-PL" dirty="0"/>
          </a:p>
        </p:txBody>
      </p:sp>
      <p:sp>
        <p:nvSpPr>
          <p:cNvPr id="6" name="Symbol zastępczy stopki 4"/>
          <p:cNvSpPr>
            <a:spLocks noGrp="1"/>
          </p:cNvSpPr>
          <p:nvPr>
            <p:ph type="ftr" sz="quarter" idx="11"/>
          </p:nvPr>
        </p:nvSpPr>
        <p:spPr/>
        <p:txBody>
          <a:bodyPr/>
          <a:lstStyle>
            <a:lvl1pPr>
              <a:defRPr/>
            </a:lvl1pPr>
          </a:lstStyle>
          <a:p>
            <a:pPr>
              <a:defRPr/>
            </a:pPr>
            <a:endParaRPr lang="pl-PL" dirty="0"/>
          </a:p>
        </p:txBody>
      </p:sp>
      <p:sp>
        <p:nvSpPr>
          <p:cNvPr id="7" name="Symbol zastępczy numeru slajdu 5"/>
          <p:cNvSpPr>
            <a:spLocks noGrp="1"/>
          </p:cNvSpPr>
          <p:nvPr>
            <p:ph type="sldNum" sz="quarter" idx="12"/>
          </p:nvPr>
        </p:nvSpPr>
        <p:spPr/>
        <p:txBody>
          <a:bodyPr/>
          <a:lstStyle>
            <a:lvl1pPr>
              <a:defRPr/>
            </a:lvl1pPr>
          </a:lstStyle>
          <a:p>
            <a:pPr>
              <a:defRPr/>
            </a:pPr>
            <a:fld id="{47C7CD4F-7444-40C4-9005-A4C5737F425D}" type="slidenum">
              <a:rPr lang="pl-PL"/>
              <a:pPr>
                <a:defRPr/>
              </a:pPr>
              <a:t>‹#›</a:t>
            </a:fld>
            <a:endParaRPr lang="pl-PL" dirty="0"/>
          </a:p>
        </p:txBody>
      </p:sp>
    </p:spTree>
    <p:extLst>
      <p:ext uri="{BB962C8B-B14F-4D97-AF65-F5344CB8AC3E}">
        <p14:creationId xmlns:p14="http://schemas.microsoft.com/office/powerpoint/2010/main" val="10269690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3"/>
          <p:cNvSpPr>
            <a:spLocks noGrp="1"/>
          </p:cNvSpPr>
          <p:nvPr>
            <p:ph type="dt" sz="half" idx="10"/>
          </p:nvPr>
        </p:nvSpPr>
        <p:spPr/>
        <p:txBody>
          <a:bodyPr/>
          <a:lstStyle>
            <a:lvl1pPr>
              <a:defRPr/>
            </a:lvl1pPr>
          </a:lstStyle>
          <a:p>
            <a:pPr>
              <a:defRPr/>
            </a:pPr>
            <a:fld id="{CC3EA364-1777-4DCA-9966-CA842B3FDCCB}" type="datetime1">
              <a:rPr lang="pl-PL" smtClean="0"/>
              <a:t>18.11.2025</a:t>
            </a:fld>
            <a:endParaRPr lang="pl-PL" dirty="0"/>
          </a:p>
        </p:txBody>
      </p:sp>
      <p:sp>
        <p:nvSpPr>
          <p:cNvPr id="8" name="Symbol zastępczy stopki 4"/>
          <p:cNvSpPr>
            <a:spLocks noGrp="1"/>
          </p:cNvSpPr>
          <p:nvPr>
            <p:ph type="ftr" sz="quarter" idx="11"/>
          </p:nvPr>
        </p:nvSpPr>
        <p:spPr/>
        <p:txBody>
          <a:bodyPr/>
          <a:lstStyle>
            <a:lvl1pPr>
              <a:defRPr/>
            </a:lvl1pPr>
          </a:lstStyle>
          <a:p>
            <a:pPr>
              <a:defRPr/>
            </a:pPr>
            <a:endParaRPr lang="pl-PL" dirty="0"/>
          </a:p>
        </p:txBody>
      </p:sp>
      <p:sp>
        <p:nvSpPr>
          <p:cNvPr id="9" name="Symbol zastępczy numeru slajdu 5"/>
          <p:cNvSpPr>
            <a:spLocks noGrp="1"/>
          </p:cNvSpPr>
          <p:nvPr>
            <p:ph type="sldNum" sz="quarter" idx="12"/>
          </p:nvPr>
        </p:nvSpPr>
        <p:spPr/>
        <p:txBody>
          <a:bodyPr/>
          <a:lstStyle>
            <a:lvl1pPr>
              <a:defRPr/>
            </a:lvl1pPr>
          </a:lstStyle>
          <a:p>
            <a:pPr>
              <a:defRPr/>
            </a:pPr>
            <a:fld id="{4873E00B-91BB-4EC2-8929-586D26EEB363}" type="slidenum">
              <a:rPr lang="pl-PL"/>
              <a:pPr>
                <a:defRPr/>
              </a:pPr>
              <a:t>‹#›</a:t>
            </a:fld>
            <a:endParaRPr lang="pl-PL" dirty="0"/>
          </a:p>
        </p:txBody>
      </p:sp>
    </p:spTree>
    <p:extLst>
      <p:ext uri="{BB962C8B-B14F-4D97-AF65-F5344CB8AC3E}">
        <p14:creationId xmlns:p14="http://schemas.microsoft.com/office/powerpoint/2010/main" val="116090344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3"/>
          <p:cNvSpPr>
            <a:spLocks noGrp="1"/>
          </p:cNvSpPr>
          <p:nvPr>
            <p:ph type="dt" sz="half" idx="10"/>
          </p:nvPr>
        </p:nvSpPr>
        <p:spPr/>
        <p:txBody>
          <a:bodyPr/>
          <a:lstStyle>
            <a:lvl1pPr>
              <a:defRPr/>
            </a:lvl1pPr>
          </a:lstStyle>
          <a:p>
            <a:pPr>
              <a:defRPr/>
            </a:pPr>
            <a:fld id="{B5A7638A-CCD3-44B7-8B7F-87C5732A4BA2}" type="datetime1">
              <a:rPr lang="pl-PL" smtClean="0"/>
              <a:t>18.11.2025</a:t>
            </a:fld>
            <a:endParaRPr lang="pl-PL" dirty="0"/>
          </a:p>
        </p:txBody>
      </p:sp>
      <p:sp>
        <p:nvSpPr>
          <p:cNvPr id="4" name="Symbol zastępczy stopki 4"/>
          <p:cNvSpPr>
            <a:spLocks noGrp="1"/>
          </p:cNvSpPr>
          <p:nvPr>
            <p:ph type="ftr" sz="quarter" idx="11"/>
          </p:nvPr>
        </p:nvSpPr>
        <p:spPr/>
        <p:txBody>
          <a:bodyPr/>
          <a:lstStyle>
            <a:lvl1pPr>
              <a:defRPr/>
            </a:lvl1pPr>
          </a:lstStyle>
          <a:p>
            <a:pPr>
              <a:defRPr/>
            </a:pPr>
            <a:endParaRPr lang="pl-PL" dirty="0"/>
          </a:p>
        </p:txBody>
      </p:sp>
      <p:sp>
        <p:nvSpPr>
          <p:cNvPr id="5" name="Symbol zastępczy numeru slajdu 5"/>
          <p:cNvSpPr>
            <a:spLocks noGrp="1"/>
          </p:cNvSpPr>
          <p:nvPr>
            <p:ph type="sldNum" sz="quarter" idx="12"/>
          </p:nvPr>
        </p:nvSpPr>
        <p:spPr/>
        <p:txBody>
          <a:bodyPr/>
          <a:lstStyle>
            <a:lvl1pPr>
              <a:defRPr/>
            </a:lvl1pPr>
          </a:lstStyle>
          <a:p>
            <a:pPr>
              <a:defRPr/>
            </a:pPr>
            <a:fld id="{7EF5BC77-7CBD-42B3-BAFB-7DC4BA6C754E}" type="slidenum">
              <a:rPr lang="pl-PL"/>
              <a:pPr>
                <a:defRPr/>
              </a:pPr>
              <a:t>‹#›</a:t>
            </a:fld>
            <a:endParaRPr lang="pl-PL" dirty="0"/>
          </a:p>
        </p:txBody>
      </p:sp>
    </p:spTree>
    <p:extLst>
      <p:ext uri="{BB962C8B-B14F-4D97-AF65-F5344CB8AC3E}">
        <p14:creationId xmlns:p14="http://schemas.microsoft.com/office/powerpoint/2010/main" val="192431934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Pusty">
    <p:spTree>
      <p:nvGrpSpPr>
        <p:cNvPr id="1" name=""/>
        <p:cNvGrpSpPr/>
        <p:nvPr/>
      </p:nvGrpSpPr>
      <p:grpSpPr>
        <a:xfrm>
          <a:off x="0" y="0"/>
          <a:ext cx="0" cy="0"/>
          <a:chOff x="0" y="0"/>
          <a:chExt cx="0" cy="0"/>
        </a:xfrm>
      </p:grpSpPr>
      <p:sp>
        <p:nvSpPr>
          <p:cNvPr id="2" name="Symbol zastępczy daty 3"/>
          <p:cNvSpPr>
            <a:spLocks noGrp="1"/>
          </p:cNvSpPr>
          <p:nvPr>
            <p:ph type="dt" sz="half" idx="10"/>
          </p:nvPr>
        </p:nvSpPr>
        <p:spPr/>
        <p:txBody>
          <a:bodyPr/>
          <a:lstStyle>
            <a:lvl1pPr>
              <a:defRPr/>
            </a:lvl1pPr>
          </a:lstStyle>
          <a:p>
            <a:pPr>
              <a:defRPr/>
            </a:pPr>
            <a:fld id="{E239E1F2-2F79-4474-922A-F370C62174FF}" type="datetime1">
              <a:rPr lang="pl-PL" smtClean="0"/>
              <a:t>18.11.2025</a:t>
            </a:fld>
            <a:endParaRPr lang="pl-PL" dirty="0"/>
          </a:p>
        </p:txBody>
      </p:sp>
      <p:sp>
        <p:nvSpPr>
          <p:cNvPr id="3" name="Symbol zastępczy stopki 4"/>
          <p:cNvSpPr>
            <a:spLocks noGrp="1"/>
          </p:cNvSpPr>
          <p:nvPr>
            <p:ph type="ftr" sz="quarter" idx="11"/>
          </p:nvPr>
        </p:nvSpPr>
        <p:spPr/>
        <p:txBody>
          <a:bodyPr/>
          <a:lstStyle>
            <a:lvl1pPr>
              <a:defRPr/>
            </a:lvl1pPr>
          </a:lstStyle>
          <a:p>
            <a:pPr>
              <a:defRPr/>
            </a:pPr>
            <a:endParaRPr lang="pl-PL" dirty="0"/>
          </a:p>
        </p:txBody>
      </p:sp>
      <p:sp>
        <p:nvSpPr>
          <p:cNvPr id="4" name="Symbol zastępczy numeru slajdu 5"/>
          <p:cNvSpPr>
            <a:spLocks noGrp="1"/>
          </p:cNvSpPr>
          <p:nvPr>
            <p:ph type="sldNum" sz="quarter" idx="12"/>
          </p:nvPr>
        </p:nvSpPr>
        <p:spPr/>
        <p:txBody>
          <a:bodyPr/>
          <a:lstStyle>
            <a:lvl1pPr>
              <a:defRPr/>
            </a:lvl1pPr>
          </a:lstStyle>
          <a:p>
            <a:pPr>
              <a:defRPr/>
            </a:pPr>
            <a:fld id="{6EF2256B-4C61-4468-8C65-DD7C4105D81B}" type="slidenum">
              <a:rPr lang="pl-PL"/>
              <a:pPr>
                <a:defRPr/>
              </a:pPr>
              <a:t>‹#›</a:t>
            </a:fld>
            <a:endParaRPr lang="pl-PL" dirty="0"/>
          </a:p>
        </p:txBody>
      </p:sp>
    </p:spTree>
    <p:extLst>
      <p:ext uri="{BB962C8B-B14F-4D97-AF65-F5344CB8AC3E}">
        <p14:creationId xmlns:p14="http://schemas.microsoft.com/office/powerpoint/2010/main" val="1723418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Symbol zastępczy daty 3"/>
          <p:cNvSpPr>
            <a:spLocks noGrp="1"/>
          </p:cNvSpPr>
          <p:nvPr>
            <p:ph type="dt" sz="half" idx="10"/>
          </p:nvPr>
        </p:nvSpPr>
        <p:spPr/>
        <p:txBody>
          <a:bodyPr/>
          <a:lstStyle>
            <a:lvl1pPr>
              <a:defRPr/>
            </a:lvl1pPr>
          </a:lstStyle>
          <a:p>
            <a:pPr>
              <a:defRPr/>
            </a:pPr>
            <a:fld id="{A6457263-6FD7-4A22-B26F-DBD81DA84C08}" type="datetime1">
              <a:rPr lang="pl-PL" smtClean="0"/>
              <a:t>18.11.2025</a:t>
            </a:fld>
            <a:endParaRPr lang="pl-PL" dirty="0"/>
          </a:p>
        </p:txBody>
      </p:sp>
      <p:sp>
        <p:nvSpPr>
          <p:cNvPr id="6" name="Symbol zastępczy stopki 4"/>
          <p:cNvSpPr>
            <a:spLocks noGrp="1"/>
          </p:cNvSpPr>
          <p:nvPr>
            <p:ph type="ftr" sz="quarter" idx="11"/>
          </p:nvPr>
        </p:nvSpPr>
        <p:spPr/>
        <p:txBody>
          <a:bodyPr/>
          <a:lstStyle>
            <a:lvl1pPr>
              <a:defRPr/>
            </a:lvl1pPr>
          </a:lstStyle>
          <a:p>
            <a:pPr>
              <a:defRPr/>
            </a:pPr>
            <a:endParaRPr lang="pl-PL" dirty="0"/>
          </a:p>
        </p:txBody>
      </p:sp>
      <p:sp>
        <p:nvSpPr>
          <p:cNvPr id="7" name="Symbol zastępczy numeru slajdu 5"/>
          <p:cNvSpPr>
            <a:spLocks noGrp="1"/>
          </p:cNvSpPr>
          <p:nvPr>
            <p:ph type="sldNum" sz="quarter" idx="12"/>
          </p:nvPr>
        </p:nvSpPr>
        <p:spPr/>
        <p:txBody>
          <a:bodyPr/>
          <a:lstStyle>
            <a:lvl1pPr>
              <a:defRPr/>
            </a:lvl1pPr>
          </a:lstStyle>
          <a:p>
            <a:pPr>
              <a:defRPr/>
            </a:pPr>
            <a:fld id="{4C38D6DF-805B-49B4-A290-636F454CE8D6}" type="slidenum">
              <a:rPr lang="pl-PL"/>
              <a:pPr>
                <a:defRPr/>
              </a:pPr>
              <a:t>‹#›</a:t>
            </a:fld>
            <a:endParaRPr lang="pl-PL" dirty="0"/>
          </a:p>
        </p:txBody>
      </p:sp>
    </p:spTree>
    <p:extLst>
      <p:ext uri="{BB962C8B-B14F-4D97-AF65-F5344CB8AC3E}">
        <p14:creationId xmlns:p14="http://schemas.microsoft.com/office/powerpoint/2010/main" val="38399895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pl-PL" noProof="0" dirty="0"/>
              <a:t>Kliknij ikonę, aby dodać obraz</a:t>
            </a:r>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Edytuj style wzorca tekstu</a:t>
            </a:r>
          </a:p>
        </p:txBody>
      </p:sp>
      <p:sp>
        <p:nvSpPr>
          <p:cNvPr id="5" name="Symbol zastępczy daty 3"/>
          <p:cNvSpPr>
            <a:spLocks noGrp="1"/>
          </p:cNvSpPr>
          <p:nvPr>
            <p:ph type="dt" sz="half" idx="10"/>
          </p:nvPr>
        </p:nvSpPr>
        <p:spPr/>
        <p:txBody>
          <a:bodyPr/>
          <a:lstStyle>
            <a:lvl1pPr>
              <a:defRPr/>
            </a:lvl1pPr>
          </a:lstStyle>
          <a:p>
            <a:pPr>
              <a:defRPr/>
            </a:pPr>
            <a:fld id="{193837EA-7E57-4C7D-8CE4-1DBC1B9F06A6}" type="datetime1">
              <a:rPr lang="pl-PL" smtClean="0"/>
              <a:t>18.11.2025</a:t>
            </a:fld>
            <a:endParaRPr lang="pl-PL" dirty="0"/>
          </a:p>
        </p:txBody>
      </p:sp>
      <p:sp>
        <p:nvSpPr>
          <p:cNvPr id="6" name="Symbol zastępczy stopki 4"/>
          <p:cNvSpPr>
            <a:spLocks noGrp="1"/>
          </p:cNvSpPr>
          <p:nvPr>
            <p:ph type="ftr" sz="quarter" idx="11"/>
          </p:nvPr>
        </p:nvSpPr>
        <p:spPr/>
        <p:txBody>
          <a:bodyPr/>
          <a:lstStyle>
            <a:lvl1pPr>
              <a:defRPr/>
            </a:lvl1pPr>
          </a:lstStyle>
          <a:p>
            <a:pPr>
              <a:defRPr/>
            </a:pPr>
            <a:endParaRPr lang="pl-PL" dirty="0"/>
          </a:p>
        </p:txBody>
      </p:sp>
      <p:sp>
        <p:nvSpPr>
          <p:cNvPr id="7" name="Symbol zastępczy numeru slajdu 5"/>
          <p:cNvSpPr>
            <a:spLocks noGrp="1"/>
          </p:cNvSpPr>
          <p:nvPr>
            <p:ph type="sldNum" sz="quarter" idx="12"/>
          </p:nvPr>
        </p:nvSpPr>
        <p:spPr/>
        <p:txBody>
          <a:bodyPr/>
          <a:lstStyle>
            <a:lvl1pPr>
              <a:defRPr/>
            </a:lvl1pPr>
          </a:lstStyle>
          <a:p>
            <a:pPr>
              <a:defRPr/>
            </a:pPr>
            <a:fld id="{67CB4F68-BFDD-4F52-B23D-D75A0C5D6550}" type="slidenum">
              <a:rPr lang="pl-PL"/>
              <a:pPr>
                <a:defRPr/>
              </a:pPr>
              <a:t>‹#›</a:t>
            </a:fld>
            <a:endParaRPr lang="pl-PL" dirty="0"/>
          </a:p>
        </p:txBody>
      </p:sp>
    </p:spTree>
    <p:extLst>
      <p:ext uri="{BB962C8B-B14F-4D97-AF65-F5344CB8AC3E}">
        <p14:creationId xmlns:p14="http://schemas.microsoft.com/office/powerpoint/2010/main" val="17255937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pPr>
              <a:defRPr/>
            </a:pPr>
            <a:fld id="{FFE47670-8C77-4213-A00B-D6B2C987D0E2}"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DBCC1E53-0205-459B-969D-47BB28DF049B}" type="slidenum">
              <a:rPr lang="pl-PL"/>
              <a:pPr>
                <a:defRPr/>
              </a:pPr>
              <a:t>‹#›</a:t>
            </a:fld>
            <a:endParaRPr lang="pl-PL" dirty="0"/>
          </a:p>
        </p:txBody>
      </p:sp>
    </p:spTree>
    <p:extLst>
      <p:ext uri="{BB962C8B-B14F-4D97-AF65-F5344CB8AC3E}">
        <p14:creationId xmlns:p14="http://schemas.microsoft.com/office/powerpoint/2010/main" val="36446384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lvl1pPr>
              <a:defRPr/>
            </a:lvl1pPr>
          </a:lstStyle>
          <a:p>
            <a:pPr>
              <a:defRPr/>
            </a:pPr>
            <a:fld id="{6E557CB8-0E35-446C-ACA6-BB670F9C8A2F}" type="datetime1">
              <a:rPr lang="pl-PL" smtClean="0"/>
              <a:t>18.11.2025</a:t>
            </a:fld>
            <a:endParaRPr lang="pl-PL" dirty="0"/>
          </a:p>
        </p:txBody>
      </p:sp>
      <p:sp>
        <p:nvSpPr>
          <p:cNvPr id="5" name="Symbol zastępczy stopki 4"/>
          <p:cNvSpPr>
            <a:spLocks noGrp="1"/>
          </p:cNvSpPr>
          <p:nvPr>
            <p:ph type="ftr" sz="quarter" idx="11"/>
          </p:nvPr>
        </p:nvSpPr>
        <p:spPr/>
        <p:txBody>
          <a:bodyPr/>
          <a:lstStyle>
            <a:lvl1pPr>
              <a:defRPr/>
            </a:lvl1pPr>
          </a:lstStyle>
          <a:p>
            <a:pPr>
              <a:defRPr/>
            </a:pPr>
            <a:endParaRPr lang="pl-PL" dirty="0"/>
          </a:p>
        </p:txBody>
      </p:sp>
      <p:sp>
        <p:nvSpPr>
          <p:cNvPr id="6" name="Symbol zastępczy numeru slajdu 5"/>
          <p:cNvSpPr>
            <a:spLocks noGrp="1"/>
          </p:cNvSpPr>
          <p:nvPr>
            <p:ph type="sldNum" sz="quarter" idx="12"/>
          </p:nvPr>
        </p:nvSpPr>
        <p:spPr/>
        <p:txBody>
          <a:bodyPr/>
          <a:lstStyle>
            <a:lvl1pPr>
              <a:defRPr/>
            </a:lvl1pPr>
          </a:lstStyle>
          <a:p>
            <a:pPr>
              <a:defRPr/>
            </a:pPr>
            <a:fld id="{00B896CC-C6CF-4BE7-BC37-377BCD2D9AC1}" type="slidenum">
              <a:rPr lang="pl-PL"/>
              <a:pPr>
                <a:defRPr/>
              </a:pPr>
              <a:t>‹#›</a:t>
            </a:fld>
            <a:endParaRPr lang="pl-PL" dirty="0"/>
          </a:p>
        </p:txBody>
      </p:sp>
    </p:spTree>
    <p:extLst>
      <p:ext uri="{BB962C8B-B14F-4D97-AF65-F5344CB8AC3E}">
        <p14:creationId xmlns:p14="http://schemas.microsoft.com/office/powerpoint/2010/main" val="26523420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Slajd tytułow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ctrTitle" hasCustomPrompt="1"/>
          </p:nvPr>
        </p:nvSpPr>
        <p:spPr>
          <a:xfrm>
            <a:off x="1143000" y="1122363"/>
            <a:ext cx="6858000" cy="2387600"/>
          </a:xfrm>
        </p:spPr>
        <p:txBody>
          <a:bodyPr anchor="b">
            <a:normAutofit/>
          </a:bodyPr>
          <a:lstStyle>
            <a:lvl1pPr algn="ctr">
              <a:defRPr sz="2700">
                <a:latin typeface="Gill Sans Nova" panose="020B0602020104020203" pitchFamily="34" charset="0"/>
              </a:defRPr>
            </a:lvl1pPr>
          </a:lstStyle>
          <a:p>
            <a:r>
              <a:rPr lang="pl-PL" dirty="0"/>
              <a:t>Nagłówek </a:t>
            </a:r>
            <a:r>
              <a:rPr lang="pl-PL" dirty="0" err="1"/>
              <a:t>Gill</a:t>
            </a:r>
            <a:r>
              <a:rPr lang="pl-PL" dirty="0"/>
              <a:t> Sans Nova</a:t>
            </a:r>
          </a:p>
        </p:txBody>
      </p:sp>
      <p:sp>
        <p:nvSpPr>
          <p:cNvPr id="3" name="Podtytuł 2"/>
          <p:cNvSpPr>
            <a:spLocks noGrp="1"/>
          </p:cNvSpPr>
          <p:nvPr>
            <p:ph type="subTitle" idx="1"/>
          </p:nvPr>
        </p:nvSpPr>
        <p:spPr>
          <a:xfrm>
            <a:off x="1143000" y="3602038"/>
            <a:ext cx="6858000" cy="1655762"/>
          </a:xfrm>
        </p:spPr>
        <p:txBody>
          <a:bodyPr/>
          <a:lstStyle>
            <a:lvl1pPr marL="0" indent="0" algn="ctr">
              <a:buNone/>
              <a:defRPr sz="1800">
                <a:latin typeface="Gill Sans Nova" panose="020B06020201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l-PL"/>
              <a:t>Kliknij, aby edytować styl wzorca podtytułu</a:t>
            </a:r>
            <a:endParaRPr lang="pl-PL" dirty="0"/>
          </a:p>
        </p:txBody>
      </p:sp>
    </p:spTree>
    <p:extLst>
      <p:ext uri="{BB962C8B-B14F-4D97-AF65-F5344CB8AC3E}">
        <p14:creationId xmlns:p14="http://schemas.microsoft.com/office/powerpoint/2010/main" val="1174115033"/>
      </p:ext>
    </p:extLst>
  </p:cSld>
  <p:clrMapOvr>
    <a:masterClrMapping/>
  </p:clrMapOvr>
  <p:transition spd="med">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ytuł i zawartość">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hasCustomPrompt="1"/>
          </p:nvPr>
        </p:nvSpPr>
        <p:spPr>
          <a:xfrm>
            <a:off x="468630" y="590604"/>
            <a:ext cx="7886700" cy="1325563"/>
          </a:xfrm>
        </p:spPr>
        <p:txBody>
          <a:bodyPr/>
          <a:lstStyle>
            <a:lvl1pPr algn="l">
              <a:defRPr/>
            </a:lvl1pPr>
          </a:lstStyle>
          <a:p>
            <a:r>
              <a:rPr lang="pl-PL" dirty="0"/>
              <a:t>Nagłówek</a:t>
            </a:r>
          </a:p>
        </p:txBody>
      </p:sp>
      <p:sp>
        <p:nvSpPr>
          <p:cNvPr id="3" name="Symbol zastępczy zawartości 2"/>
          <p:cNvSpPr>
            <a:spLocks noGrp="1"/>
          </p:cNvSpPr>
          <p:nvPr>
            <p:ph idx="1"/>
          </p:nvPr>
        </p:nvSpPr>
        <p:spPr>
          <a:xfrm>
            <a:off x="468630" y="2074599"/>
            <a:ext cx="7886700" cy="4072255"/>
          </a:xfrm>
        </p:spPr>
        <p:txBody>
          <a:bodyPr/>
          <a:lstStyle>
            <a:lvl1pPr algn="l">
              <a:defRPr>
                <a:solidFill>
                  <a:schemeClr val="tx1">
                    <a:lumMod val="75000"/>
                    <a:lumOff val="25000"/>
                  </a:schemeClr>
                </a:solidFill>
              </a:defRPr>
            </a:lvl1pPr>
            <a:lvl2pPr algn="l">
              <a:defRPr>
                <a:solidFill>
                  <a:schemeClr val="tx1">
                    <a:lumMod val="75000"/>
                    <a:lumOff val="25000"/>
                  </a:schemeClr>
                </a:solidFill>
                <a:latin typeface="Gill Sans MT" panose="020B0502020104020203" pitchFamily="34" charset="-18"/>
              </a:defRPr>
            </a:lvl2pPr>
            <a:lvl3pPr algn="l">
              <a:defRPr>
                <a:solidFill>
                  <a:schemeClr val="tx1">
                    <a:lumMod val="75000"/>
                    <a:lumOff val="25000"/>
                  </a:schemeClr>
                </a:solidFill>
                <a:latin typeface="Gill Sans MT" panose="020B0502020104020203" pitchFamily="34" charset="-18"/>
              </a:defRPr>
            </a:lvl3pPr>
            <a:lvl4pPr algn="l">
              <a:defRPr>
                <a:solidFill>
                  <a:schemeClr val="tx1">
                    <a:lumMod val="75000"/>
                    <a:lumOff val="25000"/>
                  </a:schemeClr>
                </a:solidFill>
                <a:latin typeface="Gill Sans MT" panose="020B0502020104020203" pitchFamily="34" charset="-18"/>
              </a:defRPr>
            </a:lvl4pPr>
            <a:lvl5pPr algn="l">
              <a:defRPr>
                <a:solidFill>
                  <a:schemeClr val="tx1">
                    <a:lumMod val="75000"/>
                    <a:lumOff val="25000"/>
                  </a:schemeClr>
                </a:solidFill>
                <a:latin typeface="Gill Sans MT" panose="020B0502020104020203" pitchFamily="34" charset="-18"/>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Tree>
    <p:extLst>
      <p:ext uri="{BB962C8B-B14F-4D97-AF65-F5344CB8AC3E}">
        <p14:creationId xmlns:p14="http://schemas.microsoft.com/office/powerpoint/2010/main" val="3006393538"/>
      </p:ext>
    </p:extLst>
  </p:cSld>
  <p:clrMapOvr>
    <a:masterClrMapping/>
  </p:clrMapOvr>
  <p:transition spd="med">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agłówek sekcji">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612733"/>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wa elementy zawartości">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pl-PL" dirty="0"/>
          </a:p>
        </p:txBody>
      </p:sp>
      <p:sp>
        <p:nvSpPr>
          <p:cNvPr id="3" name="Symbol zastępczy zawartości 2"/>
          <p:cNvSpPr>
            <a:spLocks noGrp="1"/>
          </p:cNvSpPr>
          <p:nvPr>
            <p:ph sz="half" idx="1"/>
          </p:nvPr>
        </p:nvSpPr>
        <p:spPr>
          <a:xfrm>
            <a:off x="628650" y="1825625"/>
            <a:ext cx="3886200" cy="4351338"/>
          </a:xfrm>
        </p:spPr>
        <p:txBody>
          <a:bodyPr/>
          <a:lstStyle>
            <a:lvl1pPr>
              <a:defRPr>
                <a:solidFill>
                  <a:srgbClr val="004FA3"/>
                </a:solidFill>
                <a:latin typeface="Gill Sans Nova" panose="020B0602020104020203" pitchFamily="34" charset="0"/>
              </a:defRPr>
            </a:lvl1pPr>
            <a:lvl2pPr>
              <a:defRPr>
                <a:solidFill>
                  <a:schemeClr val="tx1">
                    <a:lumMod val="75000"/>
                    <a:lumOff val="25000"/>
                  </a:schemeClr>
                </a:solidFill>
                <a:latin typeface="Gill Sans Nova" panose="020B0602020104020203" pitchFamily="34" charset="0"/>
              </a:defRPr>
            </a:lvl2pPr>
            <a:lvl3pPr>
              <a:defRPr>
                <a:solidFill>
                  <a:schemeClr val="tx1">
                    <a:lumMod val="75000"/>
                    <a:lumOff val="25000"/>
                  </a:schemeClr>
                </a:solidFill>
                <a:latin typeface="Gill Sans Nova" panose="020B0602020104020203" pitchFamily="34" charset="0"/>
              </a:defRPr>
            </a:lvl3pPr>
            <a:lvl4pPr>
              <a:defRPr>
                <a:solidFill>
                  <a:schemeClr val="tx1">
                    <a:lumMod val="75000"/>
                    <a:lumOff val="25000"/>
                  </a:schemeClr>
                </a:solidFill>
                <a:latin typeface="Gill Sans Nova" panose="020B0602020104020203" pitchFamily="34" charset="0"/>
              </a:defRPr>
            </a:lvl4pPr>
            <a:lvl5pPr>
              <a:defRPr>
                <a:solidFill>
                  <a:schemeClr val="tx1">
                    <a:lumMod val="75000"/>
                    <a:lumOff val="25000"/>
                  </a:schemeClr>
                </a:solidFill>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4" name="Symbol zastępczy zawartości 3"/>
          <p:cNvSpPr>
            <a:spLocks noGrp="1"/>
          </p:cNvSpPr>
          <p:nvPr>
            <p:ph sz="half" idx="2"/>
          </p:nvPr>
        </p:nvSpPr>
        <p:spPr>
          <a:xfrm>
            <a:off x="4629150" y="1825625"/>
            <a:ext cx="3886200" cy="4351338"/>
          </a:xfrm>
        </p:spPr>
        <p:txBody>
          <a:bodyPr/>
          <a:lstStyle>
            <a:lvl1pPr>
              <a:defRPr>
                <a:solidFill>
                  <a:srgbClr val="004FA3"/>
                </a:solidFill>
                <a:latin typeface="Gill Sans Nova" panose="020B0602020104020203" pitchFamily="34" charset="0"/>
              </a:defRPr>
            </a:lvl1pPr>
            <a:lvl2pPr>
              <a:defRPr>
                <a:solidFill>
                  <a:schemeClr val="tx1">
                    <a:lumMod val="75000"/>
                    <a:lumOff val="25000"/>
                  </a:schemeClr>
                </a:solidFill>
                <a:latin typeface="Gill Sans Nova" panose="020B0602020104020203" pitchFamily="34" charset="0"/>
              </a:defRPr>
            </a:lvl2pPr>
            <a:lvl3pPr>
              <a:defRPr>
                <a:solidFill>
                  <a:schemeClr val="tx1">
                    <a:lumMod val="75000"/>
                    <a:lumOff val="25000"/>
                  </a:schemeClr>
                </a:solidFill>
                <a:latin typeface="Gill Sans Nova" panose="020B0602020104020203" pitchFamily="34" charset="0"/>
              </a:defRPr>
            </a:lvl3pPr>
            <a:lvl4pPr>
              <a:defRPr>
                <a:solidFill>
                  <a:schemeClr val="tx1">
                    <a:lumMod val="75000"/>
                    <a:lumOff val="25000"/>
                  </a:schemeClr>
                </a:solidFill>
                <a:latin typeface="Gill Sans Nova" panose="020B0602020104020203" pitchFamily="34" charset="0"/>
              </a:defRPr>
            </a:lvl4pPr>
            <a:lvl5pPr>
              <a:defRPr>
                <a:solidFill>
                  <a:schemeClr val="tx1">
                    <a:lumMod val="75000"/>
                    <a:lumOff val="25000"/>
                  </a:schemeClr>
                </a:solidFill>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Tree>
    <p:extLst>
      <p:ext uri="{BB962C8B-B14F-4D97-AF65-F5344CB8AC3E}">
        <p14:creationId xmlns:p14="http://schemas.microsoft.com/office/powerpoint/2010/main" val="3362839095"/>
      </p:ext>
    </p:extLst>
  </p:cSld>
  <p:clrMapOvr>
    <a:masterClrMapping/>
  </p:clrMapOvr>
  <p:transition spd="med">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Porównanie">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a:xfrm>
            <a:off x="629841" y="365126"/>
            <a:ext cx="7886700" cy="1325563"/>
          </a:xfrm>
        </p:spPr>
        <p:txBody>
          <a:bodyPr/>
          <a:lstStyle/>
          <a:p>
            <a:r>
              <a:rPr lang="pl-PL"/>
              <a:t>Kliknij, aby edytować styl</a:t>
            </a:r>
            <a:endParaRPr lang="pl-PL" dirty="0"/>
          </a:p>
        </p:txBody>
      </p:sp>
      <p:sp>
        <p:nvSpPr>
          <p:cNvPr id="3" name="Symbol zastępczy tekstu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l-PL"/>
              <a:t>Kliknij, aby edytować style wzorca tekstu</a:t>
            </a:r>
          </a:p>
        </p:txBody>
      </p:sp>
      <p:sp>
        <p:nvSpPr>
          <p:cNvPr id="4" name="Symbol zastępczy zawartości 3"/>
          <p:cNvSpPr>
            <a:spLocks noGrp="1"/>
          </p:cNvSpPr>
          <p:nvPr>
            <p:ph sz="half" idx="2"/>
          </p:nvPr>
        </p:nvSpPr>
        <p:spPr>
          <a:xfrm>
            <a:off x="629842" y="2505075"/>
            <a:ext cx="3868340" cy="3684588"/>
          </a:xfrm>
        </p:spPr>
        <p:txBody>
          <a:bodyPr/>
          <a:lstStyle>
            <a:lvl1pPr>
              <a:defRPr>
                <a:solidFill>
                  <a:schemeClr val="tx1">
                    <a:lumMod val="75000"/>
                    <a:lumOff val="25000"/>
                  </a:schemeClr>
                </a:solidFill>
                <a:latin typeface="Gill Sans Nova" panose="020B0602020104020203" pitchFamily="34" charset="0"/>
              </a:defRPr>
            </a:lvl1pPr>
            <a:lvl2pPr>
              <a:defRPr>
                <a:solidFill>
                  <a:schemeClr val="tx1">
                    <a:lumMod val="75000"/>
                    <a:lumOff val="25000"/>
                  </a:schemeClr>
                </a:solidFill>
                <a:latin typeface="Gill Sans Nova" panose="020B0602020104020203" pitchFamily="34" charset="0"/>
              </a:defRPr>
            </a:lvl2pPr>
            <a:lvl3pPr>
              <a:defRPr>
                <a:solidFill>
                  <a:schemeClr val="tx1">
                    <a:lumMod val="75000"/>
                    <a:lumOff val="25000"/>
                  </a:schemeClr>
                </a:solidFill>
                <a:latin typeface="Gill Sans Nova" panose="020B0602020104020203" pitchFamily="34" charset="0"/>
              </a:defRPr>
            </a:lvl3pPr>
            <a:lvl4pPr>
              <a:defRPr>
                <a:solidFill>
                  <a:schemeClr val="tx1">
                    <a:lumMod val="75000"/>
                    <a:lumOff val="25000"/>
                  </a:schemeClr>
                </a:solidFill>
                <a:latin typeface="Gill Sans Nova" panose="020B0602020104020203" pitchFamily="34" charset="0"/>
              </a:defRPr>
            </a:lvl4pPr>
            <a:lvl5pPr>
              <a:defRPr>
                <a:solidFill>
                  <a:schemeClr val="tx1">
                    <a:lumMod val="75000"/>
                    <a:lumOff val="25000"/>
                  </a:schemeClr>
                </a:solidFill>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5" name="Symbol zastępczy tekstu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l-PL"/>
              <a:t>Kliknij, aby edytować style wzorca tekstu</a:t>
            </a:r>
          </a:p>
        </p:txBody>
      </p:sp>
      <p:sp>
        <p:nvSpPr>
          <p:cNvPr id="6" name="Symbol zastępczy zawartości 5"/>
          <p:cNvSpPr>
            <a:spLocks noGrp="1"/>
          </p:cNvSpPr>
          <p:nvPr>
            <p:ph sz="quarter" idx="4"/>
          </p:nvPr>
        </p:nvSpPr>
        <p:spPr>
          <a:xfrm>
            <a:off x="4629150" y="2505075"/>
            <a:ext cx="3887391" cy="3684588"/>
          </a:xfrm>
        </p:spPr>
        <p:txBody>
          <a:bodyPr/>
          <a:lstStyle>
            <a:lvl1pPr>
              <a:defRPr>
                <a:solidFill>
                  <a:schemeClr val="tx1">
                    <a:lumMod val="75000"/>
                    <a:lumOff val="25000"/>
                  </a:schemeClr>
                </a:solidFill>
                <a:latin typeface="Gill Sans Nova" panose="020B0602020104020203" pitchFamily="34" charset="0"/>
              </a:defRPr>
            </a:lvl1pPr>
            <a:lvl2pPr>
              <a:defRPr>
                <a:solidFill>
                  <a:schemeClr val="tx1">
                    <a:lumMod val="75000"/>
                    <a:lumOff val="25000"/>
                  </a:schemeClr>
                </a:solidFill>
                <a:latin typeface="Gill Sans Nova" panose="020B0602020104020203" pitchFamily="34" charset="0"/>
              </a:defRPr>
            </a:lvl2pPr>
            <a:lvl3pPr>
              <a:defRPr>
                <a:solidFill>
                  <a:schemeClr val="tx1">
                    <a:lumMod val="75000"/>
                    <a:lumOff val="25000"/>
                  </a:schemeClr>
                </a:solidFill>
                <a:latin typeface="Gill Sans Nova" panose="020B0602020104020203" pitchFamily="34" charset="0"/>
              </a:defRPr>
            </a:lvl3pPr>
            <a:lvl4pPr>
              <a:defRPr>
                <a:solidFill>
                  <a:schemeClr val="tx1">
                    <a:lumMod val="75000"/>
                    <a:lumOff val="25000"/>
                  </a:schemeClr>
                </a:solidFill>
                <a:latin typeface="Gill Sans Nova" panose="020B0602020104020203" pitchFamily="34" charset="0"/>
              </a:defRPr>
            </a:lvl4pPr>
            <a:lvl5pPr>
              <a:defRPr>
                <a:solidFill>
                  <a:schemeClr val="tx1">
                    <a:lumMod val="75000"/>
                    <a:lumOff val="25000"/>
                  </a:schemeClr>
                </a:solidFill>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Tree>
    <p:extLst>
      <p:ext uri="{BB962C8B-B14F-4D97-AF65-F5344CB8AC3E}">
        <p14:creationId xmlns:p14="http://schemas.microsoft.com/office/powerpoint/2010/main" val="3597615939"/>
      </p:ext>
    </p:extLst>
  </p:cSld>
  <p:clrMapOvr>
    <a:masterClrMapping/>
  </p:clrMapOvr>
  <p:transition spd="med">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ylko tytuł">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endParaRPr lang="pl-PL" dirty="0"/>
          </a:p>
        </p:txBody>
      </p:sp>
      <p:sp>
        <p:nvSpPr>
          <p:cNvPr id="4" name="Symbol zastępczy stopki 3"/>
          <p:cNvSpPr>
            <a:spLocks noGrp="1"/>
          </p:cNvSpPr>
          <p:nvPr>
            <p:ph type="ftr" sz="quarter" idx="11"/>
          </p:nvPr>
        </p:nvSpPr>
        <p:spPr>
          <a:xfrm>
            <a:off x="3028950" y="6356351"/>
            <a:ext cx="3086100" cy="365125"/>
          </a:xfrm>
          <a:prstGeom prst="rect">
            <a:avLst/>
          </a:prstGeom>
        </p:spPr>
        <p:txBody>
          <a:bodyPr/>
          <a:lstStyle>
            <a:lvl1pPr algn="ctr">
              <a:defRPr sz="1050">
                <a:solidFill>
                  <a:schemeClr val="tx1">
                    <a:lumMod val="65000"/>
                    <a:lumOff val="35000"/>
                  </a:schemeClr>
                </a:solidFill>
                <a:latin typeface="Gill Sans MT" panose="020B0502020104020203" pitchFamily="34" charset="-18"/>
              </a:defRPr>
            </a:lvl1pPr>
          </a:lstStyle>
          <a:p>
            <a:endParaRPr lang="pl-PL" dirty="0"/>
          </a:p>
        </p:txBody>
      </p:sp>
    </p:spTree>
    <p:extLst>
      <p:ext uri="{BB962C8B-B14F-4D97-AF65-F5344CB8AC3E}">
        <p14:creationId xmlns:p14="http://schemas.microsoft.com/office/powerpoint/2010/main" val="1795915705"/>
      </p:ext>
    </p:extLst>
  </p:cSld>
  <p:clrMapOvr>
    <a:masterClrMapping/>
  </p:clrMapOvr>
  <p:transition spd="med">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Pust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7297025"/>
      </p:ext>
    </p:extLst>
  </p:cSld>
  <p:clrMapOvr>
    <a:masterClrMapping/>
  </p:clrMapOvr>
  <p:transition spd="med">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Zawartość z podpisem">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a:xfrm>
            <a:off x="629841" y="457200"/>
            <a:ext cx="2949178" cy="1600200"/>
          </a:xfrm>
        </p:spPr>
        <p:txBody>
          <a:bodyPr anchor="b"/>
          <a:lstStyle>
            <a:lvl1pPr>
              <a:defRPr sz="2400"/>
            </a:lvl1pPr>
          </a:lstStyle>
          <a:p>
            <a:r>
              <a:rPr lang="pl-PL"/>
              <a:t>Kliknij, aby edytować styl</a:t>
            </a:r>
            <a:endParaRPr lang="pl-PL" dirty="0"/>
          </a:p>
        </p:txBody>
      </p:sp>
      <p:sp>
        <p:nvSpPr>
          <p:cNvPr id="3" name="Symbol zastępczy zawartości 2"/>
          <p:cNvSpPr>
            <a:spLocks noGrp="1"/>
          </p:cNvSpPr>
          <p:nvPr>
            <p:ph idx="1"/>
          </p:nvPr>
        </p:nvSpPr>
        <p:spPr>
          <a:xfrm>
            <a:off x="3887391" y="987426"/>
            <a:ext cx="4629150" cy="4873625"/>
          </a:xfrm>
        </p:spPr>
        <p:txBody>
          <a:bodyPr/>
          <a:lstStyle>
            <a:lvl1pPr>
              <a:defRPr sz="2400">
                <a:latin typeface="Gill Sans Nova" panose="020B0602020104020203" pitchFamily="34" charset="0"/>
              </a:defRPr>
            </a:lvl1pPr>
            <a:lvl2pPr>
              <a:defRPr sz="2100">
                <a:solidFill>
                  <a:schemeClr val="tx1">
                    <a:lumMod val="75000"/>
                    <a:lumOff val="25000"/>
                  </a:schemeClr>
                </a:solidFill>
                <a:latin typeface="Gill Sans Nova" panose="020B0602020104020203" pitchFamily="34" charset="0"/>
              </a:defRPr>
            </a:lvl2pPr>
            <a:lvl3pPr>
              <a:defRPr sz="1800">
                <a:solidFill>
                  <a:schemeClr val="tx1">
                    <a:lumMod val="75000"/>
                    <a:lumOff val="25000"/>
                  </a:schemeClr>
                </a:solidFill>
                <a:latin typeface="Gill Sans Nova" panose="020B0602020104020203" pitchFamily="34" charset="0"/>
              </a:defRPr>
            </a:lvl3pPr>
            <a:lvl4pPr>
              <a:defRPr sz="1500">
                <a:solidFill>
                  <a:schemeClr val="tx1">
                    <a:lumMod val="75000"/>
                    <a:lumOff val="25000"/>
                  </a:schemeClr>
                </a:solidFill>
                <a:latin typeface="Gill Sans Nova" panose="020B0602020104020203" pitchFamily="34" charset="0"/>
              </a:defRPr>
            </a:lvl4pPr>
            <a:lvl5pPr>
              <a:defRPr sz="1500">
                <a:solidFill>
                  <a:schemeClr val="tx1">
                    <a:lumMod val="75000"/>
                    <a:lumOff val="25000"/>
                  </a:schemeClr>
                </a:solidFill>
                <a:latin typeface="Gill Sans Nova" panose="020B0602020104020203" pitchFamily="34" charset="0"/>
              </a:defRPr>
            </a:lvl5pPr>
            <a:lvl6pPr>
              <a:defRPr sz="1500"/>
            </a:lvl6pPr>
            <a:lvl7pPr>
              <a:defRPr sz="1500"/>
            </a:lvl7pPr>
            <a:lvl8pPr>
              <a:defRPr sz="1500"/>
            </a:lvl8pPr>
            <a:lvl9pPr>
              <a:defRPr sz="15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
        <p:nvSpPr>
          <p:cNvPr id="4" name="Symbol zastępczy tekstu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l-PL"/>
              <a:t>Kliknij, aby edytować style wzorca tekstu</a:t>
            </a:r>
          </a:p>
        </p:txBody>
      </p:sp>
    </p:spTree>
    <p:extLst>
      <p:ext uri="{BB962C8B-B14F-4D97-AF65-F5344CB8AC3E}">
        <p14:creationId xmlns:p14="http://schemas.microsoft.com/office/powerpoint/2010/main" val="3814240009"/>
      </p:ext>
    </p:extLst>
  </p:cSld>
  <p:clrMapOvr>
    <a:masterClrMapping/>
  </p:clrMapOvr>
  <p:transition spd="med">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Obraz z podpisem">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a:xfrm>
            <a:off x="629841" y="457200"/>
            <a:ext cx="2949178" cy="1600200"/>
          </a:xfrm>
        </p:spPr>
        <p:txBody>
          <a:bodyPr anchor="b"/>
          <a:lstStyle>
            <a:lvl1pPr>
              <a:defRPr sz="2400"/>
            </a:lvl1pPr>
          </a:lstStyle>
          <a:p>
            <a:r>
              <a:rPr lang="pl-PL"/>
              <a:t>Kliknij, aby edytować styl</a:t>
            </a:r>
            <a:endParaRPr lang="pl-PL" dirty="0"/>
          </a:p>
        </p:txBody>
      </p:sp>
      <p:sp>
        <p:nvSpPr>
          <p:cNvPr id="3" name="Symbol zastępczy obrazu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l-PL" dirty="0"/>
              <a:t>Kliknij ikonę, aby dodać obraz</a:t>
            </a:r>
          </a:p>
        </p:txBody>
      </p:sp>
      <p:sp>
        <p:nvSpPr>
          <p:cNvPr id="4" name="Symbol zastępczy tekstu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l-PL"/>
              <a:t>Kliknij, aby edytować style wzorca tekstu</a:t>
            </a:r>
          </a:p>
        </p:txBody>
      </p:sp>
    </p:spTree>
    <p:extLst>
      <p:ext uri="{BB962C8B-B14F-4D97-AF65-F5344CB8AC3E}">
        <p14:creationId xmlns:p14="http://schemas.microsoft.com/office/powerpoint/2010/main" val="4016784582"/>
      </p:ext>
    </p:extLst>
  </p:cSld>
  <p:clrMapOvr>
    <a:masterClrMapping/>
  </p:clrMapOvr>
  <p:transition spd="med">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ytuł i tekst pionowy">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Tree>
    <p:extLst>
      <p:ext uri="{BB962C8B-B14F-4D97-AF65-F5344CB8AC3E}">
        <p14:creationId xmlns:p14="http://schemas.microsoft.com/office/powerpoint/2010/main" val="1878281748"/>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Tytuł pionowy i teks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543675" y="365126"/>
            <a:ext cx="1971675" cy="5304155"/>
          </a:xfrm>
        </p:spPr>
        <p:txBody>
          <a:bodyPr vert="eaVert"/>
          <a:lstStyle/>
          <a:p>
            <a:r>
              <a:rPr lang="pl-PL"/>
              <a:t>Kliknij, aby edytować styl</a:t>
            </a:r>
            <a:endParaRPr lang="pl-PL" dirty="0"/>
          </a:p>
        </p:txBody>
      </p:sp>
      <p:sp>
        <p:nvSpPr>
          <p:cNvPr id="3" name="Symbol zastępczy tytułu pionowego 2"/>
          <p:cNvSpPr>
            <a:spLocks noGrp="1"/>
          </p:cNvSpPr>
          <p:nvPr>
            <p:ph type="body" orient="vert" idx="1"/>
          </p:nvPr>
        </p:nvSpPr>
        <p:spPr>
          <a:xfrm>
            <a:off x="582930" y="1346041"/>
            <a:ext cx="5800725" cy="3342323"/>
          </a:xfrm>
        </p:spPr>
        <p:txBody>
          <a:bodyPr vert="eaVert"/>
          <a:lstStyle>
            <a:lvl1pPr>
              <a:defRPr>
                <a:latin typeface="Gill Sans Nova" panose="020B0602020104020203" pitchFamily="34" charset="0"/>
              </a:defRPr>
            </a:lvl1pPr>
            <a:lvl2pPr>
              <a:defRPr>
                <a:latin typeface="Gill Sans Nova" panose="020B0602020104020203" pitchFamily="34" charset="0"/>
              </a:defRPr>
            </a:lvl2pPr>
            <a:lvl3pPr>
              <a:defRPr>
                <a:latin typeface="Gill Sans Nova" panose="020B0602020104020203" pitchFamily="34" charset="0"/>
              </a:defRPr>
            </a:lvl3pPr>
            <a:lvl4pPr>
              <a:defRPr>
                <a:latin typeface="Gill Sans Nova" panose="020B0602020104020203" pitchFamily="34" charset="0"/>
              </a:defRPr>
            </a:lvl4pPr>
            <a:lvl5pPr>
              <a:defRPr>
                <a:latin typeface="Gill Sans Nova" panose="020B0602020104020203" pitchFamily="34" charset="0"/>
              </a:defRPr>
            </a:lvl5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pl-PL" dirty="0"/>
          </a:p>
        </p:txBody>
      </p:sp>
    </p:spTree>
    <p:extLst>
      <p:ext uri="{BB962C8B-B14F-4D97-AF65-F5344CB8AC3E}">
        <p14:creationId xmlns:p14="http://schemas.microsoft.com/office/powerpoint/2010/main" val="2397525684"/>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jp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3.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Symbol zastępczy tytułu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t>Kliknij, aby edytować styl</a:t>
            </a:r>
          </a:p>
        </p:txBody>
      </p:sp>
      <p:sp>
        <p:nvSpPr>
          <p:cNvPr id="2051" name="Symbol zastępczy tekstu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defRPr>
            </a:lvl1pPr>
          </a:lstStyle>
          <a:p>
            <a:fld id="{1C6B418C-8559-497C-B11B-8C3EB3F5CE5F}" type="datetime1">
              <a:rPr lang="pl-PL" smtClean="0"/>
              <a:pPr/>
              <a:t>18.11.2025</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defRPr>
            </a:lvl1pPr>
          </a:lstStyle>
          <a:p>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prstClr val="black">
                    <a:tint val="75000"/>
                  </a:prstClr>
                </a:solidFill>
                <a:latin typeface="+mn-lt"/>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186905232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spd="med">
    <p:fade/>
  </p:transition>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Symbol zastępczy tytułu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pl-PL"/>
              <a:t>Kliknij, aby edytować styl</a:t>
            </a:r>
          </a:p>
        </p:txBody>
      </p:sp>
      <p:sp>
        <p:nvSpPr>
          <p:cNvPr id="1027" name="Symbol zastępczy tekstu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9FBB5291-D69B-444B-9845-E5B4E6C31B1F}" type="datetime1">
              <a:rPr lang="pl-PL" smtClean="0"/>
              <a:t>18.11.2025</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defRPr>
            </a:lvl1pPr>
          </a:lstStyle>
          <a:p>
            <a:pPr>
              <a:defRPr/>
            </a:pPr>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6F086870-C5EF-4E08-A8DB-6E7C6DEFB0C1}" type="slidenum">
              <a:rPr lang="pl-PL"/>
              <a:pPr>
                <a:defRPr/>
              </a:pPr>
              <a:t>‹#›</a:t>
            </a:fld>
            <a:endParaRPr lang="pl-PL" dirty="0"/>
          </a:p>
        </p:txBody>
      </p:sp>
    </p:spTree>
    <p:extLst>
      <p:ext uri="{BB962C8B-B14F-4D97-AF65-F5344CB8AC3E}">
        <p14:creationId xmlns:p14="http://schemas.microsoft.com/office/powerpoint/2010/main" val="3917088315"/>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Symbol zastępczy tytułu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t>Kliknij, aby edytować styl</a:t>
            </a:r>
          </a:p>
        </p:txBody>
      </p:sp>
      <p:sp>
        <p:nvSpPr>
          <p:cNvPr id="2051" name="Symbol zastępczy tekstu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defRPr>
            </a:lvl1pPr>
          </a:lstStyle>
          <a:p>
            <a:fld id="{1C6B418C-8559-497C-B11B-8C3EB3F5CE5F}" type="datetime1">
              <a:rPr lang="pl-PL" smtClean="0"/>
              <a:pPr/>
              <a:t>18.11.2025</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defRPr>
            </a:lvl1pPr>
          </a:lstStyle>
          <a:p>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prstClr val="black">
                    <a:tint val="75000"/>
                  </a:prstClr>
                </a:solidFill>
                <a:latin typeface="+mn-lt"/>
              </a:defRPr>
            </a:lvl1pPr>
          </a:lstStyle>
          <a:p>
            <a:fld id="{589B7C76-EFF2-4CD8-A475-4750F11B4BC6}" type="slidenum">
              <a:rPr lang="pl-PL" smtClean="0"/>
              <a:pPr/>
              <a:t>‹#›</a:t>
            </a:fld>
            <a:endParaRPr lang="pl-PL" dirty="0"/>
          </a:p>
        </p:txBody>
      </p:sp>
    </p:spTree>
    <p:extLst>
      <p:ext uri="{BB962C8B-B14F-4D97-AF65-F5344CB8AC3E}">
        <p14:creationId xmlns:p14="http://schemas.microsoft.com/office/powerpoint/2010/main" val="137999377"/>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spd="med">
    <p:fade/>
  </p:transition>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Symbol zastępczy tytułu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pl-PL"/>
              <a:t>Kliknij, aby edytować styl</a:t>
            </a:r>
          </a:p>
        </p:txBody>
      </p:sp>
      <p:sp>
        <p:nvSpPr>
          <p:cNvPr id="1027" name="Symbol zastępczy tekstu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9FBB5291-D69B-444B-9845-E5B4E6C31B1F}" type="datetime1">
              <a:rPr lang="pl-PL" smtClean="0"/>
              <a:t>18.11.2025</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defRPr>
            </a:lvl1pPr>
          </a:lstStyle>
          <a:p>
            <a:pPr>
              <a:defRPr/>
            </a:pPr>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6F086870-C5EF-4E08-A8DB-6E7C6DEFB0C1}" type="slidenum">
              <a:rPr lang="pl-PL"/>
              <a:pPr>
                <a:defRPr/>
              </a:pPr>
              <a:t>‹#›</a:t>
            </a:fld>
            <a:endParaRPr lang="pl-PL" dirty="0"/>
          </a:p>
        </p:txBody>
      </p:sp>
    </p:spTree>
    <p:extLst>
      <p:ext uri="{BB962C8B-B14F-4D97-AF65-F5344CB8AC3E}">
        <p14:creationId xmlns:p14="http://schemas.microsoft.com/office/powerpoint/2010/main" val="1017496606"/>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96DAC541-7B7A-43D3-8B79-37D633B846F1}">
                <asvg:svgBlip xmlns:asvg="http://schemas.microsoft.com/office/drawing/2016/SVG/main" r:embed="rId14"/>
              </a:ext>
            </a:extLst>
          </a:blip>
          <a:srcRect/>
          <a:stretch>
            <a:fillRect/>
          </a:stretch>
        </a:blipFill>
        <a:effectLst/>
      </p:bgPr>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628650" y="2480364"/>
            <a:ext cx="7886700" cy="1325563"/>
          </a:xfrm>
          <a:prstGeom prst="rect">
            <a:avLst/>
          </a:prstGeom>
        </p:spPr>
        <p:txBody>
          <a:bodyPr vert="horz" lIns="91440" tIns="45720" rIns="91440" bIns="45720" rtlCol="0" anchor="ctr">
            <a:normAutofit/>
          </a:bodyPr>
          <a:lstStyle/>
          <a:p>
            <a:r>
              <a:rPr lang="pl-PL" dirty="0"/>
              <a:t>Krój pisma </a:t>
            </a:r>
            <a:r>
              <a:rPr lang="pl-PL" dirty="0" err="1"/>
              <a:t>Gill</a:t>
            </a:r>
            <a:r>
              <a:rPr lang="pl-PL" dirty="0"/>
              <a:t> Sans Nova</a:t>
            </a:r>
          </a:p>
        </p:txBody>
      </p:sp>
      <p:sp>
        <p:nvSpPr>
          <p:cNvPr id="3" name="Symbol zastępczy tekstu 2"/>
          <p:cNvSpPr>
            <a:spLocks noGrp="1"/>
          </p:cNvSpPr>
          <p:nvPr>
            <p:ph type="body" idx="1"/>
          </p:nvPr>
        </p:nvSpPr>
        <p:spPr>
          <a:xfrm>
            <a:off x="628650" y="3805927"/>
            <a:ext cx="7886700" cy="722007"/>
          </a:xfrm>
          <a:prstGeom prst="rect">
            <a:avLst/>
          </a:prstGeom>
        </p:spPr>
        <p:txBody>
          <a:bodyPr vert="horz" lIns="91440" tIns="45720" rIns="91440" bIns="45720" rtlCol="0">
            <a:normAutofit/>
          </a:bodyPr>
          <a:lstStyle/>
          <a:p>
            <a:pPr lvl="0"/>
            <a:r>
              <a:rPr lang="pl-PL" dirty="0"/>
              <a:t>podtytuł</a:t>
            </a:r>
          </a:p>
        </p:txBody>
      </p:sp>
    </p:spTree>
    <p:extLst>
      <p:ext uri="{BB962C8B-B14F-4D97-AF65-F5344CB8AC3E}">
        <p14:creationId xmlns:p14="http://schemas.microsoft.com/office/powerpoint/2010/main" val="4154411580"/>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spd="med">
    <p:fade/>
  </p:transition>
  <p:hf hdr="0" ftr="0" dt="0"/>
  <p:txStyles>
    <p:titleStyle>
      <a:lvl1pPr algn="ctr" defTabSz="685800" rtl="0" eaLnBrk="1" latinLnBrk="0" hangingPunct="1">
        <a:lnSpc>
          <a:spcPct val="90000"/>
        </a:lnSpc>
        <a:spcBef>
          <a:spcPct val="0"/>
        </a:spcBef>
        <a:buNone/>
        <a:defRPr sz="3300" kern="1200" baseline="0">
          <a:solidFill>
            <a:srgbClr val="004FA3"/>
          </a:solidFill>
          <a:latin typeface="Gill Sans Nova" panose="020B0602020104020203" pitchFamily="34" charset="0"/>
          <a:ea typeface="+mj-ea"/>
          <a:cs typeface="+mj-cs"/>
        </a:defRPr>
      </a:lvl1pPr>
    </p:titleStyle>
    <p:bodyStyle>
      <a:lvl1pPr marL="0" indent="0" algn="ctr" defTabSz="685800" rtl="0" eaLnBrk="1" latinLnBrk="0" hangingPunct="1">
        <a:lnSpc>
          <a:spcPct val="90000"/>
        </a:lnSpc>
        <a:spcBef>
          <a:spcPts val="750"/>
        </a:spcBef>
        <a:buFont typeface="Arial" panose="020B0604020202020204" pitchFamily="34" charset="0"/>
        <a:buNone/>
        <a:defRPr sz="2100" kern="1200">
          <a:solidFill>
            <a:schemeClr val="tx1">
              <a:lumMod val="75000"/>
              <a:lumOff val="25000"/>
            </a:schemeClr>
          </a:solidFill>
          <a:latin typeface="Gill Sans Nova" panose="020B0602020104020203"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l-P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xml.rels><?xml version="1.0" encoding="UTF-8" standalone="yes"?>
<Relationships xmlns="http://schemas.openxmlformats.org/package/2006/relationships"><Relationship Id="rId2" Type="http://schemas.openxmlformats.org/officeDocument/2006/relationships/hyperlink" Target="https://eur-lex.europa.eu/legal-content/EN/TXT/HTML/?uri=CELEX:52014SC0230&amp;from=HR" TargetMode="External"/><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p:txBody>
          <a:bodyPr/>
          <a:lstStyle/>
          <a:p>
            <a:r>
              <a:rPr lang="pl-PL" dirty="0">
                <a:latin typeface="Times New Roman" pitchFamily="18" charset="0"/>
                <a:cs typeface="Times New Roman" pitchFamily="18" charset="0"/>
              </a:rPr>
              <a:t>Prohibited agreements (cartels)</a:t>
            </a:r>
          </a:p>
        </p:txBody>
      </p:sp>
      <p:sp>
        <p:nvSpPr>
          <p:cNvPr id="3" name="Podtytuł 2"/>
          <p:cNvSpPr>
            <a:spLocks noGrp="1"/>
          </p:cNvSpPr>
          <p:nvPr>
            <p:ph type="subTitle" idx="1"/>
          </p:nvPr>
        </p:nvSpPr>
        <p:spPr/>
        <p:txBody>
          <a:bodyPr/>
          <a:lstStyle/>
          <a:p>
            <a:r>
              <a:rPr lang="en-US" b="1" dirty="0">
                <a:solidFill>
                  <a:srgbClr val="002060"/>
                </a:solidFill>
              </a:rPr>
              <a:t>Waldemar Hoff</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a:t>
            </a:fld>
            <a:endParaRPr lang="pl-PL"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6407DD0-4209-6AE0-0FB5-95794352C307}"/>
              </a:ext>
            </a:extLst>
          </p:cNvPr>
          <p:cNvSpPr>
            <a:spLocks noGrp="1"/>
          </p:cNvSpPr>
          <p:nvPr>
            <p:ph type="title"/>
          </p:nvPr>
        </p:nvSpPr>
        <p:spPr/>
        <p:txBody>
          <a:bodyPr/>
          <a:lstStyle/>
          <a:p>
            <a:r>
              <a:rPr lang="pl-PL" dirty="0">
                <a:effectLst>
                  <a:outerShdw blurRad="38100" dist="38100" dir="2700000" algn="tl">
                    <a:srgbClr val="000000">
                      <a:alpha val="43137"/>
                    </a:srgbClr>
                  </a:outerShdw>
                </a:effectLst>
              </a:rPr>
              <a:t>Research problem</a:t>
            </a:r>
            <a:endParaRPr lang="en-US" dirty="0">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CCD92321-60FB-EDA1-74D8-785C708F5925}"/>
              </a:ext>
            </a:extLst>
          </p:cNvPr>
          <p:cNvSpPr>
            <a:spLocks noGrp="1"/>
          </p:cNvSpPr>
          <p:nvPr>
            <p:ph idx="1"/>
          </p:nvPr>
        </p:nvSpPr>
        <p:spPr>
          <a:xfrm>
            <a:off x="468630" y="2074599"/>
            <a:ext cx="7886700" cy="4090705"/>
          </a:xfrm>
        </p:spPr>
        <p:txBody>
          <a:bodyPr>
            <a:normAutofit/>
          </a:bodyPr>
          <a:lstStyle/>
          <a:p>
            <a:pPr marL="342900" indent="-342900">
              <a:buFont typeface="Arial" panose="020B0604020202020204" pitchFamily="34" charset="0"/>
              <a:buChar char="•"/>
            </a:pPr>
            <a:r>
              <a:rPr lang="en-US" noProof="0" dirty="0">
                <a:solidFill>
                  <a:srgbClr val="002060"/>
                </a:solidFill>
                <a:effectLst>
                  <a:outerShdw blurRad="38100" dist="38100" dir="2700000" algn="tl">
                    <a:srgbClr val="000000">
                      <a:alpha val="43137"/>
                    </a:srgbClr>
                  </a:outerShdw>
                </a:effectLst>
              </a:rPr>
              <a:t>This presentation illustrates problems with interpreting law in the business environment, as exemplified by anticompetitive agreements between enterprises (cartels). </a:t>
            </a:r>
          </a:p>
          <a:p>
            <a:pPr marL="342900" indent="-342900">
              <a:buFont typeface="Arial" panose="020B0604020202020204" pitchFamily="34" charset="0"/>
              <a:buChar char="•"/>
            </a:pPr>
            <a:r>
              <a:rPr lang="en-US" noProof="0" dirty="0">
                <a:solidFill>
                  <a:srgbClr val="002060"/>
                </a:solidFill>
                <a:effectLst>
                  <a:outerShdw blurRad="38100" dist="38100" dir="2700000" algn="tl">
                    <a:srgbClr val="000000">
                      <a:alpha val="43137"/>
                    </a:srgbClr>
                  </a:outerShdw>
                </a:effectLst>
              </a:rPr>
              <a:t>Importantly, it also serves as a warning that agreements concluded by businesses can be illegal from the point of view of several different branches of law, such as competition law, which prohibits anticompetitive agreements.</a:t>
            </a:r>
          </a:p>
          <a:p>
            <a:pPr marL="342900" indent="-342900">
              <a:buFont typeface="Arial" panose="020B0604020202020204" pitchFamily="34" charset="0"/>
              <a:buChar char="•"/>
            </a:pPr>
            <a:r>
              <a:rPr lang="en-US" noProof="0" dirty="0">
                <a:solidFill>
                  <a:srgbClr val="002060"/>
                </a:solidFill>
                <a:effectLst>
                  <a:outerShdw blurRad="38100" dist="38100" dir="2700000" algn="tl">
                    <a:srgbClr val="000000">
                      <a:alpha val="43137"/>
                    </a:srgbClr>
                  </a:outerShdw>
                </a:effectLst>
              </a:rPr>
              <a:t>Some of such agreements can be routine business agreements, particularly when they concern the distribution of goods.</a:t>
            </a:r>
          </a:p>
          <a:p>
            <a:pPr marL="342900" indent="-342900">
              <a:buFont typeface="Arial" panose="020B0604020202020204" pitchFamily="34" charset="0"/>
              <a:buChar char="•"/>
            </a:pPr>
            <a:r>
              <a:rPr lang="en-US" noProof="0" dirty="0">
                <a:solidFill>
                  <a:srgbClr val="002060"/>
                </a:solidFill>
                <a:effectLst>
                  <a:outerShdw blurRad="38100" dist="38100" dir="2700000" algn="tl">
                    <a:srgbClr val="000000">
                      <a:alpha val="43137"/>
                    </a:srgbClr>
                  </a:outerShdw>
                </a:effectLst>
              </a:rPr>
              <a:t>Cartels provide an interesting insight into the variety of forms of prohibited agreements. </a:t>
            </a:r>
            <a:endParaRPr lang="pl-PL" noProof="0"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1991023091"/>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F1E5825-E931-9FD2-1319-AFAB165229B3}"/>
              </a:ext>
            </a:extLst>
          </p:cNvPr>
          <p:cNvSpPr>
            <a:spLocks noGrp="1"/>
          </p:cNvSpPr>
          <p:nvPr>
            <p:ph type="title"/>
          </p:nvPr>
        </p:nvSpPr>
        <p:spPr/>
        <p:txBody>
          <a:bodyPr/>
          <a:lstStyle/>
          <a:p>
            <a:r>
              <a:rPr lang="pl-PL" dirty="0">
                <a:effectLst>
                  <a:outerShdw blurRad="38100" dist="38100" dir="2700000" algn="tl">
                    <a:srgbClr val="000000">
                      <a:alpha val="43137"/>
                    </a:srgbClr>
                  </a:outerShdw>
                </a:effectLst>
              </a:rPr>
              <a:t>Research problem</a:t>
            </a:r>
            <a:endParaRPr lang="en-US" dirty="0"/>
          </a:p>
        </p:txBody>
      </p:sp>
      <p:sp>
        <p:nvSpPr>
          <p:cNvPr id="3" name="Symbol zastępczy zawartości 2">
            <a:extLst>
              <a:ext uri="{FF2B5EF4-FFF2-40B4-BE49-F238E27FC236}">
                <a16:creationId xmlns:a16="http://schemas.microsoft.com/office/drawing/2014/main" id="{73DA34D3-2411-4D84-ADEE-C2AFB41BA092}"/>
              </a:ext>
            </a:extLst>
          </p:cNvPr>
          <p:cNvSpPr>
            <a:spLocks noGrp="1"/>
          </p:cNvSpPr>
          <p:nvPr>
            <p:ph idx="1"/>
          </p:nvPr>
        </p:nvSpPr>
        <p:spPr/>
        <p:txBody>
          <a:bodyPr>
            <a:normAutofit/>
          </a:bodyPr>
          <a:lstStyle/>
          <a:p>
            <a:pPr marL="342900" indent="-342900">
              <a:buFont typeface="Arial" panose="020B0604020202020204" pitchFamily="34" charset="0"/>
              <a:buChar char="•"/>
            </a:pPr>
            <a:r>
              <a:rPr lang="en-US" sz="2000" noProof="0" dirty="0">
                <a:solidFill>
                  <a:srgbClr val="002060"/>
                </a:solidFill>
                <a:effectLst>
                  <a:outerShdw blurRad="38100" dist="38100" dir="2700000" algn="tl">
                    <a:srgbClr val="000000">
                      <a:alpha val="43137"/>
                    </a:srgbClr>
                  </a:outerShdw>
                </a:effectLst>
              </a:rPr>
              <a:t>The law prohibits agreements between businesses that limit, distort, or prevent competition.</a:t>
            </a:r>
          </a:p>
          <a:p>
            <a:pPr marL="342900" indent="-342900">
              <a:buFont typeface="Arial" panose="020B0604020202020204" pitchFamily="34" charset="0"/>
              <a:buChar char="•"/>
            </a:pPr>
            <a:r>
              <a:rPr lang="en-US" sz="2000" noProof="0" dirty="0">
                <a:solidFill>
                  <a:srgbClr val="002060"/>
                </a:solidFill>
                <a:effectLst>
                  <a:outerShdw blurRad="38100" dist="38100" dir="2700000" algn="tl">
                    <a:srgbClr val="000000">
                      <a:alpha val="43137"/>
                    </a:srgbClr>
                  </a:outerShdw>
                </a:effectLst>
              </a:rPr>
              <a:t>Such agreements, called cartels, nevertheless remain agreements under the law, and therefore, to be recognized as such, must meet the „concurrence of the wills” test (see the next slide).</a:t>
            </a:r>
          </a:p>
          <a:p>
            <a:pPr marL="342900" indent="-342900">
              <a:buFont typeface="Arial" panose="020B0604020202020204" pitchFamily="34" charset="0"/>
              <a:buChar char="•"/>
            </a:pPr>
            <a:r>
              <a:rPr lang="en-US" sz="2000" noProof="0" dirty="0">
                <a:solidFill>
                  <a:srgbClr val="002060"/>
                </a:solidFill>
                <a:effectLst>
                  <a:outerShdw blurRad="38100" dist="38100" dir="2700000" algn="tl">
                    <a:srgbClr val="000000">
                      <a:alpha val="43137"/>
                    </a:srgbClr>
                  </a:outerShdw>
                </a:effectLst>
              </a:rPr>
              <a:t>Modern technologies make the issue more difficult because companies use AI to form agreements in a semi-independent way</a:t>
            </a:r>
          </a:p>
          <a:p>
            <a:pPr marL="342900" indent="-342900">
              <a:buFont typeface="Arial" panose="020B0604020202020204" pitchFamily="34" charset="0"/>
              <a:buChar char="•"/>
            </a:pPr>
            <a:r>
              <a:rPr lang="en-US" sz="2000" noProof="0" dirty="0">
                <a:solidFill>
                  <a:srgbClr val="002060"/>
                </a:solidFill>
                <a:effectLst>
                  <a:outerShdw blurRad="38100" dist="38100" dir="2700000" algn="tl">
                    <a:srgbClr val="000000">
                      <a:alpha val="43137"/>
                    </a:srgbClr>
                  </a:outerShdw>
                </a:effectLst>
              </a:rPr>
              <a:t>Apart from the problem with determining whether there was the concurrence of the will in a given case, there is also the issue of independent actions by the AI in forming cartels (University of Pennsylvania’s Wharton School and the Hong Kong University of Science and Technology, 2025). Therefore, human oversight and</a:t>
            </a:r>
            <a:r>
              <a:rPr lang="pl-PL" sz="2000" noProof="0" dirty="0">
                <a:solidFill>
                  <a:srgbClr val="002060"/>
                </a:solidFill>
                <a:effectLst>
                  <a:outerShdw blurRad="38100" dist="38100" dir="2700000" algn="tl">
                    <a:srgbClr val="000000">
                      <a:alpha val="43137"/>
                    </a:srgbClr>
                  </a:outerShdw>
                </a:effectLst>
              </a:rPr>
              <a:t> </a:t>
            </a:r>
            <a:r>
              <a:rPr lang="en-US" sz="2000" noProof="0" dirty="0">
                <a:solidFill>
                  <a:srgbClr val="002060"/>
                </a:solidFill>
                <a:effectLst>
                  <a:outerShdw blurRad="38100" dist="38100" dir="2700000" algn="tl">
                    <a:srgbClr val="000000">
                      <a:alpha val="43137"/>
                    </a:srgbClr>
                  </a:outerShdw>
                </a:effectLst>
              </a:rPr>
              <a:t>a „killer button” are recommended.</a:t>
            </a:r>
          </a:p>
        </p:txBody>
      </p:sp>
    </p:spTree>
    <p:extLst>
      <p:ext uri="{BB962C8B-B14F-4D97-AF65-F5344CB8AC3E}">
        <p14:creationId xmlns:p14="http://schemas.microsoft.com/office/powerpoint/2010/main" val="80841863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D0A5FB-88FC-EEE1-6098-8BC40B64A70D}"/>
              </a:ext>
            </a:extLst>
          </p:cNvPr>
          <p:cNvSpPr>
            <a:spLocks noGrp="1"/>
          </p:cNvSpPr>
          <p:nvPr>
            <p:ph type="title"/>
          </p:nvPr>
        </p:nvSpPr>
        <p:spPr/>
        <p:txBody>
          <a:bodyPr>
            <a:normAutofit/>
          </a:bodyPr>
          <a:lstStyle/>
          <a:p>
            <a:r>
              <a:rPr lang="en-US" sz="2400" b="1" noProof="0" dirty="0">
                <a:solidFill>
                  <a:srgbClr val="002060"/>
                </a:solidFill>
                <a:effectLst>
                  <a:outerShdw blurRad="38100" dist="38100" dir="2700000" algn="tl">
                    <a:srgbClr val="000000">
                      <a:alpha val="43137"/>
                    </a:srgbClr>
                  </a:outerShdw>
                </a:effectLst>
              </a:rPr>
              <a:t>Concurrence of the wills </a:t>
            </a:r>
            <a:r>
              <a:rPr lang="en-US" sz="2400" b="1" noProof="0" dirty="0">
                <a:solidFill>
                  <a:srgbClr val="FF0000"/>
                </a:solidFill>
                <a:effectLst>
                  <a:outerShdw blurRad="38100" dist="38100" dir="2700000" algn="tl">
                    <a:srgbClr val="000000">
                      <a:alpha val="43137"/>
                    </a:srgbClr>
                  </a:outerShdw>
                </a:effectLst>
              </a:rPr>
              <a:t>in contract formation</a:t>
            </a:r>
          </a:p>
        </p:txBody>
      </p:sp>
      <p:sp>
        <p:nvSpPr>
          <p:cNvPr id="3" name="Symbol zastępczy zawartości 2">
            <a:extLst>
              <a:ext uri="{FF2B5EF4-FFF2-40B4-BE49-F238E27FC236}">
                <a16:creationId xmlns:a16="http://schemas.microsoft.com/office/drawing/2014/main" id="{AE9EFFCF-2FBC-11F0-4755-10C8F0624A96}"/>
              </a:ext>
            </a:extLst>
          </p:cNvPr>
          <p:cNvSpPr>
            <a:spLocks noGrp="1"/>
          </p:cNvSpPr>
          <p:nvPr>
            <p:ph idx="1"/>
          </p:nvPr>
        </p:nvSpPr>
        <p:spPr/>
        <p:txBody>
          <a:bodyPr>
            <a:normAutofit fontScale="92500" lnSpcReduction="10000"/>
          </a:bodyPr>
          <a:lstStyle/>
          <a:p>
            <a:pPr marL="342900" indent="-342900">
              <a:buFont typeface="Arial" panose="020B0604020202020204" pitchFamily="34" charset="0"/>
              <a:buChar char="•"/>
            </a:pPr>
            <a:r>
              <a:rPr lang="en-US" sz="2400" b="1" dirty="0">
                <a:solidFill>
                  <a:srgbClr val="002060"/>
                </a:solidFill>
                <a:effectLst>
                  <a:outerShdw blurRad="38100" dist="38100" dir="2700000" algn="tl">
                    <a:srgbClr val="000000">
                      <a:alpha val="43137"/>
                    </a:srgbClr>
                  </a:outerShdw>
                </a:effectLst>
              </a:rPr>
              <a:t>For a contract to be valid</a:t>
            </a:r>
            <a:r>
              <a:rPr lang="en-US" sz="2400" dirty="0">
                <a:solidFill>
                  <a:srgbClr val="002060"/>
                </a:solidFill>
                <a:effectLst>
                  <a:outerShdw blurRad="38100" dist="38100" dir="2700000" algn="tl">
                    <a:srgbClr val="000000">
                      <a:alpha val="43137"/>
                    </a:srgbClr>
                  </a:outerShdw>
                </a:effectLst>
              </a:rPr>
              <a:t>, there must be a "concurrence of the wills" of the parties</a:t>
            </a:r>
            <a:r>
              <a:rPr lang="pl-PL" sz="2400" dirty="0">
                <a:solidFill>
                  <a:srgbClr val="002060"/>
                </a:solidFill>
                <a:effectLst>
                  <a:outerShdw blurRad="38100" dist="38100" dir="2700000" algn="tl">
                    <a:srgbClr val="000000">
                      <a:alpha val="43137"/>
                    </a:srgbClr>
                  </a:outerShdw>
                </a:effectLst>
              </a:rPr>
              <a:t>, </a:t>
            </a:r>
          </a:p>
          <a:p>
            <a:pPr marL="342900" indent="-342900">
              <a:buFont typeface="Arial" panose="020B0604020202020204" pitchFamily="34" charset="0"/>
              <a:buChar char="•"/>
            </a:pPr>
            <a:r>
              <a:rPr lang="pl-PL" sz="2400" dirty="0">
                <a:solidFill>
                  <a:srgbClr val="002060"/>
                </a:solidFill>
                <a:effectLst>
                  <a:outerShdw blurRad="38100" dist="38100" dir="2700000" algn="tl">
                    <a:srgbClr val="000000">
                      <a:alpha val="43137"/>
                    </a:srgbClr>
                  </a:outerShdw>
                </a:effectLst>
              </a:rPr>
              <a:t>The parties to an agreement must </a:t>
            </a:r>
            <a:r>
              <a:rPr lang="en-US" sz="2400" dirty="0">
                <a:solidFill>
                  <a:srgbClr val="002060"/>
                </a:solidFill>
                <a:effectLst>
                  <a:outerShdw blurRad="38100" dist="38100" dir="2700000" algn="tl">
                    <a:srgbClr val="000000">
                      <a:alpha val="43137"/>
                    </a:srgbClr>
                  </a:outerShdw>
                </a:effectLst>
              </a:rPr>
              <a:t>have </a:t>
            </a:r>
            <a:r>
              <a:rPr lang="en-US" sz="2400" b="1" dirty="0">
                <a:solidFill>
                  <a:srgbClr val="002060"/>
                </a:solidFill>
                <a:effectLst>
                  <a:outerShdw blurRad="38100" dist="38100" dir="2700000" algn="tl">
                    <a:srgbClr val="000000">
                      <a:alpha val="43137"/>
                    </a:srgbClr>
                  </a:outerShdw>
                </a:effectLst>
              </a:rPr>
              <a:t>a shared understanding and agreement</a:t>
            </a:r>
            <a:r>
              <a:rPr lang="en-US" sz="2400" dirty="0">
                <a:solidFill>
                  <a:srgbClr val="002060"/>
                </a:solidFill>
                <a:effectLst>
                  <a:outerShdw blurRad="38100" dist="38100" dir="2700000" algn="tl">
                    <a:srgbClr val="000000">
                      <a:alpha val="43137"/>
                    </a:srgbClr>
                  </a:outerShdw>
                </a:effectLst>
              </a:rPr>
              <a:t> on the contract's object and cause.</a:t>
            </a:r>
          </a:p>
          <a:p>
            <a:pPr marL="342900" indent="-342900">
              <a:buFont typeface="Arial" panose="020B0604020202020204" pitchFamily="34" charset="0"/>
              <a:buChar char="•"/>
            </a:pPr>
            <a:r>
              <a:rPr lang="pl-PL" sz="2400" dirty="0">
                <a:solidFill>
                  <a:srgbClr val="002060"/>
                </a:solidFill>
                <a:effectLst>
                  <a:outerShdw blurRad="38100" dist="38100" dir="2700000" algn="tl">
                    <a:srgbClr val="000000">
                      <a:alpha val="43137"/>
                    </a:srgbClr>
                  </a:outerShdw>
                </a:effectLst>
              </a:rPr>
              <a:t>C</a:t>
            </a:r>
            <a:r>
              <a:rPr lang="en-US" sz="2400" dirty="0">
                <a:solidFill>
                  <a:srgbClr val="002060"/>
                </a:solidFill>
                <a:effectLst>
                  <a:outerShdw blurRad="38100" dist="38100" dir="2700000" algn="tl">
                    <a:srgbClr val="000000">
                      <a:alpha val="43137"/>
                    </a:srgbClr>
                  </a:outerShdw>
                </a:effectLst>
              </a:rPr>
              <a:t>oncurrence is typically established through consent </a:t>
            </a:r>
            <a:r>
              <a:rPr lang="en-US" sz="2400" b="1" dirty="0">
                <a:solidFill>
                  <a:srgbClr val="002060"/>
                </a:solidFill>
                <a:effectLst>
                  <a:outerShdw blurRad="38100" dist="38100" dir="2700000" algn="tl">
                    <a:srgbClr val="000000">
                      <a:alpha val="43137"/>
                    </a:srgbClr>
                  </a:outerShdw>
                </a:effectLst>
              </a:rPr>
              <a:t>via offer and acceptance</a:t>
            </a:r>
            <a:r>
              <a:rPr lang="en-US" sz="2400" dirty="0">
                <a:solidFill>
                  <a:srgbClr val="002060"/>
                </a:solidFill>
                <a:effectLst>
                  <a:outerShdw blurRad="38100" dist="38100" dir="2700000" algn="tl">
                    <a:srgbClr val="000000">
                      <a:alpha val="43137"/>
                    </a:srgbClr>
                  </a:outerShdw>
                </a:effectLst>
              </a:rPr>
              <a:t>.</a:t>
            </a:r>
          </a:p>
          <a:p>
            <a:pPr marL="342900" indent="-342900">
              <a:buFont typeface="Arial" panose="020B0604020202020204" pitchFamily="34" charset="0"/>
              <a:buChar char="•"/>
            </a:pPr>
            <a:r>
              <a:rPr lang="en-US" sz="2400" dirty="0">
                <a:solidFill>
                  <a:srgbClr val="002060"/>
                </a:solidFill>
                <a:effectLst>
                  <a:outerShdw blurRad="38100" dist="38100" dir="2700000" algn="tl">
                    <a:srgbClr val="000000">
                      <a:alpha val="43137"/>
                    </a:srgbClr>
                  </a:outerShdw>
                </a:effectLst>
              </a:rPr>
              <a:t>This is a human-centric concept involv</a:t>
            </a:r>
            <a:r>
              <a:rPr lang="pl-PL" sz="2400" dirty="0">
                <a:solidFill>
                  <a:srgbClr val="002060"/>
                </a:solidFill>
                <a:effectLst>
                  <a:outerShdw blurRad="38100" dist="38100" dir="2700000" algn="tl">
                    <a:srgbClr val="000000">
                      <a:alpha val="43137"/>
                    </a:srgbClr>
                  </a:outerShdw>
                </a:effectLst>
              </a:rPr>
              <a:t>ing</a:t>
            </a:r>
            <a:r>
              <a:rPr lang="en-US" sz="2400" dirty="0">
                <a:solidFill>
                  <a:srgbClr val="002060"/>
                </a:solidFill>
                <a:effectLst>
                  <a:outerShdw blurRad="38100" dist="38100" dir="2700000" algn="tl">
                    <a:srgbClr val="000000">
                      <a:alpha val="43137"/>
                    </a:srgbClr>
                  </a:outerShdw>
                </a:effectLst>
              </a:rPr>
              <a:t> </a:t>
            </a:r>
            <a:r>
              <a:rPr lang="en-US" sz="2400" b="1" dirty="0">
                <a:solidFill>
                  <a:srgbClr val="002060"/>
                </a:solidFill>
                <a:effectLst>
                  <a:outerShdw blurRad="38100" dist="38100" dir="2700000" algn="tl">
                    <a:srgbClr val="000000">
                      <a:alpha val="43137"/>
                    </a:srgbClr>
                  </a:outerShdw>
                </a:effectLst>
              </a:rPr>
              <a:t>subjective intentions</a:t>
            </a:r>
            <a:r>
              <a:rPr lang="en-US" sz="2400" dirty="0">
                <a:solidFill>
                  <a:srgbClr val="002060"/>
                </a:solidFill>
                <a:effectLst>
                  <a:outerShdw blurRad="38100" dist="38100" dir="2700000" algn="tl">
                    <a:srgbClr val="000000">
                      <a:alpha val="43137"/>
                    </a:srgbClr>
                  </a:outerShdw>
                </a:effectLst>
              </a:rPr>
              <a:t> difficult to apply to a computer system</a:t>
            </a:r>
            <a:r>
              <a:rPr lang="pl-PL" sz="2400" dirty="0">
                <a:solidFill>
                  <a:srgbClr val="002060"/>
                </a:solidFill>
                <a:effectLst>
                  <a:outerShdw blurRad="38100" dist="38100" dir="2700000" algn="tl">
                    <a:srgbClr val="000000">
                      <a:alpha val="43137"/>
                    </a:srgbClr>
                  </a:outerShdw>
                </a:effectLst>
              </a:rPr>
              <a:t>.</a:t>
            </a:r>
          </a:p>
          <a:p>
            <a:pPr marL="342900" indent="-342900">
              <a:buFont typeface="Arial" panose="020B0604020202020204" pitchFamily="34" charset="0"/>
              <a:buChar char="•"/>
            </a:pPr>
            <a:r>
              <a:rPr lang="en-US" sz="2400" dirty="0">
                <a:solidFill>
                  <a:srgbClr val="002060"/>
                </a:solidFill>
                <a:effectLst>
                  <a:outerShdw blurRad="38100" dist="38100" dir="2700000" algn="tl">
                    <a:srgbClr val="000000">
                      <a:alpha val="43137"/>
                    </a:srgbClr>
                  </a:outerShdw>
                </a:effectLst>
              </a:rPr>
              <a:t>While AI can assist in legal processes, it </a:t>
            </a:r>
            <a:r>
              <a:rPr lang="en-US" sz="2400" b="1" dirty="0">
                <a:solidFill>
                  <a:srgbClr val="002060"/>
                </a:solidFill>
                <a:effectLst>
                  <a:outerShdw blurRad="38100" dist="38100" dir="2700000" algn="tl">
                    <a:srgbClr val="000000">
                      <a:alpha val="43137"/>
                    </a:srgbClr>
                  </a:outerShdw>
                </a:effectLst>
              </a:rPr>
              <a:t>cannot yet replicate </a:t>
            </a:r>
            <a:r>
              <a:rPr lang="en-US" sz="2400" dirty="0">
                <a:solidFill>
                  <a:srgbClr val="002060"/>
                </a:solidFill>
                <a:effectLst>
                  <a:outerShdw blurRad="38100" dist="38100" dir="2700000" algn="tl">
                    <a:srgbClr val="000000">
                      <a:alpha val="43137"/>
                    </a:srgbClr>
                  </a:outerShdw>
                </a:effectLst>
              </a:rPr>
              <a:t>the </a:t>
            </a:r>
            <a:r>
              <a:rPr lang="en-US" sz="2400" b="1" dirty="0">
                <a:solidFill>
                  <a:srgbClr val="002060"/>
                </a:solidFill>
                <a:effectLst>
                  <a:outerShdw blurRad="38100" dist="38100" dir="2700000" algn="tl">
                    <a:srgbClr val="000000">
                      <a:alpha val="43137"/>
                    </a:srgbClr>
                  </a:outerShdw>
                </a:effectLst>
              </a:rPr>
              <a:t>subjective and contextual "will" </a:t>
            </a:r>
            <a:r>
              <a:rPr lang="pl-PL" sz="2400" b="1" dirty="0">
                <a:solidFill>
                  <a:srgbClr val="002060"/>
                </a:solidFill>
                <a:effectLst>
                  <a:outerShdw blurRad="38100" dist="38100" dir="2700000" algn="tl">
                    <a:srgbClr val="000000">
                      <a:alpha val="43137"/>
                    </a:srgbClr>
                  </a:outerShdw>
                </a:effectLst>
              </a:rPr>
              <a:t>of a human</a:t>
            </a:r>
            <a:r>
              <a:rPr lang="pl-PL" sz="2400" dirty="0">
                <a:solidFill>
                  <a:srgbClr val="002060"/>
                </a:solidFill>
                <a:effectLst>
                  <a:outerShdw blurRad="38100" dist="38100" dir="2700000" algn="tl">
                    <a:srgbClr val="000000">
                      <a:alpha val="43137"/>
                    </a:srgbClr>
                  </a:outerShdw>
                </a:effectLst>
              </a:rPr>
              <a:t>; Therefore, </a:t>
            </a:r>
            <a:r>
              <a:rPr lang="en-US" sz="2400" dirty="0">
                <a:solidFill>
                  <a:srgbClr val="002060"/>
                </a:solidFill>
                <a:effectLst>
                  <a:outerShdw blurRad="38100" dist="38100" dir="2700000" algn="tl">
                    <a:srgbClr val="000000">
                      <a:alpha val="43137"/>
                    </a:srgbClr>
                  </a:outerShdw>
                </a:effectLst>
              </a:rPr>
              <a:t>AI-generated documents can be </a:t>
            </a:r>
            <a:r>
              <a:rPr lang="en-US" sz="2400" b="1" dirty="0">
                <a:solidFill>
                  <a:srgbClr val="002060"/>
                </a:solidFill>
                <a:effectLst>
                  <a:outerShdw blurRad="38100" dist="38100" dir="2700000" algn="tl">
                    <a:srgbClr val="000000">
                      <a:alpha val="43137"/>
                    </a:srgbClr>
                  </a:outerShdw>
                </a:effectLst>
              </a:rPr>
              <a:t>invalid</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54373190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E827AD-F428-0287-A49F-C2E2C2F434F2}"/>
              </a:ext>
            </a:extLst>
          </p:cNvPr>
          <p:cNvSpPr>
            <a:spLocks noGrp="1"/>
          </p:cNvSpPr>
          <p:nvPr>
            <p:ph type="title"/>
          </p:nvPr>
        </p:nvSpPr>
        <p:spPr/>
        <p:txBody>
          <a:bodyPr/>
          <a:lstStyle/>
          <a:p>
            <a:r>
              <a:rPr lang="pl-PL" dirty="0">
                <a:solidFill>
                  <a:srgbClr val="002060"/>
                </a:solidFill>
              </a:rPr>
              <a:t>Concurrence of the wills. The use of AI</a:t>
            </a:r>
            <a:endParaRPr lang="en-US" dirty="0">
              <a:solidFill>
                <a:srgbClr val="002060"/>
              </a:solidFill>
            </a:endParaRPr>
          </a:p>
        </p:txBody>
      </p:sp>
      <p:sp>
        <p:nvSpPr>
          <p:cNvPr id="3" name="Symbol zastępczy zawartości 2">
            <a:extLst>
              <a:ext uri="{FF2B5EF4-FFF2-40B4-BE49-F238E27FC236}">
                <a16:creationId xmlns:a16="http://schemas.microsoft.com/office/drawing/2014/main" id="{AA947036-839B-4801-1AEB-E87920E19C8F}"/>
              </a:ext>
            </a:extLst>
          </p:cNvPr>
          <p:cNvSpPr>
            <a:spLocks noGrp="1"/>
          </p:cNvSpPr>
          <p:nvPr>
            <p:ph idx="1"/>
          </p:nvPr>
        </p:nvSpPr>
        <p:spPr/>
        <p:txBody>
          <a:bodyPr>
            <a:normAutofit/>
          </a:bodyPr>
          <a:lstStyle/>
          <a:p>
            <a:r>
              <a:rPr lang="pl-PL" sz="2000" b="1" dirty="0">
                <a:solidFill>
                  <a:srgbClr val="002060"/>
                </a:solidFill>
                <a:effectLst>
                  <a:outerShdw blurRad="38100" dist="38100" dir="2700000" algn="tl">
                    <a:srgbClr val="000000">
                      <a:alpha val="43137"/>
                    </a:srgbClr>
                  </a:outerShdw>
                </a:effectLst>
              </a:rPr>
              <a:t>Assuming that an agreement is concluded using AI poses the following problems:</a:t>
            </a:r>
          </a:p>
          <a:p>
            <a:pPr marL="342900" indent="-342900">
              <a:buFont typeface="Arial" panose="020B0604020202020204" pitchFamily="34" charset="0"/>
              <a:buChar char="•"/>
            </a:pPr>
            <a:r>
              <a:rPr lang="en-US" sz="2000" dirty="0">
                <a:solidFill>
                  <a:srgbClr val="002060"/>
                </a:solidFill>
                <a:effectLst>
                  <a:outerShdw blurRad="38100" dist="38100" dir="2700000" algn="tl">
                    <a:srgbClr val="000000">
                      <a:alpha val="43137"/>
                    </a:srgbClr>
                  </a:outerShdw>
                </a:effectLst>
              </a:rPr>
              <a:t>AI systems operate based on algorithms and data, </a:t>
            </a:r>
            <a:r>
              <a:rPr lang="en-US" sz="2000" b="1" dirty="0">
                <a:solidFill>
                  <a:srgbClr val="FF0000"/>
                </a:solidFill>
                <a:effectLst>
                  <a:outerShdw blurRad="38100" dist="38100" dir="2700000" algn="tl">
                    <a:srgbClr val="000000">
                      <a:alpha val="43137"/>
                    </a:srgbClr>
                  </a:outerShdw>
                </a:effectLst>
              </a:rPr>
              <a:t>not genuine intent or will</a:t>
            </a:r>
            <a:r>
              <a:rPr lang="en-US" sz="2000" dirty="0">
                <a:solidFill>
                  <a:srgbClr val="002060"/>
                </a:solidFill>
                <a:effectLst>
                  <a:outerShdw blurRad="38100" dist="38100" dir="2700000" algn="tl">
                    <a:srgbClr val="000000">
                      <a:alpha val="43137"/>
                    </a:srgbClr>
                  </a:outerShdw>
                </a:effectLst>
              </a:rPr>
              <a:t>.</a:t>
            </a:r>
            <a:r>
              <a:rPr lang="pl-PL" sz="2000" dirty="0">
                <a:solidFill>
                  <a:srgbClr val="002060"/>
                </a:solidFill>
                <a:effectLst>
                  <a:outerShdw blurRad="38100" dist="38100" dir="2700000" algn="tl">
                    <a:srgbClr val="000000">
                      <a:alpha val="43137"/>
                    </a:srgbClr>
                  </a:outerShdw>
                </a:effectLst>
              </a:rPr>
              <a:t> AI</a:t>
            </a:r>
            <a:r>
              <a:rPr lang="en-US" sz="2000" dirty="0">
                <a:solidFill>
                  <a:srgbClr val="002060"/>
                </a:solidFill>
                <a:effectLst>
                  <a:outerShdw blurRad="38100" dist="38100" dir="2700000" algn="tl">
                    <a:srgbClr val="000000">
                      <a:alpha val="43137"/>
                    </a:srgbClr>
                  </a:outerShdw>
                </a:effectLst>
              </a:rPr>
              <a:t> cannot truly "consent" in a way that satisfies the legal requirement of a "concurrence of wills".</a:t>
            </a:r>
            <a:endParaRPr lang="pl-PL" sz="2000"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pl-PL" sz="2000" dirty="0">
                <a:solidFill>
                  <a:srgbClr val="002060"/>
                </a:solidFill>
                <a:effectLst>
                  <a:outerShdw blurRad="38100" dist="38100" dir="2700000" algn="tl">
                    <a:srgbClr val="000000">
                      <a:alpha val="43137"/>
                    </a:srgbClr>
                  </a:outerShdw>
                </a:effectLst>
              </a:rPr>
              <a:t>The use of AI is problematic where </a:t>
            </a:r>
            <a:r>
              <a:rPr lang="en-US" sz="2000" b="1" dirty="0">
                <a:solidFill>
                  <a:srgbClr val="002060"/>
                </a:solidFill>
                <a:effectLst>
                  <a:outerShdw blurRad="38100" dist="38100" dir="2700000" algn="tl">
                    <a:srgbClr val="000000">
                      <a:alpha val="43137"/>
                    </a:srgbClr>
                  </a:outerShdw>
                </a:effectLst>
              </a:rPr>
              <a:t>empathy, ethical judgment</a:t>
            </a:r>
            <a:r>
              <a:rPr lang="en-US" sz="2000" dirty="0">
                <a:solidFill>
                  <a:srgbClr val="002060"/>
                </a:solidFill>
                <a:effectLst>
                  <a:outerShdw blurRad="38100" dist="38100" dir="2700000" algn="tl">
                    <a:srgbClr val="000000">
                      <a:alpha val="43137"/>
                    </a:srgbClr>
                  </a:outerShdw>
                </a:effectLst>
              </a:rPr>
              <a:t>, and contextual understanding</a:t>
            </a:r>
            <a:r>
              <a:rPr lang="pl-PL" sz="2000" dirty="0">
                <a:solidFill>
                  <a:srgbClr val="002060"/>
                </a:solidFill>
                <a:effectLst>
                  <a:outerShdw blurRad="38100" dist="38100" dir="2700000" algn="tl">
                    <a:srgbClr val="000000">
                      <a:alpha val="43137"/>
                    </a:srgbClr>
                  </a:outerShdw>
                </a:effectLst>
              </a:rPr>
              <a:t> are necessary in legal actions.</a:t>
            </a:r>
          </a:p>
          <a:p>
            <a:pPr marL="342900" indent="-342900">
              <a:buFont typeface="Arial" panose="020B0604020202020204" pitchFamily="34" charset="0"/>
              <a:buChar char="•"/>
            </a:pPr>
            <a:r>
              <a:rPr lang="pl-PL" sz="2000" b="1" dirty="0">
                <a:solidFill>
                  <a:srgbClr val="FF0000"/>
                </a:solidFill>
                <a:effectLst>
                  <a:outerShdw blurRad="38100" dist="38100" dir="2700000" algn="tl">
                    <a:srgbClr val="000000">
                      <a:alpha val="43137"/>
                    </a:srgbClr>
                  </a:outerShdw>
                </a:effectLst>
              </a:rPr>
              <a:t>WH</a:t>
            </a:r>
            <a:r>
              <a:rPr lang="pl-PL" sz="2000" dirty="0">
                <a:solidFill>
                  <a:srgbClr val="002060"/>
                </a:solidFill>
                <a:effectLst>
                  <a:outerShdw blurRad="38100" dist="38100" dir="2700000" algn="tl">
                    <a:srgbClr val="000000">
                      <a:alpha val="43137"/>
                    </a:srgbClr>
                  </a:outerShdw>
                </a:effectLst>
              </a:rPr>
              <a:t>: However, as a matter of principle, businesses using AI should be held liable for the AI-generated documents, including for the lack of human oversight</a:t>
            </a:r>
          </a:p>
          <a:p>
            <a:endParaRPr lang="en-US" dirty="0"/>
          </a:p>
        </p:txBody>
      </p:sp>
    </p:spTree>
    <p:extLst>
      <p:ext uri="{BB962C8B-B14F-4D97-AF65-F5344CB8AC3E}">
        <p14:creationId xmlns:p14="http://schemas.microsoft.com/office/powerpoint/2010/main" val="195772659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F775159-CD24-B6A7-8299-D8DD0C36B5FC}"/>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Cartels in the media</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34D52D01-5C58-D90D-5ED9-8DBC4E6B72FF}"/>
              </a:ext>
            </a:extLst>
          </p:cNvPr>
          <p:cNvSpPr>
            <a:spLocks noGrp="1"/>
          </p:cNvSpPr>
          <p:nvPr>
            <p:ph idx="1"/>
          </p:nvPr>
        </p:nvSpPr>
        <p:spPr/>
        <p:txBody>
          <a:bodyPr>
            <a:normAutofit fontScale="92500" lnSpcReduction="20000"/>
          </a:bodyPr>
          <a:lstStyle/>
          <a:p>
            <a:pPr marL="342900" indent="-342900">
              <a:buFont typeface="Arial" panose="020B0604020202020204" pitchFamily="34" charset="0"/>
              <a:buChar char="•"/>
            </a:pPr>
            <a:r>
              <a:rPr lang="en-US" noProof="0" dirty="0">
                <a:solidFill>
                  <a:srgbClr val="002060"/>
                </a:solidFill>
                <a:effectLst>
                  <a:outerShdw blurRad="38100" dist="38100" dir="2700000" algn="tl">
                    <a:srgbClr val="000000">
                      <a:alpha val="43137"/>
                    </a:srgbClr>
                  </a:outerShdw>
                </a:effectLst>
              </a:rPr>
              <a:t>In the EU, media organizations participated in cartels primarily through the </a:t>
            </a:r>
            <a:r>
              <a:rPr lang="en-US" b="1" noProof="0" dirty="0">
                <a:solidFill>
                  <a:srgbClr val="FF0000"/>
                </a:solidFill>
                <a:effectLst>
                  <a:outerShdw blurRad="38100" dist="38100" dir="2700000" algn="tl">
                    <a:srgbClr val="000000">
                      <a:alpha val="43137"/>
                    </a:srgbClr>
                  </a:outerShdw>
                </a:effectLst>
              </a:rPr>
              <a:t>exchange of information</a:t>
            </a:r>
            <a:r>
              <a:rPr lang="en-US" noProof="0" dirty="0">
                <a:solidFill>
                  <a:srgbClr val="002060"/>
                </a:solidFill>
                <a:effectLst>
                  <a:outerShdw blurRad="38100" dist="38100" dir="2700000" algn="tl">
                    <a:srgbClr val="000000">
                      <a:alpha val="43137"/>
                    </a:srgbClr>
                  </a:outerShdw>
                </a:effectLst>
              </a:rPr>
              <a:t>.</a:t>
            </a:r>
          </a:p>
          <a:p>
            <a:pPr marL="342900" indent="-342900">
              <a:buFont typeface="Arial" panose="020B0604020202020204" pitchFamily="34" charset="0"/>
              <a:buChar char="•"/>
            </a:pPr>
            <a:r>
              <a:rPr lang="en-US" noProof="0" dirty="0">
                <a:solidFill>
                  <a:srgbClr val="002060"/>
                </a:solidFill>
                <a:effectLst>
                  <a:outerShdw blurRad="38100" dist="38100" dir="2700000" algn="tl">
                    <a:srgbClr val="000000">
                      <a:alpha val="43137"/>
                    </a:srgbClr>
                  </a:outerShdw>
                </a:effectLst>
              </a:rPr>
              <a:t>Several EU Commission decisions „focused on addressing competition concerns relating to </a:t>
            </a:r>
            <a:r>
              <a:rPr lang="en-US" b="1" noProof="0" dirty="0">
                <a:solidFill>
                  <a:srgbClr val="FF0000"/>
                </a:solidFill>
                <a:effectLst>
                  <a:outerShdw blurRad="38100" dist="38100" dir="2700000" algn="tl">
                    <a:srgbClr val="000000">
                      <a:alpha val="43137"/>
                    </a:srgbClr>
                  </a:outerShdw>
                </a:effectLst>
              </a:rPr>
              <a:t>collecting societies and joint selling of broadcasting rights for sports events</a:t>
            </a:r>
            <a:r>
              <a:rPr lang="en-US" noProof="0" dirty="0">
                <a:solidFill>
                  <a:srgbClr val="002060"/>
                </a:solidFill>
                <a:effectLst>
                  <a:outerShdw blurRad="38100" dist="38100" dir="2700000" algn="tl">
                    <a:srgbClr val="000000">
                      <a:alpha val="43137"/>
                    </a:srgbClr>
                  </a:outerShdw>
                </a:effectLst>
              </a:rPr>
              <a:t>, but it has also taken action in newly developed markets such as the E-books sector”.</a:t>
            </a:r>
          </a:p>
          <a:p>
            <a:pPr marL="342900" indent="-342900">
              <a:buFont typeface="Arial" panose="020B0604020202020204" pitchFamily="34" charset="0"/>
              <a:buChar char="•"/>
            </a:pPr>
            <a:r>
              <a:rPr lang="en-US" b="1" noProof="0" dirty="0">
                <a:solidFill>
                  <a:srgbClr val="002060"/>
                </a:solidFill>
                <a:effectLst>
                  <a:outerShdw blurRad="38100" dist="38100" dir="2700000" algn="tl">
                    <a:srgbClr val="000000">
                      <a:alpha val="43137"/>
                    </a:srgbClr>
                  </a:outerShdw>
                </a:effectLst>
              </a:rPr>
              <a:t>The Cannes Extension Agreement case concerned cooperation between </a:t>
            </a:r>
            <a:r>
              <a:rPr lang="en-US" b="1" noProof="0" dirty="0">
                <a:solidFill>
                  <a:srgbClr val="FF0000"/>
                </a:solidFill>
                <a:effectLst>
                  <a:outerShdw blurRad="38100" dist="38100" dir="2700000" algn="tl">
                    <a:srgbClr val="000000">
                      <a:alpha val="43137"/>
                    </a:srgbClr>
                  </a:outerShdw>
                </a:effectLst>
              </a:rPr>
              <a:t>collecting societies </a:t>
            </a:r>
            <a:r>
              <a:rPr lang="en-US" b="1" noProof="0" dirty="0">
                <a:solidFill>
                  <a:srgbClr val="002060"/>
                </a:solidFill>
                <a:effectLst>
                  <a:outerShdw blurRad="38100" dist="38100" dir="2700000" algn="tl">
                    <a:srgbClr val="000000">
                      <a:alpha val="43137"/>
                    </a:srgbClr>
                  </a:outerShdw>
                </a:effectLst>
              </a:rPr>
              <a:t>and the major </a:t>
            </a:r>
            <a:r>
              <a:rPr lang="en-US" b="1" noProof="0" dirty="0">
                <a:solidFill>
                  <a:srgbClr val="FF0000"/>
                </a:solidFill>
                <a:effectLst>
                  <a:outerShdw blurRad="38100" dist="38100" dir="2700000" algn="tl">
                    <a:srgbClr val="000000">
                      <a:alpha val="43137"/>
                    </a:srgbClr>
                  </a:outerShdw>
                </a:effectLst>
              </a:rPr>
              <a:t>music publishers </a:t>
            </a:r>
            <a:r>
              <a:rPr lang="en-US" b="1" noProof="0" dirty="0">
                <a:solidFill>
                  <a:srgbClr val="002060"/>
                </a:solidFill>
                <a:effectLst>
                  <a:outerShdw blurRad="38100" dist="38100" dir="2700000" algn="tl">
                    <a:srgbClr val="000000">
                      <a:alpha val="43137"/>
                    </a:srgbClr>
                  </a:outerShdw>
                </a:effectLst>
              </a:rPr>
              <a:t>on </a:t>
            </a:r>
            <a:r>
              <a:rPr lang="en-US" b="1" noProof="0" dirty="0">
                <a:solidFill>
                  <a:srgbClr val="FF0000"/>
                </a:solidFill>
                <a:effectLst>
                  <a:outerShdw blurRad="38100" dist="38100" dir="2700000" algn="tl">
                    <a:srgbClr val="000000">
                      <a:alpha val="43137"/>
                    </a:srgbClr>
                  </a:outerShdw>
                </a:effectLst>
              </a:rPr>
              <a:t>licensing conditions </a:t>
            </a:r>
            <a:r>
              <a:rPr lang="en-US" b="1" noProof="0" dirty="0">
                <a:solidFill>
                  <a:srgbClr val="002060"/>
                </a:solidFill>
                <a:effectLst>
                  <a:outerShdw blurRad="38100" dist="38100" dir="2700000" algn="tl">
                    <a:srgbClr val="000000">
                      <a:alpha val="43137"/>
                    </a:srgbClr>
                  </a:outerShdw>
                </a:effectLst>
              </a:rPr>
              <a:t>(pricing cartel)</a:t>
            </a:r>
            <a:r>
              <a:rPr lang="pl-PL" b="1" noProof="0" dirty="0">
                <a:solidFill>
                  <a:srgbClr val="002060"/>
                </a:solidFill>
                <a:effectLst>
                  <a:outerShdw blurRad="38100" dist="38100" dir="2700000" algn="tl">
                    <a:srgbClr val="000000">
                      <a:alpha val="43137"/>
                    </a:srgbClr>
                  </a:outerShdw>
                </a:effectLst>
              </a:rPr>
              <a:t> - </a:t>
            </a:r>
            <a:r>
              <a:rPr lang="pl-PL" dirty="0"/>
              <a:t> COMP/38.681/2006 </a:t>
            </a:r>
            <a:endParaRPr lang="en-US" b="1" noProof="0"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noProof="0" dirty="0">
                <a:solidFill>
                  <a:srgbClr val="002060"/>
                </a:solidFill>
                <a:effectLst>
                  <a:outerShdw blurRad="38100" dist="38100" dir="2700000" algn="tl">
                    <a:srgbClr val="000000">
                      <a:alpha val="43137"/>
                    </a:srgbClr>
                  </a:outerShdw>
                </a:effectLst>
              </a:rPr>
              <a:t>There were also cases of „joint selling of broadcasting rights. This is illustrated by the Bundesliga (2005) and Premier League (2006) cases.</a:t>
            </a:r>
            <a:endParaRPr lang="pl-PL" noProof="0"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noProof="0" dirty="0">
                <a:solidFill>
                  <a:srgbClr val="002060"/>
                </a:solidFill>
                <a:effectLst>
                  <a:outerShdw blurRad="38100" dist="38100" dir="2700000" algn="tl">
                    <a:srgbClr val="000000">
                      <a:alpha val="43137"/>
                    </a:srgbClr>
                  </a:outerShdw>
                </a:effectLst>
              </a:rPr>
              <a:t>In these cases, the Commission had concerns </a:t>
            </a:r>
            <a:r>
              <a:rPr lang="en-US" b="1" noProof="0" dirty="0">
                <a:solidFill>
                  <a:srgbClr val="002060"/>
                </a:solidFill>
                <a:effectLst>
                  <a:outerShdw blurRad="38100" dist="38100" dir="2700000" algn="tl">
                    <a:srgbClr val="000000">
                      <a:alpha val="43137"/>
                    </a:srgbClr>
                  </a:outerShdw>
                </a:effectLst>
              </a:rPr>
              <a:t>that the agreements to </a:t>
            </a:r>
            <a:r>
              <a:rPr lang="en-US" b="1" noProof="0" dirty="0">
                <a:solidFill>
                  <a:srgbClr val="FF0000"/>
                </a:solidFill>
                <a:effectLst>
                  <a:outerShdw blurRad="38100" dist="38100" dir="2700000" algn="tl">
                    <a:srgbClr val="000000">
                      <a:alpha val="43137"/>
                    </a:srgbClr>
                  </a:outerShdw>
                </a:effectLst>
              </a:rPr>
              <a:t>jointly sell the media rights for sports</a:t>
            </a:r>
            <a:r>
              <a:rPr lang="en-US" noProof="0" dirty="0">
                <a:solidFill>
                  <a:srgbClr val="FF0000"/>
                </a:solidFill>
                <a:effectLst>
                  <a:outerShdw blurRad="38100" dist="38100" dir="2700000" algn="tl">
                    <a:srgbClr val="000000">
                      <a:alpha val="43137"/>
                    </a:srgbClr>
                  </a:outerShdw>
                </a:effectLst>
              </a:rPr>
              <a:t> </a:t>
            </a:r>
            <a:r>
              <a:rPr lang="en-US" noProof="0" dirty="0">
                <a:solidFill>
                  <a:srgbClr val="002060"/>
                </a:solidFill>
                <a:effectLst>
                  <a:outerShdw blurRad="38100" dist="38100" dir="2700000" algn="tl">
                    <a:srgbClr val="000000">
                      <a:alpha val="43137"/>
                    </a:srgbClr>
                  </a:outerShdw>
                </a:effectLst>
              </a:rPr>
              <a:t>events entailed restrictions of competition which could not be outweighed by the efficiencies stemming from the agreements”.</a:t>
            </a:r>
          </a:p>
          <a:p>
            <a:pPr marL="342900" indent="-342900">
              <a:buFont typeface="Arial" panose="020B0604020202020204" pitchFamily="34" charset="0"/>
              <a:buChar char="•"/>
            </a:pPr>
            <a:r>
              <a:rPr lang="en-US" sz="1200" u="sng" noProof="0" dirty="0">
                <a:solidFill>
                  <a:srgbClr val="002060"/>
                </a:solidFill>
                <a:effectLst>
                  <a:outerShdw blurRad="38100" dist="38100" dir="2700000" algn="tl">
                    <a:srgbClr val="000000">
                      <a:alpha val="43137"/>
                    </a:srgbClr>
                  </a:outerShdw>
                </a:effectLst>
                <a:hlinkClick r:id="rId2">
                  <a:extLst>
                    <a:ext uri="{A12FA001-AC4F-418D-AE19-62706E023703}">
                      <ahyp:hlinkClr xmlns:ahyp="http://schemas.microsoft.com/office/drawing/2018/hyperlinkcolor" val="tx"/>
                    </a:ext>
                  </a:extLst>
                </a:hlinkClick>
              </a:rPr>
              <a:t>https://eur-lex.europa.eu/legal-content/EN/TXT/HTML/?uri=CELEX:52014SC0230&amp;from=HR</a:t>
            </a:r>
            <a:endParaRPr lang="en-US" sz="1200" noProof="0"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662021107"/>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first modern regulation of cartels</a:t>
            </a:r>
            <a:br>
              <a:rPr lang="pl-PL" dirty="0">
                <a:solidFill>
                  <a:srgbClr val="002060"/>
                </a:solidFill>
                <a:effectLst>
                  <a:outerShdw blurRad="38100" dist="38100" dir="2700000" algn="tl">
                    <a:srgbClr val="000000">
                      <a:alpha val="43137"/>
                    </a:srgbClr>
                  </a:outerShdw>
                </a:effectLst>
              </a:rPr>
            </a:br>
            <a:r>
              <a:rPr lang="en-US" altLang="pl-PL" sz="2400" b="1" dirty="0">
                <a:solidFill>
                  <a:srgbClr val="FF0000"/>
                </a:solidFill>
                <a:effectLst>
                  <a:outerShdw blurRad="38100" dist="38100" dir="2700000" algn="tl">
                    <a:srgbClr val="000000">
                      <a:alpha val="43137"/>
                    </a:srgbClr>
                  </a:outerShdw>
                </a:effectLst>
              </a:rPr>
              <a:t>The Sherman Antitrust Act (1890)</a:t>
            </a:r>
            <a:r>
              <a:rPr lang="pl-PL" sz="2400" dirty="0">
                <a:solidFill>
                  <a:srgbClr val="FF0000"/>
                </a:solidFill>
                <a:effectLst>
                  <a:outerShdw blurRad="38100" dist="38100" dir="2700000" algn="tl">
                    <a:srgbClr val="000000">
                      <a:alpha val="43137"/>
                    </a:srgbClr>
                  </a:outerShdw>
                </a:effectLst>
              </a:rPr>
              <a:t> </a:t>
            </a:r>
          </a:p>
        </p:txBody>
      </p:sp>
      <p:sp>
        <p:nvSpPr>
          <p:cNvPr id="3" name="Symbol zastępczy zawartości 2"/>
          <p:cNvSpPr>
            <a:spLocks noGrp="1"/>
          </p:cNvSpPr>
          <p:nvPr>
            <p:ph idx="1"/>
          </p:nvPr>
        </p:nvSpPr>
        <p:spPr/>
        <p:txBody>
          <a:bodyPr/>
          <a:lstStyle/>
          <a:p>
            <a:pPr marL="0" indent="0">
              <a:lnSpc>
                <a:spcPct val="80000"/>
              </a:lnSpc>
              <a:buNone/>
            </a:pPr>
            <a:r>
              <a:rPr lang="en-US" altLang="pl-PL" b="1" dirty="0"/>
              <a:t>Section 1. Trusts, etc., in restraint of trade illegal; penalty</a:t>
            </a:r>
            <a:endParaRPr lang="pl-PL" altLang="pl-PL" b="1" dirty="0"/>
          </a:p>
          <a:p>
            <a:pPr>
              <a:lnSpc>
                <a:spcPct val="80000"/>
              </a:lnSpc>
            </a:pPr>
            <a:r>
              <a:rPr lang="en-US" altLang="pl-PL" sz="2400" b="1" dirty="0">
                <a:solidFill>
                  <a:srgbClr val="002060"/>
                </a:solidFill>
                <a:effectLst>
                  <a:outerShdw blurRad="38100" dist="38100" dir="2700000" algn="tl">
                    <a:srgbClr val="000000">
                      <a:alpha val="43137"/>
                    </a:srgbClr>
                  </a:outerShdw>
                </a:effectLst>
              </a:rPr>
              <a:t>Every contract, combination</a:t>
            </a:r>
            <a:r>
              <a:rPr lang="en-US" altLang="pl-PL" sz="2400" dirty="0">
                <a:solidFill>
                  <a:srgbClr val="002060"/>
                </a:solidFill>
                <a:effectLst>
                  <a:outerShdw blurRad="38100" dist="38100" dir="2700000" algn="tl">
                    <a:srgbClr val="000000">
                      <a:alpha val="43137"/>
                    </a:srgbClr>
                  </a:outerShdw>
                </a:effectLst>
              </a:rPr>
              <a:t> in the form of trust or otherwise, </a:t>
            </a:r>
            <a:r>
              <a:rPr lang="en-US" altLang="pl-PL" sz="2400" b="1" dirty="0">
                <a:solidFill>
                  <a:srgbClr val="002060"/>
                </a:solidFill>
                <a:effectLst>
                  <a:outerShdw blurRad="38100" dist="38100" dir="2700000" algn="tl">
                    <a:srgbClr val="000000">
                      <a:alpha val="43137"/>
                    </a:srgbClr>
                  </a:outerShdw>
                </a:effectLst>
              </a:rPr>
              <a:t>or </a:t>
            </a:r>
            <a:r>
              <a:rPr lang="en-US" altLang="pl-PL" sz="2400" b="1" dirty="0">
                <a:solidFill>
                  <a:srgbClr val="00B0F0"/>
                </a:solidFill>
                <a:effectLst>
                  <a:outerShdw blurRad="38100" dist="38100" dir="2700000" algn="tl">
                    <a:srgbClr val="000000">
                      <a:alpha val="43137"/>
                    </a:srgbClr>
                  </a:outerShdw>
                </a:effectLst>
              </a:rPr>
              <a:t>conspiracy</a:t>
            </a:r>
            <a:r>
              <a:rPr lang="en-US" altLang="pl-PL" sz="2400" dirty="0"/>
              <a:t>, </a:t>
            </a:r>
            <a:r>
              <a:rPr lang="en-US" altLang="pl-PL" sz="2400" b="1" dirty="0">
                <a:solidFill>
                  <a:srgbClr val="FF0000"/>
                </a:solidFill>
                <a:effectLst>
                  <a:outerShdw blurRad="38100" dist="38100" dir="2700000" algn="tl">
                    <a:srgbClr val="000000">
                      <a:alpha val="43137"/>
                    </a:srgbClr>
                  </a:outerShdw>
                </a:effectLst>
              </a:rPr>
              <a:t>in restraint of trade or commerce </a:t>
            </a:r>
            <a:r>
              <a:rPr lang="en-US" altLang="pl-PL" sz="2400" dirty="0"/>
              <a:t>among the several States, or with foreign nations, is </a:t>
            </a:r>
            <a:r>
              <a:rPr lang="en-US" altLang="pl-PL" sz="2400" b="1" dirty="0">
                <a:solidFill>
                  <a:srgbClr val="00B0F0"/>
                </a:solidFill>
                <a:effectLst>
                  <a:outerShdw blurRad="38100" dist="38100" dir="2700000" algn="tl">
                    <a:srgbClr val="000000">
                      <a:alpha val="43137"/>
                    </a:srgbClr>
                  </a:outerShdw>
                </a:effectLst>
              </a:rPr>
              <a:t>declared to be illegal</a:t>
            </a:r>
            <a:r>
              <a:rPr lang="en-US" altLang="pl-PL" sz="2400" dirty="0"/>
              <a:t>. </a:t>
            </a:r>
            <a:endParaRPr lang="pl-PL" altLang="pl-PL" sz="2400" dirty="0"/>
          </a:p>
          <a:p>
            <a:pPr>
              <a:lnSpc>
                <a:spcPct val="80000"/>
              </a:lnSpc>
            </a:pPr>
            <a:r>
              <a:rPr lang="en-US" altLang="pl-PL" sz="2400" dirty="0"/>
              <a:t>Every person who shall make any contract or engage in any combination or conspiracy hereby declared to be illegal shall be deemed </a:t>
            </a:r>
            <a:r>
              <a:rPr lang="en-US" altLang="pl-PL" sz="2400" b="1" dirty="0"/>
              <a:t>guilty of a felony</a:t>
            </a:r>
            <a:r>
              <a:rPr lang="en-US" altLang="pl-PL" sz="2400" dirty="0"/>
              <a:t>, and, on conviction thereof, shall be punished by </a:t>
            </a:r>
            <a:r>
              <a:rPr lang="en-US" altLang="pl-PL" sz="2400" b="1" dirty="0"/>
              <a:t>fine not exceeding $10,000,000 </a:t>
            </a:r>
            <a:r>
              <a:rPr lang="en-US" altLang="pl-PL" sz="2400" dirty="0"/>
              <a:t>if a corporation, or, if any other person, </a:t>
            </a:r>
            <a:r>
              <a:rPr lang="en-US" altLang="pl-PL" sz="2400" b="1" dirty="0"/>
              <a:t>$350,000</a:t>
            </a:r>
            <a:r>
              <a:rPr lang="en-US" altLang="pl-PL" sz="2400" dirty="0"/>
              <a:t>, or by </a:t>
            </a:r>
            <a:r>
              <a:rPr lang="en-US" altLang="pl-PL" sz="2400" b="1" dirty="0">
                <a:solidFill>
                  <a:srgbClr val="FF0000"/>
                </a:solidFill>
                <a:effectLst>
                  <a:outerShdw blurRad="38100" dist="38100" dir="2700000" algn="tl">
                    <a:srgbClr val="000000">
                      <a:alpha val="43137"/>
                    </a:srgbClr>
                  </a:outerShdw>
                </a:effectLst>
              </a:rPr>
              <a:t>imprisonment</a:t>
            </a:r>
            <a:r>
              <a:rPr lang="en-US" altLang="pl-PL" sz="2400" dirty="0"/>
              <a:t> not exceeding three years, </a:t>
            </a:r>
            <a:r>
              <a:rPr lang="en-US" altLang="pl-PL" sz="2400" b="1" dirty="0">
                <a:solidFill>
                  <a:srgbClr val="FF0000"/>
                </a:solidFill>
                <a:effectLst>
                  <a:outerShdw blurRad="38100" dist="38100" dir="2700000" algn="tl">
                    <a:srgbClr val="000000">
                      <a:alpha val="43137"/>
                    </a:srgbClr>
                  </a:outerShdw>
                </a:effectLst>
              </a:rPr>
              <a:t>or by both said </a:t>
            </a:r>
            <a:r>
              <a:rPr lang="en-US" altLang="pl-PL" sz="2400" dirty="0"/>
              <a:t>punishments, in the discretion of the court</a:t>
            </a: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7</a:t>
            </a:fld>
            <a:endParaRPr lang="pl-PL" dirty="0"/>
          </a:p>
        </p:txBody>
      </p:sp>
    </p:spTree>
    <p:extLst>
      <p:ext uri="{BB962C8B-B14F-4D97-AF65-F5344CB8AC3E}">
        <p14:creationId xmlns:p14="http://schemas.microsoft.com/office/powerpoint/2010/main" val="219036941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r>
              <a:rPr lang="en-US" dirty="0">
                <a:solidFill>
                  <a:srgbClr val="002060"/>
                </a:solidFill>
                <a:effectLst>
                  <a:outerShdw blurRad="38100" dist="38100" dir="2700000" algn="tl">
                    <a:srgbClr val="000000">
                      <a:alpha val="43137"/>
                    </a:srgbClr>
                  </a:outerShdw>
                </a:effectLst>
              </a:rPr>
              <a:t>Art. </a:t>
            </a:r>
            <a:r>
              <a:rPr lang="pl-PL" dirty="0">
                <a:solidFill>
                  <a:srgbClr val="002060"/>
                </a:solidFill>
                <a:effectLst>
                  <a:outerShdw blurRad="38100" dist="38100" dir="2700000" algn="tl">
                    <a:srgbClr val="000000">
                      <a:alpha val="43137"/>
                    </a:srgbClr>
                  </a:outerShdw>
                </a:effectLst>
              </a:rPr>
              <a:t>101.1. TfUE:</a:t>
            </a:r>
            <a:br>
              <a:rPr lang="pl-PL" dirty="0">
                <a:solidFill>
                  <a:srgbClr val="002060"/>
                </a:solidFill>
                <a:effectLst>
                  <a:outerShdw blurRad="38100" dist="38100" dir="2700000" algn="tl">
                    <a:srgbClr val="000000">
                      <a:alpha val="43137"/>
                    </a:srgbClr>
                  </a:outerShdw>
                </a:effectLst>
              </a:rPr>
            </a:br>
            <a:r>
              <a:rPr lang="pl-PL" dirty="0">
                <a:solidFill>
                  <a:srgbClr val="002060"/>
                </a:solidFill>
                <a:effectLst>
                  <a:outerShdw blurRad="38100" dist="38100" dir="2700000" algn="tl">
                    <a:srgbClr val="000000">
                      <a:alpha val="43137"/>
                    </a:srgbClr>
                  </a:outerShdw>
                </a:effectLst>
              </a:rPr>
              <a:t>Treaty on the functioning of the European Union</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p:cNvSpPr>
            <a:spLocks noGrp="1"/>
          </p:cNvSpPr>
          <p:nvPr>
            <p:ph idx="1"/>
          </p:nvPr>
        </p:nvSpPr>
        <p:spPr/>
        <p:txBody>
          <a:bodyPr>
            <a:normAutofit/>
          </a:bodyPr>
          <a:lstStyle/>
          <a:p>
            <a:pPr marL="0" indent="0">
              <a:buNone/>
            </a:pPr>
            <a:r>
              <a:rPr lang="en-US" sz="2800" dirty="0">
                <a:solidFill>
                  <a:srgbClr val="002060"/>
                </a:solidFill>
                <a:effectLst>
                  <a:outerShdw blurRad="38100" dist="38100" dir="2700000" algn="tl">
                    <a:srgbClr val="000000">
                      <a:alpha val="43137"/>
                    </a:srgbClr>
                  </a:outerShdw>
                </a:effectLst>
                <a:latin typeface="+mn-lt"/>
              </a:rPr>
              <a:t>The following shall be prohibited </a:t>
            </a:r>
            <a:r>
              <a:rPr lang="pl-PL" sz="2800" dirty="0">
                <a:solidFill>
                  <a:srgbClr val="002060"/>
                </a:solidFill>
                <a:effectLst>
                  <a:outerShdw blurRad="38100" dist="38100" dir="2700000" algn="tl">
                    <a:srgbClr val="000000">
                      <a:alpha val="43137"/>
                    </a:srgbClr>
                  </a:outerShdw>
                </a:effectLst>
                <a:latin typeface="+mn-lt"/>
              </a:rPr>
              <a:t>(…)</a:t>
            </a:r>
            <a:r>
              <a:rPr lang="en-US" sz="2800" b="1" dirty="0">
                <a:solidFill>
                  <a:srgbClr val="002060"/>
                </a:solidFill>
                <a:effectLst>
                  <a:outerShdw blurRad="38100" dist="38100" dir="2700000" algn="tl">
                    <a:srgbClr val="000000">
                      <a:alpha val="43137"/>
                    </a:srgbClr>
                  </a:outerShdw>
                </a:effectLst>
                <a:latin typeface="+mn-lt"/>
              </a:rPr>
              <a:t>:</a:t>
            </a:r>
            <a:endParaRPr lang="pl-PL" sz="2800" b="1" dirty="0">
              <a:solidFill>
                <a:srgbClr val="002060"/>
              </a:solidFill>
              <a:effectLst>
                <a:outerShdw blurRad="38100" dist="38100" dir="2700000" algn="tl">
                  <a:srgbClr val="000000">
                    <a:alpha val="43137"/>
                  </a:srgbClr>
                </a:outerShdw>
              </a:effectLst>
              <a:latin typeface="+mn-lt"/>
            </a:endParaRPr>
          </a:p>
          <a:p>
            <a:pPr marL="0" indent="0">
              <a:buNone/>
            </a:pPr>
            <a:r>
              <a:rPr lang="en-US" sz="2800" dirty="0">
                <a:solidFill>
                  <a:srgbClr val="002060"/>
                </a:solidFill>
                <a:effectLst>
                  <a:outerShdw blurRad="38100" dist="38100" dir="2700000" algn="tl">
                    <a:srgbClr val="000000">
                      <a:alpha val="43137"/>
                    </a:srgbClr>
                  </a:outerShdw>
                </a:effectLst>
                <a:latin typeface="+mn-lt"/>
              </a:rPr>
              <a:t> </a:t>
            </a:r>
            <a:r>
              <a:rPr lang="pl-PL" sz="2800" dirty="0">
                <a:solidFill>
                  <a:srgbClr val="002060"/>
                </a:solidFill>
                <a:effectLst>
                  <a:outerShdw blurRad="38100" dist="38100" dir="2700000" algn="tl">
                    <a:srgbClr val="000000">
                      <a:alpha val="43137"/>
                    </a:srgbClr>
                  </a:outerShdw>
                </a:effectLst>
                <a:latin typeface="+mn-lt"/>
              </a:rPr>
              <a:t>All</a:t>
            </a:r>
            <a:r>
              <a:rPr lang="en-US" sz="2800" dirty="0">
                <a:solidFill>
                  <a:srgbClr val="002060"/>
                </a:solidFill>
                <a:effectLst>
                  <a:outerShdw blurRad="38100" dist="38100" dir="2700000" algn="tl">
                    <a:srgbClr val="000000">
                      <a:alpha val="43137"/>
                    </a:srgbClr>
                  </a:outerShdw>
                </a:effectLst>
                <a:latin typeface="+mn-lt"/>
              </a:rPr>
              <a:t> </a:t>
            </a:r>
            <a:r>
              <a:rPr lang="en-US" sz="2800" b="1" dirty="0">
                <a:solidFill>
                  <a:srgbClr val="002060"/>
                </a:solidFill>
                <a:effectLst>
                  <a:outerShdw blurRad="38100" dist="38100" dir="2700000" algn="tl">
                    <a:srgbClr val="000000">
                      <a:alpha val="43137"/>
                    </a:srgbClr>
                  </a:outerShdw>
                </a:effectLst>
                <a:latin typeface="+mn-lt"/>
              </a:rPr>
              <a:t>agreements</a:t>
            </a:r>
            <a:r>
              <a:rPr lang="en-US" sz="2800" dirty="0">
                <a:solidFill>
                  <a:srgbClr val="002060"/>
                </a:solidFill>
                <a:effectLst>
                  <a:outerShdw blurRad="38100" dist="38100" dir="2700000" algn="tl">
                    <a:srgbClr val="000000">
                      <a:alpha val="43137"/>
                    </a:srgbClr>
                  </a:outerShdw>
                </a:effectLst>
                <a:latin typeface="+mn-lt"/>
              </a:rPr>
              <a:t> between undertakings, </a:t>
            </a:r>
            <a:r>
              <a:rPr lang="en-US" sz="2800" b="1" dirty="0">
                <a:solidFill>
                  <a:srgbClr val="002060"/>
                </a:solidFill>
                <a:effectLst>
                  <a:outerShdw blurRad="38100" dist="38100" dir="2700000" algn="tl">
                    <a:srgbClr val="000000">
                      <a:alpha val="43137"/>
                    </a:srgbClr>
                  </a:outerShdw>
                </a:effectLst>
                <a:latin typeface="+mn-lt"/>
              </a:rPr>
              <a:t>decisions</a:t>
            </a:r>
            <a:r>
              <a:rPr lang="en-US" sz="2800" dirty="0">
                <a:solidFill>
                  <a:srgbClr val="002060"/>
                </a:solidFill>
                <a:effectLst>
                  <a:outerShdw blurRad="38100" dist="38100" dir="2700000" algn="tl">
                    <a:srgbClr val="000000">
                      <a:alpha val="43137"/>
                    </a:srgbClr>
                  </a:outerShdw>
                </a:effectLst>
                <a:latin typeface="+mn-lt"/>
              </a:rPr>
              <a:t> by associations of undertakings and </a:t>
            </a:r>
            <a:r>
              <a:rPr lang="en-US" sz="2800" b="1" dirty="0">
                <a:solidFill>
                  <a:srgbClr val="002060"/>
                </a:solidFill>
                <a:effectLst>
                  <a:outerShdw blurRad="38100" dist="38100" dir="2700000" algn="tl">
                    <a:srgbClr val="000000">
                      <a:alpha val="43137"/>
                    </a:srgbClr>
                  </a:outerShdw>
                </a:effectLst>
                <a:latin typeface="+mn-lt"/>
              </a:rPr>
              <a:t>concerted practices </a:t>
            </a:r>
            <a:r>
              <a:rPr lang="en-US" sz="2800" dirty="0">
                <a:solidFill>
                  <a:srgbClr val="002060"/>
                </a:solidFill>
                <a:effectLst>
                  <a:outerShdw blurRad="38100" dist="38100" dir="2700000" algn="tl">
                    <a:srgbClr val="000000">
                      <a:alpha val="43137"/>
                    </a:srgbClr>
                  </a:outerShdw>
                </a:effectLst>
                <a:latin typeface="+mn-lt"/>
              </a:rPr>
              <a:t>which may </a:t>
            </a:r>
            <a:r>
              <a:rPr lang="en-US" sz="2800" b="1" dirty="0">
                <a:solidFill>
                  <a:srgbClr val="002060"/>
                </a:solidFill>
                <a:effectLst>
                  <a:outerShdw blurRad="38100" dist="38100" dir="2700000" algn="tl">
                    <a:srgbClr val="000000">
                      <a:alpha val="43137"/>
                    </a:srgbClr>
                  </a:outerShdw>
                </a:effectLst>
                <a:latin typeface="+mn-lt"/>
              </a:rPr>
              <a:t>affect trade</a:t>
            </a:r>
            <a:r>
              <a:rPr lang="en-US" sz="2800" dirty="0">
                <a:solidFill>
                  <a:srgbClr val="002060"/>
                </a:solidFill>
                <a:effectLst>
                  <a:outerShdw blurRad="38100" dist="38100" dir="2700000" algn="tl">
                    <a:srgbClr val="000000">
                      <a:alpha val="43137"/>
                    </a:srgbClr>
                  </a:outerShdw>
                </a:effectLst>
                <a:latin typeface="+mn-lt"/>
              </a:rPr>
              <a:t> between Member States</a:t>
            </a:r>
            <a:r>
              <a:rPr lang="pl-PL" sz="2800" dirty="0">
                <a:solidFill>
                  <a:srgbClr val="002060"/>
                </a:solidFill>
                <a:effectLst>
                  <a:outerShdw blurRad="38100" dist="38100" dir="2700000" algn="tl">
                    <a:srgbClr val="000000">
                      <a:alpha val="43137"/>
                    </a:srgbClr>
                  </a:outerShdw>
                </a:effectLst>
                <a:latin typeface="+mn-lt"/>
              </a:rPr>
              <a:t> [</a:t>
            </a:r>
            <a:r>
              <a:rPr lang="pl-PL" sz="2800" b="1" dirty="0">
                <a:solidFill>
                  <a:srgbClr val="002060"/>
                </a:solidFill>
                <a:effectLst>
                  <a:outerShdw blurRad="38100" dist="38100" dir="2700000" algn="tl">
                    <a:srgbClr val="000000">
                      <a:alpha val="43137"/>
                    </a:srgbClr>
                  </a:outerShdw>
                </a:effectLst>
                <a:latin typeface="+mn-lt"/>
              </a:rPr>
              <a:t>or within a state under national law</a:t>
            </a:r>
            <a:r>
              <a:rPr lang="pl-PL" sz="2800" dirty="0">
                <a:solidFill>
                  <a:srgbClr val="002060"/>
                </a:solidFill>
                <a:effectLst>
                  <a:outerShdw blurRad="38100" dist="38100" dir="2700000" algn="tl">
                    <a:srgbClr val="000000">
                      <a:alpha val="43137"/>
                    </a:srgbClr>
                  </a:outerShdw>
                </a:effectLst>
                <a:latin typeface="+mn-lt"/>
              </a:rPr>
              <a:t>]</a:t>
            </a:r>
            <a:r>
              <a:rPr lang="en-US" sz="2800" dirty="0">
                <a:solidFill>
                  <a:srgbClr val="002060"/>
                </a:solidFill>
                <a:effectLst>
                  <a:outerShdw blurRad="38100" dist="38100" dir="2700000" algn="tl">
                    <a:srgbClr val="000000">
                      <a:alpha val="43137"/>
                    </a:srgbClr>
                  </a:outerShdw>
                </a:effectLst>
                <a:latin typeface="+mn-lt"/>
              </a:rPr>
              <a:t> and which have as their </a:t>
            </a:r>
            <a:r>
              <a:rPr lang="en-US" sz="2800" b="1" dirty="0">
                <a:solidFill>
                  <a:srgbClr val="FF0000"/>
                </a:solidFill>
                <a:effectLst>
                  <a:outerShdw blurRad="38100" dist="38100" dir="2700000" algn="tl">
                    <a:srgbClr val="000000">
                      <a:alpha val="43137"/>
                    </a:srgbClr>
                  </a:outerShdw>
                </a:effectLst>
                <a:latin typeface="+mn-lt"/>
              </a:rPr>
              <a:t>object</a:t>
            </a:r>
            <a:r>
              <a:rPr lang="en-US" sz="2800" b="1" dirty="0">
                <a:solidFill>
                  <a:srgbClr val="002060"/>
                </a:solidFill>
                <a:effectLst>
                  <a:outerShdw blurRad="38100" dist="38100" dir="2700000" algn="tl">
                    <a:srgbClr val="000000">
                      <a:alpha val="43137"/>
                    </a:srgbClr>
                  </a:outerShdw>
                </a:effectLst>
                <a:latin typeface="+mn-lt"/>
              </a:rPr>
              <a:t> or </a:t>
            </a:r>
            <a:r>
              <a:rPr lang="en-US" sz="2800" b="1" dirty="0">
                <a:solidFill>
                  <a:srgbClr val="FF0000"/>
                </a:solidFill>
                <a:effectLst>
                  <a:outerShdw blurRad="38100" dist="38100" dir="2700000" algn="tl">
                    <a:srgbClr val="000000">
                      <a:alpha val="43137"/>
                    </a:srgbClr>
                  </a:outerShdw>
                </a:effectLst>
                <a:latin typeface="+mn-lt"/>
              </a:rPr>
              <a:t>effect</a:t>
            </a:r>
            <a:r>
              <a:rPr lang="en-US" sz="2800" dirty="0">
                <a:solidFill>
                  <a:srgbClr val="002060"/>
                </a:solidFill>
                <a:effectLst>
                  <a:outerShdw blurRad="38100" dist="38100" dir="2700000" algn="tl">
                    <a:srgbClr val="000000">
                      <a:alpha val="43137"/>
                    </a:srgbClr>
                  </a:outerShdw>
                </a:effectLst>
                <a:latin typeface="+mn-lt"/>
              </a:rPr>
              <a:t> the </a:t>
            </a:r>
            <a:r>
              <a:rPr lang="en-US" sz="2800" b="1" dirty="0">
                <a:solidFill>
                  <a:srgbClr val="FF0000"/>
                </a:solidFill>
                <a:effectLst>
                  <a:outerShdw blurRad="38100" dist="38100" dir="2700000" algn="tl">
                    <a:srgbClr val="000000">
                      <a:alpha val="43137"/>
                    </a:srgbClr>
                  </a:outerShdw>
                </a:effectLst>
                <a:latin typeface="+mn-lt"/>
              </a:rPr>
              <a:t>prevention, restriction or distortion of competition </a:t>
            </a:r>
            <a:r>
              <a:rPr lang="pl-PL" sz="2800" dirty="0">
                <a:solidFill>
                  <a:srgbClr val="002060"/>
                </a:solidFill>
                <a:effectLst>
                  <a:outerShdw blurRad="38100" dist="38100" dir="2700000" algn="tl">
                    <a:srgbClr val="000000">
                      <a:alpha val="43137"/>
                    </a:srgbClr>
                  </a:outerShdw>
                </a:effectLst>
                <a:latin typeface="+mn-lt"/>
              </a:rPr>
              <a:t>[</a:t>
            </a:r>
            <a:r>
              <a:rPr lang="pl-PL" sz="2800" b="1" dirty="0">
                <a:solidFill>
                  <a:srgbClr val="FF0000"/>
                </a:solidFill>
                <a:effectLst>
                  <a:outerShdw blurRad="38100" dist="38100" dir="2700000" algn="tl">
                    <a:srgbClr val="000000">
                      <a:alpha val="43137"/>
                    </a:srgbClr>
                  </a:outerShdw>
                </a:effectLst>
                <a:latin typeface="+mn-lt"/>
              </a:rPr>
              <a:t>risk removal</a:t>
            </a:r>
            <a:r>
              <a:rPr lang="pl-PL" sz="2800" dirty="0">
                <a:solidFill>
                  <a:srgbClr val="002060"/>
                </a:solidFill>
                <a:effectLst>
                  <a:outerShdw blurRad="38100" dist="38100" dir="2700000" algn="tl">
                    <a:srgbClr val="000000">
                      <a:alpha val="43137"/>
                    </a:srgbClr>
                  </a:outerShdw>
                </a:effectLst>
                <a:latin typeface="+mn-lt"/>
              </a:rPr>
              <a:t>]</a:t>
            </a:r>
            <a:r>
              <a:rPr lang="en-US" sz="2800" dirty="0">
                <a:solidFill>
                  <a:srgbClr val="002060"/>
                </a:solidFill>
                <a:effectLst>
                  <a:outerShdw blurRad="38100" dist="38100" dir="2700000" algn="tl">
                    <a:srgbClr val="000000">
                      <a:alpha val="43137"/>
                    </a:srgbClr>
                  </a:outerShdw>
                </a:effectLst>
                <a:latin typeface="+mn-lt"/>
              </a:rPr>
              <a:t>within the common market, and </a:t>
            </a:r>
            <a:r>
              <a:rPr lang="en-US" sz="2800" b="1" dirty="0">
                <a:solidFill>
                  <a:srgbClr val="002060"/>
                </a:solidFill>
                <a:effectLst>
                  <a:outerShdw blurRad="38100" dist="38100" dir="2700000" algn="tl">
                    <a:srgbClr val="000000">
                      <a:alpha val="43137"/>
                    </a:srgbClr>
                  </a:outerShdw>
                </a:effectLst>
                <a:latin typeface="+mn-lt"/>
              </a:rPr>
              <a:t>in particular</a:t>
            </a:r>
            <a:r>
              <a:rPr lang="en-US" sz="2800" dirty="0">
                <a:solidFill>
                  <a:srgbClr val="002060"/>
                </a:solidFill>
                <a:effectLst>
                  <a:outerShdw blurRad="38100" dist="38100" dir="2700000" algn="tl">
                    <a:srgbClr val="000000">
                      <a:alpha val="43137"/>
                    </a:srgbClr>
                  </a:outerShdw>
                </a:effectLst>
                <a:latin typeface="+mn-lt"/>
              </a:rPr>
              <a:t> those which:</a:t>
            </a:r>
            <a:endParaRPr lang="pl-PL" sz="2800" dirty="0">
              <a:solidFill>
                <a:srgbClr val="002060"/>
              </a:solidFill>
              <a:effectLst>
                <a:outerShdw blurRad="38100" dist="38100" dir="2700000" algn="tl">
                  <a:srgbClr val="000000">
                    <a:alpha val="43137"/>
                  </a:srgbClr>
                </a:outerShdw>
              </a:effectLst>
              <a:latin typeface="+mn-lt"/>
            </a:endParaRPr>
          </a:p>
          <a:p>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8</a:t>
            </a:fld>
            <a:endParaRPr lang="pl-PL"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Examples  </a:t>
            </a:r>
            <a:br>
              <a:rPr lang="pl-PL" dirty="0">
                <a:solidFill>
                  <a:srgbClr val="002060"/>
                </a:solidFill>
                <a:effectLst>
                  <a:outerShdw blurRad="38100" dist="38100" dir="2700000" algn="tl">
                    <a:srgbClr val="000000">
                      <a:alpha val="43137"/>
                    </a:srgbClr>
                  </a:outerShdw>
                </a:effectLst>
              </a:rPr>
            </a:br>
            <a:r>
              <a:rPr lang="en-US" sz="2800" dirty="0">
                <a:solidFill>
                  <a:srgbClr val="002060"/>
                </a:solidFill>
                <a:effectLst>
                  <a:outerShdw blurRad="38100" dist="38100" dir="2700000" algn="tl">
                    <a:srgbClr val="000000">
                      <a:alpha val="43137"/>
                    </a:srgbClr>
                  </a:outerShdw>
                </a:effectLst>
              </a:rPr>
              <a:t>Art.</a:t>
            </a:r>
            <a:r>
              <a:rPr lang="pl-PL" sz="2800" dirty="0">
                <a:solidFill>
                  <a:srgbClr val="002060"/>
                </a:solidFill>
                <a:effectLst>
                  <a:outerShdw blurRad="38100" dist="38100" dir="2700000" algn="tl">
                    <a:srgbClr val="000000">
                      <a:alpha val="43137"/>
                    </a:srgbClr>
                  </a:outerShdw>
                </a:effectLst>
              </a:rPr>
              <a:t>10</a:t>
            </a:r>
            <a:r>
              <a:rPr lang="en-US" sz="2800" dirty="0">
                <a:solidFill>
                  <a:srgbClr val="002060"/>
                </a:solidFill>
                <a:effectLst>
                  <a:outerShdw blurRad="38100" dist="38100" dir="2700000" algn="tl">
                    <a:srgbClr val="000000">
                      <a:alpha val="43137"/>
                    </a:srgbClr>
                  </a:outerShdw>
                </a:effectLst>
              </a:rPr>
              <a:t>1</a:t>
            </a:r>
            <a:r>
              <a:rPr lang="pl-PL" sz="2800" dirty="0">
                <a:solidFill>
                  <a:srgbClr val="002060"/>
                </a:solidFill>
                <a:effectLst>
                  <a:outerShdw blurRad="38100" dist="38100" dir="2700000" algn="tl">
                    <a:srgbClr val="000000">
                      <a:alpha val="43137"/>
                    </a:srgbClr>
                  </a:outerShdw>
                </a:effectLst>
              </a:rPr>
              <a:t> TFUE</a:t>
            </a:r>
            <a:endParaRPr lang="en-US" sz="2800" dirty="0">
              <a:solidFill>
                <a:srgbClr val="002060"/>
              </a:solidFill>
              <a:effectLst>
                <a:outerShdw blurRad="38100" dist="38100" dir="2700000" algn="tl">
                  <a:srgbClr val="000000">
                    <a:alpha val="43137"/>
                  </a:srgbClr>
                </a:outerShdw>
              </a:effectLst>
            </a:endParaRPr>
          </a:p>
        </p:txBody>
      </p:sp>
      <p:sp>
        <p:nvSpPr>
          <p:cNvPr id="3" name="Symbol zastępczy zawartości 2"/>
          <p:cNvSpPr>
            <a:spLocks noGrp="1"/>
          </p:cNvSpPr>
          <p:nvPr>
            <p:ph idx="1"/>
          </p:nvPr>
        </p:nvSpPr>
        <p:spPr/>
        <p:txBody>
          <a:bodyPr>
            <a:normAutofit/>
          </a:bodyPr>
          <a:lstStyle/>
          <a:p>
            <a:pPr>
              <a:buNone/>
            </a:pPr>
            <a:r>
              <a:rPr lang="pl-PL" dirty="0">
                <a:solidFill>
                  <a:srgbClr val="FF0000"/>
                </a:solidFill>
                <a:effectLst>
                  <a:outerShdw blurRad="38100" dist="38100" dir="2700000" algn="tl">
                    <a:srgbClr val="000000">
                      <a:alpha val="43137"/>
                    </a:srgbClr>
                  </a:outerShdw>
                </a:effectLst>
                <a:latin typeface="Arial Black" panose="020B0A04020102020204" pitchFamily="34" charset="0"/>
              </a:rPr>
              <a:t>EXAMPLES of cartels by their subject</a:t>
            </a:r>
            <a:r>
              <a:rPr lang="pl-PL" dirty="0">
                <a:effectLst>
                  <a:outerShdw blurRad="38100" dist="38100" dir="2700000" algn="tl">
                    <a:srgbClr val="000000">
                      <a:alpha val="43137"/>
                    </a:srgbClr>
                  </a:outerShdw>
                </a:effectLst>
              </a:rPr>
              <a:t>:</a:t>
            </a:r>
          </a:p>
          <a:p>
            <a:pPr marL="0" indent="0">
              <a:buNone/>
            </a:pPr>
            <a:r>
              <a:rPr lang="pl-PL" sz="3600" b="1" dirty="0">
                <a:solidFill>
                  <a:srgbClr val="002060"/>
                </a:solidFill>
                <a:effectLst>
                  <a:outerShdw blurRad="38100" dist="38100" dir="2700000" algn="tl">
                    <a:srgbClr val="000000">
                      <a:alpha val="43137"/>
                    </a:srgbClr>
                  </a:outerShdw>
                </a:effectLst>
              </a:rPr>
              <a:t>(a)    </a:t>
            </a:r>
            <a:r>
              <a:rPr lang="en-US" sz="3600" b="1" dirty="0">
                <a:solidFill>
                  <a:srgbClr val="002060"/>
                </a:solidFill>
                <a:effectLst>
                  <a:outerShdw blurRad="38100" dist="38100" dir="2700000" algn="tl">
                    <a:srgbClr val="000000">
                      <a:alpha val="43137"/>
                    </a:srgbClr>
                  </a:outerShdw>
                </a:effectLst>
              </a:rPr>
              <a:t>directly or indirectly </a:t>
            </a:r>
            <a:r>
              <a:rPr lang="en-US" sz="3600" b="1" dirty="0">
                <a:solidFill>
                  <a:srgbClr val="FF0000"/>
                </a:solidFill>
                <a:effectLst>
                  <a:outerShdw blurRad="38100" dist="38100" dir="2700000" algn="tl">
                    <a:srgbClr val="000000">
                      <a:alpha val="43137"/>
                    </a:srgbClr>
                  </a:outerShdw>
                </a:effectLst>
              </a:rPr>
              <a:t>fix purchase or selling prices </a:t>
            </a:r>
            <a:r>
              <a:rPr lang="en-US" sz="3600" b="1" dirty="0">
                <a:solidFill>
                  <a:srgbClr val="002060"/>
                </a:solidFill>
                <a:effectLst>
                  <a:outerShdw blurRad="38100" dist="38100" dir="2700000" algn="tl">
                    <a:srgbClr val="000000">
                      <a:alpha val="43137"/>
                    </a:srgbClr>
                  </a:outerShdw>
                </a:effectLst>
              </a:rPr>
              <a:t>or any </a:t>
            </a:r>
            <a:r>
              <a:rPr lang="en-US" sz="3600" b="1" dirty="0">
                <a:solidFill>
                  <a:srgbClr val="FF0000"/>
                </a:solidFill>
                <a:effectLst>
                  <a:outerShdw blurRad="38100" dist="38100" dir="2700000" algn="tl">
                    <a:srgbClr val="000000">
                      <a:alpha val="43137"/>
                    </a:srgbClr>
                  </a:outerShdw>
                </a:effectLst>
              </a:rPr>
              <a:t>other trading conditions</a:t>
            </a:r>
            <a:r>
              <a:rPr lang="en-US" sz="3600" b="1" dirty="0">
                <a:solidFill>
                  <a:srgbClr val="002060"/>
                </a:solidFill>
                <a:effectLst>
                  <a:outerShdw blurRad="38100" dist="38100" dir="2700000" algn="tl">
                    <a:srgbClr val="000000">
                      <a:alpha val="43137"/>
                    </a:srgbClr>
                  </a:outerShdw>
                </a:effectLst>
              </a:rPr>
              <a:t>;</a:t>
            </a:r>
            <a:endParaRPr lang="pl-PL" sz="3600" b="1" dirty="0">
              <a:solidFill>
                <a:srgbClr val="002060"/>
              </a:solidFill>
              <a:effectLst>
                <a:outerShdw blurRad="38100" dist="38100" dir="2700000" algn="tl">
                  <a:srgbClr val="000000">
                    <a:alpha val="43137"/>
                  </a:srgbClr>
                </a:outerShdw>
              </a:effectLst>
            </a:endParaRPr>
          </a:p>
          <a:p>
            <a:pPr marL="0" indent="0">
              <a:buNone/>
            </a:pPr>
            <a:r>
              <a:rPr lang="pl-PL" b="1" dirty="0">
                <a:solidFill>
                  <a:srgbClr val="0070C0"/>
                </a:solidFill>
                <a:effectLst>
                  <a:outerShdw blurRad="38100" dist="38100" dir="2700000" algn="tl">
                    <a:srgbClr val="000000">
                      <a:alpha val="43137"/>
                    </a:srgbClr>
                  </a:outerShdw>
                </a:effectLst>
              </a:rPr>
              <a:t>[including regulations governing commodity exchanges, </a:t>
            </a:r>
            <a:r>
              <a:rPr lang="pl-PL" b="1" dirty="0">
                <a:solidFill>
                  <a:srgbClr val="FF0000"/>
                </a:solidFill>
                <a:effectLst>
                  <a:outerShdw blurRad="38100" dist="38100" dir="2700000" algn="tl">
                    <a:srgbClr val="000000">
                      <a:alpha val="43137"/>
                    </a:srgbClr>
                  </a:outerShdw>
                </a:effectLst>
              </a:rPr>
              <a:t>public procurement</a:t>
            </a:r>
            <a:r>
              <a:rPr lang="pl-PL" b="1" dirty="0">
                <a:solidFill>
                  <a:srgbClr val="0070C0"/>
                </a:solidFill>
                <a:effectLst>
                  <a:outerShdw blurRad="38100" dist="38100" dir="2700000" algn="tl">
                    <a:srgbClr val="000000">
                      <a:alpha val="43137"/>
                    </a:srgbClr>
                  </a:outerShdw>
                </a:effectLst>
              </a:rPr>
              <a:t>, trade fairs, </a:t>
            </a:r>
            <a:r>
              <a:rPr lang="pl-PL" b="1" dirty="0">
                <a:solidFill>
                  <a:srgbClr val="FF0000"/>
                </a:solidFill>
                <a:effectLst>
                  <a:outerShdw blurRad="38100" dist="38100" dir="2700000" algn="tl">
                    <a:srgbClr val="000000">
                      <a:alpha val="43137"/>
                    </a:srgbClr>
                  </a:outerShdw>
                </a:effectLst>
              </a:rPr>
              <a:t>selective distribution </a:t>
            </a:r>
            <a:r>
              <a:rPr lang="pl-PL" b="1" dirty="0">
                <a:solidFill>
                  <a:srgbClr val="0070C0"/>
                </a:solidFill>
                <a:effectLst>
                  <a:outerShdw blurRad="38100" dist="38100" dir="2700000" algn="tl">
                    <a:srgbClr val="000000">
                      <a:alpha val="43137"/>
                    </a:srgbClr>
                  </a:outerShdw>
                </a:effectLst>
              </a:rPr>
              <a:t>agreements, discounts, payment conditions, etc.] </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9</a:t>
            </a:fld>
            <a:endParaRPr lang="pl-PL"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Examples </a:t>
            </a:r>
            <a:br>
              <a:rPr lang="pl-PL" dirty="0">
                <a:solidFill>
                  <a:srgbClr val="002060"/>
                </a:solidFill>
                <a:effectLst>
                  <a:outerShdw blurRad="38100" dist="38100" dir="2700000" algn="tl">
                    <a:srgbClr val="000000">
                      <a:alpha val="43137"/>
                    </a:srgbClr>
                  </a:outerShdw>
                </a:effectLst>
              </a:rPr>
            </a:br>
            <a:r>
              <a:rPr lang="en-US" sz="2800" dirty="0">
                <a:solidFill>
                  <a:srgbClr val="002060"/>
                </a:solidFill>
                <a:effectLst>
                  <a:outerShdw blurRad="38100" dist="38100" dir="2700000" algn="tl">
                    <a:srgbClr val="000000">
                      <a:alpha val="43137"/>
                    </a:srgbClr>
                  </a:outerShdw>
                </a:effectLst>
              </a:rPr>
              <a:t>Art.</a:t>
            </a:r>
            <a:r>
              <a:rPr lang="pl-PL" sz="2800" dirty="0">
                <a:solidFill>
                  <a:srgbClr val="002060"/>
                </a:solidFill>
                <a:effectLst>
                  <a:outerShdw blurRad="38100" dist="38100" dir="2700000" algn="tl">
                    <a:srgbClr val="000000">
                      <a:alpha val="43137"/>
                    </a:srgbClr>
                  </a:outerShdw>
                </a:effectLst>
              </a:rPr>
              <a:t>10</a:t>
            </a:r>
            <a:r>
              <a:rPr lang="en-US" sz="2800" dirty="0">
                <a:solidFill>
                  <a:srgbClr val="002060"/>
                </a:solidFill>
                <a:effectLst>
                  <a:outerShdw blurRad="38100" dist="38100" dir="2700000" algn="tl">
                    <a:srgbClr val="000000">
                      <a:alpha val="43137"/>
                    </a:srgbClr>
                  </a:outerShdw>
                </a:effectLst>
              </a:rPr>
              <a:t>1</a:t>
            </a:r>
            <a:r>
              <a:rPr lang="pl-PL" sz="2800" dirty="0">
                <a:solidFill>
                  <a:srgbClr val="002060"/>
                </a:solidFill>
                <a:effectLst>
                  <a:outerShdw blurRad="38100" dist="38100" dir="2700000" algn="tl">
                    <a:srgbClr val="000000">
                      <a:alpha val="43137"/>
                    </a:srgbClr>
                  </a:outerShdw>
                </a:effectLst>
              </a:rPr>
              <a:t> TFUE</a:t>
            </a:r>
            <a:endParaRPr lang="pl-PL" dirty="0"/>
          </a:p>
        </p:txBody>
      </p:sp>
      <p:sp>
        <p:nvSpPr>
          <p:cNvPr id="3" name="Symbol zastępczy zawartości 2"/>
          <p:cNvSpPr>
            <a:spLocks noGrp="1"/>
          </p:cNvSpPr>
          <p:nvPr>
            <p:ph idx="1"/>
          </p:nvPr>
        </p:nvSpPr>
        <p:spPr/>
        <p:txBody>
          <a:bodyPr>
            <a:normAutofit fontScale="92500" lnSpcReduction="20000"/>
          </a:bodyPr>
          <a:lstStyle/>
          <a:p>
            <a:pPr marL="0" indent="0">
              <a:buNone/>
            </a:pPr>
            <a:r>
              <a:rPr lang="en-US" sz="2400" noProof="0" dirty="0">
                <a:effectLst>
                  <a:outerShdw blurRad="38100" dist="38100" dir="2700000" algn="tl">
                    <a:srgbClr val="000000">
                      <a:alpha val="43137"/>
                    </a:srgbClr>
                  </a:outerShdw>
                </a:effectLst>
              </a:rPr>
              <a:t>(b)   limit or control </a:t>
            </a:r>
            <a:r>
              <a:rPr lang="en-US" sz="2400" b="1" noProof="0" dirty="0">
                <a:solidFill>
                  <a:srgbClr val="FF0000"/>
                </a:solidFill>
                <a:effectLst>
                  <a:outerShdw blurRad="38100" dist="38100" dir="2700000" algn="tl">
                    <a:srgbClr val="000000">
                      <a:alpha val="43137"/>
                    </a:srgbClr>
                  </a:outerShdw>
                </a:effectLst>
              </a:rPr>
              <a:t>production, markets, technical development, or investment</a:t>
            </a:r>
            <a:r>
              <a:rPr lang="en-US" sz="2400" noProof="0" dirty="0">
                <a:solidFill>
                  <a:srgbClr val="FF0000"/>
                </a:solidFill>
                <a:effectLst>
                  <a:outerShdw blurRad="38100" dist="38100" dir="2700000" algn="tl">
                    <a:srgbClr val="000000">
                      <a:alpha val="43137"/>
                    </a:srgbClr>
                  </a:outerShdw>
                </a:effectLst>
              </a:rPr>
              <a:t>;</a:t>
            </a:r>
          </a:p>
          <a:p>
            <a:pPr marL="0" indent="0">
              <a:buNone/>
            </a:pPr>
            <a:r>
              <a:rPr lang="en-US" sz="2400" noProof="0" dirty="0">
                <a:effectLst>
                  <a:outerShdw blurRad="38100" dist="38100" dir="2700000" algn="tl">
                    <a:srgbClr val="000000">
                      <a:alpha val="43137"/>
                    </a:srgbClr>
                  </a:outerShdw>
                </a:effectLst>
              </a:rPr>
              <a:t>(c)  </a:t>
            </a:r>
            <a:r>
              <a:rPr lang="en-US" sz="2400" b="1" noProof="0" dirty="0">
                <a:solidFill>
                  <a:srgbClr val="FF0000"/>
                </a:solidFill>
                <a:effectLst>
                  <a:outerShdw blurRad="38100" dist="38100" dir="2700000" algn="tl">
                    <a:srgbClr val="000000">
                      <a:alpha val="43137"/>
                    </a:srgbClr>
                  </a:outerShdw>
                </a:effectLst>
              </a:rPr>
              <a:t>share markets</a:t>
            </a:r>
            <a:r>
              <a:rPr lang="en-US" sz="2400" noProof="0" dirty="0">
                <a:solidFill>
                  <a:srgbClr val="FF0000"/>
                </a:solidFill>
                <a:effectLst>
                  <a:outerShdw blurRad="38100" dist="38100" dir="2700000" algn="tl">
                    <a:srgbClr val="000000">
                      <a:alpha val="43137"/>
                    </a:srgbClr>
                  </a:outerShdw>
                </a:effectLst>
              </a:rPr>
              <a:t> </a:t>
            </a:r>
            <a:r>
              <a:rPr lang="en-US" sz="2400" noProof="0" dirty="0">
                <a:effectLst>
                  <a:outerShdw blurRad="38100" dist="38100" dir="2700000" algn="tl">
                    <a:srgbClr val="000000">
                      <a:alpha val="43137"/>
                    </a:srgbClr>
                  </a:outerShdw>
                </a:effectLst>
              </a:rPr>
              <a:t>or </a:t>
            </a:r>
            <a:r>
              <a:rPr lang="en-US" sz="2400" b="1" noProof="0" dirty="0">
                <a:solidFill>
                  <a:srgbClr val="FF0000"/>
                </a:solidFill>
                <a:effectLst>
                  <a:outerShdw blurRad="38100" dist="38100" dir="2700000" algn="tl">
                    <a:srgbClr val="000000">
                      <a:alpha val="43137"/>
                    </a:srgbClr>
                  </a:outerShdw>
                </a:effectLst>
              </a:rPr>
              <a:t>sources of supply</a:t>
            </a:r>
            <a:r>
              <a:rPr lang="en-US" sz="2400" b="1" noProof="0" dirty="0">
                <a:solidFill>
                  <a:schemeClr val="tx2">
                    <a:lumMod val="60000"/>
                    <a:lumOff val="40000"/>
                  </a:schemeClr>
                </a:solidFill>
                <a:effectLst>
                  <a:outerShdw blurRad="38100" dist="38100" dir="2700000" algn="tl">
                    <a:srgbClr val="000000">
                      <a:alpha val="43137"/>
                    </a:srgbClr>
                  </a:outerShdw>
                </a:effectLst>
              </a:rPr>
              <a:t> </a:t>
            </a:r>
            <a:r>
              <a:rPr lang="en-US" sz="2400" b="1" noProof="0" dirty="0">
                <a:solidFill>
                  <a:srgbClr val="002060"/>
                </a:solidFill>
                <a:effectLst>
                  <a:outerShdw blurRad="38100" dist="38100" dir="2700000" algn="tl">
                    <a:srgbClr val="000000">
                      <a:alpha val="43137"/>
                    </a:srgbClr>
                  </a:outerShdw>
                </a:effectLst>
              </a:rPr>
              <a:t>(Dutch cement cartel, case 8/72)</a:t>
            </a:r>
            <a:endParaRPr lang="en-US" sz="2400" noProof="0" dirty="0">
              <a:solidFill>
                <a:srgbClr val="002060"/>
              </a:solidFill>
              <a:effectLst>
                <a:outerShdw blurRad="38100" dist="38100" dir="2700000" algn="tl">
                  <a:srgbClr val="000000">
                    <a:alpha val="43137"/>
                  </a:srgbClr>
                </a:outerShdw>
              </a:effectLst>
            </a:endParaRPr>
          </a:p>
          <a:p>
            <a:r>
              <a:rPr lang="en-US" sz="2400" b="1" i="1" noProof="0" dirty="0">
                <a:solidFill>
                  <a:srgbClr val="FF0000"/>
                </a:solidFill>
                <a:effectLst>
                  <a:outerShdw blurRad="38100" dist="38100" dir="2700000" algn="tl">
                    <a:srgbClr val="000000">
                      <a:alpha val="43137"/>
                    </a:srgbClr>
                  </a:outerShdw>
                </a:effectLst>
              </a:rPr>
              <a:t>Product and </a:t>
            </a:r>
            <a:r>
              <a:rPr lang="en-US" sz="2400" b="1" noProof="0" dirty="0">
                <a:solidFill>
                  <a:srgbClr val="FF0000"/>
                </a:solidFill>
                <a:effectLst>
                  <a:outerShdw blurRad="38100" dist="38100" dir="2700000" algn="tl">
                    <a:srgbClr val="000000">
                      <a:alpha val="43137"/>
                    </a:srgbClr>
                  </a:outerShdw>
                </a:effectLst>
              </a:rPr>
              <a:t>territorial market carving</a:t>
            </a:r>
            <a:r>
              <a:rPr lang="en-US" sz="2400" b="1" u="sng" noProof="0" dirty="0">
                <a:solidFill>
                  <a:srgbClr val="002060"/>
                </a:solidFill>
              </a:rPr>
              <a:t>. </a:t>
            </a:r>
            <a:r>
              <a:rPr lang="en-US" sz="2400" b="1" noProof="0" dirty="0">
                <a:solidFill>
                  <a:srgbClr val="002060"/>
                </a:solidFill>
              </a:rPr>
              <a:t>Cartel members promise not to do business in areas reserved for other cartel members.</a:t>
            </a:r>
          </a:p>
          <a:p>
            <a:r>
              <a:rPr lang="en-US" sz="2400" b="1" i="1" u="sng" noProof="0" dirty="0">
                <a:solidFill>
                  <a:srgbClr val="FF0000"/>
                </a:solidFill>
                <a:effectLst>
                  <a:outerShdw blurRad="38100" dist="38100" dir="2700000" algn="tl">
                    <a:srgbClr val="000000">
                      <a:alpha val="43137"/>
                    </a:srgbClr>
                  </a:outerShdw>
                </a:effectLst>
              </a:rPr>
              <a:t>Quotas</a:t>
            </a:r>
            <a:r>
              <a:rPr lang="en-US" sz="2400" b="1" i="1" u="sng" noProof="0" dirty="0">
                <a:solidFill>
                  <a:srgbClr val="002060"/>
                </a:solidFill>
                <a:effectLst>
                  <a:outerShdw blurRad="38100" dist="38100" dir="2700000" algn="tl">
                    <a:srgbClr val="000000">
                      <a:alpha val="43137"/>
                    </a:srgbClr>
                  </a:outerShdw>
                </a:effectLst>
              </a:rPr>
              <a:t> </a:t>
            </a:r>
            <a:r>
              <a:rPr lang="en-US" sz="2400" b="1" i="1" noProof="0" dirty="0">
                <a:solidFill>
                  <a:srgbClr val="002060"/>
                </a:solidFill>
                <a:effectLst>
                  <a:outerShdw blurRad="38100" dist="38100" dir="2700000" algn="tl">
                    <a:srgbClr val="000000">
                      <a:alpha val="43137"/>
                    </a:srgbClr>
                  </a:outerShdw>
                </a:effectLst>
              </a:rPr>
              <a:t>– cartel members agree to limit production to a specific number, usually to keep prices up. They create an artifical scarcity of goods. </a:t>
            </a:r>
          </a:p>
          <a:p>
            <a:r>
              <a:rPr lang="en-US" sz="2400" b="1" i="1" noProof="0" dirty="0">
                <a:solidFill>
                  <a:srgbClr val="002060"/>
                </a:solidFill>
                <a:effectLst>
                  <a:outerShdw blurRad="38100" dist="38100" dir="2700000" algn="tl">
                    <a:srgbClr val="000000">
                      <a:alpha val="43137"/>
                    </a:srgbClr>
                  </a:outerShdw>
                </a:effectLst>
              </a:rPr>
              <a:t>(example, an agreement between the French and</a:t>
            </a:r>
          </a:p>
          <a:p>
            <a:pPr marL="0" indent="0">
              <a:buNone/>
            </a:pPr>
            <a:r>
              <a:rPr lang="en-US" sz="2400" b="1" i="1" noProof="0" dirty="0">
                <a:solidFill>
                  <a:srgbClr val="002060"/>
                </a:solidFill>
                <a:effectLst>
                  <a:outerShdw blurRad="38100" dist="38100" dir="2700000" algn="tl">
                    <a:srgbClr val="000000">
                      <a:alpha val="43137"/>
                    </a:srgbClr>
                  </a:outerShdw>
                </a:effectLst>
              </a:rPr>
              <a:t>    Japanese producers of bearings (case 113-121/77) </a:t>
            </a:r>
          </a:p>
          <a:p>
            <a:r>
              <a:rPr lang="en-US" sz="2400" b="1" i="1" noProof="0" dirty="0">
                <a:solidFill>
                  <a:srgbClr val="002060"/>
                </a:solidFill>
                <a:effectLst>
                  <a:outerShdw blurRad="38100" dist="38100" dir="2700000" algn="tl">
                    <a:srgbClr val="000000">
                      <a:alpha val="43137"/>
                    </a:srgbClr>
                  </a:outerShdw>
                </a:effectLst>
              </a:rPr>
              <a:t>Prohibition on buying from certain suppliers)</a:t>
            </a:r>
            <a:endParaRPr lang="en-US" sz="2400" b="1" i="1" noProof="0" dirty="0">
              <a:solidFill>
                <a:srgbClr val="002060"/>
              </a:solidFill>
            </a:endParaRP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10</a:t>
            </a:fld>
            <a:endParaRPr lang="pl-PL" dirty="0"/>
          </a:p>
        </p:txBody>
      </p:sp>
    </p:spTree>
    <p:extLst>
      <p:ext uri="{BB962C8B-B14F-4D97-AF65-F5344CB8AC3E}">
        <p14:creationId xmlns:p14="http://schemas.microsoft.com/office/powerpoint/2010/main" val="2386151490"/>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Examples 2</a:t>
            </a:r>
          </a:p>
        </p:txBody>
      </p:sp>
      <p:sp>
        <p:nvSpPr>
          <p:cNvPr id="3" name="Symbol zastępczy zawartości 2"/>
          <p:cNvSpPr>
            <a:spLocks noGrp="1"/>
          </p:cNvSpPr>
          <p:nvPr>
            <p:ph idx="1"/>
          </p:nvPr>
        </p:nvSpPr>
        <p:spPr/>
        <p:txBody>
          <a:bodyPr>
            <a:normAutofit lnSpcReduction="10000"/>
          </a:bodyPr>
          <a:lstStyle/>
          <a:p>
            <a:r>
              <a:rPr lang="pl-PL" sz="2800" dirty="0">
                <a:solidFill>
                  <a:srgbClr val="002060"/>
                </a:solidFill>
                <a:effectLst>
                  <a:outerShdw blurRad="38100" dist="38100" dir="2700000" algn="tl">
                    <a:srgbClr val="000000">
                      <a:alpha val="43137"/>
                    </a:srgbClr>
                  </a:outerShdw>
                </a:effectLst>
              </a:rPr>
              <a:t>(d) </a:t>
            </a:r>
            <a:r>
              <a:rPr lang="en-US" sz="2800" dirty="0">
                <a:solidFill>
                  <a:srgbClr val="002060"/>
                </a:solidFill>
                <a:effectLst>
                  <a:outerShdw blurRad="38100" dist="38100" dir="2700000" algn="tl">
                    <a:srgbClr val="000000">
                      <a:alpha val="43137"/>
                    </a:srgbClr>
                  </a:outerShdw>
                </a:effectLst>
              </a:rPr>
              <a:t>apply </a:t>
            </a:r>
            <a:r>
              <a:rPr lang="en-US" sz="2800" b="1" dirty="0">
                <a:solidFill>
                  <a:srgbClr val="FF0000"/>
                </a:solidFill>
                <a:effectLst>
                  <a:outerShdw blurRad="38100" dist="38100" dir="2700000" algn="tl">
                    <a:srgbClr val="000000">
                      <a:alpha val="43137"/>
                    </a:srgbClr>
                  </a:outerShdw>
                </a:effectLst>
              </a:rPr>
              <a:t>dissimilar conditions</a:t>
            </a:r>
            <a:r>
              <a:rPr lang="en-US" sz="2800" dirty="0">
                <a:solidFill>
                  <a:srgbClr val="FF0000"/>
                </a:solidFill>
                <a:effectLst>
                  <a:outerShdw blurRad="38100" dist="38100" dir="2700000" algn="tl">
                    <a:srgbClr val="000000">
                      <a:alpha val="43137"/>
                    </a:srgbClr>
                  </a:outerShdw>
                </a:effectLst>
              </a:rPr>
              <a:t> </a:t>
            </a:r>
            <a:r>
              <a:rPr lang="en-US" sz="2800" dirty="0">
                <a:solidFill>
                  <a:srgbClr val="002060"/>
                </a:solidFill>
                <a:effectLst>
                  <a:outerShdw blurRad="38100" dist="38100" dir="2700000" algn="tl">
                    <a:srgbClr val="000000">
                      <a:alpha val="43137"/>
                    </a:srgbClr>
                  </a:outerShdw>
                </a:effectLst>
              </a:rPr>
              <a:t>to equivalent transactions with other trading parties, thereby placing them at a </a:t>
            </a:r>
            <a:r>
              <a:rPr lang="en-US" sz="2800" b="1" dirty="0">
                <a:solidFill>
                  <a:srgbClr val="002060"/>
                </a:solidFill>
                <a:effectLst>
                  <a:outerShdw blurRad="38100" dist="38100" dir="2700000" algn="tl">
                    <a:srgbClr val="000000">
                      <a:alpha val="43137"/>
                    </a:srgbClr>
                  </a:outerShdw>
                </a:effectLst>
              </a:rPr>
              <a:t>competitive disadvantage</a:t>
            </a:r>
            <a:r>
              <a:rPr lang="en-US" sz="2800" dirty="0">
                <a:solidFill>
                  <a:srgbClr val="002060"/>
                </a:solidFill>
                <a:effectLst>
                  <a:outerShdw blurRad="38100" dist="38100" dir="2700000" algn="tl">
                    <a:srgbClr val="000000">
                      <a:alpha val="43137"/>
                    </a:srgbClr>
                  </a:outerShdw>
                </a:effectLst>
              </a:rPr>
              <a:t>;</a:t>
            </a:r>
            <a:endParaRPr lang="pl-PL" sz="2800" dirty="0">
              <a:solidFill>
                <a:srgbClr val="002060"/>
              </a:solidFill>
              <a:effectLst>
                <a:outerShdw blurRad="38100" dist="38100" dir="2700000" algn="tl">
                  <a:srgbClr val="000000">
                    <a:alpha val="43137"/>
                  </a:srgbClr>
                </a:outerShdw>
              </a:effectLst>
            </a:endParaRPr>
          </a:p>
          <a:p>
            <a:r>
              <a:rPr lang="pl-PL" sz="2800" dirty="0">
                <a:solidFill>
                  <a:srgbClr val="002060"/>
                </a:solidFill>
                <a:effectLst>
                  <a:outerShdw blurRad="38100" dist="38100" dir="2700000" algn="tl">
                    <a:srgbClr val="000000">
                      <a:alpha val="43137"/>
                    </a:srgbClr>
                  </a:outerShdw>
                </a:effectLst>
              </a:rPr>
              <a:t>(e)</a:t>
            </a:r>
            <a:r>
              <a:rPr lang="en-US" sz="2800" dirty="0">
                <a:solidFill>
                  <a:srgbClr val="002060"/>
                </a:solidFill>
                <a:effectLst>
                  <a:outerShdw blurRad="38100" dist="38100" dir="2700000" algn="tl">
                    <a:srgbClr val="000000">
                      <a:alpha val="43137"/>
                    </a:srgbClr>
                  </a:outerShdw>
                </a:effectLst>
              </a:rPr>
              <a:t>make the conclusion of contracts </a:t>
            </a:r>
            <a:r>
              <a:rPr lang="en-US" sz="2800" b="1" dirty="0">
                <a:solidFill>
                  <a:srgbClr val="002060"/>
                </a:solidFill>
                <a:effectLst>
                  <a:outerShdw blurRad="38100" dist="38100" dir="2700000" algn="tl">
                    <a:srgbClr val="000000">
                      <a:alpha val="43137"/>
                    </a:srgbClr>
                  </a:outerShdw>
                </a:effectLst>
              </a:rPr>
              <a:t>subject to acceptance</a:t>
            </a:r>
            <a:r>
              <a:rPr lang="en-US" sz="2800" dirty="0">
                <a:solidFill>
                  <a:srgbClr val="002060"/>
                </a:solidFill>
                <a:effectLst>
                  <a:outerShdw blurRad="38100" dist="38100" dir="2700000" algn="tl">
                    <a:srgbClr val="000000">
                      <a:alpha val="43137"/>
                    </a:srgbClr>
                  </a:outerShdw>
                </a:effectLst>
              </a:rPr>
              <a:t> by the other parties of </a:t>
            </a:r>
            <a:r>
              <a:rPr lang="en-US" sz="2800" b="1" dirty="0">
                <a:solidFill>
                  <a:srgbClr val="FF0000"/>
                </a:solidFill>
                <a:effectLst>
                  <a:outerShdw blurRad="38100" dist="38100" dir="2700000" algn="tl">
                    <a:srgbClr val="000000">
                      <a:alpha val="43137"/>
                    </a:srgbClr>
                  </a:outerShdw>
                </a:effectLst>
              </a:rPr>
              <a:t>supplementary obligations </a:t>
            </a:r>
            <a:r>
              <a:rPr lang="en-US" sz="2800" dirty="0">
                <a:solidFill>
                  <a:srgbClr val="002060"/>
                </a:solidFill>
                <a:effectLst>
                  <a:outerShdw blurRad="38100" dist="38100" dir="2700000" algn="tl">
                    <a:srgbClr val="000000">
                      <a:alpha val="43137"/>
                    </a:srgbClr>
                  </a:outerShdw>
                </a:effectLst>
              </a:rPr>
              <a:t>which, by their </a:t>
            </a:r>
            <a:r>
              <a:rPr lang="en-US" sz="2800" b="1" dirty="0">
                <a:solidFill>
                  <a:srgbClr val="002060"/>
                </a:solidFill>
                <a:effectLst>
                  <a:outerShdw blurRad="38100" dist="38100" dir="2700000" algn="tl">
                    <a:srgbClr val="000000">
                      <a:alpha val="43137"/>
                    </a:srgbClr>
                  </a:outerShdw>
                </a:effectLst>
              </a:rPr>
              <a:t>nature</a:t>
            </a:r>
            <a:r>
              <a:rPr lang="en-US" sz="2800" dirty="0">
                <a:solidFill>
                  <a:srgbClr val="002060"/>
                </a:solidFill>
                <a:effectLst>
                  <a:outerShdw blurRad="38100" dist="38100" dir="2700000" algn="tl">
                    <a:srgbClr val="000000">
                      <a:alpha val="43137"/>
                    </a:srgbClr>
                  </a:outerShdw>
                </a:effectLst>
              </a:rPr>
              <a:t> or according to </a:t>
            </a:r>
            <a:r>
              <a:rPr lang="en-US" sz="2800" b="1" dirty="0">
                <a:solidFill>
                  <a:srgbClr val="002060"/>
                </a:solidFill>
                <a:effectLst>
                  <a:outerShdw blurRad="38100" dist="38100" dir="2700000" algn="tl">
                    <a:srgbClr val="000000">
                      <a:alpha val="43137"/>
                    </a:srgbClr>
                  </a:outerShdw>
                </a:effectLst>
              </a:rPr>
              <a:t>commercial usag</a:t>
            </a:r>
            <a:r>
              <a:rPr lang="en-US" sz="2800" dirty="0">
                <a:solidFill>
                  <a:srgbClr val="002060"/>
                </a:solidFill>
                <a:effectLst>
                  <a:outerShdw blurRad="38100" dist="38100" dir="2700000" algn="tl">
                    <a:srgbClr val="000000">
                      <a:alpha val="43137"/>
                    </a:srgbClr>
                  </a:outerShdw>
                </a:effectLst>
              </a:rPr>
              <a:t>e, have </a:t>
            </a:r>
            <a:r>
              <a:rPr lang="en-US" sz="2800" b="1" dirty="0">
                <a:solidFill>
                  <a:srgbClr val="002060"/>
                </a:solidFill>
                <a:effectLst>
                  <a:outerShdw blurRad="38100" dist="38100" dir="2700000" algn="tl">
                    <a:srgbClr val="000000">
                      <a:alpha val="43137"/>
                    </a:srgbClr>
                  </a:outerShdw>
                </a:effectLst>
              </a:rPr>
              <a:t>no connection</a:t>
            </a:r>
            <a:r>
              <a:rPr lang="en-US" sz="2800" dirty="0">
                <a:solidFill>
                  <a:srgbClr val="002060"/>
                </a:solidFill>
                <a:effectLst>
                  <a:outerShdw blurRad="38100" dist="38100" dir="2700000" algn="tl">
                    <a:srgbClr val="000000">
                      <a:alpha val="43137"/>
                    </a:srgbClr>
                  </a:outerShdw>
                </a:effectLst>
              </a:rPr>
              <a:t> with the subject of such contracts.</a:t>
            </a:r>
            <a:endParaRPr lang="pl-PL" sz="2800" dirty="0">
              <a:solidFill>
                <a:srgbClr val="002060"/>
              </a:solidFill>
              <a:effectLst>
                <a:outerShdw blurRad="38100" dist="38100" dir="2700000" algn="tl">
                  <a:srgbClr val="000000">
                    <a:alpha val="43137"/>
                  </a:srgbClr>
                </a:outerShdw>
              </a:effectLst>
            </a:endParaRPr>
          </a:p>
          <a:p>
            <a:r>
              <a:rPr lang="en-US" sz="2800" dirty="0">
                <a:solidFill>
                  <a:srgbClr val="002060"/>
                </a:solidFill>
                <a:effectLst>
                  <a:outerShdw blurRad="38100" dist="38100" dir="2700000" algn="tl">
                    <a:srgbClr val="000000">
                      <a:alpha val="43137"/>
                    </a:srgbClr>
                  </a:outerShdw>
                </a:effectLst>
              </a:rPr>
              <a:t>Any agreements or decisions prohibited pursuant to this article shall be </a:t>
            </a:r>
            <a:r>
              <a:rPr lang="en-US" sz="2800" b="1" dirty="0">
                <a:solidFill>
                  <a:srgbClr val="FF0000"/>
                </a:solidFill>
                <a:effectLst>
                  <a:outerShdw blurRad="38100" dist="38100" dir="2700000" algn="tl">
                    <a:srgbClr val="000000">
                      <a:alpha val="43137"/>
                    </a:srgbClr>
                  </a:outerShdw>
                </a:effectLst>
              </a:rPr>
              <a:t>automatically void</a:t>
            </a:r>
            <a:endParaRPr lang="pl-PL" sz="2800" b="1" dirty="0"/>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11</a:t>
            </a:fld>
            <a:endParaRPr lang="pl-PL" dirty="0"/>
          </a:p>
        </p:txBody>
      </p:sp>
    </p:spTree>
    <p:extLst>
      <p:ext uri="{BB962C8B-B14F-4D97-AF65-F5344CB8AC3E}">
        <p14:creationId xmlns:p14="http://schemas.microsoft.com/office/powerpoint/2010/main" val="355248251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Separate entities</a:t>
            </a:r>
          </a:p>
        </p:txBody>
      </p:sp>
      <p:sp>
        <p:nvSpPr>
          <p:cNvPr id="3" name="Symbol zastępczy zawartości 2"/>
          <p:cNvSpPr>
            <a:spLocks noGrp="1"/>
          </p:cNvSpPr>
          <p:nvPr>
            <p:ph idx="1"/>
          </p:nvPr>
        </p:nvSpPr>
        <p:spPr/>
        <p:txBody>
          <a:bodyPr/>
          <a:lstStyle/>
          <a:p>
            <a:pPr marL="342900" indent="-342900">
              <a:buFont typeface="Arial" panose="020B0604020202020204" pitchFamily="34" charset="0"/>
              <a:buChar char="•"/>
            </a:pPr>
            <a:r>
              <a:rPr lang="en-US" altLang="pl-PL" b="1" dirty="0">
                <a:solidFill>
                  <a:srgbClr val="FF0000"/>
                </a:solidFill>
                <a:effectLst>
                  <a:outerShdw blurRad="38100" dist="38100" dir="2700000" algn="tl">
                    <a:srgbClr val="000000">
                      <a:alpha val="43137"/>
                    </a:srgbClr>
                  </a:outerShdw>
                </a:effectLst>
              </a:rPr>
              <a:t>Legal personality </a:t>
            </a:r>
            <a:r>
              <a:rPr lang="pl-PL" altLang="pl-PL" b="1" dirty="0">
                <a:solidFill>
                  <a:srgbClr val="002060"/>
                </a:solidFill>
                <a:effectLst>
                  <a:outerShdw blurRad="38100" dist="38100" dir="2700000" algn="tl">
                    <a:srgbClr val="000000">
                      <a:alpha val="43137"/>
                    </a:srgbClr>
                  </a:outerShdw>
                </a:effectLst>
              </a:rPr>
              <a:t>is </a:t>
            </a:r>
            <a:r>
              <a:rPr lang="en-US" altLang="pl-PL" b="1" dirty="0">
                <a:solidFill>
                  <a:srgbClr val="002060"/>
                </a:solidFill>
                <a:effectLst>
                  <a:outerShdw blurRad="38100" dist="38100" dir="2700000" algn="tl">
                    <a:srgbClr val="000000">
                      <a:alpha val="43137"/>
                    </a:srgbClr>
                  </a:outerShdw>
                </a:effectLst>
              </a:rPr>
              <a:t>not a precondition</a:t>
            </a:r>
            <a:r>
              <a:rPr lang="pl-PL" altLang="pl-PL" b="1" dirty="0">
                <a:solidFill>
                  <a:srgbClr val="002060"/>
                </a:solidFill>
                <a:effectLst>
                  <a:outerShdw blurRad="38100" dist="38100" dir="2700000" algn="tl">
                    <a:srgbClr val="000000">
                      <a:alpha val="43137"/>
                    </a:srgbClr>
                  </a:outerShdw>
                </a:effectLst>
              </a:rPr>
              <a:t> for being a member of a cartel</a:t>
            </a:r>
            <a:endParaRPr lang="en-US" altLang="pl-PL" b="1"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altLang="pl-PL" b="1" dirty="0">
                <a:solidFill>
                  <a:srgbClr val="002060"/>
                </a:solidFill>
                <a:effectLst>
                  <a:outerShdw blurRad="38100" dist="38100" dir="2700000" algn="tl">
                    <a:srgbClr val="000000">
                      <a:alpha val="43137"/>
                    </a:srgbClr>
                  </a:outerShdw>
                </a:effectLst>
              </a:rPr>
              <a:t>No formal ties – </a:t>
            </a:r>
            <a:r>
              <a:rPr lang="pl-PL" altLang="pl-PL" b="1" dirty="0">
                <a:solidFill>
                  <a:srgbClr val="002060"/>
                </a:solidFill>
                <a:effectLst>
                  <a:outerShdw blurRad="38100" dist="38100" dir="2700000" algn="tl">
                    <a:srgbClr val="000000">
                      <a:alpha val="43137"/>
                    </a:srgbClr>
                  </a:outerShdw>
                </a:effectLst>
              </a:rPr>
              <a:t>the parties </a:t>
            </a:r>
            <a:r>
              <a:rPr lang="en-US" altLang="pl-PL" b="1" dirty="0">
                <a:solidFill>
                  <a:srgbClr val="002060"/>
                </a:solidFill>
                <a:effectLst>
                  <a:outerShdw blurRad="38100" dist="38100" dir="2700000" algn="tl">
                    <a:srgbClr val="000000">
                      <a:alpha val="43137"/>
                    </a:srgbClr>
                  </a:outerShdw>
                </a:effectLst>
              </a:rPr>
              <a:t>accused of collusion</a:t>
            </a:r>
            <a:r>
              <a:rPr lang="pl-PL" altLang="pl-PL" b="1" dirty="0">
                <a:solidFill>
                  <a:srgbClr val="002060"/>
                </a:solidFill>
                <a:effectLst>
                  <a:outerShdw blurRad="38100" dist="38100" dir="2700000" algn="tl">
                    <a:srgbClr val="000000">
                      <a:alpha val="43137"/>
                    </a:srgbClr>
                  </a:outerShdw>
                </a:effectLst>
              </a:rPr>
              <a:t> (cartel)</a:t>
            </a:r>
            <a:r>
              <a:rPr lang="en-US" altLang="pl-PL" b="1" dirty="0">
                <a:solidFill>
                  <a:srgbClr val="002060"/>
                </a:solidFill>
                <a:effectLst>
                  <a:outerShdw blurRad="38100" dist="38100" dir="2700000" algn="tl">
                    <a:srgbClr val="000000">
                      <a:alpha val="43137"/>
                    </a:srgbClr>
                  </a:outerShdw>
                </a:effectLst>
              </a:rPr>
              <a:t> must be separate entities (no cartel with a subsidiary, within a conglomerate, etc.).</a:t>
            </a:r>
            <a:endParaRPr lang="en-US" altLang="pl-PL" b="1" dirty="0">
              <a:solidFill>
                <a:srgbClr val="0070C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altLang="pl-PL" b="1" dirty="0">
                <a:solidFill>
                  <a:srgbClr val="002060"/>
                </a:solidFill>
                <a:effectLst>
                  <a:outerShdw blurRad="38100" dist="38100" dir="2700000" algn="tl">
                    <a:srgbClr val="000000">
                      <a:alpha val="43137"/>
                    </a:srgbClr>
                  </a:outerShdw>
                </a:effectLst>
              </a:rPr>
              <a:t>A broader notion of an </a:t>
            </a:r>
            <a:r>
              <a:rPr lang="en-US" altLang="pl-PL" b="1" dirty="0">
                <a:solidFill>
                  <a:srgbClr val="FF0000"/>
                </a:solidFill>
                <a:effectLst>
                  <a:outerShdw blurRad="38100" dist="38100" dir="2700000" algn="tl">
                    <a:srgbClr val="000000">
                      <a:alpha val="43137"/>
                    </a:srgbClr>
                  </a:outerShdw>
                </a:effectLst>
              </a:rPr>
              <a:t>enterprise </a:t>
            </a:r>
            <a:r>
              <a:rPr lang="en-US" altLang="pl-PL" b="1" dirty="0">
                <a:solidFill>
                  <a:srgbClr val="002060"/>
                </a:solidFill>
                <a:effectLst>
                  <a:outerShdw blurRad="38100" dist="38100" dir="2700000" algn="tl">
                    <a:srgbClr val="000000">
                      <a:alpha val="43137"/>
                    </a:srgbClr>
                  </a:outerShdw>
                </a:effectLst>
              </a:rPr>
              <a:t>in competition law than </a:t>
            </a:r>
            <a:r>
              <a:rPr lang="pl-PL" altLang="pl-PL" b="1" dirty="0">
                <a:solidFill>
                  <a:srgbClr val="002060"/>
                </a:solidFill>
                <a:effectLst>
                  <a:outerShdw blurRad="38100" dist="38100" dir="2700000" algn="tl">
                    <a:srgbClr val="000000">
                      <a:alpha val="43137"/>
                    </a:srgbClr>
                  </a:outerShdw>
                </a:effectLst>
              </a:rPr>
              <a:t>in</a:t>
            </a:r>
            <a:r>
              <a:rPr lang="en-US" altLang="pl-PL" b="1" dirty="0">
                <a:solidFill>
                  <a:srgbClr val="002060"/>
                </a:solidFill>
                <a:effectLst>
                  <a:outerShdw blurRad="38100" dist="38100" dir="2700000" algn="tl">
                    <a:srgbClr val="000000">
                      <a:alpha val="43137"/>
                    </a:srgbClr>
                  </a:outerShdw>
                </a:effectLst>
              </a:rPr>
              <a:t> general business law</a:t>
            </a:r>
          </a:p>
          <a:p>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12</a:t>
            </a:fld>
            <a:endParaRPr lang="pl-PL" dirty="0"/>
          </a:p>
        </p:txBody>
      </p:sp>
    </p:spTree>
    <p:extLst>
      <p:ext uri="{BB962C8B-B14F-4D97-AF65-F5344CB8AC3E}">
        <p14:creationId xmlns:p14="http://schemas.microsoft.com/office/powerpoint/2010/main" val="16659337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form</a:t>
            </a:r>
            <a:r>
              <a:rPr lang="pl-PL" dirty="0">
                <a:solidFill>
                  <a:srgbClr val="002060"/>
                </a:solidFill>
                <a:effectLst>
                  <a:outerShdw blurRad="38100" dist="38100" dir="2700000" algn="tl">
                    <a:srgbClr val="000000">
                      <a:alpha val="43137"/>
                    </a:srgbClr>
                  </a:outerShdw>
                </a:effectLst>
              </a:rPr>
              <a:t> of a cartel</a:t>
            </a:r>
          </a:p>
        </p:txBody>
      </p:sp>
      <p:sp>
        <p:nvSpPr>
          <p:cNvPr id="3" name="Symbol zastępczy zawartości 2"/>
          <p:cNvSpPr>
            <a:spLocks noGrp="1"/>
          </p:cNvSpPr>
          <p:nvPr>
            <p:ph idx="1"/>
          </p:nvPr>
        </p:nvSpPr>
        <p:spPr/>
        <p:txBody>
          <a:bodyPr/>
          <a:lstStyle/>
          <a:p>
            <a:pPr marL="342900" indent="-342900">
              <a:buFont typeface="Arial" panose="020B0604020202020204" pitchFamily="34" charset="0"/>
              <a:buChar char="•"/>
            </a:pPr>
            <a:r>
              <a:rPr lang="en-US" altLang="pl-PL" b="1" dirty="0">
                <a:solidFill>
                  <a:srgbClr val="002060"/>
                </a:solidFill>
                <a:effectLst>
                  <a:outerShdw blurRad="38100" dist="38100" dir="2700000" algn="tl">
                    <a:srgbClr val="000000">
                      <a:alpha val="43137"/>
                    </a:srgbClr>
                  </a:outerShdw>
                </a:effectLst>
              </a:rPr>
              <a:t>Written, oral agreements</a:t>
            </a:r>
          </a:p>
          <a:p>
            <a:pPr marL="342900" indent="-342900">
              <a:buFont typeface="Arial" panose="020B0604020202020204" pitchFamily="34" charset="0"/>
              <a:buChar char="•"/>
            </a:pPr>
            <a:r>
              <a:rPr lang="en-US" altLang="pl-PL" b="1" dirty="0">
                <a:solidFill>
                  <a:srgbClr val="002060"/>
                </a:solidFill>
                <a:effectLst>
                  <a:outerShdw blurRad="38100" dist="38100" dir="2700000" algn="tl">
                    <a:srgbClr val="000000">
                      <a:alpha val="43137"/>
                    </a:srgbClr>
                  </a:outerShdw>
                </a:effectLst>
              </a:rPr>
              <a:t>Informal statements having the effect of coordinating the actions of businesses</a:t>
            </a:r>
          </a:p>
          <a:p>
            <a:pPr marL="342900" indent="-342900">
              <a:buFont typeface="Arial" panose="020B0604020202020204" pitchFamily="34" charset="0"/>
              <a:buChar char="•"/>
            </a:pPr>
            <a:r>
              <a:rPr lang="en-US" altLang="pl-PL" b="1" dirty="0">
                <a:solidFill>
                  <a:srgbClr val="002060"/>
                </a:solidFill>
                <a:effectLst>
                  <a:outerShdw blurRad="38100" dist="38100" dir="2700000" algn="tl">
                    <a:srgbClr val="000000">
                      <a:alpha val="43137"/>
                    </a:srgbClr>
                  </a:outerShdw>
                </a:effectLst>
              </a:rPr>
              <a:t>Concerted practices</a:t>
            </a:r>
          </a:p>
          <a:p>
            <a:pPr marL="342900" indent="-342900">
              <a:buFont typeface="Arial" panose="020B0604020202020204" pitchFamily="34" charset="0"/>
              <a:buChar char="•"/>
            </a:pPr>
            <a:r>
              <a:rPr lang="en-US" altLang="pl-PL" b="1" dirty="0">
                <a:solidFill>
                  <a:srgbClr val="002060"/>
                </a:solidFill>
                <a:effectLst>
                  <a:outerShdw blurRad="38100" dist="38100" dir="2700000" algn="tl">
                    <a:srgbClr val="000000">
                      <a:alpha val="43137"/>
                    </a:srgbClr>
                  </a:outerShdw>
                </a:effectLst>
              </a:rPr>
              <a:t>Exchange of information</a:t>
            </a:r>
            <a:r>
              <a:rPr lang="pl-PL" altLang="pl-PL" b="1" dirty="0">
                <a:solidFill>
                  <a:srgbClr val="002060"/>
                </a:solidFill>
                <a:effectLst>
                  <a:outerShdw blurRad="38100" dist="38100" dir="2700000" algn="tl">
                    <a:srgbClr val="000000">
                      <a:alpha val="43137"/>
                    </a:srgbClr>
                  </a:outerShdw>
                </a:effectLst>
              </a:rPr>
              <a:t> (e.g., about clients)</a:t>
            </a:r>
            <a:endParaRPr lang="en-US" altLang="pl-PL" b="1"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altLang="pl-PL" b="1" dirty="0">
                <a:solidFill>
                  <a:srgbClr val="002060"/>
                </a:solidFill>
                <a:effectLst>
                  <a:outerShdw blurRad="38100" dist="38100" dir="2700000" algn="tl">
                    <a:srgbClr val="000000">
                      <a:alpha val="43137"/>
                    </a:srgbClr>
                  </a:outerShdw>
                </a:effectLst>
              </a:rPr>
              <a:t>Decisions of associations</a:t>
            </a:r>
            <a:r>
              <a:rPr lang="pl-PL" altLang="pl-PL" b="1" dirty="0">
                <a:solidFill>
                  <a:srgbClr val="002060"/>
                </a:solidFill>
                <a:effectLst>
                  <a:outerShdw blurRad="38100" dist="38100" dir="2700000" algn="tl">
                    <a:srgbClr val="000000">
                      <a:alpha val="43137"/>
                    </a:srgbClr>
                  </a:outerShdw>
                </a:effectLst>
              </a:rPr>
              <a:t> of producers, etc.</a:t>
            </a:r>
            <a:r>
              <a:rPr lang="en-US" altLang="pl-PL" b="1" dirty="0">
                <a:solidFill>
                  <a:srgbClr val="002060"/>
                </a:solidFill>
                <a:effectLst>
                  <a:outerShdw blurRad="38100" dist="38100" dir="2700000" algn="tl">
                    <a:srgbClr val="000000">
                      <a:alpha val="43137"/>
                    </a:srgbClr>
                  </a:outerShdw>
                </a:effectLst>
              </a:rPr>
              <a:t>, their rules and regulations</a:t>
            </a:r>
            <a:endParaRPr lang="pl-PL" altLang="pl-PL" b="1"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pl-PL" sz="2000" b="1" dirty="0">
                <a:solidFill>
                  <a:srgbClr val="FF0000"/>
                </a:solidFill>
                <a:effectLst>
                  <a:outerShdw blurRad="38100" dist="38100" dir="2700000" algn="tl">
                    <a:srgbClr val="000000">
                      <a:alpha val="43137"/>
                    </a:srgbClr>
                  </a:outerShdw>
                </a:effectLst>
                <a:latin typeface="Arial Black" panose="020B0A04020102020204" pitchFamily="34" charset="0"/>
              </a:rPr>
              <a:t>T</a:t>
            </a:r>
            <a:r>
              <a:rPr lang="en-US" sz="2000" b="1" dirty="0">
                <a:solidFill>
                  <a:srgbClr val="FF0000"/>
                </a:solidFill>
                <a:effectLst>
                  <a:outerShdw blurRad="38100" dist="38100" dir="2700000" algn="tl">
                    <a:srgbClr val="000000">
                      <a:alpha val="43137"/>
                    </a:srgbClr>
                  </a:outerShdw>
                </a:effectLst>
                <a:latin typeface="Arial Black" panose="020B0A04020102020204" pitchFamily="34" charset="0"/>
              </a:rPr>
              <a:t>extile </a:t>
            </a:r>
            <a:r>
              <a:rPr lang="pl-PL" sz="2000" b="1" dirty="0">
                <a:solidFill>
                  <a:srgbClr val="FF0000"/>
                </a:solidFill>
                <a:effectLst>
                  <a:outerShdw blurRad="38100" dist="38100" dir="2700000" algn="tl">
                    <a:srgbClr val="000000">
                      <a:alpha val="43137"/>
                    </a:srgbClr>
                  </a:outerShdw>
                </a:effectLst>
                <a:latin typeface="Arial Black" panose="020B0A04020102020204" pitchFamily="34" charset="0"/>
              </a:rPr>
              <a:t>dye</a:t>
            </a:r>
            <a:r>
              <a:rPr lang="en-US" sz="2000" b="1"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en-US" sz="2000" dirty="0"/>
              <a:t>producers </a:t>
            </a:r>
            <a:r>
              <a:rPr lang="en-US" sz="2000" dirty="0">
                <a:latin typeface="Arial Black" pitchFamily="34" charset="0"/>
              </a:rPr>
              <a:t>communicated </a:t>
            </a:r>
            <a:r>
              <a:rPr lang="en-US" sz="2000" dirty="0"/>
              <a:t>through </a:t>
            </a:r>
            <a:r>
              <a:rPr lang="pl-PL" sz="2000" dirty="0"/>
              <a:t>an </a:t>
            </a:r>
            <a:r>
              <a:rPr lang="en-US" sz="2000" dirty="0"/>
              <a:t>announcement concerning indicative prices for the next year in </a:t>
            </a:r>
            <a:r>
              <a:rPr lang="pl-PL" sz="2000" dirty="0"/>
              <a:t>a </a:t>
            </a:r>
            <a:r>
              <a:rPr lang="en-US" sz="2000" dirty="0"/>
              <a:t>professional journal, </a:t>
            </a:r>
            <a:r>
              <a:rPr lang="pl-PL" sz="2000" dirty="0"/>
              <a:t>Case</a:t>
            </a:r>
            <a:r>
              <a:rPr lang="en-US" sz="2000" dirty="0"/>
              <a:t> </a:t>
            </a:r>
            <a:r>
              <a:rPr lang="en-US" sz="2000" b="1" dirty="0">
                <a:solidFill>
                  <a:srgbClr val="002060"/>
                </a:solidFill>
              </a:rPr>
              <a:t>Hasselblad 86/82</a:t>
            </a:r>
            <a:endParaRPr lang="pl-PL" sz="2000" dirty="0">
              <a:solidFill>
                <a:srgbClr val="002060"/>
              </a:solidFill>
            </a:endParaRPr>
          </a:p>
          <a:p>
            <a:endParaRPr lang="en-US" altLang="pl-PL" b="1" dirty="0">
              <a:solidFill>
                <a:srgbClr val="002060"/>
              </a:solidFill>
              <a:effectLst>
                <a:outerShdw blurRad="38100" dist="38100" dir="2700000" algn="tl">
                  <a:srgbClr val="000000">
                    <a:alpha val="43137"/>
                  </a:srgbClr>
                </a:outerShdw>
              </a:effectLst>
            </a:endParaRP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13</a:t>
            </a:fld>
            <a:endParaRPr lang="pl-PL" dirty="0"/>
          </a:p>
        </p:txBody>
      </p:sp>
    </p:spTree>
    <p:extLst>
      <p:ext uri="{BB962C8B-B14F-4D97-AF65-F5344CB8AC3E}">
        <p14:creationId xmlns:p14="http://schemas.microsoft.com/office/powerpoint/2010/main" val="1868919041"/>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BE6137A-FAF9-8FCB-B769-EA06D85813D3}"/>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Exemptions</a:t>
            </a:r>
            <a:endParaRPr lang="en-US"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7395CD90-2FD0-9560-FD4C-577F82562590}"/>
              </a:ext>
            </a:extLst>
          </p:cNvPr>
          <p:cNvSpPr>
            <a:spLocks noGrp="1"/>
          </p:cNvSpPr>
          <p:nvPr>
            <p:ph idx="1"/>
          </p:nvPr>
        </p:nvSpPr>
        <p:spPr/>
        <p:txBody>
          <a:bodyPr/>
          <a:lstStyle/>
          <a:p>
            <a:r>
              <a:rPr lang="en-US" b="1" dirty="0">
                <a:solidFill>
                  <a:srgbClr val="002060"/>
                </a:solidFill>
                <a:effectLst>
                  <a:outerShdw blurRad="38100" dist="38100" dir="2700000" algn="tl">
                    <a:srgbClr val="000000">
                      <a:alpha val="43137"/>
                    </a:srgbClr>
                  </a:outerShdw>
                </a:effectLst>
              </a:rPr>
              <a:t>Antimonopoly authorities (European Commission or national) may exempt certain agreements from the prohibition if;</a:t>
            </a:r>
          </a:p>
          <a:p>
            <a:pPr>
              <a:buFont typeface="Wingdings" panose="05000000000000000000" pitchFamily="2" charset="2"/>
              <a:buChar char="ü"/>
            </a:pPr>
            <a:r>
              <a:rPr lang="pl-PL" b="1" dirty="0">
                <a:solidFill>
                  <a:srgbClr val="002060"/>
                </a:solidFill>
                <a:effectLst>
                  <a:outerShdw blurRad="38100" dist="38100" dir="2700000" algn="tl">
                    <a:srgbClr val="000000">
                      <a:alpha val="43137"/>
                    </a:srgbClr>
                  </a:outerShdw>
                </a:effectLst>
              </a:rPr>
              <a:t> The</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consumers and the market can benefit </a:t>
            </a:r>
            <a:r>
              <a:rPr lang="en-US" b="1" dirty="0">
                <a:solidFill>
                  <a:srgbClr val="002060"/>
                </a:solidFill>
                <a:effectLst>
                  <a:outerShdw blurRad="38100" dist="38100" dir="2700000" algn="tl">
                    <a:srgbClr val="000000">
                      <a:alpha val="43137"/>
                    </a:srgbClr>
                  </a:outerShdw>
                </a:effectLst>
              </a:rPr>
              <a:t>from such an agreement (e.g.</a:t>
            </a:r>
            <a:r>
              <a:rPr lang="pl-PL" b="1"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 a more efficient engine can be constructed, or a better service of </a:t>
            </a:r>
            <a:r>
              <a:rPr lang="pl-PL" b="1" dirty="0">
                <a:solidFill>
                  <a:srgbClr val="002060"/>
                </a:solidFill>
                <a:effectLst>
                  <a:outerShdw blurRad="38100" dist="38100" dir="2700000" algn="tl">
                    <a:srgbClr val="000000">
                      <a:alpha val="43137"/>
                    </a:srgbClr>
                  </a:outerShdw>
                </a:effectLst>
              </a:rPr>
              <a:t>customers</a:t>
            </a:r>
            <a:r>
              <a:rPr lang="en-US" b="1" dirty="0">
                <a:solidFill>
                  <a:srgbClr val="002060"/>
                </a:solidFill>
                <a:effectLst>
                  <a:outerShdw blurRad="38100" dist="38100" dir="2700000" algn="tl">
                    <a:srgbClr val="000000">
                      <a:alpha val="43137"/>
                    </a:srgbClr>
                  </a:outerShdw>
                </a:effectLst>
              </a:rPr>
              <a:t> in car distribution)</a:t>
            </a:r>
          </a:p>
          <a:p>
            <a:pPr>
              <a:buFont typeface="Wingdings" panose="05000000000000000000" pitchFamily="2" charset="2"/>
              <a:buChar char="ü"/>
            </a:pPr>
            <a:r>
              <a:rPr lang="en-US" b="1" dirty="0">
                <a:solidFill>
                  <a:srgbClr val="002060"/>
                </a:solidFill>
                <a:effectLst>
                  <a:outerShdw blurRad="38100" dist="38100" dir="2700000" algn="tl">
                    <a:srgbClr val="000000">
                      <a:alpha val="43137"/>
                    </a:srgbClr>
                  </a:outerShdw>
                </a:effectLst>
              </a:rPr>
              <a:t>Exemptions can be </a:t>
            </a:r>
            <a:r>
              <a:rPr lang="en-US" b="1" dirty="0">
                <a:solidFill>
                  <a:srgbClr val="FF0000"/>
                </a:solidFill>
                <a:effectLst>
                  <a:outerShdw blurRad="38100" dist="38100" dir="2700000" algn="tl">
                    <a:srgbClr val="000000">
                      <a:alpha val="43137"/>
                    </a:srgbClr>
                  </a:outerShdw>
                </a:effectLst>
              </a:rPr>
              <a:t>individual</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or </a:t>
            </a:r>
            <a:r>
              <a:rPr lang="pl-PL" b="1" dirty="0">
                <a:solidFill>
                  <a:srgbClr val="FF0000"/>
                </a:solidFill>
                <a:effectLst>
                  <a:outerShdw blurRad="38100" dist="38100" dir="2700000" algn="tl">
                    <a:srgbClr val="000000">
                      <a:alpha val="43137"/>
                    </a:srgbClr>
                  </a:outerShdw>
                </a:effectLst>
              </a:rPr>
              <a:t>block</a:t>
            </a:r>
            <a:r>
              <a:rPr lang="en-US" b="1" dirty="0">
                <a:solidFill>
                  <a:srgbClr val="FF0000"/>
                </a:solidFill>
                <a:effectLst>
                  <a:outerShdw blurRad="38100" dist="38100" dir="2700000" algn="tl">
                    <a:srgbClr val="000000">
                      <a:alpha val="43137"/>
                    </a:srgbClr>
                  </a:outerShdw>
                </a:effectLst>
              </a:rPr>
              <a:t> exemptions </a:t>
            </a:r>
            <a:r>
              <a:rPr lang="en-US" b="1" dirty="0">
                <a:solidFill>
                  <a:srgbClr val="002060"/>
                </a:solidFill>
                <a:effectLst>
                  <a:outerShdw blurRad="38100" dist="38100" dir="2700000" algn="tl">
                    <a:srgbClr val="000000">
                      <a:alpha val="43137"/>
                    </a:srgbClr>
                  </a:outerShdw>
                </a:effectLst>
              </a:rPr>
              <a:t>covering an industry, or </a:t>
            </a:r>
            <a:r>
              <a:rPr lang="pl-PL" b="1" dirty="0">
                <a:solidFill>
                  <a:srgbClr val="002060"/>
                </a:solidFill>
                <a:effectLst>
                  <a:outerShdw blurRad="38100" dist="38100" dir="2700000" algn="tl">
                    <a:srgbClr val="000000">
                      <a:alpha val="43137"/>
                    </a:srgbClr>
                  </a:outerShdw>
                </a:effectLst>
              </a:rPr>
              <a:t>a</a:t>
            </a:r>
            <a:r>
              <a:rPr lang="en-US" b="1" dirty="0">
                <a:solidFill>
                  <a:srgbClr val="002060"/>
                </a:solidFill>
                <a:effectLst>
                  <a:outerShdw blurRad="38100" dist="38100" dir="2700000" algn="tl">
                    <a:srgbClr val="000000">
                      <a:alpha val="43137"/>
                    </a:srgbClr>
                  </a:outerShdw>
                </a:effectLst>
              </a:rPr>
              <a:t> part</a:t>
            </a:r>
            <a:r>
              <a:rPr lang="pl-PL" b="1" dirty="0">
                <a:solidFill>
                  <a:srgbClr val="002060"/>
                </a:solidFill>
                <a:effectLst>
                  <a:outerShdw blurRad="38100" dist="38100" dir="2700000" algn="tl">
                    <a:srgbClr val="000000">
                      <a:alpha val="43137"/>
                    </a:srgbClr>
                  </a:outerShdw>
                </a:effectLst>
              </a:rPr>
              <a:t> of it</a:t>
            </a:r>
            <a:endParaRPr lang="en-US" b="1"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7EAE71B2-5ED7-5088-7F88-02651CDE5272}"/>
              </a:ext>
            </a:extLst>
          </p:cNvPr>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14</a:t>
            </a:fld>
            <a:endParaRPr lang="pl-PL" dirty="0"/>
          </a:p>
        </p:txBody>
      </p:sp>
    </p:spTree>
    <p:extLst>
      <p:ext uri="{BB962C8B-B14F-4D97-AF65-F5344CB8AC3E}">
        <p14:creationId xmlns:p14="http://schemas.microsoft.com/office/powerpoint/2010/main" val="3418093341"/>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6F2A343-8B03-5BC8-4599-985AAE1E0808}"/>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Exemptions</a:t>
            </a:r>
            <a:endParaRPr lang="en-US" dirty="0"/>
          </a:p>
        </p:txBody>
      </p:sp>
      <p:sp>
        <p:nvSpPr>
          <p:cNvPr id="3" name="Symbol zastępczy zawartości 2">
            <a:extLst>
              <a:ext uri="{FF2B5EF4-FFF2-40B4-BE49-F238E27FC236}">
                <a16:creationId xmlns:a16="http://schemas.microsoft.com/office/drawing/2014/main" id="{90DCE8E3-FEF6-6117-791B-F15973383BA2}"/>
              </a:ext>
            </a:extLst>
          </p:cNvPr>
          <p:cNvSpPr>
            <a:spLocks noGrp="1"/>
          </p:cNvSpPr>
          <p:nvPr>
            <p:ph idx="1"/>
          </p:nvPr>
        </p:nvSpPr>
        <p:spPr/>
        <p:txBody>
          <a:bodyPr>
            <a:normAutofit fontScale="92500" lnSpcReduction="10000"/>
          </a:bodyPr>
          <a:lstStyle/>
          <a:p>
            <a:r>
              <a:rPr lang="en-US" sz="2800" b="1" dirty="0">
                <a:solidFill>
                  <a:srgbClr val="FF0000"/>
                </a:solidFill>
                <a:effectLst>
                  <a:outerShdw blurRad="38100" dist="38100" dir="2700000" algn="tl">
                    <a:srgbClr val="000000">
                      <a:alpha val="43137"/>
                    </a:srgbClr>
                  </a:outerShdw>
                </a:effectLst>
              </a:rPr>
              <a:t>Horizontal </a:t>
            </a:r>
            <a:r>
              <a:rPr lang="pl-PL" sz="2800" b="1" dirty="0">
                <a:solidFill>
                  <a:srgbClr val="FF0000"/>
                </a:solidFill>
                <a:effectLst>
                  <a:outerShdw blurRad="38100" dist="38100" dir="2700000" algn="tl">
                    <a:srgbClr val="000000">
                      <a:alpha val="43137"/>
                    </a:srgbClr>
                  </a:outerShdw>
                </a:effectLst>
              </a:rPr>
              <a:t>agreements </a:t>
            </a:r>
            <a:r>
              <a:rPr lang="en-US" sz="2800" dirty="0">
                <a:solidFill>
                  <a:srgbClr val="002060"/>
                </a:solidFill>
              </a:rPr>
              <a:t>(</a:t>
            </a:r>
            <a:r>
              <a:rPr lang="pl-PL" sz="2800" dirty="0">
                <a:solidFill>
                  <a:srgbClr val="002060"/>
                </a:solidFill>
              </a:rPr>
              <a:t>exemptions </a:t>
            </a:r>
            <a:r>
              <a:rPr lang="en-US" sz="2800" dirty="0">
                <a:solidFill>
                  <a:srgbClr val="002060"/>
                </a:solidFill>
              </a:rPr>
              <a:t>for agreements between businesses in the same market, selling the same product, at the same level of production, eg</a:t>
            </a:r>
            <a:r>
              <a:rPr lang="pl-PL" sz="2800" dirty="0">
                <a:solidFill>
                  <a:srgbClr val="002060"/>
                </a:solidFill>
              </a:rPr>
              <a:t>,</a:t>
            </a:r>
            <a:r>
              <a:rPr lang="en-US" sz="2800" dirty="0">
                <a:solidFill>
                  <a:srgbClr val="002060"/>
                </a:solidFill>
              </a:rPr>
              <a:t> wholesale, retail)</a:t>
            </a:r>
            <a:r>
              <a:rPr lang="pl-PL" sz="2800" dirty="0">
                <a:solidFill>
                  <a:srgbClr val="002060"/>
                </a:solidFill>
              </a:rPr>
              <a:t>. Anticompetitive agreements among businesses with</a:t>
            </a:r>
            <a:r>
              <a:rPr lang="en-US" sz="2800" dirty="0">
                <a:solidFill>
                  <a:srgbClr val="002060"/>
                </a:solidFill>
              </a:rPr>
              <a:t> &lt; 5 % of a given </a:t>
            </a:r>
            <a:r>
              <a:rPr lang="pl-PL" sz="2800" dirty="0">
                <a:solidFill>
                  <a:srgbClr val="002060"/>
                </a:solidFill>
              </a:rPr>
              <a:t>sectoral</a:t>
            </a:r>
            <a:r>
              <a:rPr lang="en-US" sz="2800" dirty="0">
                <a:solidFill>
                  <a:srgbClr val="002060"/>
                </a:solidFill>
              </a:rPr>
              <a:t> market</a:t>
            </a:r>
            <a:r>
              <a:rPr lang="pl-PL" sz="2800" dirty="0">
                <a:solidFill>
                  <a:srgbClr val="002060"/>
                </a:solidFill>
              </a:rPr>
              <a:t> are not considered to fall under the prohibition of cartels.</a:t>
            </a:r>
            <a:endParaRPr lang="en-US" sz="2800" dirty="0">
              <a:solidFill>
                <a:srgbClr val="002060"/>
              </a:solidFill>
            </a:endParaRPr>
          </a:p>
          <a:p>
            <a:endParaRPr lang="en-US" sz="2800" dirty="0">
              <a:solidFill>
                <a:srgbClr val="002060"/>
              </a:solidFill>
            </a:endParaRPr>
          </a:p>
          <a:p>
            <a:r>
              <a:rPr lang="pl-PL" sz="2800" b="1" dirty="0">
                <a:solidFill>
                  <a:srgbClr val="FF0000"/>
                </a:solidFill>
                <a:effectLst>
                  <a:outerShdw blurRad="38100" dist="38100" dir="2700000" algn="tl">
                    <a:srgbClr val="000000">
                      <a:alpha val="43137"/>
                    </a:srgbClr>
                  </a:outerShdw>
                </a:effectLst>
              </a:rPr>
              <a:t>Vertical agreements </a:t>
            </a:r>
            <a:r>
              <a:rPr lang="pl-PL" sz="2800" dirty="0">
                <a:solidFill>
                  <a:srgbClr val="002060"/>
                </a:solidFill>
              </a:rPr>
              <a:t>(ex</a:t>
            </a:r>
            <a:r>
              <a:rPr lang="en-US" sz="2800" dirty="0">
                <a:solidFill>
                  <a:srgbClr val="002060"/>
                </a:solidFill>
              </a:rPr>
              <a:t>emptions for agreements concerning different </a:t>
            </a:r>
            <a:r>
              <a:rPr lang="pl-PL" sz="2800" dirty="0">
                <a:solidFill>
                  <a:srgbClr val="002060"/>
                </a:solidFill>
              </a:rPr>
              <a:t>levels</a:t>
            </a:r>
            <a:r>
              <a:rPr lang="en-US" sz="2800" dirty="0">
                <a:solidFill>
                  <a:srgbClr val="002060"/>
                </a:solidFill>
              </a:rPr>
              <a:t> of the business proce</a:t>
            </a:r>
            <a:r>
              <a:rPr lang="pl-PL" sz="2800" dirty="0">
                <a:solidFill>
                  <a:srgbClr val="002060"/>
                </a:solidFill>
              </a:rPr>
              <a:t>s</a:t>
            </a:r>
            <a:r>
              <a:rPr lang="en-US" sz="2800" dirty="0">
                <a:solidFill>
                  <a:srgbClr val="002060"/>
                </a:solidFill>
              </a:rPr>
              <a:t>s, for example</a:t>
            </a:r>
            <a:r>
              <a:rPr lang="pl-PL" sz="2800" dirty="0">
                <a:solidFill>
                  <a:srgbClr val="002060"/>
                </a:solidFill>
              </a:rPr>
              <a:t>,</a:t>
            </a:r>
            <a:r>
              <a:rPr lang="en-US" sz="2800" dirty="0">
                <a:solidFill>
                  <a:srgbClr val="002060"/>
                </a:solidFill>
              </a:rPr>
              <a:t> between </a:t>
            </a:r>
            <a:r>
              <a:rPr lang="pl-PL" sz="2800" dirty="0">
                <a:solidFill>
                  <a:srgbClr val="002060"/>
                </a:solidFill>
              </a:rPr>
              <a:t>a </a:t>
            </a:r>
            <a:r>
              <a:rPr lang="en-US" sz="2800" dirty="0">
                <a:solidFill>
                  <a:srgbClr val="002060"/>
                </a:solidFill>
              </a:rPr>
              <a:t>car manufacturer and distributors) &lt; 10 % of the </a:t>
            </a:r>
            <a:r>
              <a:rPr lang="pl-PL" sz="2800" dirty="0">
                <a:solidFill>
                  <a:srgbClr val="002060"/>
                </a:solidFill>
              </a:rPr>
              <a:t>sectoral</a:t>
            </a:r>
            <a:r>
              <a:rPr lang="en-US" sz="2800" dirty="0">
                <a:solidFill>
                  <a:srgbClr val="002060"/>
                </a:solidFill>
              </a:rPr>
              <a:t> market</a:t>
            </a:r>
          </a:p>
        </p:txBody>
      </p:sp>
      <p:sp>
        <p:nvSpPr>
          <p:cNvPr id="4" name="Symbol zastępczy numeru slajdu 3">
            <a:extLst>
              <a:ext uri="{FF2B5EF4-FFF2-40B4-BE49-F238E27FC236}">
                <a16:creationId xmlns:a16="http://schemas.microsoft.com/office/drawing/2014/main" id="{DC1BB073-EEF1-CE1E-870E-5F2DFD7B4DCB}"/>
              </a:ext>
            </a:extLst>
          </p:cNvPr>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15</a:t>
            </a:fld>
            <a:endParaRPr lang="pl-PL" dirty="0"/>
          </a:p>
        </p:txBody>
      </p:sp>
    </p:spTree>
    <p:extLst>
      <p:ext uri="{BB962C8B-B14F-4D97-AF65-F5344CB8AC3E}">
        <p14:creationId xmlns:p14="http://schemas.microsoft.com/office/powerpoint/2010/main" val="3363288062"/>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Parallel behaviour</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p:cNvSpPr>
            <a:spLocks noGrp="1"/>
          </p:cNvSpPr>
          <p:nvPr>
            <p:ph idx="1"/>
          </p:nvPr>
        </p:nvSpPr>
        <p:spPr/>
        <p:txBody>
          <a:bodyPr>
            <a:normAutofit/>
          </a:bodyPr>
          <a:lstStyle/>
          <a:p>
            <a:r>
              <a:rPr lang="en-US" sz="2400" dirty="0">
                <a:solidFill>
                  <a:srgbClr val="FF0000"/>
                </a:solidFill>
                <a:effectLst>
                  <a:outerShdw blurRad="38100" dist="38100" dir="2700000" algn="tl">
                    <a:srgbClr val="000000">
                      <a:alpha val="43137"/>
                    </a:srgbClr>
                  </a:outerShdw>
                </a:effectLst>
                <a:latin typeface="Arial Black" pitchFamily="34" charset="0"/>
              </a:rPr>
              <a:t>Parallel behavior </a:t>
            </a:r>
            <a:r>
              <a:rPr lang="en-US" sz="2400" dirty="0"/>
              <a:t>– resulting from long-term market transparency or similar conditions (e.g., raw materials becoming more expensive) - leads companies to behave similarly. Parallel behavior does not constitute a cartel </a:t>
            </a:r>
            <a:r>
              <a:rPr lang="pl-PL" sz="2400" dirty="0"/>
              <a:t>(In </a:t>
            </a:r>
            <a:r>
              <a:rPr lang="en-US" sz="2400" dirty="0">
                <a:solidFill>
                  <a:srgbClr val="002060"/>
                </a:solidFill>
                <a:effectLst>
                  <a:outerShdw blurRad="38100" dist="38100" dir="2700000" algn="tl">
                    <a:srgbClr val="000000">
                      <a:alpha val="43137"/>
                    </a:srgbClr>
                  </a:outerShdw>
                </a:effectLst>
              </a:rPr>
              <a:t>Case W</a:t>
            </a:r>
            <a:r>
              <a:rPr lang="pl-PL" sz="2400" dirty="0">
                <a:solidFill>
                  <a:srgbClr val="002060"/>
                </a:solidFill>
                <a:effectLst>
                  <a:outerShdw blurRad="38100" dist="38100" dir="2700000" algn="tl">
                    <a:srgbClr val="000000">
                      <a:alpha val="43137"/>
                    </a:srgbClr>
                  </a:outerShdw>
                </a:effectLst>
              </a:rPr>
              <a:t>OOD</a:t>
            </a:r>
            <a:r>
              <a:rPr lang="en-US" sz="2400" dirty="0">
                <a:solidFill>
                  <a:srgbClr val="002060"/>
                </a:solidFill>
                <a:effectLst>
                  <a:outerShdw blurRad="38100" dist="38100" dir="2700000" algn="tl">
                    <a:srgbClr val="000000">
                      <a:alpha val="43137"/>
                    </a:srgbClr>
                  </a:outerShdw>
                </a:effectLst>
              </a:rPr>
              <a:t> P</a:t>
            </a:r>
            <a:r>
              <a:rPr lang="pl-PL" sz="2400" dirty="0">
                <a:solidFill>
                  <a:srgbClr val="002060"/>
                </a:solidFill>
                <a:effectLst>
                  <a:outerShdw blurRad="38100" dist="38100" dir="2700000" algn="tl">
                    <a:srgbClr val="000000">
                      <a:alpha val="43137"/>
                    </a:srgbClr>
                  </a:outerShdw>
                </a:effectLst>
              </a:rPr>
              <a:t>ULP</a:t>
            </a:r>
            <a:r>
              <a:rPr lang="en-US" sz="2400" dirty="0">
                <a:solidFill>
                  <a:srgbClr val="002060"/>
                </a:solidFill>
                <a:effectLst>
                  <a:outerShdw blurRad="38100" dist="38100" dir="2700000" algn="tl">
                    <a:srgbClr val="000000">
                      <a:alpha val="43137"/>
                    </a:srgbClr>
                  </a:outerShdw>
                </a:effectLst>
              </a:rPr>
              <a:t> II 1993</a:t>
            </a:r>
            <a:r>
              <a:rPr lang="pl-PL" sz="2400" dirty="0">
                <a:solidFill>
                  <a:srgbClr val="002060"/>
                </a:solidFill>
                <a:effectLst>
                  <a:outerShdw blurRad="38100" dist="38100" dir="2700000" algn="tl">
                    <a:srgbClr val="000000">
                      <a:alpha val="43137"/>
                    </a:srgbClr>
                  </a:outerShdw>
                </a:effectLst>
              </a:rPr>
              <a:t>, </a:t>
            </a:r>
            <a:r>
              <a:rPr lang="pl-PL" sz="2400" dirty="0">
                <a:solidFill>
                  <a:srgbClr val="002060"/>
                </a:solidFill>
              </a:rPr>
              <a:t>for the first time, the court gave up an all-inclusive definition of a cartel)</a:t>
            </a:r>
          </a:p>
          <a:p>
            <a:r>
              <a:rPr lang="en-US" sz="2400" dirty="0">
                <a:solidFill>
                  <a:srgbClr val="FF0000"/>
                </a:solidFill>
                <a:effectLst>
                  <a:outerShdw blurRad="38100" dist="38100" dir="2700000" algn="tl">
                    <a:srgbClr val="000000">
                      <a:alpha val="43137"/>
                    </a:srgbClr>
                  </a:outerShdw>
                </a:effectLst>
                <a:latin typeface="Arial Black" panose="020B0A04020102020204" pitchFamily="34" charset="0"/>
              </a:rPr>
              <a:t>The</a:t>
            </a:r>
            <a:r>
              <a:rPr lang="en-US" sz="2400" dirty="0">
                <a:effectLst>
                  <a:outerShdw blurRad="38100" dist="38100" dir="2700000" algn="tl">
                    <a:srgbClr val="000000">
                      <a:alpha val="43137"/>
                    </a:srgbClr>
                  </a:outerShdw>
                </a:effectLst>
              </a:rPr>
              <a:t> </a:t>
            </a:r>
            <a:r>
              <a:rPr lang="pl-PL" sz="2400" b="1" dirty="0">
                <a:solidFill>
                  <a:srgbClr val="FF0000"/>
                </a:solidFill>
                <a:effectLst>
                  <a:outerShdw blurRad="38100" dist="38100" dir="2700000" algn="tl">
                    <a:srgbClr val="000000">
                      <a:alpha val="43137"/>
                    </a:srgbClr>
                  </a:outerShdw>
                </a:effectLst>
                <a:latin typeface="Arial Black" panose="020B0A04020102020204" pitchFamily="34" charset="0"/>
              </a:rPr>
              <a:t>burden of proof</a:t>
            </a:r>
            <a:r>
              <a:rPr lang="en-US" sz="2400" b="1"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en-US" sz="2400" dirty="0"/>
              <a:t>is on the </a:t>
            </a:r>
            <a:r>
              <a:rPr lang="pl-PL" sz="2400" dirty="0"/>
              <a:t>accused </a:t>
            </a:r>
            <a:r>
              <a:rPr lang="en-US" sz="2400" dirty="0"/>
              <a:t>enterprise</a:t>
            </a:r>
            <a:r>
              <a:rPr lang="pl-PL" sz="2400" dirty="0"/>
              <a:t> (reversal of the general principle)</a:t>
            </a:r>
            <a:r>
              <a:rPr lang="en-US" sz="2400" dirty="0"/>
              <a:t> </a:t>
            </a:r>
            <a:endParaRPr lang="pl-PL" sz="2400" dirty="0"/>
          </a:p>
          <a:p>
            <a:r>
              <a:rPr lang="pl-PL" altLang="pl-PL" sz="2400" b="1" dirty="0">
                <a:solidFill>
                  <a:srgbClr val="0070C0"/>
                </a:solidFill>
                <a:latin typeface="Times New Roman" panose="02020603050405020304" pitchFamily="18" charset="0"/>
              </a:rPr>
              <a:t>HASSELBLAD 86/82 </a:t>
            </a:r>
            <a:r>
              <a:rPr lang="pl-PL" altLang="pl-PL" sz="2400" dirty="0">
                <a:solidFill>
                  <a:srgbClr val="0070C0"/>
                </a:solidFill>
              </a:rPr>
              <a:t> </a:t>
            </a:r>
            <a:r>
              <a:rPr lang="pl-PL" altLang="pl-PL" sz="2400" dirty="0"/>
              <a:t>-</a:t>
            </a:r>
            <a:endParaRPr lang="en-US" sz="2400" b="1" dirty="0">
              <a:solidFill>
                <a:srgbClr val="002060"/>
              </a:solidFill>
            </a:endParaRP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16</a:t>
            </a:fld>
            <a:endParaRPr lang="pl-PL"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Effect ex lege</a:t>
            </a:r>
          </a:p>
        </p:txBody>
      </p:sp>
      <p:sp>
        <p:nvSpPr>
          <p:cNvPr id="3" name="Symbol zastępczy zawartości 2"/>
          <p:cNvSpPr>
            <a:spLocks noGrp="1"/>
          </p:cNvSpPr>
          <p:nvPr>
            <p:ph idx="1"/>
          </p:nvPr>
        </p:nvSpPr>
        <p:spPr/>
        <p:txBody>
          <a:bodyPr>
            <a:normAutofit/>
          </a:bodyPr>
          <a:lstStyle/>
          <a:p>
            <a:pPr marL="457200" indent="-457200">
              <a:buFont typeface="Arial" panose="020B0604020202020204" pitchFamily="34" charset="0"/>
              <a:buChar char="•"/>
            </a:pPr>
            <a:r>
              <a:rPr lang="en-US" sz="3200" dirty="0">
                <a:effectLst>
                  <a:outerShdw blurRad="38100" dist="38100" dir="2700000" algn="tl">
                    <a:srgbClr val="000000">
                      <a:alpha val="43137"/>
                    </a:srgbClr>
                  </a:outerShdw>
                </a:effectLst>
              </a:rPr>
              <a:t>Cartel</a:t>
            </a:r>
            <a:r>
              <a:rPr lang="pl-PL" sz="3200" dirty="0">
                <a:effectLst>
                  <a:outerShdw blurRad="38100" dist="38100" dir="2700000" algn="tl">
                    <a:srgbClr val="000000">
                      <a:alpha val="43137"/>
                    </a:srgbClr>
                  </a:outerShdw>
                </a:effectLst>
              </a:rPr>
              <a:t> agreements</a:t>
            </a:r>
            <a:r>
              <a:rPr lang="en-US" sz="3200" dirty="0">
                <a:effectLst>
                  <a:outerShdw blurRad="38100" dist="38100" dir="2700000" algn="tl">
                    <a:srgbClr val="000000">
                      <a:alpha val="43137"/>
                    </a:srgbClr>
                  </a:outerShdw>
                </a:effectLst>
              </a:rPr>
              <a:t> are </a:t>
            </a:r>
            <a:r>
              <a:rPr lang="en-US" sz="3200" dirty="0">
                <a:solidFill>
                  <a:srgbClr val="FF0000"/>
                </a:solidFill>
                <a:effectLst>
                  <a:outerShdw blurRad="38100" dist="38100" dir="2700000" algn="tl">
                    <a:srgbClr val="000000">
                      <a:alpha val="43137"/>
                    </a:srgbClr>
                  </a:outerShdw>
                </a:effectLst>
              </a:rPr>
              <a:t>invalid ex lege</a:t>
            </a:r>
            <a:r>
              <a:rPr lang="pl-PL" sz="3200" dirty="0">
                <a:solidFill>
                  <a:srgbClr val="FF0000"/>
                </a:solidFill>
                <a:effectLst>
                  <a:outerShdw blurRad="38100" dist="38100" dir="2700000" algn="tl">
                    <a:srgbClr val="000000">
                      <a:alpha val="43137"/>
                    </a:srgbClr>
                  </a:outerShdw>
                </a:effectLst>
              </a:rPr>
              <a:t> (automatically)</a:t>
            </a:r>
            <a:r>
              <a:rPr lang="en-US" sz="3200" dirty="0">
                <a:solidFill>
                  <a:srgbClr val="FF0000"/>
                </a:solidFill>
                <a:effectLst>
                  <a:outerShdw blurRad="38100" dist="38100" dir="2700000" algn="tl">
                    <a:srgbClr val="000000">
                      <a:alpha val="43137"/>
                    </a:srgbClr>
                  </a:outerShdw>
                </a:effectLst>
              </a:rPr>
              <a:t> </a:t>
            </a:r>
            <a:r>
              <a:rPr lang="en-US" sz="3200" dirty="0">
                <a:effectLst>
                  <a:outerShdw blurRad="38100" dist="38100" dir="2700000" algn="tl">
                    <a:srgbClr val="000000">
                      <a:alpha val="43137"/>
                    </a:srgbClr>
                  </a:outerShdw>
                </a:effectLst>
              </a:rPr>
              <a:t>along with all legal actions taken in pursuance of the cartel </a:t>
            </a:r>
            <a:r>
              <a:rPr lang="en-US" sz="3200" dirty="0">
                <a:solidFill>
                  <a:srgbClr val="0070C0"/>
                </a:solidFill>
                <a:effectLst>
                  <a:outerShdw blurRad="38100" dist="38100" dir="2700000" algn="tl">
                    <a:srgbClr val="000000">
                      <a:alpha val="43137"/>
                    </a:srgbClr>
                  </a:outerShdw>
                </a:effectLst>
              </a:rPr>
              <a:t>(no additional decision necessary)</a:t>
            </a:r>
            <a:r>
              <a:rPr lang="pl-PL" sz="3200" dirty="0">
                <a:solidFill>
                  <a:srgbClr val="0070C0"/>
                </a:solidFill>
                <a:effectLst>
                  <a:outerShdw blurRad="38100" dist="38100" dir="2700000" algn="tl">
                    <a:srgbClr val="000000">
                      <a:alpha val="43137"/>
                    </a:srgbClr>
                  </a:outerShdw>
                </a:effectLst>
              </a:rPr>
              <a:t>. </a:t>
            </a:r>
          </a:p>
          <a:p>
            <a:pPr marL="457200" indent="-457200">
              <a:buFont typeface="Arial" panose="020B0604020202020204" pitchFamily="34" charset="0"/>
              <a:buChar char="•"/>
            </a:pPr>
            <a:r>
              <a:rPr lang="pl-PL" sz="3200" dirty="0">
                <a:solidFill>
                  <a:srgbClr val="FF0000"/>
                </a:solidFill>
                <a:effectLst>
                  <a:outerShdw blurRad="38100" dist="38100" dir="2700000" algn="tl">
                    <a:srgbClr val="000000">
                      <a:alpha val="43137"/>
                    </a:srgbClr>
                  </a:outerShdw>
                </a:effectLst>
              </a:rPr>
              <a:t>Punishment (usually a fine) for participation in a cartel does not exclude private law liability </a:t>
            </a:r>
            <a:r>
              <a:rPr lang="pl-PL" sz="3200" dirty="0">
                <a:solidFill>
                  <a:srgbClr val="002060"/>
                </a:solidFill>
                <a:effectLst>
                  <a:outerShdw blurRad="38100" dist="38100" dir="2700000" algn="tl">
                    <a:srgbClr val="000000">
                      <a:alpha val="43137"/>
                    </a:srgbClr>
                  </a:outerShdw>
                </a:effectLst>
              </a:rPr>
              <a:t>(those who suffered damage from the cartel may privately sue its participants)</a:t>
            </a:r>
            <a:endParaRPr lang="en-US" sz="3200" dirty="0">
              <a:solidFill>
                <a:srgbClr val="002060"/>
              </a:solidFill>
              <a:effectLst>
                <a:outerShdw blurRad="38100" dist="38100" dir="2700000" algn="tl">
                  <a:srgbClr val="000000">
                    <a:alpha val="43137"/>
                  </a:srgbClr>
                </a:outerShdw>
              </a:effectLst>
            </a:endParaRP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17</a:t>
            </a:fld>
            <a:endParaRPr lang="pl-PL" dirty="0"/>
          </a:p>
        </p:txBody>
      </p:sp>
    </p:spTree>
    <p:extLst>
      <p:ext uri="{BB962C8B-B14F-4D97-AF65-F5344CB8AC3E}">
        <p14:creationId xmlns:p14="http://schemas.microsoft.com/office/powerpoint/2010/main" val="264571958"/>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Tied transactions</a:t>
            </a:r>
          </a:p>
        </p:txBody>
      </p:sp>
      <p:sp>
        <p:nvSpPr>
          <p:cNvPr id="3" name="Symbol zastępczy zawartości 2"/>
          <p:cNvSpPr>
            <a:spLocks noGrp="1"/>
          </p:cNvSpPr>
          <p:nvPr>
            <p:ph idx="1"/>
          </p:nvPr>
        </p:nvSpPr>
        <p:spPr/>
        <p:txBody>
          <a:bodyPr>
            <a:normAutofit/>
          </a:bodyPr>
          <a:lstStyle/>
          <a:p>
            <a:pPr>
              <a:buNone/>
            </a:pPr>
            <a:r>
              <a:rPr lang="en-US" sz="3600" dirty="0">
                <a:solidFill>
                  <a:srgbClr val="FF0000"/>
                </a:solidFill>
                <a:effectLst>
                  <a:outerShdw blurRad="38100" dist="38100" dir="2700000" algn="tl">
                    <a:srgbClr val="000000">
                      <a:alpha val="43137"/>
                    </a:srgbClr>
                  </a:outerShdw>
                </a:effectLst>
                <a:latin typeface="Arial Black" pitchFamily="34" charset="0"/>
              </a:rPr>
              <a:t>Tied transactions</a:t>
            </a:r>
          </a:p>
          <a:p>
            <a:pPr marL="0" indent="0">
              <a:buNone/>
            </a:pPr>
            <a:r>
              <a:rPr lang="en-US" dirty="0"/>
              <a:t>Allowed if</a:t>
            </a:r>
            <a:r>
              <a:rPr lang="pl-PL" dirty="0"/>
              <a:t>:</a:t>
            </a:r>
          </a:p>
          <a:p>
            <a:pPr marL="514350" indent="-514350">
              <a:buAutoNum type="arabicParenR"/>
            </a:pPr>
            <a:r>
              <a:rPr lang="en-US" dirty="0"/>
              <a:t>there is </a:t>
            </a:r>
            <a:r>
              <a:rPr lang="en-US" b="1" dirty="0">
                <a:solidFill>
                  <a:srgbClr val="0070C0"/>
                </a:solidFill>
                <a:effectLst>
                  <a:outerShdw blurRad="38100" dist="38100" dir="2700000" algn="tl">
                    <a:srgbClr val="000000">
                      <a:alpha val="43137"/>
                    </a:srgbClr>
                  </a:outerShdw>
                </a:effectLst>
              </a:rPr>
              <a:t>no separate market </a:t>
            </a:r>
            <a:r>
              <a:rPr lang="en-US" dirty="0"/>
              <a:t>for the goods concerned, </a:t>
            </a:r>
            <a:endParaRPr lang="pl-PL" dirty="0"/>
          </a:p>
          <a:p>
            <a:pPr marL="0" indent="0">
              <a:buNone/>
            </a:pPr>
            <a:r>
              <a:rPr lang="en-US" dirty="0"/>
              <a:t>2) there is </a:t>
            </a:r>
            <a:r>
              <a:rPr lang="pl-PL" dirty="0"/>
              <a:t>an </a:t>
            </a:r>
            <a:r>
              <a:rPr lang="en-US" b="1" dirty="0">
                <a:solidFill>
                  <a:srgbClr val="0070C0"/>
                </a:solidFill>
                <a:effectLst>
                  <a:outerShdw blurRad="38100" dist="38100" dir="2700000" algn="tl">
                    <a:srgbClr val="000000">
                      <a:alpha val="43137"/>
                    </a:srgbClr>
                  </a:outerShdw>
                </a:effectLst>
              </a:rPr>
              <a:t>objective necessity </a:t>
            </a:r>
            <a:r>
              <a:rPr lang="en-US" dirty="0"/>
              <a:t>to sell goods together or </a:t>
            </a:r>
            <a:endParaRPr lang="pl-PL" dirty="0"/>
          </a:p>
          <a:p>
            <a:pPr marL="0" indent="0">
              <a:buNone/>
            </a:pPr>
            <a:r>
              <a:rPr lang="en-US" dirty="0"/>
              <a:t>3) there are separate markets but goods are </a:t>
            </a:r>
            <a:r>
              <a:rPr lang="en-US" b="1" dirty="0">
                <a:solidFill>
                  <a:srgbClr val="0070C0"/>
                </a:solidFill>
                <a:effectLst>
                  <a:outerShdw blurRad="38100" dist="38100" dir="2700000" algn="tl">
                    <a:srgbClr val="000000">
                      <a:alpha val="43137"/>
                    </a:srgbClr>
                  </a:outerShdw>
                </a:effectLst>
              </a:rPr>
              <a:t>traditionally</a:t>
            </a:r>
            <a:r>
              <a:rPr lang="en-US" dirty="0"/>
              <a:t> sold together </a:t>
            </a:r>
          </a:p>
          <a:p>
            <a:r>
              <a:rPr lang="en-US" dirty="0">
                <a:solidFill>
                  <a:srgbClr val="0070C0"/>
                </a:solidFill>
                <a:effectLst>
                  <a:outerShdw blurRad="38100" dist="38100" dir="2700000" algn="tl">
                    <a:srgbClr val="000000">
                      <a:alpha val="43137"/>
                    </a:srgbClr>
                  </a:outerShdw>
                </a:effectLst>
                <a:latin typeface="Arial Black" pitchFamily="34" charset="0"/>
              </a:rPr>
              <a:t>Exemption</a:t>
            </a:r>
            <a:r>
              <a:rPr lang="en-US" dirty="0"/>
              <a:t> possible when 1) companies have </a:t>
            </a:r>
            <a:r>
              <a:rPr lang="en-US" b="1" dirty="0">
                <a:solidFill>
                  <a:srgbClr val="FF0000"/>
                </a:solidFill>
                <a:effectLst>
                  <a:outerShdw blurRad="38100" dist="38100" dir="2700000" algn="tl">
                    <a:srgbClr val="000000">
                      <a:alpha val="43137"/>
                    </a:srgbClr>
                  </a:outerShdw>
                </a:effectLst>
              </a:rPr>
              <a:t>less than 30% </a:t>
            </a:r>
            <a:r>
              <a:rPr lang="en-US" dirty="0"/>
              <a:t>of the market or there is an </a:t>
            </a:r>
            <a:r>
              <a:rPr lang="en-US" b="1" dirty="0">
                <a:solidFill>
                  <a:srgbClr val="FF0000"/>
                </a:solidFill>
                <a:effectLst>
                  <a:outerShdw blurRad="38100" dist="38100" dir="2700000" algn="tl">
                    <a:srgbClr val="000000">
                      <a:alpha val="43137"/>
                    </a:srgbClr>
                  </a:outerShdw>
                </a:effectLst>
              </a:rPr>
              <a:t>immediate benefit to the consumers</a:t>
            </a:r>
          </a:p>
          <a:p>
            <a:endParaRPr lang="en-US"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18</a:t>
            </a:fld>
            <a:endParaRPr lang="pl-PL"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Exemption de minimis</a:t>
            </a:r>
            <a:endParaRPr lang="en-US" b="1" dirty="0">
              <a:solidFill>
                <a:srgbClr val="FF0000"/>
              </a:solidFill>
              <a:effectLst>
                <a:outerShdw blurRad="38100" dist="38100" dir="2700000" algn="tl">
                  <a:srgbClr val="000000">
                    <a:alpha val="43137"/>
                  </a:srgbClr>
                </a:outerShdw>
              </a:effectLst>
            </a:endParaRPr>
          </a:p>
        </p:txBody>
      </p:sp>
      <p:sp>
        <p:nvSpPr>
          <p:cNvPr id="3" name="Symbol zastępczy zawartości 2"/>
          <p:cNvSpPr>
            <a:spLocks noGrp="1"/>
          </p:cNvSpPr>
          <p:nvPr>
            <p:ph idx="1"/>
          </p:nvPr>
        </p:nvSpPr>
        <p:spPr/>
        <p:txBody>
          <a:bodyPr>
            <a:normAutofit fontScale="32500" lnSpcReduction="20000"/>
          </a:bodyPr>
          <a:lstStyle/>
          <a:p>
            <a:r>
              <a:rPr lang="pl-PL" sz="8000" b="1" dirty="0">
                <a:solidFill>
                  <a:srgbClr val="FF0000"/>
                </a:solidFill>
                <a:effectLst>
                  <a:outerShdw blurRad="38100" dist="38100" dir="2700000" algn="tl">
                    <a:srgbClr val="000000">
                      <a:alpha val="43137"/>
                    </a:srgbClr>
                  </a:outerShdw>
                </a:effectLst>
              </a:rPr>
              <a:t>C</a:t>
            </a:r>
            <a:r>
              <a:rPr lang="pl-PL" sz="8000" b="1" dirty="0">
                <a:solidFill>
                  <a:srgbClr val="FF0000"/>
                </a:solidFill>
                <a:effectLst>
                  <a:outerShdw blurRad="38100" dist="38100" dir="2700000" algn="tl">
                    <a:srgbClr val="000000">
                      <a:alpha val="43137"/>
                    </a:srgbClr>
                  </a:outerShdw>
                </a:effectLst>
                <a:latin typeface="+mn-lt"/>
              </a:rPr>
              <a:t>artels</a:t>
            </a:r>
            <a:r>
              <a:rPr lang="en-US" sz="8000" b="1" dirty="0">
                <a:solidFill>
                  <a:srgbClr val="FF0000"/>
                </a:solidFill>
                <a:effectLst>
                  <a:outerShdw blurRad="38100" dist="38100" dir="2700000" algn="tl">
                    <a:srgbClr val="000000">
                      <a:alpha val="43137"/>
                    </a:srgbClr>
                  </a:outerShdw>
                </a:effectLst>
                <a:latin typeface="+mn-lt"/>
              </a:rPr>
              <a:t> of </a:t>
            </a:r>
            <a:r>
              <a:rPr lang="pl-PL" sz="8000" b="1" dirty="0">
                <a:solidFill>
                  <a:srgbClr val="FF0000"/>
                </a:solidFill>
                <a:effectLst>
                  <a:outerShdw blurRad="38100" dist="38100" dir="2700000" algn="tl">
                    <a:srgbClr val="000000">
                      <a:alpha val="43137"/>
                    </a:srgbClr>
                  </a:outerShdw>
                </a:effectLst>
                <a:latin typeface="+mn-lt"/>
              </a:rPr>
              <a:t>minor</a:t>
            </a:r>
            <a:r>
              <a:rPr lang="en-US" sz="8000" b="1" dirty="0">
                <a:solidFill>
                  <a:srgbClr val="FF0000"/>
                </a:solidFill>
                <a:effectLst>
                  <a:outerShdw blurRad="38100" dist="38100" dir="2700000" algn="tl">
                    <a:srgbClr val="000000">
                      <a:alpha val="43137"/>
                    </a:srgbClr>
                  </a:outerShdw>
                </a:effectLst>
                <a:latin typeface="+mn-lt"/>
              </a:rPr>
              <a:t> market significance </a:t>
            </a:r>
            <a:r>
              <a:rPr lang="pl-PL" sz="8000" dirty="0">
                <a:solidFill>
                  <a:srgbClr val="002060"/>
                </a:solidFill>
                <a:effectLst>
                  <a:outerShdw blurRad="38100" dist="38100" dir="2700000" algn="tl">
                    <a:srgbClr val="000000">
                      <a:alpha val="43137"/>
                    </a:srgbClr>
                  </a:outerShdw>
                </a:effectLst>
                <a:latin typeface="+mn-lt"/>
              </a:rPr>
              <a:t>are</a:t>
            </a:r>
            <a:r>
              <a:rPr lang="en-US" sz="8000" dirty="0">
                <a:solidFill>
                  <a:srgbClr val="002060"/>
                </a:solidFill>
                <a:effectLst>
                  <a:outerShdw blurRad="38100" dist="38100" dir="2700000" algn="tl">
                    <a:srgbClr val="000000">
                      <a:alpha val="43137"/>
                    </a:srgbClr>
                  </a:outerShdw>
                </a:effectLst>
                <a:latin typeface="+mn-lt"/>
              </a:rPr>
              <a:t> exempted from the prohibition </a:t>
            </a:r>
            <a:r>
              <a:rPr lang="pl-PL" sz="8000" dirty="0">
                <a:solidFill>
                  <a:srgbClr val="002060"/>
                </a:solidFill>
                <a:effectLst>
                  <a:outerShdw blurRad="38100" dist="38100" dir="2700000" algn="tl">
                    <a:srgbClr val="000000">
                      <a:alpha val="43137"/>
                    </a:srgbClr>
                  </a:outerShdw>
                </a:effectLst>
                <a:latin typeface="+mn-lt"/>
              </a:rPr>
              <a:t>under</a:t>
            </a:r>
            <a:r>
              <a:rPr lang="en-US" sz="8000" dirty="0">
                <a:solidFill>
                  <a:srgbClr val="002060"/>
                </a:solidFill>
                <a:effectLst>
                  <a:outerShdw blurRad="38100" dist="38100" dir="2700000" algn="tl">
                    <a:srgbClr val="000000">
                      <a:alpha val="43137"/>
                    </a:srgbClr>
                  </a:outerShdw>
                </a:effectLst>
                <a:latin typeface="+mn-lt"/>
              </a:rPr>
              <a:t> </a:t>
            </a:r>
            <a:r>
              <a:rPr lang="pl-PL" sz="8000" dirty="0">
                <a:solidFill>
                  <a:srgbClr val="002060"/>
                </a:solidFill>
                <a:effectLst>
                  <a:outerShdw blurRad="38100" dist="38100" dir="2700000" algn="tl">
                    <a:srgbClr val="000000">
                      <a:alpha val="43137"/>
                    </a:srgbClr>
                  </a:outerShdw>
                </a:effectLst>
                <a:latin typeface="+mn-lt"/>
              </a:rPr>
              <a:t>the article</a:t>
            </a:r>
            <a:r>
              <a:rPr lang="en-US" sz="8000" dirty="0">
                <a:solidFill>
                  <a:srgbClr val="002060"/>
                </a:solidFill>
                <a:effectLst>
                  <a:outerShdw blurRad="38100" dist="38100" dir="2700000" algn="tl">
                    <a:srgbClr val="000000">
                      <a:alpha val="43137"/>
                    </a:srgbClr>
                  </a:outerShdw>
                </a:effectLst>
                <a:latin typeface="+mn-lt"/>
              </a:rPr>
              <a:t>. 101. Analogy to the American rule of reason. </a:t>
            </a:r>
          </a:p>
          <a:p>
            <a:r>
              <a:rPr lang="pl-PL" sz="8000" dirty="0">
                <a:solidFill>
                  <a:srgbClr val="002060"/>
                </a:solidFill>
                <a:effectLst>
                  <a:outerShdw blurRad="38100" dist="38100" dir="2700000" algn="tl">
                    <a:srgbClr val="000000">
                      <a:alpha val="43137"/>
                    </a:srgbClr>
                  </a:outerShdw>
                </a:effectLst>
                <a:latin typeface="+mn-lt"/>
              </a:rPr>
              <a:t>There is </a:t>
            </a:r>
            <a:r>
              <a:rPr lang="en-US" sz="8000" dirty="0">
                <a:solidFill>
                  <a:srgbClr val="002060"/>
                </a:solidFill>
                <a:effectLst>
                  <a:outerShdw blurRad="38100" dist="38100" dir="2700000" algn="tl">
                    <a:srgbClr val="000000">
                      <a:alpha val="43137"/>
                    </a:srgbClr>
                  </a:outerShdw>
                </a:effectLst>
                <a:latin typeface="+mn-lt"/>
              </a:rPr>
              <a:t>a 5% exemption for horizontal cartels and a 10% exemption </a:t>
            </a:r>
            <a:r>
              <a:rPr lang="pl-PL" sz="8000" dirty="0">
                <a:solidFill>
                  <a:srgbClr val="002060"/>
                </a:solidFill>
                <a:effectLst>
                  <a:outerShdw blurRad="38100" dist="38100" dir="2700000" algn="tl">
                    <a:srgbClr val="000000">
                      <a:alpha val="43137"/>
                    </a:srgbClr>
                  </a:outerShdw>
                </a:effectLst>
                <a:latin typeface="+mn-lt"/>
              </a:rPr>
              <a:t>for vertical cartels.</a:t>
            </a:r>
          </a:p>
          <a:p>
            <a:r>
              <a:rPr lang="pl-PL" sz="8000" dirty="0">
                <a:solidFill>
                  <a:srgbClr val="002060"/>
                </a:solidFill>
                <a:effectLst>
                  <a:outerShdw blurRad="38100" dist="38100" dir="2700000" algn="tl">
                    <a:srgbClr val="000000">
                      <a:alpha val="43137"/>
                    </a:srgbClr>
                  </a:outerShdw>
                </a:effectLst>
                <a:latin typeface="+mn-lt"/>
              </a:rPr>
              <a:t>The exemption  </a:t>
            </a:r>
            <a:r>
              <a:rPr lang="pl-PL" sz="8000" b="1" dirty="0">
                <a:solidFill>
                  <a:srgbClr val="002060"/>
                </a:solidFill>
                <a:effectLst>
                  <a:outerShdw blurRad="38100" dist="38100" dir="2700000" algn="tl">
                    <a:srgbClr val="000000">
                      <a:alpha val="43137"/>
                    </a:srgbClr>
                  </a:outerShdw>
                </a:effectLst>
                <a:latin typeface="+mn-lt"/>
              </a:rPr>
              <a:t>d</a:t>
            </a:r>
            <a:r>
              <a:rPr lang="en-US" sz="8000" b="1" dirty="0">
                <a:solidFill>
                  <a:srgbClr val="002060"/>
                </a:solidFill>
                <a:effectLst>
                  <a:outerShdw blurRad="38100" dist="38100" dir="2700000" algn="tl">
                    <a:srgbClr val="000000">
                      <a:alpha val="43137"/>
                    </a:srgbClr>
                  </a:outerShdw>
                </a:effectLst>
                <a:latin typeface="+mn-lt"/>
              </a:rPr>
              <a:t>oes not apply </a:t>
            </a:r>
            <a:r>
              <a:rPr lang="en-US" sz="8000" dirty="0">
                <a:solidFill>
                  <a:srgbClr val="002060"/>
                </a:solidFill>
                <a:effectLst>
                  <a:outerShdw blurRad="38100" dist="38100" dir="2700000" algn="tl">
                    <a:srgbClr val="000000">
                      <a:alpha val="43137"/>
                    </a:srgbClr>
                  </a:outerShdw>
                </a:effectLst>
                <a:latin typeface="+mn-lt"/>
              </a:rPr>
              <a:t>to </a:t>
            </a:r>
            <a:r>
              <a:rPr lang="pl-PL" sz="8000" b="1" dirty="0">
                <a:solidFill>
                  <a:srgbClr val="002060"/>
                </a:solidFill>
                <a:effectLst>
                  <a:outerShdw blurRad="38100" dist="38100" dir="2700000" algn="tl">
                    <a:srgbClr val="000000">
                      <a:alpha val="43137"/>
                    </a:srgbClr>
                  </a:outerShdw>
                </a:effectLst>
                <a:latin typeface="+mn-lt"/>
              </a:rPr>
              <a:t>market-sharing (cutting markets)</a:t>
            </a:r>
            <a:r>
              <a:rPr lang="en-US" sz="8000" b="1" dirty="0">
                <a:solidFill>
                  <a:srgbClr val="002060"/>
                </a:solidFill>
                <a:effectLst>
                  <a:outerShdw blurRad="38100" dist="38100" dir="2700000" algn="tl">
                    <a:srgbClr val="000000">
                      <a:alpha val="43137"/>
                    </a:srgbClr>
                  </a:outerShdw>
                </a:effectLst>
                <a:latin typeface="+mn-lt"/>
              </a:rPr>
              <a:t> </a:t>
            </a:r>
            <a:r>
              <a:rPr lang="en-US" sz="8000" dirty="0">
                <a:solidFill>
                  <a:srgbClr val="002060"/>
                </a:solidFill>
                <a:effectLst>
                  <a:outerShdw blurRad="38100" dist="38100" dir="2700000" algn="tl">
                    <a:srgbClr val="000000">
                      <a:alpha val="43137"/>
                    </a:srgbClr>
                  </a:outerShdw>
                </a:effectLst>
                <a:latin typeface="+mn-lt"/>
              </a:rPr>
              <a:t>and </a:t>
            </a:r>
            <a:r>
              <a:rPr lang="pl-PL" sz="8000" b="1" dirty="0">
                <a:solidFill>
                  <a:srgbClr val="002060"/>
                </a:solidFill>
                <a:effectLst>
                  <a:outerShdw blurRad="38100" dist="38100" dir="2700000" algn="tl">
                    <a:srgbClr val="000000">
                      <a:alpha val="43137"/>
                    </a:srgbClr>
                  </a:outerShdw>
                </a:effectLst>
                <a:latin typeface="+mn-lt"/>
              </a:rPr>
              <a:t>price-fixing cartels</a:t>
            </a:r>
            <a:endParaRPr lang="en-US" sz="8000" b="1" dirty="0">
              <a:solidFill>
                <a:srgbClr val="002060"/>
              </a:solidFill>
              <a:effectLst>
                <a:outerShdw blurRad="38100" dist="38100" dir="2700000" algn="tl">
                  <a:srgbClr val="000000">
                    <a:alpha val="43137"/>
                  </a:srgbClr>
                </a:outerShdw>
              </a:effectLst>
              <a:latin typeface="+mn-lt"/>
            </a:endParaRPr>
          </a:p>
          <a:p>
            <a:r>
              <a:rPr lang="pl-PL" sz="8000" dirty="0">
                <a:solidFill>
                  <a:srgbClr val="002060"/>
                </a:solidFill>
                <a:effectLst>
                  <a:outerShdw blurRad="38100" dist="38100" dir="2700000" algn="tl">
                    <a:srgbClr val="000000">
                      <a:alpha val="43137"/>
                    </a:srgbClr>
                  </a:outerShdw>
                </a:effectLst>
                <a:latin typeface="+mn-lt"/>
              </a:rPr>
              <a:t>Example: An</a:t>
            </a:r>
            <a:r>
              <a:rPr lang="en-US" sz="8000" dirty="0">
                <a:solidFill>
                  <a:srgbClr val="002060"/>
                </a:solidFill>
                <a:effectLst>
                  <a:outerShdw blurRad="38100" dist="38100" dir="2700000" algn="tl">
                    <a:srgbClr val="000000">
                      <a:alpha val="43137"/>
                    </a:srgbClr>
                  </a:outerShdw>
                </a:effectLst>
                <a:latin typeface="+mn-lt"/>
              </a:rPr>
              <a:t> agreement between a </a:t>
            </a:r>
            <a:r>
              <a:rPr lang="pl-PL" sz="8000" dirty="0">
                <a:solidFill>
                  <a:srgbClr val="002060"/>
                </a:solidFill>
                <a:effectLst>
                  <a:outerShdw blurRad="38100" dist="38100" dir="2700000" algn="tl">
                    <a:srgbClr val="000000">
                      <a:alpha val="43137"/>
                    </a:srgbClr>
                  </a:outerShdw>
                </a:effectLst>
                <a:latin typeface="+mn-lt"/>
              </a:rPr>
              <a:t>Luxembourg</a:t>
            </a:r>
            <a:r>
              <a:rPr lang="en-US" sz="8000" dirty="0">
                <a:solidFill>
                  <a:srgbClr val="002060"/>
                </a:solidFill>
                <a:effectLst>
                  <a:outerShdw blurRad="38100" dist="38100" dir="2700000" algn="tl">
                    <a:srgbClr val="000000">
                      <a:alpha val="43137"/>
                    </a:srgbClr>
                  </a:outerShdw>
                </a:effectLst>
                <a:latin typeface="+mn-lt"/>
              </a:rPr>
              <a:t> and German </a:t>
            </a:r>
            <a:r>
              <a:rPr lang="pl-PL" sz="8000" dirty="0">
                <a:solidFill>
                  <a:srgbClr val="002060"/>
                </a:solidFill>
                <a:effectLst>
                  <a:outerShdw blurRad="38100" dist="38100" dir="2700000" algn="tl">
                    <a:srgbClr val="000000">
                      <a:alpha val="43137"/>
                    </a:srgbClr>
                  </a:outerShdw>
                </a:effectLst>
                <a:latin typeface="+mn-lt"/>
              </a:rPr>
              <a:t>company</a:t>
            </a:r>
            <a:r>
              <a:rPr lang="en-US" sz="8000" dirty="0">
                <a:solidFill>
                  <a:srgbClr val="002060"/>
                </a:solidFill>
                <a:effectLst>
                  <a:outerShdw blurRad="38100" dist="38100" dir="2700000" algn="tl">
                    <a:srgbClr val="000000">
                      <a:alpha val="43137"/>
                    </a:srgbClr>
                  </a:outerShdw>
                </a:effectLst>
                <a:latin typeface="+mn-lt"/>
              </a:rPr>
              <a:t> was intended to limit competition</a:t>
            </a:r>
            <a:r>
              <a:rPr lang="pl-PL" sz="8000" dirty="0">
                <a:solidFill>
                  <a:srgbClr val="002060"/>
                </a:solidFill>
                <a:effectLst>
                  <a:outerShdw blurRad="38100" dist="38100" dir="2700000" algn="tl">
                    <a:srgbClr val="000000">
                      <a:alpha val="43137"/>
                    </a:srgbClr>
                  </a:outerShdw>
                </a:effectLst>
                <a:latin typeface="+mn-lt"/>
              </a:rPr>
              <a:t>,</a:t>
            </a:r>
            <a:r>
              <a:rPr lang="en-US" sz="8000" dirty="0">
                <a:solidFill>
                  <a:srgbClr val="002060"/>
                </a:solidFill>
                <a:effectLst>
                  <a:outerShdw blurRad="38100" dist="38100" dir="2700000" algn="tl">
                    <a:srgbClr val="000000">
                      <a:alpha val="43137"/>
                    </a:srgbClr>
                  </a:outerShdw>
                </a:effectLst>
                <a:latin typeface="+mn-lt"/>
              </a:rPr>
              <a:t> but it had brought </a:t>
            </a:r>
            <a:r>
              <a:rPr lang="pl-PL" sz="8000" dirty="0">
                <a:solidFill>
                  <a:srgbClr val="002060"/>
                </a:solidFill>
                <a:effectLst>
                  <a:outerShdw blurRad="38100" dist="38100" dir="2700000" algn="tl">
                    <a:srgbClr val="000000">
                      <a:alpha val="43137"/>
                    </a:srgbClr>
                  </a:outerShdw>
                </a:effectLst>
                <a:latin typeface="+mn-lt"/>
              </a:rPr>
              <a:t>sales</a:t>
            </a:r>
            <a:r>
              <a:rPr lang="en-US" sz="8000" dirty="0">
                <a:solidFill>
                  <a:srgbClr val="002060"/>
                </a:solidFill>
                <a:effectLst>
                  <a:outerShdw blurRad="38100" dist="38100" dir="2700000" algn="tl">
                    <a:srgbClr val="000000">
                      <a:alpha val="43137"/>
                    </a:srgbClr>
                  </a:outerShdw>
                </a:effectLst>
                <a:latin typeface="+mn-lt"/>
              </a:rPr>
              <a:t> of just several washing machines per year</a:t>
            </a:r>
            <a:r>
              <a:rPr lang="pl-PL" sz="8000" dirty="0">
                <a:solidFill>
                  <a:srgbClr val="002060"/>
                </a:solidFill>
                <a:effectLst>
                  <a:outerShdw blurRad="38100" dist="38100" dir="2700000" algn="tl">
                    <a:srgbClr val="000000">
                      <a:alpha val="43137"/>
                    </a:srgbClr>
                  </a:outerShdw>
                </a:effectLst>
                <a:latin typeface="+mn-lt"/>
              </a:rPr>
              <a:t> – case </a:t>
            </a:r>
            <a:r>
              <a:rPr lang="en-US" sz="8000" dirty="0">
                <a:solidFill>
                  <a:srgbClr val="002060"/>
                </a:solidFill>
                <a:effectLst>
                  <a:outerShdw blurRad="38100" dist="38100" dir="2700000" algn="tl">
                    <a:srgbClr val="000000">
                      <a:alpha val="43137"/>
                    </a:srgbClr>
                  </a:outerShdw>
                </a:effectLst>
                <a:latin typeface="+mn-lt"/>
              </a:rPr>
              <a:t>VARVAECKE 5/69 </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19</a:t>
            </a:fld>
            <a:endParaRPr lang="pl-PL"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EXEMPTION</a:t>
            </a:r>
            <a:r>
              <a:rPr lang="pl-PL" dirty="0"/>
              <a:t> </a:t>
            </a:r>
            <a:r>
              <a:rPr lang="en-US" dirty="0"/>
              <a:t>Art. </a:t>
            </a:r>
            <a:r>
              <a:rPr lang="pl-PL" dirty="0"/>
              <a:t>10</a:t>
            </a:r>
            <a:r>
              <a:rPr lang="en-US" dirty="0"/>
              <a:t>1</a:t>
            </a:r>
            <a:r>
              <a:rPr lang="pl-PL" dirty="0"/>
              <a:t>.3</a:t>
            </a:r>
            <a:r>
              <a:rPr lang="en-US" dirty="0"/>
              <a:t> T</a:t>
            </a:r>
            <a:r>
              <a:rPr lang="pl-PL" dirty="0"/>
              <a:t>FUE</a:t>
            </a:r>
            <a:endParaRPr lang="en-US" dirty="0"/>
          </a:p>
        </p:txBody>
      </p:sp>
      <p:sp>
        <p:nvSpPr>
          <p:cNvPr id="3" name="Symbol zastępczy zawartości 2"/>
          <p:cNvSpPr>
            <a:spLocks noGrp="1"/>
          </p:cNvSpPr>
          <p:nvPr>
            <p:ph idx="1"/>
          </p:nvPr>
        </p:nvSpPr>
        <p:spPr/>
        <p:txBody>
          <a:bodyPr>
            <a:normAutofit fontScale="62500" lnSpcReduction="20000"/>
          </a:bodyPr>
          <a:lstStyle/>
          <a:p>
            <a:r>
              <a:rPr lang="en-US" sz="3200" dirty="0"/>
              <a:t>The provisions of paragraph 1 may, however, be </a:t>
            </a:r>
            <a:r>
              <a:rPr lang="en-US" sz="3200" dirty="0">
                <a:solidFill>
                  <a:srgbClr val="FF0000"/>
                </a:solidFill>
                <a:effectLst>
                  <a:outerShdw blurRad="38100" dist="38100" dir="2700000" algn="tl">
                    <a:srgbClr val="000000">
                      <a:alpha val="43137"/>
                    </a:srgbClr>
                  </a:outerShdw>
                </a:effectLst>
                <a:latin typeface="Arial Black" panose="020B0A04020102020204" pitchFamily="34" charset="0"/>
              </a:rPr>
              <a:t>declared </a:t>
            </a:r>
            <a:r>
              <a:rPr lang="en-US" sz="3200" dirty="0">
                <a:solidFill>
                  <a:srgbClr val="FF0000"/>
                </a:solidFill>
                <a:effectLst>
                  <a:outerShdw blurRad="38100" dist="38100" dir="2700000" algn="tl">
                    <a:srgbClr val="000000">
                      <a:alpha val="43137"/>
                    </a:srgbClr>
                  </a:outerShdw>
                </a:effectLst>
                <a:latin typeface="Arial Black" panose="020B0A04020102020204" pitchFamily="34" charset="0"/>
                <a:cs typeface="Aharoni" pitchFamily="2" charset="-79"/>
              </a:rPr>
              <a:t>i</a:t>
            </a:r>
            <a:r>
              <a:rPr lang="en-US" sz="3200" b="1" dirty="0">
                <a:solidFill>
                  <a:srgbClr val="FF0000"/>
                </a:solidFill>
                <a:effectLst>
                  <a:outerShdw blurRad="38100" dist="38100" dir="2700000" algn="tl">
                    <a:srgbClr val="000000">
                      <a:alpha val="43137"/>
                    </a:srgbClr>
                  </a:outerShdw>
                </a:effectLst>
                <a:latin typeface="Arial Black" panose="020B0A04020102020204" pitchFamily="34" charset="0"/>
                <a:cs typeface="Aharoni" pitchFamily="2" charset="-79"/>
              </a:rPr>
              <a:t>napplicable</a:t>
            </a:r>
            <a:r>
              <a:rPr lang="pl-PL" dirty="0"/>
              <a:t> </a:t>
            </a:r>
            <a:r>
              <a:rPr lang="en-US" sz="3200" dirty="0"/>
              <a:t>in the case of:</a:t>
            </a:r>
            <a:endParaRPr lang="pl-PL" sz="3200" dirty="0"/>
          </a:p>
          <a:p>
            <a:r>
              <a:rPr lang="pl-PL" sz="3200" dirty="0"/>
              <a:t>-</a:t>
            </a:r>
            <a:r>
              <a:rPr lang="en-US" sz="3200" dirty="0"/>
              <a:t>any agreement or category of agreements between undertakings,</a:t>
            </a:r>
            <a:endParaRPr lang="pl-PL" sz="3200" dirty="0"/>
          </a:p>
          <a:p>
            <a:r>
              <a:rPr lang="pl-PL" sz="3200" dirty="0"/>
              <a:t>-</a:t>
            </a:r>
            <a:r>
              <a:rPr lang="en-US" sz="3200" dirty="0"/>
              <a:t>any decision or category of decisions by associations of undertakings,</a:t>
            </a:r>
            <a:r>
              <a:rPr lang="pl-PL" sz="3200" dirty="0"/>
              <a:t> </a:t>
            </a:r>
          </a:p>
          <a:p>
            <a:r>
              <a:rPr lang="pl-PL" sz="3200" dirty="0"/>
              <a:t>-</a:t>
            </a:r>
            <a:r>
              <a:rPr lang="en-US" sz="3200" dirty="0"/>
              <a:t>any concerted practice or category of concerted practices,</a:t>
            </a:r>
            <a:r>
              <a:rPr lang="pl-PL" sz="3200" dirty="0"/>
              <a:t> which</a:t>
            </a:r>
          </a:p>
          <a:p>
            <a:r>
              <a:rPr lang="en-US" sz="3200" dirty="0">
                <a:solidFill>
                  <a:srgbClr val="FF0000"/>
                </a:solidFill>
                <a:effectLst>
                  <a:outerShdw blurRad="38100" dist="38100" dir="2700000" algn="tl">
                    <a:srgbClr val="000000">
                      <a:alpha val="43137"/>
                    </a:srgbClr>
                  </a:outerShdw>
                </a:effectLst>
                <a:latin typeface="Arial Black" panose="020B0A04020102020204" pitchFamily="34" charset="0"/>
              </a:rPr>
              <a:t>contributes to </a:t>
            </a:r>
            <a:r>
              <a:rPr lang="en-US" sz="3200" b="1" dirty="0">
                <a:solidFill>
                  <a:srgbClr val="FF0000"/>
                </a:solidFill>
                <a:effectLst>
                  <a:outerShdw blurRad="38100" dist="38100" dir="2700000" algn="tl">
                    <a:srgbClr val="000000">
                      <a:alpha val="43137"/>
                    </a:srgbClr>
                  </a:outerShdw>
                </a:effectLst>
                <a:latin typeface="Arial Black" pitchFamily="34" charset="0"/>
              </a:rPr>
              <a:t>improving the production</a:t>
            </a:r>
            <a:r>
              <a:rPr lang="en-US" sz="3200" dirty="0">
                <a:solidFill>
                  <a:srgbClr val="FF0000"/>
                </a:solidFill>
                <a:effectLst>
                  <a:outerShdw blurRad="38100" dist="38100" dir="2700000" algn="tl">
                    <a:srgbClr val="000000">
                      <a:alpha val="43137"/>
                    </a:srgbClr>
                  </a:outerShdw>
                </a:effectLst>
                <a:latin typeface="Arial Black" pitchFamily="34" charset="0"/>
              </a:rPr>
              <a:t> </a:t>
            </a:r>
            <a:r>
              <a:rPr lang="en-US" sz="3200" dirty="0">
                <a:solidFill>
                  <a:srgbClr val="FF0000"/>
                </a:solidFill>
                <a:effectLst>
                  <a:outerShdw blurRad="38100" dist="38100" dir="2700000" algn="tl">
                    <a:srgbClr val="000000">
                      <a:alpha val="43137"/>
                    </a:srgbClr>
                  </a:outerShdw>
                </a:effectLst>
              </a:rPr>
              <a:t>or </a:t>
            </a:r>
            <a:r>
              <a:rPr lang="en-US" sz="3200" b="1" dirty="0">
                <a:solidFill>
                  <a:srgbClr val="FF0000"/>
                </a:solidFill>
                <a:effectLst>
                  <a:outerShdw blurRad="38100" dist="38100" dir="2700000" algn="tl">
                    <a:srgbClr val="000000">
                      <a:alpha val="43137"/>
                    </a:srgbClr>
                  </a:outerShdw>
                </a:effectLst>
                <a:latin typeface="Arial Black" pitchFamily="34" charset="0"/>
              </a:rPr>
              <a:t>distribution</a:t>
            </a:r>
            <a:r>
              <a:rPr lang="en-US" sz="3200" dirty="0">
                <a:solidFill>
                  <a:srgbClr val="FF0000"/>
                </a:solidFill>
                <a:effectLst>
                  <a:outerShdw blurRad="38100" dist="38100" dir="2700000" algn="tl">
                    <a:srgbClr val="000000">
                      <a:alpha val="43137"/>
                    </a:srgbClr>
                  </a:outerShdw>
                </a:effectLst>
              </a:rPr>
              <a:t> of goods or to promoting </a:t>
            </a:r>
            <a:r>
              <a:rPr lang="en-US" sz="3200" b="1" dirty="0">
                <a:solidFill>
                  <a:srgbClr val="FF0000"/>
                </a:solidFill>
                <a:effectLst>
                  <a:outerShdw blurRad="38100" dist="38100" dir="2700000" algn="tl">
                    <a:srgbClr val="000000">
                      <a:alpha val="43137"/>
                    </a:srgbClr>
                  </a:outerShdw>
                </a:effectLst>
                <a:latin typeface="Arial Black" pitchFamily="34" charset="0"/>
              </a:rPr>
              <a:t>technical or economic progress</a:t>
            </a:r>
            <a:r>
              <a:rPr lang="en-US" sz="3200" dirty="0">
                <a:solidFill>
                  <a:srgbClr val="FF0000"/>
                </a:solidFill>
                <a:effectLst>
                  <a:outerShdw blurRad="38100" dist="38100" dir="2700000" algn="tl">
                    <a:srgbClr val="000000">
                      <a:alpha val="43137"/>
                    </a:srgbClr>
                  </a:outerShdw>
                </a:effectLst>
              </a:rPr>
              <a:t>, </a:t>
            </a:r>
            <a:r>
              <a:rPr lang="en-US" sz="3200" b="1" i="1" dirty="0">
                <a:solidFill>
                  <a:srgbClr val="FF0000"/>
                </a:solidFill>
                <a:effectLst>
                  <a:outerShdw blurRad="38100" dist="38100" dir="2700000" algn="tl">
                    <a:srgbClr val="000000">
                      <a:alpha val="43137"/>
                    </a:srgbClr>
                  </a:outerShdw>
                </a:effectLst>
              </a:rPr>
              <a:t>while allowing </a:t>
            </a:r>
            <a:r>
              <a:rPr lang="en-US" sz="3200" b="1" i="1" dirty="0">
                <a:solidFill>
                  <a:srgbClr val="FF0000"/>
                </a:solidFill>
                <a:effectLst>
                  <a:outerShdw blurRad="38100" dist="38100" dir="2700000" algn="tl">
                    <a:srgbClr val="000000">
                      <a:alpha val="43137"/>
                    </a:srgbClr>
                  </a:outerShdw>
                </a:effectLst>
                <a:latin typeface="Arial Black" pitchFamily="34" charset="0"/>
              </a:rPr>
              <a:t>consumers a fair share</a:t>
            </a:r>
            <a:r>
              <a:rPr lang="en-US" sz="3200" dirty="0">
                <a:solidFill>
                  <a:srgbClr val="FF0000"/>
                </a:solidFill>
                <a:effectLst>
                  <a:outerShdw blurRad="38100" dist="38100" dir="2700000" algn="tl">
                    <a:srgbClr val="000000">
                      <a:alpha val="43137"/>
                    </a:srgbClr>
                  </a:outerShdw>
                </a:effectLst>
                <a:latin typeface="Arial Black" pitchFamily="34" charset="0"/>
              </a:rPr>
              <a:t> </a:t>
            </a:r>
            <a:r>
              <a:rPr lang="en-US" sz="3200" dirty="0">
                <a:solidFill>
                  <a:srgbClr val="FF0000"/>
                </a:solidFill>
                <a:effectLst>
                  <a:outerShdw blurRad="38100" dist="38100" dir="2700000" algn="tl">
                    <a:srgbClr val="000000">
                      <a:alpha val="43137"/>
                    </a:srgbClr>
                  </a:outerShdw>
                </a:effectLst>
              </a:rPr>
              <a:t>of the resulting benefit, </a:t>
            </a:r>
            <a:endParaRPr lang="pl-PL" sz="3200" dirty="0">
              <a:solidFill>
                <a:srgbClr val="FF0000"/>
              </a:solidFill>
              <a:effectLst>
                <a:outerShdw blurRad="38100" dist="38100" dir="2700000" algn="tl">
                  <a:srgbClr val="000000">
                    <a:alpha val="43137"/>
                  </a:srgbClr>
                </a:outerShdw>
              </a:effectLst>
            </a:endParaRPr>
          </a:p>
          <a:p>
            <a:r>
              <a:rPr lang="en-US" sz="3200" b="1" dirty="0">
                <a:solidFill>
                  <a:srgbClr val="FF0000"/>
                </a:solidFill>
                <a:effectLst>
                  <a:outerShdw blurRad="38100" dist="38100" dir="2700000" algn="tl">
                    <a:srgbClr val="000000">
                      <a:alpha val="43137"/>
                    </a:srgbClr>
                  </a:outerShdw>
                </a:effectLst>
              </a:rPr>
              <a:t>and which does not:</a:t>
            </a:r>
            <a:endParaRPr lang="pl-PL" sz="3200" dirty="0">
              <a:solidFill>
                <a:srgbClr val="FF0000"/>
              </a:solidFill>
              <a:effectLst>
                <a:outerShdw blurRad="38100" dist="38100" dir="2700000" algn="tl">
                  <a:srgbClr val="000000">
                    <a:alpha val="43137"/>
                  </a:srgbClr>
                </a:outerShdw>
              </a:effectLst>
            </a:endParaRPr>
          </a:p>
          <a:p>
            <a:r>
              <a:rPr lang="pl-PL" sz="3200" dirty="0"/>
              <a:t>(a)  </a:t>
            </a:r>
            <a:r>
              <a:rPr lang="en-US" sz="3200" dirty="0"/>
              <a:t>impose on the undertakings concerned </a:t>
            </a:r>
            <a:r>
              <a:rPr lang="en-US" sz="3200" b="1" dirty="0">
                <a:solidFill>
                  <a:srgbClr val="FF0000"/>
                </a:solidFill>
              </a:rPr>
              <a:t>restrictions </a:t>
            </a:r>
            <a:r>
              <a:rPr lang="en-US" sz="3200" dirty="0"/>
              <a:t>which are </a:t>
            </a:r>
            <a:r>
              <a:rPr lang="en-US" sz="3200" b="1" dirty="0">
                <a:solidFill>
                  <a:srgbClr val="FF0000"/>
                </a:solidFill>
                <a:effectLst>
                  <a:outerShdw blurRad="38100" dist="38100" dir="2700000" algn="tl">
                    <a:srgbClr val="000000">
                      <a:alpha val="43137"/>
                    </a:srgbClr>
                  </a:outerShdw>
                </a:effectLst>
              </a:rPr>
              <a:t>not indispensable</a:t>
            </a:r>
            <a:r>
              <a:rPr lang="en-US" sz="3200" dirty="0"/>
              <a:t> to the attainment of these objectives;</a:t>
            </a:r>
            <a:endParaRPr lang="pl-PL" sz="3200" dirty="0"/>
          </a:p>
          <a:p>
            <a:r>
              <a:rPr lang="pl-PL" sz="3200" dirty="0"/>
              <a:t>(b)</a:t>
            </a:r>
            <a:r>
              <a:rPr lang="en-US" sz="3200" dirty="0"/>
              <a:t>afford such undertakings the possibility of </a:t>
            </a:r>
            <a:r>
              <a:rPr lang="en-US" sz="3200" b="1" dirty="0">
                <a:solidFill>
                  <a:srgbClr val="FF0000"/>
                </a:solidFill>
                <a:effectLst>
                  <a:outerShdw blurRad="38100" dist="38100" dir="2700000" algn="tl">
                    <a:srgbClr val="000000">
                      <a:alpha val="43137"/>
                    </a:srgbClr>
                  </a:outerShdw>
                </a:effectLst>
              </a:rPr>
              <a:t>eliminating competition</a:t>
            </a:r>
            <a:r>
              <a:rPr lang="en-US" sz="3200" dirty="0">
                <a:solidFill>
                  <a:srgbClr val="FF0000"/>
                </a:solidFill>
                <a:effectLst>
                  <a:outerShdw blurRad="38100" dist="38100" dir="2700000" algn="tl">
                    <a:srgbClr val="000000">
                      <a:alpha val="43137"/>
                    </a:srgbClr>
                  </a:outerShdw>
                </a:effectLst>
              </a:rPr>
              <a:t> </a:t>
            </a:r>
            <a:r>
              <a:rPr lang="en-US" sz="3200" dirty="0"/>
              <a:t>in respect of a </a:t>
            </a:r>
            <a:r>
              <a:rPr lang="en-US" sz="3200" b="1" dirty="0">
                <a:solidFill>
                  <a:srgbClr val="FF0000"/>
                </a:solidFill>
                <a:effectLst>
                  <a:outerShdw blurRad="38100" dist="38100" dir="2700000" algn="tl">
                    <a:srgbClr val="000000">
                      <a:alpha val="43137"/>
                    </a:srgbClr>
                  </a:outerShdw>
                </a:effectLst>
              </a:rPr>
              <a:t>substantial part</a:t>
            </a:r>
            <a:r>
              <a:rPr lang="en-US" sz="3200" dirty="0">
                <a:solidFill>
                  <a:srgbClr val="FF0000"/>
                </a:solidFill>
                <a:effectLst>
                  <a:outerShdw blurRad="38100" dist="38100" dir="2700000" algn="tl">
                    <a:srgbClr val="000000">
                      <a:alpha val="43137"/>
                    </a:srgbClr>
                  </a:outerShdw>
                </a:effectLst>
              </a:rPr>
              <a:t> </a:t>
            </a:r>
            <a:r>
              <a:rPr lang="en-US" sz="3200" dirty="0"/>
              <a:t>of the products in question.</a:t>
            </a:r>
            <a:endParaRPr lang="pl-PL" dirty="0"/>
          </a:p>
          <a:p>
            <a:r>
              <a:rPr lang="pl-PL" sz="3200" b="1" dirty="0">
                <a:solidFill>
                  <a:schemeClr val="tx2">
                    <a:lumMod val="60000"/>
                    <a:lumOff val="40000"/>
                  </a:schemeClr>
                </a:solidFill>
                <a:latin typeface="Arial Black" panose="020B0A04020102020204" pitchFamily="34" charset="0"/>
              </a:rPr>
              <a:t>Affect third countries</a:t>
            </a:r>
          </a:p>
          <a:p>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20</a:t>
            </a:fld>
            <a:endParaRPr lang="pl-PL"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Individual exemptions</a:t>
            </a:r>
          </a:p>
        </p:txBody>
      </p:sp>
      <p:sp>
        <p:nvSpPr>
          <p:cNvPr id="3" name="Symbol zastępczy zawartości 2"/>
          <p:cNvSpPr>
            <a:spLocks noGrp="1"/>
          </p:cNvSpPr>
          <p:nvPr>
            <p:ph idx="1"/>
          </p:nvPr>
        </p:nvSpPr>
        <p:spPr/>
        <p:txBody>
          <a:bodyPr/>
          <a:lstStyle/>
          <a:p>
            <a:r>
              <a:rPr lang="en-US" dirty="0"/>
              <a:t>Notification to the Commission provides a </a:t>
            </a:r>
            <a:r>
              <a:rPr lang="en-US" b="1" dirty="0">
                <a:solidFill>
                  <a:srgbClr val="002060"/>
                </a:solidFill>
                <a:effectLst>
                  <a:outerShdw blurRad="38100" dist="38100" dir="2700000" algn="tl">
                    <a:srgbClr val="000000">
                      <a:alpha val="43137"/>
                    </a:srgbClr>
                  </a:outerShdw>
                </a:effectLst>
              </a:rPr>
              <a:t>temporary immunity </a:t>
            </a:r>
            <a:r>
              <a:rPr lang="pl-PL" dirty="0"/>
              <a:t>from</a:t>
            </a:r>
            <a:r>
              <a:rPr lang="en-US" dirty="0"/>
              <a:t> liability. </a:t>
            </a:r>
          </a:p>
          <a:p>
            <a:r>
              <a:rPr lang="en-US" dirty="0"/>
              <a:t>No protection when </a:t>
            </a:r>
            <a:r>
              <a:rPr lang="pl-PL" b="1" dirty="0">
                <a:solidFill>
                  <a:srgbClr val="002060"/>
                </a:solidFill>
                <a:effectLst>
                  <a:outerShdw blurRad="38100" dist="38100" dir="2700000" algn="tl">
                    <a:srgbClr val="000000">
                      <a:alpha val="43137"/>
                    </a:srgbClr>
                  </a:outerShdw>
                </a:effectLst>
              </a:rPr>
              <a:t>the investigation has </a:t>
            </a:r>
            <a:r>
              <a:rPr lang="en-US" dirty="0"/>
              <a:t>already commenced. No </a:t>
            </a:r>
            <a:r>
              <a:rPr lang="en-US" b="1" dirty="0">
                <a:solidFill>
                  <a:srgbClr val="002060"/>
                </a:solidFill>
                <a:effectLst>
                  <a:outerShdw blurRad="38100" dist="38100" dir="2700000" algn="tl">
                    <a:srgbClr val="000000">
                      <a:alpha val="43137"/>
                    </a:srgbClr>
                  </a:outerShdw>
                </a:effectLst>
              </a:rPr>
              <a:t>suspensive</a:t>
            </a:r>
            <a:r>
              <a:rPr lang="en-US" dirty="0"/>
              <a:t> effect.</a:t>
            </a:r>
          </a:p>
          <a:p>
            <a:r>
              <a:rPr lang="en-US" b="1" dirty="0">
                <a:solidFill>
                  <a:srgbClr val="002060"/>
                </a:solidFill>
                <a:effectLst>
                  <a:outerShdw blurRad="38100" dist="38100" dir="2700000" algn="tl">
                    <a:srgbClr val="000000">
                      <a:alpha val="43137"/>
                    </a:srgbClr>
                  </a:outerShdw>
                </a:effectLst>
              </a:rPr>
              <a:t>Not automatic </a:t>
            </a:r>
            <a:r>
              <a:rPr lang="en-US" dirty="0"/>
              <a:t>(EC </a:t>
            </a:r>
            <a:r>
              <a:rPr lang="pl-PL" dirty="0"/>
              <a:t>conducts</a:t>
            </a:r>
            <a:r>
              <a:rPr lang="en-US" dirty="0"/>
              <a:t> analysis of the market)</a:t>
            </a:r>
          </a:p>
          <a:p>
            <a:r>
              <a:rPr lang="en-US" b="1" dirty="0">
                <a:solidFill>
                  <a:srgbClr val="002060"/>
                </a:solidFill>
                <a:effectLst>
                  <a:outerShdw blurRad="38100" dist="38100" dir="2700000" algn="tl">
                    <a:srgbClr val="000000">
                      <a:alpha val="43137"/>
                    </a:srgbClr>
                  </a:outerShdw>
                </a:effectLst>
              </a:rPr>
              <a:t>Onus</a:t>
            </a:r>
            <a:r>
              <a:rPr lang="en-US" dirty="0"/>
              <a:t> on the filing party</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21</a:t>
            </a:fld>
            <a:endParaRPr lang="pl-PL" dirty="0"/>
          </a:p>
        </p:txBody>
      </p:sp>
    </p:spTree>
    <p:extLst>
      <p:ext uri="{BB962C8B-B14F-4D97-AF65-F5344CB8AC3E}">
        <p14:creationId xmlns:p14="http://schemas.microsoft.com/office/powerpoint/2010/main" val="2847597670"/>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dirty="0">
                <a:solidFill>
                  <a:srgbClr val="FF0000"/>
                </a:solidFill>
                <a:effectLst>
                  <a:outerShdw blurRad="38100" dist="38100" dir="2700000" algn="tl">
                    <a:srgbClr val="000000">
                      <a:alpha val="43137"/>
                    </a:srgbClr>
                  </a:outerShdw>
                </a:effectLst>
              </a:rPr>
              <a:t>Block exemptions</a:t>
            </a:r>
          </a:p>
        </p:txBody>
      </p:sp>
      <p:sp>
        <p:nvSpPr>
          <p:cNvPr id="3" name="Symbol zastępczy zawartości 2"/>
          <p:cNvSpPr>
            <a:spLocks noGrp="1"/>
          </p:cNvSpPr>
          <p:nvPr>
            <p:ph idx="1"/>
          </p:nvPr>
        </p:nvSpPr>
        <p:spPr/>
        <p:txBody>
          <a:bodyPr/>
          <a:lstStyle/>
          <a:p>
            <a:r>
              <a:rPr lang="en-US" b="1" dirty="0">
                <a:solidFill>
                  <a:srgbClr val="002060"/>
                </a:solidFill>
                <a:effectLst>
                  <a:outerShdw blurRad="38100" dist="38100" dir="2700000" algn="tl">
                    <a:srgbClr val="000000">
                      <a:alpha val="43137"/>
                    </a:srgbClr>
                  </a:outerShdw>
                </a:effectLst>
              </a:rPr>
              <a:t>Decided by the </a:t>
            </a:r>
            <a:r>
              <a:rPr lang="en-US" b="1" dirty="0">
                <a:solidFill>
                  <a:srgbClr val="FF0000"/>
                </a:solidFill>
                <a:effectLst>
                  <a:outerShdw blurRad="38100" dist="38100" dir="2700000" algn="tl">
                    <a:srgbClr val="000000">
                      <a:alpha val="43137"/>
                    </a:srgbClr>
                  </a:outerShdw>
                </a:effectLst>
              </a:rPr>
              <a:t>European Commission </a:t>
            </a:r>
            <a:r>
              <a:rPr lang="en-US" b="1" dirty="0">
                <a:solidFill>
                  <a:srgbClr val="002060"/>
                </a:solidFill>
                <a:effectLst>
                  <a:outerShdw blurRad="38100" dist="38100" dir="2700000" algn="tl">
                    <a:srgbClr val="000000">
                      <a:alpha val="43137"/>
                    </a:srgbClr>
                  </a:outerShdw>
                </a:effectLst>
              </a:rPr>
              <a:t>(power delegated by the Council)</a:t>
            </a:r>
          </a:p>
          <a:p>
            <a:r>
              <a:rPr lang="en-US" b="1" dirty="0">
                <a:solidFill>
                  <a:srgbClr val="0070C0"/>
                </a:solidFill>
                <a:effectLst>
                  <a:outerShdw blurRad="38100" dist="38100" dir="2700000" algn="tl">
                    <a:srgbClr val="000000">
                      <a:alpha val="43137"/>
                    </a:srgbClr>
                  </a:outerShdw>
                </a:effectLst>
              </a:rPr>
              <a:t>By regulation</a:t>
            </a:r>
          </a:p>
          <a:p>
            <a:r>
              <a:rPr lang="en-US" b="1" dirty="0">
                <a:solidFill>
                  <a:srgbClr val="FF0000"/>
                </a:solidFill>
                <a:effectLst>
                  <a:outerShdw blurRad="38100" dist="38100" dir="2700000" algn="tl">
                    <a:srgbClr val="000000">
                      <a:alpha val="43137"/>
                    </a:srgbClr>
                  </a:outerShdw>
                </a:effectLst>
              </a:rPr>
              <a:t>White, black and grey list</a:t>
            </a:r>
          </a:p>
          <a:p>
            <a:r>
              <a:rPr lang="en-US" b="1" dirty="0">
                <a:solidFill>
                  <a:srgbClr val="002060"/>
                </a:solidFill>
                <a:effectLst>
                  <a:outerShdw blurRad="38100" dist="38100" dir="2700000" algn="tl">
                    <a:srgbClr val="000000">
                      <a:alpha val="43137"/>
                    </a:srgbClr>
                  </a:outerShdw>
                </a:effectLst>
              </a:rPr>
              <a:t>Commission’s </a:t>
            </a:r>
            <a:r>
              <a:rPr lang="en-US" b="1" dirty="0">
                <a:solidFill>
                  <a:srgbClr val="FF0000"/>
                </a:solidFill>
                <a:effectLst>
                  <a:outerShdw blurRad="38100" dist="38100" dir="2700000" algn="tl">
                    <a:srgbClr val="000000">
                      <a:alpha val="43137"/>
                    </a:srgbClr>
                  </a:outerShdw>
                </a:effectLst>
              </a:rPr>
              <a:t>veto </a:t>
            </a:r>
            <a:r>
              <a:rPr lang="en-US" b="1" dirty="0">
                <a:solidFill>
                  <a:srgbClr val="002060"/>
                </a:solidFill>
                <a:effectLst>
                  <a:outerShdw blurRad="38100" dist="38100" dir="2700000" algn="tl">
                    <a:srgbClr val="000000">
                      <a:alpha val="43137"/>
                    </a:srgbClr>
                  </a:outerShdw>
                </a:effectLst>
              </a:rPr>
              <a:t>within 6 months </a:t>
            </a:r>
          </a:p>
          <a:p>
            <a:r>
              <a:rPr lang="en-US" b="1" i="1" dirty="0">
                <a:solidFill>
                  <a:srgbClr val="002060"/>
                </a:solidFill>
                <a:effectLst>
                  <a:outerShdw blurRad="38100" dist="38100" dir="2700000" algn="tl">
                    <a:srgbClr val="000000">
                      <a:alpha val="43137"/>
                    </a:srgbClr>
                  </a:outerShdw>
                </a:effectLst>
              </a:rPr>
              <a:t>Most often: selective distribution, technology transfer, sectoral agreements</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22</a:t>
            </a:fld>
            <a:endParaRPr lang="pl-PL" dirty="0"/>
          </a:p>
        </p:txBody>
      </p:sp>
    </p:spTree>
    <p:extLst>
      <p:ext uri="{BB962C8B-B14F-4D97-AF65-F5344CB8AC3E}">
        <p14:creationId xmlns:p14="http://schemas.microsoft.com/office/powerpoint/2010/main" val="2944155215"/>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6E0C779-D81D-D2A2-3B60-92279C5D94C2}"/>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Selective distribution</a:t>
            </a:r>
            <a:endParaRPr lang="en-US"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25C79045-B1CB-60E7-5895-84575D09F9C2}"/>
              </a:ext>
            </a:extLst>
          </p:cNvPr>
          <p:cNvSpPr>
            <a:spLocks noGrp="1"/>
          </p:cNvSpPr>
          <p:nvPr>
            <p:ph idx="1"/>
          </p:nvPr>
        </p:nvSpPr>
        <p:spPr>
          <a:xfrm>
            <a:off x="457200" y="1600200"/>
            <a:ext cx="8229600" cy="5645224"/>
          </a:xfrm>
        </p:spPr>
        <p:txBody>
          <a:bodyPr>
            <a:normAutofit/>
          </a:bodyPr>
          <a:lstStyle/>
          <a:p>
            <a:pPr marL="342900" indent="-342900">
              <a:buFont typeface="Arial" panose="020B0604020202020204" pitchFamily="34" charset="0"/>
              <a:buChar char="•"/>
            </a:pPr>
            <a:r>
              <a:rPr lang="en-US" sz="2400" b="1" noProof="0" dirty="0">
                <a:solidFill>
                  <a:srgbClr val="002060"/>
                </a:solidFill>
                <a:effectLst>
                  <a:outerShdw blurRad="38100" dist="38100" dir="2700000" algn="tl">
                    <a:srgbClr val="000000">
                      <a:alpha val="43137"/>
                    </a:srgbClr>
                  </a:outerShdw>
                </a:effectLst>
              </a:rPr>
              <a:t>A routine business agreement</a:t>
            </a:r>
            <a:r>
              <a:rPr lang="en-US" sz="2400" noProof="0" dirty="0">
                <a:solidFill>
                  <a:srgbClr val="002060"/>
                </a:solidFill>
                <a:effectLst>
                  <a:outerShdw blurRad="38100" dist="38100" dir="2700000" algn="tl">
                    <a:srgbClr val="000000">
                      <a:alpha val="43137"/>
                    </a:srgbClr>
                  </a:outerShdw>
                </a:effectLst>
              </a:rPr>
              <a:t>, such as a </a:t>
            </a:r>
            <a:r>
              <a:rPr lang="en-US" sz="2400" b="1" noProof="0" dirty="0">
                <a:solidFill>
                  <a:srgbClr val="FF0000"/>
                </a:solidFill>
                <a:effectLst>
                  <a:outerShdw blurRad="38100" dist="38100" dir="2700000" algn="tl">
                    <a:srgbClr val="000000">
                      <a:alpha val="43137"/>
                    </a:srgbClr>
                  </a:outerShdw>
                </a:effectLst>
              </a:rPr>
              <a:t>franchise agreement </a:t>
            </a:r>
            <a:r>
              <a:rPr lang="en-US" sz="2400" noProof="0" dirty="0">
                <a:solidFill>
                  <a:srgbClr val="002060"/>
                </a:solidFill>
                <a:effectLst>
                  <a:outerShdw blurRad="38100" dist="38100" dir="2700000" algn="tl">
                    <a:srgbClr val="000000">
                      <a:alpha val="43137"/>
                    </a:srgbClr>
                  </a:outerShdw>
                </a:effectLst>
              </a:rPr>
              <a:t>(e.g., McDonald’s), may be interpreted as a prohibited agreement if it aims or has the effect of selective distribution, for example, by applying stiff prices or uniforming the discounts given to consumers or other businesses.</a:t>
            </a:r>
          </a:p>
          <a:p>
            <a:pPr marL="342900" indent="-342900">
              <a:buFont typeface="Arial" panose="020B0604020202020204" pitchFamily="34" charset="0"/>
              <a:buChar char="•"/>
            </a:pPr>
            <a:r>
              <a:rPr lang="en-US" sz="2400" noProof="0" dirty="0">
                <a:solidFill>
                  <a:srgbClr val="002060"/>
                </a:solidFill>
                <a:effectLst>
                  <a:outerShdw blurRad="38100" dist="38100" dir="2700000" algn="tl">
                    <a:srgbClr val="000000">
                      <a:alpha val="43137"/>
                    </a:srgbClr>
                  </a:outerShdw>
                </a:effectLst>
              </a:rPr>
              <a:t>There may be a conflict between </a:t>
            </a:r>
            <a:r>
              <a:rPr lang="en-US" sz="2400" b="1" noProof="0" dirty="0">
                <a:solidFill>
                  <a:srgbClr val="002060"/>
                </a:solidFill>
                <a:effectLst>
                  <a:outerShdw blurRad="38100" dist="38100" dir="2700000" algn="tl">
                    <a:srgbClr val="000000">
                      <a:alpha val="43137"/>
                    </a:srgbClr>
                  </a:outerShdw>
                </a:effectLst>
              </a:rPr>
              <a:t>business freedom and the need for uniformity </a:t>
            </a:r>
            <a:r>
              <a:rPr lang="en-US" sz="2400" noProof="0" dirty="0">
                <a:solidFill>
                  <a:srgbClr val="002060"/>
                </a:solidFill>
                <a:effectLst>
                  <a:outerShdw blurRad="38100" dist="38100" dir="2700000" algn="tl">
                    <a:srgbClr val="000000">
                      <a:alpha val="43137"/>
                    </a:srgbClr>
                  </a:outerShdw>
                </a:effectLst>
              </a:rPr>
              <a:t>within the franchise operation on the one hand and the prohibition of anticompetitive agreements (cartels) on the other. </a:t>
            </a:r>
          </a:p>
          <a:p>
            <a:endParaRPr lang="en-US" sz="2400"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88C0F780-D097-DFF8-A788-FC4B01393CC6}"/>
              </a:ext>
            </a:extLst>
          </p:cNvPr>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23</a:t>
            </a:fld>
            <a:endParaRPr lang="pl-PL" dirty="0"/>
          </a:p>
        </p:txBody>
      </p:sp>
    </p:spTree>
    <p:extLst>
      <p:ext uri="{BB962C8B-B14F-4D97-AF65-F5344CB8AC3E}">
        <p14:creationId xmlns:p14="http://schemas.microsoft.com/office/powerpoint/2010/main" val="365182773"/>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normAutofit fontScale="90000"/>
          </a:bodyPr>
          <a:lstStyle/>
          <a:p>
            <a:br>
              <a:rPr lang="pl-PL" b="1" dirty="0">
                <a:solidFill>
                  <a:srgbClr val="FF0000"/>
                </a:solidFill>
                <a:effectLst>
                  <a:outerShdw blurRad="38100" dist="38100" dir="2700000" algn="tl">
                    <a:srgbClr val="000000">
                      <a:alpha val="43137"/>
                    </a:srgbClr>
                  </a:outerShdw>
                </a:effectLst>
              </a:rPr>
            </a:br>
            <a:r>
              <a:rPr lang="pl-PL" b="1" dirty="0">
                <a:solidFill>
                  <a:srgbClr val="FF0000"/>
                </a:solidFill>
                <a:effectLst>
                  <a:outerShdw blurRad="38100" dist="38100" dir="2700000" algn="tl">
                    <a:srgbClr val="000000">
                      <a:alpha val="43137"/>
                    </a:srgbClr>
                  </a:outerShdw>
                </a:effectLst>
              </a:rPr>
              <a:t>SELECTIVE DISTRIBUTION</a:t>
            </a:r>
            <a:br>
              <a:rPr lang="pl-PL" b="1" dirty="0">
                <a:solidFill>
                  <a:srgbClr val="FF0000"/>
                </a:solidFill>
                <a:effectLst>
                  <a:outerShdw blurRad="38100" dist="38100" dir="2700000" algn="tl">
                    <a:srgbClr val="000000">
                      <a:alpha val="43137"/>
                    </a:srgbClr>
                  </a:outerShdw>
                </a:effectLst>
              </a:rPr>
            </a:br>
            <a:endParaRPr lang="en-US" dirty="0"/>
          </a:p>
        </p:txBody>
      </p:sp>
      <p:sp>
        <p:nvSpPr>
          <p:cNvPr id="3" name="Symbol zastępczy zawartości 2"/>
          <p:cNvSpPr>
            <a:spLocks noGrp="1"/>
          </p:cNvSpPr>
          <p:nvPr>
            <p:ph idx="1"/>
          </p:nvPr>
        </p:nvSpPr>
        <p:spPr/>
        <p:txBody>
          <a:bodyPr>
            <a:normAutofit/>
          </a:bodyPr>
          <a:lstStyle/>
          <a:p>
            <a:r>
              <a:rPr lang="en-US" dirty="0">
                <a:effectLst>
                  <a:outerShdw blurRad="38100" dist="38100" dir="2700000" algn="tl">
                    <a:srgbClr val="000000">
                      <a:alpha val="43137"/>
                    </a:srgbClr>
                  </a:outerShdw>
                </a:effectLst>
              </a:rPr>
              <a:t>Selective distribution agreements are </a:t>
            </a:r>
            <a:r>
              <a:rPr lang="en-US" b="1" dirty="0">
                <a:solidFill>
                  <a:srgbClr val="FF0000"/>
                </a:solidFill>
                <a:effectLst>
                  <a:outerShdw blurRad="38100" dist="38100" dir="2700000" algn="tl">
                    <a:srgbClr val="000000">
                      <a:alpha val="43137"/>
                    </a:srgbClr>
                  </a:outerShdw>
                </a:effectLst>
              </a:rPr>
              <a:t>acceptable</a:t>
            </a:r>
            <a:r>
              <a:rPr lang="en-US" dirty="0">
                <a:effectLst>
                  <a:outerShdw blurRad="38100" dist="38100" dir="2700000" algn="tl">
                    <a:srgbClr val="000000">
                      <a:alpha val="43137"/>
                    </a:srgbClr>
                  </a:outerShdw>
                </a:effectLst>
              </a:rPr>
              <a:t> by the European Commission </a:t>
            </a:r>
            <a:r>
              <a:rPr lang="pl-PL" b="1" dirty="0">
                <a:solidFill>
                  <a:srgbClr val="FF0000"/>
                </a:solidFill>
                <a:effectLst>
                  <a:outerShdw blurRad="38100" dist="38100" dir="2700000" algn="tl">
                    <a:srgbClr val="000000">
                      <a:alpha val="43137"/>
                    </a:srgbClr>
                  </a:outerShdw>
                </a:effectLst>
              </a:rPr>
              <a:t>if</a:t>
            </a:r>
            <a:r>
              <a:rPr lang="en-US" dirty="0">
                <a:effectLst>
                  <a:outerShdw blurRad="38100" dist="38100" dir="2700000" algn="tl">
                    <a:srgbClr val="000000">
                      <a:alpha val="43137"/>
                    </a:srgbClr>
                  </a:outerShdw>
                </a:effectLst>
              </a:rPr>
              <a:t>:</a:t>
            </a:r>
          </a:p>
          <a:p>
            <a:pPr>
              <a:buNone/>
            </a:pPr>
            <a:r>
              <a:rPr lang="en-US" dirty="0">
                <a:effectLst>
                  <a:outerShdw blurRad="38100" dist="38100" dir="2700000" algn="tl">
                    <a:srgbClr val="000000">
                      <a:alpha val="43137"/>
                    </a:srgbClr>
                  </a:outerShdw>
                </a:effectLst>
              </a:rPr>
              <a:t>    1) goods need </a:t>
            </a:r>
            <a:r>
              <a:rPr lang="en-US" b="1" dirty="0">
                <a:solidFill>
                  <a:srgbClr val="002060"/>
                </a:solidFill>
                <a:effectLst>
                  <a:outerShdw blurRad="38100" dist="38100" dir="2700000" algn="tl">
                    <a:srgbClr val="000000">
                      <a:alpha val="43137"/>
                    </a:srgbClr>
                  </a:outerShdw>
                </a:effectLst>
                <a:latin typeface="Arial Black" pitchFamily="34" charset="0"/>
              </a:rPr>
              <a:t>specialized service </a:t>
            </a:r>
            <a:r>
              <a:rPr lang="en-US"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watches,</a:t>
            </a:r>
            <a:r>
              <a:rPr lang="pl-PL" b="1"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electronics</a:t>
            </a:r>
            <a:r>
              <a:rPr lang="pl-PL" b="1" dirty="0">
                <a:solidFill>
                  <a:srgbClr val="002060"/>
                </a:solidFill>
                <a:effectLst>
                  <a:outerShdw blurRad="38100" dist="38100" dir="2700000" algn="tl">
                    <a:srgbClr val="000000">
                      <a:alpha val="43137"/>
                    </a:srgbClr>
                  </a:outerShdw>
                </a:effectLst>
              </a:rPr>
              <a:t>) and</a:t>
            </a:r>
            <a:r>
              <a:rPr lang="en-US" b="1" dirty="0">
                <a:solidFill>
                  <a:srgbClr val="002060"/>
                </a:solidFill>
                <a:effectLst>
                  <a:outerShdw blurRad="38100" dist="38100" dir="2700000" algn="tl">
                    <a:srgbClr val="000000">
                      <a:alpha val="43137"/>
                    </a:srgbClr>
                  </a:outerShdw>
                </a:effectLst>
              </a:rPr>
              <a:t> luxury goods</a:t>
            </a:r>
            <a:r>
              <a:rPr lang="pl-PL" b="1" dirty="0">
                <a:solidFill>
                  <a:srgbClr val="002060"/>
                </a:solidFill>
                <a:effectLst>
                  <a:outerShdw blurRad="38100" dist="38100" dir="2700000" algn="tl">
                    <a:srgbClr val="000000">
                      <a:alpha val="43137"/>
                    </a:srgbClr>
                  </a:outerShdw>
                </a:effectLst>
              </a:rPr>
              <a:t> (some cosmetics brands, garments, jewelry</a:t>
            </a:r>
            <a:r>
              <a:rPr lang="pl-PL" b="1" dirty="0">
                <a:effectLst>
                  <a:outerShdw blurRad="38100" dist="38100" dir="2700000" algn="tl">
                    <a:srgbClr val="000000">
                      <a:alpha val="43137"/>
                    </a:srgbClr>
                  </a:outerShdw>
                </a:effectLst>
              </a:rPr>
              <a:t>)</a:t>
            </a:r>
            <a:endParaRPr lang="en-US" b="1" dirty="0">
              <a:effectLst>
                <a:outerShdw blurRad="38100" dist="38100" dir="2700000" algn="tl">
                  <a:srgbClr val="000000">
                    <a:alpha val="43137"/>
                  </a:srgbClr>
                </a:outerShdw>
              </a:effectLst>
            </a:endParaRPr>
          </a:p>
          <a:p>
            <a:r>
              <a:rPr lang="en-US" dirty="0">
                <a:effectLst>
                  <a:outerShdw blurRad="38100" dist="38100" dir="2700000" algn="tl">
                    <a:srgbClr val="000000">
                      <a:alpha val="43137"/>
                    </a:srgbClr>
                  </a:outerShdw>
                </a:effectLst>
              </a:rPr>
              <a:t>     2) </a:t>
            </a:r>
            <a:r>
              <a:rPr lang="pl-PL" dirty="0">
                <a:effectLst>
                  <a:outerShdw blurRad="38100" dist="38100" dir="2700000" algn="tl">
                    <a:srgbClr val="000000">
                      <a:alpha val="43137"/>
                    </a:srgbClr>
                  </a:outerShdw>
                </a:effectLst>
              </a:rPr>
              <a:t>Admission</a:t>
            </a:r>
            <a:r>
              <a:rPr lang="en-US" dirty="0">
                <a:effectLst>
                  <a:outerShdw blurRad="38100" dist="38100" dir="2700000" algn="tl">
                    <a:srgbClr val="000000">
                      <a:alpha val="43137"/>
                    </a:srgbClr>
                  </a:outerShdw>
                </a:effectLst>
              </a:rPr>
              <a:t> to distribution must be open and based on </a:t>
            </a:r>
            <a:r>
              <a:rPr lang="en-US" b="1" dirty="0">
                <a:solidFill>
                  <a:srgbClr val="002060"/>
                </a:solidFill>
                <a:effectLst>
                  <a:outerShdw blurRad="38100" dist="38100" dir="2700000" algn="tl">
                    <a:srgbClr val="000000">
                      <a:alpha val="43137"/>
                    </a:srgbClr>
                  </a:outerShdw>
                </a:effectLst>
                <a:latin typeface="Arial Black" pitchFamily="34" charset="0"/>
              </a:rPr>
              <a:t>transparent criteria </a:t>
            </a:r>
            <a:r>
              <a:rPr lang="en-US" b="1" dirty="0">
                <a:effectLst>
                  <a:outerShdw blurRad="38100" dist="38100" dir="2700000" algn="tl">
                    <a:srgbClr val="000000">
                      <a:alpha val="43137"/>
                    </a:srgbClr>
                  </a:outerShdw>
                </a:effectLst>
              </a:rPr>
              <a:t>and non-discriminatory</a:t>
            </a:r>
            <a:r>
              <a:rPr lang="en-US" dirty="0">
                <a:effectLst>
                  <a:outerShdw blurRad="38100" dist="38100" dir="2700000" algn="tl">
                    <a:srgbClr val="000000">
                      <a:alpha val="43137"/>
                    </a:srgbClr>
                  </a:outerShdw>
                </a:effectLst>
              </a:rPr>
              <a:t>. Cri</a:t>
            </a:r>
            <a:r>
              <a:rPr lang="pl-PL" dirty="0">
                <a:effectLst>
                  <a:outerShdw blurRad="38100" dist="38100" dir="2700000" algn="tl">
                    <a:srgbClr val="000000">
                      <a:alpha val="43137"/>
                    </a:srgbClr>
                  </a:outerShdw>
                </a:effectLst>
              </a:rPr>
              <a:t>t</a:t>
            </a:r>
            <a:r>
              <a:rPr lang="en-US" dirty="0">
                <a:effectLst>
                  <a:outerShdw blurRad="38100" dist="38100" dir="2700000" algn="tl">
                    <a:srgbClr val="000000">
                      <a:alpha val="43137"/>
                    </a:srgbClr>
                  </a:outerShdw>
                </a:effectLst>
              </a:rPr>
              <a:t>eria must be objective (concerning technical backup, display of goods</a:t>
            </a:r>
            <a:r>
              <a:rPr lang="pl-PL" dirty="0">
                <a:effectLst>
                  <a:outerShdw blurRad="38100" dist="38100" dir="2700000" algn="tl">
                    <a:srgbClr val="000000">
                      <a:alpha val="43137"/>
                    </a:srgbClr>
                  </a:outerShdw>
                </a:effectLst>
              </a:rPr>
              <a:t>,</a:t>
            </a:r>
            <a:r>
              <a:rPr lang="en-US" dirty="0">
                <a:effectLst>
                  <a:outerShdw blurRad="38100" dist="38100" dir="2700000" algn="tl">
                    <a:srgbClr val="000000">
                      <a:alpha val="43137"/>
                    </a:srgbClr>
                  </a:outerShdw>
                </a:effectLst>
              </a:rPr>
              <a:t> etc.)</a:t>
            </a:r>
            <a:r>
              <a:rPr lang="pl-PL" dirty="0">
                <a:effectLst>
                  <a:outerShdw blurRad="38100" dist="38100" dir="2700000" algn="tl">
                    <a:srgbClr val="000000">
                      <a:alpha val="43137"/>
                    </a:srgbClr>
                  </a:outerShdw>
                </a:effectLst>
              </a:rPr>
              <a:t>. </a:t>
            </a:r>
          </a:p>
          <a:p>
            <a:endParaRPr lang="pl-PL" sz="2000" dirty="0">
              <a:solidFill>
                <a:srgbClr val="002060"/>
              </a:solidFill>
              <a:effectLst>
                <a:outerShdw blurRad="38100" dist="38100" dir="2700000" algn="tl">
                  <a:srgbClr val="000000">
                    <a:alpha val="43137"/>
                  </a:srgbClr>
                </a:outerShdw>
              </a:effectLst>
            </a:endParaRPr>
          </a:p>
          <a:p>
            <a:pPr>
              <a:buNone/>
            </a:pPr>
            <a:r>
              <a:rPr lang="pl-PL" dirty="0">
                <a:effectLst>
                  <a:outerShdw blurRad="38100" dist="38100" dir="2700000" algn="tl">
                    <a:srgbClr val="000000">
                      <a:alpha val="43137"/>
                    </a:srgbClr>
                  </a:outerShdw>
                </a:effectLst>
              </a:rPr>
              <a:t> </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24</a:t>
            </a:fld>
            <a:endParaRPr lang="pl-PL"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SELECTIVE DISTRIBUTION</a:t>
            </a:r>
            <a:endParaRPr lang="pl-PL" dirty="0"/>
          </a:p>
        </p:txBody>
      </p:sp>
      <p:sp>
        <p:nvSpPr>
          <p:cNvPr id="3" name="Symbol zastępczy zawartości 2"/>
          <p:cNvSpPr>
            <a:spLocks noGrp="1"/>
          </p:cNvSpPr>
          <p:nvPr>
            <p:ph idx="1"/>
          </p:nvPr>
        </p:nvSpPr>
        <p:spPr>
          <a:xfrm>
            <a:off x="138020" y="1484784"/>
            <a:ext cx="7886700" cy="4072255"/>
          </a:xfrm>
        </p:spPr>
        <p:txBody>
          <a:bodyPr>
            <a:normAutofit/>
          </a:bodyPr>
          <a:lstStyle/>
          <a:p>
            <a:r>
              <a:rPr lang="pl-PL" sz="2400" b="1" dirty="0">
                <a:solidFill>
                  <a:srgbClr val="002060"/>
                </a:solidFill>
                <a:effectLst>
                  <a:outerShdw blurRad="38100" dist="38100" dir="2700000" algn="tl">
                    <a:srgbClr val="000000">
                      <a:alpha val="43137"/>
                    </a:srgbClr>
                  </a:outerShdw>
                </a:effectLst>
                <a:latin typeface="Arial Black" panose="020B0A04020102020204" pitchFamily="34" charset="0"/>
              </a:rPr>
              <a:t>A selective distribution agreement</a:t>
            </a:r>
            <a:r>
              <a:rPr lang="en-US" sz="2400" b="1" dirty="0">
                <a:solidFill>
                  <a:srgbClr val="002060"/>
                </a:solidFill>
                <a:effectLst>
                  <a:outerShdw blurRad="38100" dist="38100" dir="2700000" algn="tl">
                    <a:srgbClr val="000000">
                      <a:alpha val="43137"/>
                    </a:srgbClr>
                  </a:outerShdw>
                </a:effectLst>
              </a:rPr>
              <a:t> is not a cartel if:</a:t>
            </a:r>
          </a:p>
          <a:p>
            <a:pPr>
              <a:buFont typeface="Wingdings" panose="05000000000000000000" pitchFamily="2" charset="2"/>
              <a:buChar char="Ø"/>
            </a:pPr>
            <a:r>
              <a:rPr lang="en-US" sz="2400" dirty="0">
                <a:solidFill>
                  <a:srgbClr val="002060"/>
                </a:solidFill>
                <a:effectLst>
                  <a:outerShdw blurRad="38100" dist="38100" dir="2700000" algn="tl">
                    <a:srgbClr val="000000">
                      <a:alpha val="43137"/>
                    </a:srgbClr>
                  </a:outerShdw>
                </a:effectLst>
              </a:rPr>
              <a:t>Restrictions are </a:t>
            </a:r>
            <a:r>
              <a:rPr lang="en-US" sz="2400" b="1" dirty="0">
                <a:solidFill>
                  <a:srgbClr val="FF0000"/>
                </a:solidFill>
                <a:effectLst>
                  <a:outerShdw blurRad="38100" dist="38100" dir="2700000" algn="tl">
                    <a:srgbClr val="000000">
                      <a:alpha val="43137"/>
                    </a:srgbClr>
                  </a:outerShdw>
                </a:effectLst>
              </a:rPr>
              <a:t>necessary </a:t>
            </a:r>
            <a:r>
              <a:rPr lang="pl-PL" sz="2400" b="1" dirty="0">
                <a:solidFill>
                  <a:srgbClr val="FF0000"/>
                </a:solidFill>
                <a:effectLst>
                  <a:outerShdw blurRad="38100" dist="38100" dir="2700000" algn="tl">
                    <a:srgbClr val="000000">
                      <a:alpha val="43137"/>
                    </a:srgbClr>
                  </a:outerShdw>
                </a:effectLst>
              </a:rPr>
              <a:t>to maintain</a:t>
            </a:r>
            <a:r>
              <a:rPr lang="en-US" sz="2400" b="1" dirty="0">
                <a:solidFill>
                  <a:srgbClr val="FF0000"/>
                </a:solidFill>
                <a:effectLst>
                  <a:outerShdw blurRad="38100" dist="38100" dir="2700000" algn="tl">
                    <a:srgbClr val="000000">
                      <a:alpha val="43137"/>
                    </a:srgbClr>
                  </a:outerShdw>
                </a:effectLst>
              </a:rPr>
              <a:t> the prestige </a:t>
            </a:r>
            <a:r>
              <a:rPr lang="en-US" sz="2400" dirty="0">
                <a:solidFill>
                  <a:srgbClr val="002060"/>
                </a:solidFill>
                <a:effectLst>
                  <a:outerShdw blurRad="38100" dist="38100" dir="2700000" algn="tl">
                    <a:srgbClr val="000000">
                      <a:alpha val="43137"/>
                    </a:srgbClr>
                  </a:outerShdw>
                </a:effectLst>
              </a:rPr>
              <a:t>of the </a:t>
            </a:r>
            <a:r>
              <a:rPr lang="pl-PL" sz="2400" dirty="0">
                <a:solidFill>
                  <a:srgbClr val="002060"/>
                </a:solidFill>
                <a:effectLst>
                  <a:outerShdw blurRad="38100" dist="38100" dir="2700000" algn="tl">
                    <a:srgbClr val="000000">
                      <a:alpha val="43137"/>
                    </a:srgbClr>
                  </a:outerShdw>
                </a:effectLst>
              </a:rPr>
              <a:t>maker of luxurious goods</a:t>
            </a:r>
            <a:r>
              <a:rPr lang="en-US" sz="2400" dirty="0">
                <a:solidFill>
                  <a:srgbClr val="002060"/>
                </a:solidFill>
                <a:effectLst>
                  <a:outerShdw blurRad="38100" dist="38100" dir="2700000" algn="tl">
                    <a:srgbClr val="000000">
                      <a:alpha val="43137"/>
                    </a:srgbClr>
                  </a:outerShdw>
                </a:effectLst>
              </a:rPr>
              <a:t> (L’Oreal case). A product cannot be sold anywhere for any price to maintain its prestigious status</a:t>
            </a:r>
          </a:p>
          <a:p>
            <a:pPr>
              <a:buFont typeface="Wingdings" panose="05000000000000000000" pitchFamily="2" charset="2"/>
              <a:buChar char="Ø"/>
            </a:pPr>
            <a:r>
              <a:rPr lang="en-US" sz="2400" dirty="0">
                <a:solidFill>
                  <a:srgbClr val="002060"/>
                </a:solidFill>
                <a:effectLst>
                  <a:outerShdw blurRad="38100" dist="38100" dir="2700000" algn="tl">
                    <a:srgbClr val="000000">
                      <a:alpha val="43137"/>
                    </a:srgbClr>
                  </a:outerShdw>
                </a:effectLst>
              </a:rPr>
              <a:t>Restrictions are </a:t>
            </a:r>
            <a:r>
              <a:rPr lang="pl-PL" sz="2400" b="1" dirty="0">
                <a:solidFill>
                  <a:srgbClr val="002060"/>
                </a:solidFill>
                <a:effectLst>
                  <a:outerShdw blurRad="38100" dist="38100" dir="2700000" algn="tl">
                    <a:srgbClr val="000000">
                      <a:alpha val="43137"/>
                    </a:srgbClr>
                  </a:outerShdw>
                </a:effectLst>
              </a:rPr>
              <a:t>n</a:t>
            </a:r>
            <a:r>
              <a:rPr lang="en-US" sz="2400" b="1" dirty="0">
                <a:solidFill>
                  <a:srgbClr val="002060"/>
                </a:solidFill>
                <a:effectLst>
                  <a:outerShdw blurRad="38100" dist="38100" dir="2700000" algn="tl">
                    <a:srgbClr val="000000">
                      <a:alpha val="43137"/>
                    </a:srgbClr>
                  </a:outerShdw>
                </a:effectLst>
              </a:rPr>
              <a:t>ecessary </a:t>
            </a:r>
            <a:r>
              <a:rPr lang="pl-PL" sz="2400" b="1" dirty="0">
                <a:solidFill>
                  <a:srgbClr val="002060"/>
                </a:solidFill>
                <a:effectLst>
                  <a:outerShdw blurRad="38100" dist="38100" dir="2700000" algn="tl">
                    <a:srgbClr val="000000">
                      <a:alpha val="43137"/>
                    </a:srgbClr>
                  </a:outerShdw>
                </a:effectLst>
              </a:rPr>
              <a:t>to explain better</a:t>
            </a:r>
            <a:r>
              <a:rPr lang="en-US" sz="2400" b="1" dirty="0">
                <a:solidFill>
                  <a:srgbClr val="FF0000"/>
                </a:solidFill>
                <a:effectLst>
                  <a:outerShdw blurRad="38100" dist="38100" dir="2700000" algn="tl">
                    <a:srgbClr val="000000">
                      <a:alpha val="43137"/>
                    </a:srgbClr>
                  </a:outerShdw>
                </a:effectLst>
              </a:rPr>
              <a:t> the functioning </a:t>
            </a:r>
            <a:r>
              <a:rPr lang="en-US" sz="2400" dirty="0">
                <a:solidFill>
                  <a:srgbClr val="002060"/>
                </a:solidFill>
                <a:effectLst>
                  <a:outerShdw blurRad="38100" dist="38100" dir="2700000" algn="tl">
                    <a:srgbClr val="000000">
                      <a:alpha val="43137"/>
                    </a:srgbClr>
                  </a:outerShdw>
                </a:effectLst>
              </a:rPr>
              <a:t>of the product (eg</a:t>
            </a:r>
            <a:r>
              <a:rPr lang="pl-PL" sz="2400" dirty="0">
                <a:solidFill>
                  <a:srgbClr val="002060"/>
                </a:solidFill>
                <a:effectLst>
                  <a:outerShdw blurRad="38100" dist="38100" dir="2700000" algn="tl">
                    <a:srgbClr val="000000">
                      <a:alpha val="43137"/>
                    </a:srgbClr>
                  </a:outerShdw>
                </a:effectLst>
              </a:rPr>
              <a:t>,</a:t>
            </a:r>
            <a:r>
              <a:rPr lang="en-US" sz="2400" dirty="0">
                <a:solidFill>
                  <a:srgbClr val="002060"/>
                </a:solidFill>
                <a:effectLst>
                  <a:outerShdw blurRad="38100" dist="38100" dir="2700000" algn="tl">
                    <a:srgbClr val="000000">
                      <a:alpha val="43137"/>
                    </a:srgbClr>
                  </a:outerShdw>
                </a:effectLst>
              </a:rPr>
              <a:t> Electronic equipment</a:t>
            </a:r>
            <a:r>
              <a:rPr lang="en-US" sz="2800" dirty="0">
                <a:solidFill>
                  <a:srgbClr val="002060"/>
                </a:solidFill>
                <a:effectLst>
                  <a:outerShdw blurRad="38100" dist="38100" dir="2700000" algn="tl">
                    <a:srgbClr val="000000">
                      <a:alpha val="43137"/>
                    </a:srgbClr>
                  </a:outerShdw>
                </a:effectLst>
              </a:rPr>
              <a:t>)</a:t>
            </a:r>
          </a:p>
          <a:p>
            <a:r>
              <a:rPr lang="en-US" b="1" dirty="0">
                <a:solidFill>
                  <a:srgbClr val="FF0000"/>
                </a:solidFill>
                <a:effectLst>
                  <a:outerShdw blurRad="38100" dist="38100" dir="2700000" algn="tl">
                    <a:srgbClr val="000000">
                      <a:alpha val="43137"/>
                    </a:srgbClr>
                  </a:outerShdw>
                </a:effectLst>
              </a:rPr>
              <a:t>Case </a:t>
            </a:r>
            <a:r>
              <a:rPr lang="en-US" b="1" dirty="0">
                <a:solidFill>
                  <a:srgbClr val="FF0000"/>
                </a:solidFill>
                <a:effectLst>
                  <a:outerShdw blurRad="38100" dist="38100" dir="2700000" algn="tl">
                    <a:srgbClr val="000000">
                      <a:alpha val="43137"/>
                    </a:srgbClr>
                  </a:outerShdw>
                </a:effectLst>
                <a:latin typeface="Arial Black" pitchFamily="34" charset="0"/>
              </a:rPr>
              <a:t>L’Oreal </a:t>
            </a:r>
            <a:r>
              <a:rPr lang="en-US" b="1" dirty="0">
                <a:solidFill>
                  <a:srgbClr val="FF0000"/>
                </a:solidFill>
                <a:effectLst>
                  <a:outerShdw blurRad="38100" dist="38100" dir="2700000" algn="tl">
                    <a:srgbClr val="000000">
                      <a:alpha val="43137"/>
                    </a:srgbClr>
                  </a:outerShdw>
                </a:effectLst>
              </a:rPr>
              <a:t>31/80</a:t>
            </a:r>
          </a:p>
          <a:p>
            <a:pPr marL="0" indent="0">
              <a:buNone/>
            </a:pPr>
            <a:endParaRPr lang="pl-PL" dirty="0">
              <a:solidFill>
                <a:srgbClr val="FF0000"/>
              </a:solidFill>
              <a:effectLst>
                <a:outerShdw blurRad="38100" dist="38100" dir="2700000" algn="tl">
                  <a:srgbClr val="000000">
                    <a:alpha val="43137"/>
                  </a:srgbClr>
                </a:outerShdw>
              </a:effectLst>
              <a:latin typeface="Arial Black" panose="020B0A04020102020204" pitchFamily="34" charset="0"/>
            </a:endParaRP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25</a:t>
            </a:fld>
            <a:endParaRPr lang="pl-PL" dirty="0"/>
          </a:p>
        </p:txBody>
      </p:sp>
    </p:spTree>
    <p:extLst>
      <p:ext uri="{BB962C8B-B14F-4D97-AF65-F5344CB8AC3E}">
        <p14:creationId xmlns:p14="http://schemas.microsoft.com/office/powerpoint/2010/main" val="4169275795"/>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69566EF-3D94-74F7-A8BB-FFBD35F8AD8E}"/>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highlight>
                  <a:srgbClr val="00FF00"/>
                </a:highlight>
              </a:rPr>
              <a:t>ETURAS case</a:t>
            </a:r>
            <a:endParaRPr lang="en-US" dirty="0">
              <a:solidFill>
                <a:srgbClr val="FF0000"/>
              </a:solidFill>
              <a:effectLst>
                <a:outerShdw blurRad="38100" dist="38100" dir="2700000" algn="tl">
                  <a:srgbClr val="000000">
                    <a:alpha val="43137"/>
                  </a:srgbClr>
                </a:outerShdw>
              </a:effectLst>
              <a:highlight>
                <a:srgbClr val="00FF00"/>
              </a:highlight>
            </a:endParaRPr>
          </a:p>
        </p:txBody>
      </p:sp>
      <p:sp>
        <p:nvSpPr>
          <p:cNvPr id="3" name="Symbol zastępczy zawartości 2">
            <a:extLst>
              <a:ext uri="{FF2B5EF4-FFF2-40B4-BE49-F238E27FC236}">
                <a16:creationId xmlns:a16="http://schemas.microsoft.com/office/drawing/2014/main" id="{A88409D2-CFBF-F0F6-7101-2B49F5943605}"/>
              </a:ext>
            </a:extLst>
          </p:cNvPr>
          <p:cNvSpPr>
            <a:spLocks noGrp="1"/>
          </p:cNvSpPr>
          <p:nvPr>
            <p:ph idx="1"/>
          </p:nvPr>
        </p:nvSpPr>
        <p:spPr/>
        <p:txBody>
          <a:bodyPr>
            <a:normAutofit/>
          </a:bodyPr>
          <a:lstStyle/>
          <a:p>
            <a:pPr marL="342900" indent="-342900">
              <a:buFont typeface="Arial" panose="020B0604020202020204" pitchFamily="34" charset="0"/>
              <a:buChar char="•"/>
            </a:pPr>
            <a:r>
              <a:rPr lang="en-US" b="1" noProof="0" dirty="0">
                <a:solidFill>
                  <a:srgbClr val="002060"/>
                </a:solidFill>
                <a:effectLst>
                  <a:outerShdw blurRad="38100" dist="38100" dir="2700000" algn="tl">
                    <a:srgbClr val="000000">
                      <a:alpha val="43137"/>
                    </a:srgbClr>
                  </a:outerShdw>
                </a:effectLst>
              </a:rPr>
              <a:t>This case illustrates the trouble with interpreting the term „cartel” in the business environment using digital technology. </a:t>
            </a:r>
          </a:p>
          <a:p>
            <a:pPr marL="342900" indent="-342900">
              <a:buFont typeface="Arial" panose="020B0604020202020204" pitchFamily="34" charset="0"/>
              <a:buChar char="•"/>
            </a:pPr>
            <a:r>
              <a:rPr lang="en-US" b="1" noProof="0" dirty="0">
                <a:solidFill>
                  <a:srgbClr val="002060"/>
                </a:solidFill>
                <a:effectLst>
                  <a:outerShdw blurRad="38100" dist="38100" dir="2700000" algn="tl">
                    <a:srgbClr val="000000">
                      <a:alpha val="43137"/>
                    </a:srgbClr>
                  </a:outerShdw>
                </a:effectLst>
              </a:rPr>
              <a:t>The technology used here was relatively simple. The problem would be aggravated if AI were used to facilitate communication between cartel members.</a:t>
            </a:r>
          </a:p>
          <a:p>
            <a:pPr marL="342900" indent="-342900">
              <a:buFont typeface="Arial" panose="020B0604020202020204" pitchFamily="34" charset="0"/>
              <a:buChar char="•"/>
            </a:pPr>
            <a:r>
              <a:rPr lang="en-US" b="1" noProof="0" dirty="0">
                <a:solidFill>
                  <a:srgbClr val="002060"/>
                </a:solidFill>
                <a:effectLst>
                  <a:outerShdw blurRad="38100" dist="38100" dir="2700000" algn="tl">
                    <a:srgbClr val="000000">
                      <a:alpha val="43137"/>
                    </a:srgbClr>
                  </a:outerShdw>
                </a:effectLst>
              </a:rPr>
              <a:t>Information exchange can constitute a cartel</a:t>
            </a:r>
            <a:r>
              <a:rPr lang="en-US" noProof="0" dirty="0">
                <a:solidFill>
                  <a:srgbClr val="002060"/>
                </a:solidFill>
                <a:effectLst>
                  <a:outerShdw blurRad="38100" dist="38100" dir="2700000" algn="tl">
                    <a:srgbClr val="000000">
                      <a:alpha val="43137"/>
                    </a:srgbClr>
                  </a:outerShdw>
                </a:effectLst>
              </a:rPr>
              <a:t>. In the case of automation and robotics, </a:t>
            </a:r>
            <a:r>
              <a:rPr lang="en-US" b="1" noProof="0" dirty="0">
                <a:solidFill>
                  <a:srgbClr val="002060"/>
                </a:solidFill>
                <a:effectLst>
                  <a:outerShdw blurRad="38100" dist="38100" dir="2700000" algn="tl">
                    <a:srgbClr val="000000">
                      <a:alpha val="43137"/>
                    </a:srgbClr>
                  </a:outerShdw>
                </a:effectLst>
              </a:rPr>
              <a:t>machines systematically organize the exchange </a:t>
            </a:r>
            <a:r>
              <a:rPr lang="en-US" noProof="0" dirty="0">
                <a:solidFill>
                  <a:srgbClr val="002060"/>
                </a:solidFill>
                <a:effectLst>
                  <a:outerShdw blurRad="38100" dist="38100" dir="2700000" algn="tl">
                    <a:srgbClr val="000000">
                      <a:alpha val="43137"/>
                    </a:srgbClr>
                  </a:outerShdw>
                </a:effectLst>
              </a:rPr>
              <a:t>and operation of businesses (software markets, e-commerce, search engines, metadata).</a:t>
            </a:r>
          </a:p>
          <a:p>
            <a:r>
              <a:rPr lang="pl-PL" sz="1500" dirty="0">
                <a:solidFill>
                  <a:srgbClr val="002060"/>
                </a:solidFill>
                <a:effectLst>
                  <a:outerShdw blurRad="38100" dist="38100" dir="2700000" algn="tl">
                    <a:srgbClr val="000000">
                      <a:alpha val="43137"/>
                    </a:srgbClr>
                  </a:outerShdw>
                </a:effectLst>
              </a:rPr>
              <a:t>Source:</a:t>
            </a:r>
            <a:br>
              <a:rPr lang="pl-PL" sz="1500" dirty="0">
                <a:solidFill>
                  <a:srgbClr val="002060"/>
                </a:solidFill>
                <a:effectLst>
                  <a:outerShdw blurRad="38100" dist="38100" dir="2700000" algn="tl">
                    <a:srgbClr val="000000">
                      <a:alpha val="43137"/>
                    </a:srgbClr>
                  </a:outerShdw>
                </a:effectLst>
              </a:rPr>
            </a:br>
            <a:r>
              <a:rPr lang="pl-PL" sz="1500" dirty="0">
                <a:solidFill>
                  <a:srgbClr val="002060"/>
                </a:solidFill>
                <a:effectLst>
                  <a:outerShdw blurRad="38100" dist="38100" dir="2700000" algn="tl">
                    <a:srgbClr val="000000">
                      <a:alpha val="43137"/>
                    </a:srgbClr>
                  </a:outerShdw>
                </a:effectLst>
              </a:rPr>
              <a:t>A. Gembicka, A. Heinemann, Can Computers Form Cartels, case </a:t>
            </a:r>
            <a:r>
              <a:rPr lang="pl-PL" sz="1500" b="1" dirty="0">
                <a:solidFill>
                  <a:srgbClr val="002060"/>
                </a:solidFill>
                <a:effectLst>
                  <a:outerShdw blurRad="38100" dist="38100" dir="2700000" algn="tl">
                    <a:srgbClr val="000000">
                      <a:alpha val="43137"/>
                    </a:srgbClr>
                  </a:outerShdw>
                </a:effectLst>
              </a:rPr>
              <a:t>ETURAS</a:t>
            </a:r>
            <a:r>
              <a:rPr lang="pl-PL" sz="1500" dirty="0">
                <a:solidFill>
                  <a:srgbClr val="002060"/>
                </a:solidFill>
                <a:effectLst>
                  <a:outerShdw blurRad="38100" dist="38100" dir="2700000" algn="tl">
                    <a:srgbClr val="000000">
                      <a:alpha val="43137"/>
                    </a:srgbClr>
                  </a:outerShdw>
                </a:effectLst>
              </a:rPr>
              <a:t> i inni C-74/14 (2016</a:t>
            </a:r>
            <a:endParaRPr lang="en-US" dirty="0"/>
          </a:p>
        </p:txBody>
      </p:sp>
    </p:spTree>
    <p:extLst>
      <p:ext uri="{BB962C8B-B14F-4D97-AF65-F5344CB8AC3E}">
        <p14:creationId xmlns:p14="http://schemas.microsoft.com/office/powerpoint/2010/main" val="4292973358"/>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51AE03F-C2C7-8B8F-4794-ACF2E7E27F71}"/>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4D33D6DD-7AA6-26A5-7D82-A412D601EE3B}"/>
              </a:ext>
            </a:extLst>
          </p:cNvPr>
          <p:cNvSpPr>
            <a:spLocks noGrp="1"/>
          </p:cNvSpPr>
          <p:nvPr>
            <p:ph idx="1"/>
          </p:nvPr>
        </p:nvSpPr>
        <p:spPr>
          <a:xfrm>
            <a:off x="628650" y="2226469"/>
            <a:ext cx="7886700" cy="3500438"/>
          </a:xfrm>
        </p:spPr>
        <p:txBody>
          <a:bodyPr/>
          <a:lstStyle/>
          <a:p>
            <a:r>
              <a:rPr lang="en-US" b="1" dirty="0">
                <a:solidFill>
                  <a:srgbClr val="FF0000"/>
                </a:solidFill>
                <a:effectLst>
                  <a:outerShdw blurRad="38100" dist="38100" dir="2700000" algn="tl">
                    <a:srgbClr val="000000">
                      <a:alpha val="43137"/>
                    </a:srgbClr>
                  </a:outerShdw>
                </a:effectLst>
                <a:highlight>
                  <a:srgbClr val="00FF00"/>
                </a:highlight>
              </a:rPr>
              <a:t>FACILITATOR</a:t>
            </a:r>
          </a:p>
          <a:p>
            <a:r>
              <a:rPr lang="en-US" dirty="0">
                <a:solidFill>
                  <a:srgbClr val="002060"/>
                </a:solidFill>
                <a:effectLst>
                  <a:outerShdw blurRad="38100" dist="38100" dir="2700000" algn="tl">
                    <a:srgbClr val="000000">
                      <a:alpha val="43137"/>
                    </a:srgbClr>
                  </a:outerShdw>
                </a:effectLst>
              </a:rPr>
              <a:t>The Lithuanian antitrust authority found the operator of the Eturas system </a:t>
            </a:r>
            <a:r>
              <a:rPr lang="pl-PL" dirty="0">
                <a:solidFill>
                  <a:srgbClr val="002060"/>
                </a:solidFill>
                <a:effectLst>
                  <a:outerShdw blurRad="38100" dist="38100" dir="2700000" algn="tl">
                    <a:srgbClr val="000000">
                      <a:alpha val="43137"/>
                    </a:srgbClr>
                  </a:outerShdw>
                </a:effectLst>
              </a:rPr>
              <a:t>was </a:t>
            </a:r>
            <a:r>
              <a:rPr lang="en-US" b="1" dirty="0">
                <a:solidFill>
                  <a:srgbClr val="FF0000"/>
                </a:solidFill>
                <a:effectLst>
                  <a:outerShdw blurRad="38100" dist="38100" dir="2700000" algn="tl">
                    <a:srgbClr val="000000">
                      <a:alpha val="43137"/>
                    </a:srgbClr>
                  </a:outerShdw>
                </a:effectLst>
              </a:rPr>
              <a:t>a participant in a discount coordination cartel</a:t>
            </a:r>
            <a:r>
              <a:rPr lang="pl-PL" b="1" dirty="0">
                <a:solidFill>
                  <a:srgbClr val="FF0000"/>
                </a:solidFill>
                <a:effectLst>
                  <a:outerShdw blurRad="38100" dist="38100" dir="2700000" algn="tl">
                    <a:srgbClr val="000000">
                      <a:alpha val="43137"/>
                    </a:srgbClr>
                  </a:outerShdw>
                </a:effectLst>
              </a:rPr>
              <a:t> (as a facilitator)</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even though it did not operate in the travel agent market.</a:t>
            </a:r>
          </a:p>
          <a:p>
            <a:r>
              <a:rPr lang="en-US" dirty="0">
                <a:solidFill>
                  <a:srgbClr val="002060"/>
                </a:solidFill>
                <a:effectLst>
                  <a:outerShdw blurRad="38100" dist="38100" dir="2700000" algn="tl">
                    <a:srgbClr val="000000">
                      <a:alpha val="43137"/>
                    </a:srgbClr>
                  </a:outerShdw>
                </a:effectLst>
              </a:rPr>
              <a:t>AC Treuhand, C-194/14 P, </a:t>
            </a:r>
            <a:r>
              <a:rPr lang="pl-PL" b="1" dirty="0">
                <a:solidFill>
                  <a:srgbClr val="FF0000"/>
                </a:solidFill>
                <a:effectLst>
                  <a:outerShdw blurRad="38100" dist="38100" dir="2700000" algn="tl">
                    <a:srgbClr val="000000">
                      <a:alpha val="43137"/>
                    </a:srgbClr>
                  </a:outerShdw>
                </a:effectLst>
                <a:highlight>
                  <a:srgbClr val="00FF00"/>
                </a:highlight>
              </a:rPr>
              <a:t>cartel f</a:t>
            </a:r>
            <a:r>
              <a:rPr lang="en-US" b="1" dirty="0">
                <a:solidFill>
                  <a:srgbClr val="FF0000"/>
                </a:solidFill>
                <a:effectLst>
                  <a:outerShdw blurRad="38100" dist="38100" dir="2700000" algn="tl">
                    <a:srgbClr val="000000">
                      <a:alpha val="43137"/>
                    </a:srgbClr>
                  </a:outerShdw>
                </a:effectLst>
                <a:highlight>
                  <a:srgbClr val="00FF00"/>
                </a:highlight>
              </a:rPr>
              <a:t>acilitators </a:t>
            </a:r>
            <a:r>
              <a:rPr lang="en-US" b="1" dirty="0">
                <a:solidFill>
                  <a:srgbClr val="FF0000"/>
                </a:solidFill>
                <a:effectLst>
                  <a:outerShdw blurRad="38100" dist="38100" dir="2700000" algn="tl">
                    <a:srgbClr val="000000">
                      <a:alpha val="43137"/>
                    </a:srgbClr>
                  </a:outerShdw>
                </a:effectLst>
              </a:rPr>
              <a:t>are liable under Article 101 </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regardless of the market in which they themselves operate" (</a:t>
            </a:r>
            <a:r>
              <a:rPr lang="pl-PL" b="1" dirty="0">
                <a:solidFill>
                  <a:srgbClr val="002060"/>
                </a:solidFill>
                <a:effectLst>
                  <a:outerShdw blurRad="38100" dist="38100" dir="2700000" algn="tl">
                    <a:srgbClr val="000000">
                      <a:alpha val="43137"/>
                    </a:srgbClr>
                  </a:outerShdw>
                </a:effectLst>
              </a:rPr>
              <a:t>here: </a:t>
            </a:r>
            <a:r>
              <a:rPr lang="en-US" b="1" dirty="0">
                <a:solidFill>
                  <a:srgbClr val="002060"/>
                </a:solidFill>
                <a:effectLst>
                  <a:outerShdw blurRad="38100" dist="38100" dir="2700000" algn="tl">
                    <a:srgbClr val="000000">
                      <a:alpha val="43137"/>
                    </a:srgbClr>
                  </a:outerShdw>
                </a:effectLst>
              </a:rPr>
              <a:t>upstream of the cartel market)</a:t>
            </a:r>
          </a:p>
          <a:p>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37734146"/>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31E152E-F7A5-AF7E-013B-9B9DB8D000CE}"/>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0BC4078C-2AB0-B89F-1EE6-D56B38BA7469}"/>
              </a:ext>
            </a:extLst>
          </p:cNvPr>
          <p:cNvSpPr>
            <a:spLocks noGrp="1"/>
          </p:cNvSpPr>
          <p:nvPr>
            <p:ph idx="1"/>
          </p:nvPr>
        </p:nvSpPr>
        <p:spPr/>
        <p:txBody>
          <a:bodyPr/>
          <a:lstStyle/>
          <a:p>
            <a:r>
              <a:rPr lang="en-US" sz="2700" dirty="0">
                <a:solidFill>
                  <a:srgbClr val="002060"/>
                </a:solidFill>
                <a:effectLst>
                  <a:outerShdw blurRad="38100" dist="38100" dir="2700000" algn="tl">
                    <a:srgbClr val="000000">
                      <a:alpha val="43137"/>
                    </a:srgbClr>
                  </a:outerShdw>
                </a:effectLst>
              </a:rPr>
              <a:t>Eturas – Lithuania, Online booking system operated by the travel agency Eturas – coordination of online </a:t>
            </a:r>
            <a:r>
              <a:rPr lang="en-US" sz="2700" b="1" dirty="0">
                <a:solidFill>
                  <a:srgbClr val="FF0000"/>
                </a:solidFill>
                <a:effectLst>
                  <a:outerShdw blurRad="38100" dist="38100" dir="2700000" algn="tl">
                    <a:srgbClr val="000000">
                      <a:alpha val="43137"/>
                    </a:srgbClr>
                  </a:outerShdw>
                </a:effectLst>
              </a:rPr>
              <a:t>discounts</a:t>
            </a:r>
            <a:r>
              <a:rPr lang="pl-PL" sz="2700" b="1" dirty="0">
                <a:solidFill>
                  <a:srgbClr val="FF0000"/>
                </a:solidFill>
                <a:effectLst>
                  <a:outerShdw blurRad="38100" dist="38100" dir="2700000" algn="tl">
                    <a:srgbClr val="000000">
                      <a:alpha val="43137"/>
                    </a:srgbClr>
                  </a:outerShdw>
                </a:effectLst>
              </a:rPr>
              <a:t> (rabates)</a:t>
            </a:r>
            <a:r>
              <a:rPr lang="en-US" sz="2700" dirty="0">
                <a:solidFill>
                  <a:srgbClr val="002060"/>
                </a:solidFill>
                <a:effectLst>
                  <a:outerShdw blurRad="38100" dist="38100" dir="2700000" algn="tl">
                    <a:srgbClr val="000000">
                      <a:alpha val="43137"/>
                    </a:srgbClr>
                  </a:outerShdw>
                </a:effectLst>
              </a:rPr>
              <a:t> </a:t>
            </a:r>
            <a:r>
              <a:rPr lang="en-US" sz="2700" b="1" dirty="0">
                <a:solidFill>
                  <a:srgbClr val="FF0000"/>
                </a:solidFill>
                <a:effectLst>
                  <a:outerShdw blurRad="38100" dist="38100" dir="2700000" algn="tl">
                    <a:srgbClr val="000000">
                      <a:alpha val="43137"/>
                    </a:srgbClr>
                  </a:outerShdw>
                </a:effectLst>
              </a:rPr>
              <a:t>+- 3%; </a:t>
            </a:r>
            <a:r>
              <a:rPr lang="en-US" sz="2700" dirty="0">
                <a:solidFill>
                  <a:srgbClr val="002060"/>
                </a:solidFill>
                <a:effectLst>
                  <a:outerShdw blurRad="38100" dist="38100" dir="2700000" algn="tl">
                    <a:srgbClr val="000000">
                      <a:alpha val="43137"/>
                    </a:srgbClr>
                  </a:outerShdw>
                </a:effectLst>
              </a:rPr>
              <a:t>the antitrust authority found that </a:t>
            </a:r>
            <a:r>
              <a:rPr lang="en-US" sz="2700" b="1" dirty="0">
                <a:solidFill>
                  <a:srgbClr val="002060"/>
                </a:solidFill>
                <a:effectLst>
                  <a:outerShdw blurRad="38100" dist="38100" dir="2700000" algn="tl">
                    <a:srgbClr val="000000">
                      <a:alpha val="43137"/>
                    </a:srgbClr>
                  </a:outerShdw>
                </a:effectLst>
              </a:rPr>
              <a:t>30 travel agencies participated in the cartel</a:t>
            </a:r>
            <a:endParaRPr lang="pl-PL" sz="2700" b="1" dirty="0">
              <a:solidFill>
                <a:srgbClr val="00206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774271717"/>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A3AED94-D05A-961B-CFC4-F6B0D27ECCA8}"/>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CB53C8A3-0143-DD6A-D6FE-29D93EBFC113}"/>
              </a:ext>
            </a:extLst>
          </p:cNvPr>
          <p:cNvSpPr>
            <a:spLocks noGrp="1"/>
          </p:cNvSpPr>
          <p:nvPr>
            <p:ph idx="1"/>
          </p:nvPr>
        </p:nvSpPr>
        <p:spPr>
          <a:xfrm>
            <a:off x="628650" y="2226469"/>
            <a:ext cx="7886700" cy="3578865"/>
          </a:xfrm>
        </p:spPr>
        <p:txBody>
          <a:bodyPr>
            <a:normAutofit lnSpcReduction="10000"/>
          </a:bodyPr>
          <a:lstStyle/>
          <a:p>
            <a:r>
              <a:rPr lang="en-US" sz="1800" b="1" dirty="0">
                <a:solidFill>
                  <a:srgbClr val="FF0000"/>
                </a:solidFill>
                <a:effectLst>
                  <a:outerShdw blurRad="38100" dist="38100" dir="2700000" algn="tl">
                    <a:srgbClr val="000000">
                      <a:alpha val="43137"/>
                    </a:srgbClr>
                  </a:outerShdw>
                </a:effectLst>
              </a:rPr>
              <a:t>Defense</a:t>
            </a:r>
            <a:r>
              <a:rPr lang="pl-PL" sz="1800" b="1" dirty="0">
                <a:solidFill>
                  <a:srgbClr val="FF0000"/>
                </a:solidFill>
                <a:effectLst>
                  <a:outerShdw blurRad="38100" dist="38100" dir="2700000" algn="tl">
                    <a:srgbClr val="000000">
                      <a:alpha val="43137"/>
                    </a:srgbClr>
                  </a:outerShdw>
                </a:effectLst>
              </a:rPr>
              <a:t> arguments</a:t>
            </a:r>
            <a:r>
              <a:rPr lang="en-US" sz="1800" dirty="0">
                <a:solidFill>
                  <a:srgbClr val="002060"/>
                </a:solidFill>
                <a:effectLst>
                  <a:outerShdw blurRad="38100" dist="38100" dir="2700000" algn="tl">
                    <a:srgbClr val="000000">
                      <a:alpha val="43137"/>
                    </a:srgbClr>
                  </a:outerShdw>
                </a:effectLst>
              </a:rPr>
              <a:t>: the discount restrictions were a </a:t>
            </a:r>
            <a:r>
              <a:rPr lang="en-US" sz="1800" b="1" dirty="0">
                <a:solidFill>
                  <a:srgbClr val="FF0000"/>
                </a:solidFill>
                <a:effectLst>
                  <a:outerShdw blurRad="38100" dist="38100" dir="2700000" algn="tl">
                    <a:srgbClr val="000000">
                      <a:alpha val="43137"/>
                    </a:srgbClr>
                  </a:outerShdw>
                </a:effectLst>
              </a:rPr>
              <a:t>unilateral technical action </a:t>
            </a:r>
            <a:r>
              <a:rPr lang="en-US" sz="1800" b="1" dirty="0">
                <a:solidFill>
                  <a:srgbClr val="002060"/>
                </a:solidFill>
                <a:effectLst>
                  <a:outerShdw blurRad="38100" dist="38100" dir="2700000" algn="tl">
                    <a:srgbClr val="000000">
                      <a:alpha val="43137"/>
                    </a:srgbClr>
                  </a:outerShdw>
                </a:effectLst>
              </a:rPr>
              <a:t>by Eturas</a:t>
            </a:r>
            <a:r>
              <a:rPr lang="pl-PL" sz="1800" b="1" dirty="0">
                <a:solidFill>
                  <a:srgbClr val="002060"/>
                </a:solidFill>
                <a:effectLst>
                  <a:outerShdw blurRad="38100" dist="38100" dir="2700000" algn="tl">
                    <a:srgbClr val="000000">
                      <a:alpha val="43137"/>
                    </a:srgbClr>
                  </a:outerShdw>
                </a:effectLst>
              </a:rPr>
              <a:t>. Therefore, there was no agreement ( a concurrence of the wills) necessary to allege a cartel</a:t>
            </a:r>
            <a:endParaRPr lang="en-US" sz="1800" b="1"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sz="1800" b="1" dirty="0">
                <a:solidFill>
                  <a:srgbClr val="002060"/>
                </a:solidFill>
                <a:effectLst>
                  <a:outerShdw blurRad="38100" dist="38100" dir="2700000" algn="tl">
                    <a:srgbClr val="000000">
                      <a:alpha val="43137"/>
                    </a:srgbClr>
                  </a:outerShdw>
                </a:effectLst>
              </a:rPr>
              <a:t>There were no typical forms of business communication </a:t>
            </a:r>
            <a:r>
              <a:rPr lang="pl-PL" sz="1800" b="1" dirty="0">
                <a:solidFill>
                  <a:srgbClr val="002060"/>
                </a:solidFill>
                <a:effectLst>
                  <a:outerShdw blurRad="38100" dist="38100" dir="2700000" algn="tl">
                    <a:srgbClr val="000000">
                      <a:alpha val="43137"/>
                    </a:srgbClr>
                  </a:outerShdw>
                </a:effectLst>
              </a:rPr>
              <a:t>such as </a:t>
            </a:r>
            <a:r>
              <a:rPr lang="en-US" sz="1800" b="1" dirty="0">
                <a:solidFill>
                  <a:srgbClr val="002060"/>
                </a:solidFill>
                <a:effectLst>
                  <a:outerShdw blurRad="38100" dist="38100" dir="2700000" algn="tl">
                    <a:srgbClr val="000000">
                      <a:alpha val="43137"/>
                    </a:srgbClr>
                  </a:outerShdw>
                </a:effectLst>
              </a:rPr>
              <a:t>meetings </a:t>
            </a:r>
            <a:r>
              <a:rPr lang="pl-PL" sz="1800" b="1" dirty="0">
                <a:solidFill>
                  <a:srgbClr val="002060"/>
                </a:solidFill>
                <a:effectLst>
                  <a:outerShdw blurRad="38100" dist="38100" dir="2700000" algn="tl">
                    <a:srgbClr val="000000">
                      <a:alpha val="43137"/>
                    </a:srgbClr>
                  </a:outerShdw>
                </a:effectLst>
              </a:rPr>
              <a:t>or </a:t>
            </a:r>
            <a:r>
              <a:rPr lang="en-US" sz="1800" b="1" dirty="0">
                <a:solidFill>
                  <a:srgbClr val="002060"/>
                </a:solidFill>
                <a:effectLst>
                  <a:outerShdw blurRad="38100" dist="38100" dir="2700000" algn="tl">
                    <a:srgbClr val="000000">
                      <a:alpha val="43137"/>
                    </a:srgbClr>
                  </a:outerShdw>
                </a:effectLst>
              </a:rPr>
              <a:t>emails</a:t>
            </a:r>
          </a:p>
          <a:p>
            <a:pPr marL="342900" indent="-342900">
              <a:buFont typeface="Arial" panose="020B0604020202020204" pitchFamily="34" charset="0"/>
              <a:buChar char="•"/>
            </a:pPr>
            <a:r>
              <a:rPr lang="en-US" sz="1800" dirty="0">
                <a:solidFill>
                  <a:srgbClr val="002060"/>
                </a:solidFill>
                <a:effectLst>
                  <a:outerShdw blurRad="38100" dist="38100" dir="2700000" algn="tl">
                    <a:srgbClr val="000000">
                      <a:alpha val="43137"/>
                    </a:srgbClr>
                  </a:outerShdw>
                </a:effectLst>
              </a:rPr>
              <a:t>Some companies </a:t>
            </a:r>
            <a:r>
              <a:rPr lang="en-US" sz="1800" b="1" dirty="0">
                <a:solidFill>
                  <a:srgbClr val="FF0000"/>
                </a:solidFill>
                <a:effectLst>
                  <a:outerShdw blurRad="38100" dist="38100" dir="2700000" algn="tl">
                    <a:srgbClr val="000000">
                      <a:alpha val="43137"/>
                    </a:srgbClr>
                  </a:outerShdw>
                </a:effectLst>
              </a:rPr>
              <a:t>only partially utilized the discounts </a:t>
            </a:r>
            <a:r>
              <a:rPr lang="en-US" sz="1800" dirty="0">
                <a:solidFill>
                  <a:srgbClr val="002060"/>
                </a:solidFill>
                <a:effectLst>
                  <a:outerShdw blurRad="38100" dist="38100" dir="2700000" algn="tl">
                    <a:srgbClr val="000000">
                      <a:alpha val="43137"/>
                    </a:srgbClr>
                  </a:outerShdw>
                </a:effectLst>
              </a:rPr>
              <a:t>and retained the option of applying loyalty discounts (but did not use them)</a:t>
            </a:r>
          </a:p>
          <a:p>
            <a:pPr marL="342900" indent="-342900">
              <a:buFont typeface="Arial" panose="020B0604020202020204" pitchFamily="34" charset="0"/>
              <a:buChar char="•"/>
            </a:pPr>
            <a:r>
              <a:rPr lang="pl-PL" sz="1800" b="1" dirty="0">
                <a:solidFill>
                  <a:srgbClr val="FF0000"/>
                </a:solidFill>
                <a:effectLst>
                  <a:outerShdw blurRad="38100" dist="38100" dir="2700000" algn="tl">
                    <a:srgbClr val="000000">
                      <a:alpha val="43137"/>
                    </a:srgbClr>
                  </a:outerShdw>
                </a:effectLst>
              </a:rPr>
              <a:t>A d</a:t>
            </a:r>
            <a:r>
              <a:rPr lang="en-US" sz="1800" b="1" dirty="0">
                <a:solidFill>
                  <a:srgbClr val="FF0000"/>
                </a:solidFill>
                <a:effectLst>
                  <a:outerShdw blurRad="38100" dist="38100" dir="2700000" algn="tl">
                    <a:srgbClr val="000000">
                      <a:alpha val="43137"/>
                    </a:srgbClr>
                  </a:outerShdw>
                </a:effectLst>
              </a:rPr>
              <a:t>edicated email system was used</a:t>
            </a:r>
            <a:r>
              <a:rPr lang="en-US" sz="1800" dirty="0">
                <a:solidFill>
                  <a:srgbClr val="002060"/>
                </a:solidFill>
                <a:effectLst>
                  <a:outerShdw blurRad="38100" dist="38100" dir="2700000" algn="tl">
                    <a:srgbClr val="000000">
                      <a:alpha val="43137"/>
                    </a:srgbClr>
                  </a:outerShdw>
                </a:effectLst>
              </a:rPr>
              <a:t>.</a:t>
            </a:r>
            <a:endParaRPr lang="pl-PL" sz="1800" dirty="0">
              <a:solidFill>
                <a:srgbClr val="002060"/>
              </a:solidFill>
              <a:effectLst>
                <a:outerShdw blurRad="38100" dist="38100" dir="2700000" algn="tl">
                  <a:srgbClr val="000000">
                    <a:alpha val="43137"/>
                  </a:srgbClr>
                </a:outerShdw>
              </a:effectLst>
            </a:endParaRPr>
          </a:p>
          <a:p>
            <a:r>
              <a:rPr lang="en-US" sz="1800" dirty="0">
                <a:solidFill>
                  <a:srgbClr val="002060"/>
                </a:solidFill>
                <a:effectLst>
                  <a:outerShdw blurRad="38100" dist="38100" dir="2700000" algn="tl">
                    <a:srgbClr val="000000">
                      <a:alpha val="43137"/>
                    </a:srgbClr>
                  </a:outerShdw>
                </a:effectLst>
              </a:rPr>
              <a:t> </a:t>
            </a:r>
            <a:r>
              <a:rPr lang="en-US" sz="1800" b="1" dirty="0">
                <a:solidFill>
                  <a:srgbClr val="0070C0"/>
                </a:solidFill>
                <a:effectLst>
                  <a:outerShdw blurRad="38100" dist="38100" dir="2700000" algn="tl">
                    <a:srgbClr val="000000">
                      <a:alpha val="43137"/>
                    </a:srgbClr>
                  </a:outerShdw>
                </a:effectLst>
              </a:rPr>
              <a:t>Under what circumstances does such a system meet the conditions of an agreement?</a:t>
            </a:r>
            <a:r>
              <a:rPr lang="en-US" sz="1800" b="1" dirty="0">
                <a:solidFill>
                  <a:srgbClr val="002060"/>
                </a:solidFill>
                <a:effectLst>
                  <a:outerShdw blurRad="38100" dist="38100" dir="2700000" algn="tl">
                    <a:srgbClr val="000000">
                      <a:alpha val="43137"/>
                    </a:srgbClr>
                  </a:outerShdw>
                </a:effectLst>
              </a:rPr>
              <a:t> </a:t>
            </a:r>
            <a:endParaRPr lang="pl-PL" sz="1800" b="1" dirty="0">
              <a:solidFill>
                <a:srgbClr val="002060"/>
              </a:solidFill>
              <a:effectLst>
                <a:outerShdw blurRad="38100" dist="38100" dir="2700000" algn="tl">
                  <a:srgbClr val="000000">
                    <a:alpha val="43137"/>
                  </a:srgbClr>
                </a:outerShdw>
              </a:effectLst>
            </a:endParaRPr>
          </a:p>
          <a:p>
            <a:r>
              <a:rPr lang="en-US" sz="1800" dirty="0">
                <a:solidFill>
                  <a:srgbClr val="002060"/>
                </a:solidFill>
                <a:effectLst>
                  <a:outerShdw blurRad="38100" dist="38100" dir="2700000" algn="tl">
                    <a:srgbClr val="000000">
                      <a:alpha val="43137"/>
                    </a:srgbClr>
                  </a:outerShdw>
                </a:effectLst>
              </a:rPr>
              <a:t>The </a:t>
            </a:r>
            <a:r>
              <a:rPr lang="pl-PL" sz="1800" dirty="0">
                <a:solidFill>
                  <a:srgbClr val="002060"/>
                </a:solidFill>
                <a:effectLst>
                  <a:outerShdw blurRad="38100" dist="38100" dir="2700000" algn="tl">
                    <a:srgbClr val="000000">
                      <a:alpha val="43137"/>
                    </a:srgbClr>
                  </a:outerShdw>
                </a:effectLst>
              </a:rPr>
              <a:t>Court</a:t>
            </a:r>
            <a:r>
              <a:rPr lang="en-US" sz="1800" dirty="0">
                <a:solidFill>
                  <a:srgbClr val="002060"/>
                </a:solidFill>
                <a:effectLst>
                  <a:outerShdw blurRad="38100" dist="38100" dir="2700000" algn="tl">
                    <a:srgbClr val="000000">
                      <a:alpha val="43137"/>
                    </a:srgbClr>
                  </a:outerShdw>
                </a:effectLst>
              </a:rPr>
              <a:t> focused on the issue of </a:t>
            </a:r>
            <a:r>
              <a:rPr lang="en-US" sz="1800" b="1" dirty="0">
                <a:solidFill>
                  <a:srgbClr val="FF0000"/>
                </a:solidFill>
                <a:effectLst>
                  <a:outerShdw blurRad="38100" dist="38100" dir="2700000" algn="tl">
                    <a:srgbClr val="000000">
                      <a:alpha val="43137"/>
                    </a:srgbClr>
                  </a:outerShdw>
                </a:effectLst>
              </a:rPr>
              <a:t>awareness of participation </a:t>
            </a:r>
            <a:r>
              <a:rPr lang="en-US" sz="1800" b="1" dirty="0">
                <a:solidFill>
                  <a:srgbClr val="002060"/>
                </a:solidFill>
                <a:effectLst>
                  <a:outerShdw blurRad="38100" dist="38100" dir="2700000" algn="tl">
                    <a:srgbClr val="000000">
                      <a:alpha val="43137"/>
                    </a:srgbClr>
                  </a:outerShdw>
                </a:effectLst>
              </a:rPr>
              <a:t>i</a:t>
            </a:r>
            <a:r>
              <a:rPr lang="en-US" sz="1800" dirty="0">
                <a:solidFill>
                  <a:srgbClr val="002060"/>
                </a:solidFill>
                <a:effectLst>
                  <a:outerShdw blurRad="38100" dist="38100" dir="2700000" algn="tl">
                    <a:srgbClr val="000000">
                      <a:alpha val="43137"/>
                    </a:srgbClr>
                  </a:outerShdw>
                </a:effectLst>
              </a:rPr>
              <a:t>n the concerted practice</a:t>
            </a:r>
            <a:r>
              <a:rPr lang="pl-PL" sz="1800" dirty="0">
                <a:solidFill>
                  <a:srgbClr val="002060"/>
                </a:solidFill>
                <a:effectLst>
                  <a:outerShdw blurRad="38100" dist="38100" dir="2700000" algn="tl">
                    <a:srgbClr val="000000">
                      <a:alpha val="43137"/>
                    </a:srgbClr>
                  </a:outerShdw>
                </a:effectLst>
              </a:rPr>
              <a:t>; therefore, it did not address the main problem</a:t>
            </a:r>
            <a:r>
              <a:rPr lang="pl-PL" sz="1950" dirty="0">
                <a:solidFill>
                  <a:srgbClr val="002060"/>
                </a:solidFill>
                <a:effectLst>
                  <a:outerShdw blurRad="38100" dist="38100" dir="2700000" algn="tl">
                    <a:srgbClr val="000000">
                      <a:alpha val="43137"/>
                    </a:srgbClr>
                  </a:outerShdw>
                </a:effectLst>
              </a:rPr>
              <a:t>.</a:t>
            </a:r>
            <a:endParaRPr lang="en-US" sz="1950" dirty="0">
              <a:solidFill>
                <a:srgbClr val="002060"/>
              </a:solidFill>
              <a:effectLst>
                <a:outerShdw blurRad="38100" dist="38100" dir="2700000" algn="tl">
                  <a:srgbClr val="000000">
                    <a:alpha val="43137"/>
                  </a:srgbClr>
                </a:outerShdw>
              </a:effectLst>
            </a:endParaRPr>
          </a:p>
          <a:p>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13988704"/>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3AD0126-71EC-1ADB-C8A7-6C1277A15C03}"/>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62C6ADB9-E693-5035-5894-A45D8708460B}"/>
              </a:ext>
            </a:extLst>
          </p:cNvPr>
          <p:cNvSpPr>
            <a:spLocks noGrp="1"/>
          </p:cNvSpPr>
          <p:nvPr>
            <p:ph idx="1"/>
          </p:nvPr>
        </p:nvSpPr>
        <p:spPr>
          <a:xfrm>
            <a:off x="628650" y="2226469"/>
            <a:ext cx="7886700" cy="3682104"/>
          </a:xfrm>
        </p:spPr>
        <p:txBody>
          <a:bodyPr>
            <a:normAutofit/>
          </a:bodyPr>
          <a:lstStyle/>
          <a:p>
            <a:r>
              <a:rPr lang="en-US" sz="1800" b="1" dirty="0">
                <a:solidFill>
                  <a:srgbClr val="002060"/>
                </a:solidFill>
                <a:effectLst>
                  <a:outerShdw blurRad="38100" dist="38100" dir="2700000" algn="tl">
                    <a:srgbClr val="000000">
                      <a:alpha val="43137"/>
                    </a:srgbClr>
                  </a:outerShdw>
                </a:effectLst>
              </a:rPr>
              <a:t>UNILATERAL</a:t>
            </a:r>
            <a:r>
              <a:rPr lang="pl-PL" sz="1800" b="1" dirty="0">
                <a:solidFill>
                  <a:srgbClr val="002060"/>
                </a:solidFill>
                <a:effectLst>
                  <a:outerShdw blurRad="38100" dist="38100" dir="2700000" algn="tl">
                    <a:srgbClr val="000000">
                      <a:alpha val="43137"/>
                    </a:srgbClr>
                  </a:outerShdw>
                </a:effectLst>
              </a:rPr>
              <a:t> ACTION?</a:t>
            </a:r>
            <a:endParaRPr lang="en-US" sz="1800" b="1" dirty="0">
              <a:solidFill>
                <a:srgbClr val="002060"/>
              </a:solidFill>
              <a:effectLst>
                <a:outerShdw blurRad="38100" dist="38100" dir="2700000" algn="tl">
                  <a:srgbClr val="000000">
                    <a:alpha val="43137"/>
                  </a:srgbClr>
                </a:outerShdw>
              </a:effectLst>
            </a:endParaRPr>
          </a:p>
          <a:p>
            <a:r>
              <a:rPr lang="en-US" sz="1800" dirty="0">
                <a:solidFill>
                  <a:srgbClr val="002060"/>
                </a:solidFill>
                <a:effectLst>
                  <a:outerShdw blurRad="38100" dist="38100" dir="2700000" algn="tl">
                    <a:srgbClr val="000000">
                      <a:alpha val="43137"/>
                    </a:srgbClr>
                  </a:outerShdw>
                </a:effectLst>
              </a:rPr>
              <a:t>Inconsistent ECJ/SUE case law</a:t>
            </a:r>
          </a:p>
          <a:p>
            <a:r>
              <a:rPr lang="pl-PL" sz="1800" b="1" dirty="0">
                <a:solidFill>
                  <a:srgbClr val="002060"/>
                </a:solidFill>
                <a:effectLst>
                  <a:outerShdw blurRad="38100" dist="38100" dir="2700000" algn="tl">
                    <a:srgbClr val="000000">
                      <a:alpha val="43137"/>
                    </a:srgbClr>
                  </a:outerShdw>
                </a:effectLst>
              </a:rPr>
              <a:t>In cases </a:t>
            </a:r>
            <a:r>
              <a:rPr lang="en-US" sz="1800" b="1" dirty="0">
                <a:solidFill>
                  <a:srgbClr val="002060"/>
                </a:solidFill>
                <a:effectLst>
                  <a:outerShdw blurRad="38100" dist="38100" dir="2700000" algn="tl">
                    <a:srgbClr val="000000">
                      <a:alpha val="43137"/>
                    </a:srgbClr>
                  </a:outerShdw>
                </a:effectLst>
              </a:rPr>
              <a:t>Bayer C-2/01 </a:t>
            </a:r>
            <a:r>
              <a:rPr lang="en-US" sz="1800" dirty="0">
                <a:solidFill>
                  <a:srgbClr val="002060"/>
                </a:solidFill>
                <a:effectLst>
                  <a:outerShdw blurRad="38100" dist="38100" dir="2700000" algn="tl">
                    <a:srgbClr val="000000">
                      <a:alpha val="43137"/>
                    </a:srgbClr>
                  </a:outerShdw>
                </a:effectLst>
              </a:rPr>
              <a:t>and C-3/01</a:t>
            </a:r>
            <a:r>
              <a:rPr lang="pl-PL" sz="1800" dirty="0">
                <a:solidFill>
                  <a:srgbClr val="002060"/>
                </a:solidFill>
                <a:effectLst>
                  <a:outerShdw blurRad="38100" dist="38100" dir="2700000" algn="tl">
                    <a:srgbClr val="000000">
                      <a:alpha val="43137"/>
                    </a:srgbClr>
                  </a:outerShdw>
                </a:effectLst>
              </a:rPr>
              <a:t>,</a:t>
            </a:r>
            <a:r>
              <a:rPr lang="en-US" sz="1800" dirty="0">
                <a:solidFill>
                  <a:srgbClr val="002060"/>
                </a:solidFill>
                <a:effectLst>
                  <a:outerShdw blurRad="38100" dist="38100" dir="2700000" algn="tl">
                    <a:srgbClr val="000000">
                      <a:alpha val="43137"/>
                    </a:srgbClr>
                  </a:outerShdw>
                </a:effectLst>
              </a:rPr>
              <a:t> </a:t>
            </a:r>
            <a:r>
              <a:rPr lang="pl-PL" sz="1800" dirty="0">
                <a:solidFill>
                  <a:srgbClr val="002060"/>
                </a:solidFill>
                <a:effectLst>
                  <a:outerShdw blurRad="38100" dist="38100" dir="2700000" algn="tl">
                    <a:srgbClr val="000000">
                      <a:alpha val="43137"/>
                    </a:srgbClr>
                  </a:outerShdw>
                </a:effectLst>
              </a:rPr>
              <a:t>the EU Court stated that </a:t>
            </a:r>
            <a:r>
              <a:rPr lang="en-US" sz="1800" b="1" dirty="0">
                <a:solidFill>
                  <a:srgbClr val="FF0000"/>
                </a:solidFill>
                <a:effectLst>
                  <a:outerShdw blurRad="38100" dist="38100" dir="2700000" algn="tl">
                    <a:srgbClr val="000000">
                      <a:alpha val="43137"/>
                    </a:srgbClr>
                  </a:outerShdw>
                </a:effectLst>
              </a:rPr>
              <a:t>mere coexistence </a:t>
            </a:r>
            <a:r>
              <a:rPr lang="en-US" sz="1800" dirty="0">
                <a:solidFill>
                  <a:srgbClr val="002060"/>
                </a:solidFill>
                <a:effectLst>
                  <a:outerShdw blurRad="38100" dist="38100" dir="2700000" algn="tl">
                    <a:srgbClr val="000000">
                      <a:alpha val="43137"/>
                    </a:srgbClr>
                  </a:outerShdw>
                </a:effectLst>
              </a:rPr>
              <a:t>of a unilateral act and a distribution agreement does </a:t>
            </a:r>
            <a:r>
              <a:rPr lang="en-US" sz="1800" b="1" dirty="0">
                <a:solidFill>
                  <a:srgbClr val="002060"/>
                </a:solidFill>
                <a:effectLst>
                  <a:outerShdw blurRad="38100" dist="38100" dir="2700000" algn="tl">
                    <a:srgbClr val="000000">
                      <a:alpha val="43137"/>
                    </a:srgbClr>
                  </a:outerShdw>
                </a:effectLst>
              </a:rPr>
              <a:t>not prove </a:t>
            </a:r>
            <a:r>
              <a:rPr lang="en-US" sz="1800" dirty="0">
                <a:solidFill>
                  <a:srgbClr val="002060"/>
                </a:solidFill>
                <a:effectLst>
                  <a:outerShdw blurRad="38100" dist="38100" dir="2700000" algn="tl">
                    <a:srgbClr val="000000">
                      <a:alpha val="43137"/>
                    </a:srgbClr>
                  </a:outerShdw>
                </a:effectLst>
              </a:rPr>
              <a:t>the existence of </a:t>
            </a:r>
            <a:r>
              <a:rPr lang="pl-PL" sz="1800" dirty="0">
                <a:solidFill>
                  <a:srgbClr val="002060"/>
                </a:solidFill>
                <a:effectLst>
                  <a:outerShdw blurRad="38100" dist="38100" dir="2700000" algn="tl">
                    <a:srgbClr val="000000">
                      <a:alpha val="43137"/>
                    </a:srgbClr>
                  </a:outerShdw>
                </a:effectLst>
              </a:rPr>
              <a:t>a </a:t>
            </a:r>
            <a:r>
              <a:rPr lang="en-US" sz="1800" b="1" dirty="0">
                <a:solidFill>
                  <a:srgbClr val="002060"/>
                </a:solidFill>
                <a:effectLst>
                  <a:outerShdw blurRad="38100" dist="38100" dir="2700000" algn="tl">
                    <a:srgbClr val="000000">
                      <a:alpha val="43137"/>
                    </a:srgbClr>
                  </a:outerShdw>
                </a:effectLst>
              </a:rPr>
              <a:t>concerted practice</a:t>
            </a:r>
            <a:r>
              <a:rPr lang="pl-PL" sz="1800" b="1" dirty="0">
                <a:solidFill>
                  <a:srgbClr val="002060"/>
                </a:solidFill>
                <a:effectLst>
                  <a:outerShdw blurRad="38100" dist="38100" dir="2700000" algn="tl">
                    <a:srgbClr val="000000">
                      <a:alpha val="43137"/>
                    </a:srgbClr>
                  </a:outerShdw>
                </a:effectLst>
              </a:rPr>
              <a:t>.</a:t>
            </a:r>
            <a:endParaRPr lang="en-US" sz="1800" b="1" dirty="0">
              <a:solidFill>
                <a:srgbClr val="002060"/>
              </a:solidFill>
              <a:effectLst>
                <a:outerShdw blurRad="38100" dist="38100" dir="2700000" algn="tl">
                  <a:srgbClr val="000000">
                    <a:alpha val="43137"/>
                  </a:srgbClr>
                </a:outerShdw>
              </a:effectLst>
            </a:endParaRPr>
          </a:p>
          <a:p>
            <a:r>
              <a:rPr lang="en-US" sz="1800" dirty="0">
                <a:solidFill>
                  <a:srgbClr val="002060"/>
                </a:solidFill>
                <a:effectLst>
                  <a:outerShdw blurRad="38100" dist="38100" dir="2700000" algn="tl">
                    <a:srgbClr val="000000">
                      <a:alpha val="43137"/>
                    </a:srgbClr>
                  </a:outerShdw>
                </a:effectLst>
              </a:rPr>
              <a:t>Author: </a:t>
            </a:r>
            <a:r>
              <a:rPr lang="en-US" sz="1800" b="1" dirty="0">
                <a:solidFill>
                  <a:srgbClr val="002060"/>
                </a:solidFill>
                <a:effectLst>
                  <a:outerShdw blurRad="38100" dist="38100" dir="2700000" algn="tl">
                    <a:srgbClr val="000000">
                      <a:alpha val="43137"/>
                    </a:srgbClr>
                  </a:outerShdw>
                </a:effectLst>
              </a:rPr>
              <a:t>error of the General Court</a:t>
            </a:r>
            <a:r>
              <a:rPr lang="en-US" sz="1800" dirty="0">
                <a:solidFill>
                  <a:srgbClr val="002060"/>
                </a:solidFill>
                <a:effectLst>
                  <a:outerShdw blurRad="38100" dist="38100" dir="2700000" algn="tl">
                    <a:srgbClr val="000000">
                      <a:alpha val="43137"/>
                    </a:srgbClr>
                  </a:outerShdw>
                </a:effectLst>
              </a:rPr>
              <a:t>, as the </a:t>
            </a:r>
            <a:r>
              <a:rPr lang="en-US" sz="1800" b="1" dirty="0">
                <a:solidFill>
                  <a:srgbClr val="FF0000"/>
                </a:solidFill>
                <a:effectLst>
                  <a:outerShdw blurRad="38100" dist="38100" dir="2700000" algn="tl">
                    <a:srgbClr val="000000">
                      <a:alpha val="43137"/>
                    </a:srgbClr>
                  </a:outerShdw>
                </a:effectLst>
              </a:rPr>
              <a:t>interaction of the incentive and conduct</a:t>
            </a:r>
            <a:r>
              <a:rPr lang="en-US" sz="1800" dirty="0">
                <a:solidFill>
                  <a:srgbClr val="002060"/>
                </a:solidFill>
                <a:effectLst>
                  <a:outerShdw blurRad="38100" dist="38100" dir="2700000" algn="tl">
                    <a:srgbClr val="000000">
                      <a:alpha val="43137"/>
                    </a:srgbClr>
                  </a:outerShdw>
                </a:effectLst>
              </a:rPr>
              <a:t> could indicate the existence of a concerted practice</a:t>
            </a:r>
          </a:p>
          <a:p>
            <a:r>
              <a:rPr lang="pl-PL" sz="1800" dirty="0">
                <a:solidFill>
                  <a:srgbClr val="002060"/>
                </a:solidFill>
                <a:effectLst>
                  <a:outerShdw blurRad="38100" dist="38100" dir="2700000" algn="tl">
                    <a:srgbClr val="000000">
                      <a:alpha val="43137"/>
                    </a:srgbClr>
                  </a:outerShdw>
                </a:effectLst>
              </a:rPr>
              <a:t>In the case </a:t>
            </a:r>
            <a:r>
              <a:rPr lang="en-US" sz="1800" dirty="0">
                <a:solidFill>
                  <a:srgbClr val="002060"/>
                </a:solidFill>
                <a:effectLst>
                  <a:outerShdw blurRad="38100" dist="38100" dir="2700000" algn="tl">
                    <a:srgbClr val="000000">
                      <a:alpha val="43137"/>
                    </a:srgbClr>
                  </a:outerShdw>
                </a:effectLst>
              </a:rPr>
              <a:t>T-Mobile Netherlands C-8/08</a:t>
            </a:r>
            <a:r>
              <a:rPr lang="pl-PL" sz="1800" dirty="0">
                <a:solidFill>
                  <a:srgbClr val="002060"/>
                </a:solidFill>
                <a:effectLst>
                  <a:outerShdw blurRad="38100" dist="38100" dir="2700000" algn="tl">
                    <a:srgbClr val="000000">
                      <a:alpha val="43137"/>
                    </a:srgbClr>
                  </a:outerShdw>
                </a:effectLst>
              </a:rPr>
              <a:t>,</a:t>
            </a:r>
            <a:r>
              <a:rPr lang="en-US" sz="1800" dirty="0">
                <a:solidFill>
                  <a:srgbClr val="002060"/>
                </a:solidFill>
                <a:effectLst>
                  <a:outerShdw blurRad="38100" dist="38100" dir="2700000" algn="tl">
                    <a:srgbClr val="000000">
                      <a:alpha val="43137"/>
                    </a:srgbClr>
                  </a:outerShdw>
                </a:effectLst>
              </a:rPr>
              <a:t> </a:t>
            </a:r>
            <a:r>
              <a:rPr lang="en-US" sz="1800" b="1" dirty="0">
                <a:solidFill>
                  <a:srgbClr val="FF0000"/>
                </a:solidFill>
                <a:effectLst>
                  <a:outerShdw blurRad="38100" dist="38100" dir="2700000" algn="tl">
                    <a:srgbClr val="000000">
                      <a:alpha val="43137"/>
                    </a:srgbClr>
                  </a:outerShdw>
                </a:effectLst>
              </a:rPr>
              <a:t>manipulation of a single parameter is sufficient to violate Article 101. </a:t>
            </a:r>
            <a:r>
              <a:rPr lang="en-US" sz="1800" dirty="0">
                <a:solidFill>
                  <a:srgbClr val="002060"/>
                </a:solidFill>
                <a:effectLst>
                  <a:outerShdw blurRad="38100" dist="38100" dir="2700000" algn="tl">
                    <a:srgbClr val="000000">
                      <a:alpha val="43137"/>
                    </a:srgbClr>
                  </a:outerShdw>
                </a:effectLst>
              </a:rPr>
              <a:t>The authors argue that the Eturas system </a:t>
            </a:r>
            <a:r>
              <a:rPr lang="en-US" sz="1800" b="1" dirty="0">
                <a:solidFill>
                  <a:srgbClr val="FF0000"/>
                </a:solidFill>
                <a:effectLst>
                  <a:outerShdw blurRad="38100" dist="38100" dir="2700000" algn="tl">
                    <a:srgbClr val="000000">
                      <a:alpha val="43137"/>
                    </a:srgbClr>
                  </a:outerShdw>
                </a:effectLst>
              </a:rPr>
              <a:t>cannot be compared to a single meeting</a:t>
            </a:r>
          </a:p>
          <a:p>
            <a:r>
              <a:rPr lang="en-US" sz="1800" dirty="0">
                <a:solidFill>
                  <a:srgbClr val="002060"/>
                </a:solidFill>
                <a:effectLst>
                  <a:outerShdw blurRad="38100" dist="38100" dir="2700000" algn="tl">
                    <a:srgbClr val="000000">
                      <a:alpha val="43137"/>
                    </a:srgbClr>
                  </a:outerShdw>
                </a:effectLst>
              </a:rPr>
              <a:t>The </a:t>
            </a:r>
            <a:r>
              <a:rPr lang="en-US" sz="1800" b="1" dirty="0">
                <a:solidFill>
                  <a:srgbClr val="FF0000"/>
                </a:solidFill>
                <a:effectLst>
                  <a:outerShdw blurRad="38100" dist="38100" dir="2700000" algn="tl">
                    <a:srgbClr val="000000">
                      <a:alpha val="43137"/>
                    </a:srgbClr>
                  </a:outerShdw>
                </a:effectLst>
              </a:rPr>
              <a:t>discount capping mechanism </a:t>
            </a:r>
            <a:r>
              <a:rPr lang="en-US" sz="1800" dirty="0">
                <a:solidFill>
                  <a:srgbClr val="002060"/>
                </a:solidFill>
                <a:effectLst>
                  <a:outerShdw blurRad="38100" dist="38100" dir="2700000" algn="tl">
                    <a:srgbClr val="000000">
                      <a:alpha val="43137"/>
                    </a:srgbClr>
                  </a:outerShdw>
                </a:effectLst>
              </a:rPr>
              <a:t>was similar to a </a:t>
            </a:r>
            <a:r>
              <a:rPr lang="en-US" sz="1800" b="1" dirty="0">
                <a:solidFill>
                  <a:srgbClr val="FF0000"/>
                </a:solidFill>
                <a:effectLst>
                  <a:outerShdw blurRad="38100" dist="38100" dir="2700000" algn="tl">
                    <a:srgbClr val="000000">
                      <a:alpha val="43137"/>
                    </a:srgbClr>
                  </a:outerShdw>
                </a:effectLst>
              </a:rPr>
              <a:t>series of meetings</a:t>
            </a:r>
          </a:p>
          <a:p>
            <a:endParaRPr lang="en-US"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92019360"/>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0E54E32-DFD7-2682-FFAA-62CAB2202416}"/>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2D55EFD6-3215-F010-1A9E-CD2997895B88}"/>
              </a:ext>
            </a:extLst>
          </p:cNvPr>
          <p:cNvSpPr>
            <a:spLocks noGrp="1"/>
          </p:cNvSpPr>
          <p:nvPr>
            <p:ph idx="1"/>
          </p:nvPr>
        </p:nvSpPr>
        <p:spPr>
          <a:xfrm>
            <a:off x="628650" y="2226468"/>
            <a:ext cx="7886700" cy="3711601"/>
          </a:xfrm>
        </p:spPr>
        <p:txBody>
          <a:bodyPr>
            <a:normAutofit/>
          </a:bodyPr>
          <a:lstStyle/>
          <a:p>
            <a:pPr marL="342900" indent="-342900">
              <a:buFont typeface="Arial" panose="020B0604020202020204" pitchFamily="34" charset="0"/>
              <a:buChar char="•"/>
            </a:pPr>
            <a:r>
              <a:rPr lang="en-US" dirty="0">
                <a:solidFill>
                  <a:srgbClr val="002060"/>
                </a:solidFill>
                <a:effectLst>
                  <a:outerShdw blurRad="38100" dist="38100" dir="2700000" algn="tl">
                    <a:srgbClr val="000000">
                      <a:alpha val="43137"/>
                    </a:srgbClr>
                  </a:outerShdw>
                </a:effectLst>
              </a:rPr>
              <a:t>The sender of the information was </a:t>
            </a:r>
            <a:r>
              <a:rPr lang="en-US" b="1" dirty="0">
                <a:solidFill>
                  <a:srgbClr val="FF0000"/>
                </a:solidFill>
                <a:effectLst>
                  <a:outerShdw blurRad="38100" dist="38100" dir="2700000" algn="tl">
                    <a:srgbClr val="000000">
                      <a:alpha val="43137"/>
                    </a:srgbClr>
                  </a:outerShdw>
                </a:effectLst>
                <a:highlight>
                  <a:srgbClr val="FFFF00"/>
                </a:highlight>
              </a:rPr>
              <a:t>not a competitor</a:t>
            </a:r>
            <a:r>
              <a:rPr lang="en-US" dirty="0">
                <a:solidFill>
                  <a:srgbClr val="002060"/>
                </a:solidFill>
                <a:effectLst>
                  <a:outerShdw blurRad="38100" dist="38100" dir="2700000" algn="tl">
                    <a:srgbClr val="000000">
                      <a:alpha val="43137"/>
                    </a:srgbClr>
                  </a:outerShdw>
                </a:effectLst>
              </a:rPr>
              <a:t>, but an </a:t>
            </a:r>
            <a:r>
              <a:rPr lang="en-US" b="1" dirty="0">
                <a:solidFill>
                  <a:srgbClr val="FF0000"/>
                </a:solidFill>
                <a:effectLst>
                  <a:outerShdw blurRad="38100" dist="38100" dir="2700000" algn="tl">
                    <a:srgbClr val="000000">
                      <a:alpha val="43137"/>
                    </a:srgbClr>
                  </a:outerShdw>
                </a:effectLst>
              </a:rPr>
              <a:t>upstream operator </a:t>
            </a:r>
            <a:endParaRPr lang="pl-PL" b="1" dirty="0">
              <a:solidFill>
                <a:srgbClr val="FF000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b="1" dirty="0">
                <a:solidFill>
                  <a:srgbClr val="FF0000"/>
                </a:solidFill>
                <a:effectLst>
                  <a:outerShdw blurRad="38100" dist="38100" dir="2700000" algn="tl">
                    <a:srgbClr val="000000">
                      <a:alpha val="43137"/>
                    </a:srgbClr>
                  </a:outerShdw>
                </a:effectLst>
              </a:rPr>
              <a:t>The difference between the three forms of cartel </a:t>
            </a:r>
            <a:r>
              <a:rPr lang="en-US" dirty="0">
                <a:solidFill>
                  <a:srgbClr val="002060"/>
                </a:solidFill>
                <a:effectLst>
                  <a:outerShdw blurRad="38100" dist="38100" dir="2700000" algn="tl">
                    <a:srgbClr val="000000">
                      <a:alpha val="43137"/>
                    </a:srgbClr>
                  </a:outerShdw>
                </a:effectLst>
              </a:rPr>
              <a:t>under Article 101 (agreements, decisions of associations, concerted practices) </a:t>
            </a:r>
            <a:r>
              <a:rPr lang="en-US" b="1" dirty="0">
                <a:solidFill>
                  <a:srgbClr val="002060"/>
                </a:solidFill>
                <a:effectLst>
                  <a:outerShdw blurRad="38100" dist="38100" dir="2700000" algn="tl">
                    <a:srgbClr val="000000">
                      <a:alpha val="43137"/>
                    </a:srgbClr>
                  </a:outerShdw>
                </a:effectLst>
              </a:rPr>
              <a:t>lies in the </a:t>
            </a:r>
            <a:r>
              <a:rPr lang="en-US" b="1" dirty="0">
                <a:solidFill>
                  <a:srgbClr val="FF0000"/>
                </a:solidFill>
                <a:effectLst>
                  <a:outerShdw blurRad="38100" dist="38100" dir="2700000" algn="tl">
                    <a:srgbClr val="000000">
                      <a:alpha val="43137"/>
                    </a:srgbClr>
                  </a:outerShdw>
                </a:effectLst>
              </a:rPr>
              <a:t>intensity and form</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The mechanism of communication is irrelevant</a:t>
            </a:r>
            <a:r>
              <a:rPr lang="pl-PL" b="1" dirty="0">
                <a:solidFill>
                  <a:srgbClr val="0070C0"/>
                </a:solidFill>
                <a:effectLst>
                  <a:outerShdw blurRad="38100" dist="38100" dir="2700000" algn="tl">
                    <a:srgbClr val="000000">
                      <a:alpha val="43137"/>
                    </a:srgbClr>
                  </a:outerShdw>
                </a:effectLst>
              </a:rPr>
              <a:t>.</a:t>
            </a:r>
            <a:endParaRPr lang="en-US" b="1" dirty="0">
              <a:solidFill>
                <a:srgbClr val="0070C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b="1" dirty="0">
                <a:solidFill>
                  <a:srgbClr val="FF0000"/>
                </a:solidFill>
                <a:effectLst>
                  <a:outerShdw blurRad="38100" dist="38100" dir="2700000" algn="tl">
                    <a:srgbClr val="000000">
                      <a:alpha val="43137"/>
                    </a:srgbClr>
                  </a:outerShdw>
                </a:effectLst>
              </a:rPr>
              <a:t>The discount cap system did not </a:t>
            </a:r>
            <a:r>
              <a:rPr lang="pl-PL" b="1" dirty="0">
                <a:solidFill>
                  <a:srgbClr val="FF0000"/>
                </a:solidFill>
                <a:effectLst>
                  <a:outerShdw blurRad="38100" dist="38100" dir="2700000" algn="tl">
                    <a:srgbClr val="000000">
                      <a:alpha val="43137"/>
                    </a:srgbClr>
                  </a:outerShdw>
                </a:effectLst>
              </a:rPr>
              <a:t>spring from</a:t>
            </a:r>
            <a:r>
              <a:rPr lang="en-US" b="1" dirty="0">
                <a:solidFill>
                  <a:srgbClr val="FF0000"/>
                </a:solidFill>
                <a:effectLst>
                  <a:outerShdw blurRad="38100" dist="38100" dir="2700000" algn="tl">
                    <a:srgbClr val="000000">
                      <a:alpha val="43137"/>
                    </a:srgbClr>
                  </a:outerShdw>
                </a:effectLst>
              </a:rPr>
              <a:t> nowhere</a:t>
            </a:r>
            <a:r>
              <a:rPr lang="en-US" dirty="0">
                <a:solidFill>
                  <a:srgbClr val="002060"/>
                </a:solidFill>
                <a:effectLst>
                  <a:outerShdw blurRad="38100" dist="38100" dir="2700000" algn="tl">
                    <a:srgbClr val="000000">
                      <a:alpha val="43137"/>
                    </a:srgbClr>
                  </a:outerShdw>
                </a:effectLst>
              </a:rPr>
              <a:t>. It had to be agreed upon in advance. The participants were active in the market after the system was launched</a:t>
            </a:r>
          </a:p>
          <a:p>
            <a:endParaRPr lang="en-US" dirty="0"/>
          </a:p>
        </p:txBody>
      </p:sp>
    </p:spTree>
    <p:extLst>
      <p:ext uri="{BB962C8B-B14F-4D97-AF65-F5344CB8AC3E}">
        <p14:creationId xmlns:p14="http://schemas.microsoft.com/office/powerpoint/2010/main" val="3141611739"/>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0D99ABC-D7CD-A9E2-4610-A0D2DB53F873}"/>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02BCDF72-08D5-A5F1-A935-5361520EDDD1}"/>
              </a:ext>
            </a:extLst>
          </p:cNvPr>
          <p:cNvSpPr>
            <a:spLocks noGrp="1"/>
          </p:cNvSpPr>
          <p:nvPr>
            <p:ph idx="1"/>
          </p:nvPr>
        </p:nvSpPr>
        <p:spPr>
          <a:xfrm>
            <a:off x="628650" y="2226469"/>
            <a:ext cx="7886700" cy="3630485"/>
          </a:xfrm>
        </p:spPr>
        <p:txBody>
          <a:bodyPr>
            <a:normAutofit/>
          </a:bodyPr>
          <a:lstStyle/>
          <a:p>
            <a:pPr marL="342900" indent="-342900">
              <a:buFont typeface="Arial" panose="020B0604020202020204" pitchFamily="34" charset="0"/>
              <a:buChar char="•"/>
            </a:pPr>
            <a:r>
              <a:rPr lang="en-US" sz="1800" b="1" dirty="0">
                <a:solidFill>
                  <a:srgbClr val="FF0000"/>
                </a:solidFill>
                <a:effectLst>
                  <a:outerShdw blurRad="38100" dist="38100" dir="2700000" algn="tl">
                    <a:srgbClr val="000000">
                      <a:alpha val="43137"/>
                    </a:srgbClr>
                  </a:outerShdw>
                </a:effectLst>
              </a:rPr>
              <a:t>No alternative system</a:t>
            </a:r>
            <a:r>
              <a:rPr lang="en-US" sz="1800" dirty="0">
                <a:solidFill>
                  <a:srgbClr val="002060"/>
                </a:solidFill>
                <a:effectLst>
                  <a:outerShdw blurRad="38100" dist="38100" dir="2700000" algn="tl">
                    <a:srgbClr val="000000">
                      <a:alpha val="43137"/>
                    </a:srgbClr>
                  </a:outerShdw>
                </a:effectLst>
              </a:rPr>
              <a:t>; the system was helpful to the participants</a:t>
            </a:r>
          </a:p>
          <a:p>
            <a:pPr marL="342900" indent="-342900">
              <a:buFont typeface="Arial" panose="020B0604020202020204" pitchFamily="34" charset="0"/>
              <a:buChar char="•"/>
            </a:pPr>
            <a:r>
              <a:rPr lang="en-US" sz="1800" b="1" dirty="0">
                <a:solidFill>
                  <a:srgbClr val="FF0000"/>
                </a:solidFill>
                <a:effectLst>
                  <a:outerShdw blurRad="38100" dist="38100" dir="2700000" algn="tl">
                    <a:srgbClr val="000000">
                      <a:alpha val="43137"/>
                    </a:srgbClr>
                  </a:outerShdw>
                </a:effectLst>
              </a:rPr>
              <a:t>Economic risk was eliminated </a:t>
            </a:r>
            <a:r>
              <a:rPr lang="en-US" sz="1800" dirty="0">
                <a:solidFill>
                  <a:srgbClr val="002060"/>
                </a:solidFill>
                <a:effectLst>
                  <a:outerShdw blurRad="38100" dist="38100" dir="2700000" algn="tl">
                    <a:srgbClr val="000000">
                      <a:alpha val="43137"/>
                    </a:srgbClr>
                  </a:outerShdw>
                </a:effectLst>
              </a:rPr>
              <a:t>by </a:t>
            </a:r>
            <a:r>
              <a:rPr lang="en-US" sz="1800" b="1" dirty="0">
                <a:solidFill>
                  <a:srgbClr val="FF0000"/>
                </a:solidFill>
                <a:effectLst>
                  <a:outerShdw blurRad="38100" dist="38100" dir="2700000" algn="tl">
                    <a:srgbClr val="000000">
                      <a:alpha val="43137"/>
                    </a:srgbClr>
                  </a:outerShdw>
                </a:effectLst>
              </a:rPr>
              <a:t>competing on discounts</a:t>
            </a:r>
            <a:endParaRPr lang="en-US" sz="1800"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sz="1800" dirty="0">
                <a:solidFill>
                  <a:srgbClr val="002060"/>
                </a:solidFill>
                <a:effectLst>
                  <a:outerShdw blurRad="38100" dist="38100" dir="2700000" algn="tl">
                    <a:srgbClr val="000000">
                      <a:alpha val="43137"/>
                    </a:srgbClr>
                  </a:outerShdw>
                </a:effectLst>
              </a:rPr>
              <a:t>No company </a:t>
            </a:r>
            <a:r>
              <a:rPr lang="en-US" sz="1800" b="1" dirty="0">
                <a:solidFill>
                  <a:srgbClr val="FF0000"/>
                </a:solidFill>
                <a:effectLst>
                  <a:outerShdw blurRad="38100" dist="38100" dir="2700000" algn="tl">
                    <a:srgbClr val="000000">
                      <a:alpha val="43137"/>
                    </a:srgbClr>
                  </a:outerShdw>
                </a:effectLst>
              </a:rPr>
              <a:t>distanced itself </a:t>
            </a:r>
            <a:r>
              <a:rPr lang="en-US" sz="1800" dirty="0">
                <a:solidFill>
                  <a:srgbClr val="002060"/>
                </a:solidFill>
                <a:effectLst>
                  <a:outerShdw blurRad="38100" dist="38100" dir="2700000" algn="tl">
                    <a:srgbClr val="000000">
                      <a:alpha val="43137"/>
                    </a:srgbClr>
                  </a:outerShdw>
                </a:effectLst>
              </a:rPr>
              <a:t>from the system</a:t>
            </a:r>
            <a:r>
              <a:rPr lang="pl-PL" sz="1800" dirty="0">
                <a:solidFill>
                  <a:srgbClr val="002060"/>
                </a:solidFill>
                <a:effectLst>
                  <a:outerShdw blurRad="38100" dist="38100" dir="2700000" algn="tl">
                    <a:srgbClr val="000000">
                      <a:alpha val="43137"/>
                    </a:srgbClr>
                  </a:outerShdw>
                </a:effectLst>
              </a:rPr>
              <a:t>. </a:t>
            </a:r>
            <a:r>
              <a:rPr lang="en-US" sz="1800" dirty="0">
                <a:solidFill>
                  <a:srgbClr val="002060"/>
                </a:solidFill>
                <a:effectLst>
                  <a:outerShdw blurRad="38100" dist="38100" dir="2700000" algn="tl">
                    <a:srgbClr val="000000">
                      <a:alpha val="43137"/>
                    </a:srgbClr>
                  </a:outerShdw>
                </a:effectLst>
              </a:rPr>
              <a:t>involves </a:t>
            </a:r>
            <a:r>
              <a:rPr lang="en-US" sz="1800" b="1" dirty="0">
                <a:solidFill>
                  <a:srgbClr val="002060"/>
                </a:solidFill>
                <a:effectLst>
                  <a:outerShdw blurRad="38100" dist="38100" dir="2700000" algn="tl">
                    <a:srgbClr val="000000">
                      <a:alpha val="43137"/>
                    </a:srgbClr>
                  </a:outerShdw>
                </a:effectLst>
              </a:rPr>
              <a:t>raising prices or reducing production</a:t>
            </a:r>
            <a:r>
              <a:rPr lang="pl-PL" sz="1800" dirty="0">
                <a:solidFill>
                  <a:srgbClr val="002060"/>
                </a:solidFill>
                <a:effectLst>
                  <a:outerShdw blurRad="38100" dist="38100" dir="2700000" algn="tl">
                    <a:srgbClr val="000000">
                      <a:alpha val="43137"/>
                    </a:srgbClr>
                  </a:outerShdw>
                </a:effectLst>
              </a:rPr>
              <a:t>. In Eturas case </a:t>
            </a:r>
            <a:r>
              <a:rPr lang="pl-PL" sz="1800" b="1" dirty="0">
                <a:solidFill>
                  <a:srgbClr val="FF0000"/>
                </a:solidFill>
                <a:effectLst>
                  <a:outerShdw blurRad="38100" dist="38100" dir="2700000" algn="tl">
                    <a:srgbClr val="000000">
                      <a:alpha val="43137"/>
                    </a:srgbClr>
                  </a:outerShdw>
                </a:effectLst>
              </a:rPr>
              <a:t>a </a:t>
            </a:r>
            <a:r>
              <a:rPr lang="en-US" sz="1800" b="1" dirty="0">
                <a:solidFill>
                  <a:srgbClr val="FF0000"/>
                </a:solidFill>
                <a:effectLst>
                  <a:outerShdw blurRad="38100" dist="38100" dir="2700000" algn="tl">
                    <a:srgbClr val="000000">
                      <a:alpha val="43137"/>
                    </a:srgbClr>
                  </a:outerShdw>
                </a:effectLst>
              </a:rPr>
              <a:t>waiver </a:t>
            </a:r>
            <a:r>
              <a:rPr lang="en-US" sz="1800" b="1" dirty="0">
                <a:solidFill>
                  <a:srgbClr val="002060"/>
                </a:solidFill>
                <a:effectLst>
                  <a:outerShdw blurRad="38100" dist="38100" dir="2700000" algn="tl">
                    <a:srgbClr val="000000">
                      <a:alpha val="43137"/>
                    </a:srgbClr>
                  </a:outerShdw>
                </a:effectLst>
              </a:rPr>
              <a:t>would require </a:t>
            </a:r>
            <a:r>
              <a:rPr lang="en-US" sz="1800" b="1" dirty="0">
                <a:solidFill>
                  <a:srgbClr val="FF0000"/>
                </a:solidFill>
                <a:effectLst>
                  <a:outerShdw blurRad="38100" dist="38100" dir="2700000" algn="tl">
                    <a:srgbClr val="000000">
                      <a:alpha val="43137"/>
                    </a:srgbClr>
                  </a:outerShdw>
                </a:effectLst>
              </a:rPr>
              <a:t>additional technical steps</a:t>
            </a:r>
            <a:endParaRPr lang="en-US" sz="1800"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sz="1800" dirty="0">
                <a:solidFill>
                  <a:srgbClr val="002060"/>
                </a:solidFill>
                <a:effectLst>
                  <a:outerShdw blurRad="38100" dist="38100" dir="2700000" algn="tl">
                    <a:srgbClr val="000000">
                      <a:alpha val="43137"/>
                    </a:srgbClr>
                  </a:outerShdw>
                </a:effectLst>
              </a:rPr>
              <a:t>In the traditional theory of prohibited cartels, </a:t>
            </a:r>
            <a:r>
              <a:rPr lang="en-US" sz="1800" b="1" dirty="0">
                <a:solidFill>
                  <a:srgbClr val="FF0000"/>
                </a:solidFill>
                <a:effectLst>
                  <a:outerShdw blurRad="38100" dist="38100" dir="2700000" algn="tl">
                    <a:srgbClr val="000000">
                      <a:alpha val="43137"/>
                    </a:srgbClr>
                  </a:outerShdw>
                </a:effectLst>
              </a:rPr>
              <a:t>autonomy </a:t>
            </a:r>
            <a:r>
              <a:rPr lang="en-US" sz="1800" dirty="0">
                <a:solidFill>
                  <a:srgbClr val="002060"/>
                </a:solidFill>
                <a:effectLst>
                  <a:outerShdw blurRad="38100" dist="38100" dir="2700000" algn="tl">
                    <a:srgbClr val="000000">
                      <a:alpha val="43137"/>
                    </a:srgbClr>
                  </a:outerShdw>
                </a:effectLst>
              </a:rPr>
              <a:t>in decision-making by individual operators is a condition of being in a cartel (agreements </a:t>
            </a:r>
            <a:r>
              <a:rPr lang="en-US" sz="1800" b="1" dirty="0">
                <a:solidFill>
                  <a:srgbClr val="FF0000"/>
                </a:solidFill>
                <a:effectLst>
                  <a:outerShdw blurRad="38100" dist="38100" dir="2700000" algn="tl">
                    <a:srgbClr val="000000">
                      <a:alpha val="43137"/>
                    </a:srgbClr>
                  </a:outerShdw>
                </a:effectLst>
              </a:rPr>
              <a:t>within a capital group </a:t>
            </a:r>
            <a:r>
              <a:rPr lang="en-US" sz="1800" dirty="0">
                <a:solidFill>
                  <a:srgbClr val="002060"/>
                </a:solidFill>
                <a:effectLst>
                  <a:outerShdw blurRad="38100" dist="38100" dir="2700000" algn="tl">
                    <a:srgbClr val="000000">
                      <a:alpha val="43137"/>
                    </a:srgbClr>
                  </a:outerShdw>
                </a:effectLst>
              </a:rPr>
              <a:t>are not cartels)</a:t>
            </a:r>
          </a:p>
          <a:p>
            <a:pPr marL="342900" indent="-342900">
              <a:buFont typeface="Arial" panose="020B0604020202020204" pitchFamily="34" charset="0"/>
              <a:buChar char="•"/>
            </a:pPr>
            <a:r>
              <a:rPr lang="en-US" sz="1800" b="1" dirty="0">
                <a:solidFill>
                  <a:srgbClr val="FF0000"/>
                </a:solidFill>
                <a:effectLst>
                  <a:outerShdw blurRad="38100" dist="38100" dir="2700000" algn="tl">
                    <a:srgbClr val="000000">
                      <a:alpha val="43137"/>
                    </a:srgbClr>
                  </a:outerShdw>
                </a:effectLst>
              </a:rPr>
              <a:t>Prohibition of contacts </a:t>
            </a:r>
            <a:r>
              <a:rPr lang="en-US" sz="1800" dirty="0">
                <a:solidFill>
                  <a:srgbClr val="002060"/>
                </a:solidFill>
                <a:effectLst>
                  <a:outerShdw blurRad="38100" dist="38100" dir="2700000" algn="tl">
                    <a:srgbClr val="000000">
                      <a:alpha val="43137"/>
                    </a:srgbClr>
                  </a:outerShdw>
                </a:effectLst>
              </a:rPr>
              <a:t>between competing </a:t>
            </a:r>
            <a:r>
              <a:rPr lang="en-US" sz="1800" b="1" dirty="0">
                <a:solidFill>
                  <a:srgbClr val="FF0000"/>
                </a:solidFill>
                <a:effectLst>
                  <a:outerShdw blurRad="38100" dist="38100" dir="2700000" algn="tl">
                    <a:srgbClr val="000000">
                      <a:alpha val="43137"/>
                    </a:srgbClr>
                  </a:outerShdw>
                </a:effectLst>
              </a:rPr>
              <a:t>autonomous </a:t>
            </a:r>
            <a:r>
              <a:rPr lang="en-US" sz="1800" dirty="0">
                <a:solidFill>
                  <a:srgbClr val="002060"/>
                </a:solidFill>
                <a:effectLst>
                  <a:outerShdw blurRad="38100" dist="38100" dir="2700000" algn="tl">
                    <a:srgbClr val="000000">
                      <a:alpha val="43137"/>
                    </a:srgbClr>
                  </a:outerShdw>
                </a:effectLst>
              </a:rPr>
              <a:t>operators (compare </a:t>
            </a:r>
            <a:r>
              <a:rPr lang="pl-PL" sz="1800" dirty="0">
                <a:solidFill>
                  <a:srgbClr val="002060"/>
                </a:solidFill>
                <a:effectLst>
                  <a:outerShdw blurRad="38100" dist="38100" dir="2700000" algn="tl">
                    <a:srgbClr val="000000">
                      <a:alpha val="43137"/>
                    </a:srgbClr>
                  </a:outerShdw>
                </a:effectLst>
              </a:rPr>
              <a:t>with the case of </a:t>
            </a:r>
            <a:r>
              <a:rPr lang="en-US" sz="1800" dirty="0">
                <a:solidFill>
                  <a:srgbClr val="002060"/>
                </a:solidFill>
                <a:effectLst>
                  <a:outerShdw blurRad="38100" dist="38100" dir="2700000" algn="tl">
                    <a:srgbClr val="000000">
                      <a:alpha val="43137"/>
                    </a:srgbClr>
                  </a:outerShdw>
                </a:effectLst>
              </a:rPr>
              <a:t>Sphinx in Poland, where franchisees and the headquarters were charged with being in a cartel.)</a:t>
            </a:r>
          </a:p>
          <a:p>
            <a:endParaRPr lang="en-US" dirty="0"/>
          </a:p>
        </p:txBody>
      </p:sp>
    </p:spTree>
    <p:extLst>
      <p:ext uri="{BB962C8B-B14F-4D97-AF65-F5344CB8AC3E}">
        <p14:creationId xmlns:p14="http://schemas.microsoft.com/office/powerpoint/2010/main" val="51554413"/>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35F3DC-EEB5-48C7-E848-F40502C643AC}"/>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80D8FB4F-88B3-6CE0-8DAE-04C251C517D8}"/>
              </a:ext>
            </a:extLst>
          </p:cNvPr>
          <p:cNvSpPr>
            <a:spLocks noGrp="1"/>
          </p:cNvSpPr>
          <p:nvPr>
            <p:ph idx="1"/>
          </p:nvPr>
        </p:nvSpPr>
        <p:spPr>
          <a:xfrm>
            <a:off x="628650" y="2226469"/>
            <a:ext cx="7886700" cy="3571491"/>
          </a:xfrm>
        </p:spPr>
        <p:txBody>
          <a:bodyPr>
            <a:normAutofit/>
          </a:bodyPr>
          <a:lstStyle/>
          <a:p>
            <a:r>
              <a:rPr lang="en-US" dirty="0">
                <a:solidFill>
                  <a:srgbClr val="002060"/>
                </a:solidFill>
                <a:effectLst>
                  <a:outerShdw blurRad="38100" dist="38100" dir="2700000" algn="tl">
                    <a:srgbClr val="000000">
                      <a:alpha val="43137"/>
                    </a:srgbClr>
                  </a:outerShdw>
                </a:effectLst>
              </a:rPr>
              <a:t>The EU Court applied in the Eturas cas</a:t>
            </a:r>
            <a:r>
              <a:rPr lang="pl-PL" dirty="0">
                <a:solidFill>
                  <a:srgbClr val="002060"/>
                </a:solidFill>
                <a:effectLst>
                  <a:outerShdw blurRad="38100" dist="38100" dir="2700000" algn="tl">
                    <a:srgbClr val="000000">
                      <a:alpha val="43137"/>
                    </a:srgbClr>
                  </a:outerShdw>
                </a:effectLst>
              </a:rPr>
              <a:t>e </a:t>
            </a:r>
            <a:r>
              <a:rPr lang="pl-PL" b="1" dirty="0">
                <a:solidFill>
                  <a:srgbClr val="FF0000"/>
                </a:solidFill>
                <a:effectLst>
                  <a:outerShdw blurRad="38100" dist="38100" dir="2700000" algn="tl">
                    <a:srgbClr val="000000">
                      <a:alpha val="43137"/>
                    </a:srgbClr>
                  </a:outerShdw>
                </a:effectLst>
              </a:rPr>
              <a:t>t</a:t>
            </a:r>
            <a:r>
              <a:rPr lang="en-US" b="1" dirty="0">
                <a:solidFill>
                  <a:srgbClr val="FF0000"/>
                </a:solidFill>
                <a:effectLst>
                  <a:outerShdw blurRad="38100" dist="38100" dir="2700000" algn="tl">
                    <a:srgbClr val="000000">
                      <a:alpha val="43137"/>
                    </a:srgbClr>
                  </a:outerShdw>
                </a:effectLst>
              </a:rPr>
              <a:t>hree conditions for concerted </a:t>
            </a:r>
            <a:r>
              <a:rPr lang="en-US" dirty="0">
                <a:solidFill>
                  <a:srgbClr val="002060"/>
                </a:solidFill>
                <a:effectLst>
                  <a:outerShdw blurRad="38100" dist="38100" dir="2700000" algn="tl">
                    <a:srgbClr val="000000">
                      <a:alpha val="43137"/>
                    </a:srgbClr>
                  </a:outerShdw>
                </a:effectLst>
              </a:rPr>
              <a:t>practices:</a:t>
            </a:r>
          </a:p>
          <a:p>
            <a:r>
              <a:rPr lang="en-US" b="1" dirty="0">
                <a:solidFill>
                  <a:srgbClr val="002060"/>
                </a:solidFill>
                <a:effectLst>
                  <a:outerShdw blurRad="38100" dist="38100" dir="2700000" algn="tl">
                    <a:srgbClr val="000000">
                      <a:alpha val="43137"/>
                    </a:srgbClr>
                  </a:outerShdw>
                </a:effectLst>
              </a:rPr>
              <a:t>1) concertation,</a:t>
            </a:r>
          </a:p>
          <a:p>
            <a:r>
              <a:rPr lang="en-US" b="1" dirty="0">
                <a:solidFill>
                  <a:srgbClr val="002060"/>
                </a:solidFill>
                <a:effectLst>
                  <a:outerShdw blurRad="38100" dist="38100" dir="2700000" algn="tl">
                    <a:srgbClr val="000000">
                      <a:alpha val="43137"/>
                    </a:srgbClr>
                  </a:outerShdw>
                </a:effectLst>
              </a:rPr>
              <a:t>2) subsequent conduct,</a:t>
            </a:r>
          </a:p>
          <a:p>
            <a:r>
              <a:rPr lang="en-US" b="1" dirty="0">
                <a:solidFill>
                  <a:srgbClr val="002060"/>
                </a:solidFill>
                <a:effectLst>
                  <a:outerShdw blurRad="38100" dist="38100" dir="2700000" algn="tl">
                    <a:srgbClr val="000000">
                      <a:alpha val="43137"/>
                    </a:srgbClr>
                  </a:outerShdw>
                </a:effectLst>
              </a:rPr>
              <a:t>3) causal link </a:t>
            </a:r>
            <a:r>
              <a:rPr lang="en-US" dirty="0">
                <a:solidFill>
                  <a:srgbClr val="002060"/>
                </a:solidFill>
                <a:effectLst>
                  <a:outerShdw blurRad="38100" dist="38100" dir="2700000" algn="tl">
                    <a:srgbClr val="000000">
                      <a:alpha val="43137"/>
                    </a:srgbClr>
                  </a:outerShdw>
                </a:effectLst>
              </a:rPr>
              <a:t>(C-C)</a:t>
            </a:r>
            <a:r>
              <a:rPr lang="pl-PL" dirty="0">
                <a:solidFill>
                  <a:srgbClr val="002060"/>
                </a:solidFill>
                <a:effectLst>
                  <a:outerShdw blurRad="38100" dist="38100" dir="2700000" algn="tl">
                    <a:srgbClr val="000000">
                      <a:alpha val="43137"/>
                    </a:srgbClr>
                  </a:outerShdw>
                </a:effectLst>
              </a:rPr>
              <a:t> [causal chain]</a:t>
            </a:r>
            <a:endParaRPr lang="en-US"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principle of effectiveness means that </a:t>
            </a:r>
            <a:r>
              <a:rPr lang="en-US" b="1" dirty="0">
                <a:solidFill>
                  <a:srgbClr val="FF0000"/>
                </a:solidFill>
                <a:effectLst>
                  <a:outerShdw blurRad="38100" dist="38100" dir="2700000" algn="tl">
                    <a:srgbClr val="000000">
                      <a:alpha val="43137"/>
                    </a:srgbClr>
                  </a:outerShdw>
                </a:effectLst>
              </a:rPr>
              <a:t>C-C may result not only from direct evidence,</a:t>
            </a:r>
            <a:r>
              <a:rPr lang="en-US" dirty="0">
                <a:solidFill>
                  <a:srgbClr val="002060"/>
                </a:solidFill>
                <a:effectLst>
                  <a:outerShdw blurRad="38100" dist="38100" dir="2700000" algn="tl">
                    <a:srgbClr val="000000">
                      <a:alpha val="43137"/>
                    </a:srgbClr>
                  </a:outerShdw>
                </a:effectLst>
              </a:rPr>
              <a:t> but also from objective and consistent </a:t>
            </a:r>
            <a:r>
              <a:rPr lang="en-US" b="1" dirty="0">
                <a:solidFill>
                  <a:srgbClr val="FF0000"/>
                </a:solidFill>
                <a:effectLst>
                  <a:outerShdw blurRad="38100" dist="38100" dir="2700000" algn="tl">
                    <a:srgbClr val="000000">
                      <a:alpha val="43137"/>
                    </a:srgbClr>
                  </a:outerShdw>
                </a:effectLst>
              </a:rPr>
              <a:t>circumstances and indicia</a:t>
            </a:r>
            <a:endParaRPr lang="en-US" dirty="0">
              <a:solidFill>
                <a:srgbClr val="002060"/>
              </a:solidFill>
              <a:effectLst>
                <a:outerShdw blurRad="38100" dist="38100" dir="2700000" algn="tl">
                  <a:srgbClr val="000000">
                    <a:alpha val="43137"/>
                  </a:srgbClr>
                </a:outerShdw>
              </a:effectLst>
            </a:endParaRPr>
          </a:p>
          <a:p>
            <a:endParaRPr lang="pl-PL"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0720555"/>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1B38297-7B35-D76D-1D09-F4BE62EDAB66}"/>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02315C57-3283-8284-0F73-6A3EB19A1DBF}"/>
              </a:ext>
            </a:extLst>
          </p:cNvPr>
          <p:cNvSpPr>
            <a:spLocks noGrp="1"/>
          </p:cNvSpPr>
          <p:nvPr>
            <p:ph idx="1"/>
          </p:nvPr>
        </p:nvSpPr>
        <p:spPr>
          <a:xfrm>
            <a:off x="628650" y="2226468"/>
            <a:ext cx="7886700" cy="3615736"/>
          </a:xfrm>
        </p:spPr>
        <p:txBody>
          <a:bodyPr>
            <a:normAutofit/>
          </a:bodyPr>
          <a:lstStyle/>
          <a:p>
            <a:pPr marL="342900" indent="-342900">
              <a:buFont typeface="Arial" panose="020B0604020202020204" pitchFamily="34" charset="0"/>
              <a:buChar char="•"/>
            </a:pPr>
            <a:r>
              <a:rPr lang="en-US" sz="1500" dirty="0">
                <a:solidFill>
                  <a:srgbClr val="002060"/>
                </a:solidFill>
                <a:effectLst>
                  <a:outerShdw blurRad="38100" dist="38100" dir="2700000" algn="tl">
                    <a:srgbClr val="000000">
                      <a:alpha val="43137"/>
                    </a:srgbClr>
                  </a:outerShdw>
                </a:effectLst>
              </a:rPr>
              <a:t>The use of </a:t>
            </a:r>
            <a:r>
              <a:rPr lang="en-US" sz="1500" b="1" dirty="0">
                <a:solidFill>
                  <a:srgbClr val="FF0000"/>
                </a:solidFill>
                <a:effectLst>
                  <a:outerShdw blurRad="38100" dist="38100" dir="2700000" algn="tl">
                    <a:srgbClr val="000000">
                      <a:alpha val="43137"/>
                    </a:srgbClr>
                  </a:outerShdw>
                </a:effectLst>
                <a:highlight>
                  <a:srgbClr val="FFFF00"/>
                </a:highlight>
              </a:rPr>
              <a:t>indirect evidence </a:t>
            </a:r>
            <a:r>
              <a:rPr lang="en-US" sz="1500" dirty="0">
                <a:solidFill>
                  <a:srgbClr val="002060"/>
                </a:solidFill>
                <a:effectLst>
                  <a:outerShdw blurRad="38100" dist="38100" dir="2700000" algn="tl">
                    <a:srgbClr val="000000">
                      <a:alpha val="43137"/>
                    </a:srgbClr>
                  </a:outerShdw>
                </a:effectLst>
              </a:rPr>
              <a:t>must meet the </a:t>
            </a:r>
            <a:r>
              <a:rPr lang="en-US" sz="1500" b="1" dirty="0">
                <a:solidFill>
                  <a:srgbClr val="FF0000"/>
                </a:solidFill>
                <a:effectLst>
                  <a:outerShdw blurRad="38100" dist="38100" dir="2700000" algn="tl">
                    <a:srgbClr val="000000">
                      <a:alpha val="43137"/>
                    </a:srgbClr>
                  </a:outerShdw>
                </a:effectLst>
                <a:highlight>
                  <a:srgbClr val="FFFF00"/>
                </a:highlight>
              </a:rPr>
              <a:t>presumption of innocence </a:t>
            </a:r>
            <a:r>
              <a:rPr lang="en-US" sz="1500" dirty="0">
                <a:solidFill>
                  <a:srgbClr val="002060"/>
                </a:solidFill>
                <a:effectLst>
                  <a:outerShdw blurRad="38100" dist="38100" dir="2700000" algn="tl">
                    <a:srgbClr val="000000">
                      <a:alpha val="43137"/>
                    </a:srgbClr>
                  </a:outerShdw>
                </a:effectLst>
              </a:rPr>
              <a:t>criterion (Convention and Charter of Fundamental Rights – Art. 48.1)</a:t>
            </a:r>
          </a:p>
          <a:p>
            <a:pPr marL="342900" indent="-342900">
              <a:buFont typeface="Arial" panose="020B0604020202020204" pitchFamily="34" charset="0"/>
              <a:buChar char="•"/>
            </a:pPr>
            <a:r>
              <a:rPr lang="en-US" sz="1500" dirty="0">
                <a:solidFill>
                  <a:srgbClr val="002060"/>
                </a:solidFill>
                <a:effectLst>
                  <a:outerShdw blurRad="38100" dist="38100" dir="2700000" algn="tl">
                    <a:srgbClr val="000000">
                      <a:alpha val="43137"/>
                    </a:srgbClr>
                  </a:outerShdw>
                </a:effectLst>
              </a:rPr>
              <a:t>Therefore, it is </a:t>
            </a:r>
            <a:r>
              <a:rPr lang="en-US" sz="1500" b="1" dirty="0">
                <a:solidFill>
                  <a:srgbClr val="FF0000"/>
                </a:solidFill>
                <a:effectLst>
                  <a:outerShdw blurRad="38100" dist="38100" dir="2700000" algn="tl">
                    <a:srgbClr val="000000">
                      <a:alpha val="43137"/>
                    </a:srgbClr>
                  </a:outerShdw>
                </a:effectLst>
              </a:rPr>
              <a:t>not possible to </a:t>
            </a:r>
            <a:r>
              <a:rPr lang="en-US" sz="1500" b="1" u="sng" dirty="0">
                <a:solidFill>
                  <a:srgbClr val="FF0000"/>
                </a:solidFill>
                <a:effectLst>
                  <a:outerShdw blurRad="38100" dist="38100" dir="2700000" algn="tl">
                    <a:srgbClr val="000000">
                      <a:alpha val="43137"/>
                    </a:srgbClr>
                  </a:outerShdw>
                </a:effectLst>
              </a:rPr>
              <a:t>infer</a:t>
            </a:r>
            <a:r>
              <a:rPr lang="en-US" sz="1500" b="1" dirty="0">
                <a:solidFill>
                  <a:srgbClr val="FF0000"/>
                </a:solidFill>
                <a:effectLst>
                  <a:outerShdw blurRad="38100" dist="38100" dir="2700000" algn="tl">
                    <a:srgbClr val="000000">
                      <a:alpha val="43137"/>
                    </a:srgbClr>
                  </a:outerShdw>
                </a:effectLst>
              </a:rPr>
              <a:t> a cartel participant's </a:t>
            </a:r>
            <a:r>
              <a:rPr lang="en-US" sz="1500" b="1" u="sng" dirty="0">
                <a:solidFill>
                  <a:srgbClr val="FF0000"/>
                </a:solidFill>
                <a:effectLst>
                  <a:outerShdw blurRad="38100" dist="38100" dir="2700000" algn="tl">
                    <a:srgbClr val="000000">
                      <a:alpha val="43137"/>
                    </a:srgbClr>
                  </a:outerShdw>
                </a:effectLst>
              </a:rPr>
              <a:t>awareness</a:t>
            </a:r>
            <a:r>
              <a:rPr lang="en-US" sz="1500" b="1" dirty="0">
                <a:solidFill>
                  <a:srgbClr val="FF0000"/>
                </a:solidFill>
                <a:effectLst>
                  <a:outerShdw blurRad="38100" dist="38100" dir="2700000" algn="tl">
                    <a:srgbClr val="000000">
                      <a:alpha val="43137"/>
                    </a:srgbClr>
                  </a:outerShdw>
                </a:effectLst>
              </a:rPr>
              <a:t> of participation</a:t>
            </a:r>
            <a:r>
              <a:rPr lang="en-US" sz="1500" dirty="0">
                <a:solidFill>
                  <a:srgbClr val="002060"/>
                </a:solidFill>
                <a:effectLst>
                  <a:outerShdw blurRad="38100" dist="38100" dir="2700000" algn="tl">
                    <a:srgbClr val="000000">
                      <a:alpha val="43137"/>
                    </a:srgbClr>
                  </a:outerShdw>
                </a:effectLst>
              </a:rPr>
              <a:t> from one member to another</a:t>
            </a:r>
            <a:r>
              <a:rPr lang="pl-PL" sz="1500" dirty="0">
                <a:solidFill>
                  <a:srgbClr val="002060"/>
                </a:solidFill>
                <a:effectLst>
                  <a:outerShdw blurRad="38100" dist="38100" dir="2700000" algn="tl">
                    <a:srgbClr val="000000">
                      <a:alpha val="43137"/>
                    </a:srgbClr>
                  </a:outerShdw>
                </a:effectLst>
              </a:rPr>
              <a:t>. </a:t>
            </a:r>
          </a:p>
          <a:p>
            <a:pPr marL="342900" indent="-342900">
              <a:buFont typeface="Arial" panose="020B0604020202020204" pitchFamily="34" charset="0"/>
              <a:buChar char="•"/>
            </a:pPr>
            <a:r>
              <a:rPr lang="pl-PL" sz="1500" dirty="0">
                <a:solidFill>
                  <a:srgbClr val="002060"/>
                </a:solidFill>
                <a:effectLst>
                  <a:outerShdw blurRad="38100" dist="38100" dir="2700000" algn="tl">
                    <a:srgbClr val="000000">
                      <a:alpha val="43137"/>
                    </a:srgbClr>
                  </a:outerShdw>
                </a:effectLst>
              </a:rPr>
              <a:t>However,</a:t>
            </a:r>
            <a:r>
              <a:rPr lang="en-US" sz="1500" dirty="0">
                <a:solidFill>
                  <a:srgbClr val="002060"/>
                </a:solidFill>
                <a:effectLst>
                  <a:outerShdw blurRad="38100" dist="38100" dir="2700000" algn="tl">
                    <a:srgbClr val="000000">
                      <a:alpha val="43137"/>
                    </a:srgbClr>
                  </a:outerShdw>
                </a:effectLst>
              </a:rPr>
              <a:t> </a:t>
            </a:r>
            <a:r>
              <a:rPr lang="en-US" sz="1500" b="1" dirty="0">
                <a:solidFill>
                  <a:srgbClr val="FF0000"/>
                </a:solidFill>
                <a:effectLst>
                  <a:outerShdw blurRad="38100" dist="38100" dir="2700000" algn="tl">
                    <a:srgbClr val="000000">
                      <a:alpha val="43137"/>
                    </a:srgbClr>
                  </a:outerShdw>
                </a:effectLst>
                <a:highlight>
                  <a:srgbClr val="FFFF00"/>
                </a:highlight>
              </a:rPr>
              <a:t>a presumption of awareness </a:t>
            </a:r>
            <a:r>
              <a:rPr lang="en-US" sz="1500" dirty="0">
                <a:solidFill>
                  <a:srgbClr val="002060"/>
                </a:solidFill>
                <a:effectLst>
                  <a:outerShdw blurRad="38100" dist="38100" dir="2700000" algn="tl">
                    <a:srgbClr val="000000">
                      <a:alpha val="43137"/>
                    </a:srgbClr>
                  </a:outerShdw>
                </a:effectLst>
              </a:rPr>
              <a:t>can be based</a:t>
            </a:r>
            <a:r>
              <a:rPr lang="en-US" sz="1500" b="1" dirty="0">
                <a:solidFill>
                  <a:srgbClr val="FF0000"/>
                </a:solidFill>
                <a:effectLst>
                  <a:outerShdw blurRad="38100" dist="38100" dir="2700000" algn="tl">
                    <a:srgbClr val="000000">
                      <a:alpha val="43137"/>
                    </a:srgbClr>
                  </a:outerShdw>
                </a:effectLst>
              </a:rPr>
              <a:t> on the </a:t>
            </a:r>
            <a:r>
              <a:rPr lang="en-US" sz="1500" b="1" dirty="0">
                <a:solidFill>
                  <a:srgbClr val="FF0000"/>
                </a:solidFill>
                <a:effectLst>
                  <a:outerShdw blurRad="38100" dist="38100" dir="2700000" algn="tl">
                    <a:srgbClr val="000000">
                      <a:alpha val="43137"/>
                    </a:srgbClr>
                  </a:outerShdw>
                </a:effectLst>
                <a:highlight>
                  <a:srgbClr val="FFFF00"/>
                </a:highlight>
              </a:rPr>
              <a:t>circumstances and indicia </a:t>
            </a:r>
            <a:r>
              <a:rPr lang="en-US" sz="1500" dirty="0">
                <a:solidFill>
                  <a:srgbClr val="002060"/>
                </a:solidFill>
                <a:effectLst>
                  <a:outerShdw blurRad="38100" dist="38100" dir="2700000" algn="tl">
                    <a:srgbClr val="000000">
                      <a:alpha val="43137"/>
                    </a:srgbClr>
                  </a:outerShdw>
                </a:effectLst>
              </a:rPr>
              <a:t>[WH inconsistent].</a:t>
            </a:r>
          </a:p>
          <a:p>
            <a:pPr marL="342900" indent="-342900">
              <a:buFont typeface="Arial" panose="020B0604020202020204" pitchFamily="34" charset="0"/>
              <a:buChar char="•"/>
            </a:pPr>
            <a:r>
              <a:rPr lang="en-US" sz="1500" b="1" dirty="0">
                <a:solidFill>
                  <a:srgbClr val="FF0000"/>
                </a:solidFill>
                <a:effectLst>
                  <a:outerShdw blurRad="38100" dist="38100" dir="2700000" algn="tl">
                    <a:srgbClr val="000000">
                      <a:alpha val="43137"/>
                    </a:srgbClr>
                  </a:outerShdw>
                </a:effectLst>
              </a:rPr>
              <a:t>Despite automation</a:t>
            </a:r>
            <a:r>
              <a:rPr lang="en-US" sz="1500" dirty="0">
                <a:solidFill>
                  <a:srgbClr val="002060"/>
                </a:solidFill>
                <a:effectLst>
                  <a:outerShdw blurRad="38100" dist="38100" dir="2700000" algn="tl">
                    <a:srgbClr val="000000">
                      <a:alpha val="43137"/>
                    </a:srgbClr>
                  </a:outerShdw>
                </a:effectLst>
              </a:rPr>
              <a:t>, „</a:t>
            </a:r>
            <a:r>
              <a:rPr lang="pl-PL" sz="1500" b="1" dirty="0">
                <a:solidFill>
                  <a:srgbClr val="0070C0"/>
                </a:solidFill>
                <a:effectLst>
                  <a:outerShdw blurRad="38100" dist="38100" dir="2700000" algn="tl">
                    <a:srgbClr val="000000">
                      <a:alpha val="43137"/>
                    </a:srgbClr>
                  </a:outerShdw>
                </a:effectLst>
              </a:rPr>
              <a:t>the a</a:t>
            </a:r>
            <a:r>
              <a:rPr lang="en-US" sz="1500" b="1" dirty="0">
                <a:solidFill>
                  <a:srgbClr val="0070C0"/>
                </a:solidFill>
                <a:effectLst>
                  <a:outerShdw blurRad="38100" dist="38100" dir="2700000" algn="tl">
                    <a:srgbClr val="000000">
                      <a:alpha val="43137"/>
                    </a:srgbClr>
                  </a:outerShdw>
                </a:effectLst>
              </a:rPr>
              <a:t>wareness of participation </a:t>
            </a:r>
            <a:r>
              <a:rPr lang="en-US" sz="1500" dirty="0">
                <a:solidFill>
                  <a:srgbClr val="002060"/>
                </a:solidFill>
                <a:effectLst>
                  <a:outerShdw blurRad="38100" dist="38100" dir="2700000" algn="tl">
                    <a:srgbClr val="000000">
                      <a:alpha val="43137"/>
                    </a:srgbClr>
                  </a:outerShdw>
                </a:effectLst>
              </a:rPr>
              <a:t>in the concerted action" is the </a:t>
            </a:r>
            <a:r>
              <a:rPr lang="en-US" sz="1500" b="1" dirty="0">
                <a:solidFill>
                  <a:srgbClr val="002060"/>
                </a:solidFill>
                <a:effectLst>
                  <a:outerShdw blurRad="38100" dist="38100" dir="2700000" algn="tl">
                    <a:srgbClr val="000000">
                      <a:alpha val="43137"/>
                    </a:srgbClr>
                  </a:outerShdw>
                </a:effectLst>
              </a:rPr>
              <a:t>central theme of the judgment</a:t>
            </a:r>
            <a:r>
              <a:rPr lang="en-US" sz="1500" dirty="0">
                <a:solidFill>
                  <a:srgbClr val="002060"/>
                </a:solidFill>
                <a:effectLst>
                  <a:outerShdw blurRad="38100" dist="38100" dir="2700000" algn="tl">
                    <a:srgbClr val="000000">
                      <a:alpha val="43137"/>
                    </a:srgbClr>
                  </a:outerShdw>
                </a:effectLst>
              </a:rPr>
              <a:t>.</a:t>
            </a:r>
            <a:endParaRPr lang="pl-PL" sz="1500"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sz="1500" b="1" dirty="0">
                <a:solidFill>
                  <a:srgbClr val="FF0000"/>
                </a:solidFill>
                <a:effectLst>
                  <a:outerShdw blurRad="38100" dist="38100" dir="2700000" algn="tl">
                    <a:srgbClr val="000000">
                      <a:alpha val="43137"/>
                    </a:srgbClr>
                  </a:outerShdw>
                </a:effectLst>
              </a:rPr>
              <a:t>Awareness </a:t>
            </a:r>
            <a:r>
              <a:rPr lang="en-US" sz="1500" dirty="0">
                <a:solidFill>
                  <a:srgbClr val="002060"/>
                </a:solidFill>
                <a:effectLst>
                  <a:outerShdw blurRad="38100" dist="38100" dir="2700000" algn="tl">
                    <a:srgbClr val="000000">
                      <a:alpha val="43137"/>
                    </a:srgbClr>
                  </a:outerShdw>
                </a:effectLst>
              </a:rPr>
              <a:t>of participation in the agreement must be </a:t>
            </a:r>
            <a:r>
              <a:rPr lang="en-US" sz="1500" b="1" dirty="0">
                <a:solidFill>
                  <a:srgbClr val="FF0000"/>
                </a:solidFill>
                <a:effectLst>
                  <a:outerShdw blurRad="38100" dist="38100" dir="2700000" algn="tl">
                    <a:srgbClr val="000000">
                      <a:alpha val="43137"/>
                    </a:srgbClr>
                  </a:outerShdw>
                </a:effectLst>
              </a:rPr>
              <a:t>actual, not potential </a:t>
            </a:r>
            <a:endParaRPr lang="en-US" sz="1500"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en-US" sz="1500" dirty="0">
                <a:solidFill>
                  <a:srgbClr val="002060"/>
                </a:solidFill>
                <a:effectLst>
                  <a:outerShdw blurRad="38100" dist="38100" dir="2700000" algn="tl">
                    <a:srgbClr val="000000">
                      <a:alpha val="43137"/>
                    </a:srgbClr>
                  </a:outerShdw>
                </a:effectLst>
              </a:rPr>
              <a:t>The </a:t>
            </a:r>
            <a:r>
              <a:rPr lang="en-US" sz="1500" b="1" dirty="0">
                <a:solidFill>
                  <a:srgbClr val="FF0000"/>
                </a:solidFill>
                <a:effectLst>
                  <a:outerShdw blurRad="38100" dist="38100" dir="2700000" algn="tl">
                    <a:srgbClr val="000000">
                      <a:alpha val="43137"/>
                    </a:srgbClr>
                  </a:outerShdw>
                </a:effectLst>
              </a:rPr>
              <a:t>presumption can be rebutted </a:t>
            </a:r>
            <a:r>
              <a:rPr lang="en-US" sz="1500" dirty="0">
                <a:solidFill>
                  <a:srgbClr val="002060"/>
                </a:solidFill>
                <a:effectLst>
                  <a:outerShdw blurRad="38100" dist="38100" dir="2700000" algn="tl">
                    <a:srgbClr val="000000">
                      <a:alpha val="43137"/>
                    </a:srgbClr>
                  </a:outerShdw>
                </a:effectLst>
              </a:rPr>
              <a:t>by demonstrating that the communication was not received from the other party, or that it was received but not read, or that it was received and later read</a:t>
            </a:r>
            <a:endParaRPr lang="en-US" b="1" dirty="0">
              <a:solidFill>
                <a:srgbClr val="FF000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60397897"/>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D999A12-D3BD-2A64-5D06-B6D976325354}"/>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05E97CD3-E1AB-BB1D-2748-0B06C007D051}"/>
              </a:ext>
            </a:extLst>
          </p:cNvPr>
          <p:cNvSpPr>
            <a:spLocks noGrp="1"/>
          </p:cNvSpPr>
          <p:nvPr>
            <p:ph idx="1"/>
          </p:nvPr>
        </p:nvSpPr>
        <p:spPr>
          <a:xfrm>
            <a:off x="628650" y="2226469"/>
            <a:ext cx="7886700" cy="3774281"/>
          </a:xfrm>
        </p:spPr>
        <p:txBody>
          <a:bodyPr>
            <a:normAutofit/>
          </a:bodyPr>
          <a:lstStyle/>
          <a:p>
            <a:r>
              <a:rPr lang="en-US" b="1" u="sng" dirty="0">
                <a:solidFill>
                  <a:srgbClr val="FF0000"/>
                </a:solidFill>
                <a:effectLst>
                  <a:outerShdw blurRad="38100" dist="38100" dir="2700000" algn="tl">
                    <a:srgbClr val="000000">
                      <a:alpha val="43137"/>
                    </a:srgbClr>
                  </a:outerShdw>
                </a:effectLst>
              </a:rPr>
              <a:t>Awareness</a:t>
            </a:r>
            <a:r>
              <a:rPr lang="en-US" b="1" dirty="0">
                <a:solidFill>
                  <a:srgbClr val="FF0000"/>
                </a:solidFill>
                <a:effectLst>
                  <a:outerShdw blurRad="38100" dist="38100" dir="2700000" algn="tl">
                    <a:srgbClr val="000000">
                      <a:alpha val="43137"/>
                    </a:srgbClr>
                  </a:outerShdw>
                </a:effectLst>
              </a:rPr>
              <a:t> </a:t>
            </a:r>
            <a:r>
              <a:rPr lang="pl-PL" b="1" dirty="0">
                <a:solidFill>
                  <a:srgbClr val="002060"/>
                </a:solidFill>
                <a:effectLst>
                  <a:outerShdw blurRad="38100" dist="38100" dir="2700000" algn="tl">
                    <a:srgbClr val="000000">
                      <a:alpha val="43137"/>
                    </a:srgbClr>
                  </a:outerShdw>
                </a:effectLst>
              </a:rPr>
              <a:t>of being in a cartel </a:t>
            </a:r>
            <a:r>
              <a:rPr lang="en-US" b="1" dirty="0">
                <a:solidFill>
                  <a:srgbClr val="002060"/>
                </a:solidFill>
                <a:effectLst>
                  <a:outerShdw blurRad="38100" dist="38100" dir="2700000" algn="tl">
                    <a:srgbClr val="000000">
                      <a:alpha val="43137"/>
                    </a:srgbClr>
                  </a:outerShdw>
                </a:effectLst>
              </a:rPr>
              <a:t>cannot be inferred solely from the sending of a message</a:t>
            </a:r>
            <a:endParaRPr lang="en-US"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On the other hand, </a:t>
            </a:r>
            <a:r>
              <a:rPr lang="en-US" b="1" u="sng" dirty="0">
                <a:solidFill>
                  <a:srgbClr val="FF0000"/>
                </a:solidFill>
                <a:effectLst>
                  <a:outerShdw blurRad="38100" dist="38100" dir="2700000" algn="tl">
                    <a:srgbClr val="000000">
                      <a:alpha val="43137"/>
                    </a:srgbClr>
                  </a:outerShdw>
                </a:effectLst>
              </a:rPr>
              <a:t>direct evidence is not necessary</a:t>
            </a:r>
            <a:r>
              <a:rPr lang="en-US" dirty="0">
                <a:solidFill>
                  <a:srgbClr val="002060"/>
                </a:solidFill>
                <a:effectLst>
                  <a:outerShdw blurRad="38100" dist="38100" dir="2700000" algn="tl">
                    <a:srgbClr val="000000">
                      <a:alpha val="43137"/>
                    </a:srgbClr>
                  </a:outerShdw>
                </a:effectLst>
              </a:rPr>
              <a:t>; the circumstances of the case (indicia) are sufficient</a:t>
            </a:r>
          </a:p>
          <a:p>
            <a:r>
              <a:rPr lang="en-US" dirty="0">
                <a:solidFill>
                  <a:srgbClr val="002060"/>
                </a:solidFill>
                <a:effectLst>
                  <a:outerShdw blurRad="38100" dist="38100" dir="2700000" algn="tl">
                    <a:srgbClr val="000000">
                      <a:alpha val="43137"/>
                    </a:srgbClr>
                  </a:outerShdw>
                </a:effectLst>
              </a:rPr>
              <a:t>Article </a:t>
            </a:r>
            <a:r>
              <a:rPr lang="en-US" b="1" dirty="0">
                <a:solidFill>
                  <a:srgbClr val="FF0000"/>
                </a:solidFill>
                <a:effectLst>
                  <a:outerShdw blurRad="38100" dist="38100" dir="2700000" algn="tl">
                    <a:srgbClr val="000000">
                      <a:alpha val="43137"/>
                    </a:srgbClr>
                  </a:outerShdw>
                </a:effectLst>
              </a:rPr>
              <a:t>101 requires that the risk </a:t>
            </a:r>
            <a:r>
              <a:rPr lang="pl-PL" b="1" dirty="0">
                <a:solidFill>
                  <a:srgbClr val="FF0000"/>
                </a:solidFill>
                <a:effectLst>
                  <a:outerShdw blurRad="38100" dist="38100" dir="2700000" algn="tl">
                    <a:srgbClr val="000000">
                      <a:alpha val="43137"/>
                    </a:srgbClr>
                  </a:outerShdw>
                </a:effectLst>
              </a:rPr>
              <a:t>is</a:t>
            </a:r>
            <a:r>
              <a:rPr lang="en-US" b="1" dirty="0">
                <a:solidFill>
                  <a:srgbClr val="FF0000"/>
                </a:solidFill>
                <a:effectLst>
                  <a:outerShdw blurRad="38100" dist="38100" dir="2700000" algn="tl">
                    <a:srgbClr val="000000">
                      <a:alpha val="43137"/>
                    </a:srgbClr>
                  </a:outerShdw>
                </a:effectLst>
              </a:rPr>
              <a:t> knowingly replaced </a:t>
            </a:r>
            <a:r>
              <a:rPr lang="en-US" dirty="0">
                <a:solidFill>
                  <a:srgbClr val="002060"/>
                </a:solidFill>
                <a:effectLst>
                  <a:outerShdw blurRad="38100" dist="38100" dir="2700000" algn="tl">
                    <a:srgbClr val="000000">
                      <a:alpha val="43137"/>
                    </a:srgbClr>
                  </a:outerShdw>
                </a:effectLst>
              </a:rPr>
              <a:t>by an agreement</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 </a:t>
            </a:r>
            <a:endParaRPr lang="pl-PL" dirty="0">
              <a:solidFill>
                <a:srgbClr val="002060"/>
              </a:solidFill>
              <a:effectLst>
                <a:outerShdw blurRad="38100" dist="38100" dir="2700000" algn="tl">
                  <a:srgbClr val="000000">
                    <a:alpha val="43137"/>
                  </a:srgbClr>
                </a:outerShdw>
              </a:effectLst>
            </a:endParaRPr>
          </a:p>
          <a:p>
            <a:pPr marL="342900" indent="-342900">
              <a:buFont typeface="Arial" panose="020B0604020202020204" pitchFamily="34" charset="0"/>
              <a:buChar char="•"/>
            </a:pPr>
            <a:r>
              <a:rPr lang="pl-PL" b="1" dirty="0">
                <a:solidFill>
                  <a:srgbClr val="FF0000"/>
                </a:solidFill>
                <a:effectLst>
                  <a:outerShdw blurRad="38100" dist="38100" dir="2700000" algn="tl">
                    <a:srgbClr val="000000">
                      <a:alpha val="43137"/>
                    </a:srgbClr>
                  </a:outerShdw>
                </a:effectLst>
              </a:rPr>
              <a:t>Tacit</a:t>
            </a:r>
            <a:r>
              <a:rPr lang="en-US" b="1" dirty="0">
                <a:solidFill>
                  <a:srgbClr val="FF0000"/>
                </a:solidFill>
                <a:effectLst>
                  <a:outerShdw blurRad="38100" dist="38100" dir="2700000" algn="tl">
                    <a:srgbClr val="000000">
                      <a:alpha val="43137"/>
                    </a:srgbClr>
                  </a:outerShdw>
                </a:effectLst>
              </a:rPr>
              <a:t> acquiescence also requires conscious action</a:t>
            </a:r>
          </a:p>
          <a:p>
            <a:pPr marL="342900" indent="-342900">
              <a:buFont typeface="Arial" panose="020B0604020202020204" pitchFamily="34" charset="0"/>
              <a:buChar char="•"/>
            </a:pPr>
            <a:r>
              <a:rPr lang="en-US" b="1" dirty="0">
                <a:solidFill>
                  <a:srgbClr val="FF0000"/>
                </a:solidFill>
                <a:effectLst>
                  <a:outerShdw blurRad="38100" dist="38100" dir="2700000" algn="tl">
                    <a:srgbClr val="000000">
                      <a:alpha val="43137"/>
                    </a:srgbClr>
                  </a:outerShdw>
                </a:effectLst>
              </a:rPr>
              <a:t>The method of communication constituted an incentive to engage in the prohibited action</a:t>
            </a:r>
            <a:r>
              <a:rPr lang="pl-PL" b="1" dirty="0">
                <a:solidFill>
                  <a:srgbClr val="FF0000"/>
                </a:solidFill>
                <a:effectLst>
                  <a:outerShdw blurRad="38100" dist="38100" dir="2700000" algn="tl">
                    <a:srgbClr val="000000">
                      <a:alpha val="43137"/>
                    </a:srgbClr>
                  </a:outerShdw>
                </a:effectLst>
              </a:rPr>
              <a:t>  --- The Medium is the Message (McLuhan)</a:t>
            </a:r>
            <a:endParaRPr lang="en-US" b="1" dirty="0">
              <a:solidFill>
                <a:srgbClr val="FF0000"/>
              </a:solidFill>
              <a:effectLst>
                <a:outerShdw blurRad="38100" dist="38100" dir="2700000" algn="tl">
                  <a:srgbClr val="000000">
                    <a:alpha val="43137"/>
                  </a:srgbClr>
                </a:outerShdw>
              </a:effectLst>
            </a:endParaRPr>
          </a:p>
          <a:p>
            <a:endParaRPr 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7382693"/>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413349E-1411-CEE9-C9FE-E144DFFFCD25}"/>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CC94A003-9D6F-CE3E-0103-1C101AB5AB78}"/>
              </a:ext>
            </a:extLst>
          </p:cNvPr>
          <p:cNvSpPr>
            <a:spLocks noGrp="1"/>
          </p:cNvSpPr>
          <p:nvPr>
            <p:ph idx="1"/>
          </p:nvPr>
        </p:nvSpPr>
        <p:spPr>
          <a:xfrm>
            <a:off x="628650" y="2226469"/>
            <a:ext cx="7886700" cy="3659981"/>
          </a:xfrm>
        </p:spPr>
        <p:txBody>
          <a:bodyPr>
            <a:normAutofit/>
          </a:bodyPr>
          <a:lstStyle/>
          <a:p>
            <a:r>
              <a:rPr lang="pl-PL" b="1" dirty="0">
                <a:solidFill>
                  <a:srgbClr val="FF0000"/>
                </a:solidFill>
                <a:effectLst>
                  <a:outerShdw blurRad="38100" dist="38100" dir="2700000" algn="tl">
                    <a:srgbClr val="000000">
                      <a:alpha val="43137"/>
                    </a:srgbClr>
                  </a:outerShdw>
                </a:effectLst>
              </a:rPr>
              <a:t>Causal chain (c-c)</a:t>
            </a:r>
          </a:p>
          <a:p>
            <a:r>
              <a:rPr lang="en-US" b="1" dirty="0">
                <a:solidFill>
                  <a:srgbClr val="002060"/>
                </a:solidFill>
                <a:effectLst>
                  <a:outerShdw blurRad="38100" dist="38100" dir="2700000" algn="tl">
                    <a:srgbClr val="000000">
                      <a:alpha val="43137"/>
                    </a:srgbClr>
                  </a:outerShdw>
                </a:effectLst>
              </a:rPr>
              <a:t>A presumption </a:t>
            </a:r>
            <a:r>
              <a:rPr lang="en-US" dirty="0">
                <a:solidFill>
                  <a:srgbClr val="002060"/>
                </a:solidFill>
                <a:effectLst>
                  <a:outerShdw blurRad="38100" dist="38100" dir="2700000" algn="tl">
                    <a:srgbClr val="000000">
                      <a:alpha val="43137"/>
                    </a:srgbClr>
                  </a:outerShdw>
                </a:effectLst>
              </a:rPr>
              <a:t>of the existence of a </a:t>
            </a:r>
            <a:r>
              <a:rPr lang="en-US" b="1" dirty="0">
                <a:solidFill>
                  <a:srgbClr val="FF0000"/>
                </a:solidFill>
                <a:effectLst>
                  <a:outerShdw blurRad="38100" dist="38100" dir="2700000" algn="tl">
                    <a:srgbClr val="000000">
                      <a:alpha val="43137"/>
                    </a:srgbClr>
                  </a:outerShdw>
                </a:effectLst>
              </a:rPr>
              <a:t>causal chain </a:t>
            </a:r>
            <a:r>
              <a:rPr lang="en-US" b="1" dirty="0">
                <a:solidFill>
                  <a:srgbClr val="002060"/>
                </a:solidFill>
                <a:effectLst>
                  <a:outerShdw blurRad="38100" dist="38100" dir="2700000" algn="tl">
                    <a:srgbClr val="000000">
                      <a:alpha val="43137"/>
                    </a:srgbClr>
                  </a:outerShdw>
                </a:effectLst>
              </a:rPr>
              <a:t>arises when </a:t>
            </a:r>
            <a:r>
              <a:rPr lang="en-US" b="1" dirty="0">
                <a:solidFill>
                  <a:srgbClr val="FF0000"/>
                </a:solidFill>
                <a:effectLst>
                  <a:outerShdw blurRad="38100" dist="38100" dir="2700000" algn="tl">
                    <a:srgbClr val="000000">
                      <a:alpha val="43137"/>
                    </a:srgbClr>
                  </a:outerShdw>
                </a:effectLst>
              </a:rPr>
              <a:t>concertation is proven </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highlight>
                  <a:srgbClr val="00FF00"/>
                </a:highlight>
              </a:rPr>
              <a:t>in the absence of declarations, meetings, email exchanges</a:t>
            </a:r>
            <a:r>
              <a:rPr lang="en-US" b="1" dirty="0">
                <a:solidFill>
                  <a:srgbClr val="002060"/>
                </a:solidFill>
                <a:effectLst>
                  <a:outerShdw blurRad="38100" dist="38100" dir="2700000" algn="tl">
                    <a:srgbClr val="000000">
                      <a:alpha val="43137"/>
                    </a:srgbClr>
                  </a:outerShdw>
                </a:effectLst>
              </a:rPr>
              <a:t>, etc.</a:t>
            </a:r>
          </a:p>
          <a:p>
            <a:r>
              <a:rPr lang="en-US" b="1" dirty="0">
                <a:solidFill>
                  <a:srgbClr val="FF0000"/>
                </a:solidFill>
                <a:effectLst>
                  <a:outerShdw blurRad="38100" dist="38100" dir="2700000" algn="tl">
                    <a:srgbClr val="000000">
                      <a:alpha val="43137"/>
                    </a:srgbClr>
                  </a:outerShdw>
                </a:effectLst>
              </a:rPr>
              <a:t>Sending a message alone does </a:t>
            </a:r>
            <a:r>
              <a:rPr lang="en-US" dirty="0">
                <a:solidFill>
                  <a:srgbClr val="002060"/>
                </a:solidFill>
                <a:effectLst>
                  <a:outerShdw blurRad="38100" dist="38100" dir="2700000" algn="tl">
                    <a:srgbClr val="000000">
                      <a:alpha val="43137"/>
                    </a:srgbClr>
                  </a:outerShdw>
                </a:effectLst>
              </a:rPr>
              <a:t>not prove the existence of an agreement, but the agreement can be </a:t>
            </a:r>
            <a:r>
              <a:rPr lang="en-US" b="1" dirty="0">
                <a:solidFill>
                  <a:srgbClr val="FF0000"/>
                </a:solidFill>
                <a:effectLst>
                  <a:outerShdw blurRad="38100" dist="38100" dir="2700000" algn="tl">
                    <a:srgbClr val="000000">
                      <a:alpha val="43137"/>
                    </a:srgbClr>
                  </a:outerShdw>
                </a:effectLst>
              </a:rPr>
              <a:t>inferred from circumstantial evidence</a:t>
            </a:r>
            <a:endParaRPr lang="en-US" dirty="0">
              <a:solidFill>
                <a:srgbClr val="002060"/>
              </a:solidFill>
              <a:effectLst>
                <a:outerShdw blurRad="38100" dist="38100" dir="2700000" algn="tl">
                  <a:srgbClr val="000000">
                    <a:alpha val="43137"/>
                  </a:srgbClr>
                </a:outerShdw>
              </a:effectLst>
            </a:endParaRPr>
          </a:p>
          <a:p>
            <a:endParaRPr lang="pl-PL"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67126463"/>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7405077-C32A-29AC-25DD-F9C1D057FD18}"/>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ETURAS</a:t>
            </a:r>
            <a:endParaRPr lang="en-US" dirty="0"/>
          </a:p>
        </p:txBody>
      </p:sp>
      <p:sp>
        <p:nvSpPr>
          <p:cNvPr id="3" name="Symbol zastępczy zawartości 2">
            <a:extLst>
              <a:ext uri="{FF2B5EF4-FFF2-40B4-BE49-F238E27FC236}">
                <a16:creationId xmlns:a16="http://schemas.microsoft.com/office/drawing/2014/main" id="{CFAD9C3E-20EC-187F-9995-181EBE5B0624}"/>
              </a:ext>
            </a:extLst>
          </p:cNvPr>
          <p:cNvSpPr>
            <a:spLocks noGrp="1"/>
          </p:cNvSpPr>
          <p:nvPr>
            <p:ph idx="1"/>
          </p:nvPr>
        </p:nvSpPr>
        <p:spPr/>
        <p:txBody>
          <a:bodyPr>
            <a:normAutofit/>
          </a:bodyPr>
          <a:lstStyle/>
          <a:p>
            <a:r>
              <a:rPr lang="en-US" dirty="0">
                <a:solidFill>
                  <a:srgbClr val="002060"/>
                </a:solidFill>
                <a:effectLst>
                  <a:outerShdw blurRad="38100" dist="38100" dir="2700000" algn="tl">
                    <a:srgbClr val="000000">
                      <a:alpha val="43137"/>
                    </a:srgbClr>
                  </a:outerShdw>
                </a:effectLst>
              </a:rPr>
              <a:t>The presumption </a:t>
            </a:r>
            <a:r>
              <a:rPr lang="en-US" b="1" dirty="0">
                <a:solidFill>
                  <a:srgbClr val="FF0000"/>
                </a:solidFill>
                <a:effectLst>
                  <a:outerShdw blurRad="38100" dist="38100" dir="2700000" algn="tl">
                    <a:srgbClr val="000000">
                      <a:alpha val="43137"/>
                    </a:srgbClr>
                  </a:outerShdw>
                </a:effectLst>
              </a:rPr>
              <a:t>can be rebutted by</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1) </a:t>
            </a:r>
            <a:r>
              <a:rPr lang="en-US" b="1" dirty="0">
                <a:solidFill>
                  <a:srgbClr val="002060"/>
                </a:solidFill>
                <a:effectLst>
                  <a:outerShdw blurRad="38100" dist="38100" dir="2700000" algn="tl">
                    <a:srgbClr val="000000">
                      <a:alpha val="43137"/>
                    </a:srgbClr>
                  </a:outerShdw>
                </a:effectLst>
              </a:rPr>
              <a:t>distancing oneself </a:t>
            </a:r>
            <a:r>
              <a:rPr lang="en-US" dirty="0">
                <a:solidFill>
                  <a:srgbClr val="002060"/>
                </a:solidFill>
                <a:effectLst>
                  <a:outerShdw blurRad="38100" dist="38100" dir="2700000" algn="tl">
                    <a:srgbClr val="000000">
                      <a:alpha val="43137"/>
                    </a:srgbClr>
                  </a:outerShdw>
                </a:effectLst>
              </a:rPr>
              <a:t>from the aforementioned activities, according to the court</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by means of a disclaimer addressed to the controller [the authors disagree]. The authors believe this is insufficient. Customers should at least be notified</a:t>
            </a:r>
          </a:p>
          <a:p>
            <a:r>
              <a:rPr lang="en-US" dirty="0">
                <a:solidFill>
                  <a:srgbClr val="002060"/>
                </a:solidFill>
                <a:effectLst>
                  <a:outerShdw blurRad="38100" dist="38100" dir="2700000" algn="tl">
                    <a:srgbClr val="000000">
                      <a:alpha val="43137"/>
                    </a:srgbClr>
                  </a:outerShdw>
                </a:effectLst>
              </a:rPr>
              <a:t>2) by applying </a:t>
            </a:r>
            <a:r>
              <a:rPr lang="en-US" b="1" dirty="0">
                <a:solidFill>
                  <a:srgbClr val="002060"/>
                </a:solidFill>
                <a:effectLst>
                  <a:outerShdw blurRad="38100" dist="38100" dir="2700000" algn="tl">
                    <a:srgbClr val="000000">
                      <a:alpha val="43137"/>
                    </a:srgbClr>
                  </a:outerShdw>
                </a:effectLst>
              </a:rPr>
              <a:t>higher discounts</a:t>
            </a:r>
          </a:p>
          <a:p>
            <a:r>
              <a:rPr lang="en-US" dirty="0">
                <a:solidFill>
                  <a:srgbClr val="002060"/>
                </a:solidFill>
                <a:effectLst>
                  <a:outerShdw blurRad="38100" dist="38100" dir="2700000" algn="tl">
                    <a:srgbClr val="000000">
                      <a:alpha val="43137"/>
                    </a:srgbClr>
                  </a:outerShdw>
                </a:effectLst>
              </a:rPr>
              <a:t>3) by </a:t>
            </a:r>
            <a:r>
              <a:rPr lang="en-US" b="1" dirty="0">
                <a:solidFill>
                  <a:srgbClr val="002060"/>
                </a:solidFill>
                <a:effectLst>
                  <a:outerShdw blurRad="38100" dist="38100" dir="2700000" algn="tl">
                    <a:srgbClr val="000000">
                      <a:alpha val="43137"/>
                    </a:srgbClr>
                  </a:outerShdw>
                </a:effectLst>
              </a:rPr>
              <a:t>notifying the authorities </a:t>
            </a:r>
            <a:r>
              <a:rPr lang="en-US" dirty="0">
                <a:solidFill>
                  <a:srgbClr val="002060"/>
                </a:solidFill>
                <a:effectLst>
                  <a:outerShdw blurRad="38100" dist="38100" dir="2700000" algn="tl">
                    <a:srgbClr val="000000">
                      <a:alpha val="43137"/>
                    </a:srgbClr>
                  </a:outerShdw>
                </a:effectLst>
              </a:rPr>
              <a:t>of the agreement (Authors – </a:t>
            </a:r>
            <a:r>
              <a:rPr lang="en-US" b="1" dirty="0">
                <a:solidFill>
                  <a:srgbClr val="002060"/>
                </a:solidFill>
                <a:effectLst>
                  <a:outerShdw blurRad="38100" dist="38100" dir="2700000" algn="tl">
                    <a:srgbClr val="000000">
                      <a:alpha val="43137"/>
                    </a:srgbClr>
                  </a:outerShdw>
                </a:effectLst>
              </a:rPr>
              <a:t>Leniency</a:t>
            </a:r>
            <a:r>
              <a:rPr lang="en-US" dirty="0">
                <a:solidFill>
                  <a:srgbClr val="002060"/>
                </a:solidFill>
                <a:effectLst>
                  <a:outerShdw blurRad="38100" dist="38100" dir="2700000" algn="tl">
                    <a:srgbClr val="000000">
                      <a:alpha val="43137"/>
                    </a:srgbClr>
                  </a:outerShdw>
                </a:effectLst>
              </a:rPr>
              <a:t> for the first cartel participant means that they cease to be a participant. Then the next participant becomes the beneficiary of the first place in the leniency program [?]</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p. 13</a:t>
            </a:r>
          </a:p>
          <a:p>
            <a:endParaRPr lang="en-US" dirty="0"/>
          </a:p>
        </p:txBody>
      </p:sp>
    </p:spTree>
    <p:extLst>
      <p:ext uri="{BB962C8B-B14F-4D97-AF65-F5344CB8AC3E}">
        <p14:creationId xmlns:p14="http://schemas.microsoft.com/office/powerpoint/2010/main" val="2123856178"/>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noProof="0" dirty="0">
                <a:solidFill>
                  <a:srgbClr val="FF0000"/>
                </a:solidFill>
                <a:effectLst>
                  <a:outerShdw blurRad="38100" dist="38100" dir="2700000" algn="tl">
                    <a:srgbClr val="000000">
                      <a:alpha val="43137"/>
                    </a:srgbClr>
                  </a:outerShdw>
                </a:effectLst>
              </a:rPr>
              <a:t>VW case: </a:t>
            </a:r>
            <a:br>
              <a:rPr lang="en-US" noProof="0" dirty="0">
                <a:solidFill>
                  <a:srgbClr val="FF0000"/>
                </a:solidFill>
                <a:effectLst>
                  <a:outerShdw blurRad="38100" dist="38100" dir="2700000" algn="tl">
                    <a:srgbClr val="000000">
                      <a:alpha val="43137"/>
                    </a:srgbClr>
                  </a:outerShdw>
                </a:effectLst>
              </a:rPr>
            </a:br>
            <a:r>
              <a:rPr lang="en-US" noProof="0" dirty="0">
                <a:solidFill>
                  <a:srgbClr val="FF0000"/>
                </a:solidFill>
                <a:effectLst>
                  <a:outerShdw blurRad="38100" dist="38100" dir="2700000" algn="tl">
                    <a:srgbClr val="000000">
                      <a:alpha val="43137"/>
                    </a:srgbClr>
                  </a:outerShdw>
                </a:effectLst>
              </a:rPr>
              <a:t>Was there an anticompetitive agreement?</a:t>
            </a:r>
          </a:p>
        </p:txBody>
      </p:sp>
      <p:sp>
        <p:nvSpPr>
          <p:cNvPr id="3" name="Symbol zastępczy zawartości 2"/>
          <p:cNvSpPr>
            <a:spLocks noGrp="1"/>
          </p:cNvSpPr>
          <p:nvPr>
            <p:ph idx="1"/>
          </p:nvPr>
        </p:nvSpPr>
        <p:spPr/>
        <p:txBody>
          <a:bodyPr>
            <a:normAutofit lnSpcReduction="10000"/>
          </a:bodyPr>
          <a:lstStyle/>
          <a:p>
            <a:r>
              <a:rPr lang="en-US" sz="2800" noProof="0" dirty="0">
                <a:solidFill>
                  <a:srgbClr val="FF0000"/>
                </a:solidFill>
                <a:effectLst>
                  <a:outerShdw blurRad="38100" dist="38100" dir="2700000" algn="tl">
                    <a:srgbClr val="000000">
                      <a:alpha val="43137"/>
                    </a:srgbClr>
                  </a:outerShdw>
                </a:effectLst>
                <a:highlight>
                  <a:srgbClr val="FFFF00"/>
                </a:highlight>
              </a:rPr>
              <a:t>This case illustrates the </a:t>
            </a:r>
            <a:r>
              <a:rPr lang="en-US" sz="2800" b="1" noProof="0" dirty="0">
                <a:solidFill>
                  <a:srgbClr val="FF0000"/>
                </a:solidFill>
                <a:effectLst>
                  <a:outerShdw blurRad="38100" dist="38100" dir="2700000" algn="tl">
                    <a:srgbClr val="000000">
                      <a:alpha val="43137"/>
                    </a:srgbClr>
                  </a:outerShdw>
                </a:effectLst>
                <a:highlight>
                  <a:srgbClr val="FFFF00"/>
                </a:highlight>
              </a:rPr>
              <a:t>meeting of the minds </a:t>
            </a:r>
            <a:r>
              <a:rPr lang="en-US" sz="2800" noProof="0" dirty="0">
                <a:solidFill>
                  <a:srgbClr val="FF0000"/>
                </a:solidFill>
                <a:effectLst>
                  <a:outerShdw blurRad="38100" dist="38100" dir="2700000" algn="tl">
                    <a:srgbClr val="000000">
                      <a:alpha val="43137"/>
                    </a:srgbClr>
                  </a:outerShdw>
                </a:effectLst>
                <a:highlight>
                  <a:srgbClr val="FFFF00"/>
                </a:highlight>
              </a:rPr>
              <a:t>issue. Even if the formation of a cartel does not have to be in writing or even verbal (businesses do what they are requested to do, which is deemed to be an agreement), there must always be the will to participate in the cartel. </a:t>
            </a:r>
            <a:endParaRPr lang="pl-PL" sz="2800" noProof="0" dirty="0">
              <a:solidFill>
                <a:srgbClr val="FF0000"/>
              </a:solidFill>
              <a:effectLst>
                <a:outerShdw blurRad="38100" dist="38100" dir="2700000" algn="tl">
                  <a:srgbClr val="000000">
                    <a:alpha val="43137"/>
                  </a:srgbClr>
                </a:outerShdw>
              </a:effectLst>
              <a:highlight>
                <a:srgbClr val="FFFF00"/>
              </a:highlight>
            </a:endParaRPr>
          </a:p>
          <a:p>
            <a:r>
              <a:rPr lang="en-US" sz="2800" noProof="0" dirty="0">
                <a:solidFill>
                  <a:srgbClr val="FF0000"/>
                </a:solidFill>
                <a:effectLst>
                  <a:outerShdw blurRad="38100" dist="38100" dir="2700000" algn="tl">
                    <a:srgbClr val="000000">
                      <a:alpha val="43137"/>
                    </a:srgbClr>
                  </a:outerShdw>
                </a:effectLst>
                <a:highlight>
                  <a:srgbClr val="FFFF00"/>
                </a:highlight>
              </a:rPr>
              <a:t>In this case, the EU Commission accused the VW company of forming a price cartel. </a:t>
            </a:r>
            <a:endParaRPr lang="pl-PL" sz="2800" noProof="0" dirty="0">
              <a:solidFill>
                <a:srgbClr val="FF0000"/>
              </a:solidFill>
              <a:effectLst>
                <a:outerShdw blurRad="38100" dist="38100" dir="2700000" algn="tl">
                  <a:srgbClr val="000000">
                    <a:alpha val="43137"/>
                  </a:srgbClr>
                </a:outerShdw>
              </a:effectLst>
              <a:highlight>
                <a:srgbClr val="FFFF00"/>
              </a:highlight>
            </a:endParaRPr>
          </a:p>
          <a:p>
            <a:r>
              <a:rPr lang="en-US" sz="2800" noProof="0" dirty="0">
                <a:solidFill>
                  <a:srgbClr val="FF0000"/>
                </a:solidFill>
                <a:effectLst>
                  <a:outerShdw blurRad="38100" dist="38100" dir="2700000" algn="tl">
                    <a:srgbClr val="000000">
                      <a:alpha val="43137"/>
                    </a:srgbClr>
                  </a:outerShdw>
                </a:effectLst>
                <a:highlight>
                  <a:srgbClr val="FFFF00"/>
                </a:highlight>
              </a:rPr>
              <a:t>However, the EU Court reversed its decision because one cannot </a:t>
            </a:r>
            <a:r>
              <a:rPr lang="pl-PL" sz="2800" noProof="0" dirty="0">
                <a:solidFill>
                  <a:srgbClr val="FF0000"/>
                </a:solidFill>
                <a:effectLst>
                  <a:outerShdw blurRad="38100" dist="38100" dir="2700000" algn="tl">
                    <a:srgbClr val="000000">
                      <a:alpha val="43137"/>
                    </a:srgbClr>
                  </a:outerShdw>
                </a:effectLst>
                <a:highlight>
                  <a:srgbClr val="FFFF00"/>
                </a:highlight>
              </a:rPr>
              <a:t>tacitly </a:t>
            </a:r>
            <a:r>
              <a:rPr lang="en-US" sz="2800" noProof="0" dirty="0">
                <a:solidFill>
                  <a:srgbClr val="FF0000"/>
                </a:solidFill>
                <a:effectLst>
                  <a:outerShdw blurRad="38100" dist="38100" dir="2700000" algn="tl">
                    <a:srgbClr val="000000">
                      <a:alpha val="43137"/>
                    </a:srgbClr>
                  </a:outerShdw>
                </a:effectLst>
                <a:highlight>
                  <a:srgbClr val="FFFF00"/>
                </a:highlight>
              </a:rPr>
              <a:t>agree in advance on illegal activity that would occur in the future.</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38</a:t>
            </a:fld>
            <a:endParaRPr lang="pl-PL" dirty="0"/>
          </a:p>
        </p:txBody>
      </p:sp>
    </p:spTree>
    <p:extLst>
      <p:ext uri="{BB962C8B-B14F-4D97-AF65-F5344CB8AC3E}">
        <p14:creationId xmlns:p14="http://schemas.microsoft.com/office/powerpoint/2010/main" val="2589258560"/>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E5F0CD2-4CC7-2950-861D-DE2644EC3401}"/>
              </a:ext>
            </a:extLst>
          </p:cNvPr>
          <p:cNvSpPr>
            <a:spLocks noGrp="1"/>
          </p:cNvSpPr>
          <p:nvPr>
            <p:ph type="title"/>
          </p:nvPr>
        </p:nvSpPr>
        <p:spPr/>
        <p:txBody>
          <a:bodyPr/>
          <a:lstStyle/>
          <a:p>
            <a:r>
              <a:rPr lang="pl-PL" dirty="0"/>
              <a:t>VW</a:t>
            </a:r>
            <a:endParaRPr lang="en-US" dirty="0"/>
          </a:p>
        </p:txBody>
      </p:sp>
      <p:sp>
        <p:nvSpPr>
          <p:cNvPr id="3" name="Symbol zastępczy zawartości 2">
            <a:extLst>
              <a:ext uri="{FF2B5EF4-FFF2-40B4-BE49-F238E27FC236}">
                <a16:creationId xmlns:a16="http://schemas.microsoft.com/office/drawing/2014/main" id="{21BE5EC1-80FA-4795-DF62-85F0F8C15BD5}"/>
              </a:ext>
            </a:extLst>
          </p:cNvPr>
          <p:cNvSpPr>
            <a:spLocks noGrp="1"/>
          </p:cNvSpPr>
          <p:nvPr>
            <p:ph idx="1"/>
          </p:nvPr>
        </p:nvSpPr>
        <p:spPr/>
        <p:txBody>
          <a:bodyPr/>
          <a:lstStyle/>
          <a:p>
            <a:r>
              <a:rPr lang="en-US" sz="2800" dirty="0">
                <a:solidFill>
                  <a:srgbClr val="002060"/>
                </a:solidFill>
                <a:effectLst>
                  <a:outerShdw blurRad="38100" dist="38100" dir="2700000" algn="tl">
                    <a:srgbClr val="000000">
                      <a:alpha val="43137"/>
                    </a:srgbClr>
                  </a:outerShdw>
                </a:effectLst>
              </a:rPr>
              <a:t>Under Clause 4(1) of the dealership agreement in its September 1995 and </a:t>
            </a:r>
            <a:r>
              <a:rPr lang="en-US" sz="2800" b="1" dirty="0">
                <a:solidFill>
                  <a:srgbClr val="002060"/>
                </a:solidFill>
                <a:effectLst>
                  <a:outerShdw blurRad="38100" dist="38100" dir="2700000" algn="tl">
                    <a:srgbClr val="000000">
                      <a:alpha val="43137"/>
                    </a:srgbClr>
                  </a:outerShdw>
                </a:effectLst>
              </a:rPr>
              <a:t>January 1998</a:t>
            </a:r>
            <a:r>
              <a:rPr lang="en-US" sz="2800" dirty="0">
                <a:solidFill>
                  <a:srgbClr val="002060"/>
                </a:solidFill>
                <a:effectLst>
                  <a:outerShdw blurRad="38100" dist="38100" dir="2700000" algn="tl">
                    <a:srgbClr val="000000">
                      <a:alpha val="43137"/>
                    </a:srgbClr>
                  </a:outerShdw>
                </a:effectLst>
              </a:rPr>
              <a:t> versions, </a:t>
            </a:r>
            <a:r>
              <a:rPr lang="en-US" sz="2800" b="1" dirty="0">
                <a:solidFill>
                  <a:srgbClr val="002060"/>
                </a:solidFill>
                <a:effectLst>
                  <a:outerShdw blurRad="38100" dist="38100" dir="2700000" algn="tl">
                    <a:srgbClr val="000000">
                      <a:alpha val="43137"/>
                    </a:srgbClr>
                  </a:outerShdw>
                </a:effectLst>
              </a:rPr>
              <a:t>Volkswagen grants the dealer a</a:t>
            </a:r>
            <a:r>
              <a:rPr lang="en-US" sz="2800" dirty="0">
                <a:solidFill>
                  <a:srgbClr val="002060"/>
                </a:solidFill>
                <a:effectLst>
                  <a:outerShdw blurRad="38100" dist="38100" dir="2700000" algn="tl">
                    <a:srgbClr val="000000">
                      <a:alpha val="43137"/>
                    </a:srgbClr>
                  </a:outerShdw>
                </a:effectLst>
              </a:rPr>
              <a:t>n </a:t>
            </a:r>
            <a:r>
              <a:rPr lang="en-US" sz="2800" b="1" dirty="0">
                <a:solidFill>
                  <a:srgbClr val="FF0000"/>
                </a:solidFill>
                <a:effectLst>
                  <a:outerShdw blurRad="38100" dist="38100" dir="2700000" algn="tl">
                    <a:srgbClr val="000000">
                      <a:alpha val="43137"/>
                    </a:srgbClr>
                  </a:outerShdw>
                </a:effectLst>
              </a:rPr>
              <a:t>agreed territory </a:t>
            </a:r>
            <a:r>
              <a:rPr lang="en-US" sz="2800" dirty="0">
                <a:solidFill>
                  <a:srgbClr val="002060"/>
                </a:solidFill>
                <a:effectLst>
                  <a:outerShdw blurRad="38100" dist="38100" dir="2700000" algn="tl">
                    <a:srgbClr val="000000">
                      <a:alpha val="43137"/>
                    </a:srgbClr>
                  </a:outerShdw>
                </a:effectLst>
              </a:rPr>
              <a:t>for the range of vehicles and for after-sales service.</a:t>
            </a:r>
          </a:p>
          <a:p>
            <a:r>
              <a:rPr lang="en-US" sz="2800" b="1" dirty="0">
                <a:solidFill>
                  <a:srgbClr val="FF0000"/>
                </a:solidFill>
                <a:effectLst>
                  <a:outerShdw blurRad="38100" dist="38100" dir="2700000" algn="tl">
                    <a:srgbClr val="000000">
                      <a:alpha val="43137"/>
                    </a:srgbClr>
                  </a:outerShdw>
                </a:effectLst>
              </a:rPr>
              <a:t>In return</a:t>
            </a:r>
            <a:r>
              <a:rPr lang="en-US" sz="2800" dirty="0">
                <a:solidFill>
                  <a:srgbClr val="FF0000"/>
                </a:solidFill>
                <a:effectLst>
                  <a:outerShdw blurRad="38100" dist="38100" dir="2700000" algn="tl">
                    <a:srgbClr val="000000">
                      <a:alpha val="43137"/>
                    </a:srgbClr>
                  </a:outerShdw>
                </a:effectLst>
              </a:rPr>
              <a:t>, </a:t>
            </a:r>
            <a:r>
              <a:rPr lang="en-US" sz="2800" dirty="0">
                <a:solidFill>
                  <a:srgbClr val="002060"/>
                </a:solidFill>
                <a:effectLst>
                  <a:outerShdw blurRad="38100" dist="38100" dir="2700000" algn="tl">
                    <a:srgbClr val="000000">
                      <a:alpha val="43137"/>
                    </a:srgbClr>
                  </a:outerShdw>
                </a:effectLst>
              </a:rPr>
              <a:t>the </a:t>
            </a:r>
            <a:r>
              <a:rPr lang="en-US" sz="2800" b="1" dirty="0">
                <a:solidFill>
                  <a:srgbClr val="002060"/>
                </a:solidFill>
                <a:effectLst>
                  <a:outerShdw blurRad="38100" dist="38100" dir="2700000" algn="tl">
                    <a:srgbClr val="000000">
                      <a:alpha val="43137"/>
                    </a:srgbClr>
                  </a:outerShdw>
                </a:effectLst>
              </a:rPr>
              <a:t>dealer undertakes to </a:t>
            </a:r>
            <a:r>
              <a:rPr lang="en-US" sz="2800" b="1" dirty="0">
                <a:solidFill>
                  <a:srgbClr val="FF0000"/>
                </a:solidFill>
                <a:effectLst>
                  <a:outerShdw blurRad="38100" dist="38100" dir="2700000" algn="tl">
                    <a:srgbClr val="000000">
                      <a:alpha val="43137"/>
                    </a:srgbClr>
                  </a:outerShdw>
                </a:effectLst>
              </a:rPr>
              <a:t>promote sales </a:t>
            </a:r>
            <a:r>
              <a:rPr lang="en-US" sz="2800" b="1" dirty="0">
                <a:solidFill>
                  <a:srgbClr val="002060"/>
                </a:solidFill>
                <a:effectLst>
                  <a:outerShdw blurRad="38100" dist="38100" dir="2700000" algn="tl">
                    <a:srgbClr val="000000">
                      <a:alpha val="43137"/>
                    </a:srgbClr>
                  </a:outerShdw>
                </a:effectLst>
              </a:rPr>
              <a:t>and the </a:t>
            </a:r>
            <a:r>
              <a:rPr lang="en-US" sz="2800" dirty="0">
                <a:solidFill>
                  <a:srgbClr val="002060"/>
                </a:solidFill>
                <a:effectLst>
                  <a:outerShdw blurRad="38100" dist="38100" dir="2700000" algn="tl">
                    <a:srgbClr val="000000">
                      <a:alpha val="43137"/>
                    </a:srgbClr>
                  </a:outerShdw>
                </a:effectLst>
              </a:rPr>
              <a:t>after-sales service intensively </a:t>
            </a:r>
            <a:r>
              <a:rPr lang="en-US" sz="2800" b="1" dirty="0">
                <a:solidFill>
                  <a:srgbClr val="002060"/>
                </a:solidFill>
                <a:effectLst>
                  <a:outerShdw blurRad="38100" dist="38100" dir="2700000" algn="tl">
                    <a:srgbClr val="000000">
                      <a:alpha val="43137"/>
                    </a:srgbClr>
                  </a:outerShdw>
                </a:effectLst>
              </a:rPr>
              <a:t>within the agreed territory</a:t>
            </a:r>
            <a:r>
              <a:rPr lang="en-US" sz="2800" dirty="0">
                <a:solidFill>
                  <a:srgbClr val="002060"/>
                </a:solidFill>
                <a:effectLst>
                  <a:outerShdw blurRad="38100" dist="38100" dir="2700000" algn="tl">
                    <a:srgbClr val="000000">
                      <a:alpha val="43137"/>
                    </a:srgbClr>
                  </a:outerShdw>
                </a:effectLst>
              </a:rPr>
              <a:t> and to </a:t>
            </a:r>
            <a:r>
              <a:rPr lang="en-US" sz="2800" b="1" dirty="0">
                <a:solidFill>
                  <a:srgbClr val="FF0000"/>
                </a:solidFill>
                <a:effectLst>
                  <a:outerShdw blurRad="38100" dist="38100" dir="2700000" algn="tl">
                    <a:srgbClr val="000000">
                      <a:alpha val="43137"/>
                    </a:srgbClr>
                  </a:outerShdw>
                </a:effectLst>
              </a:rPr>
              <a:t>exploit its market potential </a:t>
            </a:r>
            <a:r>
              <a:rPr lang="en-US" sz="2800" b="1" i="1" dirty="0">
                <a:solidFill>
                  <a:srgbClr val="FF0000"/>
                </a:solidFill>
                <a:effectLst>
                  <a:outerShdw blurRad="38100" dist="38100" dir="2700000" algn="tl">
                    <a:srgbClr val="000000">
                      <a:alpha val="43137"/>
                    </a:srgbClr>
                  </a:outerShdw>
                </a:effectLst>
              </a:rPr>
              <a:t>to the utmost</a:t>
            </a:r>
            <a:endParaRPr lang="en-US" sz="2800" b="1" dirty="0">
              <a:solidFill>
                <a:srgbClr val="FF0000"/>
              </a:solidFill>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990608820"/>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VW</a:t>
            </a:r>
          </a:p>
        </p:txBody>
      </p:sp>
      <p:sp>
        <p:nvSpPr>
          <p:cNvPr id="3" name="Symbol zastępczy zawartości 2"/>
          <p:cNvSpPr>
            <a:spLocks noGrp="1"/>
          </p:cNvSpPr>
          <p:nvPr>
            <p:ph idx="1"/>
          </p:nvPr>
        </p:nvSpPr>
        <p:spPr/>
        <p:txBody>
          <a:bodyPr>
            <a:normAutofit lnSpcReduction="10000"/>
          </a:bodyPr>
          <a:lstStyle/>
          <a:p>
            <a:pPr marL="0" indent="0">
              <a:buNone/>
            </a:pPr>
            <a:r>
              <a:rPr lang="pl-PL" sz="3600" dirty="0">
                <a:solidFill>
                  <a:srgbClr val="002060"/>
                </a:solidFill>
                <a:effectLst>
                  <a:outerShdw blurRad="38100" dist="38100" dir="2700000" algn="tl">
                    <a:srgbClr val="000000">
                      <a:alpha val="43137"/>
                    </a:srgbClr>
                  </a:outerShdw>
                </a:effectLst>
              </a:rPr>
              <a:t>„</a:t>
            </a:r>
            <a:r>
              <a:rPr lang="en-US" sz="3600" dirty="0">
                <a:solidFill>
                  <a:srgbClr val="002060"/>
                </a:solidFill>
                <a:effectLst>
                  <a:outerShdw blurRad="38100" dist="38100" dir="2700000" algn="tl">
                    <a:srgbClr val="000000">
                      <a:alpha val="43137"/>
                    </a:srgbClr>
                  </a:outerShdw>
                </a:effectLst>
              </a:rPr>
              <a:t>Under Clause 2(6) (January 1989 version) or Clause 2(1) (September 1995 and January 1998 versions) of the dealership agreement, </a:t>
            </a:r>
            <a:r>
              <a:rPr lang="en-US" sz="3600" u="sng" dirty="0">
                <a:solidFill>
                  <a:srgbClr val="002060"/>
                </a:solidFill>
                <a:effectLst>
                  <a:outerShdw blurRad="38100" dist="38100" dir="2700000" algn="tl">
                    <a:srgbClr val="000000">
                      <a:alpha val="43137"/>
                    </a:srgbClr>
                  </a:outerShdw>
                </a:effectLst>
              </a:rPr>
              <a:t>the </a:t>
            </a:r>
            <a:r>
              <a:rPr lang="en-US" sz="3600" b="1" u="sng" dirty="0">
                <a:solidFill>
                  <a:srgbClr val="002060"/>
                </a:solidFill>
                <a:effectLst>
                  <a:outerShdw blurRad="38100" dist="38100" dir="2700000" algn="tl">
                    <a:srgbClr val="000000">
                      <a:alpha val="43137"/>
                    </a:srgbClr>
                  </a:outerShdw>
                </a:effectLst>
              </a:rPr>
              <a:t>dealer undertakes</a:t>
            </a:r>
            <a:r>
              <a:rPr lang="en-US" sz="3600" b="1" dirty="0">
                <a:solidFill>
                  <a:srgbClr val="002060"/>
                </a:solidFill>
                <a:effectLst>
                  <a:outerShdw blurRad="38100" dist="38100" dir="2700000" algn="tl">
                    <a:srgbClr val="000000">
                      <a:alpha val="43137"/>
                    </a:srgbClr>
                  </a:outerShdw>
                </a:effectLst>
              </a:rPr>
              <a:t> to </a:t>
            </a:r>
            <a:r>
              <a:rPr lang="en-US" sz="3600" b="1" dirty="0">
                <a:solidFill>
                  <a:srgbClr val="FF0000"/>
                </a:solidFill>
                <a:effectLst>
                  <a:outerShdw blurRad="38100" dist="38100" dir="2700000" algn="tl">
                    <a:srgbClr val="000000">
                      <a:alpha val="43137"/>
                    </a:srgbClr>
                  </a:outerShdw>
                </a:effectLst>
              </a:rPr>
              <a:t>defend and promote in every way the interests of </a:t>
            </a:r>
            <a:r>
              <a:rPr lang="en-US" sz="3600" b="1" dirty="0">
                <a:solidFill>
                  <a:srgbClr val="002060"/>
                </a:solidFill>
                <a:effectLst>
                  <a:outerShdw blurRad="38100" dist="38100" dir="2700000" algn="tl">
                    <a:srgbClr val="000000">
                      <a:alpha val="43137"/>
                    </a:srgbClr>
                  </a:outerShdw>
                </a:effectLst>
              </a:rPr>
              <a:t>[Volkswagen</a:t>
            </a:r>
            <a:r>
              <a:rPr lang="en-US" sz="3600" dirty="0">
                <a:solidFill>
                  <a:srgbClr val="002060"/>
                </a:solidFill>
                <a:effectLst>
                  <a:outerShdw blurRad="38100" dist="38100" dir="2700000" algn="tl">
                    <a:srgbClr val="000000">
                      <a:alpha val="43137"/>
                    </a:srgbClr>
                  </a:outerShdw>
                </a:effectLst>
              </a:rPr>
              <a:t>], of the Volkswagen </a:t>
            </a:r>
            <a:r>
              <a:rPr lang="en-US" sz="3600" b="1" dirty="0">
                <a:solidFill>
                  <a:srgbClr val="FF0000"/>
                </a:solidFill>
                <a:effectLst>
                  <a:outerShdw blurRad="38100" dist="38100" dir="2700000" algn="tl">
                    <a:srgbClr val="000000">
                      <a:alpha val="43137"/>
                    </a:srgbClr>
                  </a:outerShdw>
                </a:effectLst>
              </a:rPr>
              <a:t>distribution organization</a:t>
            </a:r>
            <a:r>
              <a:rPr lang="en-US" sz="3600" dirty="0">
                <a:solidFill>
                  <a:srgbClr val="FF0000"/>
                </a:solidFill>
                <a:effectLst>
                  <a:outerShdw blurRad="38100" dist="38100" dir="2700000" algn="tl">
                    <a:srgbClr val="000000">
                      <a:alpha val="43137"/>
                    </a:srgbClr>
                  </a:outerShdw>
                </a:effectLst>
              </a:rPr>
              <a:t> </a:t>
            </a:r>
            <a:r>
              <a:rPr lang="en-US" sz="3600" dirty="0">
                <a:solidFill>
                  <a:srgbClr val="002060"/>
                </a:solidFill>
                <a:effectLst>
                  <a:outerShdw blurRad="38100" dist="38100" dir="2700000" algn="tl">
                    <a:srgbClr val="000000">
                      <a:alpha val="43137"/>
                    </a:srgbClr>
                  </a:outerShdw>
                </a:effectLst>
              </a:rPr>
              <a:t>and of the </a:t>
            </a:r>
            <a:r>
              <a:rPr lang="en-US" sz="3600" b="1" dirty="0">
                <a:solidFill>
                  <a:srgbClr val="002060"/>
                </a:solidFill>
                <a:effectLst>
                  <a:outerShdw blurRad="38100" dist="38100" dir="2700000" algn="tl">
                    <a:srgbClr val="000000">
                      <a:alpha val="43137"/>
                    </a:srgbClr>
                  </a:outerShdw>
                </a:effectLst>
              </a:rPr>
              <a:t>Volkswagen brand</a:t>
            </a:r>
            <a:r>
              <a:rPr lang="pl-PL" sz="3600" dirty="0">
                <a:solidFill>
                  <a:srgbClr val="002060"/>
                </a:solidFill>
                <a:effectLst>
                  <a:outerShdw blurRad="38100" dist="38100" dir="2700000" algn="tl">
                    <a:srgbClr val="000000">
                      <a:alpha val="43137"/>
                    </a:srgbClr>
                  </a:outerShdw>
                </a:effectLst>
              </a:rPr>
              <a:t>”</a:t>
            </a:r>
            <a:r>
              <a:rPr lang="en-US" dirty="0">
                <a:solidFill>
                  <a:srgbClr val="002060"/>
                </a:solidFill>
              </a:rPr>
              <a:t> </a:t>
            </a:r>
            <a:endParaRPr lang="pl-PL" dirty="0">
              <a:solidFill>
                <a:srgbClr val="002060"/>
              </a:solidFill>
            </a:endParaRP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40</a:t>
            </a:fld>
            <a:endParaRPr lang="pl-PL" dirty="0"/>
          </a:p>
        </p:txBody>
      </p:sp>
    </p:spTree>
    <p:extLst>
      <p:ext uri="{BB962C8B-B14F-4D97-AF65-F5344CB8AC3E}">
        <p14:creationId xmlns:p14="http://schemas.microsoft.com/office/powerpoint/2010/main" val="3000102695"/>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a:t>
            </a:r>
          </a:p>
        </p:txBody>
      </p:sp>
      <p:sp>
        <p:nvSpPr>
          <p:cNvPr id="3" name="Symbol zastępczy zawartości 2"/>
          <p:cNvSpPr>
            <a:spLocks noGrp="1"/>
          </p:cNvSpPr>
          <p:nvPr>
            <p:ph idx="1"/>
          </p:nvPr>
        </p:nvSpPr>
        <p:spPr/>
        <p:txBody>
          <a:bodyPr/>
          <a:lstStyle/>
          <a:p>
            <a:pPr marL="0" indent="0">
              <a:buNone/>
            </a:pPr>
            <a:r>
              <a:rPr lang="en-US" dirty="0">
                <a:solidFill>
                  <a:srgbClr val="002060"/>
                </a:solidFill>
                <a:effectLst>
                  <a:outerShdw blurRad="38100" dist="38100" dir="2700000" algn="tl">
                    <a:srgbClr val="000000">
                      <a:alpha val="43137"/>
                    </a:srgbClr>
                  </a:outerShdw>
                </a:effectLst>
              </a:rPr>
              <a:t>It is also stipulated that the dealer will </a:t>
            </a:r>
            <a:r>
              <a:rPr lang="en-US" b="1" dirty="0">
                <a:solidFill>
                  <a:srgbClr val="FF0000"/>
                </a:solidFill>
                <a:effectLst>
                  <a:outerShdw blurRad="38100" dist="38100" dir="2700000" algn="tl">
                    <a:srgbClr val="000000">
                      <a:alpha val="43137"/>
                    </a:srgbClr>
                  </a:outerShdw>
                </a:effectLst>
              </a:rPr>
              <a:t>comply with all instructions </a:t>
            </a:r>
            <a:r>
              <a:rPr lang="en-US" b="1" dirty="0">
                <a:solidFill>
                  <a:srgbClr val="002060"/>
                </a:solidFill>
                <a:effectLst>
                  <a:outerShdw blurRad="38100" dist="38100" dir="2700000" algn="tl">
                    <a:srgbClr val="000000">
                      <a:alpha val="43137"/>
                    </a:srgbClr>
                  </a:outerShdw>
                </a:effectLst>
              </a:rPr>
              <a:t>issued for the purposes of the agreement</a:t>
            </a:r>
            <a:r>
              <a:rPr lang="en-US" dirty="0">
                <a:solidFill>
                  <a:srgbClr val="002060"/>
                </a:solidFill>
                <a:effectLst>
                  <a:outerShdw blurRad="38100" dist="38100" dir="2700000" algn="tl">
                    <a:srgbClr val="000000">
                      <a:alpha val="43137"/>
                    </a:srgbClr>
                  </a:outerShdw>
                </a:effectLst>
              </a:rPr>
              <a:t> regarding the </a:t>
            </a:r>
            <a:r>
              <a:rPr lang="en-US" b="1" dirty="0">
                <a:solidFill>
                  <a:srgbClr val="0070C0"/>
                </a:solidFill>
                <a:effectLst>
                  <a:outerShdw blurRad="38100" dist="38100" dir="2700000" algn="tl">
                    <a:srgbClr val="000000">
                      <a:alpha val="43137"/>
                    </a:srgbClr>
                  </a:outerShdw>
                </a:effectLst>
              </a:rPr>
              <a:t>distribution</a:t>
            </a:r>
            <a:r>
              <a:rPr lang="en-US"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of new Volkswagen cars, </a:t>
            </a:r>
            <a:r>
              <a:rPr lang="en-US" b="1" dirty="0">
                <a:solidFill>
                  <a:srgbClr val="002060"/>
                </a:solidFill>
                <a:effectLst>
                  <a:outerShdw blurRad="38100" dist="38100" dir="2700000" algn="tl">
                    <a:srgbClr val="000000">
                      <a:alpha val="43137"/>
                    </a:srgbClr>
                  </a:outerShdw>
                </a:effectLst>
              </a:rPr>
              <a:t>the </a:t>
            </a:r>
            <a:r>
              <a:rPr lang="en-US" b="1" dirty="0">
                <a:solidFill>
                  <a:srgbClr val="0070C0"/>
                </a:solidFill>
                <a:effectLst>
                  <a:outerShdw blurRad="38100" dist="38100" dir="2700000" algn="tl">
                    <a:srgbClr val="000000">
                      <a:alpha val="43137"/>
                    </a:srgbClr>
                  </a:outerShdw>
                </a:effectLst>
              </a:rPr>
              <a:t>stocking</a:t>
            </a:r>
            <a:r>
              <a:rPr lang="en-US" b="1"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of replacement parts</a:t>
            </a:r>
            <a:r>
              <a:rPr lang="en-US" b="1"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customer service</a:t>
            </a:r>
            <a:r>
              <a:rPr lang="en-US" b="1"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sales promotion</a:t>
            </a:r>
            <a:r>
              <a:rPr lang="en-US" b="1" dirty="0">
                <a:solidFill>
                  <a:srgbClr val="002060"/>
                </a:solidFill>
                <a:effectLst>
                  <a:outerShdw blurRad="38100" dist="38100" dir="2700000" algn="tl">
                    <a:srgbClr val="000000">
                      <a:alpha val="43137"/>
                    </a:srgbClr>
                  </a:outerShdw>
                </a:effectLst>
              </a:rPr>
              <a:t>, advertising, training, and the ensuring of quality in each area of Volkswagen's business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41</a:t>
            </a:fld>
            <a:endParaRPr lang="pl-PL" dirty="0"/>
          </a:p>
        </p:txBody>
      </p:sp>
    </p:spTree>
    <p:extLst>
      <p:ext uri="{BB962C8B-B14F-4D97-AF65-F5344CB8AC3E}">
        <p14:creationId xmlns:p14="http://schemas.microsoft.com/office/powerpoint/2010/main" val="2922717379"/>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a:t>
            </a:r>
          </a:p>
        </p:txBody>
      </p:sp>
      <p:sp>
        <p:nvSpPr>
          <p:cNvPr id="3" name="Symbol zastępczy zawartości 2"/>
          <p:cNvSpPr>
            <a:spLocks noGrp="1"/>
          </p:cNvSpPr>
          <p:nvPr>
            <p:ph idx="1"/>
          </p:nvPr>
        </p:nvSpPr>
        <p:spPr/>
        <p:txBody>
          <a:bodyPr/>
          <a:lstStyle/>
          <a:p>
            <a:pPr marL="0" indent="0">
              <a:buNone/>
            </a:pPr>
            <a:r>
              <a:rPr lang="pl-PL" dirty="0"/>
              <a:t>„</a:t>
            </a:r>
            <a:r>
              <a:rPr lang="en-US" sz="3600" dirty="0">
                <a:effectLst>
                  <a:outerShdw blurRad="38100" dist="38100" dir="2700000" algn="tl">
                    <a:srgbClr val="000000">
                      <a:alpha val="43137"/>
                    </a:srgbClr>
                  </a:outerShdw>
                </a:effectLst>
              </a:rPr>
              <a:t>Finally, under Clause 8(1) of the dealership agreement, [Volkswagen] will issue </a:t>
            </a:r>
            <a:r>
              <a:rPr lang="en-US" sz="3600" b="1" dirty="0">
                <a:solidFill>
                  <a:srgbClr val="FF0000"/>
                </a:solidFill>
                <a:effectLst>
                  <a:outerShdw blurRad="38100" dist="38100" dir="2700000" algn="tl">
                    <a:srgbClr val="000000">
                      <a:alpha val="43137"/>
                    </a:srgbClr>
                  </a:outerShdw>
                </a:effectLst>
              </a:rPr>
              <a:t>non-binding price recommendations</a:t>
            </a:r>
            <a:r>
              <a:rPr lang="en-US" sz="3600" dirty="0">
                <a:effectLst>
                  <a:outerShdw blurRad="38100" dist="38100" dir="2700000" algn="tl">
                    <a:srgbClr val="000000">
                      <a:alpha val="43137"/>
                    </a:srgbClr>
                  </a:outerShdw>
                </a:effectLst>
              </a:rPr>
              <a:t> concerning retail prices and </a:t>
            </a:r>
            <a:r>
              <a:rPr lang="en-US" sz="3600" b="1" dirty="0">
                <a:solidFill>
                  <a:srgbClr val="002060"/>
                </a:solidFill>
                <a:effectLst>
                  <a:outerShdw blurRad="38100" dist="38100" dir="2700000" algn="tl">
                    <a:srgbClr val="000000">
                      <a:alpha val="43137"/>
                    </a:srgbClr>
                  </a:outerShdw>
                </a:effectLst>
              </a:rPr>
              <a:t>discounts</a:t>
            </a:r>
            <a:r>
              <a:rPr lang="pl-PL" dirty="0"/>
              <a:t>”</a:t>
            </a:r>
            <a:r>
              <a:rPr lang="en-US" dirty="0"/>
              <a:t> </a:t>
            </a:r>
            <a:endParaRPr lang="pl-PL" dirty="0"/>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42</a:t>
            </a:fld>
            <a:endParaRPr lang="pl-PL" dirty="0"/>
          </a:p>
        </p:txBody>
      </p:sp>
    </p:spTree>
    <p:extLst>
      <p:ext uri="{BB962C8B-B14F-4D97-AF65-F5344CB8AC3E}">
        <p14:creationId xmlns:p14="http://schemas.microsoft.com/office/powerpoint/2010/main" val="3828135844"/>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a:t>
            </a:r>
          </a:p>
        </p:txBody>
      </p:sp>
      <p:sp>
        <p:nvSpPr>
          <p:cNvPr id="3" name="Symbol zastępczy zawartości 2"/>
          <p:cNvSpPr>
            <a:spLocks noGrp="1"/>
          </p:cNvSpPr>
          <p:nvPr>
            <p:ph idx="1"/>
          </p:nvPr>
        </p:nvSpPr>
        <p:spPr/>
        <p:txBody>
          <a:bodyPr/>
          <a:lstStyle/>
          <a:p>
            <a:pPr marL="0" indent="0">
              <a:buNone/>
            </a:pPr>
            <a:r>
              <a:rPr lang="pl-PL" dirty="0">
                <a:solidFill>
                  <a:srgbClr val="002060"/>
                </a:solidFill>
              </a:rPr>
              <a:t>„</a:t>
            </a:r>
            <a:r>
              <a:rPr lang="en-US" dirty="0">
                <a:solidFill>
                  <a:srgbClr val="002060"/>
                </a:solidFill>
                <a:effectLst>
                  <a:outerShdw blurRad="38100" dist="38100" dir="2700000" algn="tl">
                    <a:srgbClr val="000000">
                      <a:alpha val="43137"/>
                    </a:srgbClr>
                  </a:outerShdw>
                </a:effectLst>
              </a:rPr>
              <a:t>The contested decision</a:t>
            </a:r>
            <a:r>
              <a:rPr lang="pl-PL" dirty="0">
                <a:solidFill>
                  <a:srgbClr val="002060"/>
                </a:solidFill>
                <a:effectLst>
                  <a:outerShdw blurRad="38100" dist="38100" dir="2700000" algn="tl">
                    <a:srgbClr val="000000">
                      <a:alpha val="43137"/>
                    </a:srgbClr>
                  </a:outerShdw>
                </a:effectLst>
              </a:rPr>
              <a:t> [of the EU Commission]</a:t>
            </a:r>
            <a:r>
              <a:rPr lang="en-US" dirty="0">
                <a:solidFill>
                  <a:srgbClr val="002060"/>
                </a:solidFill>
                <a:effectLst>
                  <a:outerShdw blurRad="38100" dist="38100" dir="2700000" algn="tl">
                    <a:srgbClr val="000000">
                      <a:alpha val="43137"/>
                    </a:srgbClr>
                  </a:outerShdw>
                </a:effectLst>
              </a:rPr>
              <a:t> provides:</a:t>
            </a:r>
            <a:endParaRPr lang="pl-PL" dirty="0">
              <a:solidFill>
                <a:srgbClr val="002060"/>
              </a:solidFill>
              <a:effectLst>
                <a:outerShdw blurRad="38100" dist="38100" dir="2700000" algn="tl">
                  <a:srgbClr val="000000">
                    <a:alpha val="43137"/>
                  </a:srgbClr>
                </a:outerShdw>
              </a:effectLst>
            </a:endParaRPr>
          </a:p>
          <a:p>
            <a:pPr marL="0" indent="0">
              <a:buNone/>
            </a:pPr>
            <a:r>
              <a:rPr lang="en-US" i="1" dirty="0">
                <a:solidFill>
                  <a:srgbClr val="002060"/>
                </a:solidFill>
                <a:effectLst>
                  <a:outerShdw blurRad="38100" dist="38100" dir="2700000" algn="tl">
                    <a:srgbClr val="000000">
                      <a:alpha val="43137"/>
                    </a:srgbClr>
                  </a:outerShdw>
                </a:effectLst>
              </a:rPr>
              <a:t>Article 1</a:t>
            </a:r>
            <a:r>
              <a:rPr lang="en-US" dirty="0">
                <a:solidFill>
                  <a:srgbClr val="002060"/>
                </a:solidFill>
                <a:effectLst>
                  <a:outerShdw blurRad="38100" dist="38100" dir="2700000" algn="tl">
                    <a:srgbClr val="000000">
                      <a:alpha val="43137"/>
                    </a:srgbClr>
                  </a:outerShdw>
                </a:effectLst>
              </a:rPr>
              <a:t>[Volkswagen] has infringed Article</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81(1)</a:t>
            </a:r>
            <a:r>
              <a:rPr lang="pl-PL" dirty="0">
                <a:solidFill>
                  <a:srgbClr val="002060"/>
                </a:solidFill>
                <a:effectLst>
                  <a:outerShdw blurRad="38100" dist="38100" dir="2700000" algn="tl">
                    <a:srgbClr val="000000">
                      <a:alpha val="43137"/>
                    </a:srgbClr>
                  </a:outerShdw>
                </a:effectLst>
              </a:rPr>
              <a:t>[now art. 101]</a:t>
            </a:r>
            <a:r>
              <a:rPr lang="en-US" dirty="0">
                <a:solidFill>
                  <a:srgbClr val="002060"/>
                </a:solidFill>
                <a:effectLst>
                  <a:outerShdw blurRad="38100" dist="38100" dir="2700000" algn="tl">
                    <a:srgbClr val="000000">
                      <a:alpha val="43137"/>
                    </a:srgbClr>
                  </a:outerShdw>
                </a:effectLst>
              </a:rPr>
              <a:t>of theTreaty by </a:t>
            </a:r>
            <a:r>
              <a:rPr lang="en-US" b="1" i="1" dirty="0">
                <a:solidFill>
                  <a:srgbClr val="002060"/>
                </a:solidFill>
                <a:effectLst>
                  <a:outerShdw blurRad="38100" dist="38100" dir="2700000" algn="tl">
                    <a:srgbClr val="000000">
                      <a:alpha val="43137"/>
                    </a:srgbClr>
                  </a:outerShdw>
                </a:effectLst>
              </a:rPr>
              <a:t>setting the selling price of the VW Passat on the basis of </a:t>
            </a:r>
            <a:r>
              <a:rPr lang="en-US" b="1" i="1" dirty="0">
                <a:solidFill>
                  <a:srgbClr val="FF0000"/>
                </a:solidFill>
                <a:effectLst>
                  <a:outerShdw blurRad="38100" dist="38100" dir="2700000" algn="tl">
                    <a:srgbClr val="000000">
                      <a:alpha val="43137"/>
                    </a:srgbClr>
                  </a:outerShdw>
                </a:effectLst>
              </a:rPr>
              <a:t>exhortations</a:t>
            </a:r>
            <a:r>
              <a:rPr lang="en-US" b="1" i="1" dirty="0">
                <a:solidFill>
                  <a:srgbClr val="002060"/>
                </a:solidFill>
                <a:effectLst>
                  <a:outerShdw blurRad="38100" dist="38100" dir="2700000" algn="tl">
                    <a:srgbClr val="000000">
                      <a:alpha val="43137"/>
                    </a:srgbClr>
                  </a:outerShdw>
                </a:effectLst>
              </a:rPr>
              <a:t> to its German authorized dealers </a:t>
            </a:r>
            <a:r>
              <a:rPr lang="en-US" b="1" i="1" dirty="0">
                <a:solidFill>
                  <a:srgbClr val="FF0000"/>
                </a:solidFill>
                <a:effectLst>
                  <a:outerShdw blurRad="38100" dist="38100" dir="2700000" algn="tl">
                    <a:srgbClr val="000000">
                      <a:alpha val="43137"/>
                    </a:srgbClr>
                  </a:outerShdw>
                </a:effectLst>
              </a:rPr>
              <a:t>to grant limited discounts </a:t>
            </a:r>
            <a:r>
              <a:rPr lang="en-US" b="1" i="1" dirty="0">
                <a:solidFill>
                  <a:srgbClr val="002060"/>
                </a:solidFill>
                <a:effectLst>
                  <a:outerShdw blurRad="38100" dist="38100" dir="2700000" algn="tl">
                    <a:srgbClr val="000000">
                      <a:alpha val="43137"/>
                    </a:srgbClr>
                  </a:outerShdw>
                </a:effectLst>
              </a:rPr>
              <a:t>or </a:t>
            </a:r>
            <a:r>
              <a:rPr lang="en-US" b="1" i="1" dirty="0">
                <a:solidFill>
                  <a:srgbClr val="FF0000"/>
                </a:solidFill>
                <a:effectLst>
                  <a:outerShdw blurRad="38100" dist="38100" dir="2700000" algn="tl">
                    <a:srgbClr val="000000">
                      <a:alpha val="43137"/>
                    </a:srgbClr>
                  </a:outerShdw>
                </a:effectLst>
              </a:rPr>
              <a:t>no discounts</a:t>
            </a:r>
            <a:r>
              <a:rPr lang="en-US" b="1" i="1" dirty="0">
                <a:solidFill>
                  <a:srgbClr val="002060"/>
                </a:solidFill>
                <a:effectLst>
                  <a:outerShdw blurRad="38100" dist="38100" dir="2700000" algn="tl">
                    <a:srgbClr val="000000">
                      <a:alpha val="43137"/>
                    </a:srgbClr>
                  </a:outerShdw>
                </a:effectLst>
              </a:rPr>
              <a:t> at all to customers in selling the VW Passat</a:t>
            </a:r>
            <a:r>
              <a:rPr lang="pl-PL" b="1" i="1"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43</a:t>
            </a:fld>
            <a:endParaRPr lang="pl-PL" dirty="0"/>
          </a:p>
        </p:txBody>
      </p:sp>
    </p:spTree>
    <p:extLst>
      <p:ext uri="{BB962C8B-B14F-4D97-AF65-F5344CB8AC3E}">
        <p14:creationId xmlns:p14="http://schemas.microsoft.com/office/powerpoint/2010/main" val="3574516712"/>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VW</a:t>
            </a:r>
          </a:p>
        </p:txBody>
      </p:sp>
      <p:sp>
        <p:nvSpPr>
          <p:cNvPr id="3" name="Symbol zastępczy zawartości 2"/>
          <p:cNvSpPr>
            <a:spLocks noGrp="1"/>
          </p:cNvSpPr>
          <p:nvPr>
            <p:ph idx="1"/>
          </p:nvPr>
        </p:nvSpPr>
        <p:spPr/>
        <p:txBody>
          <a:bodyPr>
            <a:normAutofit lnSpcReduction="10000"/>
          </a:bodyPr>
          <a:lstStyle/>
          <a:p>
            <a:pPr marL="0" indent="0">
              <a:buNone/>
            </a:pPr>
            <a:r>
              <a:rPr lang="pl-PL" sz="3600" dirty="0">
                <a:solidFill>
                  <a:srgbClr val="002060"/>
                </a:solidFill>
                <a:effectLst>
                  <a:outerShdw blurRad="38100" dist="38100" dir="2700000" algn="tl">
                    <a:srgbClr val="000000">
                      <a:alpha val="43137"/>
                    </a:srgbClr>
                  </a:outerShdw>
                </a:effectLst>
              </a:rPr>
              <a:t>„</a:t>
            </a:r>
            <a:r>
              <a:rPr lang="en-US" sz="3600" dirty="0">
                <a:solidFill>
                  <a:srgbClr val="002060"/>
                </a:solidFill>
                <a:effectLst>
                  <a:outerShdw blurRad="38100" dist="38100" dir="2700000" algn="tl">
                    <a:srgbClr val="000000">
                      <a:alpha val="43137"/>
                    </a:srgbClr>
                  </a:outerShdw>
                </a:effectLst>
              </a:rPr>
              <a:t>The </a:t>
            </a:r>
            <a:r>
              <a:rPr lang="en-US" sz="3600" b="1" dirty="0">
                <a:solidFill>
                  <a:srgbClr val="002060"/>
                </a:solidFill>
                <a:effectLst>
                  <a:outerShdw blurRad="38100" dist="38100" dir="2700000" algn="tl">
                    <a:srgbClr val="000000">
                      <a:alpha val="43137"/>
                    </a:srgbClr>
                  </a:outerShdw>
                </a:effectLst>
              </a:rPr>
              <a:t>applicant </a:t>
            </a:r>
            <a:r>
              <a:rPr lang="pl-PL" sz="3600" b="1" dirty="0">
                <a:solidFill>
                  <a:srgbClr val="002060"/>
                </a:solidFill>
                <a:effectLst>
                  <a:outerShdw blurRad="38100" dist="38100" dir="2700000" algn="tl">
                    <a:srgbClr val="000000">
                      <a:alpha val="43137"/>
                    </a:srgbClr>
                  </a:outerShdw>
                </a:effectLst>
              </a:rPr>
              <a:t>[VW] </a:t>
            </a:r>
            <a:r>
              <a:rPr lang="en-US" sz="3600" b="1" dirty="0">
                <a:solidFill>
                  <a:srgbClr val="002060"/>
                </a:solidFill>
                <a:effectLst>
                  <a:outerShdw blurRad="38100" dist="38100" dir="2700000" algn="tl">
                    <a:srgbClr val="000000">
                      <a:alpha val="43137"/>
                    </a:srgbClr>
                  </a:outerShdw>
                </a:effectLst>
              </a:rPr>
              <a:t>claims</a:t>
            </a:r>
            <a:r>
              <a:rPr lang="pl-PL" sz="3600" dirty="0">
                <a:solidFill>
                  <a:srgbClr val="002060"/>
                </a:solidFill>
                <a:effectLst>
                  <a:outerShdw blurRad="38100" dist="38100" dir="2700000" algn="tl">
                    <a:srgbClr val="000000">
                      <a:alpha val="43137"/>
                    </a:srgbClr>
                  </a:outerShdw>
                </a:effectLst>
              </a:rPr>
              <a:t> </a:t>
            </a:r>
            <a:r>
              <a:rPr lang="en-US" sz="3600" dirty="0">
                <a:solidFill>
                  <a:srgbClr val="002060"/>
                </a:solidFill>
                <a:effectLst>
                  <a:outerShdw blurRad="38100" dist="38100" dir="2700000" algn="tl">
                    <a:srgbClr val="000000">
                      <a:alpha val="43137"/>
                    </a:srgbClr>
                  </a:outerShdw>
                </a:effectLst>
              </a:rPr>
              <a:t>that </a:t>
            </a:r>
            <a:r>
              <a:rPr lang="en-US" sz="3600" b="1" dirty="0">
                <a:solidFill>
                  <a:srgbClr val="002060"/>
                </a:solidFill>
                <a:effectLst>
                  <a:outerShdw blurRad="38100" dist="38100" dir="2700000" algn="tl">
                    <a:srgbClr val="000000">
                      <a:alpha val="43137"/>
                    </a:srgbClr>
                  </a:outerShdw>
                </a:effectLst>
              </a:rPr>
              <a:t>a dealer </a:t>
            </a:r>
            <a:r>
              <a:rPr lang="en-US" sz="3600" dirty="0">
                <a:solidFill>
                  <a:srgbClr val="002060"/>
                </a:solidFill>
                <a:effectLst>
                  <a:outerShdw blurRad="38100" dist="38100" dir="2700000" algn="tl">
                    <a:srgbClr val="000000">
                      <a:alpha val="43137"/>
                    </a:srgbClr>
                  </a:outerShdw>
                </a:effectLst>
              </a:rPr>
              <a:t>who joins a distribution network </a:t>
            </a:r>
            <a:r>
              <a:rPr lang="en-US" sz="3600" b="1" dirty="0">
                <a:solidFill>
                  <a:srgbClr val="FF0000"/>
                </a:solidFill>
                <a:effectLst>
                  <a:outerShdw blurRad="38100" dist="38100" dir="2700000" algn="tl">
                    <a:srgbClr val="000000">
                      <a:alpha val="43137"/>
                    </a:srgbClr>
                  </a:outerShdw>
                </a:effectLst>
              </a:rPr>
              <a:t>can agree</a:t>
            </a:r>
            <a:r>
              <a:rPr lang="en-US" sz="3600" dirty="0">
                <a:solidFill>
                  <a:srgbClr val="FF0000"/>
                </a:solidFill>
                <a:effectLst>
                  <a:outerShdw blurRad="38100" dist="38100" dir="2700000" algn="tl">
                    <a:srgbClr val="000000">
                      <a:alpha val="43137"/>
                    </a:srgbClr>
                  </a:outerShdw>
                </a:effectLst>
              </a:rPr>
              <a:t> </a:t>
            </a:r>
            <a:r>
              <a:rPr lang="en-US" sz="3600" dirty="0">
                <a:solidFill>
                  <a:srgbClr val="002060"/>
                </a:solidFill>
                <a:effectLst>
                  <a:outerShdw blurRad="38100" dist="38100" dir="2700000" algn="tl">
                    <a:srgbClr val="000000">
                      <a:alpha val="43137"/>
                    </a:srgbClr>
                  </a:outerShdw>
                </a:effectLst>
              </a:rPr>
              <a:t>to a distribution </a:t>
            </a:r>
            <a:r>
              <a:rPr lang="en-US" sz="3600" b="1" dirty="0">
                <a:solidFill>
                  <a:srgbClr val="002060"/>
                </a:solidFill>
                <a:effectLst>
                  <a:outerShdw blurRad="38100" dist="38100" dir="2700000" algn="tl">
                    <a:srgbClr val="000000">
                      <a:alpha val="43137"/>
                    </a:srgbClr>
                  </a:outerShdw>
                </a:effectLst>
              </a:rPr>
              <a:t>policy</a:t>
            </a:r>
            <a:r>
              <a:rPr lang="en-US" sz="3600" dirty="0">
                <a:solidFill>
                  <a:srgbClr val="002060"/>
                </a:solidFill>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only in so far as it is already established</a:t>
            </a:r>
            <a:endParaRPr lang="pl-PL" sz="3600" b="1" dirty="0">
              <a:solidFill>
                <a:srgbClr val="FF0000"/>
              </a:solidFill>
              <a:effectLst>
                <a:outerShdw blurRad="38100" dist="38100" dir="2700000" algn="tl">
                  <a:srgbClr val="000000">
                    <a:alpha val="43137"/>
                  </a:srgbClr>
                </a:outerShdw>
              </a:effectLst>
            </a:endParaRPr>
          </a:p>
          <a:p>
            <a:pPr marL="0" lvl="0" indent="0">
              <a:buNone/>
            </a:pPr>
            <a:r>
              <a:rPr lang="en-US" sz="3600" b="1" dirty="0">
                <a:solidFill>
                  <a:srgbClr val="0070C0"/>
                </a:solidFill>
                <a:effectLst>
                  <a:outerShdw blurRad="38100" dist="38100" dir="2700000" algn="tl">
                    <a:srgbClr val="000000">
                      <a:alpha val="43137"/>
                    </a:srgbClr>
                  </a:outerShdw>
                </a:effectLst>
              </a:rPr>
              <a:t>Later changes</a:t>
            </a:r>
            <a:r>
              <a:rPr lang="en-US" sz="3600" dirty="0">
                <a:solidFill>
                  <a:srgbClr val="0070C0"/>
                </a:solidFill>
                <a:effectLst>
                  <a:outerShdw blurRad="38100" dist="38100" dir="2700000" algn="tl">
                    <a:srgbClr val="000000">
                      <a:alpha val="43137"/>
                    </a:srgbClr>
                  </a:outerShdw>
                </a:effectLst>
              </a:rPr>
              <a:t> </a:t>
            </a:r>
            <a:r>
              <a:rPr lang="en-US" sz="3600" dirty="0">
                <a:solidFill>
                  <a:srgbClr val="002060"/>
                </a:solidFill>
                <a:effectLst>
                  <a:outerShdw blurRad="38100" dist="38100" dir="2700000" algn="tl">
                    <a:srgbClr val="000000">
                      <a:alpha val="43137"/>
                    </a:srgbClr>
                  </a:outerShdw>
                </a:effectLst>
              </a:rPr>
              <a:t>to that policy can take place </a:t>
            </a:r>
            <a:r>
              <a:rPr lang="en-US" sz="3600" b="1" dirty="0">
                <a:solidFill>
                  <a:srgbClr val="002060"/>
                </a:solidFill>
                <a:effectLst>
                  <a:outerShdw blurRad="38100" dist="38100" dir="2700000" algn="tl">
                    <a:srgbClr val="000000">
                      <a:alpha val="43137"/>
                    </a:srgbClr>
                  </a:outerShdw>
                </a:effectLst>
              </a:rPr>
              <a:t>only if the contract contains an appropriate </a:t>
            </a:r>
            <a:r>
              <a:rPr lang="en-US" sz="3600" b="1" dirty="0">
                <a:solidFill>
                  <a:srgbClr val="0070C0"/>
                </a:solidFill>
                <a:effectLst>
                  <a:outerShdw blurRad="38100" dist="38100" dir="2700000" algn="tl">
                    <a:srgbClr val="000000">
                      <a:alpha val="43137"/>
                    </a:srgbClr>
                  </a:outerShdw>
                </a:effectLst>
              </a:rPr>
              <a:t>reservation</a:t>
            </a:r>
            <a:r>
              <a:rPr lang="en-US" sz="3600" dirty="0">
                <a:solidFill>
                  <a:srgbClr val="0070C0"/>
                </a:solidFill>
                <a:effectLst>
                  <a:outerShdw blurRad="38100" dist="38100" dir="2700000" algn="tl">
                    <a:srgbClr val="000000">
                      <a:alpha val="43137"/>
                    </a:srgbClr>
                  </a:outerShdw>
                </a:effectLst>
              </a:rPr>
              <a:t>,</a:t>
            </a:r>
            <a:r>
              <a:rPr lang="en-US" sz="3600" dirty="0">
                <a:solidFill>
                  <a:srgbClr val="002060"/>
                </a:solidFill>
                <a:effectLst>
                  <a:outerShdw blurRad="38100" dist="38100" dir="2700000" algn="tl">
                    <a:srgbClr val="000000">
                      <a:alpha val="43137"/>
                    </a:srgbClr>
                  </a:outerShdw>
                </a:effectLst>
              </a:rPr>
              <a:t> and </a:t>
            </a:r>
            <a:r>
              <a:rPr lang="en-US" sz="3600" b="1" dirty="0">
                <a:solidFill>
                  <a:srgbClr val="0070C0"/>
                </a:solidFill>
                <a:effectLst>
                  <a:outerShdw blurRad="38100" dist="38100" dir="2700000" algn="tl">
                    <a:srgbClr val="000000">
                      <a:alpha val="43137"/>
                    </a:srgbClr>
                  </a:outerShdw>
                </a:effectLst>
              </a:rPr>
              <a:t>only within its limits</a:t>
            </a:r>
            <a:r>
              <a:rPr lang="pl-PL" sz="3600" dirty="0">
                <a:solidFill>
                  <a:srgbClr val="002060"/>
                </a:solidFill>
                <a:effectLst>
                  <a:outerShdw blurRad="38100" dist="38100" dir="2700000" algn="tl">
                    <a:srgbClr val="000000">
                      <a:alpha val="43137"/>
                    </a:srgbClr>
                  </a:outerShdw>
                </a:effectLst>
              </a:rPr>
              <a:t>”</a:t>
            </a: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44</a:t>
            </a:fld>
            <a:endParaRPr lang="pl-PL" dirty="0"/>
          </a:p>
        </p:txBody>
      </p:sp>
    </p:spTree>
    <p:extLst>
      <p:ext uri="{BB962C8B-B14F-4D97-AF65-F5344CB8AC3E}">
        <p14:creationId xmlns:p14="http://schemas.microsoft.com/office/powerpoint/2010/main" val="216394471"/>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a:t>
            </a:r>
          </a:p>
        </p:txBody>
      </p:sp>
      <p:sp>
        <p:nvSpPr>
          <p:cNvPr id="3" name="Symbol zastępczy zawartości 2"/>
          <p:cNvSpPr>
            <a:spLocks noGrp="1"/>
          </p:cNvSpPr>
          <p:nvPr>
            <p:ph idx="1"/>
          </p:nvPr>
        </p:nvSpPr>
        <p:spPr/>
        <p:txBody>
          <a:bodyPr/>
          <a:lstStyle/>
          <a:p>
            <a:pPr marL="0" indent="0">
              <a:buNone/>
            </a:pPr>
            <a:r>
              <a:rPr lang="pl-PL" dirty="0">
                <a:solidFill>
                  <a:srgbClr val="002060"/>
                </a:solidFill>
              </a:rPr>
              <a:t>„</a:t>
            </a:r>
            <a:r>
              <a:rPr lang="en-US" b="1" dirty="0">
                <a:solidFill>
                  <a:srgbClr val="FF0000"/>
                </a:solidFill>
                <a:effectLst>
                  <a:outerShdw blurRad="38100" dist="38100" dir="2700000" algn="tl">
                    <a:srgbClr val="000000">
                      <a:alpha val="43137"/>
                    </a:srgbClr>
                  </a:outerShdw>
                </a:effectLst>
              </a:rPr>
              <a:t>The calls</a:t>
            </a:r>
            <a:r>
              <a:rPr lang="pl-PL" b="1" dirty="0">
                <a:solidFill>
                  <a:srgbClr val="FF0000"/>
                </a:solidFill>
                <a:effectLst>
                  <a:outerShdw blurRad="38100" dist="38100" dir="2700000" algn="tl">
                    <a:srgbClr val="000000">
                      <a:alpha val="43137"/>
                    </a:srgbClr>
                  </a:outerShdw>
                </a:effectLst>
              </a:rPr>
              <a:t>…</a:t>
            </a:r>
            <a:r>
              <a:rPr lang="en-US" dirty="0">
                <a:solidFill>
                  <a:srgbClr val="002060"/>
                </a:solidFill>
              </a:rPr>
              <a:t>, some of which came moreover </a:t>
            </a:r>
            <a:r>
              <a:rPr lang="en-US" b="1" dirty="0">
                <a:solidFill>
                  <a:srgbClr val="002060"/>
                </a:solidFill>
              </a:rPr>
              <a:t>only from a sales director</a:t>
            </a:r>
            <a:r>
              <a:rPr lang="en-US" dirty="0">
                <a:solidFill>
                  <a:srgbClr val="002060"/>
                </a:solidFill>
              </a:rPr>
              <a:t> of the applicant and were </a:t>
            </a:r>
            <a:r>
              <a:rPr lang="en-US" b="1" dirty="0">
                <a:solidFill>
                  <a:srgbClr val="FF0000"/>
                </a:solidFill>
                <a:effectLst>
                  <a:outerShdw blurRad="38100" dist="38100" dir="2700000" algn="tl">
                    <a:srgbClr val="000000">
                      <a:alpha val="43137"/>
                    </a:srgbClr>
                  </a:outerShdw>
                </a:effectLst>
              </a:rPr>
              <a:t>written on his personal letterhead</a:t>
            </a:r>
            <a:r>
              <a:rPr lang="en-US" dirty="0">
                <a:solidFill>
                  <a:srgbClr val="002060"/>
                </a:solidFill>
              </a:rPr>
              <a:t>, are not only objectively </a:t>
            </a:r>
            <a:r>
              <a:rPr lang="en-US" b="1" dirty="0">
                <a:solidFill>
                  <a:srgbClr val="0070C0"/>
                </a:solidFill>
              </a:rPr>
              <a:t>incompatible with the </a:t>
            </a:r>
            <a:r>
              <a:rPr lang="en-US" b="1" dirty="0">
                <a:solidFill>
                  <a:srgbClr val="002060"/>
                </a:solidFill>
              </a:rPr>
              <a:t>dealership agreement</a:t>
            </a:r>
            <a:r>
              <a:rPr lang="en-US" dirty="0">
                <a:solidFill>
                  <a:srgbClr val="002060"/>
                </a:solidFill>
              </a:rPr>
              <a:t>, particularly with its Clause 8(1), which provides </a:t>
            </a:r>
            <a:r>
              <a:rPr lang="en-US" b="1" dirty="0">
                <a:solidFill>
                  <a:srgbClr val="002060"/>
                </a:solidFill>
              </a:rPr>
              <a:t>only for </a:t>
            </a:r>
            <a:r>
              <a:rPr lang="en-US" b="1" dirty="0">
                <a:solidFill>
                  <a:srgbClr val="0070C0"/>
                </a:solidFill>
              </a:rPr>
              <a:t>recommended prices</a:t>
            </a:r>
            <a:r>
              <a:rPr lang="en-US" dirty="0">
                <a:solidFill>
                  <a:srgbClr val="002060"/>
                </a:solidFill>
              </a:rPr>
              <a:t>, but also were </a:t>
            </a:r>
            <a:r>
              <a:rPr lang="en-US" b="1" dirty="0">
                <a:solidFill>
                  <a:srgbClr val="FF0000"/>
                </a:solidFill>
              </a:rPr>
              <a:t>perceived as such </a:t>
            </a:r>
            <a:r>
              <a:rPr lang="en-US" dirty="0">
                <a:solidFill>
                  <a:srgbClr val="002060"/>
                </a:solidFill>
              </a:rPr>
              <a:t>by the dealers, as is </a:t>
            </a:r>
            <a:r>
              <a:rPr lang="en-US" i="1" dirty="0">
                <a:solidFill>
                  <a:srgbClr val="002060"/>
                </a:solidFill>
              </a:rPr>
              <a:t>shown particularly by the reactions of the dealers Binder and Rütz</a:t>
            </a:r>
            <a:r>
              <a:rPr lang="pl-PL" i="1" dirty="0"/>
              <a:t>”</a:t>
            </a: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45</a:t>
            </a:fld>
            <a:endParaRPr lang="pl-PL" dirty="0"/>
          </a:p>
        </p:txBody>
      </p:sp>
    </p:spTree>
    <p:extLst>
      <p:ext uri="{BB962C8B-B14F-4D97-AF65-F5344CB8AC3E}">
        <p14:creationId xmlns:p14="http://schemas.microsoft.com/office/powerpoint/2010/main" val="3863543398"/>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a:t>
            </a:r>
          </a:p>
        </p:txBody>
      </p:sp>
      <p:sp>
        <p:nvSpPr>
          <p:cNvPr id="3" name="Symbol zastępczy zawartości 2"/>
          <p:cNvSpPr>
            <a:spLocks noGrp="1"/>
          </p:cNvSpPr>
          <p:nvPr>
            <p:ph idx="1"/>
          </p:nvPr>
        </p:nvSpPr>
        <p:spPr/>
        <p:txBody>
          <a:bodyPr>
            <a:normAutofit lnSpcReduction="10000"/>
          </a:bodyPr>
          <a:lstStyle/>
          <a:p>
            <a:pPr marL="0" indent="0">
              <a:buNone/>
            </a:pPr>
            <a:r>
              <a:rPr lang="pl-PL" sz="3600" dirty="0">
                <a:solidFill>
                  <a:srgbClr val="002060"/>
                </a:solidFill>
                <a:effectLst>
                  <a:outerShdw blurRad="38100" dist="38100" dir="2700000" algn="tl">
                    <a:srgbClr val="000000">
                      <a:alpha val="43137"/>
                    </a:srgbClr>
                  </a:outerShdw>
                </a:effectLst>
              </a:rPr>
              <a:t>Plaintiff: „</a:t>
            </a:r>
            <a:r>
              <a:rPr lang="en-US" sz="3600" dirty="0">
                <a:solidFill>
                  <a:srgbClr val="002060"/>
                </a:solidFill>
                <a:effectLst>
                  <a:outerShdw blurRad="38100" dist="38100" dir="2700000" algn="tl">
                    <a:srgbClr val="000000">
                      <a:alpha val="43137"/>
                    </a:srgbClr>
                  </a:outerShdw>
                </a:effectLst>
              </a:rPr>
              <a:t>The </a:t>
            </a:r>
            <a:r>
              <a:rPr lang="en-US" sz="3600" b="1" dirty="0">
                <a:solidFill>
                  <a:srgbClr val="002060"/>
                </a:solidFill>
                <a:effectLst>
                  <a:outerShdw blurRad="38100" dist="38100" dir="2700000" algn="tl">
                    <a:srgbClr val="000000">
                      <a:alpha val="43137"/>
                    </a:srgbClr>
                  </a:outerShdw>
                </a:effectLst>
              </a:rPr>
              <a:t>Commission's assertions</a:t>
            </a:r>
            <a:r>
              <a:rPr lang="en-US" sz="3600" dirty="0">
                <a:solidFill>
                  <a:srgbClr val="002060"/>
                </a:solidFill>
                <a:effectLst>
                  <a:outerShdw blurRad="38100" dist="38100" dir="2700000" algn="tl">
                    <a:srgbClr val="000000">
                      <a:alpha val="43137"/>
                    </a:srgbClr>
                  </a:outerShdw>
                </a:effectLst>
              </a:rPr>
              <a:t> that that provision of the </a:t>
            </a:r>
            <a:r>
              <a:rPr lang="en-US" sz="3600" b="1" dirty="0">
                <a:solidFill>
                  <a:srgbClr val="FF0000"/>
                </a:solidFill>
                <a:effectLst>
                  <a:outerShdw blurRad="38100" dist="38100" dir="2700000" algn="tl">
                    <a:srgbClr val="000000">
                      <a:alpha val="43137"/>
                    </a:srgbClr>
                  </a:outerShdw>
                </a:effectLst>
              </a:rPr>
              <a:t>contract does not guarantee</a:t>
            </a:r>
            <a:r>
              <a:rPr lang="en-US" sz="3600" dirty="0">
                <a:solidFill>
                  <a:srgbClr val="002060"/>
                </a:solidFill>
                <a:effectLst>
                  <a:outerShdw blurRad="38100" dist="38100" dir="2700000" algn="tl">
                    <a:srgbClr val="000000">
                      <a:alpha val="43137"/>
                    </a:srgbClr>
                  </a:outerShdw>
                </a:effectLst>
              </a:rPr>
              <a:t> that the applicant </a:t>
            </a:r>
            <a:r>
              <a:rPr lang="en-US" sz="3600" b="1" dirty="0">
                <a:solidFill>
                  <a:srgbClr val="002060"/>
                </a:solidFill>
                <a:effectLst>
                  <a:outerShdw blurRad="38100" dist="38100" dir="2700000" algn="tl">
                    <a:srgbClr val="000000">
                      <a:alpha val="43137"/>
                    </a:srgbClr>
                  </a:outerShdw>
                </a:effectLst>
              </a:rPr>
              <a:t>will </a:t>
            </a:r>
            <a:r>
              <a:rPr lang="en-US" sz="3600" b="1" dirty="0">
                <a:solidFill>
                  <a:srgbClr val="FF0000"/>
                </a:solidFill>
                <a:effectLst>
                  <a:outerShdw blurRad="38100" dist="38100" dir="2700000" algn="tl">
                    <a:srgbClr val="000000">
                      <a:alpha val="43137"/>
                    </a:srgbClr>
                  </a:outerShdw>
                </a:effectLst>
              </a:rPr>
              <a:t>abstain</a:t>
            </a:r>
            <a:r>
              <a:rPr lang="en-US" sz="3600" dirty="0">
                <a:solidFill>
                  <a:srgbClr val="FF0000"/>
                </a:solidFill>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from issuing binding</a:t>
            </a:r>
            <a:r>
              <a:rPr lang="en-US" sz="3600" dirty="0">
                <a:solidFill>
                  <a:srgbClr val="FF0000"/>
                </a:solidFill>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instructions </a:t>
            </a:r>
            <a:r>
              <a:rPr lang="pl-PL" sz="3600" b="1" dirty="0">
                <a:solidFill>
                  <a:srgbClr val="002060"/>
                </a:solidFill>
                <a:effectLst>
                  <a:outerShdw blurRad="38100" dist="38100" dir="2700000" algn="tl">
                    <a:srgbClr val="000000">
                      <a:alpha val="43137"/>
                    </a:srgbClr>
                  </a:outerShdw>
                </a:effectLst>
              </a:rPr>
              <a:t>….</a:t>
            </a:r>
            <a:r>
              <a:rPr lang="en-US" sz="3600" dirty="0">
                <a:solidFill>
                  <a:srgbClr val="002060"/>
                </a:solidFill>
                <a:effectLst>
                  <a:outerShdw blurRad="38100" dist="38100" dir="2700000" algn="tl">
                    <a:srgbClr val="000000">
                      <a:alpha val="43137"/>
                    </a:srgbClr>
                  </a:outerShdw>
                </a:effectLst>
              </a:rPr>
              <a:t> the </a:t>
            </a:r>
            <a:r>
              <a:rPr lang="en-US" sz="3600" b="1" dirty="0">
                <a:solidFill>
                  <a:srgbClr val="002060"/>
                </a:solidFill>
                <a:effectLst>
                  <a:outerShdw blurRad="38100" dist="38100" dir="2700000" algn="tl">
                    <a:srgbClr val="000000">
                      <a:alpha val="43137"/>
                    </a:srgbClr>
                  </a:outerShdw>
                </a:effectLst>
              </a:rPr>
              <a:t>Commission </a:t>
            </a:r>
            <a:r>
              <a:rPr lang="en-US" sz="3600" b="1" dirty="0">
                <a:solidFill>
                  <a:srgbClr val="0070C0"/>
                </a:solidFill>
                <a:effectLst>
                  <a:outerShdw blurRad="38100" dist="38100" dir="2700000" algn="tl">
                    <a:srgbClr val="000000">
                      <a:alpha val="43137"/>
                    </a:srgbClr>
                  </a:outerShdw>
                </a:effectLst>
              </a:rPr>
              <a:t>cannot suggest </a:t>
            </a:r>
            <a:r>
              <a:rPr lang="en-US" sz="3600" dirty="0">
                <a:solidFill>
                  <a:srgbClr val="002060"/>
                </a:solidFill>
                <a:effectLst>
                  <a:outerShdw blurRad="38100" dist="38100" dir="2700000" algn="tl">
                    <a:srgbClr val="000000">
                      <a:alpha val="43137"/>
                    </a:srgbClr>
                  </a:outerShdw>
                </a:effectLst>
              </a:rPr>
              <a:t>that the dealership </a:t>
            </a:r>
            <a:r>
              <a:rPr lang="en-US" sz="3600" b="1" dirty="0">
                <a:solidFill>
                  <a:srgbClr val="0070C0"/>
                </a:solidFill>
                <a:effectLst>
                  <a:outerShdw blurRad="38100" dist="38100" dir="2700000" algn="tl">
                    <a:srgbClr val="000000">
                      <a:alpha val="43137"/>
                    </a:srgbClr>
                  </a:outerShdw>
                </a:effectLst>
              </a:rPr>
              <a:t>agreement included </a:t>
            </a:r>
            <a:r>
              <a:rPr lang="en-US" sz="3600" dirty="0">
                <a:solidFill>
                  <a:srgbClr val="002060"/>
                </a:solidFill>
                <a:effectLst>
                  <a:outerShdw blurRad="38100" dist="38100" dir="2700000" algn="tl">
                    <a:srgbClr val="000000">
                      <a:alpha val="43137"/>
                    </a:srgbClr>
                  </a:outerShdw>
                </a:effectLst>
              </a:rPr>
              <a:t>an </a:t>
            </a:r>
            <a:r>
              <a:rPr lang="en-US" sz="3600" b="1" dirty="0">
                <a:solidFill>
                  <a:srgbClr val="0070C0"/>
                </a:solidFill>
                <a:effectLst>
                  <a:outerShdw blurRad="38100" dist="38100" dir="2700000" algn="tl">
                    <a:srgbClr val="000000">
                      <a:alpha val="43137"/>
                    </a:srgbClr>
                  </a:outerShdw>
                </a:effectLst>
              </a:rPr>
              <a:t>implied reservation </a:t>
            </a:r>
            <a:r>
              <a:rPr lang="en-US" sz="3600" b="1" dirty="0">
                <a:solidFill>
                  <a:srgbClr val="002060"/>
                </a:solidFill>
                <a:effectLst>
                  <a:outerShdw blurRad="38100" dist="38100" dir="2700000" algn="tl">
                    <a:srgbClr val="000000">
                      <a:alpha val="43137"/>
                    </a:srgbClr>
                  </a:outerShdw>
                </a:effectLst>
              </a:rPr>
              <a:t>allowing price fixing</a:t>
            </a:r>
            <a:r>
              <a:rPr lang="pl-PL" dirty="0">
                <a:solidFill>
                  <a:srgbClr val="002060"/>
                </a:solidFill>
              </a:rPr>
              <a:t>”</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46</a:t>
            </a:fld>
            <a:endParaRPr lang="pl-PL" dirty="0"/>
          </a:p>
        </p:txBody>
      </p:sp>
    </p:spTree>
    <p:extLst>
      <p:ext uri="{BB962C8B-B14F-4D97-AF65-F5344CB8AC3E}">
        <p14:creationId xmlns:p14="http://schemas.microsoft.com/office/powerpoint/2010/main" val="1809228164"/>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a:t>
            </a:r>
          </a:p>
        </p:txBody>
      </p:sp>
      <p:sp>
        <p:nvSpPr>
          <p:cNvPr id="3" name="Symbol zastępczy zawartości 2"/>
          <p:cNvSpPr>
            <a:spLocks noGrp="1"/>
          </p:cNvSpPr>
          <p:nvPr>
            <p:ph idx="1"/>
          </p:nvPr>
        </p:nvSpPr>
        <p:spPr/>
        <p:txBody>
          <a:bodyPr/>
          <a:lstStyle/>
          <a:p>
            <a:pPr marL="0" indent="0">
              <a:buNone/>
            </a:pPr>
            <a:r>
              <a:rPr lang="pl-PL" b="1" u="sng" dirty="0">
                <a:solidFill>
                  <a:srgbClr val="002060"/>
                </a:solidFill>
                <a:effectLst>
                  <a:outerShdw blurRad="38100" dist="38100" dir="2700000" algn="tl">
                    <a:srgbClr val="000000">
                      <a:alpha val="43137"/>
                    </a:srgbClr>
                  </a:outerShdw>
                </a:effectLst>
              </a:rPr>
              <a:t>„</a:t>
            </a:r>
            <a:r>
              <a:rPr lang="en-US" b="1" dirty="0">
                <a:solidFill>
                  <a:srgbClr val="002060"/>
                </a:solidFill>
                <a:effectLst>
                  <a:outerShdw blurRad="38100" dist="38100" dir="2700000" algn="tl">
                    <a:srgbClr val="000000">
                      <a:alpha val="43137"/>
                    </a:srgbClr>
                  </a:outerShdw>
                </a:effectLst>
              </a:rPr>
              <a:t>The concept of agreement</a:t>
            </a:r>
            <a:r>
              <a:rPr lang="en-US" dirty="0">
                <a:solidFill>
                  <a:srgbClr val="002060"/>
                </a:solidFill>
                <a:effectLst>
                  <a:outerShdw blurRad="38100" dist="38100" dir="2700000" algn="tl">
                    <a:srgbClr val="000000">
                      <a:alpha val="43137"/>
                    </a:srgbClr>
                  </a:outerShdw>
                </a:effectLst>
              </a:rPr>
              <a:t> within the meaning of Article 81(1) EC</a:t>
            </a:r>
            <a:r>
              <a:rPr lang="pl-PL" dirty="0">
                <a:solidFill>
                  <a:srgbClr val="002060"/>
                </a:solidFill>
                <a:effectLst>
                  <a:outerShdw blurRad="38100" dist="38100" dir="2700000" algn="tl">
                    <a:srgbClr val="000000">
                      <a:alpha val="43137"/>
                    </a:srgbClr>
                  </a:outerShdw>
                </a:effectLst>
              </a:rPr>
              <a:t> [now 101 TFUE]</a:t>
            </a:r>
            <a:r>
              <a:rPr lang="en-US" dirty="0">
                <a:solidFill>
                  <a:srgbClr val="002060"/>
                </a:solidFill>
                <a:effectLst>
                  <a:outerShdw blurRad="38100" dist="38100" dir="2700000" algn="tl">
                    <a:srgbClr val="000000">
                      <a:alpha val="43137"/>
                    </a:srgbClr>
                  </a:outerShdw>
                </a:effectLst>
              </a:rPr>
              <a:t> centers around the existence of a joint intention between at least two parties, with the result that </a:t>
            </a:r>
            <a:r>
              <a:rPr lang="en-US" b="1" dirty="0">
                <a:solidFill>
                  <a:srgbClr val="002060"/>
                </a:solidFill>
                <a:effectLst>
                  <a:outerShdw blurRad="38100" dist="38100" dir="2700000" algn="tl">
                    <a:srgbClr val="000000">
                      <a:alpha val="43137"/>
                    </a:srgbClr>
                  </a:outerShdw>
                </a:effectLst>
              </a:rPr>
              <a:t>a </a:t>
            </a:r>
            <a:r>
              <a:rPr lang="en-US" b="1" dirty="0">
                <a:solidFill>
                  <a:srgbClr val="FF0000"/>
                </a:solidFill>
                <a:effectLst>
                  <a:outerShdw blurRad="38100" dist="38100" dir="2700000" algn="tl">
                    <a:srgbClr val="000000">
                      <a:alpha val="43137"/>
                    </a:srgbClr>
                  </a:outerShdw>
                </a:effectLst>
              </a:rPr>
              <a:t>decision</a:t>
            </a:r>
            <a:r>
              <a:rPr lang="en-US" b="1" dirty="0">
                <a:solidFill>
                  <a:srgbClr val="002060"/>
                </a:solidFill>
                <a:effectLst>
                  <a:outerShdw blurRad="38100" dist="38100" dir="2700000" algn="tl">
                    <a:srgbClr val="000000">
                      <a:alpha val="43137"/>
                    </a:srgbClr>
                  </a:outerShdw>
                </a:effectLst>
              </a:rPr>
              <a:t> of an undertaking </a:t>
            </a:r>
            <a:r>
              <a:rPr lang="en-US" dirty="0">
                <a:solidFill>
                  <a:srgbClr val="002060"/>
                </a:solidFill>
                <a:effectLst>
                  <a:outerShdw blurRad="38100" dist="38100" dir="2700000" algn="tl">
                    <a:srgbClr val="000000">
                      <a:alpha val="43137"/>
                    </a:srgbClr>
                  </a:outerShdw>
                </a:effectLst>
              </a:rPr>
              <a:t>which constitutes </a:t>
            </a:r>
            <a:r>
              <a:rPr lang="en-US" b="1" dirty="0">
                <a:solidFill>
                  <a:srgbClr val="FF0000"/>
                </a:solidFill>
                <a:effectLst>
                  <a:outerShdw blurRad="38100" dist="38100" dir="2700000" algn="tl">
                    <a:srgbClr val="000000">
                      <a:alpha val="43137"/>
                    </a:srgbClr>
                  </a:outerShdw>
                </a:effectLst>
              </a:rPr>
              <a:t>unilateral conduct </a:t>
            </a:r>
            <a:r>
              <a:rPr lang="en-US" b="1" dirty="0">
                <a:solidFill>
                  <a:srgbClr val="002060"/>
                </a:solidFill>
                <a:effectLst>
                  <a:outerShdw blurRad="38100" dist="38100" dir="2700000" algn="tl">
                    <a:srgbClr val="000000">
                      <a:alpha val="43137"/>
                    </a:srgbClr>
                  </a:outerShdw>
                </a:effectLst>
              </a:rPr>
              <a:t>escapes the prohibition</a:t>
            </a:r>
            <a:r>
              <a:rPr lang="en-US" dirty="0">
                <a:solidFill>
                  <a:srgbClr val="002060"/>
                </a:solidFill>
                <a:effectLst>
                  <a:outerShdw blurRad="38100" dist="38100" dir="2700000" algn="tl">
                    <a:srgbClr val="000000">
                      <a:alpha val="43137"/>
                    </a:srgbClr>
                  </a:outerShdw>
                </a:effectLst>
              </a:rPr>
              <a:t> in that article, </a:t>
            </a:r>
            <a:r>
              <a:rPr lang="en-US" b="1" dirty="0">
                <a:solidFill>
                  <a:srgbClr val="FF0000"/>
                </a:solidFill>
                <a:effectLst>
                  <a:outerShdw blurRad="38100" dist="38100" dir="2700000" algn="tl">
                    <a:srgbClr val="000000">
                      <a:alpha val="43137"/>
                    </a:srgbClr>
                  </a:outerShdw>
                </a:effectLst>
              </a:rPr>
              <a:t>unless</a:t>
            </a:r>
            <a:r>
              <a:rPr lang="en-US" dirty="0">
                <a:solidFill>
                  <a:srgbClr val="002060"/>
                </a:solidFill>
                <a:effectLst>
                  <a:outerShdw blurRad="38100" dist="38100" dir="2700000" algn="tl">
                    <a:srgbClr val="000000">
                      <a:alpha val="43137"/>
                    </a:srgbClr>
                  </a:outerShdw>
                </a:effectLst>
              </a:rPr>
              <a:t> it receives at least </a:t>
            </a:r>
            <a:r>
              <a:rPr lang="en-US" b="1" dirty="0">
                <a:solidFill>
                  <a:srgbClr val="002060"/>
                </a:solidFill>
                <a:effectLst>
                  <a:outerShdw blurRad="38100" dist="38100" dir="2700000" algn="tl">
                    <a:srgbClr val="000000">
                      <a:alpha val="43137"/>
                    </a:srgbClr>
                  </a:outerShdw>
                </a:effectLst>
              </a:rPr>
              <a:t>the </a:t>
            </a:r>
            <a:r>
              <a:rPr lang="en-US" b="1" dirty="0">
                <a:solidFill>
                  <a:srgbClr val="FF0000"/>
                </a:solidFill>
                <a:effectLst>
                  <a:outerShdw blurRad="38100" dist="38100" dir="2700000" algn="tl">
                    <a:srgbClr val="000000">
                      <a:alpha val="43137"/>
                    </a:srgbClr>
                  </a:outerShdw>
                </a:effectLst>
              </a:rPr>
              <a:t>tacit acquiescence</a:t>
            </a:r>
            <a:r>
              <a:rPr lang="en-US"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of another undertaking</a:t>
            </a:r>
            <a:r>
              <a:rPr lang="pl-PL" dirty="0">
                <a:solidFill>
                  <a:srgbClr val="002060"/>
                </a:solidFill>
                <a:effectLst>
                  <a:outerShdw blurRad="38100" dist="38100" dir="2700000" algn="tl">
                    <a:srgbClr val="000000">
                      <a:alpha val="43137"/>
                    </a:srgbClr>
                  </a:outerShdw>
                </a:effectLst>
              </a:rPr>
              <a:t>”</a:t>
            </a: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47</a:t>
            </a:fld>
            <a:endParaRPr lang="pl-PL" dirty="0"/>
          </a:p>
        </p:txBody>
      </p:sp>
    </p:spTree>
    <p:extLst>
      <p:ext uri="{BB962C8B-B14F-4D97-AF65-F5344CB8AC3E}">
        <p14:creationId xmlns:p14="http://schemas.microsoft.com/office/powerpoint/2010/main" val="3826363002"/>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 acquiescence</a:t>
            </a:r>
          </a:p>
        </p:txBody>
      </p:sp>
      <p:sp>
        <p:nvSpPr>
          <p:cNvPr id="3" name="Symbol zastępczy zawartości 2"/>
          <p:cNvSpPr>
            <a:spLocks noGrp="1"/>
          </p:cNvSpPr>
          <p:nvPr>
            <p:ph idx="1"/>
          </p:nvPr>
        </p:nvSpPr>
        <p:spPr/>
        <p:txBody>
          <a:bodyPr/>
          <a:lstStyle/>
          <a:p>
            <a:pPr marL="0" indent="0">
              <a:buNone/>
            </a:pPr>
            <a:r>
              <a:rPr lang="pl-PL" sz="4000" b="1" dirty="0">
                <a:solidFill>
                  <a:srgbClr val="002060"/>
                </a:solidFill>
                <a:effectLst>
                  <a:outerShdw blurRad="38100" dist="38100" dir="2700000" algn="tl">
                    <a:srgbClr val="000000">
                      <a:alpha val="43137"/>
                    </a:srgbClr>
                  </a:outerShdw>
                </a:effectLst>
              </a:rPr>
              <a:t>Commission:</a:t>
            </a:r>
            <a:r>
              <a:rPr lang="en-US" sz="4000" b="1" dirty="0">
                <a:solidFill>
                  <a:srgbClr val="002060"/>
                </a:solidFill>
                <a:effectLst>
                  <a:outerShdw blurRad="38100" dist="38100" dir="2700000" algn="tl">
                    <a:srgbClr val="000000">
                      <a:alpha val="43137"/>
                    </a:srgbClr>
                  </a:outerShdw>
                </a:effectLst>
              </a:rPr>
              <a:t> </a:t>
            </a:r>
            <a:r>
              <a:rPr lang="en-US" sz="4000" b="1" dirty="0">
                <a:solidFill>
                  <a:srgbClr val="FF0000"/>
                </a:solidFill>
                <a:effectLst>
                  <a:outerShdw blurRad="38100" dist="38100" dir="2700000" algn="tl">
                    <a:srgbClr val="000000">
                      <a:alpha val="43137"/>
                    </a:srgbClr>
                  </a:outerShdw>
                </a:effectLst>
              </a:rPr>
              <a:t>acquiescence </a:t>
            </a:r>
            <a:r>
              <a:rPr lang="en-US" sz="4000" b="1" dirty="0">
                <a:solidFill>
                  <a:srgbClr val="002060"/>
                </a:solidFill>
                <a:effectLst>
                  <a:outerShdw blurRad="38100" dist="38100" dir="2700000" algn="tl">
                    <a:srgbClr val="000000">
                      <a:alpha val="43137"/>
                    </a:srgbClr>
                  </a:outerShdw>
                </a:effectLst>
              </a:rPr>
              <a:t>must be regarded as established as a matter of principle, </a:t>
            </a:r>
            <a:r>
              <a:rPr lang="en-US" sz="4000" b="1" dirty="0">
                <a:solidFill>
                  <a:srgbClr val="FF0000"/>
                </a:solidFill>
                <a:effectLst>
                  <a:outerShdw blurRad="38100" dist="38100" dir="2700000" algn="tl">
                    <a:srgbClr val="000000">
                      <a:alpha val="43137"/>
                    </a:srgbClr>
                  </a:outerShdw>
                </a:effectLst>
              </a:rPr>
              <a:t>from the mere fact </a:t>
            </a:r>
            <a:r>
              <a:rPr lang="en-US" sz="4000" b="1" dirty="0">
                <a:solidFill>
                  <a:srgbClr val="002060"/>
                </a:solidFill>
                <a:effectLst>
                  <a:outerShdw blurRad="38100" dist="38100" dir="2700000" algn="tl">
                    <a:srgbClr val="000000">
                      <a:alpha val="43137"/>
                    </a:srgbClr>
                  </a:outerShdw>
                </a:effectLst>
              </a:rPr>
              <a:t>that the </a:t>
            </a:r>
            <a:r>
              <a:rPr lang="en-US" sz="4000" b="1" dirty="0">
                <a:solidFill>
                  <a:srgbClr val="FF0000"/>
                </a:solidFill>
                <a:effectLst>
                  <a:outerShdw blurRad="38100" dist="38100" dir="2700000" algn="tl">
                    <a:srgbClr val="000000">
                      <a:alpha val="43137"/>
                    </a:srgbClr>
                  </a:outerShdw>
                </a:effectLst>
              </a:rPr>
              <a:t>dealer has entered the distribution network</a:t>
            </a:r>
            <a:endParaRPr lang="pl-PL" sz="4000" b="1" dirty="0">
              <a:solidFill>
                <a:srgbClr val="FF0000"/>
              </a:solidFill>
              <a:effectLst>
                <a:outerShdw blurRad="38100" dist="38100" dir="2700000" algn="tl">
                  <a:srgbClr val="000000">
                    <a:alpha val="43137"/>
                  </a:srgbClr>
                </a:outerShdw>
              </a:effectLst>
            </a:endParaRP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48</a:t>
            </a:fld>
            <a:endParaRPr lang="pl-PL" dirty="0"/>
          </a:p>
        </p:txBody>
      </p:sp>
    </p:spTree>
    <p:extLst>
      <p:ext uri="{BB962C8B-B14F-4D97-AF65-F5344CB8AC3E}">
        <p14:creationId xmlns:p14="http://schemas.microsoft.com/office/powerpoint/2010/main" val="692039861"/>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 acquiescence</a:t>
            </a:r>
          </a:p>
        </p:txBody>
      </p:sp>
      <p:sp>
        <p:nvSpPr>
          <p:cNvPr id="3" name="Symbol zastępczy zawartości 2"/>
          <p:cNvSpPr>
            <a:spLocks noGrp="1"/>
          </p:cNvSpPr>
          <p:nvPr>
            <p:ph idx="1"/>
          </p:nvPr>
        </p:nvSpPr>
        <p:spPr/>
        <p:txBody>
          <a:bodyPr/>
          <a:lstStyle/>
          <a:p>
            <a:pPr marL="0" indent="0">
              <a:buNone/>
            </a:pPr>
            <a:r>
              <a:rPr lang="pl-PL" sz="2800" dirty="0">
                <a:solidFill>
                  <a:srgbClr val="002060"/>
                </a:solidFill>
                <a:effectLst>
                  <a:outerShdw blurRad="38100" dist="38100" dir="2700000" algn="tl">
                    <a:srgbClr val="000000">
                      <a:alpha val="43137"/>
                    </a:srgbClr>
                  </a:outerShdw>
                </a:effectLst>
              </a:rPr>
              <a:t>Plaintiff „</a:t>
            </a:r>
            <a:r>
              <a:rPr lang="en-US" sz="3600" b="1" dirty="0">
                <a:solidFill>
                  <a:srgbClr val="002060"/>
                </a:solidFill>
              </a:rPr>
              <a:t>acquiescence</a:t>
            </a:r>
            <a:r>
              <a:rPr lang="en-US" sz="3600" dirty="0">
                <a:solidFill>
                  <a:srgbClr val="002060"/>
                </a:solidFill>
              </a:rPr>
              <a:t> in the unlawful contractual variation desired by the manufacturer can occur </a:t>
            </a:r>
            <a:r>
              <a:rPr lang="en-US" sz="3600" b="1" dirty="0">
                <a:solidFill>
                  <a:srgbClr val="FF0000"/>
                </a:solidFill>
                <a:effectLst>
                  <a:outerShdw blurRad="38100" dist="38100" dir="2700000" algn="tl">
                    <a:srgbClr val="000000">
                      <a:alpha val="43137"/>
                    </a:srgbClr>
                  </a:outerShdw>
                </a:effectLst>
              </a:rPr>
              <a:t>only after</a:t>
            </a:r>
            <a:r>
              <a:rPr lang="en-US" sz="3600" dirty="0">
                <a:solidFill>
                  <a:srgbClr val="FF0000"/>
                </a:solidFill>
                <a:effectLst>
                  <a:outerShdw blurRad="38100" dist="38100" dir="2700000" algn="tl">
                    <a:srgbClr val="000000">
                      <a:alpha val="43137"/>
                    </a:srgbClr>
                  </a:outerShdw>
                </a:effectLst>
              </a:rPr>
              <a:t> </a:t>
            </a:r>
            <a:r>
              <a:rPr lang="en-US" sz="3600" dirty="0">
                <a:solidFill>
                  <a:srgbClr val="002060"/>
                </a:solidFill>
              </a:rPr>
              <a:t>the dealers have become </a:t>
            </a:r>
            <a:r>
              <a:rPr lang="en-US" sz="3600" b="1" dirty="0">
                <a:solidFill>
                  <a:srgbClr val="FF0000"/>
                </a:solidFill>
                <a:effectLst>
                  <a:outerShdw blurRad="38100" dist="38100" dir="2700000" algn="tl">
                    <a:srgbClr val="000000">
                      <a:alpha val="43137"/>
                    </a:srgbClr>
                  </a:outerShdw>
                </a:effectLst>
              </a:rPr>
              <a:t>aware of that variation</a:t>
            </a:r>
            <a:r>
              <a:rPr lang="pl-PL" sz="3600" dirty="0">
                <a:solidFill>
                  <a:srgbClr val="002060"/>
                </a:solidFill>
              </a:rPr>
              <a:t>”</a:t>
            </a:r>
            <a:endParaRPr lang="pl-PL" sz="3600" dirty="0">
              <a:solidFill>
                <a:srgbClr val="002060"/>
              </a:solidFill>
              <a:effectLst>
                <a:outerShdw blurRad="38100" dist="38100" dir="2700000" algn="tl">
                  <a:srgbClr val="000000">
                    <a:alpha val="43137"/>
                  </a:srgbClr>
                </a:outerShdw>
              </a:effectLst>
            </a:endParaRP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49</a:t>
            </a:fld>
            <a:endParaRPr lang="pl-PL" dirty="0"/>
          </a:p>
        </p:txBody>
      </p:sp>
    </p:spTree>
    <p:extLst>
      <p:ext uri="{BB962C8B-B14F-4D97-AF65-F5344CB8AC3E}">
        <p14:creationId xmlns:p14="http://schemas.microsoft.com/office/powerpoint/2010/main" val="3974269157"/>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 calls</a:t>
            </a:r>
          </a:p>
        </p:txBody>
      </p:sp>
      <p:sp>
        <p:nvSpPr>
          <p:cNvPr id="3" name="Symbol zastępczy zawartości 2"/>
          <p:cNvSpPr>
            <a:spLocks noGrp="1"/>
          </p:cNvSpPr>
          <p:nvPr>
            <p:ph idx="1"/>
          </p:nvPr>
        </p:nvSpPr>
        <p:spPr/>
        <p:txBody>
          <a:bodyPr/>
          <a:lstStyle/>
          <a:p>
            <a:pPr marL="0" indent="0">
              <a:buNone/>
            </a:pPr>
            <a:r>
              <a:rPr lang="pl-PL" sz="3600" dirty="0">
                <a:solidFill>
                  <a:srgbClr val="002060"/>
                </a:solidFill>
                <a:effectLst>
                  <a:outerShdw blurRad="38100" dist="38100" dir="2700000" algn="tl">
                    <a:srgbClr val="000000">
                      <a:alpha val="43137"/>
                    </a:srgbClr>
                  </a:outerShdw>
                </a:effectLst>
              </a:rPr>
              <a:t>T</a:t>
            </a:r>
            <a:r>
              <a:rPr lang="en-US" sz="3600" dirty="0">
                <a:solidFill>
                  <a:srgbClr val="002060"/>
                </a:solidFill>
                <a:effectLst>
                  <a:outerShdw blurRad="38100" dist="38100" dir="2700000" algn="tl">
                    <a:srgbClr val="000000">
                      <a:alpha val="43137"/>
                    </a:srgbClr>
                  </a:outerShdw>
                </a:effectLst>
              </a:rPr>
              <a:t>he fact that some of the </a:t>
            </a:r>
            <a:r>
              <a:rPr lang="en-US" sz="3600" b="1" dirty="0">
                <a:solidFill>
                  <a:srgbClr val="002060"/>
                </a:solidFill>
                <a:effectLst>
                  <a:outerShdw blurRad="38100" dist="38100" dir="2700000" algn="tl">
                    <a:srgbClr val="000000">
                      <a:alpha val="43137"/>
                    </a:srgbClr>
                  </a:outerShdw>
                </a:effectLst>
              </a:rPr>
              <a:t>calls</a:t>
            </a:r>
            <a:r>
              <a:rPr lang="en-US" sz="3600" dirty="0">
                <a:solidFill>
                  <a:srgbClr val="002060"/>
                </a:solidFill>
                <a:effectLst>
                  <a:outerShdw blurRad="38100" dist="38100" dir="2700000" algn="tl">
                    <a:srgbClr val="000000">
                      <a:alpha val="43137"/>
                    </a:srgbClr>
                  </a:outerShdw>
                </a:effectLst>
              </a:rPr>
              <a:t> </a:t>
            </a:r>
            <a:r>
              <a:rPr lang="pl-PL" sz="3600" dirty="0">
                <a:solidFill>
                  <a:srgbClr val="002060"/>
                </a:solidFill>
                <a:effectLst>
                  <a:outerShdw blurRad="38100" dist="38100" dir="2700000" algn="tl">
                    <a:srgbClr val="000000">
                      <a:alpha val="43137"/>
                    </a:srgbClr>
                  </a:outerShdw>
                </a:effectLst>
              </a:rPr>
              <a:t>…</a:t>
            </a:r>
            <a:r>
              <a:rPr lang="en-US" sz="3600" dirty="0">
                <a:solidFill>
                  <a:srgbClr val="002060"/>
                </a:solidFill>
                <a:effectLst>
                  <a:outerShdw blurRad="38100" dist="38100" dir="2700000" algn="tl">
                    <a:srgbClr val="000000">
                      <a:alpha val="43137"/>
                    </a:srgbClr>
                  </a:outerShdw>
                </a:effectLst>
              </a:rPr>
              <a:t>were </a:t>
            </a:r>
            <a:r>
              <a:rPr lang="en-US" sz="3600" b="1" dirty="0">
                <a:solidFill>
                  <a:srgbClr val="FF0000"/>
                </a:solidFill>
                <a:effectLst>
                  <a:outerShdw blurRad="38100" dist="38100" dir="2700000" algn="tl">
                    <a:srgbClr val="000000">
                      <a:alpha val="43137"/>
                    </a:srgbClr>
                  </a:outerShdw>
                </a:effectLst>
              </a:rPr>
              <a:t>coupled with threats </a:t>
            </a:r>
            <a:r>
              <a:rPr lang="en-US" sz="3600" dirty="0">
                <a:solidFill>
                  <a:srgbClr val="002060"/>
                </a:solidFill>
                <a:effectLst>
                  <a:outerShdw blurRad="38100" dist="38100" dir="2700000" algn="tl">
                    <a:srgbClr val="000000">
                      <a:alpha val="43137"/>
                    </a:srgbClr>
                  </a:outerShdw>
                </a:effectLst>
              </a:rPr>
              <a:t>to terminate the dealership agreement </a:t>
            </a:r>
            <a:r>
              <a:rPr lang="en-US" sz="3600" b="1" dirty="0">
                <a:solidFill>
                  <a:srgbClr val="002060"/>
                </a:solidFill>
                <a:effectLst>
                  <a:outerShdw blurRad="38100" dist="38100" dir="2700000" algn="tl">
                    <a:srgbClr val="000000">
                      <a:alpha val="43137"/>
                    </a:srgbClr>
                  </a:outerShdw>
                </a:effectLst>
              </a:rPr>
              <a:t>does not in the least mean that this contract was the objective basis of those requests</a:t>
            </a:r>
            <a:endParaRPr lang="pl-PL" sz="3600" dirty="0">
              <a:solidFill>
                <a:srgbClr val="002060"/>
              </a:solidFill>
              <a:effectLst>
                <a:outerShdw blurRad="38100" dist="38100" dir="2700000" algn="tl">
                  <a:srgbClr val="000000">
                    <a:alpha val="43137"/>
                  </a:srgbClr>
                </a:outerShdw>
              </a:effectLst>
            </a:endParaRP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50</a:t>
            </a:fld>
            <a:endParaRPr lang="pl-PL" dirty="0"/>
          </a:p>
        </p:txBody>
      </p:sp>
    </p:spTree>
    <p:extLst>
      <p:ext uri="{BB962C8B-B14F-4D97-AF65-F5344CB8AC3E}">
        <p14:creationId xmlns:p14="http://schemas.microsoft.com/office/powerpoint/2010/main" val="3014224303"/>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 calls</a:t>
            </a:r>
          </a:p>
        </p:txBody>
      </p:sp>
      <p:sp>
        <p:nvSpPr>
          <p:cNvPr id="3" name="Symbol zastępczy zawartości 2"/>
          <p:cNvSpPr>
            <a:spLocks noGrp="1"/>
          </p:cNvSpPr>
          <p:nvPr>
            <p:ph idx="1"/>
          </p:nvPr>
        </p:nvSpPr>
        <p:spPr/>
        <p:txBody>
          <a:bodyPr/>
          <a:lstStyle/>
          <a:p>
            <a:pPr marL="0" indent="0">
              <a:buNone/>
            </a:pPr>
            <a:r>
              <a:rPr lang="en-US" sz="3600" b="1" dirty="0">
                <a:solidFill>
                  <a:srgbClr val="002060"/>
                </a:solidFill>
                <a:effectLst>
                  <a:outerShdw blurRad="38100" dist="38100" dir="2700000" algn="tl">
                    <a:srgbClr val="000000">
                      <a:alpha val="43137"/>
                    </a:srgbClr>
                  </a:outerShdw>
                </a:effectLst>
              </a:rPr>
              <a:t>The COMMISSION maintains</a:t>
            </a:r>
            <a:r>
              <a:rPr lang="en-US" sz="3600" dirty="0">
                <a:solidFill>
                  <a:srgbClr val="002060"/>
                </a:solidFill>
                <a:effectLst>
                  <a:outerShdw blurRad="38100" dist="38100" dir="2700000" algn="tl">
                    <a:srgbClr val="000000">
                      <a:alpha val="43137"/>
                    </a:srgbClr>
                  </a:outerShdw>
                </a:effectLst>
              </a:rPr>
              <a:t>, on its part, that the </a:t>
            </a:r>
            <a:r>
              <a:rPr lang="en-US" sz="3600" b="1" dirty="0">
                <a:solidFill>
                  <a:srgbClr val="FF0000"/>
                </a:solidFill>
                <a:effectLst>
                  <a:outerShdw blurRad="38100" dist="38100" dir="2700000" algn="tl">
                    <a:srgbClr val="000000">
                      <a:alpha val="43137"/>
                    </a:srgbClr>
                  </a:outerShdw>
                </a:effectLst>
              </a:rPr>
              <a:t>calls</a:t>
            </a:r>
            <a:r>
              <a:rPr lang="en-US" sz="3600" dirty="0">
                <a:solidFill>
                  <a:srgbClr val="002060"/>
                </a:solidFill>
                <a:effectLst>
                  <a:outerShdw blurRad="38100" dist="38100" dir="2700000" algn="tl">
                    <a:srgbClr val="000000">
                      <a:alpha val="43137"/>
                    </a:srgbClr>
                  </a:outerShdw>
                </a:effectLst>
              </a:rPr>
              <a:t> at issue </a:t>
            </a:r>
            <a:r>
              <a:rPr lang="en-US" sz="3600" b="1" dirty="0">
                <a:solidFill>
                  <a:srgbClr val="FF0000"/>
                </a:solidFill>
                <a:effectLst>
                  <a:outerShdw blurRad="38100" dist="38100" dir="2700000" algn="tl">
                    <a:srgbClr val="000000">
                      <a:alpha val="43137"/>
                    </a:srgbClr>
                  </a:outerShdw>
                </a:effectLst>
              </a:rPr>
              <a:t>became integral parts of the dealership agreement</a:t>
            </a:r>
            <a:r>
              <a:rPr lang="en-US" sz="3600" dirty="0">
                <a:solidFill>
                  <a:srgbClr val="FF0000"/>
                </a:solidFill>
                <a:effectLst>
                  <a:outerShdw blurRad="38100" dist="38100" dir="2700000" algn="tl">
                    <a:srgbClr val="000000">
                      <a:alpha val="43137"/>
                    </a:srgbClr>
                  </a:outerShdw>
                </a:effectLst>
              </a:rPr>
              <a:t> </a:t>
            </a:r>
            <a:r>
              <a:rPr lang="en-US" sz="3600" dirty="0">
                <a:solidFill>
                  <a:srgbClr val="002060"/>
                </a:solidFill>
                <a:effectLst>
                  <a:outerShdw blurRad="38100" dist="38100" dir="2700000" algn="tl">
                    <a:srgbClr val="000000">
                      <a:alpha val="43137"/>
                    </a:srgbClr>
                  </a:outerShdw>
                </a:effectLst>
              </a:rPr>
              <a:t>and therefore </a:t>
            </a:r>
            <a:r>
              <a:rPr lang="en-US" sz="3600" b="1" dirty="0">
                <a:solidFill>
                  <a:srgbClr val="002060"/>
                </a:solidFill>
                <a:effectLst>
                  <a:outerShdw blurRad="38100" dist="38100" dir="2700000" algn="tl">
                    <a:srgbClr val="000000">
                      <a:alpha val="43137"/>
                    </a:srgbClr>
                  </a:outerShdw>
                </a:effectLst>
              </a:rPr>
              <a:t>constitute agreements within the meaning of Article 81(1) EC</a:t>
            </a:r>
            <a:r>
              <a:rPr lang="en-US" sz="3600" dirty="0">
                <a:solidFill>
                  <a:srgbClr val="002060"/>
                </a:solidFill>
                <a:effectLst>
                  <a:outerShdw blurRad="38100" dist="38100" dir="2700000" algn="tl">
                    <a:srgbClr val="000000">
                      <a:alpha val="43137"/>
                    </a:srgbClr>
                  </a:outerShdw>
                </a:effectLst>
              </a:rPr>
              <a:t> </a:t>
            </a:r>
            <a:endParaRPr lang="pl-PL" sz="3600" dirty="0">
              <a:solidFill>
                <a:srgbClr val="002060"/>
              </a:solidFill>
              <a:effectLst>
                <a:outerShdw blurRad="38100" dist="38100" dir="2700000" algn="tl">
                  <a:srgbClr val="000000">
                    <a:alpha val="43137"/>
                  </a:srgbClr>
                </a:outerShdw>
              </a:effectLst>
            </a:endParaRPr>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51</a:t>
            </a:fld>
            <a:endParaRPr lang="pl-PL" dirty="0"/>
          </a:p>
        </p:txBody>
      </p:sp>
    </p:spTree>
    <p:extLst>
      <p:ext uri="{BB962C8B-B14F-4D97-AF65-F5344CB8AC3E}">
        <p14:creationId xmlns:p14="http://schemas.microsoft.com/office/powerpoint/2010/main" val="880708701"/>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 calls</a:t>
            </a:r>
          </a:p>
        </p:txBody>
      </p:sp>
      <p:sp>
        <p:nvSpPr>
          <p:cNvPr id="3" name="Symbol zastępczy zawartości 2"/>
          <p:cNvSpPr>
            <a:spLocks noGrp="1"/>
          </p:cNvSpPr>
          <p:nvPr>
            <p:ph idx="1"/>
          </p:nvPr>
        </p:nvSpPr>
        <p:spPr/>
        <p:txBody>
          <a:bodyPr/>
          <a:lstStyle/>
          <a:p>
            <a:pPr marL="0" indent="0">
              <a:buNone/>
            </a:pPr>
            <a:r>
              <a:rPr lang="pl-PL" sz="4400" b="1" dirty="0">
                <a:solidFill>
                  <a:srgbClr val="002060"/>
                </a:solidFill>
              </a:rPr>
              <a:t>ECJ:</a:t>
            </a:r>
          </a:p>
          <a:p>
            <a:pPr marL="0" indent="0">
              <a:buNone/>
            </a:pPr>
            <a:r>
              <a:rPr lang="en-US" sz="4400" b="1" dirty="0">
                <a:solidFill>
                  <a:srgbClr val="002060"/>
                </a:solidFill>
              </a:rPr>
              <a:t>it has NOT been established</a:t>
            </a:r>
            <a:r>
              <a:rPr lang="en-US" sz="4400" dirty="0">
                <a:solidFill>
                  <a:srgbClr val="002060"/>
                </a:solidFill>
              </a:rPr>
              <a:t> that the </a:t>
            </a:r>
            <a:r>
              <a:rPr lang="en-US" sz="4400" b="1" dirty="0">
                <a:solidFill>
                  <a:srgbClr val="002060"/>
                </a:solidFill>
                <a:effectLst>
                  <a:outerShdw blurRad="38100" dist="38100" dir="2700000" algn="tl">
                    <a:srgbClr val="000000">
                      <a:alpha val="43137"/>
                    </a:srgbClr>
                  </a:outerShdw>
                </a:effectLst>
              </a:rPr>
              <a:t>calls </a:t>
            </a:r>
            <a:r>
              <a:rPr lang="en-US" sz="4400" dirty="0">
                <a:solidFill>
                  <a:srgbClr val="002060"/>
                </a:solidFill>
              </a:rPr>
              <a:t>at issue were implemented in practice</a:t>
            </a:r>
            <a:endParaRPr lang="pl-PL" sz="4400" dirty="0">
              <a:solidFill>
                <a:srgbClr val="002060"/>
              </a:solidFill>
            </a:endParaRP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52</a:t>
            </a:fld>
            <a:endParaRPr lang="pl-PL" dirty="0"/>
          </a:p>
        </p:txBody>
      </p:sp>
    </p:spTree>
    <p:extLst>
      <p:ext uri="{BB962C8B-B14F-4D97-AF65-F5344CB8AC3E}">
        <p14:creationId xmlns:p14="http://schemas.microsoft.com/office/powerpoint/2010/main" val="891172248"/>
      </p:ext>
    </p:extLst>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 calls</a:t>
            </a:r>
          </a:p>
        </p:txBody>
      </p:sp>
      <p:sp>
        <p:nvSpPr>
          <p:cNvPr id="3" name="Symbol zastępczy zawartości 2"/>
          <p:cNvSpPr>
            <a:spLocks noGrp="1"/>
          </p:cNvSpPr>
          <p:nvPr>
            <p:ph idx="1"/>
          </p:nvPr>
        </p:nvSpPr>
        <p:spPr/>
        <p:txBody>
          <a:bodyPr/>
          <a:lstStyle/>
          <a:p>
            <a:r>
              <a:rPr lang="pl-PL" sz="4000" dirty="0">
                <a:solidFill>
                  <a:srgbClr val="002060"/>
                </a:solidFill>
              </a:rPr>
              <a:t>„</a:t>
            </a:r>
            <a:r>
              <a:rPr lang="pl-PL" sz="4000" dirty="0">
                <a:solidFill>
                  <a:srgbClr val="002060"/>
                </a:solidFill>
                <a:effectLst>
                  <a:outerShdw blurRad="38100" dist="38100" dir="2700000" algn="tl">
                    <a:srgbClr val="000000">
                      <a:alpha val="43137"/>
                    </a:srgbClr>
                  </a:outerShdw>
                </a:effectLst>
              </a:rPr>
              <a:t>T</a:t>
            </a:r>
            <a:r>
              <a:rPr lang="en-US" sz="4000" dirty="0">
                <a:solidFill>
                  <a:srgbClr val="002060"/>
                </a:solidFill>
                <a:effectLst>
                  <a:outerShdw blurRad="38100" dist="38100" dir="2700000" algn="tl">
                    <a:srgbClr val="000000">
                      <a:alpha val="43137"/>
                    </a:srgbClr>
                  </a:outerShdw>
                </a:effectLst>
              </a:rPr>
              <a:t>he </a:t>
            </a:r>
            <a:r>
              <a:rPr lang="en-US" sz="4000" b="1" dirty="0">
                <a:solidFill>
                  <a:srgbClr val="0070C0"/>
                </a:solidFill>
                <a:effectLst>
                  <a:outerShdw blurRad="38100" dist="38100" dir="2700000" algn="tl">
                    <a:srgbClr val="000000">
                      <a:alpha val="43137"/>
                    </a:srgbClr>
                  </a:outerShdw>
                </a:effectLst>
              </a:rPr>
              <a:t>figures quoted by the Commission </a:t>
            </a:r>
            <a:r>
              <a:rPr lang="en-US" sz="4000" dirty="0">
                <a:solidFill>
                  <a:srgbClr val="002060"/>
                </a:solidFill>
                <a:effectLst>
                  <a:outerShdw blurRad="38100" dist="38100" dir="2700000" algn="tl">
                    <a:srgbClr val="000000">
                      <a:alpha val="43137"/>
                    </a:srgbClr>
                  </a:outerShdw>
                </a:effectLst>
              </a:rPr>
              <a:t>in the contested decision, </a:t>
            </a:r>
            <a:r>
              <a:rPr lang="en-US" sz="4000" b="1" dirty="0">
                <a:solidFill>
                  <a:srgbClr val="FF0000"/>
                </a:solidFill>
                <a:effectLst>
                  <a:outerShdw blurRad="38100" dist="38100" dir="2700000" algn="tl">
                    <a:srgbClr val="000000">
                      <a:alpha val="43137"/>
                    </a:srgbClr>
                  </a:outerShdw>
                </a:effectLst>
              </a:rPr>
              <a:t>far from reflecting significant changes in that conduct</a:t>
            </a:r>
            <a:r>
              <a:rPr lang="en-US" sz="4000" dirty="0">
                <a:solidFill>
                  <a:srgbClr val="002060"/>
                </a:solidFill>
                <a:effectLst>
                  <a:outerShdw blurRad="38100" dist="38100" dir="2700000" algn="tl">
                    <a:srgbClr val="000000">
                      <a:alpha val="43137"/>
                    </a:srgbClr>
                  </a:outerShdw>
                </a:effectLst>
              </a:rPr>
              <a:t>, </a:t>
            </a:r>
            <a:r>
              <a:rPr lang="en-US" sz="4000" b="1" dirty="0">
                <a:solidFill>
                  <a:srgbClr val="002060"/>
                </a:solidFill>
                <a:effectLst>
                  <a:outerShdw blurRad="38100" dist="38100" dir="2700000" algn="tl">
                    <a:srgbClr val="000000">
                      <a:alpha val="43137"/>
                    </a:srgbClr>
                  </a:outerShdw>
                </a:effectLst>
              </a:rPr>
              <a:t>show, on the contrary, an </a:t>
            </a:r>
            <a:r>
              <a:rPr lang="en-US" sz="4000" b="1" dirty="0">
                <a:solidFill>
                  <a:srgbClr val="FF0000"/>
                </a:solidFill>
                <a:effectLst>
                  <a:outerShdw blurRad="38100" dist="38100" dir="2700000" algn="tl">
                    <a:srgbClr val="000000">
                      <a:alpha val="43137"/>
                    </a:srgbClr>
                  </a:outerShdw>
                </a:effectLst>
              </a:rPr>
              <a:t>increase in the discounts</a:t>
            </a:r>
            <a:r>
              <a:rPr lang="pl-PL" sz="4000" dirty="0">
                <a:solidFill>
                  <a:srgbClr val="002060"/>
                </a:solidFill>
                <a:effectLst>
                  <a:outerShdw blurRad="38100" dist="38100" dir="2700000" algn="tl">
                    <a:srgbClr val="000000">
                      <a:alpha val="43137"/>
                    </a:srgbClr>
                  </a:outerShdw>
                </a:effectLst>
              </a:rPr>
              <a:t>”</a:t>
            </a: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53</a:t>
            </a:fld>
            <a:endParaRPr lang="pl-PL" dirty="0"/>
          </a:p>
        </p:txBody>
      </p:sp>
    </p:spTree>
    <p:extLst>
      <p:ext uri="{BB962C8B-B14F-4D97-AF65-F5344CB8AC3E}">
        <p14:creationId xmlns:p14="http://schemas.microsoft.com/office/powerpoint/2010/main" val="801704040"/>
      </p:ext>
    </p:extLst>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t>VW - ECJ</a:t>
            </a:r>
          </a:p>
        </p:txBody>
      </p:sp>
      <p:sp>
        <p:nvSpPr>
          <p:cNvPr id="3" name="Symbol zastępczy zawartości 2"/>
          <p:cNvSpPr>
            <a:spLocks noGrp="1"/>
          </p:cNvSpPr>
          <p:nvPr>
            <p:ph idx="1"/>
          </p:nvPr>
        </p:nvSpPr>
        <p:spPr/>
        <p:txBody>
          <a:bodyPr/>
          <a:lstStyle/>
          <a:p>
            <a:pPr marL="0" indent="0">
              <a:buNone/>
            </a:pPr>
            <a:r>
              <a:rPr lang="pl-PL" dirty="0">
                <a:solidFill>
                  <a:srgbClr val="002060"/>
                </a:solidFill>
              </a:rPr>
              <a:t>„T</a:t>
            </a:r>
            <a:r>
              <a:rPr lang="en-US" dirty="0">
                <a:solidFill>
                  <a:srgbClr val="002060"/>
                </a:solidFill>
              </a:rPr>
              <a:t>he Commission's case amounts to claiming that a </a:t>
            </a:r>
            <a:r>
              <a:rPr lang="en-US" b="1" dirty="0">
                <a:solidFill>
                  <a:srgbClr val="002060"/>
                </a:solidFill>
              </a:rPr>
              <a:t>dealer who has </a:t>
            </a:r>
            <a:r>
              <a:rPr lang="en-US" b="1" dirty="0">
                <a:solidFill>
                  <a:srgbClr val="FF0000"/>
                </a:solidFill>
                <a:effectLst>
                  <a:outerShdw blurRad="38100" dist="38100" dir="2700000" algn="tl">
                    <a:srgbClr val="000000">
                      <a:alpha val="43137"/>
                    </a:srgbClr>
                  </a:outerShdw>
                </a:effectLst>
              </a:rPr>
              <a:t>signed a dealership agreement </a:t>
            </a:r>
            <a:r>
              <a:rPr lang="en-US" b="1" dirty="0">
                <a:solidFill>
                  <a:srgbClr val="0070C0"/>
                </a:solidFill>
                <a:effectLst>
                  <a:outerShdw blurRad="38100" dist="38100" dir="2700000" algn="tl">
                    <a:srgbClr val="000000">
                      <a:alpha val="43137"/>
                    </a:srgbClr>
                  </a:outerShdw>
                </a:effectLst>
              </a:rPr>
              <a:t>which complies </a:t>
            </a:r>
            <a:r>
              <a:rPr lang="en-US" b="1" dirty="0">
                <a:solidFill>
                  <a:srgbClr val="FF0000"/>
                </a:solidFill>
                <a:effectLst>
                  <a:outerShdw blurRad="38100" dist="38100" dir="2700000" algn="tl">
                    <a:srgbClr val="000000">
                      <a:alpha val="43137"/>
                    </a:srgbClr>
                  </a:outerShdw>
                </a:effectLst>
              </a:rPr>
              <a:t>with competition law </a:t>
            </a:r>
            <a:r>
              <a:rPr lang="en-US" dirty="0">
                <a:solidFill>
                  <a:srgbClr val="002060"/>
                </a:solidFill>
              </a:rPr>
              <a:t>is deemed, upon and by such signature, to </a:t>
            </a:r>
            <a:r>
              <a:rPr lang="en-US" b="1" dirty="0">
                <a:solidFill>
                  <a:srgbClr val="FF0000"/>
                </a:solidFill>
                <a:effectLst>
                  <a:outerShdw blurRad="38100" dist="38100" dir="2700000" algn="tl">
                    <a:srgbClr val="000000">
                      <a:alpha val="43137"/>
                    </a:srgbClr>
                  </a:outerShdw>
                </a:effectLst>
              </a:rPr>
              <a:t>have accepted in advance </a:t>
            </a:r>
            <a:r>
              <a:rPr lang="en-US" dirty="0">
                <a:solidFill>
                  <a:srgbClr val="002060"/>
                </a:solidFill>
              </a:rPr>
              <a:t>a </a:t>
            </a:r>
            <a:r>
              <a:rPr lang="en-US" b="1" dirty="0">
                <a:solidFill>
                  <a:srgbClr val="FF0000"/>
                </a:solidFill>
                <a:effectLst>
                  <a:outerShdw blurRad="38100" dist="38100" dir="2700000" algn="tl">
                    <a:srgbClr val="000000">
                      <a:alpha val="43137"/>
                    </a:srgbClr>
                  </a:outerShdw>
                </a:effectLst>
              </a:rPr>
              <a:t>later unlawful variation </a:t>
            </a:r>
            <a:r>
              <a:rPr lang="en-US" dirty="0">
                <a:solidFill>
                  <a:srgbClr val="002060"/>
                </a:solidFill>
              </a:rPr>
              <a:t>of that contract, even though, by virtue precisely of its compliance with competition law, </a:t>
            </a:r>
            <a:r>
              <a:rPr lang="en-US" b="1" dirty="0">
                <a:solidFill>
                  <a:srgbClr val="002060"/>
                </a:solidFill>
              </a:rPr>
              <a:t>that contract could not enable the dealer to foresee such a variation </a:t>
            </a:r>
            <a:endParaRPr lang="pl-PL" dirty="0">
              <a:solidFill>
                <a:srgbClr val="002060"/>
              </a:solidFill>
            </a:endParaRPr>
          </a:p>
          <a:p>
            <a:r>
              <a:rPr lang="en-US" dirty="0"/>
              <a:t> </a:t>
            </a:r>
            <a:endParaRPr lang="pl-PL" dirty="0"/>
          </a:p>
          <a:p>
            <a:pPr marL="0" indent="0">
              <a:buNone/>
            </a:pPr>
            <a:endParaRPr lang="pl-PL" dirty="0"/>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54</a:t>
            </a:fld>
            <a:endParaRPr lang="pl-PL" dirty="0"/>
          </a:p>
        </p:txBody>
      </p:sp>
    </p:spTree>
    <p:extLst>
      <p:ext uri="{BB962C8B-B14F-4D97-AF65-F5344CB8AC3E}">
        <p14:creationId xmlns:p14="http://schemas.microsoft.com/office/powerpoint/2010/main" val="645053376"/>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a:solidFill>
                  <a:srgbClr val="002060"/>
                </a:solidFill>
              </a:rPr>
              <a:t>VW - ECJ</a:t>
            </a:r>
          </a:p>
        </p:txBody>
      </p:sp>
      <p:sp>
        <p:nvSpPr>
          <p:cNvPr id="3" name="Symbol zastępczy zawartości 2"/>
          <p:cNvSpPr>
            <a:spLocks noGrp="1"/>
          </p:cNvSpPr>
          <p:nvPr>
            <p:ph idx="1"/>
          </p:nvPr>
        </p:nvSpPr>
        <p:spPr/>
        <p:txBody>
          <a:bodyPr/>
          <a:lstStyle/>
          <a:p>
            <a:r>
              <a:rPr lang="pl-PL" b="1" dirty="0">
                <a:solidFill>
                  <a:srgbClr val="FF0000"/>
                </a:solidFill>
                <a:effectLst>
                  <a:outerShdw blurRad="38100" dist="38100" dir="2700000" algn="tl">
                    <a:srgbClr val="000000">
                      <a:alpha val="43137"/>
                    </a:srgbClr>
                  </a:outerShdw>
                </a:effectLst>
              </a:rPr>
              <a:t>I</a:t>
            </a:r>
            <a:r>
              <a:rPr lang="en-US" b="1" dirty="0">
                <a:solidFill>
                  <a:srgbClr val="FF0000"/>
                </a:solidFill>
                <a:effectLst>
                  <a:outerShdw blurRad="38100" dist="38100" dir="2700000" algn="tl">
                    <a:srgbClr val="000000">
                      <a:alpha val="43137"/>
                    </a:srgbClr>
                  </a:outerShdw>
                </a:effectLst>
              </a:rPr>
              <a:t>t cannot be accepted</a:t>
            </a:r>
            <a:r>
              <a:rPr lang="en-US"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that an </a:t>
            </a:r>
            <a:r>
              <a:rPr lang="en-US" b="1" dirty="0">
                <a:solidFill>
                  <a:srgbClr val="002060"/>
                </a:solidFill>
                <a:effectLst>
                  <a:outerShdw blurRad="38100" dist="38100" dir="2700000" algn="tl">
                    <a:srgbClr val="000000">
                      <a:alpha val="43137"/>
                    </a:srgbClr>
                  </a:outerShdw>
                </a:effectLst>
              </a:rPr>
              <a:t>unlawful </a:t>
            </a:r>
            <a:r>
              <a:rPr lang="en-US" dirty="0">
                <a:solidFill>
                  <a:srgbClr val="002060"/>
                </a:solidFill>
                <a:effectLst>
                  <a:outerShdw blurRad="38100" dist="38100" dir="2700000" algn="tl">
                    <a:srgbClr val="000000">
                      <a:alpha val="43137"/>
                    </a:srgbClr>
                  </a:outerShdw>
                </a:effectLst>
              </a:rPr>
              <a:t>contractual </a:t>
            </a:r>
            <a:r>
              <a:rPr lang="en-US" b="1" dirty="0">
                <a:solidFill>
                  <a:srgbClr val="002060"/>
                </a:solidFill>
                <a:effectLst>
                  <a:outerShdw blurRad="38100" dist="38100" dir="2700000" algn="tl">
                    <a:srgbClr val="000000">
                      <a:alpha val="43137"/>
                    </a:srgbClr>
                  </a:outerShdw>
                </a:effectLst>
              </a:rPr>
              <a:t>variation </a:t>
            </a:r>
            <a:r>
              <a:rPr lang="en-US" dirty="0">
                <a:solidFill>
                  <a:srgbClr val="FF0000"/>
                </a:solidFill>
                <a:effectLst>
                  <a:outerShdw blurRad="38100" dist="38100" dir="2700000" algn="tl">
                    <a:srgbClr val="000000">
                      <a:alpha val="43137"/>
                    </a:srgbClr>
                  </a:outerShdw>
                </a:effectLst>
              </a:rPr>
              <a:t>could be </a:t>
            </a:r>
            <a:r>
              <a:rPr lang="en-US" b="1" dirty="0">
                <a:solidFill>
                  <a:srgbClr val="FF0000"/>
                </a:solidFill>
                <a:effectLst>
                  <a:outerShdw blurRad="38100" dist="38100" dir="2700000" algn="tl">
                    <a:srgbClr val="000000">
                      <a:alpha val="43137"/>
                    </a:srgbClr>
                  </a:outerShdw>
                </a:effectLst>
              </a:rPr>
              <a:t>regarded as having been accepted in advance</a:t>
            </a:r>
            <a:r>
              <a:rPr lang="en-US" dirty="0">
                <a:solidFill>
                  <a:srgbClr val="002060"/>
                </a:solidFill>
                <a:effectLst>
                  <a:outerShdw blurRad="38100" dist="38100" dir="2700000" algn="tl">
                    <a:srgbClr val="000000">
                      <a:alpha val="43137"/>
                    </a:srgbClr>
                  </a:outerShdw>
                </a:effectLst>
              </a:rPr>
              <a:t>, upon and by the signature of a lawful distribution agreement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In that case, </a:t>
            </a:r>
            <a:r>
              <a:rPr lang="en-US" b="1" dirty="0">
                <a:solidFill>
                  <a:srgbClr val="FF0000"/>
                </a:solidFill>
                <a:effectLst>
                  <a:outerShdw blurRad="38100" dist="38100" dir="2700000" algn="tl">
                    <a:srgbClr val="000000">
                      <a:alpha val="43137"/>
                    </a:srgbClr>
                  </a:outerShdw>
                </a:effectLst>
              </a:rPr>
              <a:t>acquiescence</a:t>
            </a:r>
            <a:r>
              <a:rPr lang="en-US" dirty="0">
                <a:solidFill>
                  <a:srgbClr val="002060"/>
                </a:solidFill>
                <a:effectLst>
                  <a:outerShdw blurRad="38100" dist="38100" dir="2700000" algn="tl">
                    <a:srgbClr val="000000">
                      <a:alpha val="43137"/>
                    </a:srgbClr>
                  </a:outerShdw>
                </a:effectLst>
              </a:rPr>
              <a:t> in the unlawful contractual variation can occur </a:t>
            </a:r>
            <a:r>
              <a:rPr lang="en-US" b="1" dirty="0">
                <a:solidFill>
                  <a:srgbClr val="FF0000"/>
                </a:solidFill>
                <a:effectLst>
                  <a:outerShdw blurRad="38100" dist="38100" dir="2700000" algn="tl">
                    <a:srgbClr val="000000">
                      <a:alpha val="43137"/>
                    </a:srgbClr>
                  </a:outerShdw>
                </a:effectLst>
              </a:rPr>
              <a:t>only after </a:t>
            </a:r>
            <a:r>
              <a:rPr lang="en-US" dirty="0">
                <a:solidFill>
                  <a:srgbClr val="002060"/>
                </a:solidFill>
                <a:effectLst>
                  <a:outerShdw blurRad="38100" dist="38100" dir="2700000" algn="tl">
                    <a:srgbClr val="000000">
                      <a:alpha val="43137"/>
                    </a:srgbClr>
                  </a:outerShdw>
                </a:effectLst>
              </a:rPr>
              <a:t>the dealer has become </a:t>
            </a:r>
            <a:r>
              <a:rPr lang="en-US" b="1" dirty="0">
                <a:solidFill>
                  <a:srgbClr val="FF0000"/>
                </a:solidFill>
                <a:effectLst>
                  <a:outerShdw blurRad="38100" dist="38100" dir="2700000" algn="tl">
                    <a:srgbClr val="000000">
                      <a:alpha val="43137"/>
                    </a:srgbClr>
                  </a:outerShdw>
                </a:effectLst>
              </a:rPr>
              <a:t>aware</a:t>
            </a:r>
            <a:r>
              <a:rPr lang="en-US" dirty="0">
                <a:solidFill>
                  <a:srgbClr val="002060"/>
                </a:solidFill>
                <a:effectLst>
                  <a:outerShdw blurRad="38100" dist="38100" dir="2700000" algn="tl">
                    <a:srgbClr val="000000">
                      <a:alpha val="43137"/>
                    </a:srgbClr>
                  </a:outerShdw>
                </a:effectLst>
              </a:rPr>
              <a:t> of the variation desired by the manufacturer</a:t>
            </a:r>
            <a:endParaRPr lang="pl-PL" dirty="0">
              <a:solidFill>
                <a:srgbClr val="002060"/>
              </a:solidFill>
              <a:effectLst>
                <a:outerShdw blurRad="38100" dist="38100" dir="2700000" algn="tl">
                  <a:srgbClr val="000000">
                    <a:alpha val="43137"/>
                  </a:srgbClr>
                </a:outerShdw>
              </a:effectLst>
            </a:endParaRPr>
          </a:p>
        </p:txBody>
      </p:sp>
      <p:sp>
        <p:nvSpPr>
          <p:cNvPr id="4" name="Symbol zastępczy numeru slajdu 3"/>
          <p:cNvSpPr>
            <a:spLocks noGrp="1"/>
          </p:cNvSpPr>
          <p:nvPr>
            <p:ph type="sldNum" sz="quarter" idx="4294967295"/>
          </p:nvPr>
        </p:nvSpPr>
        <p:spPr>
          <a:xfrm>
            <a:off x="7010400" y="6356350"/>
            <a:ext cx="2133600" cy="365125"/>
          </a:xfrm>
          <a:prstGeom prst="rect">
            <a:avLst/>
          </a:prstGeom>
        </p:spPr>
        <p:txBody>
          <a:bodyPr/>
          <a:lstStyle/>
          <a:p>
            <a:fld id="{589B7C76-EFF2-4CD8-A475-4750F11B4BC6}" type="slidenum">
              <a:rPr lang="pl-PL" smtClean="0"/>
              <a:pPr/>
              <a:t>55</a:t>
            </a:fld>
            <a:endParaRPr lang="pl-PL" dirty="0"/>
          </a:p>
        </p:txBody>
      </p:sp>
    </p:spTree>
    <p:extLst>
      <p:ext uri="{BB962C8B-B14F-4D97-AF65-F5344CB8AC3E}">
        <p14:creationId xmlns:p14="http://schemas.microsoft.com/office/powerpoint/2010/main" val="2318948977"/>
      </p:ext>
    </p:extLst>
  </p:cSld>
  <p:clrMapOvr>
    <a:masterClrMapping/>
  </p:clrMapOvr>
  <p:transition spd="med">
    <p:fade/>
  </p:transition>
</p:sld>
</file>

<file path=ppt/theme/theme1.xml><?xml version="1.0" encoding="utf-8"?>
<a:theme xmlns:a="http://schemas.openxmlformats.org/drawingml/2006/main" name="1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KU - presentation">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Motyw pakietu Office">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6E11D12972B514587F97CC24053F82B" ma:contentTypeVersion="3" ma:contentTypeDescription="Utwórz nowy dokument." ma:contentTypeScope="" ma:versionID="6c37e28e5506beae0482508ba527784e">
  <xsd:schema xmlns:xsd="http://www.w3.org/2001/XMLSchema" xmlns:xs="http://www.w3.org/2001/XMLSchema" xmlns:p="http://schemas.microsoft.com/office/2006/metadata/properties" xmlns:ns2="1a508912-bf5d-4a89-a7e0-e2a472f73abd" targetNamespace="http://schemas.microsoft.com/office/2006/metadata/properties" ma:root="true" ma:fieldsID="958a35585e9f44c23bb275582c4f174b" ns2:_="">
    <xsd:import namespace="1a508912-bf5d-4a89-a7e0-e2a472f73ab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508912-bf5d-4a89-a7e0-e2a472f73a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36F4A2-4462-43B5-A915-9333FFFE311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3906436-52E2-498A-BF10-59AD1AF3B4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508912-bf5d-4a89-a7e0-e2a472f73a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7A7B6C2-7744-46FF-844F-539FA4A5FF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REGULATORY BACKGROUND 1</Template>
  <TotalTime>700</TotalTime>
  <Words>4154</Words>
  <Application>Microsoft Office PowerPoint</Application>
  <PresentationFormat>Pokaz na ekranie (4:3)</PresentationFormat>
  <Paragraphs>275</Paragraphs>
  <Slides>55</Slides>
  <Notes>5</Notes>
  <HiddenSlides>0</HiddenSlides>
  <MMClips>0</MMClips>
  <ScaleCrop>false</ScaleCrop>
  <HeadingPairs>
    <vt:vector size="6" baseType="variant">
      <vt:variant>
        <vt:lpstr>Używane czcionki</vt:lpstr>
      </vt:variant>
      <vt:variant>
        <vt:i4>7</vt:i4>
      </vt:variant>
      <vt:variant>
        <vt:lpstr>Motyw</vt:lpstr>
      </vt:variant>
      <vt:variant>
        <vt:i4>5</vt:i4>
      </vt:variant>
      <vt:variant>
        <vt:lpstr>Tytuły slajdów</vt:lpstr>
      </vt:variant>
      <vt:variant>
        <vt:i4>55</vt:i4>
      </vt:variant>
    </vt:vector>
  </HeadingPairs>
  <TitlesOfParts>
    <vt:vector size="67" baseType="lpstr">
      <vt:lpstr>Arial</vt:lpstr>
      <vt:lpstr>Arial Black</vt:lpstr>
      <vt:lpstr>Calibri</vt:lpstr>
      <vt:lpstr>Gill Sans MT</vt:lpstr>
      <vt:lpstr>Gill Sans Nova</vt:lpstr>
      <vt:lpstr>Times New Roman</vt:lpstr>
      <vt:lpstr>Wingdings</vt:lpstr>
      <vt:lpstr>1_Motyw pakietu Office</vt:lpstr>
      <vt:lpstr>Motyw pakietu Office</vt:lpstr>
      <vt:lpstr>2_Motyw pakietu Office</vt:lpstr>
      <vt:lpstr>3_Motyw pakietu Office</vt:lpstr>
      <vt:lpstr>KU - presentation</vt:lpstr>
      <vt:lpstr>Prohibited agreements (cartels)</vt:lpstr>
      <vt:lpstr>Research problem</vt:lpstr>
      <vt:lpstr>Research problem</vt:lpstr>
      <vt:lpstr>Concurrence of the wills in contract formation</vt:lpstr>
      <vt:lpstr>Concurrence of the wills. The use of AI</vt:lpstr>
      <vt:lpstr>Cartels in the media</vt:lpstr>
      <vt:lpstr>The first modern regulation of cartels The Sherman Antitrust Act (1890) </vt:lpstr>
      <vt:lpstr>Art. 101.1. TfUE: Treaty on the functioning of the European Union</vt:lpstr>
      <vt:lpstr>Examples   Art.101 TFUE</vt:lpstr>
      <vt:lpstr>Examples  Art.101 TFUE</vt:lpstr>
      <vt:lpstr>Examples 2</vt:lpstr>
      <vt:lpstr>Separate entities</vt:lpstr>
      <vt:lpstr>The form of a cartel</vt:lpstr>
      <vt:lpstr>Exemptions</vt:lpstr>
      <vt:lpstr>Exemptions</vt:lpstr>
      <vt:lpstr>Parallel behaviour</vt:lpstr>
      <vt:lpstr>Effect ex lege</vt:lpstr>
      <vt:lpstr>Tied transactions</vt:lpstr>
      <vt:lpstr>Exemption de minimis</vt:lpstr>
      <vt:lpstr>EXEMPTION Art. 101.3 TFUE</vt:lpstr>
      <vt:lpstr>Individual exemptions</vt:lpstr>
      <vt:lpstr>Block exemptions</vt:lpstr>
      <vt:lpstr>Selective distribution</vt:lpstr>
      <vt:lpstr> SELECTIVE DISTRIBUTION </vt:lpstr>
      <vt:lpstr>SELECTIVE DISTRIBUTION</vt:lpstr>
      <vt:lpstr>ETURAS case</vt:lpstr>
      <vt:lpstr>ETURAS</vt:lpstr>
      <vt:lpstr>ETURAS</vt:lpstr>
      <vt:lpstr>ETURAS</vt:lpstr>
      <vt:lpstr>ETURAS</vt:lpstr>
      <vt:lpstr>ETURAS</vt:lpstr>
      <vt:lpstr>ETURAS</vt:lpstr>
      <vt:lpstr>ETURAS</vt:lpstr>
      <vt:lpstr>ETURAS</vt:lpstr>
      <vt:lpstr>ETURAS</vt:lpstr>
      <vt:lpstr>ETURAS</vt:lpstr>
      <vt:lpstr>ETURAS</vt:lpstr>
      <vt:lpstr>VW case:  Was there an anticompetitive agreement?</vt:lpstr>
      <vt:lpstr>VW</vt:lpstr>
      <vt:lpstr>VW</vt:lpstr>
      <vt:lpstr>VW</vt:lpstr>
      <vt:lpstr>VW</vt:lpstr>
      <vt:lpstr>VW</vt:lpstr>
      <vt:lpstr>VW</vt:lpstr>
      <vt:lpstr>VW</vt:lpstr>
      <vt:lpstr>VW</vt:lpstr>
      <vt:lpstr>VW</vt:lpstr>
      <vt:lpstr>VW acquiescence</vt:lpstr>
      <vt:lpstr>VW acquiescence</vt:lpstr>
      <vt:lpstr>VW calls</vt:lpstr>
      <vt:lpstr>VW calls</vt:lpstr>
      <vt:lpstr>VW calls</vt:lpstr>
      <vt:lpstr>VW calls</vt:lpstr>
      <vt:lpstr>VW - ECJ</vt:lpstr>
      <vt:lpstr>VW - ECJ</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CARTELS</dc:title>
  <dc:creator>Waldemar Hoff</dc:creator>
  <cp:lastModifiedBy>Waldemar Hoff</cp:lastModifiedBy>
  <cp:revision>75</cp:revision>
  <dcterms:created xsi:type="dcterms:W3CDTF">2009-04-30T17:59:20Z</dcterms:created>
  <dcterms:modified xsi:type="dcterms:W3CDTF">2025-11-18T14:08:43Z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0x010100B6E11D12972B514587F97CC24053F82B</vt:lpwstr>
  </property>
</Properties>
</file>