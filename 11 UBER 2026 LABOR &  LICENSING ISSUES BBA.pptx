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sldIdLst>
    <p:sldId id="256" r:id="rId2"/>
    <p:sldId id="311" r:id="rId3"/>
    <p:sldId id="312" r:id="rId4"/>
    <p:sldId id="315" r:id="rId5"/>
    <p:sldId id="319" r:id="rId6"/>
    <p:sldId id="318" r:id="rId7"/>
    <p:sldId id="317" r:id="rId8"/>
    <p:sldId id="316" r:id="rId9"/>
    <p:sldId id="320" r:id="rId10"/>
    <p:sldId id="322" r:id="rId11"/>
    <p:sldId id="321" r:id="rId12"/>
    <p:sldId id="323" r:id="rId13"/>
    <p:sldId id="325" r:id="rId14"/>
    <p:sldId id="324" r:id="rId15"/>
    <p:sldId id="327" r:id="rId16"/>
    <p:sldId id="328" r:id="rId17"/>
    <p:sldId id="326" r:id="rId18"/>
    <p:sldId id="330" r:id="rId19"/>
    <p:sldId id="329" r:id="rId20"/>
    <p:sldId id="331" r:id="rId21"/>
    <p:sldId id="332" r:id="rId22"/>
    <p:sldId id="333" r:id="rId23"/>
    <p:sldId id="335" r:id="rId24"/>
    <p:sldId id="337" r:id="rId25"/>
    <p:sldId id="336" r:id="rId26"/>
    <p:sldId id="339" r:id="rId27"/>
    <p:sldId id="338" r:id="rId28"/>
    <p:sldId id="340" r:id="rId29"/>
    <p:sldId id="341" r:id="rId30"/>
    <p:sldId id="342" r:id="rId31"/>
    <p:sldId id="343" r:id="rId32"/>
    <p:sldId id="344" r:id="rId33"/>
    <p:sldId id="345" r:id="rId34"/>
    <p:sldId id="346" r:id="rId35"/>
    <p:sldId id="334" r:id="rId36"/>
    <p:sldId id="347" r:id="rId37"/>
    <p:sldId id="313" r:id="rId38"/>
    <p:sldId id="314" r:id="rId39"/>
    <p:sldId id="257" r:id="rId40"/>
    <p:sldId id="310" r:id="rId41"/>
    <p:sldId id="268" r:id="rId42"/>
    <p:sldId id="271" r:id="rId43"/>
    <p:sldId id="270" r:id="rId44"/>
    <p:sldId id="265" r:id="rId45"/>
    <p:sldId id="264" r:id="rId46"/>
    <p:sldId id="261" r:id="rId47"/>
    <p:sldId id="262" r:id="rId48"/>
    <p:sldId id="260" r:id="rId49"/>
    <p:sldId id="259" r:id="rId50"/>
    <p:sldId id="272" r:id="rId51"/>
    <p:sldId id="305" r:id="rId52"/>
    <p:sldId id="275" r:id="rId53"/>
    <p:sldId id="304" r:id="rId54"/>
    <p:sldId id="276" r:id="rId55"/>
    <p:sldId id="280" r:id="rId56"/>
    <p:sldId id="283" r:id="rId57"/>
    <p:sldId id="282" r:id="rId58"/>
    <p:sldId id="281" r:id="rId59"/>
    <p:sldId id="291" r:id="rId60"/>
    <p:sldId id="290" r:id="rId61"/>
    <p:sldId id="289" r:id="rId62"/>
    <p:sldId id="288" r:id="rId63"/>
    <p:sldId id="287" r:id="rId64"/>
    <p:sldId id="297" r:id="rId65"/>
    <p:sldId id="292" r:id="rId66"/>
    <p:sldId id="306" r:id="rId67"/>
    <p:sldId id="296" r:id="rId68"/>
    <p:sldId id="295" r:id="rId69"/>
    <p:sldId id="294" r:id="rId70"/>
    <p:sldId id="302" r:id="rId71"/>
  </p:sldIdLst>
  <p:sldSz cx="12192000" cy="6858000"/>
  <p:notesSz cx="6858000" cy="9947275"/>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B1C889-305A-45E3-8483-14205497AC45}" v="133" dt="2026-01-29T11:01:29.5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78"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ldemar Hoff" userId="bacb8968-6b42-45e3-b232-453b0d6bde59" providerId="ADAL" clId="{F8C1E58B-402C-4ED2-AD69-E062B24CC05A}"/>
    <pc:docChg chg="undo custSel addSld delSld modSld sldOrd">
      <pc:chgData name="Waldemar Hoff" userId="bacb8968-6b42-45e3-b232-453b0d6bde59" providerId="ADAL" clId="{F8C1E58B-402C-4ED2-AD69-E062B24CC05A}" dt="2026-01-29T11:01:36.287" v="4328" actId="20577"/>
      <pc:docMkLst>
        <pc:docMk/>
      </pc:docMkLst>
      <pc:sldChg chg="modSp mod">
        <pc:chgData name="Waldemar Hoff" userId="bacb8968-6b42-45e3-b232-453b0d6bde59" providerId="ADAL" clId="{F8C1E58B-402C-4ED2-AD69-E062B24CC05A}" dt="2026-01-29T11:01:36.287" v="4328" actId="20577"/>
        <pc:sldMkLst>
          <pc:docMk/>
          <pc:sldMk cId="4095830072" sldId="256"/>
        </pc:sldMkLst>
        <pc:spChg chg="mod">
          <ac:chgData name="Waldemar Hoff" userId="bacb8968-6b42-45e3-b232-453b0d6bde59" providerId="ADAL" clId="{F8C1E58B-402C-4ED2-AD69-E062B24CC05A}" dt="2026-01-29T11:01:36.287" v="4328" actId="20577"/>
          <ac:spMkLst>
            <pc:docMk/>
            <pc:sldMk cId="4095830072" sldId="256"/>
            <ac:spMk id="2" creationId="{00428555-92AE-4F6E-8F34-721B184632FC}"/>
          </ac:spMkLst>
        </pc:spChg>
      </pc:sldChg>
      <pc:sldChg chg="modSp mod">
        <pc:chgData name="Waldemar Hoff" userId="bacb8968-6b42-45e3-b232-453b0d6bde59" providerId="ADAL" clId="{F8C1E58B-402C-4ED2-AD69-E062B24CC05A}" dt="2026-01-28T19:51:37.505" v="189" actId="20577"/>
        <pc:sldMkLst>
          <pc:docMk/>
          <pc:sldMk cId="534301602" sldId="311"/>
        </pc:sldMkLst>
        <pc:spChg chg="mod">
          <ac:chgData name="Waldemar Hoff" userId="bacb8968-6b42-45e3-b232-453b0d6bde59" providerId="ADAL" clId="{F8C1E58B-402C-4ED2-AD69-E062B24CC05A}" dt="2026-01-28T19:51:37.505" v="189" actId="20577"/>
          <ac:spMkLst>
            <pc:docMk/>
            <pc:sldMk cId="534301602" sldId="311"/>
            <ac:spMk id="3" creationId="{1B1C267A-6CA3-9420-B48F-8495E1B62946}"/>
          </ac:spMkLst>
        </pc:spChg>
      </pc:sldChg>
      <pc:sldChg chg="modSp mod">
        <pc:chgData name="Waldemar Hoff" userId="bacb8968-6b42-45e3-b232-453b0d6bde59" providerId="ADAL" clId="{F8C1E58B-402C-4ED2-AD69-E062B24CC05A}" dt="2026-01-28T19:46:54.413" v="56"/>
        <pc:sldMkLst>
          <pc:docMk/>
          <pc:sldMk cId="1688142087" sldId="312"/>
        </pc:sldMkLst>
        <pc:spChg chg="mod">
          <ac:chgData name="Waldemar Hoff" userId="bacb8968-6b42-45e3-b232-453b0d6bde59" providerId="ADAL" clId="{F8C1E58B-402C-4ED2-AD69-E062B24CC05A}" dt="2026-01-28T19:46:54.413" v="56"/>
          <ac:spMkLst>
            <pc:docMk/>
            <pc:sldMk cId="1688142087" sldId="312"/>
            <ac:spMk id="3" creationId="{91F95AC5-71BC-1AAC-9EB8-4A7B680314CB}"/>
          </ac:spMkLst>
        </pc:spChg>
      </pc:sldChg>
      <pc:sldChg chg="modSp mod">
        <pc:chgData name="Waldemar Hoff" userId="bacb8968-6b42-45e3-b232-453b0d6bde59" providerId="ADAL" clId="{F8C1E58B-402C-4ED2-AD69-E062B24CC05A}" dt="2026-01-28T19:48:36.463" v="57" actId="13926"/>
        <pc:sldMkLst>
          <pc:docMk/>
          <pc:sldMk cId="3172414513" sldId="313"/>
        </pc:sldMkLst>
        <pc:spChg chg="mod">
          <ac:chgData name="Waldemar Hoff" userId="bacb8968-6b42-45e3-b232-453b0d6bde59" providerId="ADAL" clId="{F8C1E58B-402C-4ED2-AD69-E062B24CC05A}" dt="2026-01-28T19:48:36.463" v="57" actId="13926"/>
          <ac:spMkLst>
            <pc:docMk/>
            <pc:sldMk cId="3172414513" sldId="313"/>
            <ac:spMk id="3" creationId="{F823EB89-D8A6-912F-9D3F-5D1C7F1B5802}"/>
          </ac:spMkLst>
        </pc:spChg>
      </pc:sldChg>
      <pc:sldChg chg="modSp new mod">
        <pc:chgData name="Waldemar Hoff" userId="bacb8968-6b42-45e3-b232-453b0d6bde59" providerId="ADAL" clId="{F8C1E58B-402C-4ED2-AD69-E062B24CC05A}" dt="2026-01-28T19:52:46.353" v="211" actId="113"/>
        <pc:sldMkLst>
          <pc:docMk/>
          <pc:sldMk cId="3716261945" sldId="315"/>
        </pc:sldMkLst>
        <pc:spChg chg="mod">
          <ac:chgData name="Waldemar Hoff" userId="bacb8968-6b42-45e3-b232-453b0d6bde59" providerId="ADAL" clId="{F8C1E58B-402C-4ED2-AD69-E062B24CC05A}" dt="2026-01-28T19:52:46.353" v="211" actId="113"/>
          <ac:spMkLst>
            <pc:docMk/>
            <pc:sldMk cId="3716261945" sldId="315"/>
            <ac:spMk id="2" creationId="{B992F90B-BE34-EE96-FD46-CDED2E93C1FB}"/>
          </ac:spMkLst>
        </pc:spChg>
        <pc:spChg chg="mod">
          <ac:chgData name="Waldemar Hoff" userId="bacb8968-6b42-45e3-b232-453b0d6bde59" providerId="ADAL" clId="{F8C1E58B-402C-4ED2-AD69-E062B24CC05A}" dt="2026-01-28T19:52:28.555" v="205" actId="207"/>
          <ac:spMkLst>
            <pc:docMk/>
            <pc:sldMk cId="3716261945" sldId="315"/>
            <ac:spMk id="3" creationId="{CFEF804A-6ABC-EF55-5C40-83BBA7F42890}"/>
          </ac:spMkLst>
        </pc:spChg>
      </pc:sldChg>
      <pc:sldChg chg="modSp new mod">
        <pc:chgData name="Waldemar Hoff" userId="bacb8968-6b42-45e3-b232-453b0d6bde59" providerId="ADAL" clId="{F8C1E58B-402C-4ED2-AD69-E062B24CC05A}" dt="2026-01-28T19:59:34.313" v="304" actId="255"/>
        <pc:sldMkLst>
          <pc:docMk/>
          <pc:sldMk cId="1469408791" sldId="316"/>
        </pc:sldMkLst>
        <pc:spChg chg="mod">
          <ac:chgData name="Waldemar Hoff" userId="bacb8968-6b42-45e3-b232-453b0d6bde59" providerId="ADAL" clId="{F8C1E58B-402C-4ED2-AD69-E062B24CC05A}" dt="2026-01-28T19:59:34.313" v="304" actId="255"/>
          <ac:spMkLst>
            <pc:docMk/>
            <pc:sldMk cId="1469408791" sldId="316"/>
            <ac:spMk id="2" creationId="{64CDA220-97B7-408D-CFDD-B832324D903B}"/>
          </ac:spMkLst>
        </pc:spChg>
        <pc:spChg chg="mod">
          <ac:chgData name="Waldemar Hoff" userId="bacb8968-6b42-45e3-b232-453b0d6bde59" providerId="ADAL" clId="{F8C1E58B-402C-4ED2-AD69-E062B24CC05A}" dt="2026-01-28T19:59:19.797" v="302" actId="207"/>
          <ac:spMkLst>
            <pc:docMk/>
            <pc:sldMk cId="1469408791" sldId="316"/>
            <ac:spMk id="3" creationId="{BB368E2F-583B-4FE0-05AD-ABC929B8DD5C}"/>
          </ac:spMkLst>
        </pc:spChg>
      </pc:sldChg>
      <pc:sldChg chg="modSp new mod">
        <pc:chgData name="Waldemar Hoff" userId="bacb8968-6b42-45e3-b232-453b0d6bde59" providerId="ADAL" clId="{F8C1E58B-402C-4ED2-AD69-E062B24CC05A}" dt="2026-01-28T19:58:10.145" v="275" actId="207"/>
        <pc:sldMkLst>
          <pc:docMk/>
          <pc:sldMk cId="504660031" sldId="317"/>
        </pc:sldMkLst>
        <pc:spChg chg="mod">
          <ac:chgData name="Waldemar Hoff" userId="bacb8968-6b42-45e3-b232-453b0d6bde59" providerId="ADAL" clId="{F8C1E58B-402C-4ED2-AD69-E062B24CC05A}" dt="2026-01-28T19:53:25.289" v="218" actId="255"/>
          <ac:spMkLst>
            <pc:docMk/>
            <pc:sldMk cId="504660031" sldId="317"/>
            <ac:spMk id="2" creationId="{52D7BE16-AD48-07AC-A411-6909616A6E69}"/>
          </ac:spMkLst>
        </pc:spChg>
        <pc:spChg chg="mod">
          <ac:chgData name="Waldemar Hoff" userId="bacb8968-6b42-45e3-b232-453b0d6bde59" providerId="ADAL" clId="{F8C1E58B-402C-4ED2-AD69-E062B24CC05A}" dt="2026-01-28T19:58:10.145" v="275" actId="207"/>
          <ac:spMkLst>
            <pc:docMk/>
            <pc:sldMk cId="504660031" sldId="317"/>
            <ac:spMk id="3" creationId="{A445B6D5-0AB6-53A6-8BE3-4BE13576FCA5}"/>
          </ac:spMkLst>
        </pc:spChg>
      </pc:sldChg>
      <pc:sldChg chg="modSp new mod">
        <pc:chgData name="Waldemar Hoff" userId="bacb8968-6b42-45e3-b232-453b0d6bde59" providerId="ADAL" clId="{F8C1E58B-402C-4ED2-AD69-E062B24CC05A}" dt="2026-01-28T19:57:08.475" v="264" actId="207"/>
        <pc:sldMkLst>
          <pc:docMk/>
          <pc:sldMk cId="354152411" sldId="318"/>
        </pc:sldMkLst>
        <pc:spChg chg="mod">
          <ac:chgData name="Waldemar Hoff" userId="bacb8968-6b42-45e3-b232-453b0d6bde59" providerId="ADAL" clId="{F8C1E58B-402C-4ED2-AD69-E062B24CC05A}" dt="2026-01-28T19:53:07.252" v="215" actId="255"/>
          <ac:spMkLst>
            <pc:docMk/>
            <pc:sldMk cId="354152411" sldId="318"/>
            <ac:spMk id="2" creationId="{20BC9AC8-0BED-E565-A5DD-B5C4AC149B48}"/>
          </ac:spMkLst>
        </pc:spChg>
        <pc:spChg chg="mod">
          <ac:chgData name="Waldemar Hoff" userId="bacb8968-6b42-45e3-b232-453b0d6bde59" providerId="ADAL" clId="{F8C1E58B-402C-4ED2-AD69-E062B24CC05A}" dt="2026-01-28T19:57:08.475" v="264" actId="207"/>
          <ac:spMkLst>
            <pc:docMk/>
            <pc:sldMk cId="354152411" sldId="318"/>
            <ac:spMk id="3" creationId="{96CD62AC-5235-1FCA-6BC4-500E08D4E20D}"/>
          </ac:spMkLst>
        </pc:spChg>
      </pc:sldChg>
      <pc:sldChg chg="modSp new mod">
        <pc:chgData name="Waldemar Hoff" userId="bacb8968-6b42-45e3-b232-453b0d6bde59" providerId="ADAL" clId="{F8C1E58B-402C-4ED2-AD69-E062B24CC05A}" dt="2026-01-28T19:55:31.024" v="244" actId="207"/>
        <pc:sldMkLst>
          <pc:docMk/>
          <pc:sldMk cId="1608554645" sldId="319"/>
        </pc:sldMkLst>
        <pc:spChg chg="mod">
          <ac:chgData name="Waldemar Hoff" userId="bacb8968-6b42-45e3-b232-453b0d6bde59" providerId="ADAL" clId="{F8C1E58B-402C-4ED2-AD69-E062B24CC05A}" dt="2026-01-28T19:52:58.625" v="213" actId="255"/>
          <ac:spMkLst>
            <pc:docMk/>
            <pc:sldMk cId="1608554645" sldId="319"/>
            <ac:spMk id="2" creationId="{02BE651B-2942-EE2E-A759-76EFDFB829F3}"/>
          </ac:spMkLst>
        </pc:spChg>
        <pc:spChg chg="mod">
          <ac:chgData name="Waldemar Hoff" userId="bacb8968-6b42-45e3-b232-453b0d6bde59" providerId="ADAL" clId="{F8C1E58B-402C-4ED2-AD69-E062B24CC05A}" dt="2026-01-28T19:55:31.024" v="244" actId="207"/>
          <ac:spMkLst>
            <pc:docMk/>
            <pc:sldMk cId="1608554645" sldId="319"/>
            <ac:spMk id="3" creationId="{D9C6DFFD-63DA-B6E0-049E-CF40B7855B91}"/>
          </ac:spMkLst>
        </pc:spChg>
      </pc:sldChg>
      <pc:sldChg chg="modSp new mod">
        <pc:chgData name="Waldemar Hoff" userId="bacb8968-6b42-45e3-b232-453b0d6bde59" providerId="ADAL" clId="{F8C1E58B-402C-4ED2-AD69-E062B24CC05A}" dt="2026-01-28T20:02:15.519" v="406" actId="207"/>
        <pc:sldMkLst>
          <pc:docMk/>
          <pc:sldMk cId="922291319" sldId="320"/>
        </pc:sldMkLst>
        <pc:spChg chg="mod">
          <ac:chgData name="Waldemar Hoff" userId="bacb8968-6b42-45e3-b232-453b0d6bde59" providerId="ADAL" clId="{F8C1E58B-402C-4ED2-AD69-E062B24CC05A}" dt="2026-01-28T19:59:42.036" v="306" actId="255"/>
          <ac:spMkLst>
            <pc:docMk/>
            <pc:sldMk cId="922291319" sldId="320"/>
            <ac:spMk id="2" creationId="{B50EAD84-4AFF-CB24-0147-D7B7B4DEE820}"/>
          </ac:spMkLst>
        </pc:spChg>
        <pc:spChg chg="mod">
          <ac:chgData name="Waldemar Hoff" userId="bacb8968-6b42-45e3-b232-453b0d6bde59" providerId="ADAL" clId="{F8C1E58B-402C-4ED2-AD69-E062B24CC05A}" dt="2026-01-28T20:02:15.519" v="406" actId="207"/>
          <ac:spMkLst>
            <pc:docMk/>
            <pc:sldMk cId="922291319" sldId="320"/>
            <ac:spMk id="3" creationId="{56D3A0D7-EE81-97E3-E217-F79EECE6F8E0}"/>
          </ac:spMkLst>
        </pc:spChg>
      </pc:sldChg>
      <pc:sldChg chg="modSp new mod">
        <pc:chgData name="Waldemar Hoff" userId="bacb8968-6b42-45e3-b232-453b0d6bde59" providerId="ADAL" clId="{F8C1E58B-402C-4ED2-AD69-E062B24CC05A}" dt="2026-01-28T20:09:17.985" v="596" actId="20577"/>
        <pc:sldMkLst>
          <pc:docMk/>
          <pc:sldMk cId="1540941639" sldId="321"/>
        </pc:sldMkLst>
        <pc:spChg chg="mod">
          <ac:chgData name="Waldemar Hoff" userId="bacb8968-6b42-45e3-b232-453b0d6bde59" providerId="ADAL" clId="{F8C1E58B-402C-4ED2-AD69-E062B24CC05A}" dt="2026-01-28T20:04:48.454" v="506" actId="255"/>
          <ac:spMkLst>
            <pc:docMk/>
            <pc:sldMk cId="1540941639" sldId="321"/>
            <ac:spMk id="2" creationId="{40A39E9C-9EEF-60CB-925A-B6455B034B4D}"/>
          </ac:spMkLst>
        </pc:spChg>
        <pc:spChg chg="mod">
          <ac:chgData name="Waldemar Hoff" userId="bacb8968-6b42-45e3-b232-453b0d6bde59" providerId="ADAL" clId="{F8C1E58B-402C-4ED2-AD69-E062B24CC05A}" dt="2026-01-28T20:09:17.985" v="596" actId="20577"/>
          <ac:spMkLst>
            <pc:docMk/>
            <pc:sldMk cId="1540941639" sldId="321"/>
            <ac:spMk id="3" creationId="{C6DB3596-8217-A3FD-146A-381DE15832B2}"/>
          </ac:spMkLst>
        </pc:spChg>
      </pc:sldChg>
      <pc:sldChg chg="modSp new mod">
        <pc:chgData name="Waldemar Hoff" userId="bacb8968-6b42-45e3-b232-453b0d6bde59" providerId="ADAL" clId="{F8C1E58B-402C-4ED2-AD69-E062B24CC05A}" dt="2026-01-28T20:04:29.788" v="502" actId="207"/>
        <pc:sldMkLst>
          <pc:docMk/>
          <pc:sldMk cId="1126869834" sldId="322"/>
        </pc:sldMkLst>
        <pc:spChg chg="mod">
          <ac:chgData name="Waldemar Hoff" userId="bacb8968-6b42-45e3-b232-453b0d6bde59" providerId="ADAL" clId="{F8C1E58B-402C-4ED2-AD69-E062B24CC05A}" dt="2026-01-28T20:00:13.004" v="318" actId="27636"/>
          <ac:spMkLst>
            <pc:docMk/>
            <pc:sldMk cId="1126869834" sldId="322"/>
            <ac:spMk id="2" creationId="{B5409D1C-AA05-2A0C-90A5-3277FCAB5B79}"/>
          </ac:spMkLst>
        </pc:spChg>
        <pc:spChg chg="mod">
          <ac:chgData name="Waldemar Hoff" userId="bacb8968-6b42-45e3-b232-453b0d6bde59" providerId="ADAL" clId="{F8C1E58B-402C-4ED2-AD69-E062B24CC05A}" dt="2026-01-28T20:04:29.788" v="502" actId="207"/>
          <ac:spMkLst>
            <pc:docMk/>
            <pc:sldMk cId="1126869834" sldId="322"/>
            <ac:spMk id="3" creationId="{2E9CE393-0E37-80A3-AE6B-075638E3E9DA}"/>
          </ac:spMkLst>
        </pc:spChg>
      </pc:sldChg>
      <pc:sldChg chg="addSp delSp modSp new del mod">
        <pc:chgData name="Waldemar Hoff" userId="bacb8968-6b42-45e3-b232-453b0d6bde59" providerId="ADAL" clId="{F8C1E58B-402C-4ED2-AD69-E062B24CC05A}" dt="2026-01-28T20:00:00.548" v="312" actId="2696"/>
        <pc:sldMkLst>
          <pc:docMk/>
          <pc:sldMk cId="1255128130" sldId="322"/>
        </pc:sldMkLst>
        <pc:spChg chg="mod">
          <ac:chgData name="Waldemar Hoff" userId="bacb8968-6b42-45e3-b232-453b0d6bde59" providerId="ADAL" clId="{F8C1E58B-402C-4ED2-AD69-E062B24CC05A}" dt="2026-01-28T19:59:54.321" v="310" actId="255"/>
          <ac:spMkLst>
            <pc:docMk/>
            <pc:sldMk cId="1255128130" sldId="322"/>
            <ac:spMk id="2" creationId="{DA403730-997A-0EA1-C986-528DBDFB3F22}"/>
          </ac:spMkLst>
        </pc:spChg>
        <pc:spChg chg="del">
          <ac:chgData name="Waldemar Hoff" userId="bacb8968-6b42-45e3-b232-453b0d6bde59" providerId="ADAL" clId="{F8C1E58B-402C-4ED2-AD69-E062B24CC05A}" dt="2026-01-28T19:59:54.958" v="311" actId="34307"/>
          <ac:spMkLst>
            <pc:docMk/>
            <pc:sldMk cId="1255128130" sldId="322"/>
            <ac:spMk id="3" creationId="{8C0672FF-5BE1-DC41-A6D0-327A1EBBBF01}"/>
          </ac:spMkLst>
        </pc:spChg>
        <pc:picChg chg="add mod ord">
          <ac:chgData name="Waldemar Hoff" userId="bacb8968-6b42-45e3-b232-453b0d6bde59" providerId="ADAL" clId="{F8C1E58B-402C-4ED2-AD69-E062B24CC05A}" dt="2026-01-28T19:59:54.958" v="311" actId="34307"/>
          <ac:picMkLst>
            <pc:docMk/>
            <pc:sldMk cId="1255128130" sldId="322"/>
            <ac:picMk id="5" creationId="{207A57C1-0DA3-7C52-F3D0-CFCE89000B09}"/>
          </ac:picMkLst>
        </pc:picChg>
      </pc:sldChg>
      <pc:sldChg chg="modSp new mod">
        <pc:chgData name="Waldemar Hoff" userId="bacb8968-6b42-45e3-b232-453b0d6bde59" providerId="ADAL" clId="{F8C1E58B-402C-4ED2-AD69-E062B24CC05A}" dt="2026-01-28T20:09:28.788" v="607" actId="27636"/>
        <pc:sldMkLst>
          <pc:docMk/>
          <pc:sldMk cId="2922763899" sldId="323"/>
        </pc:sldMkLst>
        <pc:spChg chg="mod">
          <ac:chgData name="Waldemar Hoff" userId="bacb8968-6b42-45e3-b232-453b0d6bde59" providerId="ADAL" clId="{F8C1E58B-402C-4ED2-AD69-E062B24CC05A}" dt="2026-01-28T20:04:56.042" v="508" actId="255"/>
          <ac:spMkLst>
            <pc:docMk/>
            <pc:sldMk cId="2922763899" sldId="323"/>
            <ac:spMk id="2" creationId="{9C209C2E-33C6-61F0-2168-970DAD52CA24}"/>
          </ac:spMkLst>
        </pc:spChg>
        <pc:spChg chg="mod">
          <ac:chgData name="Waldemar Hoff" userId="bacb8968-6b42-45e3-b232-453b0d6bde59" providerId="ADAL" clId="{F8C1E58B-402C-4ED2-AD69-E062B24CC05A}" dt="2026-01-28T20:09:28.788" v="607" actId="27636"/>
          <ac:spMkLst>
            <pc:docMk/>
            <pc:sldMk cId="2922763899" sldId="323"/>
            <ac:spMk id="3" creationId="{9C4DC590-BA8C-8B0A-DDDF-EB3824275962}"/>
          </ac:spMkLst>
        </pc:spChg>
      </pc:sldChg>
      <pc:sldChg chg="modSp new mod">
        <pc:chgData name="Waldemar Hoff" userId="bacb8968-6b42-45e3-b232-453b0d6bde59" providerId="ADAL" clId="{F8C1E58B-402C-4ED2-AD69-E062B24CC05A}" dt="2026-01-28T20:13:35.701" v="746" actId="20577"/>
        <pc:sldMkLst>
          <pc:docMk/>
          <pc:sldMk cId="3091863913" sldId="324"/>
        </pc:sldMkLst>
        <pc:spChg chg="mod">
          <ac:chgData name="Waldemar Hoff" userId="bacb8968-6b42-45e3-b232-453b0d6bde59" providerId="ADAL" clId="{F8C1E58B-402C-4ED2-AD69-E062B24CC05A}" dt="2026-01-28T20:09:50.629" v="612" actId="255"/>
          <ac:spMkLst>
            <pc:docMk/>
            <pc:sldMk cId="3091863913" sldId="324"/>
            <ac:spMk id="2" creationId="{ACC61B53-5C62-73BF-D8D2-61F3483C51A2}"/>
          </ac:spMkLst>
        </pc:spChg>
        <pc:spChg chg="mod">
          <ac:chgData name="Waldemar Hoff" userId="bacb8968-6b42-45e3-b232-453b0d6bde59" providerId="ADAL" clId="{F8C1E58B-402C-4ED2-AD69-E062B24CC05A}" dt="2026-01-28T20:13:35.701" v="746" actId="20577"/>
          <ac:spMkLst>
            <pc:docMk/>
            <pc:sldMk cId="3091863913" sldId="324"/>
            <ac:spMk id="3" creationId="{6C2E6F49-271A-6F9A-833A-3FCCCB06B6A5}"/>
          </ac:spMkLst>
        </pc:spChg>
      </pc:sldChg>
      <pc:sldChg chg="modSp new mod ord">
        <pc:chgData name="Waldemar Hoff" userId="bacb8968-6b42-45e3-b232-453b0d6bde59" providerId="ADAL" clId="{F8C1E58B-402C-4ED2-AD69-E062B24CC05A}" dt="2026-01-28T20:11:57.669" v="669"/>
        <pc:sldMkLst>
          <pc:docMk/>
          <pc:sldMk cId="2510661276" sldId="325"/>
        </pc:sldMkLst>
        <pc:spChg chg="mod">
          <ac:chgData name="Waldemar Hoff" userId="bacb8968-6b42-45e3-b232-453b0d6bde59" providerId="ADAL" clId="{F8C1E58B-402C-4ED2-AD69-E062B24CC05A}" dt="2026-01-28T20:10:02.890" v="614" actId="255"/>
          <ac:spMkLst>
            <pc:docMk/>
            <pc:sldMk cId="2510661276" sldId="325"/>
            <ac:spMk id="2" creationId="{0CA3ECAB-B0E0-C160-73F8-BD8EE2745BDD}"/>
          </ac:spMkLst>
        </pc:spChg>
        <pc:spChg chg="mod">
          <ac:chgData name="Waldemar Hoff" userId="bacb8968-6b42-45e3-b232-453b0d6bde59" providerId="ADAL" clId="{F8C1E58B-402C-4ED2-AD69-E062B24CC05A}" dt="2026-01-28T20:11:53.377" v="667" actId="20577"/>
          <ac:spMkLst>
            <pc:docMk/>
            <pc:sldMk cId="2510661276" sldId="325"/>
            <ac:spMk id="3" creationId="{D742C50D-25A7-2583-CBE5-2B3CFAAC8777}"/>
          </ac:spMkLst>
        </pc:spChg>
      </pc:sldChg>
      <pc:sldChg chg="modSp new mod">
        <pc:chgData name="Waldemar Hoff" userId="bacb8968-6b42-45e3-b232-453b0d6bde59" providerId="ADAL" clId="{F8C1E58B-402C-4ED2-AD69-E062B24CC05A}" dt="2026-01-28T20:44:05.008" v="981" actId="207"/>
        <pc:sldMkLst>
          <pc:docMk/>
          <pc:sldMk cId="981993430" sldId="326"/>
        </pc:sldMkLst>
        <pc:spChg chg="mod">
          <ac:chgData name="Waldemar Hoff" userId="bacb8968-6b42-45e3-b232-453b0d6bde59" providerId="ADAL" clId="{F8C1E58B-402C-4ED2-AD69-E062B24CC05A}" dt="2026-01-28T20:43:25.798" v="972" actId="255"/>
          <ac:spMkLst>
            <pc:docMk/>
            <pc:sldMk cId="981993430" sldId="326"/>
            <ac:spMk id="2" creationId="{C77178FF-E264-1E18-7642-4A8B414EA7CA}"/>
          </ac:spMkLst>
        </pc:spChg>
        <pc:spChg chg="mod">
          <ac:chgData name="Waldemar Hoff" userId="bacb8968-6b42-45e3-b232-453b0d6bde59" providerId="ADAL" clId="{F8C1E58B-402C-4ED2-AD69-E062B24CC05A}" dt="2026-01-28T20:44:05.008" v="981" actId="207"/>
          <ac:spMkLst>
            <pc:docMk/>
            <pc:sldMk cId="981993430" sldId="326"/>
            <ac:spMk id="3" creationId="{E8A1D6E1-7AD8-CDEF-388B-EE25E4428E5B}"/>
          </ac:spMkLst>
        </pc:spChg>
      </pc:sldChg>
      <pc:sldChg chg="modSp new mod">
        <pc:chgData name="Waldemar Hoff" userId="bacb8968-6b42-45e3-b232-453b0d6bde59" providerId="ADAL" clId="{F8C1E58B-402C-4ED2-AD69-E062B24CC05A}" dt="2026-01-28T20:39:42.936" v="893" actId="207"/>
        <pc:sldMkLst>
          <pc:docMk/>
          <pc:sldMk cId="2690077606" sldId="327"/>
        </pc:sldMkLst>
        <pc:spChg chg="mod">
          <ac:chgData name="Waldemar Hoff" userId="bacb8968-6b42-45e3-b232-453b0d6bde59" providerId="ADAL" clId="{F8C1E58B-402C-4ED2-AD69-E062B24CC05A}" dt="2026-01-28T20:16:04.518" v="870" actId="207"/>
          <ac:spMkLst>
            <pc:docMk/>
            <pc:sldMk cId="2690077606" sldId="327"/>
            <ac:spMk id="2" creationId="{0D024C0F-A12F-74A4-B292-213A9E2A8D4E}"/>
          </ac:spMkLst>
        </pc:spChg>
        <pc:spChg chg="mod">
          <ac:chgData name="Waldemar Hoff" userId="bacb8968-6b42-45e3-b232-453b0d6bde59" providerId="ADAL" clId="{F8C1E58B-402C-4ED2-AD69-E062B24CC05A}" dt="2026-01-28T20:39:42.936" v="893" actId="207"/>
          <ac:spMkLst>
            <pc:docMk/>
            <pc:sldMk cId="2690077606" sldId="327"/>
            <ac:spMk id="3" creationId="{AE9CED91-1E0B-12EA-A527-B088D25F1CA6}"/>
          </ac:spMkLst>
        </pc:spChg>
      </pc:sldChg>
      <pc:sldChg chg="modSp new mod">
        <pc:chgData name="Waldemar Hoff" userId="bacb8968-6b42-45e3-b232-453b0d6bde59" providerId="ADAL" clId="{F8C1E58B-402C-4ED2-AD69-E062B24CC05A}" dt="2026-01-28T20:42:31.174" v="968" actId="207"/>
        <pc:sldMkLst>
          <pc:docMk/>
          <pc:sldMk cId="2567374778" sldId="328"/>
        </pc:sldMkLst>
        <pc:spChg chg="mod">
          <ac:chgData name="Waldemar Hoff" userId="bacb8968-6b42-45e3-b232-453b0d6bde59" providerId="ADAL" clId="{F8C1E58B-402C-4ED2-AD69-E062B24CC05A}" dt="2026-01-28T20:16:18.617" v="873" actId="255"/>
          <ac:spMkLst>
            <pc:docMk/>
            <pc:sldMk cId="2567374778" sldId="328"/>
            <ac:spMk id="2" creationId="{E38752B3-9773-5553-1D20-0C5C0013CDE2}"/>
          </ac:spMkLst>
        </pc:spChg>
        <pc:spChg chg="mod">
          <ac:chgData name="Waldemar Hoff" userId="bacb8968-6b42-45e3-b232-453b0d6bde59" providerId="ADAL" clId="{F8C1E58B-402C-4ED2-AD69-E062B24CC05A}" dt="2026-01-28T20:42:31.174" v="968" actId="207"/>
          <ac:spMkLst>
            <pc:docMk/>
            <pc:sldMk cId="2567374778" sldId="328"/>
            <ac:spMk id="3" creationId="{CCF2E98D-480F-2F23-151A-CFBA4679F05B}"/>
          </ac:spMkLst>
        </pc:spChg>
      </pc:sldChg>
      <pc:sldChg chg="modSp new mod">
        <pc:chgData name="Waldemar Hoff" userId="bacb8968-6b42-45e3-b232-453b0d6bde59" providerId="ADAL" clId="{F8C1E58B-402C-4ED2-AD69-E062B24CC05A}" dt="2026-01-28T20:51:32.595" v="1330" actId="113"/>
        <pc:sldMkLst>
          <pc:docMk/>
          <pc:sldMk cId="1483942723" sldId="329"/>
        </pc:sldMkLst>
        <pc:spChg chg="mod">
          <ac:chgData name="Waldemar Hoff" userId="bacb8968-6b42-45e3-b232-453b0d6bde59" providerId="ADAL" clId="{F8C1E58B-402C-4ED2-AD69-E062B24CC05A}" dt="2026-01-28T20:49:55.596" v="1296" actId="20577"/>
          <ac:spMkLst>
            <pc:docMk/>
            <pc:sldMk cId="1483942723" sldId="329"/>
            <ac:spMk id="2" creationId="{B5152F90-A866-05A1-AB8F-3238B15A6127}"/>
          </ac:spMkLst>
        </pc:spChg>
        <pc:spChg chg="mod">
          <ac:chgData name="Waldemar Hoff" userId="bacb8968-6b42-45e3-b232-453b0d6bde59" providerId="ADAL" clId="{F8C1E58B-402C-4ED2-AD69-E062B24CC05A}" dt="2026-01-28T20:51:32.595" v="1330" actId="113"/>
          <ac:spMkLst>
            <pc:docMk/>
            <pc:sldMk cId="1483942723" sldId="329"/>
            <ac:spMk id="3" creationId="{5E6743BB-FD62-F694-267A-4C2615BF526B}"/>
          </ac:spMkLst>
        </pc:spChg>
      </pc:sldChg>
      <pc:sldChg chg="modSp new mod ord">
        <pc:chgData name="Waldemar Hoff" userId="bacb8968-6b42-45e3-b232-453b0d6bde59" providerId="ADAL" clId="{F8C1E58B-402C-4ED2-AD69-E062B24CC05A}" dt="2026-01-28T20:47:43.674" v="1230"/>
        <pc:sldMkLst>
          <pc:docMk/>
          <pc:sldMk cId="2218745997" sldId="330"/>
        </pc:sldMkLst>
        <pc:spChg chg="mod">
          <ac:chgData name="Waldemar Hoff" userId="bacb8968-6b42-45e3-b232-453b0d6bde59" providerId="ADAL" clId="{F8C1E58B-402C-4ED2-AD69-E062B24CC05A}" dt="2026-01-28T20:47:12.144" v="1166" actId="20577"/>
          <ac:spMkLst>
            <pc:docMk/>
            <pc:sldMk cId="2218745997" sldId="330"/>
            <ac:spMk id="2" creationId="{DCD62A8D-A7C4-3653-CD7B-1910F7459D9C}"/>
          </ac:spMkLst>
        </pc:spChg>
        <pc:spChg chg="mod">
          <ac:chgData name="Waldemar Hoff" userId="bacb8968-6b42-45e3-b232-453b0d6bde59" providerId="ADAL" clId="{F8C1E58B-402C-4ED2-AD69-E062B24CC05A}" dt="2026-01-28T20:47:39.971" v="1228" actId="20577"/>
          <ac:spMkLst>
            <pc:docMk/>
            <pc:sldMk cId="2218745997" sldId="330"/>
            <ac:spMk id="3" creationId="{1B622579-3EC7-E522-A637-AAE4D80984A2}"/>
          </ac:spMkLst>
        </pc:spChg>
      </pc:sldChg>
      <pc:sldChg chg="modSp new mod">
        <pc:chgData name="Waldemar Hoff" userId="bacb8968-6b42-45e3-b232-453b0d6bde59" providerId="ADAL" clId="{F8C1E58B-402C-4ED2-AD69-E062B24CC05A}" dt="2026-01-28T20:54:29.736" v="1520" actId="207"/>
        <pc:sldMkLst>
          <pc:docMk/>
          <pc:sldMk cId="760742058" sldId="331"/>
        </pc:sldMkLst>
        <pc:spChg chg="mod">
          <ac:chgData name="Waldemar Hoff" userId="bacb8968-6b42-45e3-b232-453b0d6bde59" providerId="ADAL" clId="{F8C1E58B-402C-4ED2-AD69-E062B24CC05A}" dt="2026-01-28T20:50:57.586" v="1327"/>
          <ac:spMkLst>
            <pc:docMk/>
            <pc:sldMk cId="760742058" sldId="331"/>
            <ac:spMk id="2" creationId="{38278058-B9EA-FC37-DF55-CCD9AD975B94}"/>
          </ac:spMkLst>
        </pc:spChg>
        <pc:spChg chg="mod">
          <ac:chgData name="Waldemar Hoff" userId="bacb8968-6b42-45e3-b232-453b0d6bde59" providerId="ADAL" clId="{F8C1E58B-402C-4ED2-AD69-E062B24CC05A}" dt="2026-01-28T20:54:29.736" v="1520" actId="207"/>
          <ac:spMkLst>
            <pc:docMk/>
            <pc:sldMk cId="760742058" sldId="331"/>
            <ac:spMk id="3" creationId="{202A5A49-2679-03D0-BB5E-9CC710FF888A}"/>
          </ac:spMkLst>
        </pc:spChg>
      </pc:sldChg>
      <pc:sldChg chg="modSp new mod">
        <pc:chgData name="Waldemar Hoff" userId="bacb8968-6b42-45e3-b232-453b0d6bde59" providerId="ADAL" clId="{F8C1E58B-402C-4ED2-AD69-E062B24CC05A}" dt="2026-01-28T20:56:51.562" v="1637" actId="207"/>
        <pc:sldMkLst>
          <pc:docMk/>
          <pc:sldMk cId="2232555089" sldId="332"/>
        </pc:sldMkLst>
        <pc:spChg chg="mod">
          <ac:chgData name="Waldemar Hoff" userId="bacb8968-6b42-45e3-b232-453b0d6bde59" providerId="ADAL" clId="{F8C1E58B-402C-4ED2-AD69-E062B24CC05A}" dt="2026-01-28T20:51:00.740" v="1328"/>
          <ac:spMkLst>
            <pc:docMk/>
            <pc:sldMk cId="2232555089" sldId="332"/>
            <ac:spMk id="2" creationId="{2EC8F684-2876-7ED4-1C2F-E66CD90FF45D}"/>
          </ac:spMkLst>
        </pc:spChg>
        <pc:spChg chg="mod">
          <ac:chgData name="Waldemar Hoff" userId="bacb8968-6b42-45e3-b232-453b0d6bde59" providerId="ADAL" clId="{F8C1E58B-402C-4ED2-AD69-E062B24CC05A}" dt="2026-01-28T20:56:51.562" v="1637" actId="207"/>
          <ac:spMkLst>
            <pc:docMk/>
            <pc:sldMk cId="2232555089" sldId="332"/>
            <ac:spMk id="3" creationId="{0CE53EEC-7117-48FD-5CD0-F88471872E6B}"/>
          </ac:spMkLst>
        </pc:spChg>
      </pc:sldChg>
      <pc:sldChg chg="modSp new mod">
        <pc:chgData name="Waldemar Hoff" userId="bacb8968-6b42-45e3-b232-453b0d6bde59" providerId="ADAL" clId="{F8C1E58B-402C-4ED2-AD69-E062B24CC05A}" dt="2026-01-28T21:16:55.865" v="2801" actId="113"/>
        <pc:sldMkLst>
          <pc:docMk/>
          <pc:sldMk cId="2426236578" sldId="333"/>
        </pc:sldMkLst>
        <pc:spChg chg="mod">
          <ac:chgData name="Waldemar Hoff" userId="bacb8968-6b42-45e3-b232-453b0d6bde59" providerId="ADAL" clId="{F8C1E58B-402C-4ED2-AD69-E062B24CC05A}" dt="2026-01-28T20:58:04.339" v="1643"/>
          <ac:spMkLst>
            <pc:docMk/>
            <pc:sldMk cId="2426236578" sldId="333"/>
            <ac:spMk id="2" creationId="{D3F27DAA-861B-2B78-9F6B-061CD4D4134A}"/>
          </ac:spMkLst>
        </pc:spChg>
        <pc:spChg chg="mod">
          <ac:chgData name="Waldemar Hoff" userId="bacb8968-6b42-45e3-b232-453b0d6bde59" providerId="ADAL" clId="{F8C1E58B-402C-4ED2-AD69-E062B24CC05A}" dt="2026-01-28T21:16:55.865" v="2801" actId="113"/>
          <ac:spMkLst>
            <pc:docMk/>
            <pc:sldMk cId="2426236578" sldId="333"/>
            <ac:spMk id="3" creationId="{02032890-8A14-08B4-C3F5-256A15EBDEEE}"/>
          </ac:spMkLst>
        </pc:spChg>
      </pc:sldChg>
      <pc:sldChg chg="modSp new mod">
        <pc:chgData name="Waldemar Hoff" userId="bacb8968-6b42-45e3-b232-453b0d6bde59" providerId="ADAL" clId="{F8C1E58B-402C-4ED2-AD69-E062B24CC05A}" dt="2026-01-29T10:56:39.764" v="4084" actId="27636"/>
        <pc:sldMkLst>
          <pc:docMk/>
          <pc:sldMk cId="3256320065" sldId="334"/>
        </pc:sldMkLst>
        <pc:spChg chg="mod">
          <ac:chgData name="Waldemar Hoff" userId="bacb8968-6b42-45e3-b232-453b0d6bde59" providerId="ADAL" clId="{F8C1E58B-402C-4ED2-AD69-E062B24CC05A}" dt="2026-01-28T21:00:59.548" v="1827" actId="113"/>
          <ac:spMkLst>
            <pc:docMk/>
            <pc:sldMk cId="3256320065" sldId="334"/>
            <ac:spMk id="2" creationId="{439BB7D4-606D-4AA7-61B5-E74857CC183B}"/>
          </ac:spMkLst>
        </pc:spChg>
        <pc:spChg chg="mod">
          <ac:chgData name="Waldemar Hoff" userId="bacb8968-6b42-45e3-b232-453b0d6bde59" providerId="ADAL" clId="{F8C1E58B-402C-4ED2-AD69-E062B24CC05A}" dt="2026-01-29T10:56:39.764" v="4084" actId="27636"/>
          <ac:spMkLst>
            <pc:docMk/>
            <pc:sldMk cId="3256320065" sldId="334"/>
            <ac:spMk id="3" creationId="{EDD3290C-4CDB-84C4-AE49-FD8EB204083A}"/>
          </ac:spMkLst>
        </pc:spChg>
      </pc:sldChg>
      <pc:sldChg chg="modSp new mod">
        <pc:chgData name="Waldemar Hoff" userId="bacb8968-6b42-45e3-b232-453b0d6bde59" providerId="ADAL" clId="{F8C1E58B-402C-4ED2-AD69-E062B24CC05A}" dt="2026-01-29T09:59:33.646" v="3008" actId="207"/>
        <pc:sldMkLst>
          <pc:docMk/>
          <pc:sldMk cId="2056225151" sldId="335"/>
        </pc:sldMkLst>
        <pc:spChg chg="mod">
          <ac:chgData name="Waldemar Hoff" userId="bacb8968-6b42-45e3-b232-453b0d6bde59" providerId="ADAL" clId="{F8C1E58B-402C-4ED2-AD69-E062B24CC05A}" dt="2026-01-28T20:59:22.283" v="1736" actId="207"/>
          <ac:spMkLst>
            <pc:docMk/>
            <pc:sldMk cId="2056225151" sldId="335"/>
            <ac:spMk id="2" creationId="{EA9E358D-94F9-A66B-15EC-AFA78CC0834F}"/>
          </ac:spMkLst>
        </pc:spChg>
        <pc:spChg chg="mod">
          <ac:chgData name="Waldemar Hoff" userId="bacb8968-6b42-45e3-b232-453b0d6bde59" providerId="ADAL" clId="{F8C1E58B-402C-4ED2-AD69-E062B24CC05A}" dt="2026-01-29T09:59:33.646" v="3008" actId="207"/>
          <ac:spMkLst>
            <pc:docMk/>
            <pc:sldMk cId="2056225151" sldId="335"/>
            <ac:spMk id="3" creationId="{ED50080F-97C8-C09E-E3CC-01259C35DD25}"/>
          </ac:spMkLst>
        </pc:spChg>
      </pc:sldChg>
      <pc:sldChg chg="modSp new mod">
        <pc:chgData name="Waldemar Hoff" userId="bacb8968-6b42-45e3-b232-453b0d6bde59" providerId="ADAL" clId="{F8C1E58B-402C-4ED2-AD69-E062B24CC05A}" dt="2026-01-29T10:04:37.134" v="3053" actId="207"/>
        <pc:sldMkLst>
          <pc:docMk/>
          <pc:sldMk cId="3134031013" sldId="336"/>
        </pc:sldMkLst>
        <pc:spChg chg="mod">
          <ac:chgData name="Waldemar Hoff" userId="bacb8968-6b42-45e3-b232-453b0d6bde59" providerId="ADAL" clId="{F8C1E58B-402C-4ED2-AD69-E062B24CC05A}" dt="2026-01-29T09:59:54.367" v="3011"/>
          <ac:spMkLst>
            <pc:docMk/>
            <pc:sldMk cId="3134031013" sldId="336"/>
            <ac:spMk id="2" creationId="{47DB8315-6162-F2BB-AEAC-EAD447FDFE6E}"/>
          </ac:spMkLst>
        </pc:spChg>
        <pc:spChg chg="mod">
          <ac:chgData name="Waldemar Hoff" userId="bacb8968-6b42-45e3-b232-453b0d6bde59" providerId="ADAL" clId="{F8C1E58B-402C-4ED2-AD69-E062B24CC05A}" dt="2026-01-29T10:04:37.134" v="3053" actId="207"/>
          <ac:spMkLst>
            <pc:docMk/>
            <pc:sldMk cId="3134031013" sldId="336"/>
            <ac:spMk id="3" creationId="{91BD5C2F-B457-D7CA-3619-82AD3AD83D6D}"/>
          </ac:spMkLst>
        </pc:spChg>
      </pc:sldChg>
      <pc:sldChg chg="modSp new mod ord">
        <pc:chgData name="Waldemar Hoff" userId="bacb8968-6b42-45e3-b232-453b0d6bde59" providerId="ADAL" clId="{F8C1E58B-402C-4ED2-AD69-E062B24CC05A}" dt="2026-01-29T10:02:58.298" v="3038" actId="113"/>
        <pc:sldMkLst>
          <pc:docMk/>
          <pc:sldMk cId="2043413367" sldId="337"/>
        </pc:sldMkLst>
        <pc:spChg chg="mod">
          <ac:chgData name="Waldemar Hoff" userId="bacb8968-6b42-45e3-b232-453b0d6bde59" providerId="ADAL" clId="{F8C1E58B-402C-4ED2-AD69-E062B24CC05A}" dt="2026-01-29T09:59:57.662" v="3012"/>
          <ac:spMkLst>
            <pc:docMk/>
            <pc:sldMk cId="2043413367" sldId="337"/>
            <ac:spMk id="2" creationId="{DA62EF90-AA7C-83E7-B555-AFEFAA04F272}"/>
          </ac:spMkLst>
        </pc:spChg>
        <pc:spChg chg="mod">
          <ac:chgData name="Waldemar Hoff" userId="bacb8968-6b42-45e3-b232-453b0d6bde59" providerId="ADAL" clId="{F8C1E58B-402C-4ED2-AD69-E062B24CC05A}" dt="2026-01-29T10:02:58.298" v="3038" actId="113"/>
          <ac:spMkLst>
            <pc:docMk/>
            <pc:sldMk cId="2043413367" sldId="337"/>
            <ac:spMk id="3" creationId="{DADC7F9A-3B2E-2A78-49E6-B9AD3AC7B0C8}"/>
          </ac:spMkLst>
        </pc:spChg>
      </pc:sldChg>
      <pc:sldChg chg="modSp new mod">
        <pc:chgData name="Waldemar Hoff" userId="bacb8968-6b42-45e3-b232-453b0d6bde59" providerId="ADAL" clId="{F8C1E58B-402C-4ED2-AD69-E062B24CC05A}" dt="2026-01-29T10:12:19.368" v="3190" actId="20577"/>
        <pc:sldMkLst>
          <pc:docMk/>
          <pc:sldMk cId="2343172048" sldId="338"/>
        </pc:sldMkLst>
        <pc:spChg chg="mod">
          <ac:chgData name="Waldemar Hoff" userId="bacb8968-6b42-45e3-b232-453b0d6bde59" providerId="ADAL" clId="{F8C1E58B-402C-4ED2-AD69-E062B24CC05A}" dt="2026-01-29T10:04:57.413" v="3057"/>
          <ac:spMkLst>
            <pc:docMk/>
            <pc:sldMk cId="2343172048" sldId="338"/>
            <ac:spMk id="2" creationId="{1FF56218-DEB2-AB6C-5451-1E3C540AA359}"/>
          </ac:spMkLst>
        </pc:spChg>
        <pc:spChg chg="mod">
          <ac:chgData name="Waldemar Hoff" userId="bacb8968-6b42-45e3-b232-453b0d6bde59" providerId="ADAL" clId="{F8C1E58B-402C-4ED2-AD69-E062B24CC05A}" dt="2026-01-29T10:12:19.368" v="3190" actId="20577"/>
          <ac:spMkLst>
            <pc:docMk/>
            <pc:sldMk cId="2343172048" sldId="338"/>
            <ac:spMk id="3" creationId="{09F82C21-760F-A1CC-609A-7B5E81BB4852}"/>
          </ac:spMkLst>
        </pc:spChg>
      </pc:sldChg>
      <pc:sldChg chg="modSp new mod">
        <pc:chgData name="Waldemar Hoff" userId="bacb8968-6b42-45e3-b232-453b0d6bde59" providerId="ADAL" clId="{F8C1E58B-402C-4ED2-AD69-E062B24CC05A}" dt="2026-01-29T10:07:01.997" v="3092" actId="207"/>
        <pc:sldMkLst>
          <pc:docMk/>
          <pc:sldMk cId="1008355779" sldId="339"/>
        </pc:sldMkLst>
        <pc:spChg chg="mod">
          <ac:chgData name="Waldemar Hoff" userId="bacb8968-6b42-45e3-b232-453b0d6bde59" providerId="ADAL" clId="{F8C1E58B-402C-4ED2-AD69-E062B24CC05A}" dt="2026-01-29T10:04:54.035" v="3056"/>
          <ac:spMkLst>
            <pc:docMk/>
            <pc:sldMk cId="1008355779" sldId="339"/>
            <ac:spMk id="2" creationId="{2D15DF8D-7F23-C0C2-F302-734E521BD59E}"/>
          </ac:spMkLst>
        </pc:spChg>
        <pc:spChg chg="mod">
          <ac:chgData name="Waldemar Hoff" userId="bacb8968-6b42-45e3-b232-453b0d6bde59" providerId="ADAL" clId="{F8C1E58B-402C-4ED2-AD69-E062B24CC05A}" dt="2026-01-29T10:07:01.997" v="3092" actId="207"/>
          <ac:spMkLst>
            <pc:docMk/>
            <pc:sldMk cId="1008355779" sldId="339"/>
            <ac:spMk id="3" creationId="{8C9B06AB-F891-15CB-B2F0-105D65A219E2}"/>
          </ac:spMkLst>
        </pc:spChg>
      </pc:sldChg>
      <pc:sldChg chg="modSp new mod">
        <pc:chgData name="Waldemar Hoff" userId="bacb8968-6b42-45e3-b232-453b0d6bde59" providerId="ADAL" clId="{F8C1E58B-402C-4ED2-AD69-E062B24CC05A}" dt="2026-01-29T10:13:51.945" v="3208" actId="207"/>
        <pc:sldMkLst>
          <pc:docMk/>
          <pc:sldMk cId="527231699" sldId="340"/>
        </pc:sldMkLst>
        <pc:spChg chg="mod">
          <ac:chgData name="Waldemar Hoff" userId="bacb8968-6b42-45e3-b232-453b0d6bde59" providerId="ADAL" clId="{F8C1E58B-402C-4ED2-AD69-E062B24CC05A}" dt="2026-01-29T10:10:03.892" v="3129"/>
          <ac:spMkLst>
            <pc:docMk/>
            <pc:sldMk cId="527231699" sldId="340"/>
            <ac:spMk id="2" creationId="{7C1E46F3-CA8D-B91E-C53C-DF816D7FB62A}"/>
          </ac:spMkLst>
        </pc:spChg>
        <pc:spChg chg="mod">
          <ac:chgData name="Waldemar Hoff" userId="bacb8968-6b42-45e3-b232-453b0d6bde59" providerId="ADAL" clId="{F8C1E58B-402C-4ED2-AD69-E062B24CC05A}" dt="2026-01-29T10:13:51.945" v="3208" actId="207"/>
          <ac:spMkLst>
            <pc:docMk/>
            <pc:sldMk cId="527231699" sldId="340"/>
            <ac:spMk id="3" creationId="{83FCE178-CDE0-5498-B528-7B390D960AA1}"/>
          </ac:spMkLst>
        </pc:spChg>
      </pc:sldChg>
      <pc:sldChg chg="modSp new mod ord">
        <pc:chgData name="Waldemar Hoff" userId="bacb8968-6b42-45e3-b232-453b0d6bde59" providerId="ADAL" clId="{F8C1E58B-402C-4ED2-AD69-E062B24CC05A}" dt="2026-01-29T10:19:48.476" v="3478" actId="27636"/>
        <pc:sldMkLst>
          <pc:docMk/>
          <pc:sldMk cId="927017106" sldId="341"/>
        </pc:sldMkLst>
        <pc:spChg chg="mod">
          <ac:chgData name="Waldemar Hoff" userId="bacb8968-6b42-45e3-b232-453b0d6bde59" providerId="ADAL" clId="{F8C1E58B-402C-4ED2-AD69-E062B24CC05A}" dt="2026-01-29T10:15:22.897" v="3222"/>
          <ac:spMkLst>
            <pc:docMk/>
            <pc:sldMk cId="927017106" sldId="341"/>
            <ac:spMk id="2" creationId="{44B344CF-156B-683A-4405-9E7C70F63C4C}"/>
          </ac:spMkLst>
        </pc:spChg>
        <pc:spChg chg="mod">
          <ac:chgData name="Waldemar Hoff" userId="bacb8968-6b42-45e3-b232-453b0d6bde59" providerId="ADAL" clId="{F8C1E58B-402C-4ED2-AD69-E062B24CC05A}" dt="2026-01-29T10:19:48.476" v="3478" actId="27636"/>
          <ac:spMkLst>
            <pc:docMk/>
            <pc:sldMk cId="927017106" sldId="341"/>
            <ac:spMk id="3" creationId="{9B7B5BCE-9006-F433-A83F-FE91AF299DA7}"/>
          </ac:spMkLst>
        </pc:spChg>
      </pc:sldChg>
      <pc:sldChg chg="modSp new mod">
        <pc:chgData name="Waldemar Hoff" userId="bacb8968-6b42-45e3-b232-453b0d6bde59" providerId="ADAL" clId="{F8C1E58B-402C-4ED2-AD69-E062B24CC05A}" dt="2026-01-29T10:23:41.639" v="3576" actId="27636"/>
        <pc:sldMkLst>
          <pc:docMk/>
          <pc:sldMk cId="640011520" sldId="342"/>
        </pc:sldMkLst>
        <pc:spChg chg="mod">
          <ac:chgData name="Waldemar Hoff" userId="bacb8968-6b42-45e3-b232-453b0d6bde59" providerId="ADAL" clId="{F8C1E58B-402C-4ED2-AD69-E062B24CC05A}" dt="2026-01-29T10:15:28.944" v="3224"/>
          <ac:spMkLst>
            <pc:docMk/>
            <pc:sldMk cId="640011520" sldId="342"/>
            <ac:spMk id="2" creationId="{3DD8AF30-CDDD-5F86-88BE-10FF8BA2ECD2}"/>
          </ac:spMkLst>
        </pc:spChg>
        <pc:spChg chg="mod">
          <ac:chgData name="Waldemar Hoff" userId="bacb8968-6b42-45e3-b232-453b0d6bde59" providerId="ADAL" clId="{F8C1E58B-402C-4ED2-AD69-E062B24CC05A}" dt="2026-01-29T10:23:41.639" v="3576" actId="27636"/>
          <ac:spMkLst>
            <pc:docMk/>
            <pc:sldMk cId="640011520" sldId="342"/>
            <ac:spMk id="3" creationId="{84CC02D4-BF1D-7BD7-5B11-F37D6D38D545}"/>
          </ac:spMkLst>
        </pc:spChg>
      </pc:sldChg>
      <pc:sldChg chg="modSp new mod">
        <pc:chgData name="Waldemar Hoff" userId="bacb8968-6b42-45e3-b232-453b0d6bde59" providerId="ADAL" clId="{F8C1E58B-402C-4ED2-AD69-E062B24CC05A}" dt="2026-01-29T10:27:03.100" v="3729" actId="207"/>
        <pc:sldMkLst>
          <pc:docMk/>
          <pc:sldMk cId="4206383170" sldId="343"/>
        </pc:sldMkLst>
        <pc:spChg chg="mod">
          <ac:chgData name="Waldemar Hoff" userId="bacb8968-6b42-45e3-b232-453b0d6bde59" providerId="ADAL" clId="{F8C1E58B-402C-4ED2-AD69-E062B24CC05A}" dt="2026-01-29T10:24:39.047" v="3604"/>
          <ac:spMkLst>
            <pc:docMk/>
            <pc:sldMk cId="4206383170" sldId="343"/>
            <ac:spMk id="2" creationId="{17302D6B-07FB-E493-6B86-3467E7D96E4B}"/>
          </ac:spMkLst>
        </pc:spChg>
        <pc:spChg chg="mod">
          <ac:chgData name="Waldemar Hoff" userId="bacb8968-6b42-45e3-b232-453b0d6bde59" providerId="ADAL" clId="{F8C1E58B-402C-4ED2-AD69-E062B24CC05A}" dt="2026-01-29T10:27:03.100" v="3729" actId="207"/>
          <ac:spMkLst>
            <pc:docMk/>
            <pc:sldMk cId="4206383170" sldId="343"/>
            <ac:spMk id="3" creationId="{1506FB93-6257-2574-14B0-901D830352AB}"/>
          </ac:spMkLst>
        </pc:spChg>
      </pc:sldChg>
      <pc:sldChg chg="modSp new mod">
        <pc:chgData name="Waldemar Hoff" userId="bacb8968-6b42-45e3-b232-453b0d6bde59" providerId="ADAL" clId="{F8C1E58B-402C-4ED2-AD69-E062B24CC05A}" dt="2026-01-29T10:29:52.109" v="3819" actId="20577"/>
        <pc:sldMkLst>
          <pc:docMk/>
          <pc:sldMk cId="1305482134" sldId="344"/>
        </pc:sldMkLst>
        <pc:spChg chg="mod">
          <ac:chgData name="Waldemar Hoff" userId="bacb8968-6b42-45e3-b232-453b0d6bde59" providerId="ADAL" clId="{F8C1E58B-402C-4ED2-AD69-E062B24CC05A}" dt="2026-01-29T10:27:46.110" v="3732"/>
          <ac:spMkLst>
            <pc:docMk/>
            <pc:sldMk cId="1305482134" sldId="344"/>
            <ac:spMk id="2" creationId="{4C6D4E98-9427-6FDC-25C1-03A8DC20F700}"/>
          </ac:spMkLst>
        </pc:spChg>
        <pc:spChg chg="mod">
          <ac:chgData name="Waldemar Hoff" userId="bacb8968-6b42-45e3-b232-453b0d6bde59" providerId="ADAL" clId="{F8C1E58B-402C-4ED2-AD69-E062B24CC05A}" dt="2026-01-29T10:29:52.109" v="3819" actId="20577"/>
          <ac:spMkLst>
            <pc:docMk/>
            <pc:sldMk cId="1305482134" sldId="344"/>
            <ac:spMk id="3" creationId="{174D15DE-2F62-CA65-A805-4945F064067B}"/>
          </ac:spMkLst>
        </pc:spChg>
      </pc:sldChg>
      <pc:sldChg chg="modSp new mod">
        <pc:chgData name="Waldemar Hoff" userId="bacb8968-6b42-45e3-b232-453b0d6bde59" providerId="ADAL" clId="{F8C1E58B-402C-4ED2-AD69-E062B24CC05A}" dt="2026-01-29T10:52:24.706" v="3995" actId="113"/>
        <pc:sldMkLst>
          <pc:docMk/>
          <pc:sldMk cId="4164806003" sldId="345"/>
        </pc:sldMkLst>
        <pc:spChg chg="mod">
          <ac:chgData name="Waldemar Hoff" userId="bacb8968-6b42-45e3-b232-453b0d6bde59" providerId="ADAL" clId="{F8C1E58B-402C-4ED2-AD69-E062B24CC05A}" dt="2026-01-29T10:30:44.998" v="3822"/>
          <ac:spMkLst>
            <pc:docMk/>
            <pc:sldMk cId="4164806003" sldId="345"/>
            <ac:spMk id="2" creationId="{480312EE-B1B3-5680-5B6A-2E85DA4D376F}"/>
          </ac:spMkLst>
        </pc:spChg>
        <pc:spChg chg="mod">
          <ac:chgData name="Waldemar Hoff" userId="bacb8968-6b42-45e3-b232-453b0d6bde59" providerId="ADAL" clId="{F8C1E58B-402C-4ED2-AD69-E062B24CC05A}" dt="2026-01-29T10:52:24.706" v="3995" actId="113"/>
          <ac:spMkLst>
            <pc:docMk/>
            <pc:sldMk cId="4164806003" sldId="345"/>
            <ac:spMk id="3" creationId="{CC4BEB7C-B495-5C61-3297-37ABD00D0873}"/>
          </ac:spMkLst>
        </pc:spChg>
      </pc:sldChg>
      <pc:sldChg chg="modSp new mod">
        <pc:chgData name="Waldemar Hoff" userId="bacb8968-6b42-45e3-b232-453b0d6bde59" providerId="ADAL" clId="{F8C1E58B-402C-4ED2-AD69-E062B24CC05A}" dt="2026-01-29T10:56:20.877" v="4082" actId="207"/>
        <pc:sldMkLst>
          <pc:docMk/>
          <pc:sldMk cId="2953729529" sldId="346"/>
        </pc:sldMkLst>
        <pc:spChg chg="mod">
          <ac:chgData name="Waldemar Hoff" userId="bacb8968-6b42-45e3-b232-453b0d6bde59" providerId="ADAL" clId="{F8C1E58B-402C-4ED2-AD69-E062B24CC05A}" dt="2026-01-29T10:54:21.206" v="4039"/>
          <ac:spMkLst>
            <pc:docMk/>
            <pc:sldMk cId="2953729529" sldId="346"/>
            <ac:spMk id="2" creationId="{11BFC165-F13D-3D2D-83DC-BC7EB453262A}"/>
          </ac:spMkLst>
        </pc:spChg>
        <pc:spChg chg="mod">
          <ac:chgData name="Waldemar Hoff" userId="bacb8968-6b42-45e3-b232-453b0d6bde59" providerId="ADAL" clId="{F8C1E58B-402C-4ED2-AD69-E062B24CC05A}" dt="2026-01-29T10:56:20.877" v="4082" actId="207"/>
          <ac:spMkLst>
            <pc:docMk/>
            <pc:sldMk cId="2953729529" sldId="346"/>
            <ac:spMk id="3" creationId="{9D18B5BC-DD64-5C6F-B8A6-BA299BA8B3E1}"/>
          </ac:spMkLst>
        </pc:spChg>
      </pc:sldChg>
      <pc:sldChg chg="modSp new mod">
        <pc:chgData name="Waldemar Hoff" userId="bacb8968-6b42-45e3-b232-453b0d6bde59" providerId="ADAL" clId="{F8C1E58B-402C-4ED2-AD69-E062B24CC05A}" dt="2026-01-29T10:57:54.503" v="4167" actId="20577"/>
        <pc:sldMkLst>
          <pc:docMk/>
          <pc:sldMk cId="2276974081" sldId="347"/>
        </pc:sldMkLst>
        <pc:spChg chg="mod">
          <ac:chgData name="Waldemar Hoff" userId="bacb8968-6b42-45e3-b232-453b0d6bde59" providerId="ADAL" clId="{F8C1E58B-402C-4ED2-AD69-E062B24CC05A}" dt="2026-01-29T10:57:48.341" v="4154" actId="207"/>
          <ac:spMkLst>
            <pc:docMk/>
            <pc:sldMk cId="2276974081" sldId="347"/>
            <ac:spMk id="2" creationId="{439E834B-5985-FB8B-2425-271D2592DCFE}"/>
          </ac:spMkLst>
        </pc:spChg>
        <pc:spChg chg="mod">
          <ac:chgData name="Waldemar Hoff" userId="bacb8968-6b42-45e3-b232-453b0d6bde59" providerId="ADAL" clId="{F8C1E58B-402C-4ED2-AD69-E062B24CC05A}" dt="2026-01-29T10:57:54.503" v="4167" actId="20577"/>
          <ac:spMkLst>
            <pc:docMk/>
            <pc:sldMk cId="2276974081" sldId="347"/>
            <ac:spMk id="3" creationId="{12D804F3-97F8-5731-C5CA-5B24FB3A852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nagłówka 1"/>
          <p:cNvSpPr>
            <a:spLocks noGrp="1"/>
          </p:cNvSpPr>
          <p:nvPr>
            <p:ph type="hdr" sz="quarter"/>
          </p:nvPr>
        </p:nvSpPr>
        <p:spPr>
          <a:xfrm>
            <a:off x="0" y="0"/>
            <a:ext cx="2971800" cy="499091"/>
          </a:xfrm>
          <a:prstGeom prst="rect">
            <a:avLst/>
          </a:prstGeom>
        </p:spPr>
        <p:txBody>
          <a:bodyPr vert="horz" lIns="91440" tIns="45720" rIns="91440" bIns="45720" rtlCol="0"/>
          <a:lstStyle>
            <a:lvl1pPr algn="l">
              <a:defRPr sz="1200"/>
            </a:lvl1pPr>
          </a:lstStyle>
          <a:p>
            <a:endParaRPr lang="en-US" dirty="0"/>
          </a:p>
        </p:txBody>
      </p:sp>
      <p:sp>
        <p:nvSpPr>
          <p:cNvPr id="3" name="Symbol zastępczy daty 2"/>
          <p:cNvSpPr>
            <a:spLocks noGrp="1"/>
          </p:cNvSpPr>
          <p:nvPr>
            <p:ph type="dt" idx="1"/>
          </p:nvPr>
        </p:nvSpPr>
        <p:spPr>
          <a:xfrm>
            <a:off x="3884613" y="0"/>
            <a:ext cx="2971800" cy="499091"/>
          </a:xfrm>
          <a:prstGeom prst="rect">
            <a:avLst/>
          </a:prstGeom>
        </p:spPr>
        <p:txBody>
          <a:bodyPr vert="horz" lIns="91440" tIns="45720" rIns="91440" bIns="45720" rtlCol="0"/>
          <a:lstStyle>
            <a:lvl1pPr algn="r">
              <a:defRPr sz="1200"/>
            </a:lvl1pPr>
          </a:lstStyle>
          <a:p>
            <a:fld id="{4AD16504-AC80-453D-9A8C-73614C0D0B54}" type="datetimeFigureOut">
              <a:rPr lang="en-US" smtClean="0"/>
              <a:t>1/29/2026</a:t>
            </a:fld>
            <a:endParaRPr lang="en-US" dirty="0"/>
          </a:p>
        </p:txBody>
      </p:sp>
      <p:sp>
        <p:nvSpPr>
          <p:cNvPr id="4" name="Symbol zastępczy obrazu slajdu 3"/>
          <p:cNvSpPr>
            <a:spLocks noGrp="1" noRot="1" noChangeAspect="1"/>
          </p:cNvSpPr>
          <p:nvPr>
            <p:ph type="sldImg" idx="2"/>
          </p:nvPr>
        </p:nvSpPr>
        <p:spPr>
          <a:xfrm>
            <a:off x="444500" y="1243013"/>
            <a:ext cx="5969000" cy="3357562"/>
          </a:xfrm>
          <a:prstGeom prst="rect">
            <a:avLst/>
          </a:prstGeom>
          <a:noFill/>
          <a:ln w="12700">
            <a:solidFill>
              <a:prstClr val="black"/>
            </a:solidFill>
          </a:ln>
        </p:spPr>
        <p:txBody>
          <a:bodyPr vert="horz" lIns="91440" tIns="45720" rIns="91440" bIns="45720" rtlCol="0" anchor="ctr"/>
          <a:lstStyle/>
          <a:p>
            <a:endParaRPr lang="en-US" dirty="0"/>
          </a:p>
        </p:txBody>
      </p:sp>
      <p:sp>
        <p:nvSpPr>
          <p:cNvPr id="5" name="Symbol zastępczy notatek 4"/>
          <p:cNvSpPr>
            <a:spLocks noGrp="1"/>
          </p:cNvSpPr>
          <p:nvPr>
            <p:ph type="body" sz="quarter" idx="3"/>
          </p:nvPr>
        </p:nvSpPr>
        <p:spPr>
          <a:xfrm>
            <a:off x="685800" y="4787126"/>
            <a:ext cx="5486400" cy="3916740"/>
          </a:xfrm>
          <a:prstGeom prst="rect">
            <a:avLst/>
          </a:prstGeom>
        </p:spPr>
        <p:txBody>
          <a:bodyPr vert="horz" lIns="91440" tIns="45720" rIns="91440" bIns="45720" rtlCol="0"/>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endParaRPr lang="en-US"/>
          </a:p>
        </p:txBody>
      </p:sp>
      <p:sp>
        <p:nvSpPr>
          <p:cNvPr id="6" name="Symbol zastępczy stopki 5"/>
          <p:cNvSpPr>
            <a:spLocks noGrp="1"/>
          </p:cNvSpPr>
          <p:nvPr>
            <p:ph type="ftr" sz="quarter" idx="4"/>
          </p:nvPr>
        </p:nvSpPr>
        <p:spPr>
          <a:xfrm>
            <a:off x="0" y="9448185"/>
            <a:ext cx="2971800" cy="499090"/>
          </a:xfrm>
          <a:prstGeom prst="rect">
            <a:avLst/>
          </a:prstGeom>
        </p:spPr>
        <p:txBody>
          <a:bodyPr vert="horz" lIns="91440" tIns="45720" rIns="91440" bIns="45720" rtlCol="0" anchor="b"/>
          <a:lstStyle>
            <a:lvl1pPr algn="l">
              <a:defRPr sz="1200"/>
            </a:lvl1pPr>
          </a:lstStyle>
          <a:p>
            <a:endParaRPr lang="en-US" dirty="0"/>
          </a:p>
        </p:txBody>
      </p:sp>
      <p:sp>
        <p:nvSpPr>
          <p:cNvPr id="7" name="Symbol zastępczy numeru slajdu 6"/>
          <p:cNvSpPr>
            <a:spLocks noGrp="1"/>
          </p:cNvSpPr>
          <p:nvPr>
            <p:ph type="sldNum" sz="quarter" idx="5"/>
          </p:nvPr>
        </p:nvSpPr>
        <p:spPr>
          <a:xfrm>
            <a:off x="3884613" y="9448185"/>
            <a:ext cx="2971800" cy="499090"/>
          </a:xfrm>
          <a:prstGeom prst="rect">
            <a:avLst/>
          </a:prstGeom>
        </p:spPr>
        <p:txBody>
          <a:bodyPr vert="horz" lIns="91440" tIns="45720" rIns="91440" bIns="45720" rtlCol="0" anchor="b"/>
          <a:lstStyle>
            <a:lvl1pPr algn="r">
              <a:defRPr sz="1200"/>
            </a:lvl1pPr>
          </a:lstStyle>
          <a:p>
            <a:fld id="{85DDDFD7-66F1-463B-8147-864E631A9A42}" type="slidenum">
              <a:rPr lang="en-US" smtClean="0"/>
              <a:t>‹#›</a:t>
            </a:fld>
            <a:endParaRPr lang="en-US" dirty="0"/>
          </a:p>
        </p:txBody>
      </p:sp>
    </p:spTree>
    <p:extLst>
      <p:ext uri="{BB962C8B-B14F-4D97-AF65-F5344CB8AC3E}">
        <p14:creationId xmlns:p14="http://schemas.microsoft.com/office/powerpoint/2010/main" val="2421725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ajd tytuł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55FAFA1-2A04-48BB-BCA9-8661575DFF56}"/>
              </a:ext>
            </a:extLst>
          </p:cNvPr>
          <p:cNvSpPr>
            <a:spLocks noGrp="1"/>
          </p:cNvSpPr>
          <p:nvPr>
            <p:ph type="ctrTitle"/>
          </p:nvPr>
        </p:nvSpPr>
        <p:spPr>
          <a:xfrm>
            <a:off x="1524000" y="1122363"/>
            <a:ext cx="9144000" cy="2387600"/>
          </a:xfrm>
        </p:spPr>
        <p:txBody>
          <a:bodyPr anchor="b"/>
          <a:lstStyle>
            <a:lvl1pPr algn="ctr">
              <a:defRPr sz="6000"/>
            </a:lvl1pPr>
          </a:lstStyle>
          <a:p>
            <a:r>
              <a:rPr lang="pl-PL"/>
              <a:t>Kliknij, aby edytować styl</a:t>
            </a:r>
          </a:p>
        </p:txBody>
      </p:sp>
      <p:sp>
        <p:nvSpPr>
          <p:cNvPr id="3" name="Podtytuł 2">
            <a:extLst>
              <a:ext uri="{FF2B5EF4-FFF2-40B4-BE49-F238E27FC236}">
                <a16:creationId xmlns:a16="http://schemas.microsoft.com/office/drawing/2014/main" id="{FCD909B4-5C61-439C-AE52-F788A089BD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l-PL"/>
              <a:t>Kliknij, aby edytować styl wzorca podtytułu</a:t>
            </a:r>
          </a:p>
        </p:txBody>
      </p:sp>
      <p:sp>
        <p:nvSpPr>
          <p:cNvPr id="4" name="Symbol zastępczy daty 3">
            <a:extLst>
              <a:ext uri="{FF2B5EF4-FFF2-40B4-BE49-F238E27FC236}">
                <a16:creationId xmlns:a16="http://schemas.microsoft.com/office/drawing/2014/main" id="{D5DB6DAF-5FE8-4174-9EC2-E656D5B41F01}"/>
              </a:ext>
            </a:extLst>
          </p:cNvPr>
          <p:cNvSpPr>
            <a:spLocks noGrp="1"/>
          </p:cNvSpPr>
          <p:nvPr>
            <p:ph type="dt" sz="half" idx="10"/>
          </p:nvPr>
        </p:nvSpPr>
        <p:spPr/>
        <p:txBody>
          <a:bodyPr/>
          <a:lstStyle/>
          <a:p>
            <a:fld id="{CE7F19B1-43AA-4DE2-9E3E-5D73683CA706}" type="datetime1">
              <a:rPr lang="pl-PL" smtClean="0"/>
              <a:t>29.01.2026</a:t>
            </a:fld>
            <a:endParaRPr lang="pl-PL" dirty="0"/>
          </a:p>
        </p:txBody>
      </p:sp>
      <p:sp>
        <p:nvSpPr>
          <p:cNvPr id="5" name="Symbol zastępczy stopki 4">
            <a:extLst>
              <a:ext uri="{FF2B5EF4-FFF2-40B4-BE49-F238E27FC236}">
                <a16:creationId xmlns:a16="http://schemas.microsoft.com/office/drawing/2014/main" id="{AD640AB2-6384-4D55-9E21-E925B9BC1617}"/>
              </a:ext>
            </a:extLst>
          </p:cNvPr>
          <p:cNvSpPr>
            <a:spLocks noGrp="1"/>
          </p:cNvSpPr>
          <p:nvPr>
            <p:ph type="ftr" sz="quarter" idx="11"/>
          </p:nvPr>
        </p:nvSpPr>
        <p:spPr/>
        <p:txBody>
          <a:bodyPr/>
          <a:lstStyle/>
          <a:p>
            <a:endParaRPr lang="pl-PL" dirty="0"/>
          </a:p>
        </p:txBody>
      </p:sp>
      <p:sp>
        <p:nvSpPr>
          <p:cNvPr id="6" name="Symbol zastępczy numeru slajdu 5">
            <a:extLst>
              <a:ext uri="{FF2B5EF4-FFF2-40B4-BE49-F238E27FC236}">
                <a16:creationId xmlns:a16="http://schemas.microsoft.com/office/drawing/2014/main" id="{0A269287-D4C5-4341-A914-4700714119E0}"/>
              </a:ext>
            </a:extLst>
          </p:cNvPr>
          <p:cNvSpPr>
            <a:spLocks noGrp="1"/>
          </p:cNvSpPr>
          <p:nvPr>
            <p:ph type="sldNum" sz="quarter" idx="12"/>
          </p:nvPr>
        </p:nvSpPr>
        <p:spPr/>
        <p:txBody>
          <a:bodyPr/>
          <a:lstStyle/>
          <a:p>
            <a:fld id="{31FE8408-9B39-4718-B64F-54F72D092B1B}" type="slidenum">
              <a:rPr lang="pl-PL" smtClean="0"/>
              <a:t>‹#›</a:t>
            </a:fld>
            <a:endParaRPr lang="pl-PL" dirty="0"/>
          </a:p>
        </p:txBody>
      </p:sp>
    </p:spTree>
    <p:extLst>
      <p:ext uri="{BB962C8B-B14F-4D97-AF65-F5344CB8AC3E}">
        <p14:creationId xmlns:p14="http://schemas.microsoft.com/office/powerpoint/2010/main" val="2062129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9B4DB62-B214-4E8D-8160-79883A7AFD12}"/>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9FAD5289-DDAC-4174-B3AC-43E5E1EE8636}"/>
              </a:ext>
            </a:extLst>
          </p:cNvPr>
          <p:cNvSpPr>
            <a:spLocks noGrp="1"/>
          </p:cNvSpPr>
          <p:nvPr>
            <p:ph idx="1"/>
          </p:nvPr>
        </p:nvSpPr>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4DC1DF69-0F0C-4ABD-B26D-6D8FE0C4C8CB}"/>
              </a:ext>
            </a:extLst>
          </p:cNvPr>
          <p:cNvSpPr>
            <a:spLocks noGrp="1"/>
          </p:cNvSpPr>
          <p:nvPr>
            <p:ph type="dt" sz="half" idx="10"/>
          </p:nvPr>
        </p:nvSpPr>
        <p:spPr/>
        <p:txBody>
          <a:bodyPr/>
          <a:lstStyle/>
          <a:p>
            <a:fld id="{735616A4-2CFC-46EB-9939-0CA1E8890265}" type="datetime1">
              <a:rPr lang="pl-PL" smtClean="0"/>
              <a:t>29.01.2026</a:t>
            </a:fld>
            <a:endParaRPr lang="pl-PL" dirty="0"/>
          </a:p>
        </p:txBody>
      </p:sp>
      <p:sp>
        <p:nvSpPr>
          <p:cNvPr id="5" name="Symbol zastępczy stopki 4">
            <a:extLst>
              <a:ext uri="{FF2B5EF4-FFF2-40B4-BE49-F238E27FC236}">
                <a16:creationId xmlns:a16="http://schemas.microsoft.com/office/drawing/2014/main" id="{A3ABBD30-CEDC-4ED9-9975-24D73FBD017C}"/>
              </a:ext>
            </a:extLst>
          </p:cNvPr>
          <p:cNvSpPr>
            <a:spLocks noGrp="1"/>
          </p:cNvSpPr>
          <p:nvPr>
            <p:ph type="ftr" sz="quarter" idx="11"/>
          </p:nvPr>
        </p:nvSpPr>
        <p:spPr/>
        <p:txBody>
          <a:bodyPr/>
          <a:lstStyle/>
          <a:p>
            <a:endParaRPr lang="pl-PL" dirty="0"/>
          </a:p>
        </p:txBody>
      </p:sp>
      <p:sp>
        <p:nvSpPr>
          <p:cNvPr id="6" name="Symbol zastępczy numeru slajdu 5">
            <a:extLst>
              <a:ext uri="{FF2B5EF4-FFF2-40B4-BE49-F238E27FC236}">
                <a16:creationId xmlns:a16="http://schemas.microsoft.com/office/drawing/2014/main" id="{BAA2F6DB-79CC-4EF8-ACC9-68778A6D095A}"/>
              </a:ext>
            </a:extLst>
          </p:cNvPr>
          <p:cNvSpPr>
            <a:spLocks noGrp="1"/>
          </p:cNvSpPr>
          <p:nvPr>
            <p:ph type="sldNum" sz="quarter" idx="12"/>
          </p:nvPr>
        </p:nvSpPr>
        <p:spPr/>
        <p:txBody>
          <a:bodyPr/>
          <a:lstStyle/>
          <a:p>
            <a:fld id="{31FE8408-9B39-4718-B64F-54F72D092B1B}" type="slidenum">
              <a:rPr lang="pl-PL" smtClean="0"/>
              <a:t>‹#›</a:t>
            </a:fld>
            <a:endParaRPr lang="pl-PL" dirty="0"/>
          </a:p>
        </p:txBody>
      </p:sp>
    </p:spTree>
    <p:extLst>
      <p:ext uri="{BB962C8B-B14F-4D97-AF65-F5344CB8AC3E}">
        <p14:creationId xmlns:p14="http://schemas.microsoft.com/office/powerpoint/2010/main" val="42428347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879723E-C65F-4E86-BCBD-1C2539786AB5}"/>
              </a:ext>
            </a:extLst>
          </p:cNvPr>
          <p:cNvSpPr>
            <a:spLocks noGrp="1"/>
          </p:cNvSpPr>
          <p:nvPr>
            <p:ph type="title"/>
          </p:nvPr>
        </p:nvSpPr>
        <p:spPr>
          <a:xfrm>
            <a:off x="831850" y="1709738"/>
            <a:ext cx="10515600" cy="2852737"/>
          </a:xfrm>
        </p:spPr>
        <p:txBody>
          <a:bodyPr anchor="b"/>
          <a:lstStyle>
            <a:lvl1pPr>
              <a:defRPr sz="6000"/>
            </a:lvl1pPr>
          </a:lstStyle>
          <a:p>
            <a:r>
              <a:rPr lang="pl-PL"/>
              <a:t>Kliknij, aby edytować styl</a:t>
            </a:r>
          </a:p>
        </p:txBody>
      </p:sp>
      <p:sp>
        <p:nvSpPr>
          <p:cNvPr id="3" name="Symbol zastępczy tekstu 2">
            <a:extLst>
              <a:ext uri="{FF2B5EF4-FFF2-40B4-BE49-F238E27FC236}">
                <a16:creationId xmlns:a16="http://schemas.microsoft.com/office/drawing/2014/main" id="{61CF37FB-D20B-47A7-9718-602C58A7BB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l-PL"/>
              <a:t>Edytuj style wzorca tekstu</a:t>
            </a:r>
          </a:p>
        </p:txBody>
      </p:sp>
      <p:sp>
        <p:nvSpPr>
          <p:cNvPr id="4" name="Symbol zastępczy daty 3">
            <a:extLst>
              <a:ext uri="{FF2B5EF4-FFF2-40B4-BE49-F238E27FC236}">
                <a16:creationId xmlns:a16="http://schemas.microsoft.com/office/drawing/2014/main" id="{49880DEC-3756-486D-875B-E2A9C07934A6}"/>
              </a:ext>
            </a:extLst>
          </p:cNvPr>
          <p:cNvSpPr>
            <a:spLocks noGrp="1"/>
          </p:cNvSpPr>
          <p:nvPr>
            <p:ph type="dt" sz="half" idx="10"/>
          </p:nvPr>
        </p:nvSpPr>
        <p:spPr/>
        <p:txBody>
          <a:bodyPr/>
          <a:lstStyle/>
          <a:p>
            <a:fld id="{E4265D0F-3C46-4B05-AF26-13B3ACB78EA6}" type="datetime1">
              <a:rPr lang="pl-PL" smtClean="0"/>
              <a:t>29.01.2026</a:t>
            </a:fld>
            <a:endParaRPr lang="pl-PL" dirty="0"/>
          </a:p>
        </p:txBody>
      </p:sp>
      <p:sp>
        <p:nvSpPr>
          <p:cNvPr id="5" name="Symbol zastępczy stopki 4">
            <a:extLst>
              <a:ext uri="{FF2B5EF4-FFF2-40B4-BE49-F238E27FC236}">
                <a16:creationId xmlns:a16="http://schemas.microsoft.com/office/drawing/2014/main" id="{F5D03E0B-FF7F-40F1-9194-741283168092}"/>
              </a:ext>
            </a:extLst>
          </p:cNvPr>
          <p:cNvSpPr>
            <a:spLocks noGrp="1"/>
          </p:cNvSpPr>
          <p:nvPr>
            <p:ph type="ftr" sz="quarter" idx="11"/>
          </p:nvPr>
        </p:nvSpPr>
        <p:spPr/>
        <p:txBody>
          <a:bodyPr/>
          <a:lstStyle/>
          <a:p>
            <a:endParaRPr lang="pl-PL" dirty="0"/>
          </a:p>
        </p:txBody>
      </p:sp>
      <p:sp>
        <p:nvSpPr>
          <p:cNvPr id="6" name="Symbol zastępczy numeru slajdu 5">
            <a:extLst>
              <a:ext uri="{FF2B5EF4-FFF2-40B4-BE49-F238E27FC236}">
                <a16:creationId xmlns:a16="http://schemas.microsoft.com/office/drawing/2014/main" id="{CD8DCF35-89E7-47B1-A9DF-5702FA3E2472}"/>
              </a:ext>
            </a:extLst>
          </p:cNvPr>
          <p:cNvSpPr>
            <a:spLocks noGrp="1"/>
          </p:cNvSpPr>
          <p:nvPr>
            <p:ph type="sldNum" sz="quarter" idx="12"/>
          </p:nvPr>
        </p:nvSpPr>
        <p:spPr/>
        <p:txBody>
          <a:bodyPr/>
          <a:lstStyle/>
          <a:p>
            <a:fld id="{31FE8408-9B39-4718-B64F-54F72D092B1B}" type="slidenum">
              <a:rPr lang="pl-PL" smtClean="0"/>
              <a:t>‹#›</a:t>
            </a:fld>
            <a:endParaRPr lang="pl-PL" dirty="0"/>
          </a:p>
        </p:txBody>
      </p:sp>
    </p:spTree>
    <p:extLst>
      <p:ext uri="{BB962C8B-B14F-4D97-AF65-F5344CB8AC3E}">
        <p14:creationId xmlns:p14="http://schemas.microsoft.com/office/powerpoint/2010/main" val="3519118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79E33B3-1454-495C-9A40-B99FD90D96FC}"/>
              </a:ext>
            </a:extLst>
          </p:cNvPr>
          <p:cNvSpPr>
            <a:spLocks noGrp="1"/>
          </p:cNvSpPr>
          <p:nvPr>
            <p:ph type="title"/>
          </p:nvPr>
        </p:nvSpPr>
        <p:spPr/>
        <p:txBody>
          <a:bodyPr/>
          <a:lstStyle/>
          <a:p>
            <a:r>
              <a:rPr lang="pl-PL"/>
              <a:t>Kliknij, aby edytować styl</a:t>
            </a:r>
          </a:p>
        </p:txBody>
      </p:sp>
      <p:sp>
        <p:nvSpPr>
          <p:cNvPr id="3" name="Symbol zastępczy zawartości 2">
            <a:extLst>
              <a:ext uri="{FF2B5EF4-FFF2-40B4-BE49-F238E27FC236}">
                <a16:creationId xmlns:a16="http://schemas.microsoft.com/office/drawing/2014/main" id="{1B1268BD-52D5-4A00-ABD9-5C3043C86638}"/>
              </a:ext>
            </a:extLst>
          </p:cNvPr>
          <p:cNvSpPr>
            <a:spLocks noGrp="1"/>
          </p:cNvSpPr>
          <p:nvPr>
            <p:ph sz="half" idx="1"/>
          </p:nvPr>
        </p:nvSpPr>
        <p:spPr>
          <a:xfrm>
            <a:off x="838200" y="1825625"/>
            <a:ext cx="5181600" cy="435133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zawartości 3">
            <a:extLst>
              <a:ext uri="{FF2B5EF4-FFF2-40B4-BE49-F238E27FC236}">
                <a16:creationId xmlns:a16="http://schemas.microsoft.com/office/drawing/2014/main" id="{8FEAD4CC-FE30-466F-B468-CBB4D770C913}"/>
              </a:ext>
            </a:extLst>
          </p:cNvPr>
          <p:cNvSpPr>
            <a:spLocks noGrp="1"/>
          </p:cNvSpPr>
          <p:nvPr>
            <p:ph sz="half" idx="2"/>
          </p:nvPr>
        </p:nvSpPr>
        <p:spPr>
          <a:xfrm>
            <a:off x="6172200" y="1825625"/>
            <a:ext cx="5181600" cy="435133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daty 4">
            <a:extLst>
              <a:ext uri="{FF2B5EF4-FFF2-40B4-BE49-F238E27FC236}">
                <a16:creationId xmlns:a16="http://schemas.microsoft.com/office/drawing/2014/main" id="{FDF4D395-3B8B-4522-B2B6-574D165A5459}"/>
              </a:ext>
            </a:extLst>
          </p:cNvPr>
          <p:cNvSpPr>
            <a:spLocks noGrp="1"/>
          </p:cNvSpPr>
          <p:nvPr>
            <p:ph type="dt" sz="half" idx="10"/>
          </p:nvPr>
        </p:nvSpPr>
        <p:spPr/>
        <p:txBody>
          <a:bodyPr/>
          <a:lstStyle/>
          <a:p>
            <a:fld id="{5231A27E-D8B2-403A-8D55-F197AD571DDA}" type="datetime1">
              <a:rPr lang="pl-PL" smtClean="0"/>
              <a:t>29.01.2026</a:t>
            </a:fld>
            <a:endParaRPr lang="pl-PL" dirty="0"/>
          </a:p>
        </p:txBody>
      </p:sp>
      <p:sp>
        <p:nvSpPr>
          <p:cNvPr id="6" name="Symbol zastępczy stopki 5">
            <a:extLst>
              <a:ext uri="{FF2B5EF4-FFF2-40B4-BE49-F238E27FC236}">
                <a16:creationId xmlns:a16="http://schemas.microsoft.com/office/drawing/2014/main" id="{551F7EB4-C6FB-42FA-B8CA-9C5944FB4E90}"/>
              </a:ext>
            </a:extLst>
          </p:cNvPr>
          <p:cNvSpPr>
            <a:spLocks noGrp="1"/>
          </p:cNvSpPr>
          <p:nvPr>
            <p:ph type="ftr" sz="quarter" idx="11"/>
          </p:nvPr>
        </p:nvSpPr>
        <p:spPr/>
        <p:txBody>
          <a:bodyPr/>
          <a:lstStyle/>
          <a:p>
            <a:endParaRPr lang="pl-PL" dirty="0"/>
          </a:p>
        </p:txBody>
      </p:sp>
      <p:sp>
        <p:nvSpPr>
          <p:cNvPr id="7" name="Symbol zastępczy numeru slajdu 6">
            <a:extLst>
              <a:ext uri="{FF2B5EF4-FFF2-40B4-BE49-F238E27FC236}">
                <a16:creationId xmlns:a16="http://schemas.microsoft.com/office/drawing/2014/main" id="{3027D136-B322-4E93-8796-2721AF53ECB5}"/>
              </a:ext>
            </a:extLst>
          </p:cNvPr>
          <p:cNvSpPr>
            <a:spLocks noGrp="1"/>
          </p:cNvSpPr>
          <p:nvPr>
            <p:ph type="sldNum" sz="quarter" idx="12"/>
          </p:nvPr>
        </p:nvSpPr>
        <p:spPr/>
        <p:txBody>
          <a:bodyPr/>
          <a:lstStyle/>
          <a:p>
            <a:fld id="{31FE8408-9B39-4718-B64F-54F72D092B1B}" type="slidenum">
              <a:rPr lang="pl-PL" smtClean="0"/>
              <a:t>‹#›</a:t>
            </a:fld>
            <a:endParaRPr lang="pl-PL" dirty="0"/>
          </a:p>
        </p:txBody>
      </p:sp>
    </p:spTree>
    <p:extLst>
      <p:ext uri="{BB962C8B-B14F-4D97-AF65-F5344CB8AC3E}">
        <p14:creationId xmlns:p14="http://schemas.microsoft.com/office/powerpoint/2010/main" val="24857738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1CA14CC-158D-4BAE-A237-B03F7C7F11C1}"/>
              </a:ext>
            </a:extLst>
          </p:cNvPr>
          <p:cNvSpPr>
            <a:spLocks noGrp="1"/>
          </p:cNvSpPr>
          <p:nvPr>
            <p:ph type="title"/>
          </p:nvPr>
        </p:nvSpPr>
        <p:spPr>
          <a:xfrm>
            <a:off x="839788" y="365125"/>
            <a:ext cx="10515600" cy="1325563"/>
          </a:xfrm>
        </p:spPr>
        <p:txBody>
          <a:bodyPr/>
          <a:lstStyle/>
          <a:p>
            <a:r>
              <a:rPr lang="pl-PL"/>
              <a:t>Kliknij, aby edytować styl</a:t>
            </a:r>
          </a:p>
        </p:txBody>
      </p:sp>
      <p:sp>
        <p:nvSpPr>
          <p:cNvPr id="3" name="Symbol zastępczy tekstu 2">
            <a:extLst>
              <a:ext uri="{FF2B5EF4-FFF2-40B4-BE49-F238E27FC236}">
                <a16:creationId xmlns:a16="http://schemas.microsoft.com/office/drawing/2014/main" id="{6E407458-423C-43AF-996F-78D504E95E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4" name="Symbol zastępczy zawartości 3">
            <a:extLst>
              <a:ext uri="{FF2B5EF4-FFF2-40B4-BE49-F238E27FC236}">
                <a16:creationId xmlns:a16="http://schemas.microsoft.com/office/drawing/2014/main" id="{70FEBE64-A079-4B2C-99E1-C715215DB5D9}"/>
              </a:ext>
            </a:extLst>
          </p:cNvPr>
          <p:cNvSpPr>
            <a:spLocks noGrp="1"/>
          </p:cNvSpPr>
          <p:nvPr>
            <p:ph sz="half" idx="2"/>
          </p:nvPr>
        </p:nvSpPr>
        <p:spPr>
          <a:xfrm>
            <a:off x="839788" y="2505075"/>
            <a:ext cx="5157787" cy="368458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5" name="Symbol zastępczy tekstu 4">
            <a:extLst>
              <a:ext uri="{FF2B5EF4-FFF2-40B4-BE49-F238E27FC236}">
                <a16:creationId xmlns:a16="http://schemas.microsoft.com/office/drawing/2014/main" id="{9D855876-4D66-4A86-81AC-F108A80C2B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a:t>Edytuj style wzorca tekstu</a:t>
            </a:r>
          </a:p>
        </p:txBody>
      </p:sp>
      <p:sp>
        <p:nvSpPr>
          <p:cNvPr id="6" name="Symbol zastępczy zawartości 5">
            <a:extLst>
              <a:ext uri="{FF2B5EF4-FFF2-40B4-BE49-F238E27FC236}">
                <a16:creationId xmlns:a16="http://schemas.microsoft.com/office/drawing/2014/main" id="{7C2FE72F-C48A-43A0-8BF3-96B7C3BD30E4}"/>
              </a:ext>
            </a:extLst>
          </p:cNvPr>
          <p:cNvSpPr>
            <a:spLocks noGrp="1"/>
          </p:cNvSpPr>
          <p:nvPr>
            <p:ph sz="quarter" idx="4"/>
          </p:nvPr>
        </p:nvSpPr>
        <p:spPr>
          <a:xfrm>
            <a:off x="6172200" y="2505075"/>
            <a:ext cx="5183188" cy="3684588"/>
          </a:xfrm>
        </p:spPr>
        <p:txBody>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7" name="Symbol zastępczy daty 6">
            <a:extLst>
              <a:ext uri="{FF2B5EF4-FFF2-40B4-BE49-F238E27FC236}">
                <a16:creationId xmlns:a16="http://schemas.microsoft.com/office/drawing/2014/main" id="{304AAFD1-C080-4688-AB05-A9139FE14C2C}"/>
              </a:ext>
            </a:extLst>
          </p:cNvPr>
          <p:cNvSpPr>
            <a:spLocks noGrp="1"/>
          </p:cNvSpPr>
          <p:nvPr>
            <p:ph type="dt" sz="half" idx="10"/>
          </p:nvPr>
        </p:nvSpPr>
        <p:spPr/>
        <p:txBody>
          <a:bodyPr/>
          <a:lstStyle/>
          <a:p>
            <a:fld id="{5D5020A7-DCEC-4125-82EB-F2A38D084093}" type="datetime1">
              <a:rPr lang="pl-PL" smtClean="0"/>
              <a:t>29.01.2026</a:t>
            </a:fld>
            <a:endParaRPr lang="pl-PL" dirty="0"/>
          </a:p>
        </p:txBody>
      </p:sp>
      <p:sp>
        <p:nvSpPr>
          <p:cNvPr id="8" name="Symbol zastępczy stopki 7">
            <a:extLst>
              <a:ext uri="{FF2B5EF4-FFF2-40B4-BE49-F238E27FC236}">
                <a16:creationId xmlns:a16="http://schemas.microsoft.com/office/drawing/2014/main" id="{7139F796-7E52-4FF8-9E69-F7E19D3E4E5F}"/>
              </a:ext>
            </a:extLst>
          </p:cNvPr>
          <p:cNvSpPr>
            <a:spLocks noGrp="1"/>
          </p:cNvSpPr>
          <p:nvPr>
            <p:ph type="ftr" sz="quarter" idx="11"/>
          </p:nvPr>
        </p:nvSpPr>
        <p:spPr/>
        <p:txBody>
          <a:bodyPr/>
          <a:lstStyle/>
          <a:p>
            <a:endParaRPr lang="pl-PL" dirty="0"/>
          </a:p>
        </p:txBody>
      </p:sp>
      <p:sp>
        <p:nvSpPr>
          <p:cNvPr id="9" name="Symbol zastępczy numeru slajdu 8">
            <a:extLst>
              <a:ext uri="{FF2B5EF4-FFF2-40B4-BE49-F238E27FC236}">
                <a16:creationId xmlns:a16="http://schemas.microsoft.com/office/drawing/2014/main" id="{E2030D75-A219-4E2C-AF8F-8C3487BFCB1E}"/>
              </a:ext>
            </a:extLst>
          </p:cNvPr>
          <p:cNvSpPr>
            <a:spLocks noGrp="1"/>
          </p:cNvSpPr>
          <p:nvPr>
            <p:ph type="sldNum" sz="quarter" idx="12"/>
          </p:nvPr>
        </p:nvSpPr>
        <p:spPr/>
        <p:txBody>
          <a:bodyPr/>
          <a:lstStyle/>
          <a:p>
            <a:fld id="{31FE8408-9B39-4718-B64F-54F72D092B1B}" type="slidenum">
              <a:rPr lang="pl-PL" smtClean="0"/>
              <a:t>‹#›</a:t>
            </a:fld>
            <a:endParaRPr lang="pl-PL" dirty="0"/>
          </a:p>
        </p:txBody>
      </p:sp>
    </p:spTree>
    <p:extLst>
      <p:ext uri="{BB962C8B-B14F-4D97-AF65-F5344CB8AC3E}">
        <p14:creationId xmlns:p14="http://schemas.microsoft.com/office/powerpoint/2010/main" val="3796227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C0D2C17-727D-439C-964F-2293EF211D25}"/>
              </a:ext>
            </a:extLst>
          </p:cNvPr>
          <p:cNvSpPr>
            <a:spLocks noGrp="1"/>
          </p:cNvSpPr>
          <p:nvPr>
            <p:ph type="title"/>
          </p:nvPr>
        </p:nvSpPr>
        <p:spPr/>
        <p:txBody>
          <a:bodyPr/>
          <a:lstStyle/>
          <a:p>
            <a:r>
              <a:rPr lang="pl-PL"/>
              <a:t>Kliknij, aby edytować styl</a:t>
            </a:r>
          </a:p>
        </p:txBody>
      </p:sp>
      <p:sp>
        <p:nvSpPr>
          <p:cNvPr id="3" name="Symbol zastępczy daty 2">
            <a:extLst>
              <a:ext uri="{FF2B5EF4-FFF2-40B4-BE49-F238E27FC236}">
                <a16:creationId xmlns:a16="http://schemas.microsoft.com/office/drawing/2014/main" id="{A52331DE-CFA4-48FF-964D-7947A1BEA728}"/>
              </a:ext>
            </a:extLst>
          </p:cNvPr>
          <p:cNvSpPr>
            <a:spLocks noGrp="1"/>
          </p:cNvSpPr>
          <p:nvPr>
            <p:ph type="dt" sz="half" idx="10"/>
          </p:nvPr>
        </p:nvSpPr>
        <p:spPr/>
        <p:txBody>
          <a:bodyPr/>
          <a:lstStyle/>
          <a:p>
            <a:fld id="{D7AE735B-3DFD-4A17-9401-388526533C38}" type="datetime1">
              <a:rPr lang="pl-PL" smtClean="0"/>
              <a:t>29.01.2026</a:t>
            </a:fld>
            <a:endParaRPr lang="pl-PL" dirty="0"/>
          </a:p>
        </p:txBody>
      </p:sp>
      <p:sp>
        <p:nvSpPr>
          <p:cNvPr id="4" name="Symbol zastępczy stopki 3">
            <a:extLst>
              <a:ext uri="{FF2B5EF4-FFF2-40B4-BE49-F238E27FC236}">
                <a16:creationId xmlns:a16="http://schemas.microsoft.com/office/drawing/2014/main" id="{E3C6777F-FBB3-4869-BAB6-661FE178A437}"/>
              </a:ext>
            </a:extLst>
          </p:cNvPr>
          <p:cNvSpPr>
            <a:spLocks noGrp="1"/>
          </p:cNvSpPr>
          <p:nvPr>
            <p:ph type="ftr" sz="quarter" idx="11"/>
          </p:nvPr>
        </p:nvSpPr>
        <p:spPr/>
        <p:txBody>
          <a:bodyPr/>
          <a:lstStyle/>
          <a:p>
            <a:endParaRPr lang="pl-PL" dirty="0"/>
          </a:p>
        </p:txBody>
      </p:sp>
      <p:sp>
        <p:nvSpPr>
          <p:cNvPr id="5" name="Symbol zastępczy numeru slajdu 4">
            <a:extLst>
              <a:ext uri="{FF2B5EF4-FFF2-40B4-BE49-F238E27FC236}">
                <a16:creationId xmlns:a16="http://schemas.microsoft.com/office/drawing/2014/main" id="{27A61F42-B597-470D-8471-EA3C19A302DE}"/>
              </a:ext>
            </a:extLst>
          </p:cNvPr>
          <p:cNvSpPr>
            <a:spLocks noGrp="1"/>
          </p:cNvSpPr>
          <p:nvPr>
            <p:ph type="sldNum" sz="quarter" idx="12"/>
          </p:nvPr>
        </p:nvSpPr>
        <p:spPr/>
        <p:txBody>
          <a:bodyPr/>
          <a:lstStyle/>
          <a:p>
            <a:fld id="{31FE8408-9B39-4718-B64F-54F72D092B1B}" type="slidenum">
              <a:rPr lang="pl-PL" smtClean="0"/>
              <a:t>‹#›</a:t>
            </a:fld>
            <a:endParaRPr lang="pl-PL" dirty="0"/>
          </a:p>
        </p:txBody>
      </p:sp>
    </p:spTree>
    <p:extLst>
      <p:ext uri="{BB962C8B-B14F-4D97-AF65-F5344CB8AC3E}">
        <p14:creationId xmlns:p14="http://schemas.microsoft.com/office/powerpoint/2010/main" val="2281904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Symbol zastępczy daty 1">
            <a:extLst>
              <a:ext uri="{FF2B5EF4-FFF2-40B4-BE49-F238E27FC236}">
                <a16:creationId xmlns:a16="http://schemas.microsoft.com/office/drawing/2014/main" id="{8E5E0E95-CB01-4FFA-8E60-78958CD6726C}"/>
              </a:ext>
            </a:extLst>
          </p:cNvPr>
          <p:cNvSpPr>
            <a:spLocks noGrp="1"/>
          </p:cNvSpPr>
          <p:nvPr>
            <p:ph type="dt" sz="half" idx="10"/>
          </p:nvPr>
        </p:nvSpPr>
        <p:spPr/>
        <p:txBody>
          <a:bodyPr/>
          <a:lstStyle/>
          <a:p>
            <a:fld id="{1912AC82-BD09-401B-83CD-6D096058E887}" type="datetime1">
              <a:rPr lang="pl-PL" smtClean="0"/>
              <a:t>29.01.2026</a:t>
            </a:fld>
            <a:endParaRPr lang="pl-PL" dirty="0"/>
          </a:p>
        </p:txBody>
      </p:sp>
      <p:sp>
        <p:nvSpPr>
          <p:cNvPr id="3" name="Symbol zastępczy stopki 2">
            <a:extLst>
              <a:ext uri="{FF2B5EF4-FFF2-40B4-BE49-F238E27FC236}">
                <a16:creationId xmlns:a16="http://schemas.microsoft.com/office/drawing/2014/main" id="{8CF2977F-9DD2-4040-99B5-0E6CE9175E6F}"/>
              </a:ext>
            </a:extLst>
          </p:cNvPr>
          <p:cNvSpPr>
            <a:spLocks noGrp="1"/>
          </p:cNvSpPr>
          <p:nvPr>
            <p:ph type="ftr" sz="quarter" idx="11"/>
          </p:nvPr>
        </p:nvSpPr>
        <p:spPr/>
        <p:txBody>
          <a:bodyPr/>
          <a:lstStyle/>
          <a:p>
            <a:endParaRPr lang="pl-PL" dirty="0"/>
          </a:p>
        </p:txBody>
      </p:sp>
      <p:sp>
        <p:nvSpPr>
          <p:cNvPr id="4" name="Symbol zastępczy numeru slajdu 3">
            <a:extLst>
              <a:ext uri="{FF2B5EF4-FFF2-40B4-BE49-F238E27FC236}">
                <a16:creationId xmlns:a16="http://schemas.microsoft.com/office/drawing/2014/main" id="{A2EE77E8-FC63-400C-A4A0-5BF07B3E22AB}"/>
              </a:ext>
            </a:extLst>
          </p:cNvPr>
          <p:cNvSpPr>
            <a:spLocks noGrp="1"/>
          </p:cNvSpPr>
          <p:nvPr>
            <p:ph type="sldNum" sz="quarter" idx="12"/>
          </p:nvPr>
        </p:nvSpPr>
        <p:spPr/>
        <p:txBody>
          <a:bodyPr/>
          <a:lstStyle/>
          <a:p>
            <a:fld id="{31FE8408-9B39-4718-B64F-54F72D092B1B}" type="slidenum">
              <a:rPr lang="pl-PL" smtClean="0"/>
              <a:t>‹#›</a:t>
            </a:fld>
            <a:endParaRPr lang="pl-PL" dirty="0"/>
          </a:p>
        </p:txBody>
      </p:sp>
    </p:spTree>
    <p:extLst>
      <p:ext uri="{BB962C8B-B14F-4D97-AF65-F5344CB8AC3E}">
        <p14:creationId xmlns:p14="http://schemas.microsoft.com/office/powerpoint/2010/main" val="10500549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Zawartość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782EA13-EC81-4035-9EB4-DDD8F9FC5015}"/>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zawartości 2">
            <a:extLst>
              <a:ext uri="{FF2B5EF4-FFF2-40B4-BE49-F238E27FC236}">
                <a16:creationId xmlns:a16="http://schemas.microsoft.com/office/drawing/2014/main" id="{86E2BDB8-2B89-4986-915B-744B294339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tekstu 3">
            <a:extLst>
              <a:ext uri="{FF2B5EF4-FFF2-40B4-BE49-F238E27FC236}">
                <a16:creationId xmlns:a16="http://schemas.microsoft.com/office/drawing/2014/main" id="{5404A86B-0201-4C91-AE38-E9CB8DA915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Edytuj style wzorca tekstu</a:t>
            </a:r>
          </a:p>
        </p:txBody>
      </p:sp>
      <p:sp>
        <p:nvSpPr>
          <p:cNvPr id="5" name="Symbol zastępczy daty 4">
            <a:extLst>
              <a:ext uri="{FF2B5EF4-FFF2-40B4-BE49-F238E27FC236}">
                <a16:creationId xmlns:a16="http://schemas.microsoft.com/office/drawing/2014/main" id="{6D498912-C89A-452E-B67E-A7451E6F11E9}"/>
              </a:ext>
            </a:extLst>
          </p:cNvPr>
          <p:cNvSpPr>
            <a:spLocks noGrp="1"/>
          </p:cNvSpPr>
          <p:nvPr>
            <p:ph type="dt" sz="half" idx="10"/>
          </p:nvPr>
        </p:nvSpPr>
        <p:spPr/>
        <p:txBody>
          <a:bodyPr/>
          <a:lstStyle/>
          <a:p>
            <a:fld id="{4753B726-2BD0-4399-95EF-02AE2AA11030}" type="datetime1">
              <a:rPr lang="pl-PL" smtClean="0"/>
              <a:t>29.01.2026</a:t>
            </a:fld>
            <a:endParaRPr lang="pl-PL" dirty="0"/>
          </a:p>
        </p:txBody>
      </p:sp>
      <p:sp>
        <p:nvSpPr>
          <p:cNvPr id="6" name="Symbol zastępczy stopki 5">
            <a:extLst>
              <a:ext uri="{FF2B5EF4-FFF2-40B4-BE49-F238E27FC236}">
                <a16:creationId xmlns:a16="http://schemas.microsoft.com/office/drawing/2014/main" id="{ACE62546-6C34-401C-A643-ACCE5773FD8E}"/>
              </a:ext>
            </a:extLst>
          </p:cNvPr>
          <p:cNvSpPr>
            <a:spLocks noGrp="1"/>
          </p:cNvSpPr>
          <p:nvPr>
            <p:ph type="ftr" sz="quarter" idx="11"/>
          </p:nvPr>
        </p:nvSpPr>
        <p:spPr/>
        <p:txBody>
          <a:bodyPr/>
          <a:lstStyle/>
          <a:p>
            <a:endParaRPr lang="pl-PL" dirty="0"/>
          </a:p>
        </p:txBody>
      </p:sp>
      <p:sp>
        <p:nvSpPr>
          <p:cNvPr id="7" name="Symbol zastępczy numeru slajdu 6">
            <a:extLst>
              <a:ext uri="{FF2B5EF4-FFF2-40B4-BE49-F238E27FC236}">
                <a16:creationId xmlns:a16="http://schemas.microsoft.com/office/drawing/2014/main" id="{B9665810-81F1-4165-8A3B-177EB71F4D2E}"/>
              </a:ext>
            </a:extLst>
          </p:cNvPr>
          <p:cNvSpPr>
            <a:spLocks noGrp="1"/>
          </p:cNvSpPr>
          <p:nvPr>
            <p:ph type="sldNum" sz="quarter" idx="12"/>
          </p:nvPr>
        </p:nvSpPr>
        <p:spPr/>
        <p:txBody>
          <a:bodyPr/>
          <a:lstStyle/>
          <a:p>
            <a:fld id="{31FE8408-9B39-4718-B64F-54F72D092B1B}" type="slidenum">
              <a:rPr lang="pl-PL" smtClean="0"/>
              <a:t>‹#›</a:t>
            </a:fld>
            <a:endParaRPr lang="pl-PL" dirty="0"/>
          </a:p>
        </p:txBody>
      </p:sp>
    </p:spTree>
    <p:extLst>
      <p:ext uri="{BB962C8B-B14F-4D97-AF65-F5344CB8AC3E}">
        <p14:creationId xmlns:p14="http://schemas.microsoft.com/office/powerpoint/2010/main" val="8367466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az z podpisem">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84BFBA00-358E-4820-91B4-A94DD309D849}"/>
              </a:ext>
            </a:extLst>
          </p:cNvPr>
          <p:cNvSpPr>
            <a:spLocks noGrp="1"/>
          </p:cNvSpPr>
          <p:nvPr>
            <p:ph type="title"/>
          </p:nvPr>
        </p:nvSpPr>
        <p:spPr>
          <a:xfrm>
            <a:off x="839788" y="457200"/>
            <a:ext cx="3932237" cy="1600200"/>
          </a:xfrm>
        </p:spPr>
        <p:txBody>
          <a:bodyPr anchor="b"/>
          <a:lstStyle>
            <a:lvl1pPr>
              <a:defRPr sz="3200"/>
            </a:lvl1pPr>
          </a:lstStyle>
          <a:p>
            <a:r>
              <a:rPr lang="pl-PL"/>
              <a:t>Kliknij, aby edytować styl</a:t>
            </a:r>
          </a:p>
        </p:txBody>
      </p:sp>
      <p:sp>
        <p:nvSpPr>
          <p:cNvPr id="3" name="Symbol zastępczy obrazu 2">
            <a:extLst>
              <a:ext uri="{FF2B5EF4-FFF2-40B4-BE49-F238E27FC236}">
                <a16:creationId xmlns:a16="http://schemas.microsoft.com/office/drawing/2014/main" id="{0441D129-2979-4FCD-93E5-41843A4410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l-PL" dirty="0"/>
          </a:p>
        </p:txBody>
      </p:sp>
      <p:sp>
        <p:nvSpPr>
          <p:cNvPr id="4" name="Symbol zastępczy tekstu 3">
            <a:extLst>
              <a:ext uri="{FF2B5EF4-FFF2-40B4-BE49-F238E27FC236}">
                <a16:creationId xmlns:a16="http://schemas.microsoft.com/office/drawing/2014/main" id="{3DFC4267-28A7-4AB2-9DA6-645ED5F845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l-PL"/>
              <a:t>Edytuj style wzorca tekstu</a:t>
            </a:r>
          </a:p>
        </p:txBody>
      </p:sp>
      <p:sp>
        <p:nvSpPr>
          <p:cNvPr id="5" name="Symbol zastępczy daty 4">
            <a:extLst>
              <a:ext uri="{FF2B5EF4-FFF2-40B4-BE49-F238E27FC236}">
                <a16:creationId xmlns:a16="http://schemas.microsoft.com/office/drawing/2014/main" id="{D69BB4FC-5E15-4ADE-A366-33C33F66C559}"/>
              </a:ext>
            </a:extLst>
          </p:cNvPr>
          <p:cNvSpPr>
            <a:spLocks noGrp="1"/>
          </p:cNvSpPr>
          <p:nvPr>
            <p:ph type="dt" sz="half" idx="10"/>
          </p:nvPr>
        </p:nvSpPr>
        <p:spPr/>
        <p:txBody>
          <a:bodyPr/>
          <a:lstStyle/>
          <a:p>
            <a:fld id="{2E8850BA-855A-4215-876D-199B49E09D67}" type="datetime1">
              <a:rPr lang="pl-PL" smtClean="0"/>
              <a:t>29.01.2026</a:t>
            </a:fld>
            <a:endParaRPr lang="pl-PL" dirty="0"/>
          </a:p>
        </p:txBody>
      </p:sp>
      <p:sp>
        <p:nvSpPr>
          <p:cNvPr id="6" name="Symbol zastępczy stopki 5">
            <a:extLst>
              <a:ext uri="{FF2B5EF4-FFF2-40B4-BE49-F238E27FC236}">
                <a16:creationId xmlns:a16="http://schemas.microsoft.com/office/drawing/2014/main" id="{26EFD8B9-FF85-4E94-B24E-4DBC4D7C3164}"/>
              </a:ext>
            </a:extLst>
          </p:cNvPr>
          <p:cNvSpPr>
            <a:spLocks noGrp="1"/>
          </p:cNvSpPr>
          <p:nvPr>
            <p:ph type="ftr" sz="quarter" idx="11"/>
          </p:nvPr>
        </p:nvSpPr>
        <p:spPr/>
        <p:txBody>
          <a:bodyPr/>
          <a:lstStyle/>
          <a:p>
            <a:endParaRPr lang="pl-PL" dirty="0"/>
          </a:p>
        </p:txBody>
      </p:sp>
      <p:sp>
        <p:nvSpPr>
          <p:cNvPr id="7" name="Symbol zastępczy numeru slajdu 6">
            <a:extLst>
              <a:ext uri="{FF2B5EF4-FFF2-40B4-BE49-F238E27FC236}">
                <a16:creationId xmlns:a16="http://schemas.microsoft.com/office/drawing/2014/main" id="{08FE054E-FF52-43A7-8B45-6678B159A4A5}"/>
              </a:ext>
            </a:extLst>
          </p:cNvPr>
          <p:cNvSpPr>
            <a:spLocks noGrp="1"/>
          </p:cNvSpPr>
          <p:nvPr>
            <p:ph type="sldNum" sz="quarter" idx="12"/>
          </p:nvPr>
        </p:nvSpPr>
        <p:spPr/>
        <p:txBody>
          <a:bodyPr/>
          <a:lstStyle/>
          <a:p>
            <a:fld id="{31FE8408-9B39-4718-B64F-54F72D092B1B}" type="slidenum">
              <a:rPr lang="pl-PL" smtClean="0"/>
              <a:t>‹#›</a:t>
            </a:fld>
            <a:endParaRPr lang="pl-PL" dirty="0"/>
          </a:p>
        </p:txBody>
      </p:sp>
    </p:spTree>
    <p:extLst>
      <p:ext uri="{BB962C8B-B14F-4D97-AF65-F5344CB8AC3E}">
        <p14:creationId xmlns:p14="http://schemas.microsoft.com/office/powerpoint/2010/main" val="2820280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54291BC-4281-4D0F-A8B2-4579DA5DDE79}"/>
              </a:ext>
            </a:extLst>
          </p:cNvPr>
          <p:cNvSpPr>
            <a:spLocks noGrp="1"/>
          </p:cNvSpPr>
          <p:nvPr>
            <p:ph type="title"/>
          </p:nvPr>
        </p:nvSpPr>
        <p:spPr/>
        <p:txBody>
          <a:bodyPr/>
          <a:lstStyle/>
          <a:p>
            <a:r>
              <a:rPr lang="pl-PL"/>
              <a:t>Kliknij, aby edytować styl</a:t>
            </a:r>
          </a:p>
        </p:txBody>
      </p:sp>
      <p:sp>
        <p:nvSpPr>
          <p:cNvPr id="3" name="Symbol zastępczy tytułu pionowego 2">
            <a:extLst>
              <a:ext uri="{FF2B5EF4-FFF2-40B4-BE49-F238E27FC236}">
                <a16:creationId xmlns:a16="http://schemas.microsoft.com/office/drawing/2014/main" id="{E38A3149-BB3C-4E42-BEF1-D703BFE542E1}"/>
              </a:ext>
            </a:extLst>
          </p:cNvPr>
          <p:cNvSpPr>
            <a:spLocks noGrp="1"/>
          </p:cNvSpPr>
          <p:nvPr>
            <p:ph type="body" orient="vert" idx="1"/>
          </p:nvPr>
        </p:nvSpPr>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9BB09F85-ACD2-4191-A389-982E158ED6A3}"/>
              </a:ext>
            </a:extLst>
          </p:cNvPr>
          <p:cNvSpPr>
            <a:spLocks noGrp="1"/>
          </p:cNvSpPr>
          <p:nvPr>
            <p:ph type="dt" sz="half" idx="10"/>
          </p:nvPr>
        </p:nvSpPr>
        <p:spPr/>
        <p:txBody>
          <a:bodyPr/>
          <a:lstStyle/>
          <a:p>
            <a:fld id="{F44CFE28-4124-4EC6-AE4C-C06A182B2391}" type="datetime1">
              <a:rPr lang="pl-PL" smtClean="0"/>
              <a:t>29.01.2026</a:t>
            </a:fld>
            <a:endParaRPr lang="pl-PL" dirty="0"/>
          </a:p>
        </p:txBody>
      </p:sp>
      <p:sp>
        <p:nvSpPr>
          <p:cNvPr id="5" name="Symbol zastępczy stopki 4">
            <a:extLst>
              <a:ext uri="{FF2B5EF4-FFF2-40B4-BE49-F238E27FC236}">
                <a16:creationId xmlns:a16="http://schemas.microsoft.com/office/drawing/2014/main" id="{8D0ECB19-85CE-4969-840A-78D883665F90}"/>
              </a:ext>
            </a:extLst>
          </p:cNvPr>
          <p:cNvSpPr>
            <a:spLocks noGrp="1"/>
          </p:cNvSpPr>
          <p:nvPr>
            <p:ph type="ftr" sz="quarter" idx="11"/>
          </p:nvPr>
        </p:nvSpPr>
        <p:spPr/>
        <p:txBody>
          <a:bodyPr/>
          <a:lstStyle/>
          <a:p>
            <a:endParaRPr lang="pl-PL" dirty="0"/>
          </a:p>
        </p:txBody>
      </p:sp>
      <p:sp>
        <p:nvSpPr>
          <p:cNvPr id="6" name="Symbol zastępczy numeru slajdu 5">
            <a:extLst>
              <a:ext uri="{FF2B5EF4-FFF2-40B4-BE49-F238E27FC236}">
                <a16:creationId xmlns:a16="http://schemas.microsoft.com/office/drawing/2014/main" id="{1D1655E5-5AD7-4C6A-9161-C5C015B3AB71}"/>
              </a:ext>
            </a:extLst>
          </p:cNvPr>
          <p:cNvSpPr>
            <a:spLocks noGrp="1"/>
          </p:cNvSpPr>
          <p:nvPr>
            <p:ph type="sldNum" sz="quarter" idx="12"/>
          </p:nvPr>
        </p:nvSpPr>
        <p:spPr/>
        <p:txBody>
          <a:bodyPr/>
          <a:lstStyle/>
          <a:p>
            <a:fld id="{31FE8408-9B39-4718-B64F-54F72D092B1B}" type="slidenum">
              <a:rPr lang="pl-PL" smtClean="0"/>
              <a:t>‹#›</a:t>
            </a:fld>
            <a:endParaRPr lang="pl-PL" dirty="0"/>
          </a:p>
        </p:txBody>
      </p:sp>
    </p:spTree>
    <p:extLst>
      <p:ext uri="{BB962C8B-B14F-4D97-AF65-F5344CB8AC3E}">
        <p14:creationId xmlns:p14="http://schemas.microsoft.com/office/powerpoint/2010/main" val="2704723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Tytuł pionowy 1">
            <a:extLst>
              <a:ext uri="{FF2B5EF4-FFF2-40B4-BE49-F238E27FC236}">
                <a16:creationId xmlns:a16="http://schemas.microsoft.com/office/drawing/2014/main" id="{2ED98FDC-9021-4847-A676-3EAEC4FF0EFC}"/>
              </a:ext>
            </a:extLst>
          </p:cNvPr>
          <p:cNvSpPr>
            <a:spLocks noGrp="1"/>
          </p:cNvSpPr>
          <p:nvPr>
            <p:ph type="title" orient="vert"/>
          </p:nvPr>
        </p:nvSpPr>
        <p:spPr>
          <a:xfrm>
            <a:off x="8724900" y="365125"/>
            <a:ext cx="2628900" cy="5811838"/>
          </a:xfrm>
        </p:spPr>
        <p:txBody>
          <a:bodyPr vert="eaVert"/>
          <a:lstStyle/>
          <a:p>
            <a:r>
              <a:rPr lang="pl-PL"/>
              <a:t>Kliknij, aby edytować styl</a:t>
            </a:r>
          </a:p>
        </p:txBody>
      </p:sp>
      <p:sp>
        <p:nvSpPr>
          <p:cNvPr id="3" name="Symbol zastępczy tytułu pionowego 2">
            <a:extLst>
              <a:ext uri="{FF2B5EF4-FFF2-40B4-BE49-F238E27FC236}">
                <a16:creationId xmlns:a16="http://schemas.microsoft.com/office/drawing/2014/main" id="{2ABEFE7A-2FB6-4876-9A11-1A35F0A58AB5}"/>
              </a:ext>
            </a:extLst>
          </p:cNvPr>
          <p:cNvSpPr>
            <a:spLocks noGrp="1"/>
          </p:cNvSpPr>
          <p:nvPr>
            <p:ph type="body" orient="vert" idx="1"/>
          </p:nvPr>
        </p:nvSpPr>
        <p:spPr>
          <a:xfrm>
            <a:off x="838200" y="365125"/>
            <a:ext cx="7734300" cy="5811838"/>
          </a:xfrm>
        </p:spPr>
        <p:txBody>
          <a:bodyPr vert="eaVert"/>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7733C4AB-59AC-4CB7-B639-1D91424E0453}"/>
              </a:ext>
            </a:extLst>
          </p:cNvPr>
          <p:cNvSpPr>
            <a:spLocks noGrp="1"/>
          </p:cNvSpPr>
          <p:nvPr>
            <p:ph type="dt" sz="half" idx="10"/>
          </p:nvPr>
        </p:nvSpPr>
        <p:spPr/>
        <p:txBody>
          <a:bodyPr/>
          <a:lstStyle/>
          <a:p>
            <a:fld id="{A337904F-563C-40E7-A011-5F7C553F9120}" type="datetime1">
              <a:rPr lang="pl-PL" smtClean="0"/>
              <a:t>29.01.2026</a:t>
            </a:fld>
            <a:endParaRPr lang="pl-PL" dirty="0"/>
          </a:p>
        </p:txBody>
      </p:sp>
      <p:sp>
        <p:nvSpPr>
          <p:cNvPr id="5" name="Symbol zastępczy stopki 4">
            <a:extLst>
              <a:ext uri="{FF2B5EF4-FFF2-40B4-BE49-F238E27FC236}">
                <a16:creationId xmlns:a16="http://schemas.microsoft.com/office/drawing/2014/main" id="{66C5CAE5-2A65-4764-8CCC-35682CDB4728}"/>
              </a:ext>
            </a:extLst>
          </p:cNvPr>
          <p:cNvSpPr>
            <a:spLocks noGrp="1"/>
          </p:cNvSpPr>
          <p:nvPr>
            <p:ph type="ftr" sz="quarter" idx="11"/>
          </p:nvPr>
        </p:nvSpPr>
        <p:spPr/>
        <p:txBody>
          <a:bodyPr/>
          <a:lstStyle/>
          <a:p>
            <a:endParaRPr lang="pl-PL" dirty="0"/>
          </a:p>
        </p:txBody>
      </p:sp>
      <p:sp>
        <p:nvSpPr>
          <p:cNvPr id="6" name="Symbol zastępczy numeru slajdu 5">
            <a:extLst>
              <a:ext uri="{FF2B5EF4-FFF2-40B4-BE49-F238E27FC236}">
                <a16:creationId xmlns:a16="http://schemas.microsoft.com/office/drawing/2014/main" id="{DCF4AE3D-68C2-4548-B065-41AA383BD06E}"/>
              </a:ext>
            </a:extLst>
          </p:cNvPr>
          <p:cNvSpPr>
            <a:spLocks noGrp="1"/>
          </p:cNvSpPr>
          <p:nvPr>
            <p:ph type="sldNum" sz="quarter" idx="12"/>
          </p:nvPr>
        </p:nvSpPr>
        <p:spPr/>
        <p:txBody>
          <a:bodyPr/>
          <a:lstStyle/>
          <a:p>
            <a:fld id="{31FE8408-9B39-4718-B64F-54F72D092B1B}" type="slidenum">
              <a:rPr lang="pl-PL" smtClean="0"/>
              <a:t>‹#›</a:t>
            </a:fld>
            <a:endParaRPr lang="pl-PL" dirty="0"/>
          </a:p>
        </p:txBody>
      </p:sp>
    </p:spTree>
    <p:extLst>
      <p:ext uri="{BB962C8B-B14F-4D97-AF65-F5344CB8AC3E}">
        <p14:creationId xmlns:p14="http://schemas.microsoft.com/office/powerpoint/2010/main" val="790666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ymbol zastępczy tytułu 1">
            <a:extLst>
              <a:ext uri="{FF2B5EF4-FFF2-40B4-BE49-F238E27FC236}">
                <a16:creationId xmlns:a16="http://schemas.microsoft.com/office/drawing/2014/main" id="{74EA254C-D8E8-4F58-ADFB-D8006D6CD6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l-PL"/>
              <a:t>Kliknij, aby edytować styl</a:t>
            </a:r>
          </a:p>
        </p:txBody>
      </p:sp>
      <p:sp>
        <p:nvSpPr>
          <p:cNvPr id="3" name="Symbol zastępczy tekstu 2">
            <a:extLst>
              <a:ext uri="{FF2B5EF4-FFF2-40B4-BE49-F238E27FC236}">
                <a16:creationId xmlns:a16="http://schemas.microsoft.com/office/drawing/2014/main" id="{73F21E64-89BA-4A28-8EDA-445692776D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l-PL"/>
              <a:t>Edytuj style wzorca tekstu</a:t>
            </a:r>
          </a:p>
          <a:p>
            <a:pPr lvl="1"/>
            <a:r>
              <a:rPr lang="pl-PL"/>
              <a:t>Drugi poziom</a:t>
            </a:r>
          </a:p>
          <a:p>
            <a:pPr lvl="2"/>
            <a:r>
              <a:rPr lang="pl-PL"/>
              <a:t>Trzeci poziom</a:t>
            </a:r>
          </a:p>
          <a:p>
            <a:pPr lvl="3"/>
            <a:r>
              <a:rPr lang="pl-PL"/>
              <a:t>Czwarty poziom</a:t>
            </a:r>
          </a:p>
          <a:p>
            <a:pPr lvl="4"/>
            <a:r>
              <a:rPr lang="pl-PL"/>
              <a:t>Piąty poziom</a:t>
            </a:r>
          </a:p>
        </p:txBody>
      </p:sp>
      <p:sp>
        <p:nvSpPr>
          <p:cNvPr id="4" name="Symbol zastępczy daty 3">
            <a:extLst>
              <a:ext uri="{FF2B5EF4-FFF2-40B4-BE49-F238E27FC236}">
                <a16:creationId xmlns:a16="http://schemas.microsoft.com/office/drawing/2014/main" id="{FDF8011B-BAB5-4645-BD07-274106155B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E4FD28-7CCE-4121-8A28-68507B2DFCED}" type="datetime1">
              <a:rPr lang="pl-PL" smtClean="0"/>
              <a:t>29.01.2026</a:t>
            </a:fld>
            <a:endParaRPr lang="pl-PL" dirty="0"/>
          </a:p>
        </p:txBody>
      </p:sp>
      <p:sp>
        <p:nvSpPr>
          <p:cNvPr id="5" name="Symbol zastępczy stopki 4">
            <a:extLst>
              <a:ext uri="{FF2B5EF4-FFF2-40B4-BE49-F238E27FC236}">
                <a16:creationId xmlns:a16="http://schemas.microsoft.com/office/drawing/2014/main" id="{18FC46FF-7988-4B26-A988-8BD0F1C756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l-PL" dirty="0"/>
          </a:p>
        </p:txBody>
      </p:sp>
      <p:sp>
        <p:nvSpPr>
          <p:cNvPr id="6" name="Symbol zastępczy numeru slajdu 5">
            <a:extLst>
              <a:ext uri="{FF2B5EF4-FFF2-40B4-BE49-F238E27FC236}">
                <a16:creationId xmlns:a16="http://schemas.microsoft.com/office/drawing/2014/main" id="{396E5E89-3984-456D-9D62-21E54C3B8D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FE8408-9B39-4718-B64F-54F72D092B1B}" type="slidenum">
              <a:rPr lang="pl-PL" smtClean="0"/>
              <a:t>‹#›</a:t>
            </a:fld>
            <a:endParaRPr lang="pl-PL" dirty="0"/>
          </a:p>
        </p:txBody>
      </p:sp>
    </p:spTree>
    <p:extLst>
      <p:ext uri="{BB962C8B-B14F-4D97-AF65-F5344CB8AC3E}">
        <p14:creationId xmlns:p14="http://schemas.microsoft.com/office/powerpoint/2010/main" val="31541379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0428555-92AE-4F6E-8F34-721B184632FC}"/>
              </a:ext>
            </a:extLst>
          </p:cNvPr>
          <p:cNvSpPr>
            <a:spLocks noGrp="1"/>
          </p:cNvSpPr>
          <p:nvPr>
            <p:ph type="ctrTitle"/>
          </p:nvPr>
        </p:nvSpPr>
        <p:spPr/>
        <p:txBody>
          <a:bodyPr>
            <a:normAutofit fontScale="90000"/>
          </a:bodyPr>
          <a:lstStyle/>
          <a:p>
            <a:r>
              <a:rPr lang="pl-PL" sz="3600" dirty="0" err="1">
                <a:solidFill>
                  <a:srgbClr val="FF0000"/>
                </a:solidFill>
                <a:effectLst>
                  <a:outerShdw blurRad="38100" dist="38100" dir="2700000" algn="tl">
                    <a:srgbClr val="000000">
                      <a:alpha val="43137"/>
                    </a:srgbClr>
                  </a:outerShdw>
                </a:effectLst>
                <a:latin typeface="Arial Black" panose="020B0A04020102020204" pitchFamily="34" charset="0"/>
              </a:rPr>
              <a:t>Labour</a:t>
            </a:r>
            <a:r>
              <a:rPr lang="pl-PL" sz="3600" dirty="0">
                <a:solidFill>
                  <a:srgbClr val="FF0000"/>
                </a:solidFill>
                <a:effectLst>
                  <a:outerShdw blurRad="38100" dist="38100" dir="2700000" algn="tl">
                    <a:srgbClr val="000000">
                      <a:alpha val="43137"/>
                    </a:srgbClr>
                  </a:outerShdw>
                </a:effectLst>
                <a:latin typeface="Arial Black" panose="020B0A04020102020204" pitchFamily="34" charset="0"/>
              </a:rPr>
              <a:t> and </a:t>
            </a:r>
            <a:r>
              <a:rPr lang="pl-PL" sz="3600" dirty="0" err="1">
                <a:solidFill>
                  <a:srgbClr val="FF0000"/>
                </a:solidFill>
                <a:effectLst>
                  <a:outerShdw blurRad="38100" dist="38100" dir="2700000" algn="tl">
                    <a:srgbClr val="000000">
                      <a:alpha val="43137"/>
                    </a:srgbClr>
                  </a:outerShdw>
                </a:effectLst>
                <a:latin typeface="Arial Black" panose="020B0A04020102020204" pitchFamily="34" charset="0"/>
              </a:rPr>
              <a:t>licensing</a:t>
            </a:r>
            <a:r>
              <a:rPr lang="pl-PL" sz="3600" dirty="0">
                <a:solidFill>
                  <a:srgbClr val="FF0000"/>
                </a:solidFill>
                <a:effectLst>
                  <a:outerShdw blurRad="38100" dist="38100" dir="2700000" algn="tl">
                    <a:srgbClr val="000000">
                      <a:alpha val="43137"/>
                    </a:srgbClr>
                  </a:outerShdw>
                </a:effectLst>
                <a:latin typeface="Arial Black" panose="020B0A04020102020204" pitchFamily="34" charset="0"/>
              </a:rPr>
              <a:t> </a:t>
            </a:r>
            <a:r>
              <a:rPr lang="pl-PL" sz="3600" dirty="0" err="1">
                <a:solidFill>
                  <a:srgbClr val="FF0000"/>
                </a:solidFill>
                <a:effectLst>
                  <a:outerShdw blurRad="38100" dist="38100" dir="2700000" algn="tl">
                    <a:srgbClr val="000000">
                      <a:alpha val="43137"/>
                    </a:srgbClr>
                  </a:outerShdw>
                </a:effectLst>
                <a:latin typeface="Arial Black" panose="020B0A04020102020204" pitchFamily="34" charset="0"/>
              </a:rPr>
              <a:t>issues</a:t>
            </a:r>
            <a:r>
              <a:rPr lang="pl-PL" sz="3600" dirty="0">
                <a:solidFill>
                  <a:srgbClr val="FF0000"/>
                </a:solidFill>
                <a:effectLst>
                  <a:outerShdw blurRad="38100" dist="38100" dir="2700000" algn="tl">
                    <a:srgbClr val="000000">
                      <a:alpha val="43137"/>
                    </a:srgbClr>
                  </a:outerShdw>
                </a:effectLst>
                <a:latin typeface="Arial Black" panose="020B0A04020102020204" pitchFamily="34" charset="0"/>
              </a:rPr>
              <a:t> in the </a:t>
            </a:r>
            <a:r>
              <a:rPr lang="pl-PL" sz="3600" dirty="0" err="1">
                <a:solidFill>
                  <a:srgbClr val="FF0000"/>
                </a:solidFill>
                <a:effectLst>
                  <a:outerShdw blurRad="38100" dist="38100" dir="2700000" algn="tl">
                    <a:srgbClr val="000000">
                      <a:alpha val="43137"/>
                    </a:srgbClr>
                  </a:outerShdw>
                </a:effectLst>
                <a:latin typeface="Arial Black" panose="020B0A04020102020204" pitchFamily="34" charset="0"/>
              </a:rPr>
              <a:t>electronic</a:t>
            </a:r>
            <a:r>
              <a:rPr lang="pl-PL" sz="3600" dirty="0">
                <a:solidFill>
                  <a:srgbClr val="FF0000"/>
                </a:solidFill>
                <a:effectLst>
                  <a:outerShdw blurRad="38100" dist="38100" dir="2700000" algn="tl">
                    <a:srgbClr val="000000">
                      <a:alpha val="43137"/>
                    </a:srgbClr>
                  </a:outerShdw>
                </a:effectLst>
                <a:latin typeface="Arial Black" panose="020B0A04020102020204" pitchFamily="34" charset="0"/>
              </a:rPr>
              <a:t> </a:t>
            </a:r>
            <a:r>
              <a:rPr lang="pl-PL" sz="3600" dirty="0" err="1">
                <a:solidFill>
                  <a:srgbClr val="FF0000"/>
                </a:solidFill>
                <a:effectLst>
                  <a:outerShdw blurRad="38100" dist="38100" dir="2700000" algn="tl">
                    <a:srgbClr val="000000">
                      <a:alpha val="43137"/>
                    </a:srgbClr>
                  </a:outerShdw>
                </a:effectLst>
                <a:latin typeface="Arial Black" panose="020B0A04020102020204" pitchFamily="34" charset="0"/>
              </a:rPr>
              <a:t>platforms</a:t>
            </a:r>
            <a:r>
              <a:rPr lang="pl-PL" sz="3600" dirty="0">
                <a:solidFill>
                  <a:srgbClr val="FF0000"/>
                </a:solidFill>
                <a:effectLst>
                  <a:outerShdw blurRad="38100" dist="38100" dir="2700000" algn="tl">
                    <a:srgbClr val="000000">
                      <a:alpha val="43137"/>
                    </a:srgbClr>
                  </a:outerShdw>
                </a:effectLst>
                <a:latin typeface="Arial Black" panose="020B0A04020102020204" pitchFamily="34" charset="0"/>
              </a:rPr>
              <a:t> </a:t>
            </a:r>
            <a:r>
              <a:rPr lang="pl-PL" sz="3600" dirty="0" err="1">
                <a:solidFill>
                  <a:srgbClr val="FF0000"/>
                </a:solidFill>
                <a:effectLst>
                  <a:outerShdw blurRad="38100" dist="38100" dir="2700000" algn="tl">
                    <a:srgbClr val="000000">
                      <a:alpha val="43137"/>
                    </a:srgbClr>
                  </a:outerShdw>
                </a:effectLst>
                <a:latin typeface="Arial Black" panose="020B0A04020102020204" pitchFamily="34" charset="0"/>
              </a:rPr>
              <a:t>industries</a:t>
            </a:r>
            <a:br>
              <a:rPr lang="pl-PL" sz="3600" dirty="0"/>
            </a:br>
            <a:r>
              <a:rPr lang="pl-PL" sz="3600" b="1" dirty="0" err="1">
                <a:solidFill>
                  <a:srgbClr val="002060"/>
                </a:solidFill>
                <a:effectLst>
                  <a:outerShdw blurRad="38100" dist="38100" dir="2700000" algn="tl">
                    <a:srgbClr val="000000">
                      <a:alpha val="43137"/>
                    </a:srgbClr>
                  </a:outerShdw>
                </a:effectLst>
                <a:latin typeface="+mn-lt"/>
              </a:rPr>
              <a:t>Cases</a:t>
            </a:r>
            <a:r>
              <a:rPr lang="pl-PL" sz="3600" b="1" dirty="0">
                <a:solidFill>
                  <a:srgbClr val="002060"/>
                </a:solidFill>
                <a:effectLst>
                  <a:outerShdw blurRad="38100" dist="38100" dir="2700000" algn="tl">
                    <a:srgbClr val="000000">
                      <a:alpha val="43137"/>
                    </a:srgbClr>
                  </a:outerShdw>
                </a:effectLst>
                <a:latin typeface="+mn-lt"/>
              </a:rPr>
              <a:t> </a:t>
            </a:r>
            <a:r>
              <a:rPr lang="pl-PL" sz="3600" b="1" dirty="0" err="1">
                <a:solidFill>
                  <a:srgbClr val="002060"/>
                </a:solidFill>
                <a:effectLst>
                  <a:outerShdw blurRad="38100" dist="38100" dir="2700000" algn="tl">
                    <a:srgbClr val="000000">
                      <a:alpha val="43137"/>
                    </a:srgbClr>
                  </a:outerShdw>
                </a:effectLst>
                <a:latin typeface="+mn-lt"/>
              </a:rPr>
              <a:t>Aslam</a:t>
            </a:r>
            <a:r>
              <a:rPr lang="pl-PL" sz="3600" b="1" dirty="0">
                <a:solidFill>
                  <a:srgbClr val="002060"/>
                </a:solidFill>
                <a:effectLst>
                  <a:outerShdw blurRad="38100" dist="38100" dir="2700000" algn="tl">
                    <a:srgbClr val="000000">
                      <a:alpha val="43137"/>
                    </a:srgbClr>
                  </a:outerShdw>
                </a:effectLst>
                <a:latin typeface="+mn-lt"/>
              </a:rPr>
              <a:t> v Uber &amp;</a:t>
            </a:r>
            <a:br>
              <a:rPr lang="pl-PL" sz="3600" b="1" dirty="0">
                <a:solidFill>
                  <a:srgbClr val="002060"/>
                </a:solidFill>
                <a:effectLst>
                  <a:outerShdw blurRad="38100" dist="38100" dir="2700000" algn="tl">
                    <a:srgbClr val="000000">
                      <a:alpha val="43137"/>
                    </a:srgbClr>
                  </a:outerShdw>
                </a:effectLst>
                <a:latin typeface="+mn-lt"/>
              </a:rPr>
            </a:br>
            <a:r>
              <a:rPr lang="en-US" sz="3600" b="1" dirty="0">
                <a:solidFill>
                  <a:srgbClr val="002060"/>
                </a:solidFill>
                <a:effectLst>
                  <a:outerShdw blurRad="38100" dist="38100" dir="2700000" algn="tl">
                    <a:srgbClr val="000000">
                      <a:alpha val="43137"/>
                    </a:srgbClr>
                  </a:outerShdw>
                </a:effectLst>
                <a:latin typeface="+mn-lt"/>
                <a:cs typeface="Times New Roman" panose="02020603050405020304" pitchFamily="18" charset="0"/>
              </a:rPr>
              <a:t>Élite Taxi v Uber Systems Spain SL</a:t>
            </a:r>
            <a:br>
              <a:rPr lang="pl-PL" sz="3600" b="1" dirty="0">
                <a:solidFill>
                  <a:srgbClr val="002060"/>
                </a:solidFill>
                <a:effectLst>
                  <a:outerShdw blurRad="38100" dist="38100" dir="2700000" algn="tl">
                    <a:srgbClr val="000000">
                      <a:alpha val="43137"/>
                    </a:srgbClr>
                  </a:outerShdw>
                </a:effectLst>
                <a:latin typeface="Arial Black" panose="020B0A04020102020204" pitchFamily="34" charset="0"/>
              </a:rPr>
            </a:br>
            <a:endParaRPr lang="pl-PL" sz="3600" dirty="0"/>
          </a:p>
        </p:txBody>
      </p:sp>
      <p:sp>
        <p:nvSpPr>
          <p:cNvPr id="3" name="Podtytuł 2">
            <a:extLst>
              <a:ext uri="{FF2B5EF4-FFF2-40B4-BE49-F238E27FC236}">
                <a16:creationId xmlns:a16="http://schemas.microsoft.com/office/drawing/2014/main" id="{00970CC7-1597-4F9D-BBCF-49D45164A4F0}"/>
              </a:ext>
            </a:extLst>
          </p:cNvPr>
          <p:cNvSpPr>
            <a:spLocks noGrp="1"/>
          </p:cNvSpPr>
          <p:nvPr>
            <p:ph type="subTitle" idx="1"/>
          </p:nvPr>
        </p:nvSpPr>
        <p:spPr/>
        <p:txBody>
          <a:bodyPr/>
          <a:lstStyle/>
          <a:p>
            <a:endParaRPr lang="pl-PL" dirty="0"/>
          </a:p>
          <a:p>
            <a:endParaRPr lang="pl-PL" dirty="0"/>
          </a:p>
          <a:p>
            <a:r>
              <a:rPr lang="pl-PL" b="1" dirty="0">
                <a:solidFill>
                  <a:srgbClr val="002060"/>
                </a:solidFill>
                <a:effectLst>
                  <a:outerShdw blurRad="38100" dist="38100" dir="2700000" algn="tl">
                    <a:srgbClr val="000000">
                      <a:alpha val="43137"/>
                    </a:srgbClr>
                  </a:outerShdw>
                </a:effectLst>
                <a:latin typeface="Arial Black" panose="020B0A04020102020204" pitchFamily="34" charset="0"/>
              </a:rPr>
              <a:t>KU prof. Waldemar Hoff</a:t>
            </a:r>
          </a:p>
        </p:txBody>
      </p:sp>
      <p:sp>
        <p:nvSpPr>
          <p:cNvPr id="4" name="Symbol zastępczy numeru slajdu 3">
            <a:extLst>
              <a:ext uri="{FF2B5EF4-FFF2-40B4-BE49-F238E27FC236}">
                <a16:creationId xmlns:a16="http://schemas.microsoft.com/office/drawing/2014/main" id="{CDB25CF6-8DE5-4B6C-B59F-044E427CCA01}"/>
              </a:ext>
            </a:extLst>
          </p:cNvPr>
          <p:cNvSpPr>
            <a:spLocks noGrp="1"/>
          </p:cNvSpPr>
          <p:nvPr>
            <p:ph type="sldNum" sz="quarter" idx="12"/>
          </p:nvPr>
        </p:nvSpPr>
        <p:spPr/>
        <p:txBody>
          <a:bodyPr/>
          <a:lstStyle/>
          <a:p>
            <a:fld id="{31FE8408-9B39-4718-B64F-54F72D092B1B}" type="slidenum">
              <a:rPr lang="pl-PL" smtClean="0"/>
              <a:t>1</a:t>
            </a:fld>
            <a:endParaRPr lang="pl-PL" dirty="0"/>
          </a:p>
        </p:txBody>
      </p:sp>
    </p:spTree>
    <p:extLst>
      <p:ext uri="{BB962C8B-B14F-4D97-AF65-F5344CB8AC3E}">
        <p14:creationId xmlns:p14="http://schemas.microsoft.com/office/powerpoint/2010/main" val="40958300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DF72F83-D467-4353-082F-294A2BA91519}"/>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issue (1) – worker benefits</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1B1C267A-6CA3-9420-B48F-8495E1B62946}"/>
              </a:ext>
            </a:extLst>
          </p:cNvPr>
          <p:cNvSpPr>
            <a:spLocks noGrp="1"/>
          </p:cNvSpPr>
          <p:nvPr>
            <p:ph idx="1"/>
          </p:nvPr>
        </p:nvSpPr>
        <p:spPr>
          <a:xfrm>
            <a:off x="838200" y="1825625"/>
            <a:ext cx="10515600" cy="5165110"/>
          </a:xfrm>
        </p:spPr>
        <p:txBody>
          <a:bodyPr>
            <a:normAutofit fontScale="77500" lnSpcReduction="20000"/>
          </a:bodyPr>
          <a:lstStyle/>
          <a:p>
            <a:r>
              <a:rPr lang="en-US" dirty="0">
                <a:solidFill>
                  <a:srgbClr val="002060"/>
                </a:solidFill>
                <a:effectLst>
                  <a:outerShdw blurRad="38100" dist="38100" dir="2700000" algn="tl">
                    <a:srgbClr val="000000">
                      <a:alpha val="43137"/>
                    </a:srgbClr>
                  </a:outerShdw>
                </a:effectLst>
              </a:rPr>
              <a:t>T</a:t>
            </a:r>
            <a:r>
              <a:rPr lang="pl-PL" dirty="0">
                <a:solidFill>
                  <a:srgbClr val="002060"/>
                </a:solidFill>
                <a:effectLst>
                  <a:outerShdw blurRad="38100" dist="38100" dir="2700000" algn="tl">
                    <a:srgbClr val="000000">
                      <a:alpha val="43137"/>
                    </a:srgbClr>
                  </a:outerShdw>
                </a:effectLst>
              </a:rPr>
              <a:t>he t</a:t>
            </a:r>
            <a:r>
              <a:rPr lang="en-US" dirty="0">
                <a:solidFill>
                  <a:srgbClr val="002060"/>
                </a:solidFill>
                <a:effectLst>
                  <a:outerShdw blurRad="38100" dist="38100" dir="2700000" algn="tl">
                    <a:srgbClr val="000000">
                      <a:alpha val="43137"/>
                    </a:srgbClr>
                  </a:outerShdw>
                </a:effectLst>
              </a:rPr>
              <a:t>wo cases outlined below illustrate the difficulty </a:t>
            </a:r>
            <a:r>
              <a:rPr lang="pl-PL" dirty="0">
                <a:solidFill>
                  <a:srgbClr val="002060"/>
                </a:solidFill>
                <a:effectLst>
                  <a:outerShdw blurRad="38100" dist="38100" dir="2700000" algn="tl">
                    <a:srgbClr val="000000">
                      <a:alpha val="43137"/>
                    </a:srgbClr>
                  </a:outerShdw>
                </a:effectLst>
              </a:rPr>
              <a:t>in</a:t>
            </a:r>
            <a:r>
              <a:rPr lang="en-US" dirty="0">
                <a:solidFill>
                  <a:srgbClr val="002060"/>
                </a:solidFill>
                <a:effectLst>
                  <a:outerShdw blurRad="38100" dist="38100" dir="2700000" algn="tl">
                    <a:srgbClr val="000000">
                      <a:alpha val="43137"/>
                    </a:srgbClr>
                  </a:outerShdw>
                </a:effectLst>
              </a:rPr>
              <a:t> regulate the </a:t>
            </a:r>
            <a:r>
              <a:rPr lang="en-US" b="1" dirty="0">
                <a:solidFill>
                  <a:srgbClr val="FF0000"/>
                </a:solidFill>
                <a:effectLst>
                  <a:outerShdw blurRad="38100" dist="38100" dir="2700000" algn="tl">
                    <a:srgbClr val="000000">
                      <a:alpha val="43137"/>
                    </a:srgbClr>
                  </a:outerShdw>
                </a:effectLst>
              </a:rPr>
              <a:t>new types of economic activity </a:t>
            </a:r>
            <a:r>
              <a:rPr lang="en-US" dirty="0">
                <a:solidFill>
                  <a:srgbClr val="002060"/>
                </a:solidFill>
                <a:effectLst>
                  <a:outerShdw blurRad="38100" dist="38100" dir="2700000" algn="tl">
                    <a:srgbClr val="000000">
                      <a:alpha val="43137"/>
                    </a:srgbClr>
                  </a:outerShdw>
                </a:effectLst>
              </a:rPr>
              <a:t>made possible due to technological progres</a:t>
            </a:r>
            <a:r>
              <a:rPr lang="pl-PL" dirty="0">
                <a:solidFill>
                  <a:srgbClr val="002060"/>
                </a:solidFill>
                <a:effectLst>
                  <a:outerShdw blurRad="38100" dist="38100" dir="2700000" algn="tl">
                    <a:srgbClr val="000000">
                      <a:alpha val="43137"/>
                    </a:srgbClr>
                  </a:outerShdw>
                </a:effectLst>
              </a:rPr>
              <a:t>s.</a:t>
            </a:r>
            <a:endParaRPr lang="en-US"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One of such technological developments is the </a:t>
            </a:r>
            <a:r>
              <a:rPr lang="en-US" b="1" dirty="0">
                <a:solidFill>
                  <a:srgbClr val="FF0000"/>
                </a:solidFill>
                <a:effectLst>
                  <a:outerShdw blurRad="38100" dist="38100" dir="2700000" algn="tl">
                    <a:srgbClr val="000000">
                      <a:alpha val="43137"/>
                    </a:srgbClr>
                  </a:outerShdw>
                </a:effectLst>
              </a:rPr>
              <a:t>platform economy</a:t>
            </a:r>
            <a:r>
              <a:rPr lang="pl-PL" b="1" dirty="0">
                <a:solidFill>
                  <a:srgbClr val="FF0000"/>
                </a:solidFill>
                <a:effectLst>
                  <a:outerShdw blurRad="38100" dist="38100" dir="2700000" algn="tl">
                    <a:srgbClr val="000000">
                      <a:alpha val="43137"/>
                    </a:srgbClr>
                  </a:outerShdw>
                </a:effectLst>
              </a:rPr>
              <a:t> (Gig </a:t>
            </a:r>
            <a:r>
              <a:rPr lang="pl-PL" b="1" dirty="0" err="1">
                <a:solidFill>
                  <a:srgbClr val="FF0000"/>
                </a:solidFill>
                <a:effectLst>
                  <a:outerShdw blurRad="38100" dist="38100" dir="2700000" algn="tl">
                    <a:srgbClr val="000000">
                      <a:alpha val="43137"/>
                    </a:srgbClr>
                  </a:outerShdw>
                </a:effectLst>
              </a:rPr>
              <a:t>economy</a:t>
            </a:r>
            <a:r>
              <a:rPr lang="pl-PL" b="1" dirty="0">
                <a:solidFill>
                  <a:srgbClr val="FF0000"/>
                </a:solidFill>
                <a:effectLst>
                  <a:outerShdw blurRad="38100" dist="38100" dir="2700000" algn="tl">
                    <a:srgbClr val="000000">
                      <a:alpha val="43137"/>
                    </a:srgbClr>
                  </a:outerShdw>
                </a:effectLst>
              </a:rPr>
              <a:t>)</a:t>
            </a:r>
            <a:r>
              <a:rPr lang="en-US" b="1" dirty="0">
                <a:solidFill>
                  <a:srgbClr val="FF000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whereby an internet platform provider connects buyers and sellers of goods or services</a:t>
            </a:r>
          </a:p>
          <a:p>
            <a:r>
              <a:rPr lang="en-US" dirty="0">
                <a:solidFill>
                  <a:srgbClr val="002060"/>
                </a:solidFill>
                <a:effectLst>
                  <a:outerShdw blurRad="38100" dist="38100" dir="2700000" algn="tl">
                    <a:srgbClr val="000000">
                      <a:alpha val="43137"/>
                    </a:srgbClr>
                  </a:outerShdw>
                </a:effectLst>
              </a:rPr>
              <a:t>Examples are </a:t>
            </a:r>
            <a:r>
              <a:rPr lang="en-US" b="1" dirty="0">
                <a:solidFill>
                  <a:srgbClr val="FF0000"/>
                </a:solidFill>
                <a:effectLst>
                  <a:outerShdw blurRad="38100" dist="38100" dir="2700000" algn="tl">
                    <a:srgbClr val="000000">
                      <a:alpha val="43137"/>
                    </a:srgbClr>
                  </a:outerShdw>
                </a:effectLst>
              </a:rPr>
              <a:t>Uber, </a:t>
            </a:r>
            <a:r>
              <a:rPr lang="pl-PL" b="1" dirty="0">
                <a:solidFill>
                  <a:srgbClr val="FF0000"/>
                </a:solidFill>
                <a:effectLst>
                  <a:outerShdw blurRad="38100" dist="38100" dir="2700000" algn="tl">
                    <a:srgbClr val="000000">
                      <a:alpha val="43137"/>
                    </a:srgbClr>
                  </a:outerShdw>
                </a:effectLst>
              </a:rPr>
              <a:t>Lyft, </a:t>
            </a:r>
            <a:r>
              <a:rPr lang="en-US" b="1" dirty="0">
                <a:solidFill>
                  <a:srgbClr val="FF0000"/>
                </a:solidFill>
                <a:effectLst>
                  <a:outerShdw blurRad="38100" dist="38100" dir="2700000" algn="tl">
                    <a:srgbClr val="000000">
                      <a:alpha val="43137"/>
                    </a:srgbClr>
                  </a:outerShdw>
                </a:effectLst>
              </a:rPr>
              <a:t>eBay, AirBNB, </a:t>
            </a:r>
            <a:r>
              <a:rPr lang="pl-PL" b="1" dirty="0">
                <a:solidFill>
                  <a:srgbClr val="FF0000"/>
                </a:solidFill>
                <a:effectLst>
                  <a:outerShdw blurRad="38100" dist="38100" dir="2700000" algn="tl">
                    <a:srgbClr val="000000">
                      <a:alpha val="43137"/>
                    </a:srgbClr>
                  </a:outerShdw>
                </a:effectLst>
              </a:rPr>
              <a:t>or </a:t>
            </a:r>
            <a:r>
              <a:rPr lang="en-US" b="1" dirty="0">
                <a:solidFill>
                  <a:srgbClr val="FF0000"/>
                </a:solidFill>
                <a:effectLst>
                  <a:outerShdw blurRad="38100" dist="38100" dir="2700000" algn="tl">
                    <a:srgbClr val="000000">
                      <a:alpha val="43137"/>
                    </a:srgbClr>
                  </a:outerShdw>
                </a:effectLst>
              </a:rPr>
              <a:t>courier companies</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such</a:t>
            </a:r>
            <a:r>
              <a:rPr lang="pl-PL" b="1" dirty="0">
                <a:solidFill>
                  <a:srgbClr val="FF0000"/>
                </a:solidFill>
                <a:effectLst>
                  <a:outerShdw blurRad="38100" dist="38100" dir="2700000" algn="tl">
                    <a:srgbClr val="000000">
                      <a:alpha val="43137"/>
                    </a:srgbClr>
                  </a:outerShdw>
                </a:effectLst>
              </a:rPr>
              <a:t> as </a:t>
            </a:r>
            <a:r>
              <a:rPr lang="pl-PL" b="1" dirty="0" err="1">
                <a:solidFill>
                  <a:srgbClr val="FF0000"/>
                </a:solidFill>
                <a:effectLst>
                  <a:outerShdw blurRad="38100" dist="38100" dir="2700000" algn="tl">
                    <a:srgbClr val="000000">
                      <a:alpha val="43137"/>
                    </a:srgbClr>
                  </a:outerShdw>
                </a:effectLst>
              </a:rPr>
              <a:t>CitySprint</a:t>
            </a:r>
            <a:r>
              <a:rPr lang="en-US" dirty="0">
                <a:solidFill>
                  <a:srgbClr val="002060"/>
                </a:solidFill>
                <a:effectLst>
                  <a:outerShdw blurRad="38100" dist="38100" dir="2700000" algn="tl">
                    <a:srgbClr val="000000">
                      <a:alpha val="43137"/>
                    </a:srgbClr>
                  </a:outerShdw>
                </a:effectLst>
              </a:rPr>
              <a:t>. Their common feature is </a:t>
            </a:r>
            <a:r>
              <a:rPr lang="pl-PL" dirty="0">
                <a:solidFill>
                  <a:srgbClr val="002060"/>
                </a:solidFill>
                <a:effectLst>
                  <a:outerShdw blurRad="38100" dist="38100" dir="2700000" algn="tl">
                    <a:srgbClr val="000000">
                      <a:alpha val="43137"/>
                    </a:srgbClr>
                  </a:outerShdw>
                </a:effectLst>
              </a:rPr>
              <a:t>a </a:t>
            </a:r>
            <a:r>
              <a:rPr lang="en-US" dirty="0">
                <a:solidFill>
                  <a:srgbClr val="002060"/>
                </a:solidFill>
                <a:effectLst>
                  <a:outerShdw blurRad="38100" dist="38100" dir="2700000" algn="tl">
                    <a:srgbClr val="000000">
                      <a:alpha val="43137"/>
                    </a:srgbClr>
                  </a:outerShdw>
                </a:effectLst>
              </a:rPr>
              <a:t>cooperation between the electronic platform with the </a:t>
            </a:r>
            <a:r>
              <a:rPr lang="en-US" b="1" dirty="0">
                <a:solidFill>
                  <a:srgbClr val="002060"/>
                </a:solidFill>
                <a:effectLst>
                  <a:outerShdw blurRad="38100" dist="38100" dir="2700000" algn="tl">
                    <a:srgbClr val="000000">
                      <a:alpha val="43137"/>
                    </a:srgbClr>
                  </a:outerShdw>
                </a:effectLst>
              </a:rPr>
              <a:t>actual provider of goods</a:t>
            </a:r>
            <a:r>
              <a:rPr lang="en-US" dirty="0">
                <a:solidFill>
                  <a:srgbClr val="002060"/>
                </a:solidFill>
                <a:effectLst>
                  <a:outerShdw blurRad="38100" dist="38100" dir="2700000" algn="tl">
                    <a:srgbClr val="000000">
                      <a:alpha val="43137"/>
                    </a:srgbClr>
                  </a:outerShdw>
                </a:effectLst>
              </a:rPr>
              <a:t>. For example, </a:t>
            </a:r>
            <a:r>
              <a:rPr lang="en-US" b="1" dirty="0">
                <a:solidFill>
                  <a:srgbClr val="002060"/>
                </a:solidFill>
                <a:effectLst>
                  <a:outerShdw blurRad="38100" dist="38100" dir="2700000" algn="tl">
                    <a:srgbClr val="000000">
                      <a:alpha val="43137"/>
                    </a:srgbClr>
                  </a:outerShdw>
                </a:effectLst>
              </a:rPr>
              <a:t>Uber provides a platform, while drivers provide the actual transportation of passengers. </a:t>
            </a:r>
          </a:p>
          <a:p>
            <a:r>
              <a:rPr lang="en-US" dirty="0">
                <a:solidFill>
                  <a:srgbClr val="002060"/>
                </a:solidFill>
                <a:effectLst>
                  <a:outerShdw blurRad="38100" dist="38100" dir="2700000" algn="tl">
                    <a:srgbClr val="000000">
                      <a:alpha val="43137"/>
                    </a:srgbClr>
                  </a:outerShdw>
                </a:effectLst>
              </a:rPr>
              <a:t>In case of urban transportation, </a:t>
            </a:r>
            <a:r>
              <a:rPr lang="en-US" b="1" dirty="0">
                <a:solidFill>
                  <a:srgbClr val="FF0000"/>
                </a:solidFill>
                <a:effectLst>
                  <a:outerShdw blurRad="38100" dist="38100" dir="2700000" algn="tl">
                    <a:srgbClr val="000000">
                      <a:alpha val="43137"/>
                    </a:srgbClr>
                  </a:outerShdw>
                </a:effectLst>
              </a:rPr>
              <a:t>Uber </a:t>
            </a:r>
            <a:r>
              <a:rPr lang="en-US" dirty="0">
                <a:solidFill>
                  <a:srgbClr val="002060"/>
                </a:solidFill>
                <a:effectLst>
                  <a:outerShdw blurRad="38100" dist="38100" dir="2700000" algn="tl">
                    <a:srgbClr val="000000">
                      <a:alpha val="43137"/>
                    </a:srgbClr>
                  </a:outerShdw>
                </a:effectLst>
              </a:rPr>
              <a:t>introduced a new business model in which, it claims</a:t>
            </a:r>
            <a:r>
              <a:rPr lang="pl-PL"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driver is </a:t>
            </a:r>
            <a:r>
              <a:rPr lang="en-US" b="1" dirty="0">
                <a:solidFill>
                  <a:srgbClr val="002060"/>
                </a:solidFill>
                <a:effectLst>
                  <a:outerShdw blurRad="38100" dist="38100" dir="2700000" algn="tl">
                    <a:srgbClr val="000000">
                      <a:alpha val="43137"/>
                    </a:srgbClr>
                  </a:outerShdw>
                </a:effectLst>
              </a:rPr>
              <a:t>not employee but an </a:t>
            </a:r>
            <a:r>
              <a:rPr lang="en-US" b="1" dirty="0">
                <a:solidFill>
                  <a:srgbClr val="FF0000"/>
                </a:solidFill>
                <a:effectLst>
                  <a:outerShdw blurRad="38100" dist="38100" dir="2700000" algn="tl">
                    <a:srgbClr val="000000">
                      <a:alpha val="43137"/>
                    </a:srgbClr>
                  </a:outerShdw>
                </a:effectLst>
              </a:rPr>
              <a:t>independent contractor</a:t>
            </a:r>
            <a:r>
              <a:rPr lang="en-US" dirty="0">
                <a:solidFill>
                  <a:srgbClr val="002060"/>
                </a:solidFill>
                <a:effectLst>
                  <a:outerShdw blurRad="38100" dist="38100" dir="2700000" algn="tl">
                    <a:srgbClr val="000000">
                      <a:alpha val="43137"/>
                    </a:srgbClr>
                  </a:outerShdw>
                </a:effectLst>
              </a:rPr>
              <a:t>. The independent status </a:t>
            </a:r>
            <a:r>
              <a:rPr lang="pl-PL" dirty="0">
                <a:solidFill>
                  <a:srgbClr val="002060"/>
                </a:solidFill>
                <a:effectLst>
                  <a:outerShdw blurRad="38100" dist="38100" dir="2700000" algn="tl">
                    <a:srgbClr val="000000">
                      <a:alpha val="43137"/>
                    </a:srgbClr>
                  </a:outerShdw>
                </a:effectLst>
              </a:rPr>
              <a:t>has </a:t>
            </a:r>
            <a:r>
              <a:rPr lang="en-US" dirty="0">
                <a:solidFill>
                  <a:srgbClr val="002060"/>
                </a:solidFill>
                <a:effectLst>
                  <a:outerShdw blurRad="38100" dist="38100" dir="2700000" algn="tl">
                    <a:srgbClr val="000000">
                      <a:alpha val="43137"/>
                    </a:srgbClr>
                  </a:outerShdw>
                </a:effectLst>
              </a:rPr>
              <a:t>so fa</a:t>
            </a:r>
            <a:r>
              <a:rPr lang="pl-PL" dirty="0">
                <a:solidFill>
                  <a:srgbClr val="002060"/>
                </a:solidFill>
                <a:effectLst>
                  <a:outerShdw blurRad="38100" dist="38100" dir="2700000" algn="tl">
                    <a:srgbClr val="000000">
                      <a:alpha val="43137"/>
                    </a:srgbClr>
                  </a:outerShdw>
                </a:effectLst>
              </a:rPr>
              <a:t>r</a:t>
            </a:r>
            <a:r>
              <a:rPr lang="en-US" dirty="0">
                <a:solidFill>
                  <a:srgbClr val="002060"/>
                </a:solidFill>
                <a:effectLst>
                  <a:outerShdw blurRad="38100" dist="38100" dir="2700000" algn="tl">
                    <a:srgbClr val="000000">
                      <a:alpha val="43137"/>
                    </a:srgbClr>
                  </a:outerShdw>
                </a:effectLst>
              </a:rPr>
              <a:t> deprived such drivers of benefits such as minimal wage or paid vacation</a:t>
            </a:r>
            <a:endParaRPr lang="en-US" dirty="0"/>
          </a:p>
          <a:p>
            <a:r>
              <a:rPr lang="en-US" dirty="0">
                <a:solidFill>
                  <a:srgbClr val="002060"/>
                </a:solidFill>
                <a:effectLst>
                  <a:outerShdw blurRad="38100" dist="38100" dir="2700000" algn="tl">
                    <a:srgbClr val="000000">
                      <a:alpha val="43137"/>
                    </a:srgbClr>
                  </a:outerShdw>
                </a:effectLst>
              </a:rPr>
              <a:t>This new model of business is collectively call</a:t>
            </a:r>
            <a:r>
              <a:rPr lang="pl-PL" dirty="0">
                <a:solidFill>
                  <a:srgbClr val="002060"/>
                </a:solidFill>
                <a:effectLst>
                  <a:outerShdw blurRad="38100" dist="38100" dir="2700000" algn="tl">
                    <a:srgbClr val="000000">
                      <a:alpha val="43137"/>
                    </a:srgbClr>
                  </a:outerShdw>
                </a:effectLst>
              </a:rPr>
              <a:t>ed</a:t>
            </a:r>
            <a:r>
              <a:rPr lang="en-US"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gig economy</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sharing</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economy</a:t>
            </a:r>
            <a:r>
              <a:rPr lang="pl-PL" b="1" dirty="0">
                <a:solidFill>
                  <a:srgbClr val="FF0000"/>
                </a:solidFill>
                <a:effectLst>
                  <a:outerShdw blurRad="38100" dist="38100" dir="2700000" algn="tl">
                    <a:srgbClr val="000000">
                      <a:alpha val="43137"/>
                    </a:srgbClr>
                  </a:outerShdw>
                </a:effectLst>
              </a:rPr>
              <a:t>)</a:t>
            </a:r>
            <a:r>
              <a:rPr lang="en-US" b="1" dirty="0">
                <a:solidFill>
                  <a:srgbClr val="FF000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because the relationship between the above two entities is looser than in the traditional employer-employee relationship. </a:t>
            </a:r>
            <a:r>
              <a:rPr lang="pl-PL" dirty="0">
                <a:solidFill>
                  <a:srgbClr val="002060"/>
                </a:solidFill>
                <a:effectLst>
                  <a:outerShdw blurRad="38100" dist="38100" dir="2700000" algn="tl">
                    <a:srgbClr val="000000">
                      <a:alpha val="43137"/>
                    </a:srgbClr>
                  </a:outerShdw>
                </a:effectLst>
              </a:rPr>
              <a:t>Its benefit has been so far flexibility of employment (it could be a part time or full time job) and lower price for the consumers (the passengers). </a:t>
            </a:r>
            <a:endParaRPr lang="en-US" dirty="0">
              <a:solidFill>
                <a:srgbClr val="002060"/>
              </a:solidFill>
              <a:effectLst>
                <a:outerShdw blurRad="38100" dist="38100" dir="2700000" algn="tl">
                  <a:srgbClr val="000000">
                    <a:alpha val="43137"/>
                  </a:srgbClr>
                </a:outerShdw>
              </a:effectLst>
            </a:endParaRPr>
          </a:p>
        </p:txBody>
      </p:sp>
      <p:sp>
        <p:nvSpPr>
          <p:cNvPr id="4" name="Symbol zastępczy numeru slajdu 3">
            <a:extLst>
              <a:ext uri="{FF2B5EF4-FFF2-40B4-BE49-F238E27FC236}">
                <a16:creationId xmlns:a16="http://schemas.microsoft.com/office/drawing/2014/main" id="{FCE7A9B6-8B4A-8F2B-2D16-19E06AE6F7AB}"/>
              </a:ext>
            </a:extLst>
          </p:cNvPr>
          <p:cNvSpPr>
            <a:spLocks noGrp="1"/>
          </p:cNvSpPr>
          <p:nvPr>
            <p:ph type="sldNum" sz="quarter" idx="12"/>
          </p:nvPr>
        </p:nvSpPr>
        <p:spPr/>
        <p:txBody>
          <a:bodyPr/>
          <a:lstStyle/>
          <a:p>
            <a:fld id="{31FE8408-9B39-4718-B64F-54F72D092B1B}" type="slidenum">
              <a:rPr lang="pl-PL" smtClean="0"/>
              <a:t>2</a:t>
            </a:fld>
            <a:endParaRPr lang="pl-PL" dirty="0"/>
          </a:p>
        </p:txBody>
      </p:sp>
    </p:spTree>
    <p:extLst>
      <p:ext uri="{BB962C8B-B14F-4D97-AF65-F5344CB8AC3E}">
        <p14:creationId xmlns:p14="http://schemas.microsoft.com/office/powerpoint/2010/main" val="534301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A08FE64-4D26-9F31-11E6-4A4AECB268BE}"/>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issue (1) – worker benefits</a:t>
            </a:r>
            <a:endParaRPr lang="en-US" dirty="0"/>
          </a:p>
        </p:txBody>
      </p:sp>
      <p:sp>
        <p:nvSpPr>
          <p:cNvPr id="3" name="Symbol zastępczy zawartości 2">
            <a:extLst>
              <a:ext uri="{FF2B5EF4-FFF2-40B4-BE49-F238E27FC236}">
                <a16:creationId xmlns:a16="http://schemas.microsoft.com/office/drawing/2014/main" id="{91F95AC5-71BC-1AAC-9EB8-4A7B680314CB}"/>
              </a:ext>
            </a:extLst>
          </p:cNvPr>
          <p:cNvSpPr>
            <a:spLocks noGrp="1"/>
          </p:cNvSpPr>
          <p:nvPr>
            <p:ph idx="1"/>
          </p:nvPr>
        </p:nvSpPr>
        <p:spPr/>
        <p:txBody>
          <a:bodyPr>
            <a:normAutofit/>
          </a:bodyPr>
          <a:lstStyle/>
          <a:p>
            <a:r>
              <a:rPr lang="en-US" b="1" dirty="0">
                <a:solidFill>
                  <a:srgbClr val="FF0000"/>
                </a:solidFill>
                <a:effectLst>
                  <a:outerShdw blurRad="38100" dist="38100" dir="2700000" algn="tl">
                    <a:srgbClr val="000000">
                      <a:alpha val="43137"/>
                    </a:srgbClr>
                  </a:outerShdw>
                </a:effectLst>
              </a:rPr>
              <a:t>In the British case, Aslam versus Uber (see course materials),</a:t>
            </a:r>
            <a:r>
              <a:rPr lang="en-US" dirty="0">
                <a:solidFill>
                  <a:srgbClr val="002060"/>
                </a:solidFill>
                <a:effectLst>
                  <a:outerShdw blurRad="38100" dist="38100" dir="2700000" algn="tl">
                    <a:srgbClr val="000000">
                      <a:alpha val="43137"/>
                    </a:srgbClr>
                  </a:outerShdw>
                </a:effectLst>
              </a:rPr>
              <a:t> the </a:t>
            </a:r>
            <a:r>
              <a:rPr lang="pl-PL" dirty="0">
                <a:solidFill>
                  <a:srgbClr val="002060"/>
                </a:solidFill>
                <a:effectLst>
                  <a:outerShdw blurRad="38100" dist="38100" dir="2700000" algn="tl">
                    <a:srgbClr val="000000">
                      <a:alpha val="43137"/>
                    </a:srgbClr>
                  </a:outerShdw>
                </a:effectLst>
              </a:rPr>
              <a:t>C</a:t>
            </a:r>
            <a:r>
              <a:rPr lang="en-US" dirty="0">
                <a:solidFill>
                  <a:srgbClr val="002060"/>
                </a:solidFill>
                <a:effectLst>
                  <a:outerShdw blurRad="38100" dist="38100" dir="2700000" algn="tl">
                    <a:srgbClr val="000000">
                      <a:alpha val="43137"/>
                    </a:srgbClr>
                  </a:outerShdw>
                </a:effectLst>
              </a:rPr>
              <a:t>ourt </a:t>
            </a:r>
            <a:r>
              <a:rPr lang="en-US" b="1" dirty="0">
                <a:solidFill>
                  <a:srgbClr val="002060"/>
                </a:solidFill>
                <a:effectLst>
                  <a:outerShdw blurRad="38100" dist="38100" dir="2700000" algn="tl">
                    <a:srgbClr val="000000">
                      <a:alpha val="43137"/>
                    </a:srgbClr>
                  </a:outerShdw>
                </a:effectLst>
              </a:rPr>
              <a:t>disagreed with Uber </a:t>
            </a:r>
            <a:r>
              <a:rPr lang="en-US" dirty="0">
                <a:solidFill>
                  <a:srgbClr val="002060"/>
                </a:solidFill>
                <a:effectLst>
                  <a:outerShdw blurRad="38100" dist="38100" dir="2700000" algn="tl">
                    <a:srgbClr val="000000">
                      <a:alpha val="43137"/>
                    </a:srgbClr>
                  </a:outerShdw>
                </a:effectLst>
              </a:rPr>
              <a:t>about the status of drivers. It stated that drivers are employees and constitute a single business entity. Therefore</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drivers</a:t>
            </a:r>
            <a:r>
              <a:rPr lang="pl-PL" dirty="0">
                <a:solidFill>
                  <a:srgbClr val="002060"/>
                </a:solidFill>
                <a:effectLst>
                  <a:outerShdw blurRad="38100" dist="38100" dir="2700000" algn="tl">
                    <a:srgbClr val="000000">
                      <a:alpha val="43137"/>
                    </a:srgbClr>
                  </a:outerShdw>
                </a:effectLst>
              </a:rPr>
              <a:t>, according to the Court,</a:t>
            </a:r>
            <a:r>
              <a:rPr lang="en-US" dirty="0">
                <a:solidFill>
                  <a:srgbClr val="002060"/>
                </a:solidFill>
                <a:effectLst>
                  <a:outerShdw blurRad="38100" dist="38100" dir="2700000" algn="tl">
                    <a:srgbClr val="000000">
                      <a:alpha val="43137"/>
                    </a:srgbClr>
                  </a:outerShdw>
                </a:effectLst>
              </a:rPr>
              <a:t> are entitled to workers’ benefits, such as the </a:t>
            </a:r>
            <a:r>
              <a:rPr lang="pl-PL" dirty="0">
                <a:solidFill>
                  <a:srgbClr val="002060"/>
                </a:solidFill>
                <a:effectLst>
                  <a:outerShdw blurRad="38100" dist="38100" dir="2700000" algn="tl">
                    <a:srgbClr val="000000">
                      <a:alpha val="43137"/>
                    </a:srgbClr>
                  </a:outerShdw>
                </a:effectLst>
              </a:rPr>
              <a:t>minimum</a:t>
            </a:r>
            <a:r>
              <a:rPr lang="en-US" dirty="0">
                <a:solidFill>
                  <a:srgbClr val="002060"/>
                </a:solidFill>
                <a:effectLst>
                  <a:outerShdw blurRad="38100" dist="38100" dir="2700000" algn="tl">
                    <a:srgbClr val="000000">
                      <a:alpha val="43137"/>
                    </a:srgbClr>
                  </a:outerShdw>
                </a:effectLst>
              </a:rPr>
              <a:t> wage or paid vacation. </a:t>
            </a:r>
          </a:p>
          <a:p>
            <a:r>
              <a:rPr lang="en-US" dirty="0">
                <a:solidFill>
                  <a:srgbClr val="002060"/>
                </a:solidFill>
                <a:effectLst>
                  <a:outerShdw blurRad="38100" dist="38100" dir="2700000" algn="tl">
                    <a:srgbClr val="000000">
                      <a:alpha val="43137"/>
                    </a:srgbClr>
                  </a:outerShdw>
                </a:effectLst>
              </a:rPr>
              <a:t> </a:t>
            </a:r>
            <a:r>
              <a:rPr lang="en-US" b="1" u="sng" dirty="0">
                <a:solidFill>
                  <a:srgbClr val="FF0000"/>
                </a:solidFill>
                <a:effectLst>
                  <a:outerShdw blurRad="38100" dist="38100" dir="2700000" algn="tl">
                    <a:srgbClr val="000000">
                      <a:alpha val="43137"/>
                    </a:srgbClr>
                  </a:outerShdw>
                </a:effectLst>
              </a:rPr>
              <a:t>In </a:t>
            </a:r>
            <a:r>
              <a:rPr lang="pl-PL" b="1" u="sng" dirty="0">
                <a:solidFill>
                  <a:srgbClr val="FF0000"/>
                </a:solidFill>
                <a:effectLst>
                  <a:outerShdw blurRad="38100" dist="38100" dir="2700000" algn="tl">
                    <a:srgbClr val="000000">
                      <a:alpha val="43137"/>
                    </a:srgbClr>
                  </a:outerShdw>
                </a:effectLst>
              </a:rPr>
              <a:t>the </a:t>
            </a:r>
            <a:r>
              <a:rPr lang="pl-PL" b="1" u="sng" dirty="0" err="1">
                <a:solidFill>
                  <a:srgbClr val="FF0000"/>
                </a:solidFill>
                <a:effectLst>
                  <a:outerShdw blurRad="38100" dist="38100" dir="2700000" algn="tl">
                    <a:srgbClr val="000000">
                      <a:alpha val="43137"/>
                    </a:srgbClr>
                  </a:outerShdw>
                </a:effectLst>
              </a:rPr>
              <a:t>court’s</a:t>
            </a:r>
            <a:r>
              <a:rPr lang="pl-PL" b="1" u="sng" dirty="0">
                <a:solidFill>
                  <a:srgbClr val="FF0000"/>
                </a:solidFill>
                <a:effectLst>
                  <a:outerShdw blurRad="38100" dist="38100" dir="2700000" algn="tl">
                    <a:srgbClr val="000000">
                      <a:alpha val="43137"/>
                    </a:srgbClr>
                  </a:outerShdw>
                </a:effectLst>
              </a:rPr>
              <a:t> </a:t>
            </a:r>
            <a:r>
              <a:rPr lang="pl-PL" b="1" u="sng" dirty="0" err="1">
                <a:solidFill>
                  <a:srgbClr val="FF0000"/>
                </a:solidFill>
                <a:effectLst>
                  <a:outerShdw blurRad="38100" dist="38100" dir="2700000" algn="tl">
                    <a:srgbClr val="000000">
                      <a:alpha val="43137"/>
                    </a:srgbClr>
                  </a:outerShdw>
                </a:effectLst>
              </a:rPr>
              <a:t>view</a:t>
            </a:r>
            <a:r>
              <a:rPr lang="pl-PL" b="1" u="sng" dirty="0">
                <a:solidFill>
                  <a:srgbClr val="FF0000"/>
                </a:solidFill>
                <a:effectLst>
                  <a:outerShdw blurRad="38100" dist="38100" dir="2700000" algn="tl">
                    <a:srgbClr val="000000">
                      <a:alpha val="43137"/>
                    </a:srgbClr>
                  </a:outerShdw>
                </a:effectLst>
              </a:rPr>
              <a:t>,</a:t>
            </a:r>
            <a:r>
              <a:rPr lang="en-US" b="1" u="sng" dirty="0">
                <a:solidFill>
                  <a:srgbClr val="FF000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Uber affects the conditions of work to such a degree that it makes drivers employees. Such a status must be assessed on a case-by-case basis and does not necessarily apply to other companies operating</a:t>
            </a:r>
            <a:r>
              <a:rPr lang="en-US" b="1" dirty="0">
                <a:solidFill>
                  <a:srgbClr val="FF0000"/>
                </a:solidFill>
                <a:effectLst>
                  <a:outerShdw blurRad="38100" dist="38100" dir="2700000" algn="tl">
                    <a:srgbClr val="000000">
                      <a:alpha val="43137"/>
                    </a:srgbClr>
                  </a:outerShdw>
                </a:effectLst>
              </a:rPr>
              <a:t> on electronic platforms such as eBay or Allegro. </a:t>
            </a:r>
            <a:endParaRPr lang="en-US" b="1" dirty="0">
              <a:solidFill>
                <a:srgbClr val="FF0000"/>
              </a:solidFill>
            </a:endParaRPr>
          </a:p>
        </p:txBody>
      </p:sp>
      <p:sp>
        <p:nvSpPr>
          <p:cNvPr id="4" name="Symbol zastępczy numeru slajdu 3">
            <a:extLst>
              <a:ext uri="{FF2B5EF4-FFF2-40B4-BE49-F238E27FC236}">
                <a16:creationId xmlns:a16="http://schemas.microsoft.com/office/drawing/2014/main" id="{04B99BC1-5B96-CB80-C3A2-4097071FB497}"/>
              </a:ext>
            </a:extLst>
          </p:cNvPr>
          <p:cNvSpPr>
            <a:spLocks noGrp="1"/>
          </p:cNvSpPr>
          <p:nvPr>
            <p:ph type="sldNum" sz="quarter" idx="12"/>
          </p:nvPr>
        </p:nvSpPr>
        <p:spPr/>
        <p:txBody>
          <a:bodyPr/>
          <a:lstStyle/>
          <a:p>
            <a:fld id="{31FE8408-9B39-4718-B64F-54F72D092B1B}" type="slidenum">
              <a:rPr lang="pl-PL" smtClean="0"/>
              <a:t>3</a:t>
            </a:fld>
            <a:endParaRPr lang="pl-PL" dirty="0"/>
          </a:p>
        </p:txBody>
      </p:sp>
    </p:spTree>
    <p:extLst>
      <p:ext uri="{BB962C8B-B14F-4D97-AF65-F5344CB8AC3E}">
        <p14:creationId xmlns:p14="http://schemas.microsoft.com/office/powerpoint/2010/main" val="1688142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992F90B-BE34-EE96-FD46-CDED2E93C1FB}"/>
              </a:ext>
            </a:extLst>
          </p:cNvPr>
          <p:cNvSpPr>
            <a:spLocks noGrp="1"/>
          </p:cNvSpPr>
          <p:nvPr>
            <p:ph type="title"/>
          </p:nvPr>
        </p:nvSpPr>
        <p:spPr/>
        <p:txBody>
          <a:bodyPr>
            <a:normAutofit/>
          </a:bodyPr>
          <a:lstStyle/>
          <a:p>
            <a:r>
              <a:rPr lang="en-US" sz="2800" b="1" noProof="0" dirty="0">
                <a:solidFill>
                  <a:srgbClr val="002060"/>
                </a:solidFill>
                <a:effectLst>
                  <a:outerShdw blurRad="38100" dist="38100" dir="2700000" algn="tl">
                    <a:srgbClr val="000000">
                      <a:alpha val="43137"/>
                    </a:srgbClr>
                  </a:outerShdw>
                </a:effectLst>
              </a:rPr>
              <a:t>Gig economy – administrative policing and labor issues</a:t>
            </a:r>
          </a:p>
        </p:txBody>
      </p:sp>
      <p:sp>
        <p:nvSpPr>
          <p:cNvPr id="3" name="Symbol zastępczy zawartości 2">
            <a:extLst>
              <a:ext uri="{FF2B5EF4-FFF2-40B4-BE49-F238E27FC236}">
                <a16:creationId xmlns:a16="http://schemas.microsoft.com/office/drawing/2014/main" id="{CFEF804A-6ABC-EF55-5C40-83BBA7F42890}"/>
              </a:ext>
            </a:extLst>
          </p:cNvPr>
          <p:cNvSpPr>
            <a:spLocks noGrp="1"/>
          </p:cNvSpPr>
          <p:nvPr>
            <p:ph idx="1"/>
          </p:nvPr>
        </p:nvSpPr>
        <p:spPr/>
        <p:txBody>
          <a:bodyPr>
            <a:normAutofit fontScale="92500" lnSpcReduction="10000"/>
          </a:bodyPr>
          <a:lstStyle/>
          <a:p>
            <a:r>
              <a:rPr lang="en-US" dirty="0">
                <a:solidFill>
                  <a:srgbClr val="002060"/>
                </a:solidFill>
                <a:effectLst>
                  <a:outerShdw blurRad="38100" dist="38100" dir="2700000" algn="tl">
                    <a:srgbClr val="000000">
                      <a:alpha val="43137"/>
                    </a:srgbClr>
                  </a:outerShdw>
                </a:effectLst>
              </a:rPr>
              <a:t>The cases presented </a:t>
            </a:r>
            <a:r>
              <a:rPr lang="pl-PL" dirty="0" err="1">
                <a:solidFill>
                  <a:srgbClr val="002060"/>
                </a:solidFill>
                <a:effectLst>
                  <a:outerShdw blurRad="38100" dist="38100" dir="2700000" algn="tl">
                    <a:srgbClr val="000000">
                      <a:alpha val="43137"/>
                    </a:srgbClr>
                  </a:outerShdw>
                </a:effectLst>
              </a:rPr>
              <a:t>here</a:t>
            </a:r>
            <a:r>
              <a:rPr lang="en-US" dirty="0">
                <a:solidFill>
                  <a:srgbClr val="002060"/>
                </a:solidFill>
                <a:effectLst>
                  <a:outerShdw blurRad="38100" dist="38100" dir="2700000" algn="tl">
                    <a:srgbClr val="000000">
                      <a:alpha val="43137"/>
                    </a:srgbClr>
                  </a:outerShdw>
                </a:effectLst>
              </a:rPr>
              <a:t> illustrate the </a:t>
            </a:r>
            <a:r>
              <a:rPr lang="en-US" b="1" dirty="0">
                <a:solidFill>
                  <a:srgbClr val="FF0000"/>
                </a:solidFill>
                <a:effectLst>
                  <a:outerShdw blurRad="38100" dist="38100" dir="2700000" algn="tl">
                    <a:srgbClr val="000000">
                      <a:alpha val="43137"/>
                    </a:srgbClr>
                  </a:outerShdw>
                </a:effectLst>
              </a:rPr>
              <a:t>dilemma of administrative regulation of urban transport services </a:t>
            </a:r>
            <a:r>
              <a:rPr lang="en-US" dirty="0">
                <a:solidFill>
                  <a:srgbClr val="002060"/>
                </a:solidFill>
                <a:effectLst>
                  <a:outerShdw blurRad="38100" dist="38100" dir="2700000" algn="tl">
                    <a:srgbClr val="000000">
                      <a:alpha val="43137"/>
                    </a:srgbClr>
                  </a:outerShdw>
                </a:effectLst>
              </a:rPr>
              <a:t>following the emergence of the </a:t>
            </a:r>
            <a:r>
              <a:rPr lang="en-US" b="1" dirty="0">
                <a:solidFill>
                  <a:srgbClr val="FF0000"/>
                </a:solidFill>
                <a:effectLst>
                  <a:outerShdw blurRad="38100" dist="38100" dir="2700000" algn="tl">
                    <a:srgbClr val="000000">
                      <a:alpha val="43137"/>
                    </a:srgbClr>
                  </a:outerShdw>
                </a:effectLst>
              </a:rPr>
              <a:t>innovative organizational form </a:t>
            </a:r>
            <a:r>
              <a:rPr lang="en-US" dirty="0">
                <a:solidFill>
                  <a:srgbClr val="002060"/>
                </a:solidFill>
                <a:effectLst>
                  <a:outerShdw blurRad="38100" dist="38100" dir="2700000" algn="tl">
                    <a:srgbClr val="000000">
                      <a:alpha val="43137"/>
                    </a:srgbClr>
                  </a:outerShdw>
                </a:effectLst>
              </a:rPr>
              <a:t>represented by Uber.</a:t>
            </a:r>
          </a:p>
          <a:p>
            <a:r>
              <a:rPr lang="en-US" dirty="0">
                <a:solidFill>
                  <a:srgbClr val="002060"/>
                </a:solidFill>
                <a:effectLst>
                  <a:outerShdw blurRad="38100" dist="38100" dir="2700000" algn="tl">
                    <a:srgbClr val="000000">
                      <a:alpha val="43137"/>
                    </a:srgbClr>
                  </a:outerShdw>
                </a:effectLst>
              </a:rPr>
              <a:t>In many countries, </a:t>
            </a:r>
            <a:r>
              <a:rPr lang="en-US" b="1" dirty="0">
                <a:solidFill>
                  <a:srgbClr val="FF0000"/>
                </a:solidFill>
                <a:effectLst>
                  <a:outerShdw blurRad="38100" dist="38100" dir="2700000" algn="tl">
                    <a:srgbClr val="000000">
                      <a:alpha val="43137"/>
                    </a:srgbClr>
                  </a:outerShdw>
                </a:effectLst>
              </a:rPr>
              <a:t>taxi companies protested against unequal treatment </a:t>
            </a:r>
            <a:r>
              <a:rPr lang="en-US" dirty="0">
                <a:solidFill>
                  <a:srgbClr val="002060"/>
                </a:solidFill>
                <a:effectLst>
                  <a:outerShdw blurRad="38100" dist="38100" dir="2700000" algn="tl">
                    <a:srgbClr val="000000">
                      <a:alpha val="43137"/>
                    </a:srgbClr>
                  </a:outerShdw>
                </a:effectLst>
              </a:rPr>
              <a:t>and </a:t>
            </a:r>
            <a:r>
              <a:rPr lang="en-US" b="1" dirty="0">
                <a:solidFill>
                  <a:srgbClr val="FF0000"/>
                </a:solidFill>
                <a:effectLst>
                  <a:outerShdw blurRad="38100" dist="38100" dir="2700000" algn="tl">
                    <a:srgbClr val="000000">
                      <a:alpha val="43137"/>
                    </a:srgbClr>
                  </a:outerShdw>
                </a:effectLst>
              </a:rPr>
              <a:t>unfair competition </a:t>
            </a:r>
            <a:r>
              <a:rPr lang="en-US" dirty="0">
                <a:solidFill>
                  <a:srgbClr val="002060"/>
                </a:solidFill>
                <a:effectLst>
                  <a:outerShdw blurRad="38100" dist="38100" dir="2700000" algn="tl">
                    <a:srgbClr val="000000">
                      <a:alpha val="43137"/>
                    </a:srgbClr>
                  </a:outerShdw>
                </a:effectLst>
              </a:rPr>
              <a:t>(</a:t>
            </a:r>
            <a:r>
              <a:rPr lang="en-US" b="1" dirty="0">
                <a:solidFill>
                  <a:srgbClr val="0070C0"/>
                </a:solidFill>
                <a:effectLst>
                  <a:outerShdw blurRad="38100" dist="38100" dir="2700000" algn="tl">
                    <a:srgbClr val="000000">
                      <a:alpha val="43137"/>
                    </a:srgbClr>
                  </a:outerShdw>
                </a:effectLst>
              </a:rPr>
              <a:t>Uber drivers operated without meeting legal and administrative requirements</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This position was supported by courts and legislators.</a:t>
            </a:r>
          </a:p>
          <a:p>
            <a:r>
              <a:rPr lang="en-US" b="1" dirty="0">
                <a:solidFill>
                  <a:srgbClr val="FF0000"/>
                </a:solidFill>
                <a:effectLst>
                  <a:outerShdw blurRad="38100" dist="38100" dir="2700000" algn="tl">
                    <a:srgbClr val="000000">
                      <a:alpha val="43137"/>
                    </a:srgbClr>
                  </a:outerShdw>
                </a:effectLst>
              </a:rPr>
              <a:t>Competition authorities </a:t>
            </a:r>
            <a:r>
              <a:rPr lang="en-US" dirty="0">
                <a:solidFill>
                  <a:srgbClr val="002060"/>
                </a:solidFill>
                <a:effectLst>
                  <a:outerShdw blurRad="38100" dist="38100" dir="2700000" algn="tl">
                    <a:srgbClr val="000000">
                      <a:alpha val="43137"/>
                    </a:srgbClr>
                  </a:outerShdw>
                </a:effectLst>
              </a:rPr>
              <a:t>in several countries, including the President of the Office of Competition and Consumer Protection (</a:t>
            </a:r>
            <a:r>
              <a:rPr lang="en-US" dirty="0" err="1">
                <a:solidFill>
                  <a:srgbClr val="002060"/>
                </a:solidFill>
                <a:effectLst>
                  <a:outerShdw blurRad="38100" dist="38100" dir="2700000" algn="tl">
                    <a:srgbClr val="000000">
                      <a:alpha val="43137"/>
                    </a:srgbClr>
                  </a:outerShdw>
                </a:effectLst>
              </a:rPr>
              <a:t>UOKiK</a:t>
            </a:r>
            <a:r>
              <a:rPr lang="en-US"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sided with Uber, </a:t>
            </a:r>
            <a:r>
              <a:rPr lang="en-US" dirty="0">
                <a:solidFill>
                  <a:srgbClr val="002060"/>
                </a:solidFill>
                <a:effectLst>
                  <a:outerShdw blurRad="38100" dist="38100" dir="2700000" algn="tl">
                    <a:srgbClr val="000000">
                      <a:alpha val="43137"/>
                    </a:srgbClr>
                  </a:outerShdw>
                </a:effectLst>
              </a:rPr>
              <a:t>emphasizing that the innovative service format contributed to increased competition in the transport market and reduced prices to the benefit of consumers.</a:t>
            </a:r>
          </a:p>
          <a:p>
            <a:endParaRPr lang="en-US" dirty="0"/>
          </a:p>
        </p:txBody>
      </p:sp>
      <p:sp>
        <p:nvSpPr>
          <p:cNvPr id="4" name="Symbol zastępczy numeru slajdu 3">
            <a:extLst>
              <a:ext uri="{FF2B5EF4-FFF2-40B4-BE49-F238E27FC236}">
                <a16:creationId xmlns:a16="http://schemas.microsoft.com/office/drawing/2014/main" id="{1A08D11F-3726-33A9-A090-E9227B24C68B}"/>
              </a:ext>
            </a:extLst>
          </p:cNvPr>
          <p:cNvSpPr>
            <a:spLocks noGrp="1"/>
          </p:cNvSpPr>
          <p:nvPr>
            <p:ph type="sldNum" sz="quarter" idx="12"/>
          </p:nvPr>
        </p:nvSpPr>
        <p:spPr/>
        <p:txBody>
          <a:bodyPr/>
          <a:lstStyle/>
          <a:p>
            <a:fld id="{31FE8408-9B39-4718-B64F-54F72D092B1B}" type="slidenum">
              <a:rPr lang="pl-PL" smtClean="0"/>
              <a:t>4</a:t>
            </a:fld>
            <a:endParaRPr lang="pl-PL" dirty="0"/>
          </a:p>
        </p:txBody>
      </p:sp>
    </p:spTree>
    <p:extLst>
      <p:ext uri="{BB962C8B-B14F-4D97-AF65-F5344CB8AC3E}">
        <p14:creationId xmlns:p14="http://schemas.microsoft.com/office/powerpoint/2010/main" val="37162619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2BE651B-2942-EE2E-A759-76EFDFB829F3}"/>
              </a:ext>
            </a:extLst>
          </p:cNvPr>
          <p:cNvSpPr>
            <a:spLocks noGrp="1"/>
          </p:cNvSpPr>
          <p:nvPr>
            <p:ph type="title"/>
          </p:nvPr>
        </p:nvSpPr>
        <p:spPr/>
        <p:txBody>
          <a:bodyPr>
            <a:normAutofit/>
          </a:bodyPr>
          <a:lstStyle/>
          <a:p>
            <a:r>
              <a:rPr lang="en-US" sz="3600" b="1" dirty="0">
                <a:solidFill>
                  <a:srgbClr val="002060"/>
                </a:solidFill>
                <a:effectLst>
                  <a:outerShdw blurRad="38100" dist="38100" dir="2700000" algn="tl">
                    <a:srgbClr val="000000">
                      <a:alpha val="43137"/>
                    </a:srgbClr>
                  </a:outerShdw>
                </a:effectLst>
              </a:rPr>
              <a:t>Gig economy – administrative policing and labor issues</a:t>
            </a:r>
            <a:endParaRPr lang="en-US" sz="3600" dirty="0"/>
          </a:p>
        </p:txBody>
      </p:sp>
      <p:sp>
        <p:nvSpPr>
          <p:cNvPr id="3" name="Symbol zastępczy zawartości 2">
            <a:extLst>
              <a:ext uri="{FF2B5EF4-FFF2-40B4-BE49-F238E27FC236}">
                <a16:creationId xmlns:a16="http://schemas.microsoft.com/office/drawing/2014/main" id="{D9C6DFFD-63DA-B6E0-049E-CF40B7855B91}"/>
              </a:ext>
            </a:extLst>
          </p:cNvPr>
          <p:cNvSpPr>
            <a:spLocks noGrp="1"/>
          </p:cNvSpPr>
          <p:nvPr>
            <p:ph idx="1"/>
          </p:nvPr>
        </p:nvSpPr>
        <p:spPr/>
        <p:txBody>
          <a:bodyPr>
            <a:normAutofit lnSpcReduction="10000"/>
          </a:bodyPr>
          <a:lstStyle/>
          <a:p>
            <a:r>
              <a:rPr lang="pl-PL" dirty="0">
                <a:solidFill>
                  <a:srgbClr val="002060"/>
                </a:solidFill>
                <a:effectLst>
                  <a:outerShdw blurRad="38100" dist="38100" dir="2700000" algn="tl">
                    <a:srgbClr val="000000">
                      <a:alpha val="43137"/>
                    </a:srgbClr>
                  </a:outerShdw>
                </a:effectLst>
              </a:rPr>
              <a:t>28 </a:t>
            </a:r>
            <a:r>
              <a:rPr lang="pl-PL" dirty="0" err="1">
                <a:solidFill>
                  <a:srgbClr val="002060"/>
                </a:solidFill>
                <a:effectLst>
                  <a:outerShdw blurRad="38100" dist="38100" dir="2700000" algn="tl">
                    <a:srgbClr val="000000">
                      <a:alpha val="43137"/>
                    </a:srgbClr>
                  </a:outerShdw>
                </a:effectLst>
              </a:rPr>
              <a:t>October</a:t>
            </a:r>
            <a:r>
              <a:rPr lang="pl-PL" dirty="0">
                <a:solidFill>
                  <a:srgbClr val="002060"/>
                </a:solidFill>
                <a:effectLst>
                  <a:outerShdw blurRad="38100" dist="38100" dir="2700000" algn="tl">
                    <a:srgbClr val="000000">
                      <a:alpha val="43137"/>
                    </a:srgbClr>
                  </a:outerShdw>
                </a:effectLst>
              </a:rPr>
              <a:t> 2016, </a:t>
            </a:r>
            <a:r>
              <a:rPr lang="pl-PL" b="1" dirty="0">
                <a:solidFill>
                  <a:srgbClr val="FF0000"/>
                </a:solidFill>
                <a:effectLst>
                  <a:outerShdw blurRad="38100" dist="38100" dir="2700000" algn="tl">
                    <a:srgbClr val="000000">
                      <a:alpha val="43137"/>
                    </a:srgbClr>
                  </a:outerShdw>
                </a:effectLst>
              </a:rPr>
              <a:t>UK </a:t>
            </a:r>
            <a:r>
              <a:rPr lang="pl-PL" b="1" dirty="0" err="1">
                <a:solidFill>
                  <a:srgbClr val="FF0000"/>
                </a:solidFill>
                <a:effectLst>
                  <a:outerShdw blurRad="38100" dist="38100" dir="2700000" algn="tl">
                    <a:srgbClr val="000000">
                      <a:alpha val="43137"/>
                    </a:srgbClr>
                  </a:outerShdw>
                </a:effectLst>
              </a:rPr>
              <a:t>Employment</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Tribunal</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Appeal</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Employment</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Tribunal</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appeal</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dismissed</a:t>
            </a:r>
            <a:r>
              <a:rPr lang="pl-PL" dirty="0">
                <a:solidFill>
                  <a:srgbClr val="002060"/>
                </a:solidFill>
                <a:effectLst>
                  <a:outerShdw blurRad="38100" dist="38100" dir="2700000" algn="tl">
                    <a:srgbClr val="000000">
                      <a:alpha val="43137"/>
                    </a:srgbClr>
                  </a:outerShdw>
                </a:effectLst>
              </a:rPr>
              <a:t>) [2017] IRLR 4 No. 2202550/2015 - </a:t>
            </a:r>
            <a:r>
              <a:rPr lang="pl-PL" b="1" dirty="0" err="1">
                <a:solidFill>
                  <a:srgbClr val="FF0000"/>
                </a:solidFill>
                <a:effectLst>
                  <a:outerShdw blurRad="38100" dist="38100" dir="2700000" algn="tl">
                    <a:srgbClr val="000000">
                      <a:alpha val="43137"/>
                    </a:srgbClr>
                  </a:outerShdw>
                </a:effectLst>
              </a:rPr>
              <a:t>Aslam</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Farrar</a:t>
            </a:r>
            <a:r>
              <a:rPr lang="pl-PL" b="1" dirty="0">
                <a:solidFill>
                  <a:srgbClr val="FF0000"/>
                </a:solidFill>
                <a:effectLst>
                  <a:outerShdw blurRad="38100" dist="38100" dir="2700000" algn="tl">
                    <a:srgbClr val="000000">
                      <a:alpha val="43137"/>
                    </a:srgbClr>
                  </a:outerShdw>
                </a:effectLst>
              </a:rPr>
              <a:t> v Uber</a:t>
            </a:r>
          </a:p>
          <a:p>
            <a:r>
              <a:rPr lang="pl-PL" b="1" dirty="0" err="1">
                <a:solidFill>
                  <a:srgbClr val="FF0000"/>
                </a:solidFill>
                <a:effectLst>
                  <a:outerShdw blurRad="38100" dist="38100" dir="2700000" algn="tl">
                    <a:srgbClr val="000000">
                      <a:alpha val="43137"/>
                    </a:srgbClr>
                  </a:outerShdw>
                </a:effectLst>
              </a:rPr>
              <a:t>Similar</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cases</a:t>
            </a:r>
            <a:r>
              <a:rPr lang="pl-PL" b="1" dirty="0">
                <a:solidFill>
                  <a:srgbClr val="FF0000"/>
                </a:solidFill>
                <a:effectLst>
                  <a:outerShdw blurRad="38100" dist="38100" dir="2700000" algn="tl">
                    <a:srgbClr val="000000">
                      <a:alpha val="43137"/>
                    </a:srgbClr>
                  </a:outerShdw>
                </a:effectLst>
              </a:rPr>
              <a:t>: City Sprint (</a:t>
            </a:r>
            <a:r>
              <a:rPr lang="pl-PL" b="1" dirty="0" err="1">
                <a:solidFill>
                  <a:srgbClr val="FF0000"/>
                </a:solidFill>
                <a:effectLst>
                  <a:outerShdw blurRad="38100" dist="38100" dir="2700000" algn="tl">
                    <a:srgbClr val="000000">
                      <a:alpha val="43137"/>
                    </a:srgbClr>
                  </a:outerShdw>
                </a:effectLst>
              </a:rPr>
              <a:t>cycle</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couriers</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company</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documentation</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is</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window</a:t>
            </a:r>
            <a:r>
              <a:rPr lang="pl-PL" dirty="0">
                <a:solidFill>
                  <a:srgbClr val="002060"/>
                </a:solidFill>
                <a:effectLst>
                  <a:outerShdw blurRad="38100" dist="38100" dir="2700000" algn="tl">
                    <a:srgbClr val="000000">
                      <a:alpha val="43137"/>
                    </a:srgbClr>
                  </a:outerShdw>
                </a:effectLst>
              </a:rPr>
              <a:t> dressing."</a:t>
            </a:r>
          </a:p>
          <a:p>
            <a:r>
              <a:rPr lang="pl-PL" b="1" dirty="0" err="1">
                <a:solidFill>
                  <a:srgbClr val="FF0000"/>
                </a:solidFill>
                <a:effectLst>
                  <a:outerShdw blurRad="38100" dist="38100" dir="2700000" algn="tl">
                    <a:srgbClr val="000000">
                      <a:alpha val="43137"/>
                    </a:srgbClr>
                  </a:outerShdw>
                </a:effectLst>
              </a:rPr>
              <a:t>Deliveroo</a:t>
            </a:r>
            <a:r>
              <a:rPr lang="pl-PL" dirty="0">
                <a:solidFill>
                  <a:srgbClr val="002060"/>
                </a:solidFill>
                <a:effectLst>
                  <a:outerShdw blurRad="38100" dist="38100" dir="2700000" algn="tl">
                    <a:srgbClr val="000000">
                      <a:alpha val="43137"/>
                    </a:srgbClr>
                  </a:outerShdw>
                </a:effectLst>
              </a:rPr>
              <a:t>;</a:t>
            </a:r>
          </a:p>
          <a:p>
            <a:r>
              <a:rPr lang="pl-PL" dirty="0">
                <a:solidFill>
                  <a:srgbClr val="002060"/>
                </a:solidFill>
                <a:effectLst>
                  <a:outerShdw blurRad="38100" dist="38100" dir="2700000" algn="tl">
                    <a:srgbClr val="000000">
                      <a:alpha val="43137"/>
                    </a:srgbClr>
                  </a:outerShdw>
                </a:effectLst>
              </a:rPr>
              <a:t>2011 </a:t>
            </a:r>
            <a:r>
              <a:rPr lang="pl-PL" b="1" dirty="0" err="1">
                <a:solidFill>
                  <a:srgbClr val="002060"/>
                </a:solidFill>
                <a:effectLst>
                  <a:outerShdw blurRad="38100" dist="38100" dir="2700000" algn="tl">
                    <a:srgbClr val="000000">
                      <a:alpha val="43137"/>
                    </a:srgbClr>
                  </a:outerShdw>
                </a:effectLst>
              </a:rPr>
              <a:t>Autoclenz</a:t>
            </a:r>
            <a:r>
              <a:rPr lang="pl-PL" b="1" dirty="0">
                <a:solidFill>
                  <a:srgbClr val="002060"/>
                </a:solidFill>
                <a:effectLst>
                  <a:outerShdw blurRad="38100" dist="38100" dir="2700000" algn="tl">
                    <a:srgbClr val="000000">
                      <a:alpha val="43137"/>
                    </a:srgbClr>
                  </a:outerShdw>
                </a:effectLst>
              </a:rPr>
              <a:t> v </a:t>
            </a:r>
            <a:r>
              <a:rPr lang="pl-PL" b="1" dirty="0" err="1">
                <a:solidFill>
                  <a:srgbClr val="002060"/>
                </a:solidFill>
                <a:effectLst>
                  <a:outerShdw blurRad="38100" dist="38100" dir="2700000" algn="tl">
                    <a:srgbClr val="000000">
                      <a:alpha val="43137"/>
                    </a:srgbClr>
                  </a:outerShdw>
                </a:effectLst>
              </a:rPr>
              <a:t>Belcher</a:t>
            </a:r>
            <a:r>
              <a:rPr lang="pl-PL" b="1" dirty="0">
                <a:solidFill>
                  <a:srgbClr val="002060"/>
                </a:solidFill>
                <a:effectLst>
                  <a:outerShdw blurRad="38100" dist="38100" dir="2700000" algn="tl">
                    <a:srgbClr val="000000">
                      <a:alpha val="43137"/>
                    </a:srgbClr>
                  </a:outerShdw>
                </a:effectLst>
              </a:rPr>
              <a:t> </a:t>
            </a:r>
            <a:r>
              <a:rPr lang="pl-PL" dirty="0">
                <a:solidFill>
                  <a:srgbClr val="002060"/>
                </a:solidFill>
                <a:effectLst>
                  <a:outerShdw blurRad="38100" dist="38100" dir="2700000" algn="tl">
                    <a:srgbClr val="000000">
                      <a:alpha val="43137"/>
                    </a:srgbClr>
                  </a:outerShdw>
                </a:effectLst>
              </a:rPr>
              <a:t>(car </a:t>
            </a:r>
            <a:r>
              <a:rPr lang="pl-PL" dirty="0" err="1">
                <a:solidFill>
                  <a:srgbClr val="002060"/>
                </a:solidFill>
                <a:effectLst>
                  <a:outerShdw blurRad="38100" dist="38100" dir="2700000" algn="tl">
                    <a:srgbClr val="000000">
                      <a:alpha val="43137"/>
                    </a:srgbClr>
                  </a:outerShdw>
                </a:effectLst>
              </a:rPr>
              <a:t>valets</a:t>
            </a:r>
            <a:r>
              <a:rPr lang="pl-PL" dirty="0">
                <a:solidFill>
                  <a:srgbClr val="002060"/>
                </a:solidFill>
                <a:effectLst>
                  <a:outerShdw blurRad="38100" dist="38100" dir="2700000" algn="tl">
                    <a:srgbClr val="000000">
                      <a:alpha val="43137"/>
                    </a:srgbClr>
                  </a:outerShdw>
                </a:effectLst>
              </a:rPr>
              <a:t>) – </a:t>
            </a:r>
            <a:r>
              <a:rPr lang="pl-PL" dirty="0" err="1">
                <a:solidFill>
                  <a:srgbClr val="002060"/>
                </a:solidFill>
                <a:effectLst>
                  <a:outerShdw blurRad="38100" dist="38100" dir="2700000" algn="tl">
                    <a:srgbClr val="000000">
                      <a:alpha val="43137"/>
                    </a:srgbClr>
                  </a:outerShdw>
                </a:effectLst>
              </a:rPr>
              <a:t>valets</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are</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employees</a:t>
            </a:r>
            <a:r>
              <a:rPr lang="pl-PL" dirty="0">
                <a:solidFill>
                  <a:srgbClr val="002060"/>
                </a:solidFill>
                <a:effectLst>
                  <a:outerShdw blurRad="38100" dist="38100" dir="2700000" algn="tl">
                    <a:srgbClr val="000000">
                      <a:alpha val="43137"/>
                    </a:srgbClr>
                  </a:outerShdw>
                </a:effectLst>
              </a:rPr>
              <a:t>, not independent </a:t>
            </a:r>
            <a:r>
              <a:rPr lang="pl-PL" dirty="0" err="1">
                <a:solidFill>
                  <a:srgbClr val="002060"/>
                </a:solidFill>
                <a:effectLst>
                  <a:outerShdw blurRad="38100" dist="38100" dir="2700000" algn="tl">
                    <a:srgbClr val="000000">
                      <a:alpha val="43137"/>
                    </a:srgbClr>
                  </a:outerShdw>
                </a:effectLst>
              </a:rPr>
              <a:t>contractors</a:t>
            </a:r>
            <a:endParaRPr lang="pl-PL" dirty="0">
              <a:solidFill>
                <a:srgbClr val="002060"/>
              </a:solidFill>
              <a:effectLst>
                <a:outerShdw blurRad="38100" dist="38100" dir="2700000" algn="tl">
                  <a:srgbClr val="000000">
                    <a:alpha val="43137"/>
                  </a:srgbClr>
                </a:outerShdw>
              </a:effectLst>
            </a:endParaRPr>
          </a:p>
          <a:p>
            <a:r>
              <a:rPr lang="pl-PL" b="1" dirty="0">
                <a:solidFill>
                  <a:srgbClr val="002060"/>
                </a:solidFill>
                <a:effectLst>
                  <a:outerShdw blurRad="38100" dist="38100" dir="2700000" algn="tl">
                    <a:srgbClr val="000000">
                      <a:alpha val="43137"/>
                    </a:srgbClr>
                  </a:outerShdw>
                </a:effectLst>
              </a:rPr>
              <a:t>Court in UBER: The idea </a:t>
            </a:r>
            <a:r>
              <a:rPr lang="pl-PL" b="1" dirty="0" err="1">
                <a:solidFill>
                  <a:srgbClr val="002060"/>
                </a:solidFill>
                <a:effectLst>
                  <a:outerShdw blurRad="38100" dist="38100" dir="2700000" algn="tl">
                    <a:srgbClr val="000000">
                      <a:alpha val="43137"/>
                    </a:srgbClr>
                  </a:outerShdw>
                </a:effectLst>
              </a:rPr>
              <a:t>that</a:t>
            </a:r>
            <a:r>
              <a:rPr lang="pl-PL" b="1" dirty="0">
                <a:solidFill>
                  <a:srgbClr val="002060"/>
                </a:solidFill>
                <a:effectLst>
                  <a:outerShdw blurRad="38100" dist="38100" dir="2700000" algn="tl">
                    <a:srgbClr val="000000">
                      <a:alpha val="43137"/>
                    </a:srgbClr>
                  </a:outerShdw>
                </a:effectLst>
              </a:rPr>
              <a:t> Uber </a:t>
            </a:r>
            <a:r>
              <a:rPr lang="pl-PL" b="1" dirty="0" err="1">
                <a:solidFill>
                  <a:srgbClr val="002060"/>
                </a:solidFill>
                <a:effectLst>
                  <a:outerShdw blurRad="38100" dist="38100" dir="2700000" algn="tl">
                    <a:srgbClr val="000000">
                      <a:alpha val="43137"/>
                    </a:srgbClr>
                  </a:outerShdw>
                </a:effectLst>
              </a:rPr>
              <a:t>is</a:t>
            </a:r>
            <a:r>
              <a:rPr lang="pl-PL" b="1" dirty="0">
                <a:solidFill>
                  <a:srgbClr val="00206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merely</a:t>
            </a:r>
            <a:r>
              <a:rPr lang="pl-PL" b="1" dirty="0">
                <a:solidFill>
                  <a:srgbClr val="FF0000"/>
                </a:solidFill>
                <a:effectLst>
                  <a:outerShdw blurRad="38100" dist="38100" dir="2700000" algn="tl">
                    <a:srgbClr val="000000">
                      <a:alpha val="43137"/>
                    </a:srgbClr>
                  </a:outerShdw>
                </a:effectLst>
              </a:rPr>
              <a:t> a software </a:t>
            </a:r>
            <a:r>
              <a:rPr lang="pl-PL" b="1" dirty="0" err="1">
                <a:solidFill>
                  <a:srgbClr val="002060"/>
                </a:solidFill>
                <a:effectLst>
                  <a:outerShdw blurRad="38100" dist="38100" dir="2700000" algn="tl">
                    <a:srgbClr val="000000">
                      <a:alpha val="43137"/>
                    </a:srgbClr>
                  </a:outerShdw>
                </a:effectLst>
              </a:rPr>
              <a:t>provider</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contradicts</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reality</a:t>
            </a:r>
            <a:endParaRPr lang="pl-PL" b="1" dirty="0">
              <a:solidFill>
                <a:srgbClr val="002060"/>
              </a:solidFill>
              <a:effectLst>
                <a:outerShdw blurRad="38100" dist="38100" dir="2700000" algn="tl">
                  <a:srgbClr val="000000">
                    <a:alpha val="43137"/>
                  </a:srgbClr>
                </a:outerShdw>
              </a:effectLst>
            </a:endParaRPr>
          </a:p>
          <a:p>
            <a:endParaRPr lang="en-US" dirty="0"/>
          </a:p>
        </p:txBody>
      </p:sp>
      <p:sp>
        <p:nvSpPr>
          <p:cNvPr id="4" name="Symbol zastępczy numeru slajdu 3">
            <a:extLst>
              <a:ext uri="{FF2B5EF4-FFF2-40B4-BE49-F238E27FC236}">
                <a16:creationId xmlns:a16="http://schemas.microsoft.com/office/drawing/2014/main" id="{3702DBE6-1A36-181A-5784-08736EF5556B}"/>
              </a:ext>
            </a:extLst>
          </p:cNvPr>
          <p:cNvSpPr>
            <a:spLocks noGrp="1"/>
          </p:cNvSpPr>
          <p:nvPr>
            <p:ph type="sldNum" sz="quarter" idx="12"/>
          </p:nvPr>
        </p:nvSpPr>
        <p:spPr/>
        <p:txBody>
          <a:bodyPr/>
          <a:lstStyle/>
          <a:p>
            <a:fld id="{31FE8408-9B39-4718-B64F-54F72D092B1B}" type="slidenum">
              <a:rPr lang="pl-PL" smtClean="0"/>
              <a:t>5</a:t>
            </a:fld>
            <a:endParaRPr lang="pl-PL" dirty="0"/>
          </a:p>
        </p:txBody>
      </p:sp>
    </p:spTree>
    <p:extLst>
      <p:ext uri="{BB962C8B-B14F-4D97-AF65-F5344CB8AC3E}">
        <p14:creationId xmlns:p14="http://schemas.microsoft.com/office/powerpoint/2010/main" val="1608554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0BC9AC8-0BED-E565-A5DD-B5C4AC149B48}"/>
              </a:ext>
            </a:extLst>
          </p:cNvPr>
          <p:cNvSpPr>
            <a:spLocks noGrp="1"/>
          </p:cNvSpPr>
          <p:nvPr>
            <p:ph type="title"/>
          </p:nvPr>
        </p:nvSpPr>
        <p:spPr/>
        <p:txBody>
          <a:bodyPr>
            <a:normAutofit/>
          </a:bodyPr>
          <a:lstStyle/>
          <a:p>
            <a:r>
              <a:rPr lang="en-US" sz="3200" b="1" dirty="0">
                <a:solidFill>
                  <a:srgbClr val="002060"/>
                </a:solidFill>
                <a:effectLst>
                  <a:outerShdw blurRad="38100" dist="38100" dir="2700000" algn="tl">
                    <a:srgbClr val="000000">
                      <a:alpha val="43137"/>
                    </a:srgbClr>
                  </a:outerShdw>
                </a:effectLst>
              </a:rPr>
              <a:t>Gig economy – administrative policing and labor issues</a:t>
            </a:r>
            <a:endParaRPr lang="en-US" sz="3200" dirty="0"/>
          </a:p>
        </p:txBody>
      </p:sp>
      <p:sp>
        <p:nvSpPr>
          <p:cNvPr id="3" name="Symbol zastępczy zawartości 2">
            <a:extLst>
              <a:ext uri="{FF2B5EF4-FFF2-40B4-BE49-F238E27FC236}">
                <a16:creationId xmlns:a16="http://schemas.microsoft.com/office/drawing/2014/main" id="{96CD62AC-5235-1FCA-6BC4-500E08D4E20D}"/>
              </a:ext>
            </a:extLst>
          </p:cNvPr>
          <p:cNvSpPr>
            <a:spLocks noGrp="1"/>
          </p:cNvSpPr>
          <p:nvPr>
            <p:ph idx="1"/>
          </p:nvPr>
        </p:nvSpPr>
        <p:spPr/>
        <p:txBody>
          <a:bodyPr/>
          <a:lstStyle/>
          <a:p>
            <a:r>
              <a:rPr lang="en-US" b="1" dirty="0">
                <a:solidFill>
                  <a:srgbClr val="002060"/>
                </a:solidFill>
                <a:effectLst>
                  <a:outerShdw blurRad="38100" dist="38100" dir="2700000" algn="tl">
                    <a:srgbClr val="000000">
                      <a:alpha val="43137"/>
                    </a:srgbClr>
                  </a:outerShdw>
                </a:effectLst>
              </a:rPr>
              <a:t>Using a technology platform </a:t>
            </a:r>
            <a:r>
              <a:rPr lang="en-US" b="1" dirty="0">
                <a:solidFill>
                  <a:srgbClr val="FF0000"/>
                </a:solidFill>
                <a:effectLst>
                  <a:outerShdw blurRad="38100" dist="38100" dir="2700000" algn="tl">
                    <a:srgbClr val="000000">
                      <a:alpha val="43137"/>
                    </a:srgbClr>
                  </a:outerShdw>
                </a:effectLst>
              </a:rPr>
              <a:t>doesn't inevitably lead </a:t>
            </a:r>
            <a:r>
              <a:rPr lang="en-US" b="1" dirty="0">
                <a:solidFill>
                  <a:srgbClr val="002060"/>
                </a:solidFill>
                <a:effectLst>
                  <a:outerShdw blurRad="38100" dist="38100" dir="2700000" algn="tl">
                    <a:srgbClr val="000000">
                      <a:alpha val="43137"/>
                    </a:srgbClr>
                  </a:outerShdw>
                </a:effectLst>
              </a:rPr>
              <a:t>to employee status (eBay; Airbnb).</a:t>
            </a:r>
          </a:p>
          <a:p>
            <a:r>
              <a:rPr lang="en-US" dirty="0">
                <a:solidFill>
                  <a:srgbClr val="002060"/>
                </a:solidFill>
                <a:effectLst>
                  <a:outerShdw blurRad="38100" dist="38100" dir="2700000" algn="tl">
                    <a:srgbClr val="000000">
                      <a:alpha val="43137"/>
                    </a:srgbClr>
                  </a:outerShdw>
                </a:effectLst>
              </a:rPr>
              <a:t>Customers use the </a:t>
            </a:r>
            <a:r>
              <a:rPr lang="en-US" b="1" dirty="0">
                <a:solidFill>
                  <a:srgbClr val="002060"/>
                </a:solidFill>
                <a:effectLst>
                  <a:outerShdw blurRad="38100" dist="38100" dir="2700000" algn="tl">
                    <a:srgbClr val="000000">
                      <a:alpha val="43137"/>
                    </a:srgbClr>
                  </a:outerShdw>
                </a:effectLst>
              </a:rPr>
              <a:t>Uber app, not the driver's app.</a:t>
            </a:r>
          </a:p>
          <a:p>
            <a:r>
              <a:rPr lang="en-US" b="1" dirty="0">
                <a:solidFill>
                  <a:srgbClr val="002060"/>
                </a:solidFill>
                <a:effectLst>
                  <a:outerShdw blurRad="38100" dist="38100" dir="2700000" algn="tl">
                    <a:srgbClr val="000000">
                      <a:alpha val="43137"/>
                    </a:srgbClr>
                  </a:outerShdw>
                </a:effectLst>
              </a:rPr>
              <a:t>Billing with Uber, not the driver.</a:t>
            </a:r>
          </a:p>
          <a:p>
            <a:r>
              <a:rPr lang="en-US" b="1" dirty="0">
                <a:solidFill>
                  <a:srgbClr val="FF0000"/>
                </a:solidFill>
                <a:effectLst>
                  <a:outerShdw blurRad="38100" dist="38100" dir="2700000" algn="tl">
                    <a:srgbClr val="000000">
                      <a:alpha val="43137"/>
                    </a:srgbClr>
                  </a:outerShdw>
                </a:effectLst>
              </a:rPr>
              <a:t>Partner or employee?</a:t>
            </a:r>
            <a:r>
              <a:rPr lang="pl-PL" b="1" dirty="0">
                <a:solidFill>
                  <a:srgbClr val="FF000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What business model? One company or </a:t>
            </a:r>
            <a:r>
              <a:rPr lang="en-US" b="1" dirty="0">
                <a:solidFill>
                  <a:srgbClr val="002060"/>
                </a:solidFill>
                <a:effectLst>
                  <a:outerShdw blurRad="38100" dist="38100" dir="2700000" algn="tl">
                    <a:srgbClr val="000000">
                      <a:alpha val="43137"/>
                    </a:srgbClr>
                  </a:outerShdw>
                </a:effectLst>
              </a:rPr>
              <a:t>30,000</a:t>
            </a:r>
            <a:r>
              <a:rPr lang="en-US" dirty="0">
                <a:solidFill>
                  <a:srgbClr val="002060"/>
                </a:solidFill>
                <a:effectLst>
                  <a:outerShdw blurRad="38100" dist="38100" dir="2700000" algn="tl">
                    <a:srgbClr val="000000">
                      <a:alpha val="43137"/>
                    </a:srgbClr>
                  </a:outerShdw>
                </a:effectLst>
              </a:rPr>
              <a:t> independent companies?</a:t>
            </a:r>
          </a:p>
          <a:p>
            <a:r>
              <a:rPr lang="en-US" b="1" dirty="0">
                <a:solidFill>
                  <a:srgbClr val="FF0000"/>
                </a:solidFill>
                <a:effectLst>
                  <a:outerShdw blurRad="38100" dist="38100" dir="2700000" algn="tl">
                    <a:srgbClr val="000000">
                      <a:alpha val="43137"/>
                    </a:srgbClr>
                  </a:outerShdw>
                </a:effectLst>
              </a:rPr>
              <a:t>The answer depends </a:t>
            </a:r>
            <a:r>
              <a:rPr lang="en-US" dirty="0">
                <a:solidFill>
                  <a:srgbClr val="002060"/>
                </a:solidFill>
                <a:effectLst>
                  <a:outerShdw blurRad="38100" dist="38100" dir="2700000" algn="tl">
                    <a:srgbClr val="000000">
                      <a:alpha val="43137"/>
                    </a:srgbClr>
                  </a:outerShdw>
                </a:effectLst>
              </a:rPr>
              <a:t>on the extent of Uber's </a:t>
            </a:r>
            <a:r>
              <a:rPr lang="en-US" b="1" dirty="0">
                <a:solidFill>
                  <a:srgbClr val="FF0000"/>
                </a:solidFill>
                <a:effectLst>
                  <a:outerShdw blurRad="38100" dist="38100" dir="2700000" algn="tl">
                    <a:srgbClr val="000000">
                      <a:alpha val="43137"/>
                    </a:srgbClr>
                  </a:outerShdw>
                </a:effectLst>
              </a:rPr>
              <a:t>control over drivers.</a:t>
            </a:r>
          </a:p>
          <a:p>
            <a:endParaRPr lang="en-US" dirty="0"/>
          </a:p>
        </p:txBody>
      </p:sp>
      <p:sp>
        <p:nvSpPr>
          <p:cNvPr id="4" name="Symbol zastępczy numeru slajdu 3">
            <a:extLst>
              <a:ext uri="{FF2B5EF4-FFF2-40B4-BE49-F238E27FC236}">
                <a16:creationId xmlns:a16="http://schemas.microsoft.com/office/drawing/2014/main" id="{AFABF818-3BBE-64C6-6F73-0EC1DAA4062B}"/>
              </a:ext>
            </a:extLst>
          </p:cNvPr>
          <p:cNvSpPr>
            <a:spLocks noGrp="1"/>
          </p:cNvSpPr>
          <p:nvPr>
            <p:ph type="sldNum" sz="quarter" idx="12"/>
          </p:nvPr>
        </p:nvSpPr>
        <p:spPr/>
        <p:txBody>
          <a:bodyPr/>
          <a:lstStyle/>
          <a:p>
            <a:fld id="{31FE8408-9B39-4718-B64F-54F72D092B1B}" type="slidenum">
              <a:rPr lang="pl-PL" smtClean="0"/>
              <a:t>6</a:t>
            </a:fld>
            <a:endParaRPr lang="pl-PL" dirty="0"/>
          </a:p>
        </p:txBody>
      </p:sp>
    </p:spTree>
    <p:extLst>
      <p:ext uri="{BB962C8B-B14F-4D97-AF65-F5344CB8AC3E}">
        <p14:creationId xmlns:p14="http://schemas.microsoft.com/office/powerpoint/2010/main" val="354152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2D7BE16-AD48-07AC-A411-6909616A6E69}"/>
              </a:ext>
            </a:extLst>
          </p:cNvPr>
          <p:cNvSpPr>
            <a:spLocks noGrp="1"/>
          </p:cNvSpPr>
          <p:nvPr>
            <p:ph type="title"/>
          </p:nvPr>
        </p:nvSpPr>
        <p:spPr/>
        <p:txBody>
          <a:bodyPr>
            <a:normAutofit/>
          </a:bodyPr>
          <a:lstStyle/>
          <a:p>
            <a:r>
              <a:rPr lang="en-US" sz="3600" b="1" dirty="0">
                <a:solidFill>
                  <a:srgbClr val="002060"/>
                </a:solidFill>
                <a:effectLst>
                  <a:outerShdw blurRad="38100" dist="38100" dir="2700000" algn="tl">
                    <a:srgbClr val="000000">
                      <a:alpha val="43137"/>
                    </a:srgbClr>
                  </a:outerShdw>
                </a:effectLst>
              </a:rPr>
              <a:t>Gig economy – administrative policing and labor issues</a:t>
            </a:r>
            <a:endParaRPr lang="en-US" sz="3600" dirty="0"/>
          </a:p>
        </p:txBody>
      </p:sp>
      <p:sp>
        <p:nvSpPr>
          <p:cNvPr id="3" name="Symbol zastępczy zawartości 2">
            <a:extLst>
              <a:ext uri="{FF2B5EF4-FFF2-40B4-BE49-F238E27FC236}">
                <a16:creationId xmlns:a16="http://schemas.microsoft.com/office/drawing/2014/main" id="{A445B6D5-0AB6-53A6-8BE3-4BE13576FCA5}"/>
              </a:ext>
            </a:extLst>
          </p:cNvPr>
          <p:cNvSpPr>
            <a:spLocks noGrp="1"/>
          </p:cNvSpPr>
          <p:nvPr>
            <p:ph idx="1"/>
          </p:nvPr>
        </p:nvSpPr>
        <p:spPr/>
        <p:txBody>
          <a:bodyPr>
            <a:normAutofit lnSpcReduction="10000"/>
          </a:bodyPr>
          <a:lstStyle/>
          <a:p>
            <a:pPr marL="0" indent="0">
              <a:buNone/>
            </a:pPr>
            <a:r>
              <a:rPr lang="en-US" b="1" dirty="0">
                <a:solidFill>
                  <a:srgbClr val="FF0000"/>
                </a:solidFill>
                <a:effectLst>
                  <a:outerShdw blurRad="38100" dist="38100" dir="2700000" algn="tl">
                    <a:srgbClr val="000000">
                      <a:alpha val="43137"/>
                    </a:srgbClr>
                  </a:outerShdw>
                </a:effectLst>
              </a:rPr>
              <a:t>UBER ARGUMENTS </a:t>
            </a:r>
            <a:r>
              <a:rPr lang="en-US" dirty="0">
                <a:solidFill>
                  <a:srgbClr val="002060"/>
                </a:solidFill>
                <a:effectLst>
                  <a:outerShdw blurRad="38100" dist="38100" dir="2700000" algn="tl">
                    <a:srgbClr val="000000">
                      <a:alpha val="43137"/>
                    </a:srgbClr>
                  </a:outerShdw>
                </a:effectLst>
              </a:rPr>
              <a:t>(argument: drivers are separate companies):</a:t>
            </a:r>
          </a:p>
          <a:p>
            <a:r>
              <a:rPr lang="en-US" dirty="0">
                <a:solidFill>
                  <a:srgbClr val="002060"/>
                </a:solidFill>
                <a:effectLst>
                  <a:outerShdw blurRad="38100" dist="38100" dir="2700000" algn="tl">
                    <a:srgbClr val="000000">
                      <a:alpha val="43137"/>
                    </a:srgbClr>
                  </a:outerShdw>
                </a:effectLst>
              </a:rPr>
              <a:t>Drivers are "partners</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a:t>
            </a:r>
          </a:p>
          <a:p>
            <a:r>
              <a:rPr lang="en-US" dirty="0">
                <a:solidFill>
                  <a:srgbClr val="002060"/>
                </a:solidFill>
                <a:effectLst>
                  <a:outerShdw blurRad="38100" dist="38100" dir="2700000" algn="tl">
                    <a:srgbClr val="000000">
                      <a:alpha val="43137"/>
                    </a:srgbClr>
                  </a:outerShdw>
                </a:effectLst>
              </a:rPr>
              <a:t>No set working hours</a:t>
            </a:r>
          </a:p>
          <a:p>
            <a:r>
              <a:rPr lang="en-US" dirty="0">
                <a:solidFill>
                  <a:srgbClr val="002060"/>
                </a:solidFill>
                <a:effectLst>
                  <a:outerShdw blurRad="38100" dist="38100" dir="2700000" algn="tl">
                    <a:srgbClr val="000000">
                      <a:alpha val="43137"/>
                    </a:srgbClr>
                  </a:outerShdw>
                </a:effectLst>
              </a:rPr>
              <a:t>No minimum working hours</a:t>
            </a:r>
          </a:p>
          <a:p>
            <a:r>
              <a:rPr lang="en-US" dirty="0">
                <a:solidFill>
                  <a:srgbClr val="002060"/>
                </a:solidFill>
                <a:effectLst>
                  <a:outerShdw blurRad="38100" dist="38100" dir="2700000" algn="tl">
                    <a:srgbClr val="000000">
                      <a:alpha val="43137"/>
                    </a:srgbClr>
                  </a:outerShdw>
                </a:effectLst>
              </a:rPr>
              <a:t>No obligation to work exclusively for Uber</a:t>
            </a:r>
          </a:p>
          <a:p>
            <a:pPr marL="0" indent="0">
              <a:buNone/>
            </a:pPr>
            <a:r>
              <a:rPr lang="en-US" b="1" dirty="0">
                <a:solidFill>
                  <a:srgbClr val="FF0000"/>
                </a:solidFill>
                <a:effectLst>
                  <a:outerShdw blurRad="38100" dist="38100" dir="2700000" algn="tl">
                    <a:srgbClr val="000000">
                      <a:alpha val="43137"/>
                    </a:srgbClr>
                  </a:outerShdw>
                </a:effectLst>
              </a:rPr>
              <a:t>ARGUMENTS FOR THE ONE-COMPANY MODEL</a:t>
            </a:r>
          </a:p>
          <a:p>
            <a:r>
              <a:rPr lang="en-US" dirty="0">
                <a:solidFill>
                  <a:srgbClr val="002060"/>
                </a:solidFill>
                <a:effectLst>
                  <a:outerShdw blurRad="38100" dist="38100" dir="2700000" algn="tl">
                    <a:srgbClr val="000000">
                      <a:alpha val="43137"/>
                    </a:srgbClr>
                  </a:outerShdw>
                </a:effectLst>
              </a:rPr>
              <a:t>App-based monitoring</a:t>
            </a:r>
          </a:p>
          <a:p>
            <a:r>
              <a:rPr lang="en-US" dirty="0">
                <a:solidFill>
                  <a:srgbClr val="002060"/>
                </a:solidFill>
                <a:effectLst>
                  <a:outerShdw blurRad="38100" dist="38100" dir="2700000" algn="tl">
                    <a:srgbClr val="000000">
                      <a:alpha val="43137"/>
                    </a:srgbClr>
                  </a:outerShdw>
                </a:effectLst>
              </a:rPr>
              <a:t>Driver ratings that can lead to exclusion (performance)</a:t>
            </a:r>
          </a:p>
          <a:p>
            <a:r>
              <a:rPr lang="en-US" dirty="0">
                <a:solidFill>
                  <a:srgbClr val="002060"/>
                </a:solidFill>
                <a:effectLst>
                  <a:outerShdw blurRad="38100" dist="38100" dir="2700000" algn="tl">
                    <a:srgbClr val="000000">
                      <a:alpha val="43137"/>
                    </a:srgbClr>
                  </a:outerShdw>
                </a:effectLst>
              </a:rPr>
              <a:t>Drivers do not receive any money from the customer</a:t>
            </a:r>
          </a:p>
          <a:p>
            <a:endParaRPr lang="en-US" dirty="0"/>
          </a:p>
        </p:txBody>
      </p:sp>
      <p:sp>
        <p:nvSpPr>
          <p:cNvPr id="4" name="Symbol zastępczy numeru slajdu 3">
            <a:extLst>
              <a:ext uri="{FF2B5EF4-FFF2-40B4-BE49-F238E27FC236}">
                <a16:creationId xmlns:a16="http://schemas.microsoft.com/office/drawing/2014/main" id="{059D5895-5723-EDEB-6E34-043CE7BB07AA}"/>
              </a:ext>
            </a:extLst>
          </p:cNvPr>
          <p:cNvSpPr>
            <a:spLocks noGrp="1"/>
          </p:cNvSpPr>
          <p:nvPr>
            <p:ph type="sldNum" sz="quarter" idx="12"/>
          </p:nvPr>
        </p:nvSpPr>
        <p:spPr/>
        <p:txBody>
          <a:bodyPr/>
          <a:lstStyle/>
          <a:p>
            <a:fld id="{31FE8408-9B39-4718-B64F-54F72D092B1B}" type="slidenum">
              <a:rPr lang="pl-PL" smtClean="0"/>
              <a:t>7</a:t>
            </a:fld>
            <a:endParaRPr lang="pl-PL" dirty="0"/>
          </a:p>
        </p:txBody>
      </p:sp>
    </p:spTree>
    <p:extLst>
      <p:ext uri="{BB962C8B-B14F-4D97-AF65-F5344CB8AC3E}">
        <p14:creationId xmlns:p14="http://schemas.microsoft.com/office/powerpoint/2010/main" val="504660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4CDA220-97B7-408D-CFDD-B832324D903B}"/>
              </a:ext>
            </a:extLst>
          </p:cNvPr>
          <p:cNvSpPr>
            <a:spLocks noGrp="1"/>
          </p:cNvSpPr>
          <p:nvPr>
            <p:ph type="title"/>
          </p:nvPr>
        </p:nvSpPr>
        <p:spPr/>
        <p:txBody>
          <a:bodyPr>
            <a:normAutofit/>
          </a:bodyPr>
          <a:lstStyle/>
          <a:p>
            <a:r>
              <a:rPr lang="en-US" sz="3600" b="1" dirty="0">
                <a:solidFill>
                  <a:srgbClr val="002060"/>
                </a:solidFill>
                <a:effectLst>
                  <a:outerShdw blurRad="38100" dist="38100" dir="2700000" algn="tl">
                    <a:srgbClr val="000000">
                      <a:alpha val="43137"/>
                    </a:srgbClr>
                  </a:outerShdw>
                </a:effectLst>
              </a:rPr>
              <a:t>Gig economy – administrative policing and labor issues</a:t>
            </a:r>
            <a:endParaRPr lang="en-US" sz="3600" dirty="0"/>
          </a:p>
        </p:txBody>
      </p:sp>
      <p:sp>
        <p:nvSpPr>
          <p:cNvPr id="3" name="Symbol zastępczy zawartości 2">
            <a:extLst>
              <a:ext uri="{FF2B5EF4-FFF2-40B4-BE49-F238E27FC236}">
                <a16:creationId xmlns:a16="http://schemas.microsoft.com/office/drawing/2014/main" id="{BB368E2F-583B-4FE0-05AD-ABC929B8DD5C}"/>
              </a:ext>
            </a:extLst>
          </p:cNvPr>
          <p:cNvSpPr>
            <a:spLocks noGrp="1"/>
          </p:cNvSpPr>
          <p:nvPr>
            <p:ph idx="1"/>
          </p:nvPr>
        </p:nvSpPr>
        <p:spPr/>
        <p:txBody>
          <a:bodyPr>
            <a:normAutofit fontScale="92500"/>
          </a:bodyPr>
          <a:lstStyle/>
          <a:p>
            <a:pPr marL="0" indent="0">
              <a:buNone/>
            </a:pPr>
            <a:r>
              <a:rPr lang="pl-PL" b="1" dirty="0">
                <a:solidFill>
                  <a:srgbClr val="FF0000"/>
                </a:solidFill>
                <a:effectLst>
                  <a:outerShdw blurRad="38100" dist="38100" dir="2700000" algn="tl">
                    <a:srgbClr val="000000">
                      <a:alpha val="43137"/>
                    </a:srgbClr>
                  </a:outerShdw>
                </a:effectLst>
              </a:rPr>
              <a:t>THE COURT</a:t>
            </a:r>
            <a:r>
              <a:rPr lang="en-US" b="1" dirty="0">
                <a:solidFill>
                  <a:srgbClr val="FF0000"/>
                </a:solidFill>
                <a:effectLst>
                  <a:outerShdw blurRad="38100" dist="38100" dir="2700000" algn="tl">
                    <a:srgbClr val="000000">
                      <a:alpha val="43137"/>
                    </a:srgbClr>
                  </a:outerShdw>
                </a:effectLst>
              </a:rPr>
              <a:t> </a:t>
            </a:r>
            <a:endParaRPr lang="pl-PL" b="1" dirty="0">
              <a:solidFill>
                <a:srgbClr val="FF000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Drivers work when:</a:t>
            </a:r>
          </a:p>
          <a:p>
            <a:r>
              <a:rPr lang="en-US" dirty="0">
                <a:solidFill>
                  <a:srgbClr val="002060"/>
                </a:solidFill>
                <a:effectLst>
                  <a:outerShdw blurRad="38100" dist="38100" dir="2700000" algn="tl">
                    <a:srgbClr val="000000">
                      <a:alpha val="43137"/>
                    </a:srgbClr>
                  </a:outerShdw>
                </a:effectLst>
              </a:rPr>
              <a:t>They are in the territory covered by the service</a:t>
            </a:r>
          </a:p>
          <a:p>
            <a:r>
              <a:rPr lang="en-US" dirty="0">
                <a:solidFill>
                  <a:srgbClr val="002060"/>
                </a:solidFill>
                <a:effectLst>
                  <a:outerShdw blurRad="38100" dist="38100" dir="2700000" algn="tl">
                    <a:srgbClr val="000000">
                      <a:alpha val="43137"/>
                    </a:srgbClr>
                  </a:outerShdw>
                </a:effectLst>
              </a:rPr>
              <a:t>They have the app enabled (not only while the service is being provided)</a:t>
            </a:r>
          </a:p>
          <a:p>
            <a:r>
              <a:rPr lang="en-US" dirty="0">
                <a:solidFill>
                  <a:srgbClr val="002060"/>
                </a:solidFill>
                <a:effectLst>
                  <a:outerShdw blurRad="38100" dist="38100" dir="2700000" algn="tl">
                    <a:srgbClr val="000000">
                      <a:alpha val="43137"/>
                    </a:srgbClr>
                  </a:outerShdw>
                </a:effectLst>
              </a:rPr>
              <a:t>Returning after completing the service also constitutes work for Uber</a:t>
            </a:r>
          </a:p>
          <a:p>
            <a:r>
              <a:rPr lang="en-US" dirty="0">
                <a:solidFill>
                  <a:srgbClr val="002060"/>
                </a:solidFill>
                <a:effectLst>
                  <a:outerShdw blurRad="38100" dist="38100" dir="2700000" algn="tl">
                    <a:srgbClr val="000000">
                      <a:alpha val="43137"/>
                    </a:srgbClr>
                  </a:outerShdw>
                </a:effectLst>
              </a:rPr>
              <a:t>They perform unmeasured work</a:t>
            </a:r>
          </a:p>
          <a:p>
            <a:r>
              <a:rPr lang="en-US" dirty="0">
                <a:solidFill>
                  <a:srgbClr val="002060"/>
                </a:solidFill>
                <a:effectLst>
                  <a:outerShdw blurRad="38100" dist="38100" dir="2700000" algn="tl">
                    <a:srgbClr val="000000">
                      <a:alpha val="43137"/>
                    </a:srgbClr>
                  </a:outerShdw>
                </a:effectLst>
              </a:rPr>
              <a:t>There is no ruling on whether a driver is an employee, but they are certainly a worker (a broader category) [employee - special protection after 2 years of employment, whistleblowing protection, maternity leave, etc.]</a:t>
            </a:r>
          </a:p>
          <a:p>
            <a:endParaRPr lang="en-US" dirty="0"/>
          </a:p>
        </p:txBody>
      </p:sp>
      <p:sp>
        <p:nvSpPr>
          <p:cNvPr id="4" name="Symbol zastępczy numeru slajdu 3">
            <a:extLst>
              <a:ext uri="{FF2B5EF4-FFF2-40B4-BE49-F238E27FC236}">
                <a16:creationId xmlns:a16="http://schemas.microsoft.com/office/drawing/2014/main" id="{9E7C9FEF-D277-3552-645E-93D32112849B}"/>
              </a:ext>
            </a:extLst>
          </p:cNvPr>
          <p:cNvSpPr>
            <a:spLocks noGrp="1"/>
          </p:cNvSpPr>
          <p:nvPr>
            <p:ph type="sldNum" sz="quarter" idx="12"/>
          </p:nvPr>
        </p:nvSpPr>
        <p:spPr/>
        <p:txBody>
          <a:bodyPr/>
          <a:lstStyle/>
          <a:p>
            <a:fld id="{31FE8408-9B39-4718-B64F-54F72D092B1B}" type="slidenum">
              <a:rPr lang="pl-PL" smtClean="0"/>
              <a:t>8</a:t>
            </a:fld>
            <a:endParaRPr lang="pl-PL" dirty="0"/>
          </a:p>
        </p:txBody>
      </p:sp>
    </p:spTree>
    <p:extLst>
      <p:ext uri="{BB962C8B-B14F-4D97-AF65-F5344CB8AC3E}">
        <p14:creationId xmlns:p14="http://schemas.microsoft.com/office/powerpoint/2010/main" val="1469408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0EAD84-4AFF-CB24-0147-D7B7B4DEE820}"/>
              </a:ext>
            </a:extLst>
          </p:cNvPr>
          <p:cNvSpPr>
            <a:spLocks noGrp="1"/>
          </p:cNvSpPr>
          <p:nvPr>
            <p:ph type="title"/>
          </p:nvPr>
        </p:nvSpPr>
        <p:spPr/>
        <p:txBody>
          <a:bodyPr>
            <a:normAutofit/>
          </a:bodyPr>
          <a:lstStyle/>
          <a:p>
            <a:r>
              <a:rPr lang="en-US" sz="3600" b="1" dirty="0">
                <a:solidFill>
                  <a:srgbClr val="002060"/>
                </a:solidFill>
                <a:effectLst>
                  <a:outerShdw blurRad="38100" dist="38100" dir="2700000" algn="tl">
                    <a:srgbClr val="000000">
                      <a:alpha val="43137"/>
                    </a:srgbClr>
                  </a:outerShdw>
                </a:effectLst>
              </a:rPr>
              <a:t>Gig economy – administrative policing and labor issues</a:t>
            </a:r>
            <a:endParaRPr lang="en-US" sz="3600" dirty="0"/>
          </a:p>
        </p:txBody>
      </p:sp>
      <p:sp>
        <p:nvSpPr>
          <p:cNvPr id="3" name="Symbol zastępczy zawartości 2">
            <a:extLst>
              <a:ext uri="{FF2B5EF4-FFF2-40B4-BE49-F238E27FC236}">
                <a16:creationId xmlns:a16="http://schemas.microsoft.com/office/drawing/2014/main" id="{56D3A0D7-EE81-97E3-E217-F79EECE6F8E0}"/>
              </a:ext>
            </a:extLst>
          </p:cNvPr>
          <p:cNvSpPr>
            <a:spLocks noGrp="1"/>
          </p:cNvSpPr>
          <p:nvPr>
            <p:ph idx="1"/>
          </p:nvPr>
        </p:nvSpPr>
        <p:spPr/>
        <p:txBody>
          <a:bodyPr/>
          <a:lstStyle/>
          <a:p>
            <a:pPr marL="0" indent="0">
              <a:buNone/>
            </a:pPr>
            <a:r>
              <a:rPr lang="pl-PL" dirty="0">
                <a:solidFill>
                  <a:srgbClr val="002060"/>
                </a:solidFill>
                <a:effectLst>
                  <a:outerShdw blurRad="38100" dist="38100" dir="2700000" algn="tl">
                    <a:srgbClr val="000000">
                      <a:alpha val="43137"/>
                    </a:srgbClr>
                  </a:outerShdw>
                </a:effectLst>
              </a:rPr>
              <a:t>POSITION OF THE POLISH </a:t>
            </a:r>
            <a:r>
              <a:rPr lang="pl-PL" b="1" dirty="0">
                <a:solidFill>
                  <a:srgbClr val="FF0000"/>
                </a:solidFill>
                <a:effectLst>
                  <a:outerShdw blurRad="38100" dist="38100" dir="2700000" algn="tl">
                    <a:srgbClr val="000000">
                      <a:alpha val="43137"/>
                    </a:srgbClr>
                  </a:outerShdw>
                </a:effectLst>
              </a:rPr>
              <a:t>COMPETITION PROTECTION AUTHORITY</a:t>
            </a:r>
          </a:p>
          <a:p>
            <a:r>
              <a:rPr lang="en-US" dirty="0">
                <a:solidFill>
                  <a:srgbClr val="002060"/>
                </a:solidFill>
                <a:effectLst>
                  <a:outerShdw blurRad="38100" dist="38100" dir="2700000" algn="tl">
                    <a:srgbClr val="000000">
                      <a:alpha val="43137"/>
                    </a:srgbClr>
                  </a:outerShdw>
                </a:effectLst>
              </a:rPr>
              <a:t>The monitoring and analyses conducted to date do NOT indicate the need for intervention by the Office of Competition and Consumer Protection (</a:t>
            </a:r>
            <a:r>
              <a:rPr lang="en-US" dirty="0" err="1">
                <a:solidFill>
                  <a:srgbClr val="002060"/>
                </a:solidFill>
                <a:effectLst>
                  <a:outerShdw blurRad="38100" dist="38100" dir="2700000" algn="tl">
                    <a:srgbClr val="000000">
                      <a:alpha val="43137"/>
                    </a:srgbClr>
                  </a:outerShdw>
                </a:effectLst>
              </a:rPr>
              <a:t>UOKiK</a:t>
            </a:r>
            <a:r>
              <a:rPr lang="en-US" dirty="0">
                <a:solidFill>
                  <a:srgbClr val="002060"/>
                </a:solidFill>
                <a:effectLst>
                  <a:outerShdw blurRad="38100" dist="38100" dir="2700000" algn="tl">
                    <a:srgbClr val="000000">
                      <a:alpha val="43137"/>
                    </a:srgbClr>
                  </a:outerShdw>
                </a:effectLst>
              </a:rPr>
              <a:t>) in terms of protecting consumer interests or competition.</a:t>
            </a:r>
          </a:p>
          <a:p>
            <a:r>
              <a:rPr lang="en-US" dirty="0">
                <a:solidFill>
                  <a:srgbClr val="002060"/>
                </a:solidFill>
                <a:effectLst>
                  <a:outerShdw blurRad="38100" dist="38100" dir="2700000" algn="tl">
                    <a:srgbClr val="000000">
                      <a:alpha val="43137"/>
                    </a:srgbClr>
                  </a:outerShdw>
                </a:effectLst>
              </a:rPr>
              <a:t>Drivers who work with Uber </a:t>
            </a:r>
            <a:r>
              <a:rPr lang="en-US" b="1" dirty="0">
                <a:solidFill>
                  <a:srgbClr val="FF0000"/>
                </a:solidFill>
                <a:effectLst>
                  <a:outerShdw blurRad="38100" dist="38100" dir="2700000" algn="tl">
                    <a:srgbClr val="000000">
                      <a:alpha val="43137"/>
                    </a:srgbClr>
                  </a:outerShdw>
                </a:effectLst>
              </a:rPr>
              <a:t>have been providing proof of conducting BUSINESS ACTIVITY </a:t>
            </a:r>
            <a:r>
              <a:rPr lang="en-US" dirty="0">
                <a:solidFill>
                  <a:srgbClr val="002060"/>
                </a:solidFill>
                <a:effectLst>
                  <a:outerShdw blurRad="38100" dist="38100" dir="2700000" algn="tl">
                    <a:srgbClr val="000000">
                      <a:alpha val="43137"/>
                    </a:srgbClr>
                  </a:outerShdw>
                </a:effectLst>
              </a:rPr>
              <a:t>since February 2016 – [WH: therefore, contrary to what the EU Court says, they are entrepreneurs]</a:t>
            </a:r>
          </a:p>
          <a:p>
            <a:endParaRPr lang="en-US" dirty="0"/>
          </a:p>
        </p:txBody>
      </p:sp>
      <p:sp>
        <p:nvSpPr>
          <p:cNvPr id="4" name="Symbol zastępczy numeru slajdu 3">
            <a:extLst>
              <a:ext uri="{FF2B5EF4-FFF2-40B4-BE49-F238E27FC236}">
                <a16:creationId xmlns:a16="http://schemas.microsoft.com/office/drawing/2014/main" id="{83271BEF-FA7B-1114-52E5-80935E4A7079}"/>
              </a:ext>
            </a:extLst>
          </p:cNvPr>
          <p:cNvSpPr>
            <a:spLocks noGrp="1"/>
          </p:cNvSpPr>
          <p:nvPr>
            <p:ph type="sldNum" sz="quarter" idx="12"/>
          </p:nvPr>
        </p:nvSpPr>
        <p:spPr/>
        <p:txBody>
          <a:bodyPr/>
          <a:lstStyle/>
          <a:p>
            <a:fld id="{31FE8408-9B39-4718-B64F-54F72D092B1B}" type="slidenum">
              <a:rPr lang="pl-PL" smtClean="0"/>
              <a:t>9</a:t>
            </a:fld>
            <a:endParaRPr lang="pl-PL" dirty="0"/>
          </a:p>
        </p:txBody>
      </p:sp>
    </p:spTree>
    <p:extLst>
      <p:ext uri="{BB962C8B-B14F-4D97-AF65-F5344CB8AC3E}">
        <p14:creationId xmlns:p14="http://schemas.microsoft.com/office/powerpoint/2010/main" val="922291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409D1C-AA05-2A0C-90A5-3277FCAB5B79}"/>
              </a:ext>
            </a:extLst>
          </p:cNvPr>
          <p:cNvSpPr>
            <a:spLocks noGrp="1"/>
          </p:cNvSpPr>
          <p:nvPr>
            <p:ph type="title"/>
          </p:nvPr>
        </p:nvSpPr>
        <p:spPr/>
        <p:txBody>
          <a:bodyPr>
            <a:normAutofit/>
          </a:bodyPr>
          <a:lstStyle/>
          <a:p>
            <a:r>
              <a:rPr lang="en-US" sz="2800" b="1" dirty="0">
                <a:solidFill>
                  <a:srgbClr val="002060"/>
                </a:solidFill>
                <a:effectLst>
                  <a:outerShdw blurRad="38100" dist="38100" dir="2700000" algn="tl">
                    <a:srgbClr val="000000">
                      <a:alpha val="43137"/>
                    </a:srgbClr>
                  </a:outerShdw>
                </a:effectLst>
              </a:rPr>
              <a:t>Gig economy – administrative policing and labor issues</a:t>
            </a:r>
            <a:endParaRPr lang="en-US" sz="2800" dirty="0"/>
          </a:p>
        </p:txBody>
      </p:sp>
      <p:sp>
        <p:nvSpPr>
          <p:cNvPr id="3" name="Symbol zastępczy zawartości 2">
            <a:extLst>
              <a:ext uri="{FF2B5EF4-FFF2-40B4-BE49-F238E27FC236}">
                <a16:creationId xmlns:a16="http://schemas.microsoft.com/office/drawing/2014/main" id="{2E9CE393-0E37-80A3-AE6B-075638E3E9DA}"/>
              </a:ext>
            </a:extLst>
          </p:cNvPr>
          <p:cNvSpPr>
            <a:spLocks noGrp="1"/>
          </p:cNvSpPr>
          <p:nvPr>
            <p:ph idx="1"/>
          </p:nvPr>
        </p:nvSpPr>
        <p:spPr/>
        <p:txBody>
          <a:bodyPr>
            <a:normAutofit fontScale="92500" lnSpcReduction="10000"/>
          </a:bodyPr>
          <a:lstStyle/>
          <a:p>
            <a:pPr marL="0" indent="0">
              <a:buNone/>
            </a:pPr>
            <a:r>
              <a:rPr lang="pl-PL" b="1" dirty="0" err="1">
                <a:solidFill>
                  <a:srgbClr val="002060"/>
                </a:solidFill>
                <a:effectLst>
                  <a:outerShdw blurRad="38100" dist="38100" dir="2700000" algn="tl">
                    <a:srgbClr val="000000">
                      <a:alpha val="43137"/>
                    </a:srgbClr>
                  </a:outerShdw>
                </a:effectLst>
              </a:rPr>
              <a:t>Cont</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Polish</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Competition</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Protection</a:t>
            </a:r>
            <a:r>
              <a:rPr lang="pl-PL" b="1" dirty="0">
                <a:solidFill>
                  <a:srgbClr val="002060"/>
                </a:solidFill>
                <a:effectLst>
                  <a:outerShdw blurRad="38100" dist="38100" dir="2700000" algn="tl">
                    <a:srgbClr val="000000">
                      <a:alpha val="43137"/>
                    </a:srgbClr>
                  </a:outerShdw>
                </a:effectLst>
              </a:rPr>
              <a:t> Authority</a:t>
            </a:r>
          </a:p>
          <a:p>
            <a:r>
              <a:rPr lang="en-US" dirty="0">
                <a:solidFill>
                  <a:srgbClr val="002060"/>
                </a:solidFill>
                <a:effectLst>
                  <a:outerShdw blurRad="38100" dist="38100" dir="2700000" algn="tl">
                    <a:srgbClr val="000000">
                      <a:alpha val="43137"/>
                    </a:srgbClr>
                  </a:outerShdw>
                </a:effectLst>
              </a:rPr>
              <a:t>Uber's main </a:t>
            </a:r>
            <a:r>
              <a:rPr lang="en-US" b="1" dirty="0">
                <a:solidFill>
                  <a:srgbClr val="FF0000"/>
                </a:solidFill>
                <a:effectLst>
                  <a:outerShdw blurRad="38100" dist="38100" dir="2700000" algn="tl">
                    <a:srgbClr val="000000">
                      <a:alpha val="43137"/>
                    </a:srgbClr>
                  </a:outerShdw>
                </a:effectLst>
              </a:rPr>
              <a:t>competitive advantage </a:t>
            </a:r>
            <a:r>
              <a:rPr lang="en-US" dirty="0">
                <a:solidFill>
                  <a:srgbClr val="002060"/>
                </a:solidFill>
                <a:effectLst>
                  <a:outerShdw blurRad="38100" dist="38100" dir="2700000" algn="tl">
                    <a:srgbClr val="000000">
                      <a:alpha val="43137"/>
                    </a:srgbClr>
                  </a:outerShdw>
                </a:effectLst>
              </a:rPr>
              <a:t>stems from its use of modern information technologies, which, on the one hand, allow it to provide consumers with functionalities unavailable in traditional taxi services, and on the other, reduce the costs of the basic service through more efficient use of its fleet. Uber</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therefore</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exerts competitive pressure on the traditional taxi market.</a:t>
            </a:r>
          </a:p>
          <a:p>
            <a:r>
              <a:rPr lang="en-US" b="1" dirty="0">
                <a:solidFill>
                  <a:srgbClr val="002060"/>
                </a:solidFill>
                <a:effectLst>
                  <a:outerShdw blurRad="38100" dist="38100" dir="2700000" algn="tl">
                    <a:srgbClr val="000000">
                      <a:alpha val="43137"/>
                    </a:srgbClr>
                  </a:outerShdw>
                </a:effectLst>
              </a:rPr>
              <a:t>Uber's </a:t>
            </a:r>
            <a:r>
              <a:rPr lang="en-US" b="1" dirty="0">
                <a:solidFill>
                  <a:srgbClr val="FF0000"/>
                </a:solidFill>
                <a:effectLst>
                  <a:outerShdw blurRad="38100" dist="38100" dir="2700000" algn="tl">
                    <a:srgbClr val="000000">
                      <a:alpha val="43137"/>
                    </a:srgbClr>
                  </a:outerShdw>
                </a:effectLst>
              </a:rPr>
              <a:t>innovation</a:t>
            </a:r>
            <a:r>
              <a:rPr lang="en-US" b="1"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does </a:t>
            </a:r>
            <a:r>
              <a:rPr lang="en-US" b="1" dirty="0">
                <a:solidFill>
                  <a:srgbClr val="FF0000"/>
                </a:solidFill>
                <a:effectLst>
                  <a:outerShdw blurRad="38100" dist="38100" dir="2700000" algn="tl">
                    <a:srgbClr val="000000">
                      <a:alpha val="43137"/>
                    </a:srgbClr>
                  </a:outerShdw>
                </a:effectLst>
              </a:rPr>
              <a:t>not reflect efforts aimed at eliminating competition.</a:t>
            </a:r>
          </a:p>
          <a:p>
            <a:r>
              <a:rPr lang="en-US" dirty="0">
                <a:solidFill>
                  <a:srgbClr val="002060"/>
                </a:solidFill>
                <a:effectLst>
                  <a:outerShdw blurRad="38100" dist="38100" dir="2700000" algn="tl">
                    <a:srgbClr val="000000">
                      <a:alpha val="43137"/>
                    </a:srgbClr>
                  </a:outerShdw>
                </a:effectLst>
              </a:rPr>
              <a:t>The </a:t>
            </a:r>
            <a:r>
              <a:rPr lang="en-US" b="1" dirty="0">
                <a:solidFill>
                  <a:srgbClr val="FF0000"/>
                </a:solidFill>
                <a:effectLst>
                  <a:outerShdw blurRad="38100" dist="38100" dir="2700000" algn="tl">
                    <a:srgbClr val="000000">
                      <a:alpha val="43137"/>
                    </a:srgbClr>
                  </a:outerShdw>
                </a:effectLst>
              </a:rPr>
              <a:t>core technologies used by Uber are not protected by patents, so </a:t>
            </a:r>
            <a:r>
              <a:rPr lang="en-US" dirty="0">
                <a:solidFill>
                  <a:srgbClr val="002060"/>
                </a:solidFill>
                <a:effectLst>
                  <a:outerShdw blurRad="38100" dist="38100" dir="2700000" algn="tl">
                    <a:srgbClr val="000000">
                      <a:alpha val="43137"/>
                    </a:srgbClr>
                  </a:outerShdw>
                </a:effectLst>
              </a:rPr>
              <a:t>this business model can be exploited by competing entrepreneurs, who can further modify it to benefit competition and, consequently, consumers.</a:t>
            </a:r>
          </a:p>
          <a:p>
            <a:endParaRPr lang="en-US" dirty="0"/>
          </a:p>
        </p:txBody>
      </p:sp>
      <p:sp>
        <p:nvSpPr>
          <p:cNvPr id="4" name="Symbol zastępczy numeru slajdu 3">
            <a:extLst>
              <a:ext uri="{FF2B5EF4-FFF2-40B4-BE49-F238E27FC236}">
                <a16:creationId xmlns:a16="http://schemas.microsoft.com/office/drawing/2014/main" id="{D2D585E7-F96B-FA66-06F9-F17AE04D8F43}"/>
              </a:ext>
            </a:extLst>
          </p:cNvPr>
          <p:cNvSpPr>
            <a:spLocks noGrp="1"/>
          </p:cNvSpPr>
          <p:nvPr>
            <p:ph type="sldNum" sz="quarter" idx="12"/>
          </p:nvPr>
        </p:nvSpPr>
        <p:spPr/>
        <p:txBody>
          <a:bodyPr/>
          <a:lstStyle/>
          <a:p>
            <a:fld id="{31FE8408-9B39-4718-B64F-54F72D092B1B}" type="slidenum">
              <a:rPr lang="pl-PL" smtClean="0"/>
              <a:t>10</a:t>
            </a:fld>
            <a:endParaRPr lang="pl-PL" dirty="0"/>
          </a:p>
        </p:txBody>
      </p:sp>
    </p:spTree>
    <p:extLst>
      <p:ext uri="{BB962C8B-B14F-4D97-AF65-F5344CB8AC3E}">
        <p14:creationId xmlns:p14="http://schemas.microsoft.com/office/powerpoint/2010/main" val="1126869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0A39E9C-9EEF-60CB-925A-B6455B034B4D}"/>
              </a:ext>
            </a:extLst>
          </p:cNvPr>
          <p:cNvSpPr>
            <a:spLocks noGrp="1"/>
          </p:cNvSpPr>
          <p:nvPr>
            <p:ph type="title"/>
          </p:nvPr>
        </p:nvSpPr>
        <p:spPr/>
        <p:txBody>
          <a:bodyPr>
            <a:normAutofit/>
          </a:bodyPr>
          <a:lstStyle/>
          <a:p>
            <a:r>
              <a:rPr lang="en-US" sz="3200" b="1" dirty="0">
                <a:solidFill>
                  <a:srgbClr val="002060"/>
                </a:solidFill>
                <a:effectLst>
                  <a:outerShdw blurRad="38100" dist="38100" dir="2700000" algn="tl">
                    <a:srgbClr val="000000">
                      <a:alpha val="43137"/>
                    </a:srgbClr>
                  </a:outerShdw>
                </a:effectLst>
              </a:rPr>
              <a:t>Gig economy – administrative policing and labor issues</a:t>
            </a:r>
            <a:endParaRPr lang="en-US" sz="3200" dirty="0"/>
          </a:p>
        </p:txBody>
      </p:sp>
      <p:sp>
        <p:nvSpPr>
          <p:cNvPr id="3" name="Symbol zastępczy zawartości 2">
            <a:extLst>
              <a:ext uri="{FF2B5EF4-FFF2-40B4-BE49-F238E27FC236}">
                <a16:creationId xmlns:a16="http://schemas.microsoft.com/office/drawing/2014/main" id="{C6DB3596-8217-A3FD-146A-381DE15832B2}"/>
              </a:ext>
            </a:extLst>
          </p:cNvPr>
          <p:cNvSpPr>
            <a:spLocks noGrp="1"/>
          </p:cNvSpPr>
          <p:nvPr>
            <p:ph idx="1"/>
          </p:nvPr>
        </p:nvSpPr>
        <p:spPr/>
        <p:txBody>
          <a:bodyPr>
            <a:normAutofit fontScale="92500" lnSpcReduction="10000"/>
          </a:bodyPr>
          <a:lstStyle/>
          <a:p>
            <a:pPr marL="0" indent="0">
              <a:buNone/>
            </a:pPr>
            <a:r>
              <a:rPr lang="pl-PL" dirty="0" err="1">
                <a:solidFill>
                  <a:srgbClr val="002060"/>
                </a:solidFill>
                <a:effectLst>
                  <a:outerShdw blurRad="38100" dist="38100" dir="2700000" algn="tl">
                    <a:srgbClr val="000000">
                      <a:alpha val="43137"/>
                    </a:srgbClr>
                  </a:outerShdw>
                </a:effectLst>
              </a:rPr>
              <a:t>Cont</a:t>
            </a:r>
            <a:r>
              <a:rPr lang="pl-PL" dirty="0">
                <a:solidFill>
                  <a:srgbClr val="002060"/>
                </a:solidFill>
                <a:effectLst>
                  <a:outerShdw blurRad="38100" dist="38100" dir="2700000" algn="tl">
                    <a:srgbClr val="000000">
                      <a:alpha val="43137"/>
                    </a:srgbClr>
                  </a:outerShdw>
                </a:effectLst>
              </a:rPr>
              <a:t>. </a:t>
            </a:r>
          </a:p>
          <a:p>
            <a:r>
              <a:rPr lang="en-US" dirty="0">
                <a:solidFill>
                  <a:srgbClr val="002060"/>
                </a:solidFill>
                <a:effectLst>
                  <a:outerShdw blurRad="38100" dist="38100" dir="2700000" algn="tl">
                    <a:srgbClr val="000000">
                      <a:alpha val="43137"/>
                    </a:srgbClr>
                  </a:outerShdw>
                </a:effectLst>
              </a:rPr>
              <a:t>UBER </a:t>
            </a:r>
            <a:r>
              <a:rPr lang="en-US" b="1" dirty="0">
                <a:solidFill>
                  <a:srgbClr val="FF0000"/>
                </a:solidFill>
                <a:effectLst>
                  <a:outerShdw blurRad="38100" dist="38100" dir="2700000" algn="tl">
                    <a:srgbClr val="000000">
                      <a:alpha val="43137"/>
                    </a:srgbClr>
                  </a:outerShdw>
                </a:effectLst>
              </a:rPr>
              <a:t>does not offer features such as passenger anonymity </a:t>
            </a:r>
            <a:r>
              <a:rPr lang="en-US" dirty="0">
                <a:solidFill>
                  <a:srgbClr val="002060"/>
                </a:solidFill>
                <a:effectLst>
                  <a:outerShdw blurRad="38100" dist="38100" dir="2700000" algn="tl">
                    <a:srgbClr val="000000">
                      <a:alpha val="43137"/>
                    </a:srgbClr>
                  </a:outerShdw>
                </a:effectLst>
              </a:rPr>
              <a:t>or the option to pay by cash, which may be important for some passengers.</a:t>
            </a:r>
          </a:p>
          <a:p>
            <a:r>
              <a:rPr lang="en-US" dirty="0">
                <a:solidFill>
                  <a:srgbClr val="002060"/>
                </a:solidFill>
                <a:effectLst>
                  <a:outerShdw blurRad="38100" dist="38100" dir="2700000" algn="tl">
                    <a:srgbClr val="000000">
                      <a:alpha val="43137"/>
                    </a:srgbClr>
                  </a:outerShdw>
                </a:effectLst>
              </a:rPr>
              <a:t>Other </a:t>
            </a:r>
            <a:r>
              <a:rPr lang="en-US" b="1" dirty="0">
                <a:solidFill>
                  <a:srgbClr val="FF0000"/>
                </a:solidFill>
                <a:effectLst>
                  <a:outerShdw blurRad="38100" dist="38100" dir="2700000" algn="tl">
                    <a:srgbClr val="000000">
                      <a:alpha val="43137"/>
                    </a:srgbClr>
                  </a:outerShdw>
                </a:effectLst>
              </a:rPr>
              <a:t>concerns</a:t>
            </a:r>
            <a:r>
              <a:rPr lang="en-US" dirty="0">
                <a:solidFill>
                  <a:srgbClr val="002060"/>
                </a:solidFill>
                <a:effectLst>
                  <a:outerShdw blurRad="38100" dist="38100" dir="2700000" algn="tl">
                    <a:srgbClr val="000000">
                      <a:alpha val="43137"/>
                    </a:srgbClr>
                  </a:outerShdw>
                </a:effectLst>
              </a:rPr>
              <a:t> about Uber </a:t>
            </a:r>
            <a:r>
              <a:rPr lang="pl-PL" dirty="0" err="1">
                <a:solidFill>
                  <a:srgbClr val="002060"/>
                </a:solidFill>
                <a:effectLst>
                  <a:outerShdw blurRad="38100" dist="38100" dir="2700000" algn="tl">
                    <a:srgbClr val="000000">
                      <a:alpha val="43137"/>
                    </a:srgbClr>
                  </a:outerShdw>
                </a:effectLst>
              </a:rPr>
              <a:t>relate</a:t>
            </a:r>
            <a:r>
              <a:rPr lang="pl-PL" dirty="0">
                <a:solidFill>
                  <a:srgbClr val="002060"/>
                </a:solidFill>
                <a:effectLst>
                  <a:outerShdw blurRad="38100" dist="38100" dir="2700000" algn="tl">
                    <a:srgbClr val="000000">
                      <a:alpha val="43137"/>
                    </a:srgbClr>
                  </a:outerShdw>
                </a:effectLst>
              </a:rPr>
              <a:t> to</a:t>
            </a:r>
            <a:r>
              <a:rPr lang="en-US" dirty="0">
                <a:solidFill>
                  <a:srgbClr val="002060"/>
                </a:solidFill>
                <a:effectLst>
                  <a:outerShdw blurRad="38100" dist="38100" dir="2700000" algn="tl">
                    <a:srgbClr val="000000">
                      <a:alpha val="43137"/>
                    </a:srgbClr>
                  </a:outerShdw>
                </a:effectLst>
              </a:rPr>
              <a:t> the protection of </a:t>
            </a:r>
            <a:r>
              <a:rPr lang="en-US" b="1" dirty="0">
                <a:solidFill>
                  <a:srgbClr val="FF0000"/>
                </a:solidFill>
                <a:effectLst>
                  <a:outerShdw blurRad="38100" dist="38100" dir="2700000" algn="tl">
                    <a:srgbClr val="000000">
                      <a:alpha val="43137"/>
                    </a:srgbClr>
                  </a:outerShdw>
                </a:effectLst>
              </a:rPr>
              <a:t>passenger rights</a:t>
            </a:r>
            <a:r>
              <a:rPr lang="en-US" dirty="0">
                <a:solidFill>
                  <a:srgbClr val="002060"/>
                </a:solidFill>
                <a:effectLst>
                  <a:outerShdw blurRad="38100" dist="38100" dir="2700000" algn="tl">
                    <a:srgbClr val="000000">
                      <a:alpha val="43137"/>
                    </a:srgbClr>
                  </a:outerShdw>
                </a:effectLst>
              </a:rPr>
              <a:t>, including the protection of their </a:t>
            </a:r>
            <a:r>
              <a:rPr lang="en-US" b="1" dirty="0">
                <a:solidFill>
                  <a:srgbClr val="FF0000"/>
                </a:solidFill>
                <a:effectLst>
                  <a:outerShdw blurRad="38100" dist="38100" dir="2700000" algn="tl">
                    <a:srgbClr val="000000">
                      <a:alpha val="43137"/>
                    </a:srgbClr>
                  </a:outerShdw>
                </a:effectLst>
              </a:rPr>
              <a:t>personal data and security</a:t>
            </a:r>
            <a:r>
              <a:rPr lang="en-US" dirty="0">
                <a:solidFill>
                  <a:srgbClr val="002060"/>
                </a:solidFill>
                <a:effectLst>
                  <a:outerShdw blurRad="38100" dist="38100" dir="2700000" algn="tl">
                    <a:srgbClr val="000000">
                      <a:alpha val="43137"/>
                    </a:srgbClr>
                  </a:outerShdw>
                </a:effectLst>
              </a:rPr>
              <a:t>.</a:t>
            </a:r>
          </a:p>
          <a:p>
            <a:r>
              <a:rPr lang="en-US" dirty="0">
                <a:solidFill>
                  <a:srgbClr val="002060"/>
                </a:solidFill>
                <a:effectLst>
                  <a:outerShdw blurRad="38100" dist="38100" dir="2700000" algn="tl">
                    <a:srgbClr val="000000">
                      <a:alpha val="43137"/>
                    </a:srgbClr>
                  </a:outerShdw>
                </a:effectLst>
              </a:rPr>
              <a:t>The Office of Competition and Consumer Protection (</a:t>
            </a:r>
            <a:r>
              <a:rPr lang="en-US" dirty="0" err="1">
                <a:solidFill>
                  <a:srgbClr val="002060"/>
                </a:solidFill>
                <a:effectLst>
                  <a:outerShdw blurRad="38100" dist="38100" dir="2700000" algn="tl">
                    <a:srgbClr val="000000">
                      <a:alpha val="43137"/>
                    </a:srgbClr>
                  </a:outerShdw>
                </a:effectLst>
              </a:rPr>
              <a:t>UOKiK</a:t>
            </a:r>
            <a:r>
              <a:rPr lang="en-US" dirty="0">
                <a:solidFill>
                  <a:srgbClr val="002060"/>
                </a:solidFill>
                <a:effectLst>
                  <a:outerShdw blurRad="38100" dist="38100" dir="2700000" algn="tl">
                    <a:srgbClr val="000000">
                      <a:alpha val="43137"/>
                    </a:srgbClr>
                  </a:outerShdw>
                </a:effectLst>
              </a:rPr>
              <a:t>) agrees that the </a:t>
            </a:r>
            <a:r>
              <a:rPr lang="en-US" b="1" dirty="0">
                <a:solidFill>
                  <a:srgbClr val="FF0000"/>
                </a:solidFill>
                <a:effectLst>
                  <a:outerShdw blurRad="38100" dist="38100" dir="2700000" algn="tl">
                    <a:srgbClr val="000000">
                      <a:alpha val="43137"/>
                    </a:srgbClr>
                  </a:outerShdw>
                </a:effectLst>
              </a:rPr>
              <a:t>primary issue </a:t>
            </a:r>
            <a:r>
              <a:rPr lang="en-US" dirty="0">
                <a:solidFill>
                  <a:srgbClr val="002060"/>
                </a:solidFill>
                <a:effectLst>
                  <a:outerShdw blurRad="38100" dist="38100" dir="2700000" algn="tl">
                    <a:srgbClr val="000000">
                      <a:alpha val="43137"/>
                    </a:srgbClr>
                  </a:outerShdw>
                </a:effectLst>
              </a:rPr>
              <a:t>regarding passenger transport is </a:t>
            </a:r>
            <a:r>
              <a:rPr lang="en-US" b="1" dirty="0">
                <a:solidFill>
                  <a:srgbClr val="FF0000"/>
                </a:solidFill>
                <a:effectLst>
                  <a:outerShdw blurRad="38100" dist="38100" dir="2700000" algn="tl">
                    <a:srgbClr val="000000">
                      <a:alpha val="43137"/>
                    </a:srgbClr>
                  </a:outerShdw>
                </a:effectLst>
              </a:rPr>
              <a:t>passenger safety </a:t>
            </a:r>
            <a:r>
              <a:rPr lang="en-US" dirty="0">
                <a:solidFill>
                  <a:srgbClr val="002060"/>
                </a:solidFill>
                <a:effectLst>
                  <a:outerShdw blurRad="38100" dist="38100" dir="2700000" algn="tl">
                    <a:srgbClr val="000000">
                      <a:alpha val="43137"/>
                    </a:srgbClr>
                  </a:outerShdw>
                </a:effectLst>
              </a:rPr>
              <a:t>(...).</a:t>
            </a:r>
          </a:p>
          <a:p>
            <a:r>
              <a:rPr lang="en-US" b="1" dirty="0">
                <a:solidFill>
                  <a:srgbClr val="002060"/>
                </a:solidFill>
                <a:effectLst>
                  <a:outerShdw blurRad="38100" dist="38100" dir="2700000" algn="tl">
                    <a:srgbClr val="000000">
                      <a:alpha val="43137"/>
                    </a:srgbClr>
                  </a:outerShdw>
                </a:effectLst>
              </a:rPr>
              <a:t>Uber verifies a certificate of </a:t>
            </a:r>
            <a:r>
              <a:rPr lang="en-US" b="1" dirty="0">
                <a:solidFill>
                  <a:srgbClr val="FF0000"/>
                </a:solidFill>
                <a:effectLst>
                  <a:outerShdw blurRad="38100" dist="38100" dir="2700000" algn="tl">
                    <a:srgbClr val="000000">
                      <a:alpha val="43137"/>
                    </a:srgbClr>
                  </a:outerShdw>
                </a:effectLst>
              </a:rPr>
              <a:t>no criminal record</a:t>
            </a:r>
            <a:r>
              <a:rPr lang="en-US" b="1" dirty="0">
                <a:solidFill>
                  <a:srgbClr val="002060"/>
                </a:solidFill>
                <a:effectLst>
                  <a:outerShdw blurRad="38100" dist="38100" dir="2700000" algn="tl">
                    <a:srgbClr val="000000">
                      <a:alpha val="43137"/>
                    </a:srgbClr>
                  </a:outerShdw>
                </a:effectLst>
              </a:rPr>
              <a:t>, a certificate </a:t>
            </a:r>
            <a:r>
              <a:rPr lang="en-US" dirty="0">
                <a:solidFill>
                  <a:srgbClr val="002060"/>
                </a:solidFill>
                <a:effectLst>
                  <a:outerShdw blurRad="38100" dist="38100" dir="2700000" algn="tl">
                    <a:srgbClr val="000000">
                      <a:alpha val="43137"/>
                    </a:srgbClr>
                  </a:outerShdw>
                </a:effectLst>
              </a:rPr>
              <a:t>of vehicle registration for road traffic, third-party liability insurance, and a taxi driver's license.</a:t>
            </a:r>
          </a:p>
          <a:p>
            <a:r>
              <a:rPr lang="en-US" dirty="0">
                <a:solidFill>
                  <a:srgbClr val="002060"/>
                </a:solidFill>
                <a:effectLst>
                  <a:outerShdw blurRad="38100" dist="38100" dir="2700000" algn="tl">
                    <a:srgbClr val="000000">
                      <a:alpha val="43137"/>
                    </a:srgbClr>
                  </a:outerShdw>
                </a:effectLst>
              </a:rPr>
              <a:t>The vehicle cannot be older than </a:t>
            </a:r>
            <a:r>
              <a:rPr lang="en-US" b="1" dirty="0">
                <a:solidFill>
                  <a:srgbClr val="FF0000"/>
                </a:solidFill>
                <a:effectLst>
                  <a:outerShdw blurRad="38100" dist="38100" dir="2700000" algn="tl">
                    <a:srgbClr val="000000">
                      <a:alpha val="43137"/>
                    </a:srgbClr>
                  </a:outerShdw>
                </a:effectLst>
              </a:rPr>
              <a:t>10 years.</a:t>
            </a:r>
          </a:p>
          <a:p>
            <a:endParaRPr lang="en-US" dirty="0"/>
          </a:p>
        </p:txBody>
      </p:sp>
      <p:sp>
        <p:nvSpPr>
          <p:cNvPr id="4" name="Symbol zastępczy numeru slajdu 3">
            <a:extLst>
              <a:ext uri="{FF2B5EF4-FFF2-40B4-BE49-F238E27FC236}">
                <a16:creationId xmlns:a16="http://schemas.microsoft.com/office/drawing/2014/main" id="{749A3972-8BBE-E46E-911B-53AFC91347C2}"/>
              </a:ext>
            </a:extLst>
          </p:cNvPr>
          <p:cNvSpPr>
            <a:spLocks noGrp="1"/>
          </p:cNvSpPr>
          <p:nvPr>
            <p:ph type="sldNum" sz="quarter" idx="12"/>
          </p:nvPr>
        </p:nvSpPr>
        <p:spPr/>
        <p:txBody>
          <a:bodyPr/>
          <a:lstStyle/>
          <a:p>
            <a:fld id="{31FE8408-9B39-4718-B64F-54F72D092B1B}" type="slidenum">
              <a:rPr lang="pl-PL" smtClean="0"/>
              <a:t>11</a:t>
            </a:fld>
            <a:endParaRPr lang="pl-PL" dirty="0"/>
          </a:p>
        </p:txBody>
      </p:sp>
    </p:spTree>
    <p:extLst>
      <p:ext uri="{BB962C8B-B14F-4D97-AF65-F5344CB8AC3E}">
        <p14:creationId xmlns:p14="http://schemas.microsoft.com/office/powerpoint/2010/main" val="1540941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C209C2E-33C6-61F0-2168-970DAD52CA24}"/>
              </a:ext>
            </a:extLst>
          </p:cNvPr>
          <p:cNvSpPr>
            <a:spLocks noGrp="1"/>
          </p:cNvSpPr>
          <p:nvPr>
            <p:ph type="title"/>
          </p:nvPr>
        </p:nvSpPr>
        <p:spPr/>
        <p:txBody>
          <a:bodyPr>
            <a:normAutofit/>
          </a:bodyPr>
          <a:lstStyle/>
          <a:p>
            <a:r>
              <a:rPr lang="en-US" sz="3600" b="1" dirty="0">
                <a:solidFill>
                  <a:srgbClr val="002060"/>
                </a:solidFill>
                <a:effectLst>
                  <a:outerShdw blurRad="38100" dist="38100" dir="2700000" algn="tl">
                    <a:srgbClr val="000000">
                      <a:alpha val="43137"/>
                    </a:srgbClr>
                  </a:outerShdw>
                </a:effectLst>
              </a:rPr>
              <a:t>Gig economy – administrative policing and labor issues</a:t>
            </a:r>
            <a:endParaRPr lang="en-US" sz="3600" dirty="0"/>
          </a:p>
        </p:txBody>
      </p:sp>
      <p:sp>
        <p:nvSpPr>
          <p:cNvPr id="3" name="Symbol zastępczy zawartości 2">
            <a:extLst>
              <a:ext uri="{FF2B5EF4-FFF2-40B4-BE49-F238E27FC236}">
                <a16:creationId xmlns:a16="http://schemas.microsoft.com/office/drawing/2014/main" id="{9C4DC590-BA8C-8B0A-DDDF-EB3824275962}"/>
              </a:ext>
            </a:extLst>
          </p:cNvPr>
          <p:cNvSpPr>
            <a:spLocks noGrp="1"/>
          </p:cNvSpPr>
          <p:nvPr>
            <p:ph idx="1"/>
          </p:nvPr>
        </p:nvSpPr>
        <p:spPr/>
        <p:txBody>
          <a:bodyPr>
            <a:normAutofit lnSpcReduction="10000"/>
          </a:bodyPr>
          <a:lstStyle/>
          <a:p>
            <a:pPr marL="0" indent="0">
              <a:buNone/>
            </a:pPr>
            <a:r>
              <a:rPr lang="pl-PL" b="1" dirty="0" err="1">
                <a:solidFill>
                  <a:srgbClr val="FF0000"/>
                </a:solidFill>
                <a:effectLst>
                  <a:outerShdw blurRad="38100" dist="38100" dir="2700000" algn="tl">
                    <a:srgbClr val="000000">
                      <a:alpha val="43137"/>
                    </a:srgbClr>
                  </a:outerShdw>
                </a:effectLst>
              </a:rPr>
              <a:t>Cont</a:t>
            </a:r>
            <a:r>
              <a:rPr lang="pl-PL" b="1" dirty="0">
                <a:solidFill>
                  <a:srgbClr val="FF0000"/>
                </a:solidFill>
                <a:effectLst>
                  <a:outerShdw blurRad="38100" dist="38100" dir="2700000" algn="tl">
                    <a:srgbClr val="000000">
                      <a:alpha val="43137"/>
                    </a:srgbClr>
                  </a:outerShdw>
                </a:effectLst>
              </a:rPr>
              <a:t>., </a:t>
            </a:r>
          </a:p>
          <a:p>
            <a:pPr marL="0" indent="0">
              <a:buNone/>
            </a:pPr>
            <a:r>
              <a:rPr lang="en-US" b="1" dirty="0">
                <a:solidFill>
                  <a:srgbClr val="FF0000"/>
                </a:solidFill>
                <a:effectLst>
                  <a:outerShdw blurRad="38100" dist="38100" dir="2700000" algn="tl">
                    <a:srgbClr val="000000">
                      <a:alpha val="43137"/>
                    </a:srgbClr>
                  </a:outerShdw>
                </a:effectLst>
              </a:rPr>
              <a:t>Liability </a:t>
            </a:r>
            <a:r>
              <a:rPr lang="en-US" dirty="0">
                <a:solidFill>
                  <a:srgbClr val="002060"/>
                </a:solidFill>
                <a:effectLst>
                  <a:outerShdw blurRad="38100" dist="38100" dir="2700000" algn="tl">
                    <a:srgbClr val="000000">
                      <a:alpha val="43137"/>
                    </a:srgbClr>
                  </a:outerShdw>
                </a:effectLst>
              </a:rPr>
              <a:t>related to transportation services ordered via the app therefore </a:t>
            </a:r>
            <a:r>
              <a:rPr lang="en-US" b="1" dirty="0">
                <a:solidFill>
                  <a:srgbClr val="FF0000"/>
                </a:solidFill>
                <a:effectLst>
                  <a:outerShdw blurRad="38100" dist="38100" dir="2700000" algn="tl">
                    <a:srgbClr val="000000">
                      <a:alpha val="43137"/>
                    </a:srgbClr>
                  </a:outerShdw>
                </a:effectLst>
              </a:rPr>
              <a:t>rests with the driver </a:t>
            </a:r>
            <a:r>
              <a:rPr lang="en-US" dirty="0">
                <a:solidFill>
                  <a:srgbClr val="002060"/>
                </a:solidFill>
                <a:effectLst>
                  <a:outerShdw blurRad="38100" dist="38100" dir="2700000" algn="tl">
                    <a:srgbClr val="000000">
                      <a:alpha val="43137"/>
                    </a:srgbClr>
                  </a:outerShdw>
                </a:effectLst>
              </a:rPr>
              <a:t>providing these services [WH – therefore, the driver is an entrepreneur].</a:t>
            </a:r>
          </a:p>
          <a:p>
            <a:r>
              <a:rPr lang="en-US" b="1" dirty="0">
                <a:solidFill>
                  <a:srgbClr val="FF0000"/>
                </a:solidFill>
                <a:effectLst>
                  <a:outerShdw blurRad="38100" dist="38100" dir="2700000" algn="tl">
                    <a:srgbClr val="000000">
                      <a:alpha val="43137"/>
                    </a:srgbClr>
                  </a:outerShdw>
                </a:effectLst>
              </a:rPr>
              <a:t>Uber, however, is liable to consumers for irregularities </a:t>
            </a:r>
            <a:r>
              <a:rPr lang="en-US" dirty="0">
                <a:solidFill>
                  <a:srgbClr val="002060"/>
                </a:solidFill>
                <a:effectLst>
                  <a:outerShdw blurRad="38100" dist="38100" dir="2700000" algn="tl">
                    <a:srgbClr val="000000">
                      <a:alpha val="43137"/>
                    </a:srgbClr>
                  </a:outerShdw>
                </a:effectLst>
              </a:rPr>
              <a:t>resulting from the use of the Uber website.</a:t>
            </a:r>
          </a:p>
          <a:p>
            <a:r>
              <a:rPr lang="en-US" dirty="0">
                <a:solidFill>
                  <a:srgbClr val="002060"/>
                </a:solidFill>
                <a:effectLst>
                  <a:outerShdw blurRad="38100" dist="38100" dir="2700000" algn="tl">
                    <a:srgbClr val="000000">
                      <a:alpha val="43137"/>
                    </a:srgbClr>
                  </a:outerShdw>
                </a:effectLst>
              </a:rPr>
              <a:t>...the consumer does </a:t>
            </a:r>
            <a:r>
              <a:rPr lang="en-US" b="1" dirty="0">
                <a:solidFill>
                  <a:srgbClr val="FF0000"/>
                </a:solidFill>
                <a:effectLst>
                  <a:outerShdw blurRad="38100" dist="38100" dir="2700000" algn="tl">
                    <a:srgbClr val="000000">
                      <a:alpha val="43137"/>
                    </a:srgbClr>
                  </a:outerShdw>
                </a:effectLst>
              </a:rPr>
              <a:t>not</a:t>
            </a:r>
            <a:r>
              <a:rPr lang="en-US" dirty="0">
                <a:solidFill>
                  <a:srgbClr val="002060"/>
                </a:solidFill>
                <a:effectLst>
                  <a:outerShdw blurRad="38100" dist="38100" dir="2700000" algn="tl">
                    <a:srgbClr val="000000">
                      <a:alpha val="43137"/>
                    </a:srgbClr>
                  </a:outerShdw>
                </a:effectLst>
              </a:rPr>
              <a:t> appear to be </a:t>
            </a:r>
            <a:r>
              <a:rPr lang="en-US" b="1" dirty="0">
                <a:solidFill>
                  <a:srgbClr val="FF0000"/>
                </a:solidFill>
                <a:effectLst>
                  <a:outerShdw blurRad="38100" dist="38100" dir="2700000" algn="tl">
                    <a:srgbClr val="000000">
                      <a:alpha val="43137"/>
                    </a:srgbClr>
                  </a:outerShdw>
                </a:effectLst>
              </a:rPr>
              <a:t>misled</a:t>
            </a:r>
            <a:r>
              <a:rPr lang="en-US" dirty="0">
                <a:solidFill>
                  <a:srgbClr val="002060"/>
                </a:solidFill>
                <a:effectLst>
                  <a:outerShdw blurRad="38100" dist="38100" dir="2700000" algn="tl">
                    <a:srgbClr val="000000">
                      <a:alpha val="43137"/>
                    </a:srgbClr>
                  </a:outerShdw>
                </a:effectLst>
              </a:rPr>
              <a:t> about the nature of Uber's business.</a:t>
            </a:r>
          </a:p>
          <a:p>
            <a:r>
              <a:rPr lang="en-US" dirty="0">
                <a:solidFill>
                  <a:srgbClr val="002060"/>
                </a:solidFill>
                <a:effectLst>
                  <a:outerShdw blurRad="38100" dist="38100" dir="2700000" algn="tl">
                    <a:srgbClr val="000000">
                      <a:alpha val="43137"/>
                    </a:srgbClr>
                  </a:outerShdw>
                </a:effectLst>
              </a:rPr>
              <a:t>Consumers </a:t>
            </a:r>
            <a:r>
              <a:rPr lang="en-US" b="1" dirty="0">
                <a:solidFill>
                  <a:srgbClr val="FF0000"/>
                </a:solidFill>
                <a:effectLst>
                  <a:outerShdw blurRad="38100" dist="38100" dir="2700000" algn="tl">
                    <a:srgbClr val="000000">
                      <a:alpha val="43137"/>
                    </a:srgbClr>
                  </a:outerShdw>
                </a:effectLst>
              </a:rPr>
              <a:t>cannot be deemed to be misled about the qualifications </a:t>
            </a:r>
            <a:r>
              <a:rPr lang="en-US" dirty="0">
                <a:solidFill>
                  <a:srgbClr val="002060"/>
                </a:solidFill>
                <a:effectLst>
                  <a:outerShdw blurRad="38100" dist="38100" dir="2700000" algn="tl">
                    <a:srgbClr val="000000">
                      <a:alpha val="43137"/>
                    </a:srgbClr>
                  </a:outerShdw>
                </a:effectLst>
              </a:rPr>
              <a:t>and requirements met by drivers in the Uber system.</a:t>
            </a:r>
          </a:p>
          <a:p>
            <a:endParaRPr lang="en-US" dirty="0"/>
          </a:p>
        </p:txBody>
      </p:sp>
      <p:sp>
        <p:nvSpPr>
          <p:cNvPr id="4" name="Symbol zastępczy numeru slajdu 3">
            <a:extLst>
              <a:ext uri="{FF2B5EF4-FFF2-40B4-BE49-F238E27FC236}">
                <a16:creationId xmlns:a16="http://schemas.microsoft.com/office/drawing/2014/main" id="{787CB5FF-916B-6102-499D-605529F550A4}"/>
              </a:ext>
            </a:extLst>
          </p:cNvPr>
          <p:cNvSpPr>
            <a:spLocks noGrp="1"/>
          </p:cNvSpPr>
          <p:nvPr>
            <p:ph type="sldNum" sz="quarter" idx="12"/>
          </p:nvPr>
        </p:nvSpPr>
        <p:spPr/>
        <p:txBody>
          <a:bodyPr/>
          <a:lstStyle/>
          <a:p>
            <a:fld id="{31FE8408-9B39-4718-B64F-54F72D092B1B}" type="slidenum">
              <a:rPr lang="pl-PL" smtClean="0"/>
              <a:t>12</a:t>
            </a:fld>
            <a:endParaRPr lang="pl-PL" dirty="0"/>
          </a:p>
        </p:txBody>
      </p:sp>
    </p:spTree>
    <p:extLst>
      <p:ext uri="{BB962C8B-B14F-4D97-AF65-F5344CB8AC3E}">
        <p14:creationId xmlns:p14="http://schemas.microsoft.com/office/powerpoint/2010/main" val="29227638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CA3ECAB-B0E0-C160-73F8-BD8EE2745BDD}"/>
              </a:ext>
            </a:extLst>
          </p:cNvPr>
          <p:cNvSpPr>
            <a:spLocks noGrp="1"/>
          </p:cNvSpPr>
          <p:nvPr>
            <p:ph type="title"/>
          </p:nvPr>
        </p:nvSpPr>
        <p:spPr/>
        <p:txBody>
          <a:bodyPr>
            <a:normAutofit/>
          </a:bodyPr>
          <a:lstStyle/>
          <a:p>
            <a:r>
              <a:rPr lang="en-US" sz="3200" b="1" dirty="0">
                <a:solidFill>
                  <a:srgbClr val="002060"/>
                </a:solidFill>
                <a:effectLst>
                  <a:outerShdw blurRad="38100" dist="38100" dir="2700000" algn="tl">
                    <a:srgbClr val="000000">
                      <a:alpha val="43137"/>
                    </a:srgbClr>
                  </a:outerShdw>
                </a:effectLst>
              </a:rPr>
              <a:t>Gig economy – administrative policing and labor issues</a:t>
            </a:r>
            <a:endParaRPr lang="en-US" sz="3200" dirty="0"/>
          </a:p>
        </p:txBody>
      </p:sp>
      <p:sp>
        <p:nvSpPr>
          <p:cNvPr id="3" name="Symbol zastępczy zawartości 2">
            <a:extLst>
              <a:ext uri="{FF2B5EF4-FFF2-40B4-BE49-F238E27FC236}">
                <a16:creationId xmlns:a16="http://schemas.microsoft.com/office/drawing/2014/main" id="{D742C50D-25A7-2583-CBE5-2B3CFAAC8777}"/>
              </a:ext>
            </a:extLst>
          </p:cNvPr>
          <p:cNvSpPr>
            <a:spLocks noGrp="1"/>
          </p:cNvSpPr>
          <p:nvPr>
            <p:ph idx="1"/>
          </p:nvPr>
        </p:nvSpPr>
        <p:spPr/>
        <p:txBody>
          <a:bodyPr/>
          <a:lstStyle/>
          <a:p>
            <a:pPr marL="0" indent="0">
              <a:buNone/>
            </a:pPr>
            <a:r>
              <a:rPr lang="pl-PL" dirty="0" err="1">
                <a:solidFill>
                  <a:srgbClr val="002060"/>
                </a:solidFill>
                <a:effectLst>
                  <a:outerShdw blurRad="38100" dist="38100" dir="2700000" algn="tl">
                    <a:srgbClr val="000000">
                      <a:alpha val="43137"/>
                    </a:srgbClr>
                  </a:outerShdw>
                </a:effectLst>
              </a:rPr>
              <a:t>Cont</a:t>
            </a:r>
            <a:r>
              <a:rPr lang="pl-PL" dirty="0">
                <a:solidFill>
                  <a:srgbClr val="002060"/>
                </a:solidFill>
                <a:effectLst>
                  <a:outerShdw blurRad="38100" dist="38100" dir="2700000" algn="tl">
                    <a:srgbClr val="000000">
                      <a:alpha val="43137"/>
                    </a:srgbClr>
                  </a:outerShdw>
                </a:effectLst>
              </a:rPr>
              <a:t>.,</a:t>
            </a:r>
          </a:p>
          <a:p>
            <a:r>
              <a:rPr lang="en-US" dirty="0">
                <a:solidFill>
                  <a:srgbClr val="002060"/>
                </a:solidFill>
                <a:effectLst>
                  <a:outerShdw blurRad="38100" dist="38100" dir="2700000" algn="tl">
                    <a:srgbClr val="000000">
                      <a:alpha val="43137"/>
                    </a:srgbClr>
                  </a:outerShdw>
                </a:effectLst>
              </a:rPr>
              <a:t>The Uber service provides </a:t>
            </a:r>
            <a:r>
              <a:rPr lang="en-US" b="1" dirty="0">
                <a:solidFill>
                  <a:srgbClr val="FF0000"/>
                </a:solidFill>
                <a:effectLst>
                  <a:outerShdw blurRad="38100" dist="38100" dir="2700000" algn="tl">
                    <a:srgbClr val="000000">
                      <a:alpha val="43137"/>
                    </a:srgbClr>
                  </a:outerShdw>
                </a:effectLst>
              </a:rPr>
              <a:t>an equally high level of protection </a:t>
            </a:r>
            <a:r>
              <a:rPr lang="en-US" dirty="0">
                <a:solidFill>
                  <a:srgbClr val="002060"/>
                </a:solidFill>
                <a:effectLst>
                  <a:outerShdw blurRad="38100" dist="38100" dir="2700000" algn="tl">
                    <a:srgbClr val="000000">
                      <a:alpha val="43137"/>
                    </a:srgbClr>
                  </a:outerShdw>
                </a:effectLst>
              </a:rPr>
              <a:t>against this type of abuse, as fees are calculated based on transparent rates and objective parameters.</a:t>
            </a:r>
          </a:p>
          <a:p>
            <a:r>
              <a:rPr lang="en-US" dirty="0">
                <a:solidFill>
                  <a:srgbClr val="002060"/>
                </a:solidFill>
                <a:effectLst>
                  <a:outerShdw blurRad="38100" dist="38100" dir="2700000" algn="tl">
                    <a:srgbClr val="000000">
                      <a:alpha val="43137"/>
                    </a:srgbClr>
                  </a:outerShdw>
                </a:effectLst>
              </a:rPr>
              <a:t>Taxes (…) the position of the Ministry of Finance[1], according to which: </a:t>
            </a:r>
            <a:r>
              <a:rPr lang="en-US" b="1" dirty="0">
                <a:solidFill>
                  <a:srgbClr val="FF0000"/>
                </a:solidFill>
                <a:effectLst>
                  <a:outerShdw blurRad="38100" dist="38100" dir="2700000" algn="tl">
                    <a:srgbClr val="000000">
                      <a:alpha val="43137"/>
                    </a:srgbClr>
                  </a:outerShdw>
                </a:effectLst>
              </a:rPr>
              <a:t>income earned by individuals</a:t>
            </a:r>
            <a:r>
              <a:rPr lang="en-US" dirty="0">
                <a:solidFill>
                  <a:srgbClr val="00206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from the provision of transportation services using this application </a:t>
            </a:r>
            <a:r>
              <a:rPr lang="en-US" dirty="0">
                <a:solidFill>
                  <a:srgbClr val="002060"/>
                </a:solidFill>
                <a:effectLst>
                  <a:outerShdw blurRad="38100" dist="38100" dir="2700000" algn="tl">
                    <a:srgbClr val="000000">
                      <a:alpha val="43137"/>
                    </a:srgbClr>
                  </a:outerShdw>
                </a:effectLst>
              </a:rPr>
              <a:t>is</a:t>
            </a:r>
            <a:r>
              <a:rPr lang="pl-PL" dirty="0">
                <a:solidFill>
                  <a:srgbClr val="002060"/>
                </a:solidFill>
                <a:effectLst>
                  <a:outerShdw blurRad="38100" dist="38100" dir="2700000" algn="tl">
                    <a:srgbClr val="000000">
                      <a:alpha val="43137"/>
                    </a:srgbClr>
                  </a:outerShdw>
                </a:effectLst>
              </a:rPr>
              <a:t> [in 2016]</a:t>
            </a:r>
            <a:r>
              <a:rPr lang="en-US"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subject to personal income tax under</a:t>
            </a:r>
            <a:r>
              <a:rPr lang="en-US" dirty="0">
                <a:solidFill>
                  <a:srgbClr val="002060"/>
                </a:solidFill>
                <a:effectLst>
                  <a:outerShdw blurRad="38100" dist="38100" dir="2700000" algn="tl">
                    <a:srgbClr val="000000">
                      <a:alpha val="43137"/>
                    </a:srgbClr>
                  </a:outerShdw>
                </a:effectLst>
              </a:rPr>
              <a:t> the principles set out in the Personal Income Tax Act of 26 July 1991</a:t>
            </a:r>
            <a:r>
              <a:rPr lang="pl-PL" dirty="0">
                <a:solidFill>
                  <a:srgbClr val="002060"/>
                </a:solidFill>
                <a:effectLst>
                  <a:outerShdw blurRad="38100" dist="38100" dir="2700000" algn="tl">
                    <a:srgbClr val="000000">
                      <a:alpha val="43137"/>
                    </a:srgbClr>
                  </a:outerShdw>
                </a:effectLst>
              </a:rPr>
              <a:t> [</a:t>
            </a:r>
            <a:r>
              <a:rPr lang="pl-PL" dirty="0">
                <a:solidFill>
                  <a:srgbClr val="FF0000"/>
                </a:solidFill>
                <a:effectLst>
                  <a:outerShdw blurRad="38100" dist="38100" dir="2700000" algn="tl">
                    <a:srgbClr val="000000">
                      <a:alpha val="43137"/>
                    </a:srgbClr>
                  </a:outerShdw>
                </a:effectLst>
              </a:rPr>
              <a:t>not in 2026]</a:t>
            </a:r>
            <a:endParaRPr lang="en-US" dirty="0">
              <a:solidFill>
                <a:srgbClr val="FF0000"/>
              </a:solidFill>
              <a:effectLst>
                <a:outerShdw blurRad="38100" dist="38100" dir="2700000" algn="tl">
                  <a:srgbClr val="000000">
                    <a:alpha val="43137"/>
                  </a:srgbClr>
                </a:outerShdw>
              </a:effectLst>
            </a:endParaRPr>
          </a:p>
          <a:p>
            <a:pPr marL="0" indent="0">
              <a:buNone/>
            </a:pPr>
            <a:endParaRPr lang="en-US" dirty="0"/>
          </a:p>
        </p:txBody>
      </p:sp>
      <p:sp>
        <p:nvSpPr>
          <p:cNvPr id="4" name="Symbol zastępczy numeru slajdu 3">
            <a:extLst>
              <a:ext uri="{FF2B5EF4-FFF2-40B4-BE49-F238E27FC236}">
                <a16:creationId xmlns:a16="http://schemas.microsoft.com/office/drawing/2014/main" id="{B46A548A-B0D4-2C0C-232D-B0E38366661D}"/>
              </a:ext>
            </a:extLst>
          </p:cNvPr>
          <p:cNvSpPr>
            <a:spLocks noGrp="1"/>
          </p:cNvSpPr>
          <p:nvPr>
            <p:ph type="sldNum" sz="quarter" idx="12"/>
          </p:nvPr>
        </p:nvSpPr>
        <p:spPr/>
        <p:txBody>
          <a:bodyPr/>
          <a:lstStyle/>
          <a:p>
            <a:fld id="{31FE8408-9B39-4718-B64F-54F72D092B1B}" type="slidenum">
              <a:rPr lang="pl-PL" smtClean="0"/>
              <a:t>13</a:t>
            </a:fld>
            <a:endParaRPr lang="pl-PL" dirty="0"/>
          </a:p>
        </p:txBody>
      </p:sp>
    </p:spTree>
    <p:extLst>
      <p:ext uri="{BB962C8B-B14F-4D97-AF65-F5344CB8AC3E}">
        <p14:creationId xmlns:p14="http://schemas.microsoft.com/office/powerpoint/2010/main" val="25106612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CC61B53-5C62-73BF-D8D2-61F3483C51A2}"/>
              </a:ext>
            </a:extLst>
          </p:cNvPr>
          <p:cNvSpPr>
            <a:spLocks noGrp="1"/>
          </p:cNvSpPr>
          <p:nvPr>
            <p:ph type="title"/>
          </p:nvPr>
        </p:nvSpPr>
        <p:spPr/>
        <p:txBody>
          <a:bodyPr>
            <a:normAutofit/>
          </a:bodyPr>
          <a:lstStyle/>
          <a:p>
            <a:r>
              <a:rPr lang="en-US" sz="3200" b="1" dirty="0">
                <a:solidFill>
                  <a:srgbClr val="002060"/>
                </a:solidFill>
                <a:effectLst>
                  <a:outerShdw blurRad="38100" dist="38100" dir="2700000" algn="tl">
                    <a:srgbClr val="000000">
                      <a:alpha val="43137"/>
                    </a:srgbClr>
                  </a:outerShdw>
                </a:effectLst>
              </a:rPr>
              <a:t>Gig economy – administrative policing and labor issues</a:t>
            </a:r>
            <a:endParaRPr lang="en-US" sz="3200" dirty="0"/>
          </a:p>
        </p:txBody>
      </p:sp>
      <p:sp>
        <p:nvSpPr>
          <p:cNvPr id="3" name="Symbol zastępczy zawartości 2">
            <a:extLst>
              <a:ext uri="{FF2B5EF4-FFF2-40B4-BE49-F238E27FC236}">
                <a16:creationId xmlns:a16="http://schemas.microsoft.com/office/drawing/2014/main" id="{6C2E6F49-271A-6F9A-833A-3FCCCB06B6A5}"/>
              </a:ext>
            </a:extLst>
          </p:cNvPr>
          <p:cNvSpPr>
            <a:spLocks noGrp="1"/>
          </p:cNvSpPr>
          <p:nvPr>
            <p:ph idx="1"/>
          </p:nvPr>
        </p:nvSpPr>
        <p:spPr/>
        <p:txBody>
          <a:bodyPr/>
          <a:lstStyle/>
          <a:p>
            <a:pPr marL="0" indent="0">
              <a:buNone/>
            </a:pPr>
            <a:r>
              <a:rPr lang="pl-PL" dirty="0" err="1">
                <a:solidFill>
                  <a:srgbClr val="002060"/>
                </a:solidFill>
                <a:effectLst>
                  <a:outerShdw blurRad="38100" dist="38100" dir="2700000" algn="tl">
                    <a:srgbClr val="000000">
                      <a:alpha val="43137"/>
                    </a:srgbClr>
                  </a:outerShdw>
                </a:effectLst>
              </a:rPr>
              <a:t>Cont</a:t>
            </a:r>
            <a:r>
              <a:rPr lang="pl-PL" dirty="0">
                <a:solidFill>
                  <a:srgbClr val="002060"/>
                </a:solidFill>
                <a:effectLst>
                  <a:outerShdw blurRad="38100" dist="38100" dir="2700000" algn="tl">
                    <a:srgbClr val="000000">
                      <a:alpha val="43137"/>
                    </a:srgbClr>
                  </a:outerShdw>
                </a:effectLst>
              </a:rPr>
              <a:t>.,</a:t>
            </a:r>
          </a:p>
          <a:p>
            <a:r>
              <a:rPr lang="en-US" dirty="0">
                <a:solidFill>
                  <a:srgbClr val="002060"/>
                </a:solidFill>
                <a:effectLst>
                  <a:outerShdw blurRad="38100" dist="38100" dir="2700000" algn="tl">
                    <a:srgbClr val="000000">
                      <a:alpha val="43137"/>
                    </a:srgbClr>
                  </a:outerShdw>
                </a:effectLst>
              </a:rPr>
              <a:t>UBER </a:t>
            </a:r>
            <a:r>
              <a:rPr lang="pl-PL" b="1" dirty="0" err="1">
                <a:solidFill>
                  <a:srgbClr val="FF0000"/>
                </a:solidFill>
                <a:effectLst>
                  <a:outerShdw blurRad="38100" dist="38100" dir="2700000" algn="tl">
                    <a:srgbClr val="000000">
                      <a:alpha val="43137"/>
                    </a:srgbClr>
                  </a:outerShdw>
                </a:effectLst>
              </a:rPr>
              <a:t>facilitates</a:t>
            </a:r>
            <a:r>
              <a:rPr lang="en-US" b="1" dirty="0">
                <a:solidFill>
                  <a:srgbClr val="FF0000"/>
                </a:solidFill>
                <a:effectLst>
                  <a:outerShdw blurRad="38100" dist="38100" dir="2700000" algn="tl">
                    <a:srgbClr val="000000">
                      <a:alpha val="43137"/>
                    </a:srgbClr>
                  </a:outerShdw>
                </a:effectLst>
              </a:rPr>
              <a:t> competition </a:t>
            </a:r>
            <a:r>
              <a:rPr lang="en-US" dirty="0">
                <a:solidFill>
                  <a:srgbClr val="002060"/>
                </a:solidFill>
                <a:effectLst>
                  <a:outerShdw blurRad="38100" dist="38100" dir="2700000" algn="tl">
                    <a:srgbClr val="000000">
                      <a:alpha val="43137"/>
                    </a:srgbClr>
                  </a:outerShdw>
                </a:effectLst>
              </a:rPr>
              <a:t>in these markets, which has a positive impact on consumer well-being.</a:t>
            </a:r>
          </a:p>
          <a:p>
            <a:r>
              <a:rPr lang="en-US" dirty="0">
                <a:solidFill>
                  <a:srgbClr val="002060"/>
                </a:solidFill>
                <a:effectLst>
                  <a:outerShdw blurRad="38100" dist="38100" dir="2700000" algn="tl">
                    <a:srgbClr val="000000">
                      <a:alpha val="43137"/>
                    </a:srgbClr>
                  </a:outerShdw>
                </a:effectLst>
              </a:rPr>
              <a:t>The Office of Competition and Consumer Protection (</a:t>
            </a:r>
            <a:r>
              <a:rPr lang="en-US" dirty="0" err="1">
                <a:solidFill>
                  <a:srgbClr val="002060"/>
                </a:solidFill>
                <a:effectLst>
                  <a:outerShdw blurRad="38100" dist="38100" dir="2700000" algn="tl">
                    <a:srgbClr val="000000">
                      <a:alpha val="43137"/>
                    </a:srgbClr>
                  </a:outerShdw>
                </a:effectLst>
              </a:rPr>
              <a:t>UOKiK</a:t>
            </a:r>
            <a:r>
              <a:rPr lang="en-US" dirty="0">
                <a:solidFill>
                  <a:srgbClr val="002060"/>
                </a:solidFill>
                <a:effectLst>
                  <a:outerShdw blurRad="38100" dist="38100" dir="2700000" algn="tl">
                    <a:srgbClr val="000000">
                      <a:alpha val="43137"/>
                    </a:srgbClr>
                  </a:outerShdw>
                </a:effectLst>
              </a:rPr>
              <a:t>) recognizes that market changes </a:t>
            </a:r>
            <a:r>
              <a:rPr lang="en-US" b="1" dirty="0">
                <a:solidFill>
                  <a:srgbClr val="FF0000"/>
                </a:solidFill>
                <a:effectLst>
                  <a:outerShdw blurRad="38100" dist="38100" dir="2700000" algn="tl">
                    <a:srgbClr val="000000">
                      <a:alpha val="43137"/>
                    </a:srgbClr>
                  </a:outerShdw>
                </a:effectLst>
              </a:rPr>
              <a:t>may require regulatory adjustments </a:t>
            </a:r>
            <a:r>
              <a:rPr lang="en-US" dirty="0">
                <a:solidFill>
                  <a:srgbClr val="002060"/>
                </a:solidFill>
                <a:effectLst>
                  <a:outerShdw blurRad="38100" dist="38100" dir="2700000" algn="tl">
                    <a:srgbClr val="000000">
                      <a:alpha val="43137"/>
                    </a:srgbClr>
                  </a:outerShdw>
                </a:effectLst>
              </a:rPr>
              <a:t>in areas related to ensuring security, personal data protection, and equal tax treatment.</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 However, any </a:t>
            </a:r>
            <a:r>
              <a:rPr lang="en-US" b="1" dirty="0">
                <a:solidFill>
                  <a:srgbClr val="002060"/>
                </a:solidFill>
                <a:effectLst>
                  <a:outerShdw blurRad="38100" dist="38100" dir="2700000" algn="tl">
                    <a:srgbClr val="000000">
                      <a:alpha val="43137"/>
                    </a:srgbClr>
                  </a:outerShdw>
                </a:effectLst>
              </a:rPr>
              <a:t>regulatory changes </a:t>
            </a:r>
            <a:r>
              <a:rPr lang="en-US" dirty="0">
                <a:solidFill>
                  <a:srgbClr val="002060"/>
                </a:solidFill>
                <a:effectLst>
                  <a:outerShdw blurRad="38100" dist="38100" dir="2700000" algn="tl">
                    <a:srgbClr val="000000">
                      <a:alpha val="43137"/>
                    </a:srgbClr>
                  </a:outerShdw>
                </a:effectLst>
              </a:rPr>
              <a:t>in these areas should be </a:t>
            </a:r>
            <a:r>
              <a:rPr lang="en-US" b="1" dirty="0">
                <a:solidFill>
                  <a:srgbClr val="002060"/>
                </a:solidFill>
                <a:effectLst>
                  <a:outerShdw blurRad="38100" dist="38100" dir="2700000" algn="tl">
                    <a:srgbClr val="000000">
                      <a:alpha val="43137"/>
                    </a:srgbClr>
                  </a:outerShdw>
                </a:effectLst>
              </a:rPr>
              <a:t>balanced and appropriate to the scale of the identified problems.</a:t>
            </a:r>
          </a:p>
          <a:p>
            <a:endParaRPr lang="en-US" dirty="0"/>
          </a:p>
        </p:txBody>
      </p:sp>
      <p:sp>
        <p:nvSpPr>
          <p:cNvPr id="4" name="Symbol zastępczy numeru slajdu 3">
            <a:extLst>
              <a:ext uri="{FF2B5EF4-FFF2-40B4-BE49-F238E27FC236}">
                <a16:creationId xmlns:a16="http://schemas.microsoft.com/office/drawing/2014/main" id="{831617CA-8968-C6EC-9D36-52DF55231A9F}"/>
              </a:ext>
            </a:extLst>
          </p:cNvPr>
          <p:cNvSpPr>
            <a:spLocks noGrp="1"/>
          </p:cNvSpPr>
          <p:nvPr>
            <p:ph type="sldNum" sz="quarter" idx="12"/>
          </p:nvPr>
        </p:nvSpPr>
        <p:spPr/>
        <p:txBody>
          <a:bodyPr/>
          <a:lstStyle/>
          <a:p>
            <a:fld id="{31FE8408-9B39-4718-B64F-54F72D092B1B}" type="slidenum">
              <a:rPr lang="pl-PL" smtClean="0"/>
              <a:t>14</a:t>
            </a:fld>
            <a:endParaRPr lang="pl-PL" dirty="0"/>
          </a:p>
        </p:txBody>
      </p:sp>
    </p:spTree>
    <p:extLst>
      <p:ext uri="{BB962C8B-B14F-4D97-AF65-F5344CB8AC3E}">
        <p14:creationId xmlns:p14="http://schemas.microsoft.com/office/powerpoint/2010/main" val="3091863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D024C0F-A12F-74A4-B292-213A9E2A8D4E}"/>
              </a:ext>
            </a:extLst>
          </p:cNvPr>
          <p:cNvSpPr>
            <a:spLocks noGrp="1"/>
          </p:cNvSpPr>
          <p:nvPr>
            <p:ph type="title"/>
          </p:nvPr>
        </p:nvSpPr>
        <p:spPr/>
        <p:txBody>
          <a:bodyPr>
            <a:normAutofit/>
          </a:bodyPr>
          <a:lstStyle/>
          <a:p>
            <a:r>
              <a:rPr lang="pl-PL" sz="2400" b="1" dirty="0" err="1">
                <a:solidFill>
                  <a:srgbClr val="FF0000"/>
                </a:solidFill>
                <a:effectLst>
                  <a:outerShdw blurRad="38100" dist="38100" dir="2700000" algn="tl">
                    <a:srgbClr val="000000">
                      <a:alpha val="43137"/>
                    </a:srgbClr>
                  </a:outerShdw>
                </a:effectLst>
              </a:rPr>
              <a:t>Polish</a:t>
            </a:r>
            <a:r>
              <a:rPr lang="pl-PL" sz="2400" b="1" dirty="0">
                <a:solidFill>
                  <a:srgbClr val="FF0000"/>
                </a:solidFill>
                <a:effectLst>
                  <a:outerShdw blurRad="38100" dist="38100" dir="2700000" algn="tl">
                    <a:srgbClr val="000000">
                      <a:alpha val="43137"/>
                    </a:srgbClr>
                  </a:outerShdw>
                </a:effectLst>
              </a:rPr>
              <a:t> </a:t>
            </a:r>
            <a:r>
              <a:rPr lang="pl-PL" sz="2400" b="1" dirty="0" err="1">
                <a:solidFill>
                  <a:srgbClr val="FF0000"/>
                </a:solidFill>
                <a:effectLst>
                  <a:outerShdw blurRad="38100" dist="38100" dir="2700000" algn="tl">
                    <a:srgbClr val="000000">
                      <a:alpha val="43137"/>
                    </a:srgbClr>
                  </a:outerShdw>
                </a:effectLst>
              </a:rPr>
              <a:t>Commissioner</a:t>
            </a:r>
            <a:r>
              <a:rPr lang="pl-PL" sz="2400" b="1" dirty="0">
                <a:solidFill>
                  <a:srgbClr val="FF0000"/>
                </a:solidFill>
                <a:effectLst>
                  <a:outerShdw blurRad="38100" dist="38100" dir="2700000" algn="tl">
                    <a:srgbClr val="000000">
                      <a:alpha val="43137"/>
                    </a:srgbClr>
                  </a:outerShdw>
                </a:effectLst>
              </a:rPr>
              <a:t> for Human </a:t>
            </a:r>
            <a:r>
              <a:rPr lang="pl-PL" sz="2400" b="1" dirty="0" err="1">
                <a:solidFill>
                  <a:srgbClr val="FF0000"/>
                </a:solidFill>
                <a:effectLst>
                  <a:outerShdw blurRad="38100" dist="38100" dir="2700000" algn="tl">
                    <a:srgbClr val="000000">
                      <a:alpha val="43137"/>
                    </a:srgbClr>
                  </a:outerShdw>
                </a:effectLst>
              </a:rPr>
              <a:t>Rights</a:t>
            </a:r>
            <a:br>
              <a:rPr lang="pl-PL" sz="2400" b="1" dirty="0">
                <a:solidFill>
                  <a:srgbClr val="FF0000"/>
                </a:solidFill>
                <a:effectLst>
                  <a:outerShdw blurRad="38100" dist="38100" dir="2700000" algn="tl">
                    <a:srgbClr val="000000">
                      <a:alpha val="43137"/>
                    </a:srgbClr>
                  </a:outerShdw>
                </a:effectLst>
              </a:rPr>
            </a:br>
            <a:r>
              <a:rPr lang="pl-PL" sz="2400" b="1" dirty="0">
                <a:solidFill>
                  <a:srgbClr val="FF0000"/>
                </a:solidFill>
                <a:effectLst>
                  <a:outerShdw blurRad="38100" dist="38100" dir="2700000" algn="tl">
                    <a:srgbClr val="000000">
                      <a:alpha val="43137"/>
                    </a:srgbClr>
                  </a:outerShdw>
                </a:effectLst>
              </a:rPr>
              <a:t>(The ombudsman)</a:t>
            </a:r>
            <a:endParaRPr lang="en-US" sz="2400" b="1" dirty="0">
              <a:solidFill>
                <a:srgbClr val="FF000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AE9CED91-1E0B-12EA-A527-B088D25F1CA6}"/>
              </a:ext>
            </a:extLst>
          </p:cNvPr>
          <p:cNvSpPr>
            <a:spLocks noGrp="1"/>
          </p:cNvSpPr>
          <p:nvPr>
            <p:ph idx="1"/>
          </p:nvPr>
        </p:nvSpPr>
        <p:spPr/>
        <p:txBody>
          <a:bodyPr>
            <a:normAutofit/>
          </a:bodyPr>
          <a:lstStyle/>
          <a:p>
            <a:r>
              <a:rPr lang="en-US" dirty="0">
                <a:solidFill>
                  <a:srgbClr val="002060"/>
                </a:solidFill>
                <a:effectLst>
                  <a:outerShdw blurRad="38100" dist="38100" dir="2700000" algn="tl">
                    <a:srgbClr val="000000">
                      <a:alpha val="43137"/>
                    </a:srgbClr>
                  </a:outerShdw>
                </a:effectLst>
              </a:rPr>
              <a:t>Classifying platform work </a:t>
            </a:r>
            <a:r>
              <a:rPr lang="en-US" b="1" dirty="0">
                <a:solidFill>
                  <a:srgbClr val="FF0000"/>
                </a:solidFill>
                <a:effectLst>
                  <a:outerShdw blurRad="38100" dist="38100" dir="2700000" algn="tl">
                    <a:srgbClr val="000000">
                      <a:alpha val="43137"/>
                    </a:srgbClr>
                  </a:outerShdw>
                </a:effectLst>
              </a:rPr>
              <a:t>as self-employment limits the ability to provide such workers with the protections </a:t>
            </a:r>
            <a:r>
              <a:rPr lang="en-US" b="1" dirty="0">
                <a:solidFill>
                  <a:srgbClr val="002060"/>
                </a:solidFill>
                <a:effectLst>
                  <a:outerShdw blurRad="38100" dist="38100" dir="2700000" algn="tl">
                    <a:srgbClr val="000000">
                      <a:alpha val="43137"/>
                    </a:srgbClr>
                  </a:outerShdw>
                </a:effectLst>
              </a:rPr>
              <a:t>enjoyed by employees under labor law.</a:t>
            </a:r>
          </a:p>
          <a:p>
            <a:r>
              <a:rPr lang="en-US" b="1" dirty="0">
                <a:solidFill>
                  <a:srgbClr val="FF0000"/>
                </a:solidFill>
                <a:effectLst>
                  <a:outerShdw blurRad="38100" dist="38100" dir="2700000" algn="tl">
                    <a:srgbClr val="000000">
                      <a:alpha val="43137"/>
                    </a:srgbClr>
                  </a:outerShdw>
                </a:effectLst>
              </a:rPr>
              <a:t>Job insecurity, </a:t>
            </a:r>
            <a:r>
              <a:rPr lang="en-US" dirty="0">
                <a:solidFill>
                  <a:srgbClr val="002060"/>
                </a:solidFill>
                <a:effectLst>
                  <a:outerShdw blurRad="38100" dist="38100" dir="2700000" algn="tl">
                    <a:srgbClr val="000000">
                      <a:alpha val="43137"/>
                    </a:srgbClr>
                  </a:outerShdw>
                </a:effectLst>
              </a:rPr>
              <a:t>income irregularity, and the </a:t>
            </a:r>
            <a:r>
              <a:rPr lang="en-US" b="1" dirty="0">
                <a:solidFill>
                  <a:srgbClr val="002060"/>
                </a:solidFill>
                <a:effectLst>
                  <a:outerShdw blurRad="38100" dist="38100" dir="2700000" algn="tl">
                    <a:srgbClr val="000000">
                      <a:alpha val="43137"/>
                    </a:srgbClr>
                  </a:outerShdw>
                </a:effectLst>
              </a:rPr>
              <a:t>lack of adequate </a:t>
            </a:r>
            <a:r>
              <a:rPr lang="en-US" b="1" dirty="0">
                <a:solidFill>
                  <a:srgbClr val="FF0000"/>
                </a:solidFill>
                <a:effectLst>
                  <a:outerShdw blurRad="38100" dist="38100" dir="2700000" algn="tl">
                    <a:srgbClr val="000000">
                      <a:alpha val="43137"/>
                    </a:srgbClr>
                  </a:outerShdw>
                </a:effectLst>
              </a:rPr>
              <a:t>social securit</a:t>
            </a:r>
            <a:r>
              <a:rPr lang="en-US" dirty="0">
                <a:solidFill>
                  <a:srgbClr val="002060"/>
                </a:solidFill>
                <a:effectLst>
                  <a:outerShdw blurRad="38100" dist="38100" dir="2700000" algn="tl">
                    <a:srgbClr val="000000">
                      <a:alpha val="43137"/>
                    </a:srgbClr>
                  </a:outerShdw>
                </a:effectLst>
              </a:rPr>
              <a:t>y guarantees make such work precarious.</a:t>
            </a:r>
          </a:p>
          <a:p>
            <a:r>
              <a:rPr lang="en-US" dirty="0">
                <a:solidFill>
                  <a:srgbClr val="002060"/>
                </a:solidFill>
                <a:effectLst>
                  <a:outerShdw blurRad="38100" dist="38100" dir="2700000" algn="tl">
                    <a:srgbClr val="000000">
                      <a:alpha val="43137"/>
                    </a:srgbClr>
                  </a:outerShdw>
                </a:effectLst>
              </a:rPr>
              <a:t>The Supreme </a:t>
            </a:r>
            <a:r>
              <a:rPr lang="en-US" b="1" dirty="0">
                <a:solidFill>
                  <a:srgbClr val="002060"/>
                </a:solidFill>
                <a:effectLst>
                  <a:outerShdw blurRad="38100" dist="38100" dir="2700000" algn="tl">
                    <a:srgbClr val="000000">
                      <a:alpha val="43137"/>
                    </a:srgbClr>
                  </a:outerShdw>
                </a:effectLst>
              </a:rPr>
              <a:t>Court in France has ruled that Uber drivers are entitled to employee status, not subcontractor status</a:t>
            </a:r>
            <a:r>
              <a:rPr lang="en-US" dirty="0">
                <a:solidFill>
                  <a:srgbClr val="002060"/>
                </a:solidFill>
                <a:effectLst>
                  <a:outerShdw blurRad="38100" dist="38100" dir="2700000" algn="tl">
                    <a:srgbClr val="000000">
                      <a:alpha val="43137"/>
                    </a:srgbClr>
                  </a:outerShdw>
                </a:effectLst>
              </a:rPr>
              <a:t>. This ruling </a:t>
            </a:r>
            <a:r>
              <a:rPr lang="en-US" b="1" dirty="0">
                <a:solidFill>
                  <a:srgbClr val="FF0000"/>
                </a:solidFill>
                <a:effectLst>
                  <a:outerShdw blurRad="38100" dist="38100" dir="2700000" algn="tl">
                    <a:srgbClr val="000000">
                      <a:alpha val="43137"/>
                    </a:srgbClr>
                  </a:outerShdw>
                </a:effectLst>
              </a:rPr>
              <a:t>could undermine the American company's business model </a:t>
            </a:r>
            <a:r>
              <a:rPr lang="en-US" dirty="0">
                <a:solidFill>
                  <a:srgbClr val="002060"/>
                </a:solidFill>
                <a:effectLst>
                  <a:outerShdw blurRad="38100" dist="38100" dir="2700000" algn="tl">
                    <a:srgbClr val="000000">
                      <a:alpha val="43137"/>
                    </a:srgbClr>
                  </a:outerShdw>
                </a:effectLst>
              </a:rPr>
              <a:t>and potentially require it to pay additional taxes and provide drivers with paid leave.</a:t>
            </a:r>
          </a:p>
          <a:p>
            <a:endParaRPr lang="en-US" dirty="0"/>
          </a:p>
        </p:txBody>
      </p:sp>
      <p:sp>
        <p:nvSpPr>
          <p:cNvPr id="4" name="Symbol zastępczy numeru slajdu 3">
            <a:extLst>
              <a:ext uri="{FF2B5EF4-FFF2-40B4-BE49-F238E27FC236}">
                <a16:creationId xmlns:a16="http://schemas.microsoft.com/office/drawing/2014/main" id="{F828F78A-BF95-BACA-6D48-D77F3C2DB158}"/>
              </a:ext>
            </a:extLst>
          </p:cNvPr>
          <p:cNvSpPr>
            <a:spLocks noGrp="1"/>
          </p:cNvSpPr>
          <p:nvPr>
            <p:ph type="sldNum" sz="quarter" idx="12"/>
          </p:nvPr>
        </p:nvSpPr>
        <p:spPr/>
        <p:txBody>
          <a:bodyPr/>
          <a:lstStyle/>
          <a:p>
            <a:fld id="{31FE8408-9B39-4718-B64F-54F72D092B1B}" type="slidenum">
              <a:rPr lang="pl-PL" smtClean="0"/>
              <a:t>15</a:t>
            </a:fld>
            <a:endParaRPr lang="pl-PL" dirty="0"/>
          </a:p>
        </p:txBody>
      </p:sp>
    </p:spTree>
    <p:extLst>
      <p:ext uri="{BB962C8B-B14F-4D97-AF65-F5344CB8AC3E}">
        <p14:creationId xmlns:p14="http://schemas.microsoft.com/office/powerpoint/2010/main" val="26900776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38752B3-9773-5553-1D20-0C5C0013CDE2}"/>
              </a:ext>
            </a:extLst>
          </p:cNvPr>
          <p:cNvSpPr>
            <a:spLocks noGrp="1"/>
          </p:cNvSpPr>
          <p:nvPr>
            <p:ph type="title"/>
          </p:nvPr>
        </p:nvSpPr>
        <p:spPr/>
        <p:txBody>
          <a:bodyPr>
            <a:normAutofit/>
          </a:bodyPr>
          <a:lstStyle/>
          <a:p>
            <a:r>
              <a:rPr lang="pl-PL" sz="3200" b="1" dirty="0" err="1">
                <a:solidFill>
                  <a:srgbClr val="FF0000"/>
                </a:solidFill>
                <a:effectLst>
                  <a:outerShdw blurRad="38100" dist="38100" dir="2700000" algn="tl">
                    <a:srgbClr val="000000">
                      <a:alpha val="43137"/>
                    </a:srgbClr>
                  </a:outerShdw>
                </a:effectLst>
              </a:rPr>
              <a:t>Polish</a:t>
            </a:r>
            <a:r>
              <a:rPr lang="pl-PL" sz="3200" b="1" dirty="0">
                <a:solidFill>
                  <a:srgbClr val="FF0000"/>
                </a:solidFill>
                <a:effectLst>
                  <a:outerShdw blurRad="38100" dist="38100" dir="2700000" algn="tl">
                    <a:srgbClr val="000000">
                      <a:alpha val="43137"/>
                    </a:srgbClr>
                  </a:outerShdw>
                </a:effectLst>
              </a:rPr>
              <a:t> </a:t>
            </a:r>
            <a:r>
              <a:rPr lang="pl-PL" sz="3200" b="1" dirty="0" err="1">
                <a:solidFill>
                  <a:srgbClr val="FF0000"/>
                </a:solidFill>
                <a:effectLst>
                  <a:outerShdw blurRad="38100" dist="38100" dir="2700000" algn="tl">
                    <a:srgbClr val="000000">
                      <a:alpha val="43137"/>
                    </a:srgbClr>
                  </a:outerShdw>
                </a:effectLst>
              </a:rPr>
              <a:t>Commissioner</a:t>
            </a:r>
            <a:r>
              <a:rPr lang="pl-PL" sz="3200" b="1" dirty="0">
                <a:solidFill>
                  <a:srgbClr val="FF0000"/>
                </a:solidFill>
                <a:effectLst>
                  <a:outerShdw blurRad="38100" dist="38100" dir="2700000" algn="tl">
                    <a:srgbClr val="000000">
                      <a:alpha val="43137"/>
                    </a:srgbClr>
                  </a:outerShdw>
                </a:effectLst>
              </a:rPr>
              <a:t> for Human </a:t>
            </a:r>
            <a:r>
              <a:rPr lang="pl-PL" sz="3200" b="1" dirty="0" err="1">
                <a:solidFill>
                  <a:srgbClr val="FF0000"/>
                </a:solidFill>
                <a:effectLst>
                  <a:outerShdw blurRad="38100" dist="38100" dir="2700000" algn="tl">
                    <a:srgbClr val="000000">
                      <a:alpha val="43137"/>
                    </a:srgbClr>
                  </a:outerShdw>
                </a:effectLst>
              </a:rPr>
              <a:t>Rights</a:t>
            </a:r>
            <a:br>
              <a:rPr lang="pl-PL" sz="3200" b="1" dirty="0">
                <a:solidFill>
                  <a:srgbClr val="FF0000"/>
                </a:solidFill>
                <a:effectLst>
                  <a:outerShdw blurRad="38100" dist="38100" dir="2700000" algn="tl">
                    <a:srgbClr val="000000">
                      <a:alpha val="43137"/>
                    </a:srgbClr>
                  </a:outerShdw>
                </a:effectLst>
              </a:rPr>
            </a:br>
            <a:r>
              <a:rPr lang="pl-PL" sz="3200" b="1" dirty="0">
                <a:solidFill>
                  <a:srgbClr val="FF0000"/>
                </a:solidFill>
                <a:effectLst>
                  <a:outerShdw blurRad="38100" dist="38100" dir="2700000" algn="tl">
                    <a:srgbClr val="000000">
                      <a:alpha val="43137"/>
                    </a:srgbClr>
                  </a:outerShdw>
                </a:effectLst>
              </a:rPr>
              <a:t>(The ombudsman)</a:t>
            </a:r>
            <a:endParaRPr lang="en-US" sz="3200" dirty="0"/>
          </a:p>
        </p:txBody>
      </p:sp>
      <p:sp>
        <p:nvSpPr>
          <p:cNvPr id="3" name="Symbol zastępczy zawartości 2">
            <a:extLst>
              <a:ext uri="{FF2B5EF4-FFF2-40B4-BE49-F238E27FC236}">
                <a16:creationId xmlns:a16="http://schemas.microsoft.com/office/drawing/2014/main" id="{CCF2E98D-480F-2F23-151A-CFBA4679F05B}"/>
              </a:ext>
            </a:extLst>
          </p:cNvPr>
          <p:cNvSpPr>
            <a:spLocks noGrp="1"/>
          </p:cNvSpPr>
          <p:nvPr>
            <p:ph idx="1"/>
          </p:nvPr>
        </p:nvSpPr>
        <p:spPr/>
        <p:txBody>
          <a:bodyPr>
            <a:normAutofit fontScale="85000" lnSpcReduction="20000"/>
          </a:bodyPr>
          <a:lstStyle/>
          <a:p>
            <a:r>
              <a:rPr lang="pl-PL" dirty="0">
                <a:solidFill>
                  <a:srgbClr val="002060"/>
                </a:solidFill>
                <a:effectLst>
                  <a:outerShdw blurRad="38100" dist="38100" dir="2700000" algn="tl">
                    <a:srgbClr val="000000">
                      <a:alpha val="43137"/>
                    </a:srgbClr>
                  </a:outerShdw>
                </a:effectLst>
              </a:rPr>
              <a:t>J</a:t>
            </a:r>
            <a:r>
              <a:rPr lang="en-US" dirty="0" err="1">
                <a:solidFill>
                  <a:srgbClr val="002060"/>
                </a:solidFill>
                <a:effectLst>
                  <a:outerShdw blurRad="38100" dist="38100" dir="2700000" algn="tl">
                    <a:srgbClr val="000000">
                      <a:alpha val="43137"/>
                    </a:srgbClr>
                  </a:outerShdw>
                </a:effectLst>
              </a:rPr>
              <a:t>udgment</a:t>
            </a:r>
            <a:r>
              <a:rPr lang="en-US" dirty="0">
                <a:solidFill>
                  <a:srgbClr val="002060"/>
                </a:solidFill>
                <a:effectLst>
                  <a:outerShdw blurRad="38100" dist="38100" dir="2700000" algn="tl">
                    <a:srgbClr val="000000">
                      <a:alpha val="43137"/>
                    </a:srgbClr>
                  </a:outerShdw>
                </a:effectLst>
              </a:rPr>
              <a:t> of the Court of Justice of 4 December 2014, C-413/3, FNV Kunsten </a:t>
            </a:r>
            <a:r>
              <a:rPr lang="en-US" dirty="0" err="1">
                <a:solidFill>
                  <a:srgbClr val="002060"/>
                </a:solidFill>
                <a:effectLst>
                  <a:outerShdw blurRad="38100" dist="38100" dir="2700000" algn="tl">
                    <a:srgbClr val="000000">
                      <a:alpha val="43137"/>
                    </a:srgbClr>
                  </a:outerShdw>
                </a:effectLst>
              </a:rPr>
              <a:t>Informatie</a:t>
            </a:r>
            <a:r>
              <a:rPr lang="en-US" dirty="0">
                <a:solidFill>
                  <a:srgbClr val="002060"/>
                </a:solidFill>
                <a:effectLst>
                  <a:outerShdw blurRad="38100" dist="38100" dir="2700000" algn="tl">
                    <a:srgbClr val="000000">
                      <a:alpha val="43137"/>
                    </a:srgbClr>
                  </a:outerShdw>
                </a:effectLst>
              </a:rPr>
              <a:t> </a:t>
            </a:r>
            <a:r>
              <a:rPr lang="en-US" dirty="0" err="1">
                <a:solidFill>
                  <a:srgbClr val="002060"/>
                </a:solidFill>
                <a:effectLst>
                  <a:outerShdw blurRad="38100" dist="38100" dir="2700000" algn="tl">
                    <a:srgbClr val="000000">
                      <a:alpha val="43137"/>
                    </a:srgbClr>
                  </a:outerShdw>
                </a:effectLst>
              </a:rPr>
              <a:t>en</a:t>
            </a:r>
            <a:r>
              <a:rPr lang="en-US" dirty="0">
                <a:solidFill>
                  <a:srgbClr val="002060"/>
                </a:solidFill>
                <a:effectLst>
                  <a:outerShdw blurRad="38100" dist="38100" dir="2700000" algn="tl">
                    <a:srgbClr val="000000">
                      <a:alpha val="43137"/>
                    </a:srgbClr>
                  </a:outerShdw>
                </a:effectLst>
              </a:rPr>
              <a:t> Media, ECLI:</a:t>
            </a:r>
            <a:r>
              <a:rPr lang="pl-PL"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EU;C;2014;2411.)</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 The Court of Justice ruled that, </a:t>
            </a:r>
            <a:r>
              <a:rPr lang="en-US" b="1" dirty="0">
                <a:solidFill>
                  <a:srgbClr val="002060"/>
                </a:solidFill>
                <a:effectLst>
                  <a:outerShdw blurRad="38100" dist="38100" dir="2700000" algn="tl">
                    <a:srgbClr val="000000">
                      <a:alpha val="43137"/>
                    </a:srgbClr>
                  </a:outerShdw>
                </a:effectLst>
              </a:rPr>
              <a:t>regardless of the legal status of self-employed </a:t>
            </a:r>
            <a:r>
              <a:rPr lang="en-US" dirty="0">
                <a:solidFill>
                  <a:srgbClr val="002060"/>
                </a:solidFill>
                <a:effectLst>
                  <a:outerShdw blurRad="38100" dist="38100" dir="2700000" algn="tl">
                    <a:srgbClr val="000000">
                      <a:alpha val="43137"/>
                    </a:srgbClr>
                  </a:outerShdw>
                </a:effectLst>
              </a:rPr>
              <a:t>persons granted to service providers under national law, if the service provider's conduct on the market is not determined independently but is </a:t>
            </a:r>
            <a:r>
              <a:rPr lang="en-US" b="1" dirty="0">
                <a:solidFill>
                  <a:srgbClr val="FF0000"/>
                </a:solidFill>
                <a:effectLst>
                  <a:outerShdw blurRad="38100" dist="38100" dir="2700000" algn="tl">
                    <a:srgbClr val="000000">
                      <a:alpha val="43137"/>
                    </a:srgbClr>
                  </a:outerShdw>
                </a:effectLst>
              </a:rPr>
              <a:t>entirely dependent </a:t>
            </a:r>
            <a:r>
              <a:rPr lang="en-US" b="1" dirty="0">
                <a:solidFill>
                  <a:srgbClr val="0070C0"/>
                </a:solidFill>
                <a:effectLst>
                  <a:outerShdw blurRad="38100" dist="38100" dir="2700000" algn="tl">
                    <a:srgbClr val="000000">
                      <a:alpha val="43137"/>
                    </a:srgbClr>
                  </a:outerShdw>
                </a:effectLst>
              </a:rPr>
              <a:t>on the principal, the person may lose this status</a:t>
            </a:r>
            <a:r>
              <a:rPr lang="en-US" dirty="0">
                <a:solidFill>
                  <a:srgbClr val="002060"/>
                </a:solidFill>
                <a:effectLst>
                  <a:outerShdw blurRad="38100" dist="38100" dir="2700000" algn="tl">
                    <a:srgbClr val="000000">
                      <a:alpha val="43137"/>
                    </a:srgbClr>
                  </a:outerShdw>
                </a:effectLst>
              </a:rPr>
              <a:t>.</a:t>
            </a:r>
          </a:p>
          <a:p>
            <a:r>
              <a:rPr lang="en-US" dirty="0">
                <a:solidFill>
                  <a:srgbClr val="002060"/>
                </a:solidFill>
                <a:effectLst>
                  <a:outerShdw blurRad="38100" dist="38100" dir="2700000" algn="tl">
                    <a:srgbClr val="000000">
                      <a:alpha val="43137"/>
                    </a:srgbClr>
                  </a:outerShdw>
                </a:effectLst>
              </a:rPr>
              <a:t>This will be the case in particular when </a:t>
            </a:r>
            <a:r>
              <a:rPr lang="en-US" b="1" dirty="0">
                <a:solidFill>
                  <a:srgbClr val="FF0000"/>
                </a:solidFill>
                <a:effectLst>
                  <a:outerShdw blurRad="38100" dist="38100" dir="2700000" algn="tl">
                    <a:srgbClr val="000000">
                      <a:alpha val="43137"/>
                    </a:srgbClr>
                  </a:outerShdw>
                </a:effectLst>
              </a:rPr>
              <a:t>the service provider does not bear any financial or economic risks </a:t>
            </a:r>
            <a:r>
              <a:rPr lang="en-US" dirty="0">
                <a:solidFill>
                  <a:srgbClr val="002060"/>
                </a:solidFill>
                <a:effectLst>
                  <a:outerShdw blurRad="38100" dist="38100" dir="2700000" algn="tl">
                    <a:srgbClr val="000000">
                      <a:alpha val="43137"/>
                    </a:srgbClr>
                  </a:outerShdw>
                </a:effectLst>
              </a:rPr>
              <a:t>arising from </a:t>
            </a:r>
            <a:r>
              <a:rPr lang="en-US" b="1" dirty="0">
                <a:solidFill>
                  <a:srgbClr val="FF0000"/>
                </a:solidFill>
                <a:effectLst>
                  <a:outerShdw blurRad="38100" dist="38100" dir="2700000" algn="tl">
                    <a:srgbClr val="000000">
                      <a:alpha val="43137"/>
                    </a:srgbClr>
                  </a:outerShdw>
                </a:effectLst>
              </a:rPr>
              <a:t>the principal's activities</a:t>
            </a:r>
            <a:r>
              <a:rPr lang="en-US" dirty="0">
                <a:solidFill>
                  <a:srgbClr val="002060"/>
                </a:solidFill>
                <a:effectLst>
                  <a:outerShdw blurRad="38100" dist="38100" dir="2700000" algn="tl">
                    <a:srgbClr val="000000">
                      <a:alpha val="43137"/>
                    </a:srgbClr>
                  </a:outerShdw>
                </a:effectLst>
              </a:rPr>
              <a:t>, even if it operates as an ancillary entity integrated with the principal's enterprise</a:t>
            </a:r>
            <a:r>
              <a:rPr lang="pl-PL" dirty="0">
                <a:solidFill>
                  <a:srgbClr val="002060"/>
                </a:solidFill>
                <a:effectLst>
                  <a:outerShdw blurRad="38100" dist="38100" dir="2700000" algn="tl">
                    <a:srgbClr val="000000">
                      <a:alpha val="43137"/>
                    </a:srgbClr>
                  </a:outerShdw>
                </a:effectLst>
              </a:rPr>
              <a:t> [</a:t>
            </a:r>
            <a:r>
              <a:rPr lang="pl-PL" b="1" dirty="0">
                <a:solidFill>
                  <a:srgbClr val="0070C0"/>
                </a:solidFill>
                <a:effectLst>
                  <a:outerShdw blurRad="38100" dist="38100" dir="2700000" algn="tl">
                    <a:srgbClr val="000000">
                      <a:alpha val="43137"/>
                    </a:srgbClr>
                  </a:outerShdw>
                </a:effectLst>
              </a:rPr>
              <a:t>WH – Uber </a:t>
            </a:r>
            <a:r>
              <a:rPr lang="pl-PL" b="1" dirty="0" err="1">
                <a:solidFill>
                  <a:srgbClr val="0070C0"/>
                </a:solidFill>
                <a:effectLst>
                  <a:outerShdw blurRad="38100" dist="38100" dir="2700000" algn="tl">
                    <a:srgbClr val="000000">
                      <a:alpha val="43137"/>
                    </a:srgbClr>
                  </a:outerShdw>
                </a:effectLst>
              </a:rPr>
              <a:t>drivers</a:t>
            </a:r>
            <a:r>
              <a:rPr lang="pl-PL" b="1" dirty="0">
                <a:solidFill>
                  <a:srgbClr val="0070C0"/>
                </a:solidFill>
                <a:effectLst>
                  <a:outerShdw blurRad="38100" dist="38100" dir="2700000" algn="tl">
                    <a:srgbClr val="000000">
                      <a:alpha val="43137"/>
                    </a:srgbClr>
                  </a:outerShdw>
                </a:effectLst>
              </a:rPr>
              <a:t> </a:t>
            </a:r>
            <a:r>
              <a:rPr lang="pl-PL" b="1" dirty="0" err="1">
                <a:solidFill>
                  <a:srgbClr val="0070C0"/>
                </a:solidFill>
                <a:effectLst>
                  <a:outerShdw blurRad="38100" dist="38100" dir="2700000" algn="tl">
                    <a:srgbClr val="000000">
                      <a:alpha val="43137"/>
                    </a:srgbClr>
                  </a:outerShdw>
                </a:effectLst>
              </a:rPr>
              <a:t>bear</a:t>
            </a:r>
            <a:r>
              <a:rPr lang="pl-PL" b="1" dirty="0">
                <a:solidFill>
                  <a:srgbClr val="0070C0"/>
                </a:solidFill>
                <a:effectLst>
                  <a:outerShdw blurRad="38100" dist="38100" dir="2700000" algn="tl">
                    <a:srgbClr val="000000">
                      <a:alpha val="43137"/>
                    </a:srgbClr>
                  </a:outerShdw>
                </a:effectLst>
              </a:rPr>
              <a:t> business </a:t>
            </a:r>
            <a:r>
              <a:rPr lang="pl-PL" b="1" dirty="0" err="1">
                <a:solidFill>
                  <a:srgbClr val="0070C0"/>
                </a:solidFill>
                <a:effectLst>
                  <a:outerShdw blurRad="38100" dist="38100" dir="2700000" algn="tl">
                    <a:srgbClr val="000000">
                      <a:alpha val="43137"/>
                    </a:srgbClr>
                  </a:outerShdw>
                </a:effectLst>
              </a:rPr>
              <a:t>risk</a:t>
            </a:r>
            <a:r>
              <a:rPr lang="pl-PL" b="1" dirty="0">
                <a:solidFill>
                  <a:srgbClr val="0070C0"/>
                </a:solidFill>
                <a:effectLst>
                  <a:outerShdw blurRad="38100" dist="38100" dir="2700000" algn="tl">
                    <a:srgbClr val="000000">
                      <a:alpha val="43137"/>
                    </a:srgbClr>
                  </a:outerShdw>
                </a:effectLst>
              </a:rPr>
              <a:t>]</a:t>
            </a:r>
            <a:r>
              <a:rPr lang="en-US" b="1" dirty="0">
                <a:solidFill>
                  <a:srgbClr val="0070C0"/>
                </a:solidFill>
                <a:effectLst>
                  <a:outerShdw blurRad="38100" dist="38100" dir="2700000" algn="tl">
                    <a:srgbClr val="000000">
                      <a:alpha val="43137"/>
                    </a:srgbClr>
                  </a:outerShdw>
                </a:effectLst>
              </a:rPr>
              <a:t>.</a:t>
            </a:r>
          </a:p>
          <a:p>
            <a:r>
              <a:rPr lang="en-US" dirty="0">
                <a:solidFill>
                  <a:srgbClr val="002060"/>
                </a:solidFill>
                <a:effectLst>
                  <a:outerShdw blurRad="38100" dist="38100" dir="2700000" algn="tl">
                    <a:srgbClr val="000000">
                      <a:alpha val="43137"/>
                    </a:srgbClr>
                  </a:outerShdw>
                </a:effectLst>
              </a:rPr>
              <a:t>Furthermore, the status of an employee is </a:t>
            </a:r>
            <a:r>
              <a:rPr lang="en-US" b="1" dirty="0">
                <a:solidFill>
                  <a:srgbClr val="FF0000"/>
                </a:solidFill>
                <a:effectLst>
                  <a:outerShdw blurRad="38100" dist="38100" dir="2700000" algn="tl">
                    <a:srgbClr val="000000">
                      <a:alpha val="43137"/>
                    </a:srgbClr>
                  </a:outerShdw>
                </a:effectLst>
              </a:rPr>
              <a:t>not affected </a:t>
            </a:r>
            <a:r>
              <a:rPr lang="en-US" dirty="0">
                <a:solidFill>
                  <a:srgbClr val="002060"/>
                </a:solidFill>
                <a:effectLst>
                  <a:outerShdw blurRad="38100" dist="38100" dir="2700000" algn="tl">
                    <a:srgbClr val="000000">
                      <a:alpha val="43137"/>
                    </a:srgbClr>
                  </a:outerShdw>
                </a:effectLst>
              </a:rPr>
              <a:t>by the fact that the service provider has </a:t>
            </a:r>
            <a:r>
              <a:rPr lang="en-US" b="1" dirty="0">
                <a:solidFill>
                  <a:srgbClr val="FF0000"/>
                </a:solidFill>
                <a:effectLst>
                  <a:outerShdw blurRad="38100" dist="38100" dir="2700000" algn="tl">
                    <a:srgbClr val="000000">
                      <a:alpha val="43137"/>
                    </a:srgbClr>
                  </a:outerShdw>
                </a:effectLst>
              </a:rPr>
              <a:t>more independence and flexibility in choosing working hours, place of work</a:t>
            </a:r>
            <a:r>
              <a:rPr lang="en-US" dirty="0">
                <a:solidFill>
                  <a:srgbClr val="002060"/>
                </a:solidFill>
                <a:effectLst>
                  <a:outerShdw blurRad="38100" dist="38100" dir="2700000" algn="tl">
                    <a:srgbClr val="000000">
                      <a:alpha val="43137"/>
                    </a:srgbClr>
                  </a:outerShdw>
                </a:effectLst>
              </a:rPr>
              <a:t>, and tasks performed as part of the work than regular employees.</a:t>
            </a:r>
          </a:p>
          <a:p>
            <a:endParaRPr lang="en-US" dirty="0"/>
          </a:p>
        </p:txBody>
      </p:sp>
      <p:sp>
        <p:nvSpPr>
          <p:cNvPr id="4" name="Symbol zastępczy numeru slajdu 3">
            <a:extLst>
              <a:ext uri="{FF2B5EF4-FFF2-40B4-BE49-F238E27FC236}">
                <a16:creationId xmlns:a16="http://schemas.microsoft.com/office/drawing/2014/main" id="{3382BBB0-3FC7-63EE-1E51-C8CED35DC01E}"/>
              </a:ext>
            </a:extLst>
          </p:cNvPr>
          <p:cNvSpPr>
            <a:spLocks noGrp="1"/>
          </p:cNvSpPr>
          <p:nvPr>
            <p:ph type="sldNum" sz="quarter" idx="12"/>
          </p:nvPr>
        </p:nvSpPr>
        <p:spPr/>
        <p:txBody>
          <a:bodyPr/>
          <a:lstStyle/>
          <a:p>
            <a:fld id="{31FE8408-9B39-4718-B64F-54F72D092B1B}" type="slidenum">
              <a:rPr lang="pl-PL" smtClean="0"/>
              <a:t>16</a:t>
            </a:fld>
            <a:endParaRPr lang="pl-PL" dirty="0"/>
          </a:p>
        </p:txBody>
      </p:sp>
    </p:spTree>
    <p:extLst>
      <p:ext uri="{BB962C8B-B14F-4D97-AF65-F5344CB8AC3E}">
        <p14:creationId xmlns:p14="http://schemas.microsoft.com/office/powerpoint/2010/main" val="25673747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77178FF-E264-1E18-7642-4A8B414EA7CA}"/>
              </a:ext>
            </a:extLst>
          </p:cNvPr>
          <p:cNvSpPr>
            <a:spLocks noGrp="1"/>
          </p:cNvSpPr>
          <p:nvPr>
            <p:ph type="title"/>
          </p:nvPr>
        </p:nvSpPr>
        <p:spPr/>
        <p:txBody>
          <a:bodyPr>
            <a:normAutofit/>
          </a:bodyPr>
          <a:lstStyle/>
          <a:p>
            <a:r>
              <a:rPr lang="pl-PL" sz="3600" b="1" dirty="0" err="1">
                <a:solidFill>
                  <a:srgbClr val="FF0000"/>
                </a:solidFill>
                <a:effectLst>
                  <a:outerShdw blurRad="38100" dist="38100" dir="2700000" algn="tl">
                    <a:srgbClr val="000000">
                      <a:alpha val="43137"/>
                    </a:srgbClr>
                  </a:outerShdw>
                </a:effectLst>
              </a:rPr>
              <a:t>Polish</a:t>
            </a:r>
            <a:r>
              <a:rPr lang="pl-PL" sz="3600" b="1" dirty="0">
                <a:solidFill>
                  <a:srgbClr val="FF0000"/>
                </a:solidFill>
                <a:effectLst>
                  <a:outerShdw blurRad="38100" dist="38100" dir="2700000" algn="tl">
                    <a:srgbClr val="000000">
                      <a:alpha val="43137"/>
                    </a:srgbClr>
                  </a:outerShdw>
                </a:effectLst>
              </a:rPr>
              <a:t> </a:t>
            </a:r>
            <a:r>
              <a:rPr lang="pl-PL" sz="3600" b="1" dirty="0" err="1">
                <a:solidFill>
                  <a:srgbClr val="FF0000"/>
                </a:solidFill>
                <a:effectLst>
                  <a:outerShdw blurRad="38100" dist="38100" dir="2700000" algn="tl">
                    <a:srgbClr val="000000">
                      <a:alpha val="43137"/>
                    </a:srgbClr>
                  </a:outerShdw>
                </a:effectLst>
              </a:rPr>
              <a:t>Commissioner</a:t>
            </a:r>
            <a:r>
              <a:rPr lang="pl-PL" sz="3600" b="1" dirty="0">
                <a:solidFill>
                  <a:srgbClr val="FF0000"/>
                </a:solidFill>
                <a:effectLst>
                  <a:outerShdw blurRad="38100" dist="38100" dir="2700000" algn="tl">
                    <a:srgbClr val="000000">
                      <a:alpha val="43137"/>
                    </a:srgbClr>
                  </a:outerShdw>
                </a:effectLst>
              </a:rPr>
              <a:t> for Human </a:t>
            </a:r>
            <a:r>
              <a:rPr lang="pl-PL" sz="3600" b="1" dirty="0" err="1">
                <a:solidFill>
                  <a:srgbClr val="FF0000"/>
                </a:solidFill>
                <a:effectLst>
                  <a:outerShdw blurRad="38100" dist="38100" dir="2700000" algn="tl">
                    <a:srgbClr val="000000">
                      <a:alpha val="43137"/>
                    </a:srgbClr>
                  </a:outerShdw>
                </a:effectLst>
              </a:rPr>
              <a:t>Rights</a:t>
            </a:r>
            <a:br>
              <a:rPr lang="pl-PL" sz="3600" b="1" dirty="0">
                <a:solidFill>
                  <a:srgbClr val="FF0000"/>
                </a:solidFill>
                <a:effectLst>
                  <a:outerShdw blurRad="38100" dist="38100" dir="2700000" algn="tl">
                    <a:srgbClr val="000000">
                      <a:alpha val="43137"/>
                    </a:srgbClr>
                  </a:outerShdw>
                </a:effectLst>
              </a:rPr>
            </a:br>
            <a:r>
              <a:rPr lang="pl-PL" sz="3600" b="1" dirty="0">
                <a:solidFill>
                  <a:srgbClr val="FF0000"/>
                </a:solidFill>
                <a:effectLst>
                  <a:outerShdw blurRad="38100" dist="38100" dir="2700000" algn="tl">
                    <a:srgbClr val="000000">
                      <a:alpha val="43137"/>
                    </a:srgbClr>
                  </a:outerShdw>
                </a:effectLst>
              </a:rPr>
              <a:t>(The ombudsman)</a:t>
            </a:r>
            <a:endParaRPr lang="en-US" sz="3600" dirty="0"/>
          </a:p>
        </p:txBody>
      </p:sp>
      <p:sp>
        <p:nvSpPr>
          <p:cNvPr id="3" name="Symbol zastępczy zawartości 2">
            <a:extLst>
              <a:ext uri="{FF2B5EF4-FFF2-40B4-BE49-F238E27FC236}">
                <a16:creationId xmlns:a16="http://schemas.microsoft.com/office/drawing/2014/main" id="{E8A1D6E1-7AD8-CDEF-388B-EE25E4428E5B}"/>
              </a:ext>
            </a:extLst>
          </p:cNvPr>
          <p:cNvSpPr>
            <a:spLocks noGrp="1"/>
          </p:cNvSpPr>
          <p:nvPr>
            <p:ph idx="1"/>
          </p:nvPr>
        </p:nvSpPr>
        <p:spPr/>
        <p:txBody>
          <a:bodyPr/>
          <a:lstStyle/>
          <a:p>
            <a:r>
              <a:rPr lang="en-US" b="1" dirty="0">
                <a:solidFill>
                  <a:srgbClr val="FF0000"/>
                </a:solidFill>
                <a:effectLst>
                  <a:outerShdw blurRad="38100" dist="38100" dir="2700000" algn="tl">
                    <a:srgbClr val="000000">
                      <a:alpha val="43137"/>
                    </a:srgbClr>
                  </a:outerShdw>
                </a:effectLst>
              </a:rPr>
              <a:t>The principle of labor protection </a:t>
            </a:r>
            <a:r>
              <a:rPr lang="en-US" dirty="0">
                <a:solidFill>
                  <a:srgbClr val="002060"/>
                </a:solidFill>
                <a:effectLst>
                  <a:outerShdw blurRad="38100" dist="38100" dir="2700000" algn="tl">
                    <a:srgbClr val="000000">
                      <a:alpha val="43137"/>
                    </a:srgbClr>
                  </a:outerShdw>
                </a:effectLst>
              </a:rPr>
              <a:t>(Article 24 of the </a:t>
            </a:r>
            <a:r>
              <a:rPr lang="en-US" b="1" dirty="0">
                <a:solidFill>
                  <a:srgbClr val="FF0000"/>
                </a:solidFill>
                <a:effectLst>
                  <a:outerShdw blurRad="38100" dist="38100" dir="2700000" algn="tl">
                    <a:srgbClr val="000000">
                      <a:alpha val="43137"/>
                    </a:srgbClr>
                  </a:outerShdw>
                </a:effectLst>
              </a:rPr>
              <a:t>Constitution</a:t>
            </a:r>
            <a:r>
              <a:rPr lang="en-US" dirty="0">
                <a:solidFill>
                  <a:srgbClr val="002060"/>
                </a:solidFill>
                <a:effectLst>
                  <a:outerShdw blurRad="38100" dist="38100" dir="2700000" algn="tl">
                    <a:srgbClr val="000000">
                      <a:alpha val="43137"/>
                    </a:srgbClr>
                  </a:outerShdw>
                </a:effectLst>
              </a:rPr>
              <a:t>)</a:t>
            </a:r>
          </a:p>
          <a:p>
            <a:r>
              <a:rPr lang="en-US" b="1" dirty="0">
                <a:solidFill>
                  <a:srgbClr val="002060"/>
                </a:solidFill>
                <a:effectLst>
                  <a:outerShdw blurRad="38100" dist="38100" dir="2700000" algn="tl">
                    <a:srgbClr val="000000">
                      <a:alpha val="43137"/>
                    </a:srgbClr>
                  </a:outerShdw>
                </a:effectLst>
              </a:rPr>
              <a:t>Safe and healthy working conditions </a:t>
            </a:r>
            <a:r>
              <a:rPr lang="en-US" dirty="0">
                <a:solidFill>
                  <a:srgbClr val="002060"/>
                </a:solidFill>
                <a:effectLst>
                  <a:outerShdw blurRad="38100" dist="38100" dir="2700000" algn="tl">
                    <a:srgbClr val="000000">
                      <a:alpha val="43137"/>
                    </a:srgbClr>
                  </a:outerShdw>
                </a:effectLst>
              </a:rPr>
              <a:t>stem directly from the Constitution (Article 66 of the Constitution).</a:t>
            </a:r>
          </a:p>
          <a:p>
            <a:r>
              <a:rPr lang="en-US" dirty="0">
                <a:solidFill>
                  <a:srgbClr val="002060"/>
                </a:solidFill>
                <a:effectLst>
                  <a:outerShdw blurRad="38100" dist="38100" dir="2700000" algn="tl">
                    <a:srgbClr val="000000">
                      <a:alpha val="43137"/>
                    </a:srgbClr>
                  </a:outerShdw>
                </a:effectLst>
              </a:rPr>
              <a:t>The Commissioner for Human Rights r</a:t>
            </a:r>
            <a:r>
              <a:rPr lang="en-US" b="1" dirty="0">
                <a:solidFill>
                  <a:srgbClr val="FF0000"/>
                </a:solidFill>
                <a:effectLst>
                  <a:outerShdw blurRad="38100" dist="38100" dir="2700000" algn="tl">
                    <a:srgbClr val="000000">
                      <a:alpha val="43137"/>
                    </a:srgbClr>
                  </a:outerShdw>
                </a:effectLst>
              </a:rPr>
              <a:t>equests that exploratory and regulatory actions be undertaken </a:t>
            </a:r>
            <a:r>
              <a:rPr lang="en-US" dirty="0">
                <a:solidFill>
                  <a:srgbClr val="002060"/>
                </a:solidFill>
                <a:effectLst>
                  <a:outerShdw blurRad="38100" dist="38100" dir="2700000" algn="tl">
                    <a:srgbClr val="000000">
                      <a:alpha val="43137"/>
                    </a:srgbClr>
                  </a:outerShdw>
                </a:effectLst>
              </a:rPr>
              <a:t>with the participation of entities representing the government, employers, and employees, and utilizing the knowledge of experts in this field.</a:t>
            </a:r>
          </a:p>
          <a:p>
            <a:endParaRPr lang="en-US" dirty="0"/>
          </a:p>
        </p:txBody>
      </p:sp>
      <p:sp>
        <p:nvSpPr>
          <p:cNvPr id="4" name="Symbol zastępczy numeru slajdu 3">
            <a:extLst>
              <a:ext uri="{FF2B5EF4-FFF2-40B4-BE49-F238E27FC236}">
                <a16:creationId xmlns:a16="http://schemas.microsoft.com/office/drawing/2014/main" id="{0766B1D5-D59E-38D6-8AE2-5D600B6060FD}"/>
              </a:ext>
            </a:extLst>
          </p:cNvPr>
          <p:cNvSpPr>
            <a:spLocks noGrp="1"/>
          </p:cNvSpPr>
          <p:nvPr>
            <p:ph type="sldNum" sz="quarter" idx="12"/>
          </p:nvPr>
        </p:nvSpPr>
        <p:spPr/>
        <p:txBody>
          <a:bodyPr/>
          <a:lstStyle/>
          <a:p>
            <a:fld id="{31FE8408-9B39-4718-B64F-54F72D092B1B}" type="slidenum">
              <a:rPr lang="pl-PL" smtClean="0"/>
              <a:t>17</a:t>
            </a:fld>
            <a:endParaRPr lang="pl-PL" dirty="0"/>
          </a:p>
        </p:txBody>
      </p:sp>
    </p:spTree>
    <p:extLst>
      <p:ext uri="{BB962C8B-B14F-4D97-AF65-F5344CB8AC3E}">
        <p14:creationId xmlns:p14="http://schemas.microsoft.com/office/powerpoint/2010/main" val="9819934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CD62A8D-A7C4-3653-CD7B-1910F7459D9C}"/>
              </a:ext>
            </a:extLst>
          </p:cNvPr>
          <p:cNvSpPr>
            <a:spLocks noGrp="1"/>
          </p:cNvSpPr>
          <p:nvPr>
            <p:ph type="title"/>
          </p:nvPr>
        </p:nvSpPr>
        <p:spPr/>
        <p:txBody>
          <a:bodyPr/>
          <a:lstStyle/>
          <a:p>
            <a:r>
              <a:rPr lang="pl-PL" dirty="0">
                <a:solidFill>
                  <a:srgbClr val="FF0000"/>
                </a:solidFill>
                <a:effectLst>
                  <a:outerShdw blurRad="38100" dist="38100" dir="2700000" algn="tl">
                    <a:srgbClr val="000000">
                      <a:alpha val="43137"/>
                    </a:srgbClr>
                  </a:outerShdw>
                </a:effectLst>
              </a:rPr>
              <a:t>Uber as a </a:t>
            </a:r>
            <a:r>
              <a:rPr lang="pl-PL" dirty="0" err="1">
                <a:solidFill>
                  <a:srgbClr val="FF0000"/>
                </a:solidFill>
                <a:effectLst>
                  <a:outerShdw blurRad="38100" dist="38100" dir="2700000" algn="tl">
                    <a:srgbClr val="000000">
                      <a:alpha val="43137"/>
                    </a:srgbClr>
                  </a:outerShdw>
                </a:effectLst>
              </a:rPr>
              <a:t>cartel</a:t>
            </a:r>
            <a:endParaRPr lang="en-US" dirty="0">
              <a:solidFill>
                <a:srgbClr val="FF000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1B622579-3EC7-E522-A637-AAE4D80984A2}"/>
              </a:ext>
            </a:extLst>
          </p:cNvPr>
          <p:cNvSpPr>
            <a:spLocks noGrp="1"/>
          </p:cNvSpPr>
          <p:nvPr>
            <p:ph idx="1"/>
          </p:nvPr>
        </p:nvSpPr>
        <p:spPr/>
        <p:txBody>
          <a:bodyPr>
            <a:normAutofit fontScale="92500" lnSpcReduction="10000"/>
          </a:bodyPr>
          <a:lstStyle/>
          <a:p>
            <a:pPr marL="0" indent="0">
              <a:buNone/>
            </a:pPr>
            <a:r>
              <a:rPr lang="en-US" dirty="0">
                <a:solidFill>
                  <a:srgbClr val="002060"/>
                </a:solidFill>
                <a:effectLst>
                  <a:outerShdw blurRad="38100" dist="38100" dir="2700000" algn="tl">
                    <a:srgbClr val="000000">
                      <a:alpha val="43137"/>
                    </a:srgbClr>
                  </a:outerShdw>
                </a:effectLst>
              </a:rPr>
              <a:t>US case Mayer v Kalanick (2016) [CARTEL COLLUDGE]</a:t>
            </a:r>
          </a:p>
          <a:p>
            <a:r>
              <a:rPr lang="en-US" dirty="0">
                <a:solidFill>
                  <a:srgbClr val="002060"/>
                </a:solidFill>
                <a:effectLst>
                  <a:outerShdw blurRad="38100" dist="38100" dir="2700000" algn="tl">
                    <a:srgbClr val="000000">
                      <a:alpha val="43137"/>
                    </a:srgbClr>
                  </a:outerShdw>
                </a:effectLst>
              </a:rPr>
              <a:t>According to the plaintiff (a Spencer Meyer customer), who used transportation services ordered through the UBER app, the </a:t>
            </a:r>
            <a:r>
              <a:rPr lang="en-US" b="1" dirty="0">
                <a:solidFill>
                  <a:srgbClr val="FF0000"/>
                </a:solidFill>
                <a:effectLst>
                  <a:outerShdw blurRad="38100" dist="38100" dir="2700000" algn="tl">
                    <a:srgbClr val="000000">
                      <a:alpha val="43137"/>
                    </a:srgbClr>
                  </a:outerShdw>
                </a:effectLst>
              </a:rPr>
              <a:t>use of uniform fares by driver-partners </a:t>
            </a:r>
            <a:r>
              <a:rPr lang="en-US" dirty="0">
                <a:solidFill>
                  <a:srgbClr val="002060"/>
                </a:solidFill>
                <a:effectLst>
                  <a:outerShdw blurRad="38100" dist="38100" dir="2700000" algn="tl">
                    <a:srgbClr val="000000">
                      <a:alpha val="43137"/>
                    </a:srgbClr>
                  </a:outerShdw>
                </a:effectLst>
              </a:rPr>
              <a:t>calculated using an algorithm used in the aforementioned app constitutes price collusion, resulting in the </a:t>
            </a:r>
            <a:r>
              <a:rPr lang="en-US" b="1" dirty="0">
                <a:solidFill>
                  <a:srgbClr val="FF0000"/>
                </a:solidFill>
                <a:effectLst>
                  <a:outerShdw blurRad="38100" dist="38100" dir="2700000" algn="tl">
                    <a:srgbClr val="000000">
                      <a:alpha val="43137"/>
                    </a:srgbClr>
                  </a:outerShdw>
                </a:effectLst>
              </a:rPr>
              <a:t>elimination of competition </a:t>
            </a:r>
            <a:r>
              <a:rPr lang="en-US" dirty="0">
                <a:solidFill>
                  <a:srgbClr val="002060"/>
                </a:solidFill>
                <a:effectLst>
                  <a:outerShdw blurRad="38100" dist="38100" dir="2700000" algn="tl">
                    <a:srgbClr val="000000">
                      <a:alpha val="43137"/>
                    </a:srgbClr>
                  </a:outerShdw>
                </a:effectLst>
              </a:rPr>
              <a:t>between drivers and the maintenance of artificially high prices for transportation services</a:t>
            </a:r>
            <a:r>
              <a:rPr lang="pl-PL" dirty="0">
                <a:solidFill>
                  <a:srgbClr val="002060"/>
                </a:solidFill>
                <a:effectLst>
                  <a:outerShdw blurRad="38100" dist="38100" dir="2700000" algn="tl">
                    <a:srgbClr val="000000">
                      <a:alpha val="43137"/>
                    </a:srgbClr>
                  </a:outerShdw>
                </a:effectLst>
              </a:rPr>
              <a:t>.</a:t>
            </a:r>
            <a:endParaRPr lang="en-US"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The allegations concern the existence of an </a:t>
            </a:r>
            <a:r>
              <a:rPr lang="en-US" b="1" dirty="0">
                <a:solidFill>
                  <a:srgbClr val="FF0000"/>
                </a:solidFill>
                <a:effectLst>
                  <a:outerShdw blurRad="38100" dist="38100" dir="2700000" algn="tl">
                    <a:srgbClr val="000000">
                      <a:alpha val="43137"/>
                    </a:srgbClr>
                  </a:outerShdw>
                </a:effectLst>
              </a:rPr>
              <a:t>agreement both horizontally (between drivers) and verticall</a:t>
            </a:r>
            <a:r>
              <a:rPr lang="en-US" dirty="0">
                <a:solidFill>
                  <a:srgbClr val="002060"/>
                </a:solidFill>
                <a:effectLst>
                  <a:outerShdw blurRad="38100" dist="38100" dir="2700000" algn="tl">
                    <a:srgbClr val="000000">
                      <a:alpha val="43137"/>
                    </a:srgbClr>
                  </a:outerShdw>
                </a:effectLst>
              </a:rPr>
              <a:t>y (between UBER and individual drivers).</a:t>
            </a:r>
          </a:p>
          <a:p>
            <a:r>
              <a:rPr lang="en-US" dirty="0">
                <a:solidFill>
                  <a:srgbClr val="002060"/>
                </a:solidFill>
                <a:effectLst>
                  <a:outerShdw blurRad="38100" dist="38100" dir="2700000" algn="tl">
                    <a:srgbClr val="000000">
                      <a:alpha val="43137"/>
                    </a:srgbClr>
                  </a:outerShdw>
                </a:effectLst>
              </a:rPr>
              <a:t>Meyer: Allegation that the </a:t>
            </a:r>
            <a:r>
              <a:rPr lang="en-US" b="1" dirty="0">
                <a:solidFill>
                  <a:srgbClr val="FF0000"/>
                </a:solidFill>
                <a:effectLst>
                  <a:outerShdw blurRad="38100" dist="38100" dir="2700000" algn="tl">
                    <a:srgbClr val="000000">
                      <a:alpha val="43137"/>
                    </a:srgbClr>
                  </a:outerShdw>
                </a:effectLst>
              </a:rPr>
              <a:t>arbitration clause is hidden in the app </a:t>
            </a:r>
            <a:r>
              <a:rPr lang="en-US" dirty="0">
                <a:solidFill>
                  <a:srgbClr val="002060"/>
                </a:solidFill>
                <a:effectLst>
                  <a:outerShdw blurRad="38100" dist="38100" dir="2700000" algn="tl">
                    <a:srgbClr val="000000">
                      <a:alpha val="43137"/>
                    </a:srgbClr>
                  </a:outerShdw>
                </a:effectLst>
              </a:rPr>
              <a:t>and therefore </a:t>
            </a:r>
            <a:r>
              <a:rPr lang="en-US" b="1" dirty="0">
                <a:solidFill>
                  <a:srgbClr val="FF0000"/>
                </a:solidFill>
                <a:effectLst>
                  <a:outerShdw blurRad="38100" dist="38100" dir="2700000" algn="tl">
                    <a:srgbClr val="000000">
                      <a:alpha val="43137"/>
                    </a:srgbClr>
                  </a:outerShdw>
                </a:effectLst>
              </a:rPr>
              <a:t>invalid</a:t>
            </a:r>
            <a:r>
              <a:rPr lang="en-US" dirty="0">
                <a:solidFill>
                  <a:srgbClr val="002060"/>
                </a:solidFill>
                <a:effectLst>
                  <a:outerShdw blurRad="38100" dist="38100" dir="2700000" algn="tl">
                    <a:srgbClr val="000000">
                      <a:alpha val="43137"/>
                    </a:srgbClr>
                  </a:outerShdw>
                </a:effectLst>
              </a:rPr>
              <a:t>. </a:t>
            </a:r>
            <a:r>
              <a:rPr lang="en-US" b="1" dirty="0">
                <a:solidFill>
                  <a:srgbClr val="0070C0"/>
                </a:solidFill>
                <a:effectLst>
                  <a:outerShdw blurRad="38100" dist="38100" dir="2700000" algn="tl">
                    <a:srgbClr val="000000">
                      <a:alpha val="43137"/>
                    </a:srgbClr>
                  </a:outerShdw>
                </a:effectLst>
              </a:rPr>
              <a:t>The appellate court agreed with the plaintiff</a:t>
            </a:r>
            <a:r>
              <a:rPr lang="en-US" dirty="0">
                <a:solidFill>
                  <a:srgbClr val="002060"/>
                </a:solidFill>
                <a:effectLst>
                  <a:outerShdw blurRad="38100" dist="38100" dir="2700000" algn="tl">
                    <a:srgbClr val="000000">
                      <a:alpha val="43137"/>
                    </a:srgbClr>
                  </a:outerShdw>
                </a:effectLst>
              </a:rPr>
              <a:t>. </a:t>
            </a:r>
          </a:p>
          <a:p>
            <a:endParaRPr lang="en-US" dirty="0"/>
          </a:p>
        </p:txBody>
      </p:sp>
      <p:sp>
        <p:nvSpPr>
          <p:cNvPr id="4" name="Symbol zastępczy numeru slajdu 3">
            <a:extLst>
              <a:ext uri="{FF2B5EF4-FFF2-40B4-BE49-F238E27FC236}">
                <a16:creationId xmlns:a16="http://schemas.microsoft.com/office/drawing/2014/main" id="{72107929-6415-B9A6-AAA4-3EE6EF13552E}"/>
              </a:ext>
            </a:extLst>
          </p:cNvPr>
          <p:cNvSpPr>
            <a:spLocks noGrp="1"/>
          </p:cNvSpPr>
          <p:nvPr>
            <p:ph type="sldNum" sz="quarter" idx="12"/>
          </p:nvPr>
        </p:nvSpPr>
        <p:spPr/>
        <p:txBody>
          <a:bodyPr/>
          <a:lstStyle/>
          <a:p>
            <a:fld id="{31FE8408-9B39-4718-B64F-54F72D092B1B}" type="slidenum">
              <a:rPr lang="pl-PL" smtClean="0"/>
              <a:t>18</a:t>
            </a:fld>
            <a:endParaRPr lang="pl-PL" dirty="0"/>
          </a:p>
        </p:txBody>
      </p:sp>
    </p:spTree>
    <p:extLst>
      <p:ext uri="{BB962C8B-B14F-4D97-AF65-F5344CB8AC3E}">
        <p14:creationId xmlns:p14="http://schemas.microsoft.com/office/powerpoint/2010/main" val="2218745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5152F90-A866-05A1-AB8F-3238B15A6127}"/>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Academic</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view</a:t>
            </a:r>
            <a:r>
              <a:rPr lang="pl-PL" dirty="0">
                <a:solidFill>
                  <a:srgbClr val="002060"/>
                </a:solidFill>
                <a:effectLst>
                  <a:outerShdw blurRad="38100" dist="38100" dir="2700000" algn="tl">
                    <a:srgbClr val="000000">
                      <a:alpha val="43137"/>
                    </a:srgbClr>
                  </a:outerShdw>
                </a:effectLst>
              </a:rPr>
              <a:t> (M. </a:t>
            </a:r>
            <a:r>
              <a:rPr lang="pl-PL" dirty="0" err="1">
                <a:solidFill>
                  <a:srgbClr val="002060"/>
                </a:solidFill>
                <a:effectLst>
                  <a:outerShdw blurRad="38100" dist="38100" dir="2700000" algn="tl">
                    <a:srgbClr val="000000">
                      <a:alpha val="43137"/>
                    </a:srgbClr>
                  </a:outerShdw>
                </a:effectLst>
              </a:rPr>
              <a:t>Toroń</a:t>
            </a:r>
            <a:r>
              <a:rPr lang="pl-PL" dirty="0">
                <a:solidFill>
                  <a:srgbClr val="002060"/>
                </a:solidFill>
                <a:effectLst>
                  <a:outerShdw blurRad="38100" dist="38100" dir="2700000" algn="tl">
                    <a:srgbClr val="000000">
                      <a:alpha val="43137"/>
                    </a:srgbClr>
                  </a:outerShdw>
                </a:effectLst>
              </a:rPr>
              <a:t>, K. </a:t>
            </a:r>
            <a:r>
              <a:rPr lang="pl-PL" dirty="0" err="1">
                <a:solidFill>
                  <a:srgbClr val="002060"/>
                </a:solidFill>
                <a:effectLst>
                  <a:outerShdw blurRad="38100" dist="38100" dir="2700000" algn="tl">
                    <a:srgbClr val="000000">
                      <a:alpha val="43137"/>
                    </a:srgbClr>
                  </a:outerShdw>
                </a:effectLst>
              </a:rPr>
              <a:t>Wiese</a:t>
            </a:r>
            <a:r>
              <a:rPr lang="pl-PL" dirty="0">
                <a:solidFill>
                  <a:srgbClr val="002060"/>
                </a:solidFill>
                <a:effectLst>
                  <a:outerShdw blurRad="38100" dist="38100" dir="2700000" algn="tl">
                    <a:srgbClr val="000000">
                      <a:alpha val="43137"/>
                    </a:srgbClr>
                  </a:outerShdw>
                </a:effectLst>
              </a:rPr>
              <a:t>)</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5E6743BB-FD62-F694-267A-4C2615BF526B}"/>
              </a:ext>
            </a:extLst>
          </p:cNvPr>
          <p:cNvSpPr>
            <a:spLocks noGrp="1"/>
          </p:cNvSpPr>
          <p:nvPr>
            <p:ph idx="1"/>
          </p:nvPr>
        </p:nvSpPr>
        <p:spPr/>
        <p:txBody>
          <a:bodyPr/>
          <a:lstStyle/>
          <a:p>
            <a:r>
              <a:rPr lang="en-US" dirty="0">
                <a:solidFill>
                  <a:srgbClr val="002060"/>
                </a:solidFill>
                <a:effectLst>
                  <a:outerShdw blurRad="38100" dist="38100" dir="2700000" algn="tl">
                    <a:srgbClr val="000000">
                      <a:alpha val="43137"/>
                    </a:srgbClr>
                  </a:outerShdw>
                </a:effectLst>
              </a:rPr>
              <a:t>The authors examine </a:t>
            </a:r>
            <a:r>
              <a:rPr lang="en-US" b="1" dirty="0">
                <a:solidFill>
                  <a:srgbClr val="FF0000"/>
                </a:solidFill>
                <a:effectLst>
                  <a:outerShdw blurRad="38100" dist="38100" dir="2700000" algn="tl">
                    <a:srgbClr val="000000">
                      <a:alpha val="43137"/>
                    </a:srgbClr>
                  </a:outerShdw>
                </a:effectLst>
              </a:rPr>
              <a:t>whether</a:t>
            </a:r>
            <a:r>
              <a:rPr lang="en-US" dirty="0">
                <a:solidFill>
                  <a:srgbClr val="002060"/>
                </a:solidFill>
                <a:effectLst>
                  <a:outerShdw blurRad="38100" dist="38100" dir="2700000" algn="tl">
                    <a:srgbClr val="000000">
                      <a:alpha val="43137"/>
                    </a:srgbClr>
                  </a:outerShdw>
                </a:effectLst>
              </a:rPr>
              <a:t> the actions of Uber and its drivers fall within the concept of </a:t>
            </a:r>
            <a:r>
              <a:rPr lang="en-US" b="1" dirty="0">
                <a:solidFill>
                  <a:srgbClr val="FF0000"/>
                </a:solidFill>
                <a:effectLst>
                  <a:outerShdw blurRad="38100" dist="38100" dir="2700000" algn="tl">
                    <a:srgbClr val="000000">
                      <a:alpha val="43137"/>
                    </a:srgbClr>
                  </a:outerShdw>
                </a:effectLst>
              </a:rPr>
              <a:t>cartel collusion </a:t>
            </a:r>
            <a:r>
              <a:rPr lang="en-US" dirty="0">
                <a:solidFill>
                  <a:srgbClr val="002060"/>
                </a:solidFill>
                <a:effectLst>
                  <a:outerShdw blurRad="38100" dist="38100" dir="2700000" algn="tl">
                    <a:srgbClr val="000000">
                      <a:alpha val="43137"/>
                    </a:srgbClr>
                  </a:outerShdw>
                </a:effectLst>
              </a:rPr>
              <a:t>contained in Article 6 of the Office of Competition and Consumer Protection (</a:t>
            </a:r>
            <a:r>
              <a:rPr lang="en-US" dirty="0" err="1">
                <a:solidFill>
                  <a:srgbClr val="002060"/>
                </a:solidFill>
                <a:effectLst>
                  <a:outerShdw blurRad="38100" dist="38100" dir="2700000" algn="tl">
                    <a:srgbClr val="000000">
                      <a:alpha val="43137"/>
                    </a:srgbClr>
                  </a:outerShdw>
                </a:effectLst>
              </a:rPr>
              <a:t>UOKiK</a:t>
            </a:r>
            <a:r>
              <a:rPr lang="en-US" dirty="0">
                <a:solidFill>
                  <a:srgbClr val="002060"/>
                </a:solidFill>
                <a:effectLst>
                  <a:outerShdw blurRad="38100" dist="38100" dir="2700000" algn="tl">
                    <a:srgbClr val="000000">
                      <a:alpha val="43137"/>
                    </a:srgbClr>
                  </a:outerShdw>
                </a:effectLst>
              </a:rPr>
              <a:t>).</a:t>
            </a:r>
          </a:p>
          <a:p>
            <a:r>
              <a:rPr lang="en-US" b="1" dirty="0">
                <a:solidFill>
                  <a:srgbClr val="FF0000"/>
                </a:solidFill>
                <a:effectLst>
                  <a:outerShdw blurRad="38100" dist="38100" dir="2700000" algn="tl">
                    <a:srgbClr val="000000">
                      <a:alpha val="43137"/>
                    </a:srgbClr>
                  </a:outerShdw>
                </a:effectLst>
              </a:rPr>
              <a:t>Is UBER an entrepreneur?</a:t>
            </a:r>
          </a:p>
          <a:p>
            <a:r>
              <a:rPr lang="en-US" dirty="0">
                <a:solidFill>
                  <a:srgbClr val="002060"/>
                </a:solidFill>
                <a:effectLst>
                  <a:outerShdw blurRad="38100" dist="38100" dir="2700000" algn="tl">
                    <a:srgbClr val="000000">
                      <a:alpha val="43137"/>
                    </a:srgbClr>
                  </a:outerShdw>
                </a:effectLst>
              </a:rPr>
              <a:t>The relationship with drivers is not based on an agency agreement, as </a:t>
            </a:r>
            <a:r>
              <a:rPr lang="en-US" b="1" dirty="0">
                <a:solidFill>
                  <a:srgbClr val="FF0000"/>
                </a:solidFill>
                <a:effectLst>
                  <a:outerShdw blurRad="38100" dist="38100" dir="2700000" algn="tl">
                    <a:srgbClr val="000000">
                      <a:alpha val="43137"/>
                    </a:srgbClr>
                  </a:outerShdw>
                </a:effectLst>
              </a:rPr>
              <a:t>UBER is solely responsible to consumers for the proper functioning </a:t>
            </a:r>
            <a:r>
              <a:rPr lang="en-US" dirty="0">
                <a:solidFill>
                  <a:srgbClr val="002060"/>
                </a:solidFill>
                <a:effectLst>
                  <a:outerShdw blurRad="38100" dist="38100" dir="2700000" algn="tl">
                    <a:srgbClr val="000000">
                      <a:alpha val="43137"/>
                    </a:srgbClr>
                  </a:outerShdw>
                </a:effectLst>
              </a:rPr>
              <a:t>of the app, but problems related to the performance of the service are the responsibility of the driver.</a:t>
            </a:r>
          </a:p>
          <a:p>
            <a:r>
              <a:rPr lang="en-US" dirty="0">
                <a:solidFill>
                  <a:srgbClr val="002060"/>
                </a:solidFill>
                <a:effectLst>
                  <a:outerShdw blurRad="38100" dist="38100" dir="2700000" algn="tl">
                    <a:srgbClr val="000000">
                      <a:alpha val="43137"/>
                    </a:srgbClr>
                  </a:outerShdw>
                </a:effectLst>
              </a:rPr>
              <a:t>The </a:t>
            </a:r>
            <a:r>
              <a:rPr lang="pl-PL" b="1" dirty="0">
                <a:solidFill>
                  <a:srgbClr val="FF0000"/>
                </a:solidFill>
                <a:effectLst>
                  <a:outerShdw blurRad="38100" dist="38100" dir="2700000" algn="tl">
                    <a:srgbClr val="000000">
                      <a:alpha val="43137"/>
                    </a:srgbClr>
                  </a:outerShdw>
                </a:effectLst>
              </a:rPr>
              <a:t>d</a:t>
            </a:r>
            <a:r>
              <a:rPr lang="en-US" b="1" dirty="0">
                <a:solidFill>
                  <a:srgbClr val="FF0000"/>
                </a:solidFill>
                <a:effectLst>
                  <a:outerShdw blurRad="38100" dist="38100" dir="2700000" algn="tl">
                    <a:srgbClr val="000000">
                      <a:alpha val="43137"/>
                    </a:srgbClr>
                  </a:outerShdw>
                </a:effectLst>
              </a:rPr>
              <a:t>rivers are not employees </a:t>
            </a:r>
            <a:r>
              <a:rPr lang="en-US" dirty="0">
                <a:solidFill>
                  <a:srgbClr val="002060"/>
                </a:solidFill>
                <a:effectLst>
                  <a:outerShdw blurRad="38100" dist="38100" dir="2700000" algn="tl">
                    <a:srgbClr val="000000">
                      <a:alpha val="43137"/>
                    </a:srgbClr>
                  </a:outerShdw>
                </a:effectLst>
              </a:rPr>
              <a:t>and do not work on UBER's behalf (!)</a:t>
            </a:r>
          </a:p>
          <a:p>
            <a:pPr marL="0" indent="0">
              <a:buNone/>
            </a:pPr>
            <a:endParaRPr lang="en-US" dirty="0"/>
          </a:p>
        </p:txBody>
      </p:sp>
      <p:sp>
        <p:nvSpPr>
          <p:cNvPr id="4" name="Symbol zastępczy numeru slajdu 3">
            <a:extLst>
              <a:ext uri="{FF2B5EF4-FFF2-40B4-BE49-F238E27FC236}">
                <a16:creationId xmlns:a16="http://schemas.microsoft.com/office/drawing/2014/main" id="{788C2D0D-3F5D-BC45-A913-5182422B0D52}"/>
              </a:ext>
            </a:extLst>
          </p:cNvPr>
          <p:cNvSpPr>
            <a:spLocks noGrp="1"/>
          </p:cNvSpPr>
          <p:nvPr>
            <p:ph type="sldNum" sz="quarter" idx="12"/>
          </p:nvPr>
        </p:nvSpPr>
        <p:spPr/>
        <p:txBody>
          <a:bodyPr/>
          <a:lstStyle/>
          <a:p>
            <a:fld id="{31FE8408-9B39-4718-B64F-54F72D092B1B}" type="slidenum">
              <a:rPr lang="pl-PL" smtClean="0"/>
              <a:t>19</a:t>
            </a:fld>
            <a:endParaRPr lang="pl-PL" dirty="0"/>
          </a:p>
        </p:txBody>
      </p:sp>
    </p:spTree>
    <p:extLst>
      <p:ext uri="{BB962C8B-B14F-4D97-AF65-F5344CB8AC3E}">
        <p14:creationId xmlns:p14="http://schemas.microsoft.com/office/powerpoint/2010/main" val="14839427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8278058-B9EA-FC37-DF55-CCD9AD975B94}"/>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Academic</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view</a:t>
            </a:r>
            <a:r>
              <a:rPr lang="pl-PL" dirty="0">
                <a:solidFill>
                  <a:srgbClr val="002060"/>
                </a:solidFill>
                <a:effectLst>
                  <a:outerShdw blurRad="38100" dist="38100" dir="2700000" algn="tl">
                    <a:srgbClr val="000000">
                      <a:alpha val="43137"/>
                    </a:srgbClr>
                  </a:outerShdw>
                </a:effectLst>
              </a:rPr>
              <a:t> (M. </a:t>
            </a:r>
            <a:r>
              <a:rPr lang="pl-PL" dirty="0" err="1">
                <a:solidFill>
                  <a:srgbClr val="002060"/>
                </a:solidFill>
                <a:effectLst>
                  <a:outerShdw blurRad="38100" dist="38100" dir="2700000" algn="tl">
                    <a:srgbClr val="000000">
                      <a:alpha val="43137"/>
                    </a:srgbClr>
                  </a:outerShdw>
                </a:effectLst>
              </a:rPr>
              <a:t>Toroń</a:t>
            </a:r>
            <a:r>
              <a:rPr lang="pl-PL" dirty="0">
                <a:solidFill>
                  <a:srgbClr val="002060"/>
                </a:solidFill>
                <a:effectLst>
                  <a:outerShdw blurRad="38100" dist="38100" dir="2700000" algn="tl">
                    <a:srgbClr val="000000">
                      <a:alpha val="43137"/>
                    </a:srgbClr>
                  </a:outerShdw>
                </a:effectLst>
              </a:rPr>
              <a:t>, K. </a:t>
            </a:r>
            <a:r>
              <a:rPr lang="pl-PL" dirty="0" err="1">
                <a:solidFill>
                  <a:srgbClr val="002060"/>
                </a:solidFill>
                <a:effectLst>
                  <a:outerShdw blurRad="38100" dist="38100" dir="2700000" algn="tl">
                    <a:srgbClr val="000000">
                      <a:alpha val="43137"/>
                    </a:srgbClr>
                  </a:outerShdw>
                </a:effectLst>
              </a:rPr>
              <a:t>Wiese</a:t>
            </a:r>
            <a:r>
              <a:rPr lang="pl-PL" dirty="0">
                <a:solidFill>
                  <a:srgbClr val="002060"/>
                </a:solidFill>
                <a:effectLst>
                  <a:outerShdw blurRad="38100" dist="38100" dir="2700000" algn="tl">
                    <a:srgbClr val="000000">
                      <a:alpha val="43137"/>
                    </a:srgbClr>
                  </a:outerShdw>
                </a:effectLst>
              </a:rPr>
              <a:t>)</a:t>
            </a:r>
            <a:endParaRPr lang="en-US" dirty="0"/>
          </a:p>
        </p:txBody>
      </p:sp>
      <p:sp>
        <p:nvSpPr>
          <p:cNvPr id="3" name="Symbol zastępczy zawartości 2">
            <a:extLst>
              <a:ext uri="{FF2B5EF4-FFF2-40B4-BE49-F238E27FC236}">
                <a16:creationId xmlns:a16="http://schemas.microsoft.com/office/drawing/2014/main" id="{202A5A49-2679-03D0-BB5E-9CC710FF888A}"/>
              </a:ext>
            </a:extLst>
          </p:cNvPr>
          <p:cNvSpPr>
            <a:spLocks noGrp="1"/>
          </p:cNvSpPr>
          <p:nvPr>
            <p:ph idx="1"/>
          </p:nvPr>
        </p:nvSpPr>
        <p:spPr/>
        <p:txBody>
          <a:bodyPr>
            <a:normAutofit fontScale="92500" lnSpcReduction="20000"/>
          </a:bodyPr>
          <a:lstStyle/>
          <a:p>
            <a:r>
              <a:rPr lang="pl-PL" dirty="0" err="1">
                <a:solidFill>
                  <a:srgbClr val="002060"/>
                </a:solidFill>
                <a:effectLst>
                  <a:outerShdw blurRad="38100" dist="38100" dir="2700000" algn="tl">
                    <a:srgbClr val="000000">
                      <a:alpha val="43137"/>
                    </a:srgbClr>
                  </a:outerShdw>
                </a:effectLst>
              </a:rPr>
              <a:t>There</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are</a:t>
            </a:r>
            <a:r>
              <a:rPr lang="pl-PL" dirty="0">
                <a:solidFill>
                  <a:srgbClr val="00206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two</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separate</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markets</a:t>
            </a:r>
            <a:r>
              <a:rPr lang="pl-PL" b="1" dirty="0">
                <a:solidFill>
                  <a:srgbClr val="FF0000"/>
                </a:solidFill>
                <a:effectLst>
                  <a:outerShdw blurRad="38100" dist="38100" dir="2700000" algn="tl">
                    <a:srgbClr val="000000">
                      <a:alpha val="43137"/>
                    </a:srgbClr>
                  </a:outerShdw>
                </a:effectLst>
              </a:rPr>
              <a:t> </a:t>
            </a:r>
            <a:r>
              <a:rPr lang="pl-PL" b="1" dirty="0">
                <a:solidFill>
                  <a:srgbClr val="0070C0"/>
                </a:solidFill>
                <a:effectLst>
                  <a:outerShdw blurRad="38100" dist="38100" dir="2700000" algn="tl">
                    <a:srgbClr val="000000">
                      <a:alpha val="43137"/>
                    </a:srgbClr>
                  </a:outerShdw>
                </a:effectLst>
              </a:rPr>
              <a:t>(</a:t>
            </a:r>
            <a:r>
              <a:rPr lang="pl-PL" b="1" dirty="0" err="1">
                <a:solidFill>
                  <a:srgbClr val="0070C0"/>
                </a:solidFill>
                <a:effectLst>
                  <a:outerShdw blurRad="38100" dist="38100" dir="2700000" algn="tl">
                    <a:srgbClr val="000000">
                      <a:alpha val="43137"/>
                    </a:srgbClr>
                  </a:outerShdw>
                </a:effectLst>
              </a:rPr>
              <a:t>which</a:t>
            </a:r>
            <a:r>
              <a:rPr lang="pl-PL" b="1" dirty="0">
                <a:solidFill>
                  <a:srgbClr val="0070C0"/>
                </a:solidFill>
                <a:effectLst>
                  <a:outerShdw blurRad="38100" dist="38100" dir="2700000" algn="tl">
                    <a:srgbClr val="000000">
                      <a:alpha val="43137"/>
                    </a:srgbClr>
                  </a:outerShdw>
                </a:effectLst>
              </a:rPr>
              <a:t> </a:t>
            </a:r>
            <a:r>
              <a:rPr lang="pl-PL" b="1" dirty="0" err="1">
                <a:solidFill>
                  <a:srgbClr val="0070C0"/>
                </a:solidFill>
                <a:effectLst>
                  <a:outerShdw blurRad="38100" dist="38100" dir="2700000" algn="tl">
                    <a:srgbClr val="000000">
                      <a:alpha val="43137"/>
                    </a:srgbClr>
                  </a:outerShdw>
                </a:effectLst>
              </a:rPr>
              <a:t>does</a:t>
            </a:r>
            <a:r>
              <a:rPr lang="pl-PL" b="1" dirty="0">
                <a:solidFill>
                  <a:srgbClr val="0070C0"/>
                </a:solidFill>
                <a:effectLst>
                  <a:outerShdw blurRad="38100" dist="38100" dir="2700000" algn="tl">
                    <a:srgbClr val="000000">
                      <a:alpha val="43137"/>
                    </a:srgbClr>
                  </a:outerShdw>
                </a:effectLst>
              </a:rPr>
              <a:t> not </a:t>
            </a:r>
            <a:r>
              <a:rPr lang="pl-PL" b="1" dirty="0" err="1">
                <a:solidFill>
                  <a:srgbClr val="0070C0"/>
                </a:solidFill>
                <a:effectLst>
                  <a:outerShdw blurRad="38100" dist="38100" dir="2700000" algn="tl">
                    <a:srgbClr val="000000">
                      <a:alpha val="43137"/>
                    </a:srgbClr>
                  </a:outerShdw>
                </a:effectLst>
              </a:rPr>
              <a:t>exclude</a:t>
            </a:r>
            <a:r>
              <a:rPr lang="pl-PL" b="1" dirty="0">
                <a:solidFill>
                  <a:srgbClr val="0070C0"/>
                </a:solidFill>
                <a:effectLst>
                  <a:outerShdw blurRad="38100" dist="38100" dir="2700000" algn="tl">
                    <a:srgbClr val="000000">
                      <a:alpha val="43137"/>
                    </a:srgbClr>
                  </a:outerShdw>
                </a:effectLst>
              </a:rPr>
              <a:t> the </a:t>
            </a:r>
            <a:r>
              <a:rPr lang="pl-PL" b="1" dirty="0" err="1">
                <a:solidFill>
                  <a:srgbClr val="0070C0"/>
                </a:solidFill>
                <a:effectLst>
                  <a:outerShdw blurRad="38100" dist="38100" dir="2700000" algn="tl">
                    <a:srgbClr val="000000">
                      <a:alpha val="43137"/>
                    </a:srgbClr>
                  </a:outerShdw>
                </a:effectLst>
              </a:rPr>
              <a:t>existence</a:t>
            </a:r>
            <a:r>
              <a:rPr lang="pl-PL" b="1" dirty="0">
                <a:solidFill>
                  <a:srgbClr val="0070C0"/>
                </a:solidFill>
                <a:effectLst>
                  <a:outerShdw blurRad="38100" dist="38100" dir="2700000" algn="tl">
                    <a:srgbClr val="000000">
                      <a:alpha val="43137"/>
                    </a:srgbClr>
                  </a:outerShdw>
                </a:effectLst>
              </a:rPr>
              <a:t> of a </a:t>
            </a:r>
            <a:r>
              <a:rPr lang="pl-PL" b="1" dirty="0" err="1">
                <a:solidFill>
                  <a:srgbClr val="0070C0"/>
                </a:solidFill>
                <a:effectLst>
                  <a:outerShdw blurRad="38100" dist="38100" dir="2700000" algn="tl">
                    <a:srgbClr val="000000">
                      <a:alpha val="43137"/>
                    </a:srgbClr>
                  </a:outerShdw>
                </a:effectLst>
              </a:rPr>
              <a:t>cartel</a:t>
            </a:r>
            <a:r>
              <a:rPr lang="pl-PL" b="1" dirty="0">
                <a:solidFill>
                  <a:srgbClr val="0070C0"/>
                </a:solidFill>
                <a:effectLst>
                  <a:outerShdw blurRad="38100" dist="38100" dir="2700000" algn="tl">
                    <a:srgbClr val="000000">
                      <a:alpha val="43137"/>
                    </a:srgbClr>
                  </a:outerShdw>
                </a:effectLst>
              </a:rPr>
              <a:t>)</a:t>
            </a:r>
          </a:p>
          <a:p>
            <a:r>
              <a:rPr lang="en-US" dirty="0">
                <a:solidFill>
                  <a:srgbClr val="002060"/>
                </a:solidFill>
                <a:effectLst>
                  <a:outerShdw blurRad="38100" dist="38100" dir="2700000" algn="tl">
                    <a:srgbClr val="000000">
                      <a:alpha val="43137"/>
                    </a:srgbClr>
                  </a:outerShdw>
                </a:effectLst>
              </a:rPr>
              <a:t>Setting the </a:t>
            </a:r>
            <a:r>
              <a:rPr lang="en-US" b="1" dirty="0">
                <a:solidFill>
                  <a:srgbClr val="FF0000"/>
                </a:solidFill>
                <a:effectLst>
                  <a:outerShdw blurRad="38100" dist="38100" dir="2700000" algn="tl">
                    <a:srgbClr val="000000">
                      <a:alpha val="43137"/>
                    </a:srgbClr>
                  </a:outerShdw>
                </a:effectLst>
              </a:rPr>
              <a:t>price </a:t>
            </a:r>
            <a:r>
              <a:rPr lang="en-US" dirty="0">
                <a:solidFill>
                  <a:srgbClr val="002060"/>
                </a:solidFill>
                <a:effectLst>
                  <a:outerShdw blurRad="38100" dist="38100" dir="2700000" algn="tl">
                    <a:srgbClr val="000000">
                      <a:alpha val="43137"/>
                    </a:srgbClr>
                  </a:outerShdw>
                </a:effectLst>
              </a:rPr>
              <a:t>for a service using an </a:t>
            </a:r>
            <a:r>
              <a:rPr lang="en-US" b="1" dirty="0">
                <a:solidFill>
                  <a:srgbClr val="FF0000"/>
                </a:solidFill>
                <a:effectLst>
                  <a:outerShdw blurRad="38100" dist="38100" dir="2700000" algn="tl">
                    <a:srgbClr val="000000">
                      <a:alpha val="43137"/>
                    </a:srgbClr>
                  </a:outerShdw>
                </a:effectLst>
              </a:rPr>
              <a:t>algorithm </a:t>
            </a:r>
            <a:r>
              <a:rPr lang="en-US" dirty="0">
                <a:solidFill>
                  <a:srgbClr val="002060"/>
                </a:solidFill>
                <a:effectLst>
                  <a:outerShdw blurRad="38100" dist="38100" dir="2700000" algn="tl">
                    <a:srgbClr val="000000">
                      <a:alpha val="43137"/>
                    </a:srgbClr>
                  </a:outerShdw>
                </a:effectLst>
              </a:rPr>
              <a:t>– price competition is the most important parameter of competition. </a:t>
            </a:r>
            <a:endParaRPr lang="pl-PL" dirty="0">
              <a:solidFill>
                <a:srgbClr val="002060"/>
              </a:solidFill>
              <a:effectLst>
                <a:outerShdw blurRad="38100" dist="38100" dir="2700000" algn="tl">
                  <a:srgbClr val="000000">
                    <a:alpha val="43137"/>
                  </a:srgbClr>
                </a:outerShdw>
              </a:effectLst>
            </a:endParaRPr>
          </a:p>
          <a:p>
            <a:r>
              <a:rPr lang="pl-PL" dirty="0" err="1">
                <a:solidFill>
                  <a:srgbClr val="002060"/>
                </a:solidFill>
                <a:effectLst>
                  <a:outerShdw blurRad="38100" dist="38100" dir="2700000" algn="tl">
                    <a:srgbClr val="000000">
                      <a:alpha val="43137"/>
                    </a:srgbClr>
                  </a:outerShdw>
                </a:effectLst>
              </a:rPr>
              <a:t>Competition</a:t>
            </a:r>
            <a:r>
              <a:rPr lang="pl-PL" dirty="0">
                <a:solidFill>
                  <a:srgbClr val="002060"/>
                </a:solidFill>
                <a:effectLst>
                  <a:outerShdw blurRad="38100" dist="38100" dir="2700000" algn="tl">
                    <a:srgbClr val="000000">
                      <a:alpha val="43137"/>
                    </a:srgbClr>
                  </a:outerShdw>
                </a:effectLst>
              </a:rPr>
              <a:t> law</a:t>
            </a:r>
            <a:r>
              <a:rPr lang="en-US" dirty="0">
                <a:solidFill>
                  <a:srgbClr val="002060"/>
                </a:solidFill>
                <a:effectLst>
                  <a:outerShdw blurRad="38100" dist="38100" dir="2700000" algn="tl">
                    <a:srgbClr val="000000">
                      <a:alpha val="43137"/>
                    </a:srgbClr>
                  </a:outerShdw>
                </a:effectLst>
              </a:rPr>
              <a:t> prohibits price setting</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through</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an</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agreement</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between</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competitors</a:t>
            </a:r>
            <a:endParaRPr lang="en-US"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There is </a:t>
            </a:r>
            <a:r>
              <a:rPr lang="en-US" b="1" dirty="0">
                <a:solidFill>
                  <a:srgbClr val="FF0000"/>
                </a:solidFill>
                <a:effectLst>
                  <a:outerShdw blurRad="38100" dist="38100" dir="2700000" algn="tl">
                    <a:srgbClr val="000000">
                      <a:alpha val="43137"/>
                    </a:srgbClr>
                  </a:outerShdw>
                </a:effectLst>
              </a:rPr>
              <a:t>no price competition among UBER drivers, but neither does there exist among taxi drivers</a:t>
            </a:r>
            <a:r>
              <a:rPr lang="en-US" dirty="0">
                <a:solidFill>
                  <a:srgbClr val="002060"/>
                </a:solidFill>
                <a:effectLst>
                  <a:outerShdw blurRad="38100" dist="38100" dir="2700000" algn="tl">
                    <a:srgbClr val="000000">
                      <a:alpha val="43137"/>
                    </a:srgbClr>
                  </a:outerShdw>
                </a:effectLst>
              </a:rPr>
              <a:t>.</a:t>
            </a:r>
          </a:p>
          <a:p>
            <a:r>
              <a:rPr lang="en-US" dirty="0">
                <a:solidFill>
                  <a:srgbClr val="002060"/>
                </a:solidFill>
                <a:effectLst>
                  <a:outerShdw blurRad="38100" dist="38100" dir="2700000" algn="tl">
                    <a:srgbClr val="000000">
                      <a:alpha val="43137"/>
                    </a:srgbClr>
                  </a:outerShdw>
                </a:effectLst>
              </a:rPr>
              <a:t>The Office of Competition and Consumer Protection (</a:t>
            </a:r>
            <a:r>
              <a:rPr lang="en-US" dirty="0" err="1">
                <a:solidFill>
                  <a:srgbClr val="002060"/>
                </a:solidFill>
                <a:effectLst>
                  <a:outerShdw blurRad="38100" dist="38100" dir="2700000" algn="tl">
                    <a:srgbClr val="000000">
                      <a:alpha val="43137"/>
                    </a:srgbClr>
                  </a:outerShdw>
                </a:effectLst>
              </a:rPr>
              <a:t>UOKiK</a:t>
            </a:r>
            <a:r>
              <a:rPr lang="en-US" dirty="0">
                <a:solidFill>
                  <a:srgbClr val="002060"/>
                </a:solidFill>
                <a:effectLst>
                  <a:outerShdw blurRad="38100" dist="38100" dir="2700000" algn="tl">
                    <a:srgbClr val="000000">
                      <a:alpha val="43137"/>
                    </a:srgbClr>
                  </a:outerShdw>
                </a:effectLst>
              </a:rPr>
              <a:t>) has </a:t>
            </a:r>
            <a:r>
              <a:rPr lang="en-US" b="1" dirty="0">
                <a:solidFill>
                  <a:srgbClr val="FF0000"/>
                </a:solidFill>
                <a:effectLst>
                  <a:outerShdw blurRad="38100" dist="38100" dir="2700000" algn="tl">
                    <a:srgbClr val="000000">
                      <a:alpha val="43137"/>
                    </a:srgbClr>
                  </a:outerShdw>
                </a:effectLst>
              </a:rPr>
              <a:t>never questioned the practices of taxi companies</a:t>
            </a:r>
            <a:r>
              <a:rPr lang="en-US" dirty="0">
                <a:solidFill>
                  <a:srgbClr val="002060"/>
                </a:solidFill>
                <a:effectLst>
                  <a:outerShdw blurRad="38100" dist="38100" dir="2700000" algn="tl">
                    <a:srgbClr val="000000">
                      <a:alpha val="43137"/>
                    </a:srgbClr>
                  </a:outerShdw>
                </a:effectLst>
              </a:rPr>
              <a:t> – therefore, there is no conflict with competition rules.</a:t>
            </a:r>
          </a:p>
          <a:p>
            <a:r>
              <a:rPr lang="en-US" b="1" dirty="0">
                <a:solidFill>
                  <a:srgbClr val="FF0000"/>
                </a:solidFill>
                <a:effectLst>
                  <a:outerShdw blurRad="38100" dist="38100" dir="2700000" algn="tl">
                    <a:srgbClr val="000000">
                      <a:alpha val="43137"/>
                    </a:srgbClr>
                  </a:outerShdw>
                </a:effectLst>
              </a:rPr>
              <a:t>Taxi companies are perceived by customers as a single economic entity </a:t>
            </a:r>
            <a:r>
              <a:rPr lang="en-US" dirty="0">
                <a:solidFill>
                  <a:srgbClr val="002060"/>
                </a:solidFill>
                <a:effectLst>
                  <a:outerShdw blurRad="38100" dist="38100" dir="2700000" algn="tl">
                    <a:srgbClr val="000000">
                      <a:alpha val="43137"/>
                    </a:srgbClr>
                  </a:outerShdw>
                </a:effectLst>
              </a:rPr>
              <a:t>(equal discounts, etc.).</a:t>
            </a:r>
          </a:p>
          <a:p>
            <a:endParaRPr lang="en-US" dirty="0"/>
          </a:p>
        </p:txBody>
      </p:sp>
      <p:sp>
        <p:nvSpPr>
          <p:cNvPr id="4" name="Symbol zastępczy numeru slajdu 3">
            <a:extLst>
              <a:ext uri="{FF2B5EF4-FFF2-40B4-BE49-F238E27FC236}">
                <a16:creationId xmlns:a16="http://schemas.microsoft.com/office/drawing/2014/main" id="{537BE541-6355-B58E-4EF9-9668E4DE3B24}"/>
              </a:ext>
            </a:extLst>
          </p:cNvPr>
          <p:cNvSpPr>
            <a:spLocks noGrp="1"/>
          </p:cNvSpPr>
          <p:nvPr>
            <p:ph type="sldNum" sz="quarter" idx="12"/>
          </p:nvPr>
        </p:nvSpPr>
        <p:spPr/>
        <p:txBody>
          <a:bodyPr/>
          <a:lstStyle/>
          <a:p>
            <a:fld id="{31FE8408-9B39-4718-B64F-54F72D092B1B}" type="slidenum">
              <a:rPr lang="pl-PL" smtClean="0"/>
              <a:t>20</a:t>
            </a:fld>
            <a:endParaRPr lang="pl-PL" dirty="0"/>
          </a:p>
        </p:txBody>
      </p:sp>
    </p:spTree>
    <p:extLst>
      <p:ext uri="{BB962C8B-B14F-4D97-AF65-F5344CB8AC3E}">
        <p14:creationId xmlns:p14="http://schemas.microsoft.com/office/powerpoint/2010/main" val="760742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EC8F684-2876-7ED4-1C2F-E66CD90FF45D}"/>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Academic</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view</a:t>
            </a:r>
            <a:r>
              <a:rPr lang="pl-PL" dirty="0">
                <a:solidFill>
                  <a:srgbClr val="002060"/>
                </a:solidFill>
                <a:effectLst>
                  <a:outerShdw blurRad="38100" dist="38100" dir="2700000" algn="tl">
                    <a:srgbClr val="000000">
                      <a:alpha val="43137"/>
                    </a:srgbClr>
                  </a:outerShdw>
                </a:effectLst>
              </a:rPr>
              <a:t> (M. </a:t>
            </a:r>
            <a:r>
              <a:rPr lang="pl-PL" dirty="0" err="1">
                <a:solidFill>
                  <a:srgbClr val="002060"/>
                </a:solidFill>
                <a:effectLst>
                  <a:outerShdw blurRad="38100" dist="38100" dir="2700000" algn="tl">
                    <a:srgbClr val="000000">
                      <a:alpha val="43137"/>
                    </a:srgbClr>
                  </a:outerShdw>
                </a:effectLst>
              </a:rPr>
              <a:t>Toroń</a:t>
            </a:r>
            <a:r>
              <a:rPr lang="pl-PL" dirty="0">
                <a:solidFill>
                  <a:srgbClr val="002060"/>
                </a:solidFill>
                <a:effectLst>
                  <a:outerShdw blurRad="38100" dist="38100" dir="2700000" algn="tl">
                    <a:srgbClr val="000000">
                      <a:alpha val="43137"/>
                    </a:srgbClr>
                  </a:outerShdw>
                </a:effectLst>
              </a:rPr>
              <a:t>, K. </a:t>
            </a:r>
            <a:r>
              <a:rPr lang="pl-PL" dirty="0" err="1">
                <a:solidFill>
                  <a:srgbClr val="002060"/>
                </a:solidFill>
                <a:effectLst>
                  <a:outerShdw blurRad="38100" dist="38100" dir="2700000" algn="tl">
                    <a:srgbClr val="000000">
                      <a:alpha val="43137"/>
                    </a:srgbClr>
                  </a:outerShdw>
                </a:effectLst>
              </a:rPr>
              <a:t>Wiese</a:t>
            </a:r>
            <a:r>
              <a:rPr lang="pl-PL" dirty="0">
                <a:solidFill>
                  <a:srgbClr val="002060"/>
                </a:solidFill>
                <a:effectLst>
                  <a:outerShdw blurRad="38100" dist="38100" dir="2700000" algn="tl">
                    <a:srgbClr val="000000">
                      <a:alpha val="43137"/>
                    </a:srgbClr>
                  </a:outerShdw>
                </a:effectLst>
              </a:rPr>
              <a:t>)</a:t>
            </a:r>
            <a:endParaRPr lang="en-US" dirty="0"/>
          </a:p>
        </p:txBody>
      </p:sp>
      <p:sp>
        <p:nvSpPr>
          <p:cNvPr id="3" name="Symbol zastępczy zawartości 2">
            <a:extLst>
              <a:ext uri="{FF2B5EF4-FFF2-40B4-BE49-F238E27FC236}">
                <a16:creationId xmlns:a16="http://schemas.microsoft.com/office/drawing/2014/main" id="{0CE53EEC-7117-48FD-5CD0-F88471872E6B}"/>
              </a:ext>
            </a:extLst>
          </p:cNvPr>
          <p:cNvSpPr>
            <a:spLocks noGrp="1"/>
          </p:cNvSpPr>
          <p:nvPr>
            <p:ph idx="1"/>
          </p:nvPr>
        </p:nvSpPr>
        <p:spPr/>
        <p:txBody>
          <a:bodyPr>
            <a:normAutofit fontScale="92500"/>
          </a:bodyPr>
          <a:lstStyle/>
          <a:p>
            <a:r>
              <a:rPr lang="en-US" dirty="0">
                <a:solidFill>
                  <a:srgbClr val="002060"/>
                </a:solidFill>
                <a:effectLst>
                  <a:outerShdw blurRad="38100" dist="38100" dir="2700000" algn="tl">
                    <a:srgbClr val="000000">
                      <a:alpha val="43137"/>
                    </a:srgbClr>
                  </a:outerShdw>
                </a:effectLst>
              </a:rPr>
              <a:t>Consequently, the application of </a:t>
            </a:r>
            <a:r>
              <a:rPr lang="en-US" b="1" dirty="0">
                <a:solidFill>
                  <a:srgbClr val="002060"/>
                </a:solidFill>
                <a:effectLst>
                  <a:outerShdw blurRad="38100" dist="38100" dir="2700000" algn="tl">
                    <a:srgbClr val="000000">
                      <a:alpha val="43137"/>
                    </a:srgbClr>
                  </a:outerShdw>
                </a:effectLst>
              </a:rPr>
              <a:t>uniform rules is </a:t>
            </a:r>
            <a:r>
              <a:rPr lang="en-US" dirty="0">
                <a:solidFill>
                  <a:srgbClr val="002060"/>
                </a:solidFill>
                <a:effectLst>
                  <a:outerShdw blurRad="38100" dist="38100" dir="2700000" algn="tl">
                    <a:srgbClr val="000000">
                      <a:alpha val="43137"/>
                    </a:srgbClr>
                  </a:outerShdw>
                </a:effectLst>
              </a:rPr>
              <a:t>a completely </a:t>
            </a:r>
            <a:r>
              <a:rPr lang="en-US" b="1" dirty="0">
                <a:solidFill>
                  <a:srgbClr val="FF0000"/>
                </a:solidFill>
                <a:effectLst>
                  <a:outerShdw blurRad="38100" dist="38100" dir="2700000" algn="tl">
                    <a:srgbClr val="000000">
                      <a:alpha val="43137"/>
                    </a:srgbClr>
                  </a:outerShdw>
                </a:effectLst>
              </a:rPr>
              <a:t>internal matter</a:t>
            </a:r>
            <a:r>
              <a:rPr lang="pl-PL" b="1" dirty="0">
                <a:solidFill>
                  <a:srgbClr val="FF0000"/>
                </a:solidFill>
                <a:effectLst>
                  <a:outerShdw blurRad="38100" dist="38100" dir="2700000" algn="tl">
                    <a:srgbClr val="000000">
                      <a:alpha val="43137"/>
                    </a:srgbClr>
                  </a:outerShdw>
                </a:effectLst>
              </a:rPr>
              <a:t> (WH: </a:t>
            </a:r>
            <a:r>
              <a:rPr lang="pl-PL" b="1" dirty="0" err="1">
                <a:solidFill>
                  <a:srgbClr val="FF0000"/>
                </a:solidFill>
                <a:effectLst>
                  <a:outerShdw blurRad="38100" dist="38100" dir="2700000" algn="tl">
                    <a:srgbClr val="000000">
                      <a:alpha val="43137"/>
                    </a:srgbClr>
                  </a:outerShdw>
                </a:effectLst>
              </a:rPr>
              <a:t>it</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would</a:t>
            </a:r>
            <a:r>
              <a:rPr lang="pl-PL" b="1" dirty="0">
                <a:solidFill>
                  <a:srgbClr val="FF0000"/>
                </a:solidFill>
                <a:effectLst>
                  <a:outerShdw blurRad="38100" dist="38100" dir="2700000" algn="tl">
                    <a:srgbClr val="000000">
                      <a:alpha val="43137"/>
                    </a:srgbClr>
                  </a:outerShdw>
                </a:effectLst>
              </a:rPr>
              <a:t> be </a:t>
            </a:r>
            <a:r>
              <a:rPr lang="pl-PL" b="1" dirty="0" err="1">
                <a:solidFill>
                  <a:srgbClr val="FF0000"/>
                </a:solidFill>
                <a:effectLst>
                  <a:outerShdw blurRad="38100" dist="38100" dir="2700000" algn="tl">
                    <a:srgbClr val="000000">
                      <a:alpha val="43137"/>
                    </a:srgbClr>
                  </a:outerShdw>
                </a:effectLst>
              </a:rPr>
              <a:t>clear</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if</a:t>
            </a:r>
            <a:r>
              <a:rPr lang="pl-PL" b="1" dirty="0">
                <a:solidFill>
                  <a:srgbClr val="FF0000"/>
                </a:solidFill>
                <a:effectLst>
                  <a:outerShdw blurRad="38100" dist="38100" dir="2700000" algn="tl">
                    <a:srgbClr val="000000">
                      <a:alpha val="43137"/>
                    </a:srgbClr>
                  </a:outerShdw>
                </a:effectLst>
              </a:rPr>
              <a:t> Uber </a:t>
            </a:r>
            <a:r>
              <a:rPr lang="pl-PL" b="1" dirty="0" err="1">
                <a:solidFill>
                  <a:srgbClr val="FF0000"/>
                </a:solidFill>
                <a:effectLst>
                  <a:outerShdw blurRad="38100" dist="38100" dir="2700000" algn="tl">
                    <a:srgbClr val="000000">
                      <a:alpha val="43137"/>
                    </a:srgbClr>
                  </a:outerShdw>
                </a:effectLst>
              </a:rPr>
              <a:t>were</a:t>
            </a:r>
            <a:r>
              <a:rPr lang="pl-PL" b="1" dirty="0">
                <a:solidFill>
                  <a:srgbClr val="FF0000"/>
                </a:solidFill>
                <a:effectLst>
                  <a:outerShdw blurRad="38100" dist="38100" dir="2700000" algn="tl">
                    <a:srgbClr val="000000">
                      <a:alpha val="43137"/>
                    </a:srgbClr>
                  </a:outerShdw>
                </a:effectLst>
              </a:rPr>
              <a:t> one </a:t>
            </a:r>
            <a:r>
              <a:rPr lang="pl-PL" b="1" dirty="0" err="1">
                <a:solidFill>
                  <a:srgbClr val="FF0000"/>
                </a:solidFill>
                <a:effectLst>
                  <a:outerShdw blurRad="38100" dist="38100" dir="2700000" algn="tl">
                    <a:srgbClr val="000000">
                      <a:alpha val="43137"/>
                    </a:srgbClr>
                  </a:outerShdw>
                </a:effectLst>
              </a:rPr>
              <a:t>entity</a:t>
            </a:r>
            <a:r>
              <a:rPr lang="pl-PL" b="1" dirty="0">
                <a:solidFill>
                  <a:srgbClr val="FF0000"/>
                </a:solidFill>
                <a:effectLst>
                  <a:outerShdw blurRad="38100" dist="38100" dir="2700000" algn="tl">
                    <a:srgbClr val="000000">
                      <a:alpha val="43137"/>
                    </a:srgbClr>
                  </a:outerShdw>
                </a:effectLst>
              </a:rPr>
              <a:t> with </a:t>
            </a:r>
            <a:r>
              <a:rPr lang="pl-PL" b="1" dirty="0" err="1">
                <a:solidFill>
                  <a:srgbClr val="FF0000"/>
                </a:solidFill>
                <a:effectLst>
                  <a:outerShdw blurRad="38100" dist="38100" dir="2700000" algn="tl">
                    <a:srgbClr val="000000">
                      <a:alpha val="43137"/>
                    </a:srgbClr>
                  </a:outerShdw>
                </a:effectLst>
              </a:rPr>
              <a:t>its</a:t>
            </a:r>
            <a:r>
              <a:rPr lang="pl-PL" b="1" dirty="0">
                <a:solidFill>
                  <a:srgbClr val="FF000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drivers</a:t>
            </a:r>
            <a:r>
              <a:rPr lang="pl-PL" b="1" dirty="0">
                <a:solidFill>
                  <a:srgbClr val="FF0000"/>
                </a:solidFill>
                <a:effectLst>
                  <a:outerShdw blurRad="38100" dist="38100" dir="2700000" algn="tl">
                    <a:srgbClr val="000000">
                      <a:alpha val="43137"/>
                    </a:srgbClr>
                  </a:outerShdw>
                </a:effectLst>
              </a:rPr>
              <a:t>!)</a:t>
            </a:r>
            <a:endParaRPr lang="en-US" b="1" dirty="0">
              <a:solidFill>
                <a:srgbClr val="FF000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UBER </a:t>
            </a:r>
            <a:r>
              <a:rPr lang="en-US" b="1" dirty="0">
                <a:solidFill>
                  <a:srgbClr val="002060"/>
                </a:solidFill>
                <a:effectLst>
                  <a:outerShdw blurRad="38100" dist="38100" dir="2700000" algn="tl">
                    <a:srgbClr val="000000">
                      <a:alpha val="43137"/>
                    </a:srgbClr>
                  </a:outerShdw>
                </a:effectLst>
              </a:rPr>
              <a:t>offers a more diverse </a:t>
            </a:r>
            <a:r>
              <a:rPr lang="pl-PL" b="1" dirty="0">
                <a:solidFill>
                  <a:srgbClr val="002060"/>
                </a:solidFill>
                <a:effectLst>
                  <a:outerShdw blurRad="38100" dist="38100" dir="2700000" algn="tl">
                    <a:srgbClr val="000000">
                      <a:alpha val="43137"/>
                    </a:srgbClr>
                  </a:outerShdw>
                </a:effectLst>
              </a:rPr>
              <a:t>service</a:t>
            </a:r>
            <a:r>
              <a:rPr lang="en-US" b="1"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 the ability to choose drivers and cars – there is internal competition among drivers for orders.</a:t>
            </a:r>
          </a:p>
          <a:p>
            <a:r>
              <a:rPr lang="en-US" dirty="0">
                <a:solidFill>
                  <a:srgbClr val="002060"/>
                </a:solidFill>
                <a:effectLst>
                  <a:outerShdw blurRad="38100" dist="38100" dir="2700000" algn="tl">
                    <a:srgbClr val="000000">
                      <a:alpha val="43137"/>
                    </a:srgbClr>
                  </a:outerShdw>
                </a:effectLst>
              </a:rPr>
              <a:t>Therefore, </a:t>
            </a:r>
            <a:r>
              <a:rPr lang="en-US" b="1" dirty="0">
                <a:solidFill>
                  <a:srgbClr val="002060"/>
                </a:solidFill>
                <a:effectLst>
                  <a:outerShdw blurRad="38100" dist="38100" dir="2700000" algn="tl">
                    <a:srgbClr val="000000">
                      <a:alpha val="43137"/>
                    </a:srgbClr>
                  </a:outerShdw>
                </a:effectLst>
              </a:rPr>
              <a:t>there is no restriction of competition</a:t>
            </a:r>
            <a:r>
              <a:rPr lang="en-US" dirty="0">
                <a:solidFill>
                  <a:srgbClr val="002060"/>
                </a:solidFill>
                <a:effectLst>
                  <a:outerShdw blurRad="38100" dist="38100" dir="2700000" algn="tl">
                    <a:srgbClr val="000000">
                      <a:alpha val="43137"/>
                    </a:srgbClr>
                  </a:outerShdw>
                </a:effectLst>
              </a:rPr>
              <a:t>, and even if there were, it would be </a:t>
            </a:r>
            <a:r>
              <a:rPr lang="en-US" b="1" dirty="0">
                <a:solidFill>
                  <a:srgbClr val="FF0000"/>
                </a:solidFill>
                <a:effectLst>
                  <a:outerShdw blurRad="38100" dist="38100" dir="2700000" algn="tl">
                    <a:srgbClr val="000000">
                      <a:alpha val="43137"/>
                    </a:srgbClr>
                  </a:outerShdw>
                </a:effectLst>
              </a:rPr>
              <a:t>justified by the doctrine of necessary additional restrictions </a:t>
            </a:r>
            <a:r>
              <a:rPr lang="en-US" dirty="0">
                <a:solidFill>
                  <a:srgbClr val="002060"/>
                </a:solidFill>
                <a:effectLst>
                  <a:outerShdw blurRad="38100" dist="38100" dir="2700000" algn="tl">
                    <a:srgbClr val="000000">
                      <a:alpha val="43137"/>
                    </a:srgbClr>
                  </a:outerShdw>
                </a:effectLst>
              </a:rPr>
              <a:t>(ancillary restraints doctrine – T 208/13 Portugal Telecom). This is a </a:t>
            </a:r>
            <a:r>
              <a:rPr lang="en-US" b="1" dirty="0">
                <a:solidFill>
                  <a:srgbClr val="FF0000"/>
                </a:solidFill>
                <a:effectLst>
                  <a:outerShdw blurRad="38100" dist="38100" dir="2700000" algn="tl">
                    <a:srgbClr val="000000">
                      <a:alpha val="43137"/>
                    </a:srgbClr>
                  </a:outerShdw>
                </a:effectLst>
              </a:rPr>
              <a:t>natural part of a broader agreement that is neutral and even pro-competitive</a:t>
            </a:r>
            <a:r>
              <a:rPr lang="en-US" dirty="0">
                <a:solidFill>
                  <a:srgbClr val="002060"/>
                </a:solidFill>
                <a:effectLst>
                  <a:outerShdw blurRad="38100" dist="38100" dir="2700000" algn="tl">
                    <a:srgbClr val="000000">
                      <a:alpha val="43137"/>
                    </a:srgbClr>
                  </a:outerShdw>
                </a:effectLst>
              </a:rPr>
              <a:t>.</a:t>
            </a:r>
          </a:p>
          <a:p>
            <a:r>
              <a:rPr lang="en-US" dirty="0">
                <a:solidFill>
                  <a:srgbClr val="002060"/>
                </a:solidFill>
                <a:effectLst>
                  <a:outerShdw blurRad="38100" dist="38100" dir="2700000" algn="tl">
                    <a:srgbClr val="000000">
                      <a:alpha val="43137"/>
                    </a:srgbClr>
                  </a:outerShdw>
                </a:effectLst>
              </a:rPr>
              <a:t>There is an OBJECTIVE NECESSITY to use such a pricing model to maintain this business model.</a:t>
            </a:r>
          </a:p>
          <a:p>
            <a:endParaRPr lang="en-US" dirty="0"/>
          </a:p>
        </p:txBody>
      </p:sp>
      <p:sp>
        <p:nvSpPr>
          <p:cNvPr id="4" name="Symbol zastępczy numeru slajdu 3">
            <a:extLst>
              <a:ext uri="{FF2B5EF4-FFF2-40B4-BE49-F238E27FC236}">
                <a16:creationId xmlns:a16="http://schemas.microsoft.com/office/drawing/2014/main" id="{1E7B5867-1410-CACD-B8E2-9174EA3E0D91}"/>
              </a:ext>
            </a:extLst>
          </p:cNvPr>
          <p:cNvSpPr>
            <a:spLocks noGrp="1"/>
          </p:cNvSpPr>
          <p:nvPr>
            <p:ph type="sldNum" sz="quarter" idx="12"/>
          </p:nvPr>
        </p:nvSpPr>
        <p:spPr/>
        <p:txBody>
          <a:bodyPr/>
          <a:lstStyle/>
          <a:p>
            <a:fld id="{31FE8408-9B39-4718-B64F-54F72D092B1B}" type="slidenum">
              <a:rPr lang="pl-PL" smtClean="0"/>
              <a:t>21</a:t>
            </a:fld>
            <a:endParaRPr lang="pl-PL" dirty="0"/>
          </a:p>
        </p:txBody>
      </p:sp>
    </p:spTree>
    <p:extLst>
      <p:ext uri="{BB962C8B-B14F-4D97-AF65-F5344CB8AC3E}">
        <p14:creationId xmlns:p14="http://schemas.microsoft.com/office/powerpoint/2010/main" val="22325550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3F27DAA-861B-2B78-9F6B-061CD4D4134A}"/>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Academic</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view</a:t>
            </a:r>
            <a:r>
              <a:rPr lang="pl-PL" dirty="0">
                <a:solidFill>
                  <a:srgbClr val="002060"/>
                </a:solidFill>
                <a:effectLst>
                  <a:outerShdw blurRad="38100" dist="38100" dir="2700000" algn="tl">
                    <a:srgbClr val="000000">
                      <a:alpha val="43137"/>
                    </a:srgbClr>
                  </a:outerShdw>
                </a:effectLst>
              </a:rPr>
              <a:t> (M. </a:t>
            </a:r>
            <a:r>
              <a:rPr lang="pl-PL" dirty="0" err="1">
                <a:solidFill>
                  <a:srgbClr val="002060"/>
                </a:solidFill>
                <a:effectLst>
                  <a:outerShdw blurRad="38100" dist="38100" dir="2700000" algn="tl">
                    <a:srgbClr val="000000">
                      <a:alpha val="43137"/>
                    </a:srgbClr>
                  </a:outerShdw>
                </a:effectLst>
              </a:rPr>
              <a:t>Toroń</a:t>
            </a:r>
            <a:r>
              <a:rPr lang="pl-PL" dirty="0">
                <a:solidFill>
                  <a:srgbClr val="002060"/>
                </a:solidFill>
                <a:effectLst>
                  <a:outerShdw blurRad="38100" dist="38100" dir="2700000" algn="tl">
                    <a:srgbClr val="000000">
                      <a:alpha val="43137"/>
                    </a:srgbClr>
                  </a:outerShdw>
                </a:effectLst>
              </a:rPr>
              <a:t>, K. </a:t>
            </a:r>
            <a:r>
              <a:rPr lang="pl-PL" dirty="0" err="1">
                <a:solidFill>
                  <a:srgbClr val="002060"/>
                </a:solidFill>
                <a:effectLst>
                  <a:outerShdw blurRad="38100" dist="38100" dir="2700000" algn="tl">
                    <a:srgbClr val="000000">
                      <a:alpha val="43137"/>
                    </a:srgbClr>
                  </a:outerShdw>
                </a:effectLst>
              </a:rPr>
              <a:t>Wiese</a:t>
            </a:r>
            <a:r>
              <a:rPr lang="pl-PL" dirty="0">
                <a:solidFill>
                  <a:srgbClr val="002060"/>
                </a:solidFill>
                <a:effectLst>
                  <a:outerShdw blurRad="38100" dist="38100" dir="2700000" algn="tl">
                    <a:srgbClr val="000000">
                      <a:alpha val="43137"/>
                    </a:srgbClr>
                  </a:outerShdw>
                </a:effectLst>
              </a:rPr>
              <a:t>)</a:t>
            </a:r>
            <a:endParaRPr lang="en-US" dirty="0"/>
          </a:p>
        </p:txBody>
      </p:sp>
      <p:sp>
        <p:nvSpPr>
          <p:cNvPr id="3" name="Symbol zastępczy zawartości 2">
            <a:extLst>
              <a:ext uri="{FF2B5EF4-FFF2-40B4-BE49-F238E27FC236}">
                <a16:creationId xmlns:a16="http://schemas.microsoft.com/office/drawing/2014/main" id="{02032890-8A14-08B4-C3F5-256A15EBDEEE}"/>
              </a:ext>
            </a:extLst>
          </p:cNvPr>
          <p:cNvSpPr>
            <a:spLocks noGrp="1"/>
          </p:cNvSpPr>
          <p:nvPr>
            <p:ph idx="1"/>
          </p:nvPr>
        </p:nvSpPr>
        <p:spPr/>
        <p:txBody>
          <a:bodyPr/>
          <a:lstStyle/>
          <a:p>
            <a:r>
              <a:rPr lang="en-US" dirty="0">
                <a:solidFill>
                  <a:srgbClr val="002060"/>
                </a:solidFill>
                <a:effectLst>
                  <a:outerShdw blurRad="38100" dist="38100" dir="2700000" algn="tl">
                    <a:srgbClr val="000000">
                      <a:alpha val="43137"/>
                    </a:srgbClr>
                  </a:outerShdw>
                </a:effectLst>
              </a:rPr>
              <a:t>The </a:t>
            </a:r>
            <a:r>
              <a:rPr lang="pl-PL" dirty="0">
                <a:solidFill>
                  <a:srgbClr val="002060"/>
                </a:solidFill>
                <a:effectLst>
                  <a:outerShdw blurRad="38100" dist="38100" dir="2700000" algn="tl">
                    <a:srgbClr val="000000">
                      <a:alpha val="43137"/>
                    </a:srgbClr>
                  </a:outerShdw>
                </a:effectLst>
              </a:rPr>
              <a:t>Uber-driver </a:t>
            </a:r>
            <a:r>
              <a:rPr lang="en-US" dirty="0">
                <a:solidFill>
                  <a:srgbClr val="002060"/>
                </a:solidFill>
                <a:effectLst>
                  <a:outerShdw blurRad="38100" dist="38100" dir="2700000" algn="tl">
                    <a:srgbClr val="000000">
                      <a:alpha val="43137"/>
                    </a:srgbClr>
                  </a:outerShdw>
                </a:effectLst>
              </a:rPr>
              <a:t>agreement DOES NOT LIMIT COMPETITION</a:t>
            </a:r>
          </a:p>
          <a:p>
            <a:r>
              <a:rPr lang="en-US" b="1" dirty="0">
                <a:solidFill>
                  <a:srgbClr val="FF0000"/>
                </a:solidFill>
                <a:effectLst>
                  <a:outerShdw blurRad="38100" dist="38100" dir="2700000" algn="tl">
                    <a:srgbClr val="000000">
                      <a:alpha val="43137"/>
                    </a:srgbClr>
                  </a:outerShdw>
                </a:effectLst>
              </a:rPr>
              <a:t>It is pro-competitive</a:t>
            </a:r>
            <a:r>
              <a:rPr lang="en-US" dirty="0">
                <a:solidFill>
                  <a:srgbClr val="002060"/>
                </a:solidFill>
                <a:effectLst>
                  <a:outerShdw blurRad="38100" dist="38100" dir="2700000" algn="tl">
                    <a:srgbClr val="000000">
                      <a:alpha val="43137"/>
                    </a:srgbClr>
                  </a:outerShdw>
                </a:effectLst>
              </a:rPr>
              <a:t> because it creates </a:t>
            </a:r>
            <a:r>
              <a:rPr lang="en-US" b="1" dirty="0">
                <a:solidFill>
                  <a:srgbClr val="FF0000"/>
                </a:solidFill>
                <a:effectLst>
                  <a:outerShdw blurRad="38100" dist="38100" dir="2700000" algn="tl">
                    <a:srgbClr val="000000">
                      <a:alpha val="43137"/>
                    </a:srgbClr>
                  </a:outerShdw>
                </a:effectLst>
              </a:rPr>
              <a:t>competitive pressure</a:t>
            </a:r>
            <a:r>
              <a:rPr lang="en-US" dirty="0">
                <a:solidFill>
                  <a:srgbClr val="002060"/>
                </a:solidFill>
                <a:effectLst>
                  <a:outerShdw blurRad="38100" dist="38100" dir="2700000" algn="tl">
                    <a:srgbClr val="000000">
                      <a:alpha val="43137"/>
                    </a:srgbClr>
                  </a:outerShdw>
                </a:effectLst>
              </a:rPr>
              <a:t>, but it does </a:t>
            </a:r>
            <a:r>
              <a:rPr lang="en-US" b="1" dirty="0">
                <a:solidFill>
                  <a:srgbClr val="002060"/>
                </a:solidFill>
                <a:effectLst>
                  <a:outerShdw blurRad="38100" dist="38100" dir="2700000" algn="tl">
                    <a:srgbClr val="000000">
                      <a:alpha val="43137"/>
                    </a:srgbClr>
                  </a:outerShdw>
                </a:effectLst>
              </a:rPr>
              <a:t>not drive taxi companies out of the market</a:t>
            </a:r>
            <a:r>
              <a:rPr lang="en-US" dirty="0">
                <a:solidFill>
                  <a:srgbClr val="002060"/>
                </a:solidFill>
                <a:effectLst>
                  <a:outerShdw blurRad="38100" dist="38100" dir="2700000" algn="tl">
                    <a:srgbClr val="000000">
                      <a:alpha val="43137"/>
                    </a:srgbClr>
                  </a:outerShdw>
                </a:effectLst>
              </a:rPr>
              <a:t>.</a:t>
            </a:r>
          </a:p>
          <a:p>
            <a:r>
              <a:rPr lang="en-US" dirty="0">
                <a:solidFill>
                  <a:srgbClr val="002060"/>
                </a:solidFill>
                <a:effectLst>
                  <a:outerShdw blurRad="38100" dist="38100" dir="2700000" algn="tl">
                    <a:srgbClr val="000000">
                      <a:alpha val="43137"/>
                    </a:srgbClr>
                  </a:outerShdw>
                </a:effectLst>
              </a:rPr>
              <a:t>It offers an </a:t>
            </a:r>
            <a:r>
              <a:rPr lang="en-US" b="1" dirty="0">
                <a:solidFill>
                  <a:srgbClr val="002060"/>
                </a:solidFill>
                <a:effectLst>
                  <a:outerShdw blurRad="38100" dist="38100" dir="2700000" algn="tl">
                    <a:srgbClr val="000000">
                      <a:alpha val="43137"/>
                    </a:srgbClr>
                  </a:outerShdw>
                </a:effectLst>
              </a:rPr>
              <a:t>innovative service model </a:t>
            </a:r>
            <a:r>
              <a:rPr lang="en-US" dirty="0">
                <a:solidFill>
                  <a:srgbClr val="002060"/>
                </a:solidFill>
                <a:effectLst>
                  <a:outerShdw blurRad="38100" dist="38100" dir="2700000" algn="tl">
                    <a:srgbClr val="000000">
                      <a:alpha val="43137"/>
                    </a:srgbClr>
                  </a:outerShdw>
                </a:effectLst>
              </a:rPr>
              <a:t>(cashless transactions, driver selection, price certainty, lower costs).</a:t>
            </a:r>
          </a:p>
          <a:p>
            <a:endParaRPr lang="en-US" dirty="0"/>
          </a:p>
        </p:txBody>
      </p:sp>
      <p:sp>
        <p:nvSpPr>
          <p:cNvPr id="4" name="Symbol zastępczy numeru slajdu 3">
            <a:extLst>
              <a:ext uri="{FF2B5EF4-FFF2-40B4-BE49-F238E27FC236}">
                <a16:creationId xmlns:a16="http://schemas.microsoft.com/office/drawing/2014/main" id="{19369828-94CD-6DE5-DD63-694396E37113}"/>
              </a:ext>
            </a:extLst>
          </p:cNvPr>
          <p:cNvSpPr>
            <a:spLocks noGrp="1"/>
          </p:cNvSpPr>
          <p:nvPr>
            <p:ph type="sldNum" sz="quarter" idx="12"/>
          </p:nvPr>
        </p:nvSpPr>
        <p:spPr/>
        <p:txBody>
          <a:bodyPr/>
          <a:lstStyle/>
          <a:p>
            <a:fld id="{31FE8408-9B39-4718-B64F-54F72D092B1B}" type="slidenum">
              <a:rPr lang="pl-PL" smtClean="0"/>
              <a:t>22</a:t>
            </a:fld>
            <a:endParaRPr lang="pl-PL" dirty="0"/>
          </a:p>
        </p:txBody>
      </p:sp>
    </p:spTree>
    <p:extLst>
      <p:ext uri="{BB962C8B-B14F-4D97-AF65-F5344CB8AC3E}">
        <p14:creationId xmlns:p14="http://schemas.microsoft.com/office/powerpoint/2010/main" val="24262365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A9E358D-94F9-A66B-15EC-AFA78CC0834F}"/>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a:t>
            </a:r>
            <a:r>
              <a:rPr lang="pl-PL" b="1" dirty="0">
                <a:solidFill>
                  <a:srgbClr val="FF0000"/>
                </a:solidFill>
                <a:effectLst>
                  <a:outerShdw blurRad="38100" dist="38100" dir="2700000" algn="tl">
                    <a:srgbClr val="000000">
                      <a:alpha val="43137"/>
                    </a:srgbClr>
                  </a:outerShdw>
                </a:effectLst>
              </a:rPr>
              <a:t>EU </a:t>
            </a:r>
            <a:r>
              <a:rPr lang="pl-PL" b="1" dirty="0" err="1">
                <a:solidFill>
                  <a:srgbClr val="FF0000"/>
                </a:solidFill>
                <a:effectLst>
                  <a:outerShdw blurRad="38100" dist="38100" dir="2700000" algn="tl">
                    <a:srgbClr val="000000">
                      <a:alpha val="43137"/>
                    </a:srgbClr>
                  </a:outerShdw>
                </a:effectLst>
              </a:rPr>
              <a:t>directive</a:t>
            </a:r>
            <a:r>
              <a:rPr lang="pl-PL" b="1" dirty="0">
                <a:solidFill>
                  <a:srgbClr val="FF000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concerning</a:t>
            </a:r>
            <a:r>
              <a:rPr lang="pl-PL" dirty="0">
                <a:solidFill>
                  <a:srgbClr val="002060"/>
                </a:solidFill>
                <a:effectLst>
                  <a:outerShdw blurRad="38100" dist="38100" dir="2700000" algn="tl">
                    <a:srgbClr val="000000">
                      <a:alpha val="43137"/>
                    </a:srgbClr>
                  </a:outerShdw>
                </a:effectLst>
              </a:rPr>
              <a:t> the GIG </a:t>
            </a:r>
            <a:r>
              <a:rPr lang="pl-PL" dirty="0" err="1">
                <a:solidFill>
                  <a:srgbClr val="002060"/>
                </a:solidFill>
                <a:effectLst>
                  <a:outerShdw blurRad="38100" dist="38100" dir="2700000" algn="tl">
                    <a:srgbClr val="000000">
                      <a:alpha val="43137"/>
                    </a:srgbClr>
                  </a:outerShdw>
                </a:effectLst>
              </a:rPr>
              <a:t>economy</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ED50080F-97C8-C09E-E3CC-01259C35DD25}"/>
              </a:ext>
            </a:extLst>
          </p:cNvPr>
          <p:cNvSpPr>
            <a:spLocks noGrp="1"/>
          </p:cNvSpPr>
          <p:nvPr>
            <p:ph idx="1"/>
          </p:nvPr>
        </p:nvSpPr>
        <p:spPr/>
        <p:txBody>
          <a:bodyPr>
            <a:normAutofit fontScale="92500" lnSpcReduction="20000"/>
          </a:bodyPr>
          <a:lstStyle/>
          <a:p>
            <a:r>
              <a:rPr lang="pl-PL" dirty="0" err="1">
                <a:solidFill>
                  <a:srgbClr val="002060"/>
                </a:solidFill>
                <a:effectLst>
                  <a:outerShdw blurRad="38100" dist="38100" dir="2700000" algn="tl">
                    <a:srgbClr val="000000">
                      <a:alpha val="43137"/>
                    </a:srgbClr>
                  </a:outerShdw>
                </a:effectLst>
              </a:rPr>
              <a:t>See</a:t>
            </a:r>
            <a:r>
              <a:rPr lang="pl-PL"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DIRECTIVE (EU) 2024/2831 OF THE EUROPEAN PARLIAMENT AND OF THE COUNCIL of 23 October 2024 on </a:t>
            </a:r>
            <a:r>
              <a:rPr lang="en-US" b="1" dirty="0">
                <a:solidFill>
                  <a:srgbClr val="FF0000"/>
                </a:solidFill>
                <a:effectLst>
                  <a:outerShdw blurRad="38100" dist="38100" dir="2700000" algn="tl">
                    <a:srgbClr val="000000">
                      <a:alpha val="43137"/>
                    </a:srgbClr>
                  </a:outerShdw>
                </a:effectLst>
              </a:rPr>
              <a:t>improving working conditions in platform work</a:t>
            </a:r>
            <a:endParaRPr lang="pl-PL" b="1" dirty="0">
              <a:solidFill>
                <a:srgbClr val="FF0000"/>
              </a:solidFill>
              <a:effectLst>
                <a:outerShdw blurRad="38100" dist="38100" dir="2700000" algn="tl">
                  <a:srgbClr val="000000">
                    <a:alpha val="43137"/>
                  </a:srgbClr>
                </a:outerShdw>
              </a:effectLst>
            </a:endParaRPr>
          </a:p>
          <a:p>
            <a:r>
              <a:rPr lang="pl-PL" b="1" dirty="0">
                <a:solidFill>
                  <a:srgbClr val="002060"/>
                </a:solidFill>
                <a:effectLst>
                  <a:outerShdw blurRad="38100" dist="38100" dir="2700000" algn="tl">
                    <a:srgbClr val="000000">
                      <a:alpha val="43137"/>
                    </a:srgbClr>
                  </a:outerShdw>
                </a:effectLst>
              </a:rPr>
              <a:t>The </a:t>
            </a:r>
            <a:r>
              <a:rPr lang="pl-PL" b="1" dirty="0" err="1">
                <a:solidFill>
                  <a:srgbClr val="002060"/>
                </a:solidFill>
                <a:effectLst>
                  <a:outerShdw blurRad="38100" dist="38100" dir="2700000" algn="tl">
                    <a:srgbClr val="000000">
                      <a:alpha val="43137"/>
                    </a:srgbClr>
                  </a:outerShdw>
                </a:effectLst>
              </a:rPr>
              <a:t>directive</a:t>
            </a:r>
            <a:r>
              <a:rPr lang="pl-PL" b="1"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defines</a:t>
            </a:r>
            <a:r>
              <a:rPr lang="pl-PL" b="1" dirty="0">
                <a:solidFill>
                  <a:srgbClr val="002060"/>
                </a:solidFill>
                <a:effectLst>
                  <a:outerShdw blurRad="38100" dist="38100" dir="2700000" algn="tl">
                    <a:srgbClr val="000000">
                      <a:alpha val="43137"/>
                    </a:srgbClr>
                  </a:outerShdw>
                </a:effectLst>
              </a:rPr>
              <a:t> </a:t>
            </a:r>
            <a:r>
              <a:rPr lang="pl-PL" dirty="0">
                <a:solidFill>
                  <a:srgbClr val="002060"/>
                </a:solidFill>
                <a:effectLst>
                  <a:outerShdw blurRad="38100" dist="38100" dir="2700000" algn="tl">
                    <a:srgbClr val="000000">
                      <a:alpha val="43137"/>
                    </a:srgbClr>
                  </a:outerShdw>
                </a:effectLst>
              </a:rPr>
              <a:t>a </a:t>
            </a:r>
            <a:r>
              <a:rPr lang="en-US" dirty="0">
                <a:solidFill>
                  <a:srgbClr val="002060"/>
                </a:solidFill>
                <a:effectLst>
                  <a:outerShdw blurRad="38100" dist="38100" dir="2700000" algn="tl">
                    <a:srgbClr val="000000">
                      <a:alpha val="43137"/>
                    </a:srgbClr>
                  </a:outerShdw>
                </a:effectLst>
              </a:rPr>
              <a:t>‘</a:t>
            </a:r>
            <a:r>
              <a:rPr lang="en-US" dirty="0">
                <a:solidFill>
                  <a:srgbClr val="FF0000"/>
                </a:solidFill>
                <a:effectLst>
                  <a:outerShdw blurRad="38100" dist="38100" dir="2700000" algn="tl">
                    <a:srgbClr val="000000">
                      <a:alpha val="43137"/>
                    </a:srgbClr>
                  </a:outerShdw>
                </a:effectLst>
                <a:highlight>
                  <a:srgbClr val="00FF00"/>
                </a:highlight>
                <a:latin typeface="Arial Black" panose="020B0A04020102020204" pitchFamily="34" charset="0"/>
              </a:rPr>
              <a:t>digital </a:t>
            </a:r>
            <a:r>
              <a:rPr lang="en-US" dirty="0" err="1">
                <a:solidFill>
                  <a:srgbClr val="FF0000"/>
                </a:solidFill>
                <a:effectLst>
                  <a:outerShdw blurRad="38100" dist="38100" dir="2700000" algn="tl">
                    <a:srgbClr val="000000">
                      <a:alpha val="43137"/>
                    </a:srgbClr>
                  </a:outerShdw>
                </a:effectLst>
                <a:highlight>
                  <a:srgbClr val="00FF00"/>
                </a:highlight>
                <a:latin typeface="Arial Black" panose="020B0A04020102020204" pitchFamily="34" charset="0"/>
              </a:rPr>
              <a:t>labo</a:t>
            </a:r>
            <a:r>
              <a:rPr lang="pl-PL" dirty="0">
                <a:solidFill>
                  <a:srgbClr val="FF0000"/>
                </a:solidFill>
                <a:effectLst>
                  <a:outerShdw blurRad="38100" dist="38100" dir="2700000" algn="tl">
                    <a:srgbClr val="000000">
                      <a:alpha val="43137"/>
                    </a:srgbClr>
                  </a:outerShdw>
                </a:effectLst>
                <a:highlight>
                  <a:srgbClr val="00FF00"/>
                </a:highlight>
                <a:latin typeface="Arial Black" panose="020B0A04020102020204" pitchFamily="34" charset="0"/>
              </a:rPr>
              <a:t>u</a:t>
            </a:r>
            <a:r>
              <a:rPr lang="en-US" dirty="0">
                <a:solidFill>
                  <a:srgbClr val="FF0000"/>
                </a:solidFill>
                <a:effectLst>
                  <a:outerShdw blurRad="38100" dist="38100" dir="2700000" algn="tl">
                    <a:srgbClr val="000000">
                      <a:alpha val="43137"/>
                    </a:srgbClr>
                  </a:outerShdw>
                </a:effectLst>
                <a:highlight>
                  <a:srgbClr val="00FF00"/>
                </a:highlight>
                <a:latin typeface="Arial Black" panose="020B0A04020102020204" pitchFamily="34" charset="0"/>
              </a:rPr>
              <a:t>r platform</a:t>
            </a:r>
            <a:r>
              <a:rPr lang="en-US" dirty="0">
                <a:solidFill>
                  <a:srgbClr val="002060"/>
                </a:solidFill>
                <a:effectLst>
                  <a:outerShdw blurRad="38100" dist="38100" dir="2700000" algn="tl">
                    <a:srgbClr val="000000">
                      <a:alpha val="43137"/>
                    </a:srgbClr>
                  </a:outerShdw>
                </a:effectLst>
              </a:rPr>
              <a:t>’  </a:t>
            </a:r>
            <a:r>
              <a:rPr lang="en-US" b="1" dirty="0">
                <a:solidFill>
                  <a:srgbClr val="0070C0"/>
                </a:solidFill>
                <a:effectLst>
                  <a:outerShdw blurRad="38100" dist="38100" dir="2700000" algn="tl">
                    <a:srgbClr val="000000">
                      <a:alpha val="43137"/>
                    </a:srgbClr>
                  </a:outerShdw>
                </a:effectLst>
              </a:rPr>
              <a:t>a natural or legal person </a:t>
            </a:r>
            <a:r>
              <a:rPr lang="en-US" dirty="0">
                <a:solidFill>
                  <a:srgbClr val="002060"/>
                </a:solidFill>
                <a:effectLst>
                  <a:outerShdw blurRad="38100" dist="38100" dir="2700000" algn="tl">
                    <a:srgbClr val="000000">
                      <a:alpha val="43137"/>
                    </a:srgbClr>
                  </a:outerShdw>
                </a:effectLst>
              </a:rPr>
              <a:t>providing a </a:t>
            </a:r>
            <a:r>
              <a:rPr lang="en-US" b="1" dirty="0">
                <a:solidFill>
                  <a:srgbClr val="FF0000"/>
                </a:solidFill>
                <a:effectLst>
                  <a:outerShdw blurRad="38100" dist="38100" dir="2700000" algn="tl">
                    <a:srgbClr val="000000">
                      <a:alpha val="43137"/>
                    </a:srgbClr>
                  </a:outerShdw>
                </a:effectLst>
              </a:rPr>
              <a:t>service</a:t>
            </a:r>
            <a:r>
              <a:rPr lang="en-US" dirty="0">
                <a:solidFill>
                  <a:srgbClr val="002060"/>
                </a:solidFill>
                <a:effectLst>
                  <a:outerShdw blurRad="38100" dist="38100" dir="2700000" algn="tl">
                    <a:srgbClr val="000000">
                      <a:alpha val="43137"/>
                    </a:srgbClr>
                  </a:outerShdw>
                </a:effectLst>
              </a:rPr>
              <a:t> which meets all of the following requirements: (</a:t>
            </a:r>
            <a:r>
              <a:rPr lang="en-US" dirty="0" err="1">
                <a:solidFill>
                  <a:srgbClr val="002060"/>
                </a:solidFill>
                <a:effectLst>
                  <a:outerShdw blurRad="38100" dist="38100" dir="2700000" algn="tl">
                    <a:srgbClr val="000000">
                      <a:alpha val="43137"/>
                    </a:srgbClr>
                  </a:outerShdw>
                </a:effectLst>
              </a:rPr>
              <a:t>i</a:t>
            </a:r>
            <a:r>
              <a:rPr lang="en-US" dirty="0">
                <a:solidFill>
                  <a:srgbClr val="002060"/>
                </a:solidFill>
                <a:effectLst>
                  <a:outerShdw blurRad="38100" dist="38100" dir="2700000" algn="tl">
                    <a:srgbClr val="000000">
                      <a:alpha val="43137"/>
                    </a:srgbClr>
                  </a:outerShdw>
                </a:effectLst>
              </a:rPr>
              <a:t>) it is provided, at least </a:t>
            </a:r>
            <a:r>
              <a:rPr lang="en-US" b="1" dirty="0">
                <a:solidFill>
                  <a:srgbClr val="002060"/>
                </a:solidFill>
                <a:effectLst>
                  <a:outerShdw blurRad="38100" dist="38100" dir="2700000" algn="tl">
                    <a:srgbClr val="000000">
                      <a:alpha val="43137"/>
                    </a:srgbClr>
                  </a:outerShdw>
                </a:effectLst>
              </a:rPr>
              <a:t>in part, </a:t>
            </a:r>
            <a:r>
              <a:rPr lang="en-US" b="1" dirty="0">
                <a:solidFill>
                  <a:srgbClr val="FF0000"/>
                </a:solidFill>
                <a:effectLst>
                  <a:outerShdw blurRad="38100" dist="38100" dir="2700000" algn="tl">
                    <a:srgbClr val="000000">
                      <a:alpha val="43137"/>
                    </a:srgbClr>
                  </a:outerShdw>
                </a:effectLst>
              </a:rPr>
              <a:t>at a distance by electronic means</a:t>
            </a:r>
            <a:r>
              <a:rPr lang="en-US" dirty="0">
                <a:solidFill>
                  <a:srgbClr val="002060"/>
                </a:solidFill>
                <a:effectLst>
                  <a:outerShdw blurRad="38100" dist="38100" dir="2700000" algn="tl">
                    <a:srgbClr val="000000">
                      <a:alpha val="43137"/>
                    </a:srgbClr>
                  </a:outerShdw>
                </a:effectLst>
              </a:rPr>
              <a:t>, such as by means of a </a:t>
            </a:r>
            <a:r>
              <a:rPr lang="en-US" b="1" dirty="0">
                <a:solidFill>
                  <a:srgbClr val="002060"/>
                </a:solidFill>
                <a:effectLst>
                  <a:outerShdw blurRad="38100" dist="38100" dir="2700000" algn="tl">
                    <a:srgbClr val="000000">
                      <a:alpha val="43137"/>
                    </a:srgbClr>
                  </a:outerShdw>
                </a:effectLst>
              </a:rPr>
              <a:t>website or a mobile application</a:t>
            </a:r>
            <a:r>
              <a:rPr lang="en-US" dirty="0">
                <a:solidFill>
                  <a:srgbClr val="002060"/>
                </a:solidFill>
                <a:effectLst>
                  <a:outerShdw blurRad="38100" dist="38100" dir="2700000" algn="tl">
                    <a:srgbClr val="000000">
                      <a:alpha val="43137"/>
                    </a:srgbClr>
                  </a:outerShdw>
                </a:effectLst>
              </a:rPr>
              <a:t>;</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 (ii) it is provided </a:t>
            </a:r>
            <a:r>
              <a:rPr lang="en-US" b="1" dirty="0">
                <a:solidFill>
                  <a:srgbClr val="FF0000"/>
                </a:solidFill>
                <a:effectLst>
                  <a:outerShdw blurRad="38100" dist="38100" dir="2700000" algn="tl">
                    <a:srgbClr val="000000">
                      <a:alpha val="43137"/>
                    </a:srgbClr>
                  </a:outerShdw>
                </a:effectLst>
              </a:rPr>
              <a:t>at the request </a:t>
            </a:r>
            <a:r>
              <a:rPr lang="en-US" dirty="0">
                <a:solidFill>
                  <a:srgbClr val="002060"/>
                </a:solidFill>
                <a:effectLst>
                  <a:outerShdw blurRad="38100" dist="38100" dir="2700000" algn="tl">
                    <a:srgbClr val="000000">
                      <a:alpha val="43137"/>
                    </a:srgbClr>
                  </a:outerShdw>
                </a:effectLst>
              </a:rPr>
              <a:t>of a recipient of the service;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(iii) it involves, as a necessary and essential component, the </a:t>
            </a:r>
            <a:r>
              <a:rPr lang="en-US" b="1" dirty="0" err="1">
                <a:solidFill>
                  <a:srgbClr val="FF0000"/>
                </a:solidFill>
                <a:effectLst>
                  <a:outerShdw blurRad="38100" dist="38100" dir="2700000" algn="tl">
                    <a:srgbClr val="000000">
                      <a:alpha val="43137"/>
                    </a:srgbClr>
                  </a:outerShdw>
                </a:effectLst>
              </a:rPr>
              <a:t>organisation</a:t>
            </a:r>
            <a:r>
              <a:rPr lang="en-US" b="1" dirty="0">
                <a:solidFill>
                  <a:srgbClr val="FF0000"/>
                </a:solidFill>
                <a:effectLst>
                  <a:outerShdw blurRad="38100" dist="38100" dir="2700000" algn="tl">
                    <a:srgbClr val="000000">
                      <a:alpha val="43137"/>
                    </a:srgbClr>
                  </a:outerShdw>
                </a:effectLst>
              </a:rPr>
              <a:t> of work </a:t>
            </a:r>
            <a:r>
              <a:rPr lang="en-US" dirty="0">
                <a:solidFill>
                  <a:srgbClr val="002060"/>
                </a:solidFill>
                <a:effectLst>
                  <a:outerShdw blurRad="38100" dist="38100" dir="2700000" algn="tl">
                    <a:srgbClr val="000000">
                      <a:alpha val="43137"/>
                    </a:srgbClr>
                  </a:outerShdw>
                </a:effectLst>
              </a:rPr>
              <a:t>performed by individuals </a:t>
            </a:r>
            <a:r>
              <a:rPr lang="en-US" b="1" dirty="0">
                <a:solidFill>
                  <a:srgbClr val="002060"/>
                </a:solidFill>
                <a:effectLst>
                  <a:outerShdw blurRad="38100" dist="38100" dir="2700000" algn="tl">
                    <a:srgbClr val="000000">
                      <a:alpha val="43137"/>
                    </a:srgbClr>
                  </a:outerShdw>
                </a:effectLst>
              </a:rPr>
              <a:t>in return for payment</a:t>
            </a:r>
            <a:r>
              <a:rPr lang="en-US" dirty="0">
                <a:solidFill>
                  <a:srgbClr val="002060"/>
                </a:solidFill>
                <a:effectLst>
                  <a:outerShdw blurRad="38100" dist="38100" dir="2700000" algn="tl">
                    <a:srgbClr val="000000">
                      <a:alpha val="43137"/>
                    </a:srgbClr>
                  </a:outerShdw>
                </a:effectLst>
              </a:rPr>
              <a:t>, </a:t>
            </a:r>
            <a:r>
              <a:rPr lang="en-US" b="1" dirty="0">
                <a:solidFill>
                  <a:srgbClr val="0070C0"/>
                </a:solidFill>
                <a:effectLst>
                  <a:outerShdw blurRad="38100" dist="38100" dir="2700000" algn="tl">
                    <a:srgbClr val="000000">
                      <a:alpha val="43137"/>
                    </a:srgbClr>
                  </a:outerShdw>
                </a:effectLst>
              </a:rPr>
              <a:t>irrespective of whether that work is performed online or in a certain location</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(iv) it involves the use of </a:t>
            </a:r>
            <a:r>
              <a:rPr lang="en-US" b="1" dirty="0">
                <a:solidFill>
                  <a:srgbClr val="FF0000"/>
                </a:solidFill>
                <a:effectLst>
                  <a:outerShdw blurRad="38100" dist="38100" dir="2700000" algn="tl">
                    <a:srgbClr val="000000">
                      <a:alpha val="43137"/>
                    </a:srgbClr>
                  </a:outerShdw>
                </a:effectLst>
              </a:rPr>
              <a:t>automated monitoring systems </a:t>
            </a:r>
            <a:r>
              <a:rPr lang="en-US" dirty="0">
                <a:solidFill>
                  <a:srgbClr val="002060"/>
                </a:solidFill>
                <a:effectLst>
                  <a:outerShdw blurRad="38100" dist="38100" dir="2700000" algn="tl">
                    <a:srgbClr val="000000">
                      <a:alpha val="43137"/>
                    </a:srgbClr>
                  </a:outerShdw>
                </a:effectLst>
              </a:rPr>
              <a:t>or automated decision-making systems;</a:t>
            </a:r>
          </a:p>
        </p:txBody>
      </p:sp>
      <p:sp>
        <p:nvSpPr>
          <p:cNvPr id="4" name="Symbol zastępczy numeru slajdu 3">
            <a:extLst>
              <a:ext uri="{FF2B5EF4-FFF2-40B4-BE49-F238E27FC236}">
                <a16:creationId xmlns:a16="http://schemas.microsoft.com/office/drawing/2014/main" id="{5CC1B7BA-7824-5F44-AC47-9D753633C713}"/>
              </a:ext>
            </a:extLst>
          </p:cNvPr>
          <p:cNvSpPr>
            <a:spLocks noGrp="1"/>
          </p:cNvSpPr>
          <p:nvPr>
            <p:ph type="sldNum" sz="quarter" idx="12"/>
          </p:nvPr>
        </p:nvSpPr>
        <p:spPr/>
        <p:txBody>
          <a:bodyPr/>
          <a:lstStyle/>
          <a:p>
            <a:fld id="{31FE8408-9B39-4718-B64F-54F72D092B1B}" type="slidenum">
              <a:rPr lang="pl-PL" smtClean="0"/>
              <a:t>23</a:t>
            </a:fld>
            <a:endParaRPr lang="pl-PL" dirty="0"/>
          </a:p>
        </p:txBody>
      </p:sp>
    </p:spTree>
    <p:extLst>
      <p:ext uri="{BB962C8B-B14F-4D97-AF65-F5344CB8AC3E}">
        <p14:creationId xmlns:p14="http://schemas.microsoft.com/office/powerpoint/2010/main" val="20562251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A62EF90-AA7C-83E7-B555-AFEFAA04F272}"/>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a:t>
            </a:r>
            <a:r>
              <a:rPr lang="pl-PL" b="1" dirty="0">
                <a:solidFill>
                  <a:srgbClr val="FF0000"/>
                </a:solidFill>
                <a:effectLst>
                  <a:outerShdw blurRad="38100" dist="38100" dir="2700000" algn="tl">
                    <a:srgbClr val="000000">
                      <a:alpha val="43137"/>
                    </a:srgbClr>
                  </a:outerShdw>
                </a:effectLst>
              </a:rPr>
              <a:t>EU </a:t>
            </a:r>
            <a:r>
              <a:rPr lang="pl-PL" b="1" dirty="0" err="1">
                <a:solidFill>
                  <a:srgbClr val="FF0000"/>
                </a:solidFill>
                <a:effectLst>
                  <a:outerShdw blurRad="38100" dist="38100" dir="2700000" algn="tl">
                    <a:srgbClr val="000000">
                      <a:alpha val="43137"/>
                    </a:srgbClr>
                  </a:outerShdw>
                </a:effectLst>
              </a:rPr>
              <a:t>directive</a:t>
            </a:r>
            <a:r>
              <a:rPr lang="pl-PL" b="1" dirty="0">
                <a:solidFill>
                  <a:srgbClr val="FF000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concerning</a:t>
            </a:r>
            <a:r>
              <a:rPr lang="pl-PL" dirty="0">
                <a:solidFill>
                  <a:srgbClr val="002060"/>
                </a:solidFill>
                <a:effectLst>
                  <a:outerShdw blurRad="38100" dist="38100" dir="2700000" algn="tl">
                    <a:srgbClr val="000000">
                      <a:alpha val="43137"/>
                    </a:srgbClr>
                  </a:outerShdw>
                </a:effectLst>
              </a:rPr>
              <a:t> the GIG </a:t>
            </a:r>
            <a:r>
              <a:rPr lang="pl-PL" dirty="0" err="1">
                <a:solidFill>
                  <a:srgbClr val="002060"/>
                </a:solidFill>
                <a:effectLst>
                  <a:outerShdw blurRad="38100" dist="38100" dir="2700000" algn="tl">
                    <a:srgbClr val="000000">
                      <a:alpha val="43137"/>
                    </a:srgbClr>
                  </a:outerShdw>
                </a:effectLst>
              </a:rPr>
              <a:t>economy</a:t>
            </a:r>
            <a:endParaRPr lang="en-US" dirty="0"/>
          </a:p>
        </p:txBody>
      </p:sp>
      <p:sp>
        <p:nvSpPr>
          <p:cNvPr id="3" name="Symbol zastępczy zawartości 2">
            <a:extLst>
              <a:ext uri="{FF2B5EF4-FFF2-40B4-BE49-F238E27FC236}">
                <a16:creationId xmlns:a16="http://schemas.microsoft.com/office/drawing/2014/main" id="{DADC7F9A-3B2E-2A78-49E6-B9AD3AC7B0C8}"/>
              </a:ext>
            </a:extLst>
          </p:cNvPr>
          <p:cNvSpPr>
            <a:spLocks noGrp="1"/>
          </p:cNvSpPr>
          <p:nvPr>
            <p:ph idx="1"/>
          </p:nvPr>
        </p:nvSpPr>
        <p:spPr/>
        <p:txBody>
          <a:bodyPr/>
          <a:lstStyle/>
          <a:p>
            <a:r>
              <a:rPr lang="en-US" dirty="0"/>
              <a:t>‘</a:t>
            </a:r>
            <a:r>
              <a:rPr lang="pl-PL" b="1" dirty="0">
                <a:solidFill>
                  <a:srgbClr val="FF0000"/>
                </a:solidFill>
                <a:effectLst>
                  <a:outerShdw blurRad="38100" dist="38100" dir="2700000" algn="tl">
                    <a:srgbClr val="000000">
                      <a:alpha val="43137"/>
                    </a:srgbClr>
                  </a:outerShdw>
                </a:effectLst>
                <a:highlight>
                  <a:srgbClr val="00FF00"/>
                </a:highlight>
              </a:rPr>
              <a:t>P</a:t>
            </a:r>
            <a:r>
              <a:rPr lang="en-US" b="1" dirty="0" err="1">
                <a:solidFill>
                  <a:srgbClr val="FF0000"/>
                </a:solidFill>
                <a:effectLst>
                  <a:outerShdw blurRad="38100" dist="38100" dir="2700000" algn="tl">
                    <a:srgbClr val="000000">
                      <a:alpha val="43137"/>
                    </a:srgbClr>
                  </a:outerShdw>
                </a:effectLst>
                <a:highlight>
                  <a:srgbClr val="00FF00"/>
                </a:highlight>
              </a:rPr>
              <a:t>latform</a:t>
            </a:r>
            <a:r>
              <a:rPr lang="en-US" b="1" dirty="0">
                <a:solidFill>
                  <a:srgbClr val="FF0000"/>
                </a:solidFill>
                <a:effectLst>
                  <a:outerShdw blurRad="38100" dist="38100" dir="2700000" algn="tl">
                    <a:srgbClr val="000000">
                      <a:alpha val="43137"/>
                    </a:srgbClr>
                  </a:outerShdw>
                </a:effectLst>
                <a:highlight>
                  <a:srgbClr val="00FF00"/>
                </a:highlight>
              </a:rPr>
              <a:t> work</a:t>
            </a:r>
            <a:r>
              <a:rPr lang="en-US" dirty="0">
                <a:solidFill>
                  <a:srgbClr val="002060"/>
                </a:solidFill>
                <a:effectLst>
                  <a:outerShdw blurRad="38100" dist="38100" dir="2700000" algn="tl">
                    <a:srgbClr val="000000">
                      <a:alpha val="43137"/>
                    </a:srgbClr>
                  </a:outerShdw>
                </a:effectLst>
              </a:rPr>
              <a:t>’ means work </a:t>
            </a:r>
            <a:r>
              <a:rPr lang="en-US" b="1" dirty="0" err="1">
                <a:solidFill>
                  <a:srgbClr val="002060"/>
                </a:solidFill>
                <a:effectLst>
                  <a:outerShdw blurRad="38100" dist="38100" dir="2700000" algn="tl">
                    <a:srgbClr val="000000">
                      <a:alpha val="43137"/>
                    </a:srgbClr>
                  </a:outerShdw>
                </a:effectLst>
              </a:rPr>
              <a:t>organised</a:t>
            </a:r>
            <a:r>
              <a:rPr lang="en-US" b="1" dirty="0">
                <a:solidFill>
                  <a:srgbClr val="002060"/>
                </a:solidFill>
                <a:effectLst>
                  <a:outerShdw blurRad="38100" dist="38100" dir="2700000" algn="tl">
                    <a:srgbClr val="000000">
                      <a:alpha val="43137"/>
                    </a:srgbClr>
                  </a:outerShdw>
                </a:effectLst>
              </a:rPr>
              <a:t> through a digital </a:t>
            </a:r>
            <a:r>
              <a:rPr lang="en-US" b="1" dirty="0" err="1">
                <a:solidFill>
                  <a:srgbClr val="002060"/>
                </a:solidFill>
                <a:effectLst>
                  <a:outerShdw blurRad="38100" dist="38100" dir="2700000" algn="tl">
                    <a:srgbClr val="000000">
                      <a:alpha val="43137"/>
                    </a:srgbClr>
                  </a:outerShdw>
                </a:effectLst>
              </a:rPr>
              <a:t>labour</a:t>
            </a:r>
            <a:r>
              <a:rPr lang="en-US" b="1" dirty="0">
                <a:solidFill>
                  <a:srgbClr val="002060"/>
                </a:solidFill>
                <a:effectLst>
                  <a:outerShdw blurRad="38100" dist="38100" dir="2700000" algn="tl">
                    <a:srgbClr val="000000">
                      <a:alpha val="43137"/>
                    </a:srgbClr>
                  </a:outerShdw>
                </a:effectLst>
              </a:rPr>
              <a:t> platform</a:t>
            </a:r>
            <a:r>
              <a:rPr lang="en-US" dirty="0">
                <a:solidFill>
                  <a:srgbClr val="002060"/>
                </a:solidFill>
                <a:effectLst>
                  <a:outerShdw blurRad="38100" dist="38100" dir="2700000" algn="tl">
                    <a:srgbClr val="000000">
                      <a:alpha val="43137"/>
                    </a:srgbClr>
                  </a:outerShdw>
                </a:effectLst>
              </a:rPr>
              <a:t> and performed in the Union </a:t>
            </a:r>
            <a:r>
              <a:rPr lang="en-US" b="1" dirty="0">
                <a:solidFill>
                  <a:srgbClr val="002060"/>
                </a:solidFill>
                <a:effectLst>
                  <a:outerShdw blurRad="38100" dist="38100" dir="2700000" algn="tl">
                    <a:srgbClr val="000000">
                      <a:alpha val="43137"/>
                    </a:srgbClr>
                  </a:outerShdw>
                </a:effectLst>
              </a:rPr>
              <a:t>by an individual </a:t>
            </a:r>
            <a:r>
              <a:rPr lang="en-US" dirty="0">
                <a:solidFill>
                  <a:srgbClr val="002060"/>
                </a:solidFill>
                <a:effectLst>
                  <a:outerShdw blurRad="38100" dist="38100" dir="2700000" algn="tl">
                    <a:srgbClr val="000000">
                      <a:alpha val="43137"/>
                    </a:srgbClr>
                  </a:outerShdw>
                </a:effectLst>
              </a:rPr>
              <a:t>on the basis of a </a:t>
            </a:r>
            <a:r>
              <a:rPr lang="en-US" b="1" dirty="0">
                <a:solidFill>
                  <a:srgbClr val="002060"/>
                </a:solidFill>
                <a:effectLst>
                  <a:outerShdw blurRad="38100" dist="38100" dir="2700000" algn="tl">
                    <a:srgbClr val="000000">
                      <a:alpha val="43137"/>
                    </a:srgbClr>
                  </a:outerShdw>
                </a:effectLst>
              </a:rPr>
              <a:t>contractual relationship </a:t>
            </a:r>
            <a:r>
              <a:rPr lang="en-US" dirty="0">
                <a:solidFill>
                  <a:srgbClr val="002060"/>
                </a:solidFill>
                <a:effectLst>
                  <a:outerShdw blurRad="38100" dist="38100" dir="2700000" algn="tl">
                    <a:srgbClr val="000000">
                      <a:alpha val="43137"/>
                    </a:srgbClr>
                  </a:outerShdw>
                </a:effectLst>
              </a:rPr>
              <a:t>between the digital </a:t>
            </a:r>
            <a:r>
              <a:rPr lang="en-US" dirty="0" err="1">
                <a:solidFill>
                  <a:srgbClr val="002060"/>
                </a:solidFill>
                <a:effectLst>
                  <a:outerShdw blurRad="38100" dist="38100" dir="2700000" algn="tl">
                    <a:srgbClr val="000000">
                      <a:alpha val="43137"/>
                    </a:srgbClr>
                  </a:outerShdw>
                </a:effectLst>
              </a:rPr>
              <a:t>labour</a:t>
            </a:r>
            <a:r>
              <a:rPr lang="en-US" dirty="0">
                <a:solidFill>
                  <a:srgbClr val="002060"/>
                </a:solidFill>
                <a:effectLst>
                  <a:outerShdw blurRad="38100" dist="38100" dir="2700000" algn="tl">
                    <a:srgbClr val="000000">
                      <a:alpha val="43137"/>
                    </a:srgbClr>
                  </a:outerShdw>
                </a:effectLst>
              </a:rPr>
              <a:t> platform or an intermediary, and the individual, </a:t>
            </a:r>
            <a:r>
              <a:rPr lang="en-US" b="1" dirty="0">
                <a:solidFill>
                  <a:srgbClr val="FF0000"/>
                </a:solidFill>
                <a:effectLst>
                  <a:outerShdw blurRad="38100" dist="38100" dir="2700000" algn="tl">
                    <a:srgbClr val="000000">
                      <a:alpha val="43137"/>
                    </a:srgbClr>
                  </a:outerShdw>
                </a:effectLst>
              </a:rPr>
              <a:t>irrespective of </a:t>
            </a:r>
            <a:r>
              <a:rPr lang="en-US" b="1" dirty="0">
                <a:solidFill>
                  <a:srgbClr val="002060"/>
                </a:solidFill>
                <a:effectLst>
                  <a:outerShdw blurRad="38100" dist="38100" dir="2700000" algn="tl">
                    <a:srgbClr val="000000">
                      <a:alpha val="43137"/>
                    </a:srgbClr>
                  </a:outerShdw>
                </a:effectLst>
              </a:rPr>
              <a:t>whether there is a contractual relationship between </a:t>
            </a:r>
            <a:r>
              <a:rPr lang="en-US" dirty="0">
                <a:solidFill>
                  <a:srgbClr val="002060"/>
                </a:solidFill>
                <a:effectLst>
                  <a:outerShdw blurRad="38100" dist="38100" dir="2700000" algn="tl">
                    <a:srgbClr val="000000">
                      <a:alpha val="43137"/>
                    </a:srgbClr>
                  </a:outerShdw>
                </a:effectLst>
              </a:rPr>
              <a:t>the individual or an intermediary and </a:t>
            </a:r>
            <a:r>
              <a:rPr lang="en-US" b="1" dirty="0">
                <a:solidFill>
                  <a:srgbClr val="002060"/>
                </a:solidFill>
                <a:effectLst>
                  <a:outerShdw blurRad="38100" dist="38100" dir="2700000" algn="tl">
                    <a:srgbClr val="000000">
                      <a:alpha val="43137"/>
                    </a:srgbClr>
                  </a:outerShdw>
                </a:effectLst>
              </a:rPr>
              <a:t>the recipien</a:t>
            </a:r>
            <a:r>
              <a:rPr lang="en-US" dirty="0">
                <a:solidFill>
                  <a:srgbClr val="002060"/>
                </a:solidFill>
                <a:effectLst>
                  <a:outerShdw blurRad="38100" dist="38100" dir="2700000" algn="tl">
                    <a:srgbClr val="000000">
                      <a:alpha val="43137"/>
                    </a:srgbClr>
                  </a:outerShdw>
                </a:effectLst>
              </a:rPr>
              <a:t>t of the service</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a:t>
            </a:r>
            <a:r>
              <a:rPr lang="pl-PL" b="1" dirty="0">
                <a:solidFill>
                  <a:srgbClr val="FF0000"/>
                </a:solidFill>
                <a:effectLst>
                  <a:outerShdw blurRad="38100" dist="38100" dir="2700000" algn="tl">
                    <a:srgbClr val="000000">
                      <a:alpha val="43137"/>
                    </a:srgbClr>
                  </a:outerShdw>
                </a:effectLst>
                <a:highlight>
                  <a:srgbClr val="00FF00"/>
                </a:highlight>
              </a:rPr>
              <a:t>P</a:t>
            </a:r>
            <a:r>
              <a:rPr lang="en-US" b="1" dirty="0" err="1">
                <a:solidFill>
                  <a:srgbClr val="FF0000"/>
                </a:solidFill>
                <a:effectLst>
                  <a:outerShdw blurRad="38100" dist="38100" dir="2700000" algn="tl">
                    <a:srgbClr val="000000">
                      <a:alpha val="43137"/>
                    </a:srgbClr>
                  </a:outerShdw>
                </a:effectLst>
                <a:highlight>
                  <a:srgbClr val="00FF00"/>
                </a:highlight>
              </a:rPr>
              <a:t>erson</a:t>
            </a:r>
            <a:r>
              <a:rPr lang="en-US" b="1" dirty="0">
                <a:solidFill>
                  <a:srgbClr val="FF0000"/>
                </a:solidFill>
                <a:effectLst>
                  <a:outerShdw blurRad="38100" dist="38100" dir="2700000" algn="tl">
                    <a:srgbClr val="000000">
                      <a:alpha val="43137"/>
                    </a:srgbClr>
                  </a:outerShdw>
                </a:effectLst>
                <a:highlight>
                  <a:srgbClr val="00FF00"/>
                </a:highlight>
              </a:rPr>
              <a:t> performing platform work</a:t>
            </a:r>
            <a:r>
              <a:rPr lang="en-US" dirty="0">
                <a:solidFill>
                  <a:srgbClr val="002060"/>
                </a:solidFill>
                <a:effectLst>
                  <a:outerShdw blurRad="38100" dist="38100" dir="2700000" algn="tl">
                    <a:srgbClr val="000000">
                      <a:alpha val="43137"/>
                    </a:srgbClr>
                  </a:outerShdw>
                </a:effectLst>
              </a:rPr>
              <a:t>’ means an individual performing platform work, </a:t>
            </a:r>
            <a:r>
              <a:rPr lang="en-US" b="1" dirty="0">
                <a:solidFill>
                  <a:srgbClr val="002060"/>
                </a:solidFill>
                <a:effectLst>
                  <a:outerShdw blurRad="38100" dist="38100" dir="2700000" algn="tl">
                    <a:srgbClr val="000000">
                      <a:alpha val="43137"/>
                    </a:srgbClr>
                  </a:outerShdw>
                </a:effectLst>
              </a:rPr>
              <a:t>irrespective of the nature of the contractual </a:t>
            </a:r>
            <a:r>
              <a:rPr lang="en-US" dirty="0">
                <a:solidFill>
                  <a:srgbClr val="002060"/>
                </a:solidFill>
                <a:effectLst>
                  <a:outerShdw blurRad="38100" dist="38100" dir="2700000" algn="tl">
                    <a:srgbClr val="000000">
                      <a:alpha val="43137"/>
                    </a:srgbClr>
                  </a:outerShdw>
                </a:effectLst>
              </a:rPr>
              <a:t>relationship or </a:t>
            </a:r>
            <a:r>
              <a:rPr lang="en-US" b="1" dirty="0">
                <a:solidFill>
                  <a:srgbClr val="002060"/>
                </a:solidFill>
                <a:effectLst>
                  <a:outerShdw blurRad="38100" dist="38100" dir="2700000" algn="tl">
                    <a:srgbClr val="000000">
                      <a:alpha val="43137"/>
                    </a:srgbClr>
                  </a:outerShdw>
                </a:effectLst>
              </a:rPr>
              <a:t>the designation </a:t>
            </a:r>
            <a:r>
              <a:rPr lang="en-US" dirty="0">
                <a:solidFill>
                  <a:srgbClr val="002060"/>
                </a:solidFill>
                <a:effectLst>
                  <a:outerShdw blurRad="38100" dist="38100" dir="2700000" algn="tl">
                    <a:srgbClr val="000000">
                      <a:alpha val="43137"/>
                    </a:srgbClr>
                  </a:outerShdw>
                </a:effectLst>
              </a:rPr>
              <a:t>of that relationship by the parties involved;</a:t>
            </a:r>
          </a:p>
        </p:txBody>
      </p:sp>
      <p:sp>
        <p:nvSpPr>
          <p:cNvPr id="4" name="Symbol zastępczy numeru slajdu 3">
            <a:extLst>
              <a:ext uri="{FF2B5EF4-FFF2-40B4-BE49-F238E27FC236}">
                <a16:creationId xmlns:a16="http://schemas.microsoft.com/office/drawing/2014/main" id="{6EB1488E-268C-9CB9-51D1-98F28B99843F}"/>
              </a:ext>
            </a:extLst>
          </p:cNvPr>
          <p:cNvSpPr>
            <a:spLocks noGrp="1"/>
          </p:cNvSpPr>
          <p:nvPr>
            <p:ph type="sldNum" sz="quarter" idx="12"/>
          </p:nvPr>
        </p:nvSpPr>
        <p:spPr/>
        <p:txBody>
          <a:bodyPr/>
          <a:lstStyle/>
          <a:p>
            <a:fld id="{31FE8408-9B39-4718-B64F-54F72D092B1B}" type="slidenum">
              <a:rPr lang="pl-PL" smtClean="0"/>
              <a:t>24</a:t>
            </a:fld>
            <a:endParaRPr lang="pl-PL" dirty="0"/>
          </a:p>
        </p:txBody>
      </p:sp>
    </p:spTree>
    <p:extLst>
      <p:ext uri="{BB962C8B-B14F-4D97-AF65-F5344CB8AC3E}">
        <p14:creationId xmlns:p14="http://schemas.microsoft.com/office/powerpoint/2010/main" val="20434133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7DB8315-6162-F2BB-AEAC-EAD447FDFE6E}"/>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a:t>
            </a:r>
            <a:r>
              <a:rPr lang="pl-PL" b="1" dirty="0">
                <a:solidFill>
                  <a:srgbClr val="FF0000"/>
                </a:solidFill>
                <a:effectLst>
                  <a:outerShdw blurRad="38100" dist="38100" dir="2700000" algn="tl">
                    <a:srgbClr val="000000">
                      <a:alpha val="43137"/>
                    </a:srgbClr>
                  </a:outerShdw>
                </a:effectLst>
              </a:rPr>
              <a:t>EU </a:t>
            </a:r>
            <a:r>
              <a:rPr lang="pl-PL" b="1" dirty="0" err="1">
                <a:solidFill>
                  <a:srgbClr val="FF0000"/>
                </a:solidFill>
                <a:effectLst>
                  <a:outerShdw blurRad="38100" dist="38100" dir="2700000" algn="tl">
                    <a:srgbClr val="000000">
                      <a:alpha val="43137"/>
                    </a:srgbClr>
                  </a:outerShdw>
                </a:effectLst>
              </a:rPr>
              <a:t>directive</a:t>
            </a:r>
            <a:r>
              <a:rPr lang="pl-PL" b="1" dirty="0">
                <a:solidFill>
                  <a:srgbClr val="FF000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concerning</a:t>
            </a:r>
            <a:r>
              <a:rPr lang="pl-PL" dirty="0">
                <a:solidFill>
                  <a:srgbClr val="002060"/>
                </a:solidFill>
                <a:effectLst>
                  <a:outerShdw blurRad="38100" dist="38100" dir="2700000" algn="tl">
                    <a:srgbClr val="000000">
                      <a:alpha val="43137"/>
                    </a:srgbClr>
                  </a:outerShdw>
                </a:effectLst>
              </a:rPr>
              <a:t> the GIG </a:t>
            </a:r>
            <a:r>
              <a:rPr lang="pl-PL" dirty="0" err="1">
                <a:solidFill>
                  <a:srgbClr val="002060"/>
                </a:solidFill>
                <a:effectLst>
                  <a:outerShdw blurRad="38100" dist="38100" dir="2700000" algn="tl">
                    <a:srgbClr val="000000">
                      <a:alpha val="43137"/>
                    </a:srgbClr>
                  </a:outerShdw>
                </a:effectLst>
              </a:rPr>
              <a:t>economy</a:t>
            </a:r>
            <a:endParaRPr lang="en-US" dirty="0"/>
          </a:p>
        </p:txBody>
      </p:sp>
      <p:sp>
        <p:nvSpPr>
          <p:cNvPr id="3" name="Symbol zastępczy zawartości 2">
            <a:extLst>
              <a:ext uri="{FF2B5EF4-FFF2-40B4-BE49-F238E27FC236}">
                <a16:creationId xmlns:a16="http://schemas.microsoft.com/office/drawing/2014/main" id="{91BD5C2F-B457-D7CA-3619-82AD3AD83D6D}"/>
              </a:ext>
            </a:extLst>
          </p:cNvPr>
          <p:cNvSpPr>
            <a:spLocks noGrp="1"/>
          </p:cNvSpPr>
          <p:nvPr>
            <p:ph idx="1"/>
          </p:nvPr>
        </p:nvSpPr>
        <p:spPr/>
        <p:txBody>
          <a:bodyPr/>
          <a:lstStyle/>
          <a:p>
            <a:pPr marL="0" indent="0">
              <a:buNone/>
            </a:pPr>
            <a:r>
              <a:rPr lang="en-US" dirty="0">
                <a:solidFill>
                  <a:srgbClr val="002060"/>
                </a:solidFill>
                <a:effectLst>
                  <a:outerShdw blurRad="38100" dist="38100" dir="2700000" algn="tl">
                    <a:srgbClr val="000000">
                      <a:alpha val="43137"/>
                    </a:srgbClr>
                  </a:outerShdw>
                </a:effectLst>
              </a:rPr>
              <a:t>‘</a:t>
            </a:r>
            <a:r>
              <a:rPr lang="pl-PL" b="1" dirty="0">
                <a:solidFill>
                  <a:srgbClr val="FF0000"/>
                </a:solidFill>
                <a:effectLst>
                  <a:outerShdw blurRad="38100" dist="38100" dir="2700000" algn="tl">
                    <a:srgbClr val="000000">
                      <a:alpha val="43137"/>
                    </a:srgbClr>
                  </a:outerShdw>
                </a:effectLst>
                <a:highlight>
                  <a:srgbClr val="00FF00"/>
                </a:highlight>
              </a:rPr>
              <a:t>I</a:t>
            </a:r>
            <a:r>
              <a:rPr lang="en-US" b="1" dirty="0" err="1">
                <a:solidFill>
                  <a:srgbClr val="FF0000"/>
                </a:solidFill>
                <a:effectLst>
                  <a:outerShdw blurRad="38100" dist="38100" dir="2700000" algn="tl">
                    <a:srgbClr val="000000">
                      <a:alpha val="43137"/>
                    </a:srgbClr>
                  </a:outerShdw>
                </a:effectLst>
                <a:highlight>
                  <a:srgbClr val="00FF00"/>
                </a:highlight>
              </a:rPr>
              <a:t>ntermediary</a:t>
            </a:r>
            <a:r>
              <a:rPr lang="en-US" dirty="0">
                <a:solidFill>
                  <a:srgbClr val="002060"/>
                </a:solidFill>
                <a:effectLst>
                  <a:outerShdw blurRad="38100" dist="38100" dir="2700000" algn="tl">
                    <a:srgbClr val="000000">
                      <a:alpha val="43137"/>
                    </a:srgbClr>
                  </a:outerShdw>
                </a:effectLst>
              </a:rPr>
              <a:t>’ means a natural or legal person that, for the purpose of making </a:t>
            </a:r>
            <a:r>
              <a:rPr lang="en-US" b="1" dirty="0">
                <a:solidFill>
                  <a:srgbClr val="002060"/>
                </a:solidFill>
                <a:effectLst>
                  <a:outerShdw blurRad="38100" dist="38100" dir="2700000" algn="tl">
                    <a:srgbClr val="000000">
                      <a:alpha val="43137"/>
                    </a:srgbClr>
                  </a:outerShdw>
                </a:effectLst>
              </a:rPr>
              <a:t>platform work available to or through </a:t>
            </a:r>
            <a:r>
              <a:rPr lang="en-US" dirty="0">
                <a:solidFill>
                  <a:srgbClr val="002060"/>
                </a:solidFill>
                <a:effectLst>
                  <a:outerShdw blurRad="38100" dist="38100" dir="2700000" algn="tl">
                    <a:srgbClr val="000000">
                      <a:alpha val="43137"/>
                    </a:srgbClr>
                  </a:outerShdw>
                </a:effectLst>
              </a:rPr>
              <a:t>a digital </a:t>
            </a:r>
            <a:r>
              <a:rPr lang="en-US" dirty="0" err="1">
                <a:solidFill>
                  <a:srgbClr val="002060"/>
                </a:solidFill>
                <a:effectLst>
                  <a:outerShdw blurRad="38100" dist="38100" dir="2700000" algn="tl">
                    <a:srgbClr val="000000">
                      <a:alpha val="43137"/>
                    </a:srgbClr>
                  </a:outerShdw>
                </a:effectLst>
              </a:rPr>
              <a:t>labour</a:t>
            </a:r>
            <a:r>
              <a:rPr lang="en-US" dirty="0">
                <a:solidFill>
                  <a:srgbClr val="002060"/>
                </a:solidFill>
                <a:effectLst>
                  <a:outerShdw blurRad="38100" dist="38100" dir="2700000" algn="tl">
                    <a:srgbClr val="000000">
                      <a:alpha val="43137"/>
                    </a:srgbClr>
                  </a:outerShdw>
                </a:effectLst>
              </a:rPr>
              <a:t> platform: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a:t>
            </a:r>
            <a:r>
              <a:rPr lang="en-US" dirty="0" err="1">
                <a:solidFill>
                  <a:srgbClr val="002060"/>
                </a:solidFill>
                <a:effectLst>
                  <a:outerShdw blurRad="38100" dist="38100" dir="2700000" algn="tl">
                    <a:srgbClr val="000000">
                      <a:alpha val="43137"/>
                    </a:srgbClr>
                  </a:outerShdw>
                </a:effectLst>
              </a:rPr>
              <a:t>i</a:t>
            </a:r>
            <a:r>
              <a:rPr lang="en-US" dirty="0">
                <a:solidFill>
                  <a:srgbClr val="002060"/>
                </a:solidFill>
                <a:effectLst>
                  <a:outerShdw blurRad="38100" dist="38100" dir="2700000" algn="tl">
                    <a:srgbClr val="000000">
                      <a:alpha val="43137"/>
                    </a:srgbClr>
                  </a:outerShdw>
                </a:effectLst>
              </a:rPr>
              <a:t>) establishes a contractual relationship </a:t>
            </a:r>
            <a:r>
              <a:rPr lang="en-US" b="1" dirty="0">
                <a:solidFill>
                  <a:srgbClr val="002060"/>
                </a:solidFill>
                <a:effectLst>
                  <a:outerShdw blurRad="38100" dist="38100" dir="2700000" algn="tl">
                    <a:srgbClr val="000000">
                      <a:alpha val="43137"/>
                    </a:srgbClr>
                  </a:outerShdw>
                </a:effectLst>
              </a:rPr>
              <a:t>with that digital </a:t>
            </a:r>
            <a:r>
              <a:rPr lang="en-US" b="1" dirty="0" err="1">
                <a:solidFill>
                  <a:srgbClr val="002060"/>
                </a:solidFill>
                <a:effectLst>
                  <a:outerShdw blurRad="38100" dist="38100" dir="2700000" algn="tl">
                    <a:srgbClr val="000000">
                      <a:alpha val="43137"/>
                    </a:srgbClr>
                  </a:outerShdw>
                </a:effectLst>
              </a:rPr>
              <a:t>labour</a:t>
            </a:r>
            <a:r>
              <a:rPr lang="en-US" b="1" dirty="0">
                <a:solidFill>
                  <a:srgbClr val="002060"/>
                </a:solidFill>
                <a:effectLst>
                  <a:outerShdw blurRad="38100" dist="38100" dir="2700000" algn="tl">
                    <a:srgbClr val="000000">
                      <a:alpha val="43137"/>
                    </a:srgbClr>
                  </a:outerShdw>
                </a:effectLst>
              </a:rPr>
              <a:t> platform and a contractual relationship with the person </a:t>
            </a:r>
            <a:r>
              <a:rPr lang="en-US" dirty="0">
                <a:solidFill>
                  <a:srgbClr val="002060"/>
                </a:solidFill>
                <a:effectLst>
                  <a:outerShdw blurRad="38100" dist="38100" dir="2700000" algn="tl">
                    <a:srgbClr val="000000">
                      <a:alpha val="43137"/>
                    </a:srgbClr>
                  </a:outerShdw>
                </a:effectLst>
              </a:rPr>
              <a:t>performing platform work; or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(ii) is in a </a:t>
            </a:r>
            <a:r>
              <a:rPr lang="en-US" b="1" dirty="0">
                <a:solidFill>
                  <a:srgbClr val="FF0000"/>
                </a:solidFill>
                <a:effectLst>
                  <a:outerShdw blurRad="38100" dist="38100" dir="2700000" algn="tl">
                    <a:srgbClr val="000000">
                      <a:alpha val="43137"/>
                    </a:srgbClr>
                  </a:outerShdw>
                </a:effectLst>
              </a:rPr>
              <a:t>subcontracting chain </a:t>
            </a:r>
            <a:r>
              <a:rPr lang="en-US" dirty="0">
                <a:solidFill>
                  <a:srgbClr val="002060"/>
                </a:solidFill>
                <a:effectLst>
                  <a:outerShdw blurRad="38100" dist="38100" dir="2700000" algn="tl">
                    <a:srgbClr val="000000">
                      <a:alpha val="43137"/>
                    </a:srgbClr>
                  </a:outerShdw>
                </a:effectLst>
              </a:rPr>
              <a:t>between that digital </a:t>
            </a:r>
            <a:r>
              <a:rPr lang="en-US" dirty="0" err="1">
                <a:solidFill>
                  <a:srgbClr val="002060"/>
                </a:solidFill>
                <a:effectLst>
                  <a:outerShdw blurRad="38100" dist="38100" dir="2700000" algn="tl">
                    <a:srgbClr val="000000">
                      <a:alpha val="43137"/>
                    </a:srgbClr>
                  </a:outerShdw>
                </a:effectLst>
              </a:rPr>
              <a:t>labour</a:t>
            </a:r>
            <a:r>
              <a:rPr lang="en-US" dirty="0">
                <a:solidFill>
                  <a:srgbClr val="002060"/>
                </a:solidFill>
                <a:effectLst>
                  <a:outerShdw blurRad="38100" dist="38100" dir="2700000" algn="tl">
                    <a:srgbClr val="000000">
                      <a:alpha val="43137"/>
                    </a:srgbClr>
                  </a:outerShdw>
                </a:effectLst>
              </a:rPr>
              <a:t> platform and the person performing platform work;</a:t>
            </a:r>
          </a:p>
        </p:txBody>
      </p:sp>
      <p:sp>
        <p:nvSpPr>
          <p:cNvPr id="4" name="Symbol zastępczy numeru slajdu 3">
            <a:extLst>
              <a:ext uri="{FF2B5EF4-FFF2-40B4-BE49-F238E27FC236}">
                <a16:creationId xmlns:a16="http://schemas.microsoft.com/office/drawing/2014/main" id="{72662158-139F-7630-7AED-0DF54D5DB57E}"/>
              </a:ext>
            </a:extLst>
          </p:cNvPr>
          <p:cNvSpPr>
            <a:spLocks noGrp="1"/>
          </p:cNvSpPr>
          <p:nvPr>
            <p:ph type="sldNum" sz="quarter" idx="12"/>
          </p:nvPr>
        </p:nvSpPr>
        <p:spPr/>
        <p:txBody>
          <a:bodyPr/>
          <a:lstStyle/>
          <a:p>
            <a:fld id="{31FE8408-9B39-4718-B64F-54F72D092B1B}" type="slidenum">
              <a:rPr lang="pl-PL" smtClean="0"/>
              <a:t>25</a:t>
            </a:fld>
            <a:endParaRPr lang="pl-PL" dirty="0"/>
          </a:p>
        </p:txBody>
      </p:sp>
    </p:spTree>
    <p:extLst>
      <p:ext uri="{BB962C8B-B14F-4D97-AF65-F5344CB8AC3E}">
        <p14:creationId xmlns:p14="http://schemas.microsoft.com/office/powerpoint/2010/main" val="31340310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2D15DF8D-7F23-C0C2-F302-734E521BD59E}"/>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a:t>
            </a:r>
            <a:r>
              <a:rPr lang="pl-PL" b="1" dirty="0">
                <a:solidFill>
                  <a:srgbClr val="FF0000"/>
                </a:solidFill>
                <a:effectLst>
                  <a:outerShdw blurRad="38100" dist="38100" dir="2700000" algn="tl">
                    <a:srgbClr val="000000">
                      <a:alpha val="43137"/>
                    </a:srgbClr>
                  </a:outerShdw>
                </a:effectLst>
              </a:rPr>
              <a:t>EU </a:t>
            </a:r>
            <a:r>
              <a:rPr lang="pl-PL" b="1" dirty="0" err="1">
                <a:solidFill>
                  <a:srgbClr val="FF0000"/>
                </a:solidFill>
                <a:effectLst>
                  <a:outerShdw blurRad="38100" dist="38100" dir="2700000" algn="tl">
                    <a:srgbClr val="000000">
                      <a:alpha val="43137"/>
                    </a:srgbClr>
                  </a:outerShdw>
                </a:effectLst>
              </a:rPr>
              <a:t>directive</a:t>
            </a:r>
            <a:r>
              <a:rPr lang="pl-PL" b="1" dirty="0">
                <a:solidFill>
                  <a:srgbClr val="FF000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concerning</a:t>
            </a:r>
            <a:r>
              <a:rPr lang="pl-PL" dirty="0">
                <a:solidFill>
                  <a:srgbClr val="002060"/>
                </a:solidFill>
                <a:effectLst>
                  <a:outerShdw blurRad="38100" dist="38100" dir="2700000" algn="tl">
                    <a:srgbClr val="000000">
                      <a:alpha val="43137"/>
                    </a:srgbClr>
                  </a:outerShdw>
                </a:effectLst>
              </a:rPr>
              <a:t> the GIG </a:t>
            </a:r>
            <a:r>
              <a:rPr lang="pl-PL" dirty="0" err="1">
                <a:solidFill>
                  <a:srgbClr val="002060"/>
                </a:solidFill>
                <a:effectLst>
                  <a:outerShdw blurRad="38100" dist="38100" dir="2700000" algn="tl">
                    <a:srgbClr val="000000">
                      <a:alpha val="43137"/>
                    </a:srgbClr>
                  </a:outerShdw>
                </a:effectLst>
              </a:rPr>
              <a:t>economy</a:t>
            </a:r>
            <a:endParaRPr lang="en-US" dirty="0"/>
          </a:p>
        </p:txBody>
      </p:sp>
      <p:sp>
        <p:nvSpPr>
          <p:cNvPr id="3" name="Symbol zastępczy zawartości 2">
            <a:extLst>
              <a:ext uri="{FF2B5EF4-FFF2-40B4-BE49-F238E27FC236}">
                <a16:creationId xmlns:a16="http://schemas.microsoft.com/office/drawing/2014/main" id="{8C9B06AB-F891-15CB-B2F0-105D65A219E2}"/>
              </a:ext>
            </a:extLst>
          </p:cNvPr>
          <p:cNvSpPr>
            <a:spLocks noGrp="1"/>
          </p:cNvSpPr>
          <p:nvPr>
            <p:ph idx="1"/>
          </p:nvPr>
        </p:nvSpPr>
        <p:spPr/>
        <p:txBody>
          <a:bodyPr>
            <a:normAutofit fontScale="92500" lnSpcReduction="10000"/>
          </a:bodyPr>
          <a:lstStyle/>
          <a:p>
            <a:pPr marL="0" indent="0">
              <a:buNone/>
            </a:pPr>
            <a:r>
              <a:rPr lang="pl-PL" dirty="0">
                <a:solidFill>
                  <a:srgbClr val="002060"/>
                </a:solidFill>
                <a:effectLst>
                  <a:outerShdw blurRad="38100" dist="38100" dir="2700000" algn="tl">
                    <a:srgbClr val="000000">
                      <a:alpha val="43137"/>
                    </a:srgbClr>
                  </a:outerShdw>
                </a:effectLst>
              </a:rPr>
              <a:t>LEGAL PRESUMPTION</a:t>
            </a:r>
          </a:p>
          <a:p>
            <a:r>
              <a:rPr lang="en-US" dirty="0">
                <a:solidFill>
                  <a:srgbClr val="002060"/>
                </a:solidFill>
                <a:effectLst>
                  <a:outerShdw blurRad="38100" dist="38100" dir="2700000" algn="tl">
                    <a:srgbClr val="000000">
                      <a:alpha val="43137"/>
                    </a:srgbClr>
                  </a:outerShdw>
                </a:effectLst>
              </a:rPr>
              <a:t>The contractual relationship between a digital </a:t>
            </a:r>
            <a:r>
              <a:rPr lang="en-US" dirty="0" err="1">
                <a:solidFill>
                  <a:srgbClr val="002060"/>
                </a:solidFill>
                <a:effectLst>
                  <a:outerShdw blurRad="38100" dist="38100" dir="2700000" algn="tl">
                    <a:srgbClr val="000000">
                      <a:alpha val="43137"/>
                    </a:srgbClr>
                  </a:outerShdw>
                </a:effectLst>
              </a:rPr>
              <a:t>labour</a:t>
            </a:r>
            <a:r>
              <a:rPr lang="en-US" dirty="0">
                <a:solidFill>
                  <a:srgbClr val="002060"/>
                </a:solidFill>
                <a:effectLst>
                  <a:outerShdw blurRad="38100" dist="38100" dir="2700000" algn="tl">
                    <a:srgbClr val="000000">
                      <a:alpha val="43137"/>
                    </a:srgbClr>
                  </a:outerShdw>
                </a:effectLst>
              </a:rPr>
              <a:t> platform and a person performing platform work through that platform shall be </a:t>
            </a:r>
            <a:r>
              <a:rPr lang="en-US" b="1" dirty="0">
                <a:solidFill>
                  <a:srgbClr val="FF0000"/>
                </a:solidFill>
                <a:effectLst>
                  <a:outerShdw blurRad="38100" dist="38100" dir="2700000" algn="tl">
                    <a:srgbClr val="000000">
                      <a:alpha val="43137"/>
                    </a:srgbClr>
                  </a:outerShdw>
                </a:effectLst>
              </a:rPr>
              <a:t>legally presumed to be an employment relationship </a:t>
            </a:r>
            <a:r>
              <a:rPr lang="en-US" dirty="0">
                <a:solidFill>
                  <a:srgbClr val="002060"/>
                </a:solidFill>
                <a:effectLst>
                  <a:outerShdw blurRad="38100" dist="38100" dir="2700000" algn="tl">
                    <a:srgbClr val="000000">
                      <a:alpha val="43137"/>
                    </a:srgbClr>
                  </a:outerShdw>
                </a:effectLst>
              </a:rPr>
              <a:t>where </a:t>
            </a:r>
            <a:r>
              <a:rPr lang="en-US" b="1" dirty="0">
                <a:solidFill>
                  <a:srgbClr val="002060"/>
                </a:solidFill>
                <a:effectLst>
                  <a:outerShdw blurRad="38100" dist="38100" dir="2700000" algn="tl">
                    <a:srgbClr val="000000">
                      <a:alpha val="43137"/>
                    </a:srgbClr>
                  </a:outerShdw>
                </a:effectLst>
              </a:rPr>
              <a:t>facts indicating </a:t>
            </a:r>
            <a:r>
              <a:rPr lang="en-US" b="1" dirty="0">
                <a:solidFill>
                  <a:srgbClr val="FF0000"/>
                </a:solidFill>
                <a:effectLst>
                  <a:outerShdw blurRad="38100" dist="38100" dir="2700000" algn="tl">
                    <a:srgbClr val="000000">
                      <a:alpha val="43137"/>
                    </a:srgbClr>
                  </a:outerShdw>
                </a:effectLst>
              </a:rPr>
              <a:t>direction and control</a:t>
            </a:r>
            <a:r>
              <a:rPr lang="en-US" dirty="0">
                <a:solidFill>
                  <a:srgbClr val="002060"/>
                </a:solidFill>
                <a:effectLst>
                  <a:outerShdw blurRad="38100" dist="38100" dir="2700000" algn="tl">
                    <a:srgbClr val="000000">
                      <a:alpha val="43137"/>
                    </a:srgbClr>
                  </a:outerShdw>
                </a:effectLst>
              </a:rPr>
              <a:t>, </a:t>
            </a:r>
            <a:r>
              <a:rPr lang="en-US" dirty="0">
                <a:solidFill>
                  <a:srgbClr val="0070C0"/>
                </a:solidFill>
                <a:effectLst>
                  <a:outerShdw blurRad="38100" dist="38100" dir="2700000" algn="tl">
                    <a:srgbClr val="000000">
                      <a:alpha val="43137"/>
                    </a:srgbClr>
                  </a:outerShdw>
                </a:effectLst>
              </a:rPr>
              <a:t>in accordance with national law, collective agreements or practice </a:t>
            </a:r>
            <a:r>
              <a:rPr lang="en-US" dirty="0">
                <a:solidFill>
                  <a:srgbClr val="002060"/>
                </a:solidFill>
                <a:effectLst>
                  <a:outerShdw blurRad="38100" dist="38100" dir="2700000" algn="tl">
                    <a:srgbClr val="000000">
                      <a:alpha val="43137"/>
                    </a:srgbClr>
                  </a:outerShdw>
                </a:effectLst>
              </a:rPr>
              <a:t>in force in the Member States and with consideration to the case-law of the Court of Justice, </a:t>
            </a:r>
            <a:r>
              <a:rPr lang="en-US" b="1" dirty="0">
                <a:solidFill>
                  <a:srgbClr val="002060"/>
                </a:solidFill>
                <a:effectLst>
                  <a:outerShdw blurRad="38100" dist="38100" dir="2700000" algn="tl">
                    <a:srgbClr val="000000">
                      <a:alpha val="43137"/>
                    </a:srgbClr>
                  </a:outerShdw>
                </a:effectLst>
              </a:rPr>
              <a:t>are found</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Where the digital </a:t>
            </a:r>
            <a:r>
              <a:rPr lang="en-US" dirty="0" err="1">
                <a:solidFill>
                  <a:srgbClr val="002060"/>
                </a:solidFill>
                <a:effectLst>
                  <a:outerShdw blurRad="38100" dist="38100" dir="2700000" algn="tl">
                    <a:srgbClr val="000000">
                      <a:alpha val="43137"/>
                    </a:srgbClr>
                  </a:outerShdw>
                </a:effectLst>
              </a:rPr>
              <a:t>labour</a:t>
            </a:r>
            <a:r>
              <a:rPr lang="en-US" dirty="0">
                <a:solidFill>
                  <a:srgbClr val="002060"/>
                </a:solidFill>
                <a:effectLst>
                  <a:outerShdw blurRad="38100" dist="38100" dir="2700000" algn="tl">
                    <a:srgbClr val="000000">
                      <a:alpha val="43137"/>
                    </a:srgbClr>
                  </a:outerShdw>
                </a:effectLst>
              </a:rPr>
              <a:t> platform seeks to </a:t>
            </a:r>
            <a:r>
              <a:rPr lang="en-US" b="1" dirty="0">
                <a:solidFill>
                  <a:srgbClr val="FF0000"/>
                </a:solidFill>
                <a:effectLst>
                  <a:outerShdw blurRad="38100" dist="38100" dir="2700000" algn="tl">
                    <a:srgbClr val="000000">
                      <a:alpha val="43137"/>
                    </a:srgbClr>
                  </a:outerShdw>
                </a:effectLst>
              </a:rPr>
              <a:t>rebut the legal presumption</a:t>
            </a:r>
            <a:r>
              <a:rPr lang="en-US" dirty="0">
                <a:solidFill>
                  <a:srgbClr val="002060"/>
                </a:solidFill>
                <a:effectLst>
                  <a:outerShdw blurRad="38100" dist="38100" dir="2700000" algn="tl">
                    <a:srgbClr val="000000">
                      <a:alpha val="43137"/>
                    </a:srgbClr>
                  </a:outerShdw>
                </a:effectLst>
              </a:rPr>
              <a:t>, it shall be </a:t>
            </a:r>
            <a:r>
              <a:rPr lang="en-US" b="1" dirty="0">
                <a:solidFill>
                  <a:srgbClr val="FF0000"/>
                </a:solidFill>
                <a:effectLst>
                  <a:outerShdw blurRad="38100" dist="38100" dir="2700000" algn="tl">
                    <a:srgbClr val="000000">
                      <a:alpha val="43137"/>
                    </a:srgbClr>
                  </a:outerShdw>
                </a:effectLst>
              </a:rPr>
              <a:t>for the digital </a:t>
            </a:r>
            <a:r>
              <a:rPr lang="en-US" b="1" dirty="0" err="1">
                <a:solidFill>
                  <a:srgbClr val="FF0000"/>
                </a:solidFill>
                <a:effectLst>
                  <a:outerShdw blurRad="38100" dist="38100" dir="2700000" algn="tl">
                    <a:srgbClr val="000000">
                      <a:alpha val="43137"/>
                    </a:srgbClr>
                  </a:outerShdw>
                </a:effectLst>
              </a:rPr>
              <a:t>labour</a:t>
            </a:r>
            <a:r>
              <a:rPr lang="en-US" b="1" dirty="0">
                <a:solidFill>
                  <a:srgbClr val="FF0000"/>
                </a:solidFill>
                <a:effectLst>
                  <a:outerShdw blurRad="38100" dist="38100" dir="2700000" algn="tl">
                    <a:srgbClr val="000000">
                      <a:alpha val="43137"/>
                    </a:srgbClr>
                  </a:outerShdw>
                </a:effectLst>
              </a:rPr>
              <a:t> platform to prove </a:t>
            </a:r>
            <a:r>
              <a:rPr lang="en-US" dirty="0">
                <a:solidFill>
                  <a:srgbClr val="002060"/>
                </a:solidFill>
                <a:effectLst>
                  <a:outerShdw blurRad="38100" dist="38100" dir="2700000" algn="tl">
                    <a:srgbClr val="000000">
                      <a:alpha val="43137"/>
                    </a:srgbClr>
                  </a:outerShdw>
                </a:effectLst>
              </a:rPr>
              <a:t>that the contractual relationship in question is not an employment relationship as defined by the law, collective agreements or practice in force in the Member States, with consideration to the case-law of the Court of Justice.</a:t>
            </a:r>
          </a:p>
        </p:txBody>
      </p:sp>
      <p:sp>
        <p:nvSpPr>
          <p:cNvPr id="4" name="Symbol zastępczy numeru slajdu 3">
            <a:extLst>
              <a:ext uri="{FF2B5EF4-FFF2-40B4-BE49-F238E27FC236}">
                <a16:creationId xmlns:a16="http://schemas.microsoft.com/office/drawing/2014/main" id="{2291D262-767D-F776-6F65-389C7E1619F9}"/>
              </a:ext>
            </a:extLst>
          </p:cNvPr>
          <p:cNvSpPr>
            <a:spLocks noGrp="1"/>
          </p:cNvSpPr>
          <p:nvPr>
            <p:ph type="sldNum" sz="quarter" idx="12"/>
          </p:nvPr>
        </p:nvSpPr>
        <p:spPr/>
        <p:txBody>
          <a:bodyPr/>
          <a:lstStyle/>
          <a:p>
            <a:fld id="{31FE8408-9B39-4718-B64F-54F72D092B1B}" type="slidenum">
              <a:rPr lang="pl-PL" smtClean="0"/>
              <a:t>26</a:t>
            </a:fld>
            <a:endParaRPr lang="pl-PL" dirty="0"/>
          </a:p>
        </p:txBody>
      </p:sp>
    </p:spTree>
    <p:extLst>
      <p:ext uri="{BB962C8B-B14F-4D97-AF65-F5344CB8AC3E}">
        <p14:creationId xmlns:p14="http://schemas.microsoft.com/office/powerpoint/2010/main" val="10083557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FF56218-DEB2-AB6C-5451-1E3C540AA359}"/>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a:t>
            </a:r>
            <a:r>
              <a:rPr lang="pl-PL" b="1" dirty="0">
                <a:solidFill>
                  <a:srgbClr val="FF0000"/>
                </a:solidFill>
                <a:effectLst>
                  <a:outerShdw blurRad="38100" dist="38100" dir="2700000" algn="tl">
                    <a:srgbClr val="000000">
                      <a:alpha val="43137"/>
                    </a:srgbClr>
                  </a:outerShdw>
                </a:effectLst>
              </a:rPr>
              <a:t>EU </a:t>
            </a:r>
            <a:r>
              <a:rPr lang="pl-PL" b="1" dirty="0" err="1">
                <a:solidFill>
                  <a:srgbClr val="FF0000"/>
                </a:solidFill>
                <a:effectLst>
                  <a:outerShdw blurRad="38100" dist="38100" dir="2700000" algn="tl">
                    <a:srgbClr val="000000">
                      <a:alpha val="43137"/>
                    </a:srgbClr>
                  </a:outerShdw>
                </a:effectLst>
              </a:rPr>
              <a:t>directive</a:t>
            </a:r>
            <a:r>
              <a:rPr lang="pl-PL" b="1" dirty="0">
                <a:solidFill>
                  <a:srgbClr val="FF000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concerning</a:t>
            </a:r>
            <a:r>
              <a:rPr lang="pl-PL" dirty="0">
                <a:solidFill>
                  <a:srgbClr val="002060"/>
                </a:solidFill>
                <a:effectLst>
                  <a:outerShdw blurRad="38100" dist="38100" dir="2700000" algn="tl">
                    <a:srgbClr val="000000">
                      <a:alpha val="43137"/>
                    </a:srgbClr>
                  </a:outerShdw>
                </a:effectLst>
              </a:rPr>
              <a:t> the GIG </a:t>
            </a:r>
            <a:r>
              <a:rPr lang="pl-PL" dirty="0" err="1">
                <a:solidFill>
                  <a:srgbClr val="002060"/>
                </a:solidFill>
                <a:effectLst>
                  <a:outerShdw blurRad="38100" dist="38100" dir="2700000" algn="tl">
                    <a:srgbClr val="000000">
                      <a:alpha val="43137"/>
                    </a:srgbClr>
                  </a:outerShdw>
                </a:effectLst>
              </a:rPr>
              <a:t>economy</a:t>
            </a:r>
            <a:endParaRPr lang="en-US" dirty="0"/>
          </a:p>
        </p:txBody>
      </p:sp>
      <p:sp>
        <p:nvSpPr>
          <p:cNvPr id="3" name="Symbol zastępczy zawartości 2">
            <a:extLst>
              <a:ext uri="{FF2B5EF4-FFF2-40B4-BE49-F238E27FC236}">
                <a16:creationId xmlns:a16="http://schemas.microsoft.com/office/drawing/2014/main" id="{09F82C21-760F-A1CC-609A-7B5E81BB4852}"/>
              </a:ext>
            </a:extLst>
          </p:cNvPr>
          <p:cNvSpPr>
            <a:spLocks noGrp="1"/>
          </p:cNvSpPr>
          <p:nvPr>
            <p:ph idx="1"/>
          </p:nvPr>
        </p:nvSpPr>
        <p:spPr/>
        <p:txBody>
          <a:bodyPr>
            <a:normAutofit fontScale="85000" lnSpcReduction="20000"/>
          </a:bodyPr>
          <a:lstStyle/>
          <a:p>
            <a:pPr marL="0" indent="0">
              <a:buNone/>
            </a:pPr>
            <a:r>
              <a:rPr lang="pl-PL" b="1" dirty="0">
                <a:solidFill>
                  <a:srgbClr val="FF0000"/>
                </a:solidFill>
                <a:effectLst>
                  <a:outerShdw blurRad="38100" dist="38100" dir="2700000" algn="tl">
                    <a:srgbClr val="000000">
                      <a:alpha val="43137"/>
                    </a:srgbClr>
                  </a:outerShdw>
                </a:effectLst>
              </a:rPr>
              <a:t>ALGORITHMIC MANAGEMENT</a:t>
            </a:r>
          </a:p>
          <a:p>
            <a:pPr marL="0" indent="0">
              <a:buNone/>
            </a:pPr>
            <a:r>
              <a:rPr lang="en-US" dirty="0">
                <a:solidFill>
                  <a:srgbClr val="002060"/>
                </a:solidFill>
                <a:effectLst>
                  <a:outerShdw blurRad="38100" dist="38100" dir="2700000" algn="tl">
                    <a:srgbClr val="000000">
                      <a:alpha val="43137"/>
                    </a:srgbClr>
                  </a:outerShdw>
                </a:effectLst>
              </a:rPr>
              <a:t>Digital </a:t>
            </a:r>
            <a:r>
              <a:rPr lang="en-US" dirty="0" err="1">
                <a:solidFill>
                  <a:srgbClr val="002060"/>
                </a:solidFill>
                <a:effectLst>
                  <a:outerShdw blurRad="38100" dist="38100" dir="2700000" algn="tl">
                    <a:srgbClr val="000000">
                      <a:alpha val="43137"/>
                    </a:srgbClr>
                  </a:outerShdw>
                </a:effectLst>
              </a:rPr>
              <a:t>labour</a:t>
            </a:r>
            <a:r>
              <a:rPr lang="en-US"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platforms shall not</a:t>
            </a:r>
            <a:r>
              <a:rPr lang="en-US" dirty="0">
                <a:solidFill>
                  <a:srgbClr val="002060"/>
                </a:solidFill>
                <a:effectLst>
                  <a:outerShdw blurRad="38100" dist="38100" dir="2700000" algn="tl">
                    <a:srgbClr val="000000">
                      <a:alpha val="43137"/>
                    </a:srgbClr>
                  </a:outerShdw>
                </a:effectLst>
              </a:rPr>
              <a:t>, by means of </a:t>
            </a:r>
            <a:r>
              <a:rPr lang="en-US" b="1" dirty="0">
                <a:solidFill>
                  <a:srgbClr val="FF0000"/>
                </a:solidFill>
                <a:effectLst>
                  <a:outerShdw blurRad="38100" dist="38100" dir="2700000" algn="tl">
                    <a:srgbClr val="000000">
                      <a:alpha val="43137"/>
                    </a:srgbClr>
                  </a:outerShdw>
                </a:effectLst>
                <a:highlight>
                  <a:srgbClr val="00FF00"/>
                </a:highlight>
              </a:rPr>
              <a:t>automated monitoring systems or automated decision-making systems</a:t>
            </a:r>
            <a:r>
              <a:rPr lang="en-US" dirty="0">
                <a:solidFill>
                  <a:srgbClr val="002060"/>
                </a:solidFill>
                <a:effectLst>
                  <a:outerShdw blurRad="38100" dist="38100" dir="2700000" algn="tl">
                    <a:srgbClr val="000000">
                      <a:alpha val="43137"/>
                    </a:srgbClr>
                  </a:outerShdw>
                </a:effectLst>
              </a:rPr>
              <a:t>:</a:t>
            </a:r>
            <a:endParaRPr lang="pl-PL" dirty="0">
              <a:solidFill>
                <a:srgbClr val="002060"/>
              </a:solidFill>
              <a:effectLst>
                <a:outerShdw blurRad="38100" dist="38100" dir="2700000" algn="tl">
                  <a:srgbClr val="000000">
                    <a:alpha val="43137"/>
                  </a:srgbClr>
                </a:outerShdw>
              </a:effectLst>
            </a:endParaRPr>
          </a:p>
          <a:p>
            <a:pPr marL="514350" indent="-514350">
              <a:buAutoNum type="alphaLcParenBoth"/>
            </a:pPr>
            <a:r>
              <a:rPr lang="en-US" dirty="0">
                <a:solidFill>
                  <a:srgbClr val="002060"/>
                </a:solidFill>
                <a:effectLst>
                  <a:outerShdw blurRad="38100" dist="38100" dir="2700000" algn="tl">
                    <a:srgbClr val="000000">
                      <a:alpha val="43137"/>
                    </a:srgbClr>
                  </a:outerShdw>
                </a:effectLst>
              </a:rPr>
              <a:t>process</a:t>
            </a:r>
            <a:r>
              <a:rPr lang="pl-PL"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any personal data on the </a:t>
            </a:r>
            <a:r>
              <a:rPr lang="en-US" b="1" dirty="0">
                <a:solidFill>
                  <a:srgbClr val="002060"/>
                </a:solidFill>
                <a:effectLst>
                  <a:outerShdw blurRad="38100" dist="38100" dir="2700000" algn="tl">
                    <a:srgbClr val="000000">
                      <a:alpha val="43137"/>
                    </a:srgbClr>
                  </a:outerShdw>
                </a:effectLst>
              </a:rPr>
              <a:t>emotional or psychological state </a:t>
            </a:r>
            <a:r>
              <a:rPr lang="en-US" dirty="0">
                <a:solidFill>
                  <a:srgbClr val="002060"/>
                </a:solidFill>
                <a:effectLst>
                  <a:outerShdw blurRad="38100" dist="38100" dir="2700000" algn="tl">
                    <a:srgbClr val="000000">
                      <a:alpha val="43137"/>
                    </a:srgbClr>
                  </a:outerShdw>
                </a:effectLst>
              </a:rPr>
              <a:t>of a person performing platform work; </a:t>
            </a:r>
            <a:endParaRPr lang="pl-PL" dirty="0">
              <a:solidFill>
                <a:srgbClr val="002060"/>
              </a:solidFill>
              <a:effectLst>
                <a:outerShdw blurRad="38100" dist="38100" dir="2700000" algn="tl">
                  <a:srgbClr val="000000">
                    <a:alpha val="43137"/>
                  </a:srgbClr>
                </a:outerShdw>
              </a:effectLst>
            </a:endParaRPr>
          </a:p>
          <a:p>
            <a:pPr marL="514350" indent="-514350">
              <a:buAutoNum type="alphaLcParenBoth"/>
            </a:pPr>
            <a:r>
              <a:rPr lang="en-US" dirty="0">
                <a:solidFill>
                  <a:srgbClr val="002060"/>
                </a:solidFill>
                <a:effectLst>
                  <a:outerShdw blurRad="38100" dist="38100" dir="2700000" algn="tl">
                    <a:srgbClr val="000000">
                      <a:alpha val="43137"/>
                    </a:srgbClr>
                  </a:outerShdw>
                </a:effectLst>
              </a:rPr>
              <a:t>process any </a:t>
            </a:r>
            <a:r>
              <a:rPr lang="en-US" b="1" dirty="0">
                <a:solidFill>
                  <a:srgbClr val="002060"/>
                </a:solidFill>
                <a:effectLst>
                  <a:outerShdw blurRad="38100" dist="38100" dir="2700000" algn="tl">
                    <a:srgbClr val="000000">
                      <a:alpha val="43137"/>
                    </a:srgbClr>
                  </a:outerShdw>
                </a:effectLst>
              </a:rPr>
              <a:t>personal data in relation to private conversations</a:t>
            </a:r>
            <a:r>
              <a:rPr lang="en-US" dirty="0">
                <a:solidFill>
                  <a:srgbClr val="002060"/>
                </a:solidFill>
                <a:effectLst>
                  <a:outerShdw blurRad="38100" dist="38100" dir="2700000" algn="tl">
                    <a:srgbClr val="000000">
                      <a:alpha val="43137"/>
                    </a:srgbClr>
                  </a:outerShdw>
                </a:effectLst>
              </a:rPr>
              <a:t>, including exchanges with other persons performing platform work and the representatives of persons performing platform work;</a:t>
            </a:r>
            <a:endParaRPr lang="pl-PL" dirty="0">
              <a:solidFill>
                <a:srgbClr val="002060"/>
              </a:solidFill>
              <a:effectLst>
                <a:outerShdw blurRad="38100" dist="38100" dir="2700000" algn="tl">
                  <a:srgbClr val="000000">
                    <a:alpha val="43137"/>
                  </a:srgbClr>
                </a:outerShdw>
              </a:effectLst>
            </a:endParaRPr>
          </a:p>
          <a:p>
            <a:pPr marL="0" indent="0">
              <a:buNone/>
            </a:pPr>
            <a:r>
              <a:rPr lang="en-US" dirty="0">
                <a:solidFill>
                  <a:srgbClr val="002060"/>
                </a:solidFill>
                <a:effectLst>
                  <a:outerShdw blurRad="38100" dist="38100" dir="2700000" algn="tl">
                    <a:srgbClr val="000000">
                      <a:alpha val="43137"/>
                    </a:srgbClr>
                  </a:outerShdw>
                </a:effectLst>
              </a:rPr>
              <a:t> (c) collect </a:t>
            </a:r>
            <a:r>
              <a:rPr lang="en-US" b="1" dirty="0">
                <a:solidFill>
                  <a:srgbClr val="002060"/>
                </a:solidFill>
                <a:effectLst>
                  <a:outerShdw blurRad="38100" dist="38100" dir="2700000" algn="tl">
                    <a:srgbClr val="000000">
                      <a:alpha val="43137"/>
                    </a:srgbClr>
                  </a:outerShdw>
                </a:effectLst>
              </a:rPr>
              <a:t>any personal data </a:t>
            </a:r>
            <a:r>
              <a:rPr lang="en-US" dirty="0">
                <a:solidFill>
                  <a:srgbClr val="002060"/>
                </a:solidFill>
                <a:effectLst>
                  <a:outerShdw blurRad="38100" dist="38100" dir="2700000" algn="tl">
                    <a:srgbClr val="000000">
                      <a:alpha val="43137"/>
                    </a:srgbClr>
                  </a:outerShdw>
                </a:effectLst>
              </a:rPr>
              <a:t>of a person performing platform work </a:t>
            </a:r>
            <a:r>
              <a:rPr lang="en-US" b="1" dirty="0">
                <a:solidFill>
                  <a:srgbClr val="002060"/>
                </a:solidFill>
                <a:effectLst>
                  <a:outerShdw blurRad="38100" dist="38100" dir="2700000" algn="tl">
                    <a:srgbClr val="000000">
                      <a:alpha val="43137"/>
                    </a:srgbClr>
                  </a:outerShdw>
                </a:effectLst>
              </a:rPr>
              <a:t>while that person is not </a:t>
            </a:r>
            <a:r>
              <a:rPr lang="en-US" dirty="0">
                <a:solidFill>
                  <a:srgbClr val="002060"/>
                </a:solidFill>
                <a:effectLst>
                  <a:outerShdw blurRad="38100" dist="38100" dir="2700000" algn="tl">
                    <a:srgbClr val="000000">
                      <a:alpha val="43137"/>
                    </a:srgbClr>
                  </a:outerShdw>
                </a:effectLst>
              </a:rPr>
              <a:t>offering or performing platform work;</a:t>
            </a:r>
            <a:endParaRPr lang="pl-PL" dirty="0">
              <a:solidFill>
                <a:srgbClr val="002060"/>
              </a:solidFill>
              <a:effectLst>
                <a:outerShdw blurRad="38100" dist="38100" dir="2700000" algn="tl">
                  <a:srgbClr val="000000">
                    <a:alpha val="43137"/>
                  </a:srgbClr>
                </a:outerShdw>
              </a:effectLst>
            </a:endParaRPr>
          </a:p>
          <a:p>
            <a:pPr marL="0" indent="0">
              <a:buNone/>
            </a:pPr>
            <a:r>
              <a:rPr lang="en-US" dirty="0">
                <a:solidFill>
                  <a:srgbClr val="002060"/>
                </a:solidFill>
                <a:effectLst>
                  <a:outerShdw blurRad="38100" dist="38100" dir="2700000" algn="tl">
                    <a:srgbClr val="000000">
                      <a:alpha val="43137"/>
                    </a:srgbClr>
                  </a:outerShdw>
                </a:effectLst>
              </a:rPr>
              <a:t> (d) process personal data </a:t>
            </a:r>
            <a:r>
              <a:rPr lang="en-US" b="1" dirty="0">
                <a:solidFill>
                  <a:srgbClr val="FF0000"/>
                </a:solidFill>
                <a:effectLst>
                  <a:outerShdw blurRad="38100" dist="38100" dir="2700000" algn="tl">
                    <a:srgbClr val="000000">
                      <a:alpha val="43137"/>
                    </a:srgbClr>
                  </a:outerShdw>
                </a:effectLst>
              </a:rPr>
              <a:t>to predict the exercise of fundamental rights</a:t>
            </a:r>
            <a:r>
              <a:rPr lang="en-US" dirty="0">
                <a:solidFill>
                  <a:srgbClr val="002060"/>
                </a:solidFill>
                <a:effectLst>
                  <a:outerShdw blurRad="38100" dist="38100" dir="2700000" algn="tl">
                    <a:srgbClr val="000000">
                      <a:alpha val="43137"/>
                    </a:srgbClr>
                  </a:outerShdw>
                </a:effectLst>
              </a:rPr>
              <a:t>, including the </a:t>
            </a:r>
            <a:r>
              <a:rPr lang="en-US" b="1" dirty="0">
                <a:solidFill>
                  <a:srgbClr val="002060"/>
                </a:solidFill>
                <a:effectLst>
                  <a:outerShdw blurRad="38100" dist="38100" dir="2700000" algn="tl">
                    <a:srgbClr val="000000">
                      <a:alpha val="43137"/>
                    </a:srgbClr>
                  </a:outerShdw>
                </a:effectLst>
              </a:rPr>
              <a:t>freedom of association, the right of collective bargaining and action </a:t>
            </a:r>
            <a:r>
              <a:rPr lang="en-US" dirty="0">
                <a:solidFill>
                  <a:srgbClr val="002060"/>
                </a:solidFill>
                <a:effectLst>
                  <a:outerShdw blurRad="38100" dist="38100" dir="2700000" algn="tl">
                    <a:srgbClr val="000000">
                      <a:alpha val="43137"/>
                    </a:srgbClr>
                  </a:outerShdw>
                </a:effectLst>
              </a:rPr>
              <a:t>or the right to information and consultation as laid down in the Charter</a:t>
            </a:r>
            <a:r>
              <a:rPr lang="pl-PL" dirty="0">
                <a:solidFill>
                  <a:srgbClr val="002060"/>
                </a:solidFill>
                <a:effectLst>
                  <a:outerShdw blurRad="38100" dist="38100" dir="2700000" algn="tl">
                    <a:srgbClr val="000000">
                      <a:alpha val="43137"/>
                    </a:srgbClr>
                  </a:outerShdw>
                </a:effectLst>
              </a:rPr>
              <a:t> [of </a:t>
            </a:r>
            <a:r>
              <a:rPr lang="pl-PL" dirty="0" err="1">
                <a:solidFill>
                  <a:srgbClr val="002060"/>
                </a:solidFill>
                <a:effectLst>
                  <a:outerShdw blurRad="38100" dist="38100" dir="2700000" algn="tl">
                    <a:srgbClr val="000000">
                      <a:alpha val="43137"/>
                    </a:srgbClr>
                  </a:outerShdw>
                </a:effectLst>
              </a:rPr>
              <a:t>Fundamental</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Rights</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a:t>
            </a:r>
          </a:p>
        </p:txBody>
      </p:sp>
      <p:sp>
        <p:nvSpPr>
          <p:cNvPr id="4" name="Symbol zastępczy numeru slajdu 3">
            <a:extLst>
              <a:ext uri="{FF2B5EF4-FFF2-40B4-BE49-F238E27FC236}">
                <a16:creationId xmlns:a16="http://schemas.microsoft.com/office/drawing/2014/main" id="{2752EEBE-C437-945D-7A5A-8955170E5B60}"/>
              </a:ext>
            </a:extLst>
          </p:cNvPr>
          <p:cNvSpPr>
            <a:spLocks noGrp="1"/>
          </p:cNvSpPr>
          <p:nvPr>
            <p:ph type="sldNum" sz="quarter" idx="12"/>
          </p:nvPr>
        </p:nvSpPr>
        <p:spPr/>
        <p:txBody>
          <a:bodyPr/>
          <a:lstStyle/>
          <a:p>
            <a:fld id="{31FE8408-9B39-4718-B64F-54F72D092B1B}" type="slidenum">
              <a:rPr lang="pl-PL" smtClean="0"/>
              <a:t>27</a:t>
            </a:fld>
            <a:endParaRPr lang="pl-PL" dirty="0"/>
          </a:p>
        </p:txBody>
      </p:sp>
    </p:spTree>
    <p:extLst>
      <p:ext uri="{BB962C8B-B14F-4D97-AF65-F5344CB8AC3E}">
        <p14:creationId xmlns:p14="http://schemas.microsoft.com/office/powerpoint/2010/main" val="2343172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7C1E46F3-CA8D-B91E-C53C-DF816D7FB62A}"/>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a:t>
            </a:r>
            <a:r>
              <a:rPr lang="pl-PL" b="1" dirty="0">
                <a:solidFill>
                  <a:srgbClr val="FF0000"/>
                </a:solidFill>
                <a:effectLst>
                  <a:outerShdw blurRad="38100" dist="38100" dir="2700000" algn="tl">
                    <a:srgbClr val="000000">
                      <a:alpha val="43137"/>
                    </a:srgbClr>
                  </a:outerShdw>
                </a:effectLst>
              </a:rPr>
              <a:t>EU </a:t>
            </a:r>
            <a:r>
              <a:rPr lang="pl-PL" b="1" dirty="0" err="1">
                <a:solidFill>
                  <a:srgbClr val="FF0000"/>
                </a:solidFill>
                <a:effectLst>
                  <a:outerShdw blurRad="38100" dist="38100" dir="2700000" algn="tl">
                    <a:srgbClr val="000000">
                      <a:alpha val="43137"/>
                    </a:srgbClr>
                  </a:outerShdw>
                </a:effectLst>
              </a:rPr>
              <a:t>directive</a:t>
            </a:r>
            <a:r>
              <a:rPr lang="pl-PL" b="1" dirty="0">
                <a:solidFill>
                  <a:srgbClr val="FF000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concerning</a:t>
            </a:r>
            <a:r>
              <a:rPr lang="pl-PL" dirty="0">
                <a:solidFill>
                  <a:srgbClr val="002060"/>
                </a:solidFill>
                <a:effectLst>
                  <a:outerShdw blurRad="38100" dist="38100" dir="2700000" algn="tl">
                    <a:srgbClr val="000000">
                      <a:alpha val="43137"/>
                    </a:srgbClr>
                  </a:outerShdw>
                </a:effectLst>
              </a:rPr>
              <a:t> the GIG </a:t>
            </a:r>
            <a:r>
              <a:rPr lang="pl-PL" dirty="0" err="1">
                <a:solidFill>
                  <a:srgbClr val="002060"/>
                </a:solidFill>
                <a:effectLst>
                  <a:outerShdw blurRad="38100" dist="38100" dir="2700000" algn="tl">
                    <a:srgbClr val="000000">
                      <a:alpha val="43137"/>
                    </a:srgbClr>
                  </a:outerShdw>
                </a:effectLst>
              </a:rPr>
              <a:t>economy</a:t>
            </a:r>
            <a:endParaRPr lang="en-US" dirty="0"/>
          </a:p>
        </p:txBody>
      </p:sp>
      <p:sp>
        <p:nvSpPr>
          <p:cNvPr id="3" name="Symbol zastępczy zawartości 2">
            <a:extLst>
              <a:ext uri="{FF2B5EF4-FFF2-40B4-BE49-F238E27FC236}">
                <a16:creationId xmlns:a16="http://schemas.microsoft.com/office/drawing/2014/main" id="{83FCE178-CDE0-5498-B528-7B390D960AA1}"/>
              </a:ext>
            </a:extLst>
          </p:cNvPr>
          <p:cNvSpPr>
            <a:spLocks noGrp="1"/>
          </p:cNvSpPr>
          <p:nvPr>
            <p:ph idx="1"/>
          </p:nvPr>
        </p:nvSpPr>
        <p:spPr/>
        <p:txBody>
          <a:bodyPr>
            <a:normAutofit lnSpcReduction="10000"/>
          </a:bodyPr>
          <a:lstStyle/>
          <a:p>
            <a:pPr marL="0" indent="0">
              <a:buNone/>
            </a:pPr>
            <a:r>
              <a:rPr lang="en-US" dirty="0">
                <a:solidFill>
                  <a:srgbClr val="002060"/>
                </a:solidFill>
                <a:effectLst>
                  <a:outerShdw blurRad="38100" dist="38100" dir="2700000" algn="tl">
                    <a:srgbClr val="000000">
                      <a:alpha val="43137"/>
                    </a:srgbClr>
                  </a:outerShdw>
                </a:effectLst>
              </a:rPr>
              <a:t>(e) process any </a:t>
            </a:r>
            <a:r>
              <a:rPr lang="en-US" b="1" dirty="0">
                <a:solidFill>
                  <a:srgbClr val="002060"/>
                </a:solidFill>
                <a:effectLst>
                  <a:outerShdw blurRad="38100" dist="38100" dir="2700000" algn="tl">
                    <a:srgbClr val="000000">
                      <a:alpha val="43137"/>
                    </a:srgbClr>
                  </a:outerShdw>
                </a:effectLst>
              </a:rPr>
              <a:t>personal data </a:t>
            </a:r>
            <a:r>
              <a:rPr lang="en-US" b="1" dirty="0">
                <a:solidFill>
                  <a:srgbClr val="FF0000"/>
                </a:solidFill>
                <a:effectLst>
                  <a:outerShdw blurRad="38100" dist="38100" dir="2700000" algn="tl">
                    <a:srgbClr val="000000">
                      <a:alpha val="43137"/>
                    </a:srgbClr>
                  </a:outerShdw>
                </a:effectLst>
              </a:rPr>
              <a:t>to infer </a:t>
            </a:r>
            <a:r>
              <a:rPr lang="en-US" dirty="0">
                <a:solidFill>
                  <a:srgbClr val="002060"/>
                </a:solidFill>
                <a:effectLst>
                  <a:outerShdw blurRad="38100" dist="38100" dir="2700000" algn="tl">
                    <a:srgbClr val="000000">
                      <a:alpha val="43137"/>
                    </a:srgbClr>
                  </a:outerShdw>
                </a:effectLst>
              </a:rPr>
              <a:t>the </a:t>
            </a:r>
            <a:r>
              <a:rPr lang="en-US" b="1" dirty="0">
                <a:solidFill>
                  <a:srgbClr val="0070C0"/>
                </a:solidFill>
                <a:effectLst>
                  <a:outerShdw blurRad="38100" dist="38100" dir="2700000" algn="tl">
                    <a:srgbClr val="000000">
                      <a:alpha val="43137"/>
                    </a:srgbClr>
                  </a:outerShdw>
                </a:effectLst>
              </a:rPr>
              <a:t>racial or ethnic origin, migration status, political opinions, religious or philosophical beliefs, disability, state of health, including chronic disease or HIV status, emotional or psychological state</a:t>
            </a:r>
            <a:r>
              <a:rPr lang="en-US" dirty="0">
                <a:solidFill>
                  <a:srgbClr val="002060"/>
                </a:solidFill>
                <a:effectLst>
                  <a:outerShdw blurRad="38100" dist="38100" dir="2700000" algn="tl">
                    <a:srgbClr val="000000">
                      <a:alpha val="43137"/>
                    </a:srgbClr>
                  </a:outerShdw>
                </a:effectLst>
              </a:rPr>
              <a:t>, trade union </a:t>
            </a:r>
            <a:r>
              <a:rPr lang="en-US" b="1" dirty="0">
                <a:solidFill>
                  <a:srgbClr val="0070C0"/>
                </a:solidFill>
                <a:effectLst>
                  <a:outerShdw blurRad="38100" dist="38100" dir="2700000" algn="tl">
                    <a:srgbClr val="000000">
                      <a:alpha val="43137"/>
                    </a:srgbClr>
                  </a:outerShdw>
                </a:effectLst>
              </a:rPr>
              <a:t>membership, sex life </a:t>
            </a:r>
            <a:r>
              <a:rPr lang="en-US" dirty="0">
                <a:solidFill>
                  <a:srgbClr val="002060"/>
                </a:solidFill>
                <a:effectLst>
                  <a:outerShdw blurRad="38100" dist="38100" dir="2700000" algn="tl">
                    <a:srgbClr val="000000">
                      <a:alpha val="43137"/>
                    </a:srgbClr>
                  </a:outerShdw>
                </a:effectLst>
              </a:rPr>
              <a:t>or sexual orientation; </a:t>
            </a:r>
            <a:endParaRPr lang="pl-PL" dirty="0">
              <a:solidFill>
                <a:srgbClr val="002060"/>
              </a:solidFill>
              <a:effectLst>
                <a:outerShdw blurRad="38100" dist="38100" dir="2700000" algn="tl">
                  <a:srgbClr val="000000">
                    <a:alpha val="43137"/>
                  </a:srgbClr>
                </a:outerShdw>
              </a:effectLst>
            </a:endParaRPr>
          </a:p>
          <a:p>
            <a:pPr marL="0" indent="0">
              <a:buNone/>
            </a:pPr>
            <a:r>
              <a:rPr lang="en-US" dirty="0">
                <a:solidFill>
                  <a:srgbClr val="002060"/>
                </a:solidFill>
                <a:effectLst>
                  <a:outerShdw blurRad="38100" dist="38100" dir="2700000" algn="tl">
                    <a:srgbClr val="000000">
                      <a:alpha val="43137"/>
                    </a:srgbClr>
                  </a:outerShdw>
                </a:effectLst>
              </a:rPr>
              <a:t>(f) </a:t>
            </a:r>
            <a:r>
              <a:rPr lang="en-US" b="1" dirty="0">
                <a:solidFill>
                  <a:srgbClr val="FF0000"/>
                </a:solidFill>
                <a:effectLst>
                  <a:outerShdw blurRad="38100" dist="38100" dir="2700000" algn="tl">
                    <a:srgbClr val="000000">
                      <a:alpha val="43137"/>
                    </a:srgbClr>
                  </a:outerShdw>
                </a:effectLst>
              </a:rPr>
              <a:t>process any biometric data</a:t>
            </a:r>
            <a:r>
              <a:rPr lang="en-US" dirty="0">
                <a:solidFill>
                  <a:srgbClr val="002060"/>
                </a:solidFill>
                <a:effectLst>
                  <a:outerShdw blurRad="38100" dist="38100" dir="2700000" algn="tl">
                    <a:srgbClr val="000000">
                      <a:alpha val="43137"/>
                    </a:srgbClr>
                  </a:outerShdw>
                </a:effectLst>
              </a:rPr>
              <a:t>, as defined in Article 4, point (14), of Regulation (EU) 2016/679, </a:t>
            </a:r>
            <a:r>
              <a:rPr lang="en-US" b="1" dirty="0">
                <a:solidFill>
                  <a:srgbClr val="002060"/>
                </a:solidFill>
                <a:effectLst>
                  <a:outerShdw blurRad="38100" dist="38100" dir="2700000" algn="tl">
                    <a:srgbClr val="000000">
                      <a:alpha val="43137"/>
                    </a:srgbClr>
                  </a:outerShdw>
                </a:effectLst>
              </a:rPr>
              <a:t>of a person performing platform work </a:t>
            </a:r>
            <a:r>
              <a:rPr lang="en-US" dirty="0">
                <a:solidFill>
                  <a:srgbClr val="002060"/>
                </a:solidFill>
                <a:effectLst>
                  <a:outerShdw blurRad="38100" dist="38100" dir="2700000" algn="tl">
                    <a:srgbClr val="000000">
                      <a:alpha val="43137"/>
                    </a:srgbClr>
                  </a:outerShdw>
                </a:effectLst>
              </a:rPr>
              <a:t>to establish that person’s identity </a:t>
            </a:r>
            <a:r>
              <a:rPr lang="en-US" b="1" dirty="0">
                <a:solidFill>
                  <a:srgbClr val="FF0000"/>
                </a:solidFill>
                <a:effectLst>
                  <a:outerShdw blurRad="38100" dist="38100" dir="2700000" algn="tl">
                    <a:srgbClr val="000000">
                      <a:alpha val="43137"/>
                    </a:srgbClr>
                  </a:outerShdw>
                </a:effectLst>
              </a:rPr>
              <a:t>by comparing that data to stored biometric data of natural persons in a database</a:t>
            </a:r>
            <a:endParaRPr lang="pl-PL" b="1" dirty="0">
              <a:solidFill>
                <a:srgbClr val="FF000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The </a:t>
            </a:r>
            <a:r>
              <a:rPr lang="pl-PL" dirty="0" err="1">
                <a:solidFill>
                  <a:srgbClr val="002060"/>
                </a:solidFill>
                <a:effectLst>
                  <a:outerShdw blurRad="38100" dist="38100" dir="2700000" algn="tl">
                    <a:srgbClr val="000000">
                      <a:alpha val="43137"/>
                    </a:srgbClr>
                  </a:outerShdw>
                </a:effectLst>
              </a:rPr>
              <a:t>above</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shall</a:t>
            </a:r>
            <a:r>
              <a:rPr lang="pl-PL"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apply to all persons performing platform work </a:t>
            </a:r>
            <a:r>
              <a:rPr lang="en-US" b="1" dirty="0">
                <a:solidFill>
                  <a:srgbClr val="FF0000"/>
                </a:solidFill>
                <a:effectLst>
                  <a:outerShdw blurRad="38100" dist="38100" dir="2700000" algn="tl">
                    <a:srgbClr val="000000">
                      <a:alpha val="43137"/>
                    </a:srgbClr>
                  </a:outerShdw>
                </a:effectLst>
              </a:rPr>
              <a:t>from the start of the recruitment or selection </a:t>
            </a:r>
            <a:r>
              <a:rPr lang="en-US" dirty="0">
                <a:solidFill>
                  <a:srgbClr val="002060"/>
                </a:solidFill>
                <a:effectLst>
                  <a:outerShdw blurRad="38100" dist="38100" dir="2700000" algn="tl">
                    <a:srgbClr val="000000">
                      <a:alpha val="43137"/>
                    </a:srgbClr>
                  </a:outerShdw>
                </a:effectLst>
              </a:rPr>
              <a:t>procedure</a:t>
            </a:r>
          </a:p>
          <a:p>
            <a:endParaRPr lang="en-US" dirty="0"/>
          </a:p>
        </p:txBody>
      </p:sp>
      <p:sp>
        <p:nvSpPr>
          <p:cNvPr id="4" name="Symbol zastępczy numeru slajdu 3">
            <a:extLst>
              <a:ext uri="{FF2B5EF4-FFF2-40B4-BE49-F238E27FC236}">
                <a16:creationId xmlns:a16="http://schemas.microsoft.com/office/drawing/2014/main" id="{CF5F37A1-D4D6-B8BE-DFDF-969EAD241F36}"/>
              </a:ext>
            </a:extLst>
          </p:cNvPr>
          <p:cNvSpPr>
            <a:spLocks noGrp="1"/>
          </p:cNvSpPr>
          <p:nvPr>
            <p:ph type="sldNum" sz="quarter" idx="12"/>
          </p:nvPr>
        </p:nvSpPr>
        <p:spPr/>
        <p:txBody>
          <a:bodyPr/>
          <a:lstStyle/>
          <a:p>
            <a:fld id="{31FE8408-9B39-4718-B64F-54F72D092B1B}" type="slidenum">
              <a:rPr lang="pl-PL" smtClean="0"/>
              <a:t>28</a:t>
            </a:fld>
            <a:endParaRPr lang="pl-PL" dirty="0"/>
          </a:p>
        </p:txBody>
      </p:sp>
    </p:spTree>
    <p:extLst>
      <p:ext uri="{BB962C8B-B14F-4D97-AF65-F5344CB8AC3E}">
        <p14:creationId xmlns:p14="http://schemas.microsoft.com/office/powerpoint/2010/main" val="5272316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4B344CF-156B-683A-4405-9E7C70F63C4C}"/>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a:t>
            </a:r>
            <a:r>
              <a:rPr lang="pl-PL" b="1" dirty="0">
                <a:solidFill>
                  <a:srgbClr val="FF0000"/>
                </a:solidFill>
                <a:effectLst>
                  <a:outerShdw blurRad="38100" dist="38100" dir="2700000" algn="tl">
                    <a:srgbClr val="000000">
                      <a:alpha val="43137"/>
                    </a:srgbClr>
                  </a:outerShdw>
                </a:effectLst>
              </a:rPr>
              <a:t>EU </a:t>
            </a:r>
            <a:r>
              <a:rPr lang="pl-PL" b="1" dirty="0" err="1">
                <a:solidFill>
                  <a:srgbClr val="FF0000"/>
                </a:solidFill>
                <a:effectLst>
                  <a:outerShdw blurRad="38100" dist="38100" dir="2700000" algn="tl">
                    <a:srgbClr val="000000">
                      <a:alpha val="43137"/>
                    </a:srgbClr>
                  </a:outerShdw>
                </a:effectLst>
              </a:rPr>
              <a:t>directive</a:t>
            </a:r>
            <a:r>
              <a:rPr lang="pl-PL" b="1" dirty="0">
                <a:solidFill>
                  <a:srgbClr val="FF000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concerning</a:t>
            </a:r>
            <a:r>
              <a:rPr lang="pl-PL" dirty="0">
                <a:solidFill>
                  <a:srgbClr val="002060"/>
                </a:solidFill>
                <a:effectLst>
                  <a:outerShdw blurRad="38100" dist="38100" dir="2700000" algn="tl">
                    <a:srgbClr val="000000">
                      <a:alpha val="43137"/>
                    </a:srgbClr>
                  </a:outerShdw>
                </a:effectLst>
              </a:rPr>
              <a:t> the GIG </a:t>
            </a:r>
            <a:r>
              <a:rPr lang="pl-PL" dirty="0" err="1">
                <a:solidFill>
                  <a:srgbClr val="002060"/>
                </a:solidFill>
                <a:effectLst>
                  <a:outerShdw blurRad="38100" dist="38100" dir="2700000" algn="tl">
                    <a:srgbClr val="000000">
                      <a:alpha val="43137"/>
                    </a:srgbClr>
                  </a:outerShdw>
                </a:effectLst>
              </a:rPr>
              <a:t>economy</a:t>
            </a:r>
            <a:endParaRPr lang="en-US" dirty="0"/>
          </a:p>
        </p:txBody>
      </p:sp>
      <p:sp>
        <p:nvSpPr>
          <p:cNvPr id="3" name="Symbol zastępczy zawartości 2">
            <a:extLst>
              <a:ext uri="{FF2B5EF4-FFF2-40B4-BE49-F238E27FC236}">
                <a16:creationId xmlns:a16="http://schemas.microsoft.com/office/drawing/2014/main" id="{9B7B5BCE-9006-F433-A83F-FE91AF299DA7}"/>
              </a:ext>
            </a:extLst>
          </p:cNvPr>
          <p:cNvSpPr>
            <a:spLocks noGrp="1"/>
          </p:cNvSpPr>
          <p:nvPr>
            <p:ph idx="1"/>
          </p:nvPr>
        </p:nvSpPr>
        <p:spPr/>
        <p:txBody>
          <a:bodyPr>
            <a:normAutofit/>
          </a:bodyPr>
          <a:lstStyle/>
          <a:p>
            <a:r>
              <a:rPr lang="pl-PL" dirty="0">
                <a:solidFill>
                  <a:srgbClr val="002060"/>
                </a:solidFill>
                <a:effectLst>
                  <a:outerShdw blurRad="38100" dist="38100" dir="2700000" algn="tl">
                    <a:srgbClr val="000000">
                      <a:alpha val="43137"/>
                    </a:srgbClr>
                  </a:outerShdw>
                </a:effectLst>
              </a:rPr>
              <a:t>D</a:t>
            </a:r>
            <a:r>
              <a:rPr lang="en-US" dirty="0" err="1">
                <a:solidFill>
                  <a:srgbClr val="002060"/>
                </a:solidFill>
                <a:effectLst>
                  <a:outerShdw blurRad="38100" dist="38100" dir="2700000" algn="tl">
                    <a:srgbClr val="000000">
                      <a:alpha val="43137"/>
                    </a:srgbClr>
                  </a:outerShdw>
                </a:effectLst>
              </a:rPr>
              <a:t>igital</a:t>
            </a:r>
            <a:r>
              <a:rPr lang="en-US" dirty="0">
                <a:solidFill>
                  <a:srgbClr val="002060"/>
                </a:solidFill>
                <a:effectLst>
                  <a:outerShdw blurRad="38100" dist="38100" dir="2700000" algn="tl">
                    <a:srgbClr val="000000">
                      <a:alpha val="43137"/>
                    </a:srgbClr>
                  </a:outerShdw>
                </a:effectLst>
              </a:rPr>
              <a:t> </a:t>
            </a:r>
            <a:r>
              <a:rPr lang="en-US" dirty="0" err="1">
                <a:solidFill>
                  <a:srgbClr val="002060"/>
                </a:solidFill>
                <a:effectLst>
                  <a:outerShdw blurRad="38100" dist="38100" dir="2700000" algn="tl">
                    <a:srgbClr val="000000">
                      <a:alpha val="43137"/>
                    </a:srgbClr>
                  </a:outerShdw>
                </a:effectLst>
              </a:rPr>
              <a:t>labour</a:t>
            </a:r>
            <a:r>
              <a:rPr lang="en-US"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platforms </a:t>
            </a:r>
            <a:r>
              <a:rPr lang="pl-PL" b="1" dirty="0" err="1">
                <a:solidFill>
                  <a:srgbClr val="FF0000"/>
                </a:solidFill>
                <a:effectLst>
                  <a:outerShdw blurRad="38100" dist="38100" dir="2700000" algn="tl">
                    <a:srgbClr val="000000">
                      <a:alpha val="43137"/>
                    </a:srgbClr>
                  </a:outerShdw>
                </a:effectLst>
              </a:rPr>
              <a:t>must</a:t>
            </a:r>
            <a:r>
              <a:rPr lang="en-US" b="1" dirty="0">
                <a:solidFill>
                  <a:srgbClr val="FF0000"/>
                </a:solidFill>
                <a:effectLst>
                  <a:outerShdw blurRad="38100" dist="38100" dir="2700000" algn="tl">
                    <a:srgbClr val="000000">
                      <a:alpha val="43137"/>
                    </a:srgbClr>
                  </a:outerShdw>
                </a:effectLst>
              </a:rPr>
              <a:t> inform </a:t>
            </a:r>
            <a:r>
              <a:rPr lang="en-US" dirty="0">
                <a:solidFill>
                  <a:srgbClr val="002060"/>
                </a:solidFill>
                <a:effectLst>
                  <a:outerShdw blurRad="38100" dist="38100" dir="2700000" algn="tl">
                    <a:srgbClr val="000000">
                      <a:alpha val="43137"/>
                    </a:srgbClr>
                  </a:outerShdw>
                </a:effectLst>
              </a:rPr>
              <a:t>persons performing platform work</a:t>
            </a:r>
            <a:r>
              <a:rPr lang="pl-PL" dirty="0">
                <a:solidFill>
                  <a:srgbClr val="002060"/>
                </a:solidFill>
                <a:effectLst>
                  <a:outerShdw blurRad="38100" dist="38100" dir="2700000" algn="tl">
                    <a:srgbClr val="000000">
                      <a:alpha val="43137"/>
                    </a:srgbClr>
                  </a:outerShdw>
                </a:effectLst>
              </a:rPr>
              <a:t> (on </a:t>
            </a:r>
            <a:r>
              <a:rPr lang="pl-PL" dirty="0" err="1">
                <a:solidFill>
                  <a:srgbClr val="002060"/>
                </a:solidFill>
                <a:effectLst>
                  <a:outerShdw blurRad="38100" dist="38100" dir="2700000" algn="tl">
                    <a:srgbClr val="000000">
                      <a:alpha val="43137"/>
                    </a:srgbClr>
                  </a:outerShdw>
                </a:effectLst>
              </a:rPr>
              <a:t>demand</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answer</a:t>
            </a:r>
            <a:r>
              <a:rPr lang="pl-PL" dirty="0">
                <a:solidFill>
                  <a:srgbClr val="002060"/>
                </a:solidFill>
                <a:effectLst>
                  <a:outerShdw blurRad="38100" dist="38100" dir="2700000" algn="tl">
                    <a:srgbClr val="000000">
                      <a:alpha val="43137"/>
                    </a:srgbClr>
                  </a:outerShdw>
                </a:effectLst>
              </a:rPr>
              <a:t> in </a:t>
            </a:r>
            <a:r>
              <a:rPr lang="pl-PL" dirty="0" err="1">
                <a:solidFill>
                  <a:srgbClr val="002060"/>
                </a:solidFill>
                <a:effectLst>
                  <a:outerShdw blurRad="38100" dist="38100" dir="2700000" algn="tl">
                    <a:srgbClr val="000000">
                      <a:alpha val="43137"/>
                    </a:srgbClr>
                  </a:outerShdw>
                </a:effectLst>
              </a:rPr>
              <a:t>writing</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platform workers’ representatives</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and, upon request, national competent authorities, </a:t>
            </a:r>
            <a:r>
              <a:rPr lang="en-US" b="1" dirty="0">
                <a:solidFill>
                  <a:srgbClr val="FF0000"/>
                </a:solidFill>
                <a:effectLst>
                  <a:outerShdw blurRad="38100" dist="38100" dir="2700000" algn="tl">
                    <a:srgbClr val="000000">
                      <a:alpha val="43137"/>
                    </a:srgbClr>
                  </a:outerShdw>
                </a:effectLst>
              </a:rPr>
              <a:t>of the use of automated monitoring systems or automated decision-making systems</a:t>
            </a:r>
            <a:r>
              <a:rPr lang="pl-PL" b="1" dirty="0">
                <a:solidFill>
                  <a:srgbClr val="FF0000"/>
                </a:solidFill>
                <a:effectLst>
                  <a:outerShdw blurRad="38100" dist="38100" dir="2700000" algn="tl">
                    <a:srgbClr val="000000">
                      <a:alpha val="43137"/>
                    </a:srgbClr>
                  </a:outerShdw>
                </a:effectLst>
              </a:rPr>
              <a:t> </a:t>
            </a:r>
            <a:r>
              <a:rPr lang="pl-PL" dirty="0">
                <a:solidFill>
                  <a:srgbClr val="002060"/>
                </a:solidFill>
                <a:effectLst>
                  <a:outerShdw blurRad="38100" dist="38100" dir="2700000" algn="tl">
                    <a:srgbClr val="000000">
                      <a:alpha val="43137"/>
                    </a:srgbClr>
                  </a:outerShdw>
                </a:effectLst>
              </a:rPr>
              <a:t>(</a:t>
            </a:r>
            <a:r>
              <a:rPr lang="pl-PL" dirty="0" err="1">
                <a:solidFill>
                  <a:srgbClr val="002060"/>
                </a:solidFill>
                <a:effectLst>
                  <a:outerShdw blurRad="38100" dist="38100" dir="2700000" algn="tl">
                    <a:srgbClr val="000000">
                      <a:alpha val="43137"/>
                    </a:srgbClr>
                  </a:outerShdw>
                </a:effectLst>
              </a:rPr>
              <a:t>detailed</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scope</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described</a:t>
            </a:r>
            <a:r>
              <a:rPr lang="pl-PL" dirty="0">
                <a:solidFill>
                  <a:srgbClr val="002060"/>
                </a:solidFill>
                <a:effectLst>
                  <a:outerShdw blurRad="38100" dist="38100" dir="2700000" algn="tl">
                    <a:srgbClr val="000000">
                      <a:alpha val="43137"/>
                    </a:srgbClr>
                  </a:outerShdw>
                </a:effectLst>
              </a:rPr>
              <a:t> in the </a:t>
            </a:r>
            <a:r>
              <a:rPr lang="pl-PL" dirty="0" err="1">
                <a:solidFill>
                  <a:srgbClr val="002060"/>
                </a:solidFill>
                <a:effectLst>
                  <a:outerShdw blurRad="38100" dist="38100" dir="2700000" algn="tl">
                    <a:srgbClr val="000000">
                      <a:alpha val="43137"/>
                    </a:srgbClr>
                  </a:outerShdw>
                </a:effectLst>
              </a:rPr>
              <a:t>directive</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a:t>
            </a:r>
            <a:r>
              <a:rPr lang="pl-PL" dirty="0">
                <a:solidFill>
                  <a:srgbClr val="002060"/>
                </a:solidFill>
                <a:effectLst>
                  <a:outerShdw blurRad="38100" dist="38100" dir="2700000" algn="tl">
                    <a:srgbClr val="000000">
                      <a:alpha val="43137"/>
                    </a:srgbClr>
                  </a:outerShdw>
                </a:effectLst>
              </a:rPr>
              <a:t> </a:t>
            </a:r>
          </a:p>
          <a:p>
            <a:r>
              <a:rPr lang="pl-PL" dirty="0">
                <a:solidFill>
                  <a:srgbClr val="002060"/>
                </a:solidFill>
                <a:effectLst>
                  <a:outerShdw blurRad="38100" dist="38100" dir="2700000" algn="tl">
                    <a:srgbClr val="000000">
                      <a:alpha val="43137"/>
                    </a:srgbClr>
                  </a:outerShdw>
                </a:effectLst>
              </a:rPr>
              <a:t>The </a:t>
            </a:r>
            <a:r>
              <a:rPr lang="pl-PL" dirty="0" err="1">
                <a:solidFill>
                  <a:srgbClr val="002060"/>
                </a:solidFill>
                <a:effectLst>
                  <a:outerShdw blurRad="38100" dist="38100" dir="2700000" algn="tl">
                    <a:srgbClr val="000000">
                      <a:alpha val="43137"/>
                    </a:srgbClr>
                  </a:outerShdw>
                </a:effectLst>
              </a:rPr>
              <a:t>above</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information</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should</a:t>
            </a:r>
            <a:r>
              <a:rPr lang="pl-PL" dirty="0">
                <a:solidFill>
                  <a:srgbClr val="002060"/>
                </a:solidFill>
                <a:effectLst>
                  <a:outerShdw blurRad="38100" dist="38100" dir="2700000" algn="tl">
                    <a:srgbClr val="000000">
                      <a:alpha val="43137"/>
                    </a:srgbClr>
                  </a:outerShdw>
                </a:effectLst>
              </a:rPr>
              <a:t> be </a:t>
            </a:r>
            <a:r>
              <a:rPr lang="pl-PL" dirty="0" err="1">
                <a:solidFill>
                  <a:srgbClr val="002060"/>
                </a:solidFill>
                <a:effectLst>
                  <a:outerShdw blurRad="38100" dist="38100" dir="2700000" algn="tl">
                    <a:srgbClr val="000000">
                      <a:alpha val="43137"/>
                    </a:srgbClr>
                  </a:outerShdw>
                </a:effectLst>
              </a:rPr>
              <a:t>provided</a:t>
            </a:r>
            <a:r>
              <a:rPr lang="pl-PL" dirty="0">
                <a:solidFill>
                  <a:srgbClr val="002060"/>
                </a:solidFill>
                <a:effectLst>
                  <a:outerShdw blurRad="38100" dist="38100" dir="2700000" algn="tl">
                    <a:srgbClr val="000000">
                      <a:alpha val="43137"/>
                    </a:srgbClr>
                  </a:outerShdw>
                </a:effectLst>
              </a:rPr>
              <a:t> to the </a:t>
            </a:r>
            <a:r>
              <a:rPr lang="pl-PL" dirty="0" err="1">
                <a:solidFill>
                  <a:srgbClr val="002060"/>
                </a:solidFill>
                <a:effectLst>
                  <a:outerShdw blurRad="38100" dist="38100" dir="2700000" algn="tl">
                    <a:srgbClr val="000000">
                      <a:alpha val="43137"/>
                    </a:srgbClr>
                  </a:outerShdw>
                </a:effectLst>
              </a:rPr>
              <a:t>workers</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representatives</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before</a:t>
            </a:r>
            <a:r>
              <a:rPr lang="pl-PL" dirty="0">
                <a:solidFill>
                  <a:srgbClr val="002060"/>
                </a:solidFill>
                <a:effectLst>
                  <a:outerShdw blurRad="38100" dist="38100" dir="2700000" algn="tl">
                    <a:srgbClr val="000000">
                      <a:alpha val="43137"/>
                    </a:srgbClr>
                  </a:outerShdw>
                </a:effectLst>
              </a:rPr>
              <a:t> the system </a:t>
            </a:r>
            <a:r>
              <a:rPr lang="pl-PL" dirty="0" err="1">
                <a:solidFill>
                  <a:srgbClr val="002060"/>
                </a:solidFill>
                <a:effectLst>
                  <a:outerShdw blurRad="38100" dist="38100" dir="2700000" algn="tl">
                    <a:srgbClr val="000000">
                      <a:alpha val="43137"/>
                    </a:srgbClr>
                  </a:outerShdw>
                </a:effectLst>
              </a:rPr>
              <a:t>is</a:t>
            </a:r>
            <a:r>
              <a:rPr lang="pl-PL" dirty="0">
                <a:solidFill>
                  <a:srgbClr val="002060"/>
                </a:solidFill>
                <a:effectLst>
                  <a:outerShdw blurRad="38100" dist="38100" dir="2700000" algn="tl">
                    <a:srgbClr val="000000">
                      <a:alpha val="43137"/>
                    </a:srgbClr>
                  </a:outerShdw>
                </a:effectLst>
              </a:rPr>
              <a:t> applied</a:t>
            </a:r>
          </a:p>
          <a:p>
            <a:endParaRPr lang="en-US" dirty="0">
              <a:solidFill>
                <a:srgbClr val="002060"/>
              </a:solidFill>
              <a:effectLst>
                <a:outerShdw blurRad="38100" dist="38100" dir="2700000" algn="tl">
                  <a:srgbClr val="000000">
                    <a:alpha val="43137"/>
                  </a:srgbClr>
                </a:outerShdw>
              </a:effectLst>
            </a:endParaRPr>
          </a:p>
        </p:txBody>
      </p:sp>
      <p:sp>
        <p:nvSpPr>
          <p:cNvPr id="4" name="Symbol zastępczy numeru slajdu 3">
            <a:extLst>
              <a:ext uri="{FF2B5EF4-FFF2-40B4-BE49-F238E27FC236}">
                <a16:creationId xmlns:a16="http://schemas.microsoft.com/office/drawing/2014/main" id="{E7A8B169-29F6-968B-399E-797B74505491}"/>
              </a:ext>
            </a:extLst>
          </p:cNvPr>
          <p:cNvSpPr>
            <a:spLocks noGrp="1"/>
          </p:cNvSpPr>
          <p:nvPr>
            <p:ph type="sldNum" sz="quarter" idx="12"/>
          </p:nvPr>
        </p:nvSpPr>
        <p:spPr/>
        <p:txBody>
          <a:bodyPr/>
          <a:lstStyle/>
          <a:p>
            <a:fld id="{31FE8408-9B39-4718-B64F-54F72D092B1B}" type="slidenum">
              <a:rPr lang="pl-PL" smtClean="0"/>
              <a:t>29</a:t>
            </a:fld>
            <a:endParaRPr lang="pl-PL" dirty="0"/>
          </a:p>
        </p:txBody>
      </p:sp>
    </p:spTree>
    <p:extLst>
      <p:ext uri="{BB962C8B-B14F-4D97-AF65-F5344CB8AC3E}">
        <p14:creationId xmlns:p14="http://schemas.microsoft.com/office/powerpoint/2010/main" val="9270171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3DD8AF30-CDDD-5F86-88BE-10FF8BA2ECD2}"/>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a:t>
            </a:r>
            <a:r>
              <a:rPr lang="pl-PL" b="1" dirty="0">
                <a:solidFill>
                  <a:srgbClr val="FF0000"/>
                </a:solidFill>
                <a:effectLst>
                  <a:outerShdw blurRad="38100" dist="38100" dir="2700000" algn="tl">
                    <a:srgbClr val="000000">
                      <a:alpha val="43137"/>
                    </a:srgbClr>
                  </a:outerShdw>
                </a:effectLst>
              </a:rPr>
              <a:t>EU </a:t>
            </a:r>
            <a:r>
              <a:rPr lang="pl-PL" b="1" dirty="0" err="1">
                <a:solidFill>
                  <a:srgbClr val="FF0000"/>
                </a:solidFill>
                <a:effectLst>
                  <a:outerShdw blurRad="38100" dist="38100" dir="2700000" algn="tl">
                    <a:srgbClr val="000000">
                      <a:alpha val="43137"/>
                    </a:srgbClr>
                  </a:outerShdw>
                </a:effectLst>
              </a:rPr>
              <a:t>directive</a:t>
            </a:r>
            <a:r>
              <a:rPr lang="pl-PL" b="1" dirty="0">
                <a:solidFill>
                  <a:srgbClr val="FF000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concerning</a:t>
            </a:r>
            <a:r>
              <a:rPr lang="pl-PL" dirty="0">
                <a:solidFill>
                  <a:srgbClr val="002060"/>
                </a:solidFill>
                <a:effectLst>
                  <a:outerShdw blurRad="38100" dist="38100" dir="2700000" algn="tl">
                    <a:srgbClr val="000000">
                      <a:alpha val="43137"/>
                    </a:srgbClr>
                  </a:outerShdw>
                </a:effectLst>
              </a:rPr>
              <a:t> the GIG </a:t>
            </a:r>
            <a:r>
              <a:rPr lang="pl-PL" dirty="0" err="1">
                <a:solidFill>
                  <a:srgbClr val="002060"/>
                </a:solidFill>
                <a:effectLst>
                  <a:outerShdw blurRad="38100" dist="38100" dir="2700000" algn="tl">
                    <a:srgbClr val="000000">
                      <a:alpha val="43137"/>
                    </a:srgbClr>
                  </a:outerShdw>
                </a:effectLst>
              </a:rPr>
              <a:t>economy</a:t>
            </a:r>
            <a:endParaRPr lang="en-US" dirty="0"/>
          </a:p>
        </p:txBody>
      </p:sp>
      <p:sp>
        <p:nvSpPr>
          <p:cNvPr id="3" name="Symbol zastępczy zawartości 2">
            <a:extLst>
              <a:ext uri="{FF2B5EF4-FFF2-40B4-BE49-F238E27FC236}">
                <a16:creationId xmlns:a16="http://schemas.microsoft.com/office/drawing/2014/main" id="{84CC02D4-BF1D-7BD7-5B11-F37D6D38D545}"/>
              </a:ext>
            </a:extLst>
          </p:cNvPr>
          <p:cNvSpPr>
            <a:spLocks noGrp="1"/>
          </p:cNvSpPr>
          <p:nvPr>
            <p:ph idx="1"/>
          </p:nvPr>
        </p:nvSpPr>
        <p:spPr>
          <a:xfrm>
            <a:off x="838200" y="1825625"/>
            <a:ext cx="10515600" cy="4771820"/>
          </a:xfrm>
        </p:spPr>
        <p:txBody>
          <a:bodyPr>
            <a:normAutofit fontScale="85000" lnSpcReduction="10000"/>
          </a:bodyPr>
          <a:lstStyle/>
          <a:p>
            <a:pPr marL="0" indent="0">
              <a:buNone/>
            </a:pPr>
            <a:r>
              <a:rPr lang="pl-PL" dirty="0">
                <a:solidFill>
                  <a:srgbClr val="002060"/>
                </a:solidFill>
                <a:effectLst>
                  <a:outerShdw blurRad="38100" dist="38100" dir="2700000" algn="tl">
                    <a:srgbClr val="000000">
                      <a:alpha val="43137"/>
                    </a:srgbClr>
                  </a:outerShdw>
                </a:effectLst>
              </a:rPr>
              <a:t>HUMAN OVERSIGHT</a:t>
            </a:r>
          </a:p>
          <a:p>
            <a:r>
              <a:rPr lang="pl-PL" dirty="0">
                <a:solidFill>
                  <a:srgbClr val="002060"/>
                </a:solidFill>
                <a:effectLst>
                  <a:outerShdw blurRad="38100" dist="38100" dir="2700000" algn="tl">
                    <a:srgbClr val="000000">
                      <a:alpha val="43137"/>
                    </a:srgbClr>
                  </a:outerShdw>
                </a:effectLst>
              </a:rPr>
              <a:t>D</a:t>
            </a:r>
            <a:r>
              <a:rPr lang="en-US" dirty="0" err="1">
                <a:solidFill>
                  <a:srgbClr val="002060"/>
                </a:solidFill>
                <a:effectLst>
                  <a:outerShdw blurRad="38100" dist="38100" dir="2700000" algn="tl">
                    <a:srgbClr val="000000">
                      <a:alpha val="43137"/>
                    </a:srgbClr>
                  </a:outerShdw>
                </a:effectLst>
              </a:rPr>
              <a:t>igital</a:t>
            </a:r>
            <a:r>
              <a:rPr lang="en-US" dirty="0">
                <a:solidFill>
                  <a:srgbClr val="002060"/>
                </a:solidFill>
                <a:effectLst>
                  <a:outerShdw blurRad="38100" dist="38100" dir="2700000" algn="tl">
                    <a:srgbClr val="000000">
                      <a:alpha val="43137"/>
                    </a:srgbClr>
                  </a:outerShdw>
                </a:effectLst>
              </a:rPr>
              <a:t> </a:t>
            </a:r>
            <a:r>
              <a:rPr lang="en-US" dirty="0" err="1">
                <a:solidFill>
                  <a:srgbClr val="002060"/>
                </a:solidFill>
                <a:effectLst>
                  <a:outerShdw blurRad="38100" dist="38100" dir="2700000" algn="tl">
                    <a:srgbClr val="000000">
                      <a:alpha val="43137"/>
                    </a:srgbClr>
                  </a:outerShdw>
                </a:effectLst>
              </a:rPr>
              <a:t>labour</a:t>
            </a:r>
            <a:r>
              <a:rPr lang="en-US" dirty="0">
                <a:solidFill>
                  <a:srgbClr val="002060"/>
                </a:solidFill>
                <a:effectLst>
                  <a:outerShdw blurRad="38100" dist="38100" dir="2700000" algn="tl">
                    <a:srgbClr val="000000">
                      <a:alpha val="43137"/>
                    </a:srgbClr>
                  </a:outerShdw>
                </a:effectLst>
              </a:rPr>
              <a:t> platforms oversee and, with the involvement of workers’ representatives, regularly and in any event </a:t>
            </a:r>
            <a:r>
              <a:rPr lang="en-US" b="1" dirty="0">
                <a:solidFill>
                  <a:srgbClr val="002060"/>
                </a:solidFill>
                <a:effectLst>
                  <a:outerShdw blurRad="38100" dist="38100" dir="2700000" algn="tl">
                    <a:srgbClr val="000000">
                      <a:alpha val="43137"/>
                    </a:srgbClr>
                  </a:outerShdw>
                </a:effectLst>
              </a:rPr>
              <a:t>every two years</a:t>
            </a:r>
            <a:r>
              <a:rPr lang="en-US" dirty="0">
                <a:solidFill>
                  <a:srgbClr val="002060"/>
                </a:solidFill>
                <a:effectLst>
                  <a:outerShdw blurRad="38100" dist="38100" dir="2700000" algn="tl">
                    <a:srgbClr val="000000">
                      <a:alpha val="43137"/>
                    </a:srgbClr>
                  </a:outerShdw>
                </a:effectLst>
              </a:rPr>
              <a:t>, carry out an </a:t>
            </a:r>
            <a:r>
              <a:rPr lang="en-US" b="1" dirty="0">
                <a:solidFill>
                  <a:srgbClr val="002060"/>
                </a:solidFill>
                <a:effectLst>
                  <a:outerShdw blurRad="38100" dist="38100" dir="2700000" algn="tl">
                    <a:srgbClr val="000000">
                      <a:alpha val="43137"/>
                    </a:srgbClr>
                  </a:outerShdw>
                </a:effectLst>
              </a:rPr>
              <a:t>evaluation of </a:t>
            </a:r>
            <a:r>
              <a:rPr lang="en-US" b="1" dirty="0">
                <a:solidFill>
                  <a:srgbClr val="FF0000"/>
                </a:solidFill>
                <a:effectLst>
                  <a:outerShdw blurRad="38100" dist="38100" dir="2700000" algn="tl">
                    <a:srgbClr val="000000">
                      <a:alpha val="43137"/>
                    </a:srgbClr>
                  </a:outerShdw>
                </a:effectLst>
                <a:highlight>
                  <a:srgbClr val="00FF00"/>
                </a:highlight>
              </a:rPr>
              <a:t>the impact </a:t>
            </a:r>
            <a:r>
              <a:rPr lang="en-US" b="1" dirty="0">
                <a:solidFill>
                  <a:srgbClr val="002060"/>
                </a:solidFill>
                <a:effectLst>
                  <a:outerShdw blurRad="38100" dist="38100" dir="2700000" algn="tl">
                    <a:srgbClr val="000000">
                      <a:alpha val="43137"/>
                    </a:srgbClr>
                  </a:outerShdw>
                </a:effectLst>
              </a:rPr>
              <a:t>of individual decisions </a:t>
            </a:r>
            <a:r>
              <a:rPr lang="en-US" b="1" dirty="0">
                <a:solidFill>
                  <a:srgbClr val="FF0000"/>
                </a:solidFill>
                <a:effectLst>
                  <a:outerShdw blurRad="38100" dist="38100" dir="2700000" algn="tl">
                    <a:srgbClr val="000000">
                      <a:alpha val="43137"/>
                    </a:srgbClr>
                  </a:outerShdw>
                </a:effectLst>
              </a:rPr>
              <a:t>taken or supported by automated monitoring systems </a:t>
            </a:r>
            <a:r>
              <a:rPr lang="en-US" dirty="0">
                <a:solidFill>
                  <a:srgbClr val="002060"/>
                </a:solidFill>
                <a:effectLst>
                  <a:outerShdw blurRad="38100" dist="38100" dir="2700000" algn="tl">
                    <a:srgbClr val="000000">
                      <a:alpha val="43137"/>
                    </a:srgbClr>
                  </a:outerShdw>
                </a:effectLst>
              </a:rPr>
              <a:t>and </a:t>
            </a:r>
            <a:r>
              <a:rPr lang="en-US" b="1" dirty="0">
                <a:solidFill>
                  <a:srgbClr val="FF0000"/>
                </a:solidFill>
                <a:effectLst>
                  <a:outerShdw blurRad="38100" dist="38100" dir="2700000" algn="tl">
                    <a:srgbClr val="000000">
                      <a:alpha val="43137"/>
                    </a:srgbClr>
                  </a:outerShdw>
                </a:effectLst>
              </a:rPr>
              <a:t>automated decision-making systems </a:t>
            </a:r>
            <a:r>
              <a:rPr lang="en-US" b="1" dirty="0">
                <a:solidFill>
                  <a:srgbClr val="002060"/>
                </a:solidFill>
                <a:effectLst>
                  <a:outerShdw blurRad="38100" dist="38100" dir="2700000" algn="tl">
                    <a:srgbClr val="000000">
                      <a:alpha val="43137"/>
                    </a:srgbClr>
                  </a:outerShdw>
                </a:effectLst>
              </a:rPr>
              <a:t>on persons performing platform work</a:t>
            </a:r>
            <a:r>
              <a:rPr lang="en-US" dirty="0">
                <a:solidFill>
                  <a:srgbClr val="002060"/>
                </a:solidFill>
                <a:effectLst>
                  <a:outerShdw blurRad="38100" dist="38100" dir="2700000" algn="tl">
                    <a:srgbClr val="000000">
                      <a:alpha val="43137"/>
                    </a:srgbClr>
                  </a:outerShdw>
                </a:effectLst>
              </a:rPr>
              <a:t>, including, where applicable, on their </a:t>
            </a:r>
            <a:r>
              <a:rPr lang="en-US" b="1" dirty="0">
                <a:solidFill>
                  <a:srgbClr val="0070C0"/>
                </a:solidFill>
                <a:effectLst>
                  <a:outerShdw blurRad="38100" dist="38100" dir="2700000" algn="tl">
                    <a:srgbClr val="000000">
                      <a:alpha val="43137"/>
                    </a:srgbClr>
                  </a:outerShdw>
                </a:effectLst>
              </a:rPr>
              <a:t>working conditions and equal treatment at work</a:t>
            </a:r>
            <a:endParaRPr lang="pl-PL" b="1" dirty="0">
              <a:solidFill>
                <a:srgbClr val="0070C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Where the oversight </a:t>
            </a:r>
            <a:r>
              <a:rPr lang="en-US" b="1" dirty="0">
                <a:solidFill>
                  <a:srgbClr val="FF0000"/>
                </a:solidFill>
                <a:effectLst>
                  <a:outerShdw blurRad="38100" dist="38100" dir="2700000" algn="tl">
                    <a:srgbClr val="000000">
                      <a:alpha val="43137"/>
                    </a:srgbClr>
                  </a:outerShdw>
                </a:effectLst>
              </a:rPr>
              <a:t>identifies a high risk of discrimination </a:t>
            </a:r>
            <a:r>
              <a:rPr lang="en-US" dirty="0">
                <a:solidFill>
                  <a:srgbClr val="002060"/>
                </a:solidFill>
                <a:effectLst>
                  <a:outerShdw blurRad="38100" dist="38100" dir="2700000" algn="tl">
                    <a:srgbClr val="000000">
                      <a:alpha val="43137"/>
                    </a:srgbClr>
                  </a:outerShdw>
                </a:effectLst>
              </a:rPr>
              <a:t>at work in the use of automated monitoring systems or automated decision-making systems or finds that individual decisions taken or supported by automated monitoring systems or automated decision-making systems </a:t>
            </a:r>
            <a:r>
              <a:rPr lang="en-US" b="1" dirty="0">
                <a:solidFill>
                  <a:srgbClr val="FF0000"/>
                </a:solidFill>
                <a:effectLst>
                  <a:outerShdw blurRad="38100" dist="38100" dir="2700000" algn="tl">
                    <a:srgbClr val="000000">
                      <a:alpha val="43137"/>
                    </a:srgbClr>
                  </a:outerShdw>
                </a:effectLst>
              </a:rPr>
              <a:t>have infringed the rights of a person performing platform work</a:t>
            </a:r>
            <a:r>
              <a:rPr lang="en-US" dirty="0">
                <a:solidFill>
                  <a:srgbClr val="002060"/>
                </a:solidFill>
                <a:effectLst>
                  <a:outerShdw blurRad="38100" dist="38100" dir="2700000" algn="tl">
                    <a:srgbClr val="000000">
                      <a:alpha val="43137"/>
                    </a:srgbClr>
                  </a:outerShdw>
                </a:effectLst>
              </a:rPr>
              <a:t>, the digital </a:t>
            </a:r>
            <a:r>
              <a:rPr lang="en-US" dirty="0" err="1">
                <a:solidFill>
                  <a:srgbClr val="002060"/>
                </a:solidFill>
                <a:effectLst>
                  <a:outerShdw blurRad="38100" dist="38100" dir="2700000" algn="tl">
                    <a:srgbClr val="000000">
                      <a:alpha val="43137"/>
                    </a:srgbClr>
                  </a:outerShdw>
                </a:effectLst>
              </a:rPr>
              <a:t>labour</a:t>
            </a:r>
            <a:r>
              <a:rPr lang="en-US" dirty="0">
                <a:solidFill>
                  <a:srgbClr val="002060"/>
                </a:solidFill>
                <a:effectLst>
                  <a:outerShdw blurRad="38100" dist="38100" dir="2700000" algn="tl">
                    <a:srgbClr val="000000">
                      <a:alpha val="43137"/>
                    </a:srgbClr>
                  </a:outerShdw>
                </a:effectLst>
              </a:rPr>
              <a:t> platform shall take the </a:t>
            </a:r>
            <a:r>
              <a:rPr lang="en-US" b="1" dirty="0">
                <a:solidFill>
                  <a:srgbClr val="FF0000"/>
                </a:solidFill>
                <a:effectLst>
                  <a:outerShdw blurRad="38100" dist="38100" dir="2700000" algn="tl">
                    <a:srgbClr val="000000">
                      <a:alpha val="43137"/>
                    </a:srgbClr>
                  </a:outerShdw>
                </a:effectLst>
              </a:rPr>
              <a:t>steps</a:t>
            </a:r>
            <a:r>
              <a:rPr lang="en-US" dirty="0">
                <a:solidFill>
                  <a:srgbClr val="002060"/>
                </a:solidFill>
                <a:effectLst>
                  <a:outerShdw blurRad="38100" dist="38100" dir="2700000" algn="tl">
                    <a:srgbClr val="000000">
                      <a:alpha val="43137"/>
                    </a:srgbClr>
                  </a:outerShdw>
                </a:effectLst>
              </a:rPr>
              <a:t> necessary, including, if appropriate, </a:t>
            </a:r>
            <a:r>
              <a:rPr lang="en-US" b="1" dirty="0">
                <a:solidFill>
                  <a:srgbClr val="FF0000"/>
                </a:solidFill>
                <a:effectLst>
                  <a:outerShdw blurRad="38100" dist="38100" dir="2700000" algn="tl">
                    <a:srgbClr val="000000">
                      <a:alpha val="43137"/>
                    </a:srgbClr>
                  </a:outerShdw>
                </a:effectLst>
              </a:rPr>
              <a:t>the modification</a:t>
            </a:r>
            <a:r>
              <a:rPr lang="en-US" dirty="0">
                <a:solidFill>
                  <a:srgbClr val="002060"/>
                </a:solidFill>
                <a:effectLst>
                  <a:outerShdw blurRad="38100" dist="38100" dir="2700000" algn="tl">
                    <a:srgbClr val="000000">
                      <a:alpha val="43137"/>
                    </a:srgbClr>
                  </a:outerShdw>
                </a:effectLst>
              </a:rPr>
              <a:t> of the automated monitoring system or the automated decision-making system or the </a:t>
            </a:r>
            <a:r>
              <a:rPr lang="en-US" b="1" dirty="0">
                <a:solidFill>
                  <a:srgbClr val="FF0000"/>
                </a:solidFill>
                <a:effectLst>
                  <a:outerShdw blurRad="38100" dist="38100" dir="2700000" algn="tl">
                    <a:srgbClr val="000000">
                      <a:alpha val="43137"/>
                    </a:srgbClr>
                  </a:outerShdw>
                </a:effectLst>
              </a:rPr>
              <a:t>discontinuation of its use</a:t>
            </a:r>
            <a:r>
              <a:rPr lang="en-US" dirty="0">
                <a:solidFill>
                  <a:srgbClr val="002060"/>
                </a:solidFill>
                <a:effectLst>
                  <a:outerShdw blurRad="38100" dist="38100" dir="2700000" algn="tl">
                    <a:srgbClr val="000000">
                      <a:alpha val="43137"/>
                    </a:srgbClr>
                  </a:outerShdw>
                </a:effectLst>
              </a:rPr>
              <a:t>, in order to avoid such decisions in the future</a:t>
            </a:r>
            <a:endParaRPr lang="pl-PL" dirty="0">
              <a:solidFill>
                <a:srgbClr val="002060"/>
              </a:solidFill>
              <a:effectLst>
                <a:outerShdw blurRad="38100" dist="38100" dir="2700000" algn="tl">
                  <a:srgbClr val="000000">
                    <a:alpha val="43137"/>
                  </a:srgbClr>
                </a:outerShdw>
              </a:effectLst>
            </a:endParaRPr>
          </a:p>
          <a:p>
            <a:endParaRPr lang="en-US" dirty="0"/>
          </a:p>
        </p:txBody>
      </p:sp>
      <p:sp>
        <p:nvSpPr>
          <p:cNvPr id="4" name="Symbol zastępczy numeru slajdu 3">
            <a:extLst>
              <a:ext uri="{FF2B5EF4-FFF2-40B4-BE49-F238E27FC236}">
                <a16:creationId xmlns:a16="http://schemas.microsoft.com/office/drawing/2014/main" id="{FE82B102-6F09-20E9-327E-C59F0E869CAC}"/>
              </a:ext>
            </a:extLst>
          </p:cNvPr>
          <p:cNvSpPr>
            <a:spLocks noGrp="1"/>
          </p:cNvSpPr>
          <p:nvPr>
            <p:ph type="sldNum" sz="quarter" idx="12"/>
          </p:nvPr>
        </p:nvSpPr>
        <p:spPr/>
        <p:txBody>
          <a:bodyPr/>
          <a:lstStyle/>
          <a:p>
            <a:fld id="{31FE8408-9B39-4718-B64F-54F72D092B1B}" type="slidenum">
              <a:rPr lang="pl-PL" smtClean="0"/>
              <a:t>30</a:t>
            </a:fld>
            <a:endParaRPr lang="pl-PL" dirty="0"/>
          </a:p>
        </p:txBody>
      </p:sp>
    </p:spTree>
    <p:extLst>
      <p:ext uri="{BB962C8B-B14F-4D97-AF65-F5344CB8AC3E}">
        <p14:creationId xmlns:p14="http://schemas.microsoft.com/office/powerpoint/2010/main" val="6400115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7302D6B-07FB-E493-6B86-3467E7D96E4B}"/>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a:t>
            </a:r>
            <a:r>
              <a:rPr lang="pl-PL" b="1" dirty="0">
                <a:solidFill>
                  <a:srgbClr val="FF0000"/>
                </a:solidFill>
                <a:effectLst>
                  <a:outerShdw blurRad="38100" dist="38100" dir="2700000" algn="tl">
                    <a:srgbClr val="000000">
                      <a:alpha val="43137"/>
                    </a:srgbClr>
                  </a:outerShdw>
                </a:effectLst>
              </a:rPr>
              <a:t>EU </a:t>
            </a:r>
            <a:r>
              <a:rPr lang="pl-PL" b="1" dirty="0" err="1">
                <a:solidFill>
                  <a:srgbClr val="FF0000"/>
                </a:solidFill>
                <a:effectLst>
                  <a:outerShdw blurRad="38100" dist="38100" dir="2700000" algn="tl">
                    <a:srgbClr val="000000">
                      <a:alpha val="43137"/>
                    </a:srgbClr>
                  </a:outerShdw>
                </a:effectLst>
              </a:rPr>
              <a:t>directive</a:t>
            </a:r>
            <a:r>
              <a:rPr lang="pl-PL" b="1" dirty="0">
                <a:solidFill>
                  <a:srgbClr val="FF000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concerning</a:t>
            </a:r>
            <a:r>
              <a:rPr lang="pl-PL" dirty="0">
                <a:solidFill>
                  <a:srgbClr val="002060"/>
                </a:solidFill>
                <a:effectLst>
                  <a:outerShdw blurRad="38100" dist="38100" dir="2700000" algn="tl">
                    <a:srgbClr val="000000">
                      <a:alpha val="43137"/>
                    </a:srgbClr>
                  </a:outerShdw>
                </a:effectLst>
              </a:rPr>
              <a:t> the GIG </a:t>
            </a:r>
            <a:r>
              <a:rPr lang="pl-PL" dirty="0" err="1">
                <a:solidFill>
                  <a:srgbClr val="002060"/>
                </a:solidFill>
                <a:effectLst>
                  <a:outerShdw blurRad="38100" dist="38100" dir="2700000" algn="tl">
                    <a:srgbClr val="000000">
                      <a:alpha val="43137"/>
                    </a:srgbClr>
                  </a:outerShdw>
                </a:effectLst>
              </a:rPr>
              <a:t>economy</a:t>
            </a:r>
            <a:endParaRPr lang="en-US" dirty="0"/>
          </a:p>
        </p:txBody>
      </p:sp>
      <p:sp>
        <p:nvSpPr>
          <p:cNvPr id="3" name="Symbol zastępczy zawartości 2">
            <a:extLst>
              <a:ext uri="{FF2B5EF4-FFF2-40B4-BE49-F238E27FC236}">
                <a16:creationId xmlns:a16="http://schemas.microsoft.com/office/drawing/2014/main" id="{1506FB93-6257-2574-14B0-901D830352AB}"/>
              </a:ext>
            </a:extLst>
          </p:cNvPr>
          <p:cNvSpPr>
            <a:spLocks noGrp="1"/>
          </p:cNvSpPr>
          <p:nvPr>
            <p:ph idx="1"/>
          </p:nvPr>
        </p:nvSpPr>
        <p:spPr/>
        <p:txBody>
          <a:bodyPr>
            <a:normAutofit fontScale="85000" lnSpcReduction="10000"/>
          </a:bodyPr>
          <a:lstStyle/>
          <a:p>
            <a:pPr marL="0" indent="0">
              <a:buNone/>
            </a:pPr>
            <a:r>
              <a:rPr lang="pl-PL" dirty="0">
                <a:solidFill>
                  <a:srgbClr val="002060"/>
                </a:solidFill>
                <a:effectLst>
                  <a:outerShdw blurRad="38100" dist="38100" dir="2700000" algn="tl">
                    <a:srgbClr val="000000">
                      <a:alpha val="43137"/>
                    </a:srgbClr>
                  </a:outerShdw>
                </a:effectLst>
              </a:rPr>
              <a:t>HUMAN REVIEW</a:t>
            </a:r>
          </a:p>
          <a:p>
            <a:r>
              <a:rPr lang="pl-PL" dirty="0">
                <a:solidFill>
                  <a:srgbClr val="002060"/>
                </a:solidFill>
                <a:effectLst>
                  <a:outerShdw blurRad="38100" dist="38100" dir="2700000" algn="tl">
                    <a:srgbClr val="000000">
                      <a:alpha val="43137"/>
                    </a:srgbClr>
                  </a:outerShdw>
                </a:effectLst>
              </a:rPr>
              <a:t> </a:t>
            </a:r>
            <a:r>
              <a:rPr lang="pl-PL" b="1" dirty="0" err="1">
                <a:solidFill>
                  <a:srgbClr val="002060"/>
                </a:solidFill>
                <a:effectLst>
                  <a:outerShdw blurRad="38100" dist="38100" dir="2700000" algn="tl">
                    <a:srgbClr val="000000">
                      <a:alpha val="43137"/>
                    </a:srgbClr>
                  </a:outerShdw>
                </a:effectLst>
              </a:rPr>
              <a:t>Persons</a:t>
            </a:r>
            <a:r>
              <a:rPr lang="en-US" b="1" dirty="0">
                <a:solidFill>
                  <a:srgbClr val="002060"/>
                </a:solidFill>
                <a:effectLst>
                  <a:outerShdw blurRad="38100" dist="38100" dir="2700000" algn="tl">
                    <a:srgbClr val="000000">
                      <a:alpha val="43137"/>
                    </a:srgbClr>
                  </a:outerShdw>
                </a:effectLst>
              </a:rPr>
              <a:t> performing platform work </a:t>
            </a:r>
            <a:r>
              <a:rPr lang="en-US" dirty="0">
                <a:solidFill>
                  <a:srgbClr val="002060"/>
                </a:solidFill>
                <a:effectLst>
                  <a:outerShdw blurRad="38100" dist="38100" dir="2700000" algn="tl">
                    <a:srgbClr val="000000">
                      <a:alpha val="43137"/>
                    </a:srgbClr>
                  </a:outerShdw>
                </a:effectLst>
              </a:rPr>
              <a:t>have the right to </a:t>
            </a:r>
            <a:r>
              <a:rPr lang="en-US" b="1" dirty="0">
                <a:solidFill>
                  <a:srgbClr val="FF0000"/>
                </a:solidFill>
                <a:effectLst>
                  <a:outerShdw blurRad="38100" dist="38100" dir="2700000" algn="tl">
                    <a:srgbClr val="000000">
                      <a:alpha val="43137"/>
                    </a:srgbClr>
                  </a:outerShdw>
                </a:effectLst>
              </a:rPr>
              <a:t>obtain an oral or written explanation </a:t>
            </a:r>
            <a:r>
              <a:rPr lang="en-US" dirty="0">
                <a:solidFill>
                  <a:srgbClr val="002060"/>
                </a:solidFill>
                <a:effectLst>
                  <a:outerShdw blurRad="38100" dist="38100" dir="2700000" algn="tl">
                    <a:srgbClr val="000000">
                      <a:alpha val="43137"/>
                    </a:srgbClr>
                  </a:outerShdw>
                </a:effectLst>
              </a:rPr>
              <a:t>from the digital </a:t>
            </a:r>
            <a:r>
              <a:rPr lang="en-US" dirty="0" err="1">
                <a:solidFill>
                  <a:srgbClr val="002060"/>
                </a:solidFill>
                <a:effectLst>
                  <a:outerShdw blurRad="38100" dist="38100" dir="2700000" algn="tl">
                    <a:srgbClr val="000000">
                      <a:alpha val="43137"/>
                    </a:srgbClr>
                  </a:outerShdw>
                </a:effectLst>
              </a:rPr>
              <a:t>labour</a:t>
            </a:r>
            <a:r>
              <a:rPr lang="en-US" dirty="0">
                <a:solidFill>
                  <a:srgbClr val="002060"/>
                </a:solidFill>
                <a:effectLst>
                  <a:outerShdw blurRad="38100" dist="38100" dir="2700000" algn="tl">
                    <a:srgbClr val="000000">
                      <a:alpha val="43137"/>
                    </a:srgbClr>
                  </a:outerShdw>
                </a:effectLst>
              </a:rPr>
              <a:t> platform </a:t>
            </a:r>
            <a:r>
              <a:rPr lang="en-US" b="1" dirty="0">
                <a:solidFill>
                  <a:srgbClr val="FF0000"/>
                </a:solidFill>
                <a:effectLst>
                  <a:outerShdw blurRad="38100" dist="38100" dir="2700000" algn="tl">
                    <a:srgbClr val="000000">
                      <a:alpha val="43137"/>
                    </a:srgbClr>
                  </a:outerShdw>
                </a:effectLst>
              </a:rPr>
              <a:t>for any decision </a:t>
            </a:r>
            <a:r>
              <a:rPr lang="en-US" dirty="0">
                <a:solidFill>
                  <a:srgbClr val="002060"/>
                </a:solidFill>
                <a:effectLst>
                  <a:outerShdw blurRad="38100" dist="38100" dir="2700000" algn="tl">
                    <a:srgbClr val="000000">
                      <a:alpha val="43137"/>
                    </a:srgbClr>
                  </a:outerShdw>
                </a:effectLst>
              </a:rPr>
              <a:t>taken or </a:t>
            </a:r>
            <a:r>
              <a:rPr lang="en-US" b="1" dirty="0">
                <a:solidFill>
                  <a:srgbClr val="002060"/>
                </a:solidFill>
                <a:effectLst>
                  <a:outerShdw blurRad="38100" dist="38100" dir="2700000" algn="tl">
                    <a:srgbClr val="000000">
                      <a:alpha val="43137"/>
                    </a:srgbClr>
                  </a:outerShdw>
                </a:effectLst>
              </a:rPr>
              <a:t>supported by an automated decision-making system without undue delay</a:t>
            </a:r>
            <a:r>
              <a:rPr lang="en-US" dirty="0">
                <a:solidFill>
                  <a:srgbClr val="002060"/>
                </a:solidFill>
                <a:effectLst>
                  <a:outerShdw blurRad="38100" dist="38100" dir="2700000" algn="tl">
                    <a:srgbClr val="000000">
                      <a:alpha val="43137"/>
                    </a:srgbClr>
                  </a:outerShdw>
                </a:effectLst>
              </a:rPr>
              <a:t>.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The </a:t>
            </a:r>
            <a:r>
              <a:rPr lang="en-US" b="1" dirty="0">
                <a:solidFill>
                  <a:srgbClr val="002060"/>
                </a:solidFill>
                <a:effectLst>
                  <a:outerShdw blurRad="38100" dist="38100" dir="2700000" algn="tl">
                    <a:srgbClr val="000000">
                      <a:alpha val="43137"/>
                    </a:srgbClr>
                  </a:outerShdw>
                </a:effectLst>
              </a:rPr>
              <a:t>explanation</a:t>
            </a:r>
            <a:r>
              <a:rPr lang="en-US" dirty="0">
                <a:solidFill>
                  <a:srgbClr val="002060"/>
                </a:solidFill>
                <a:effectLst>
                  <a:outerShdw blurRad="38100" dist="38100" dir="2700000" algn="tl">
                    <a:srgbClr val="000000">
                      <a:alpha val="43137"/>
                    </a:srgbClr>
                  </a:outerShdw>
                </a:effectLst>
              </a:rPr>
              <a:t> shall be provided in a </a:t>
            </a:r>
            <a:r>
              <a:rPr lang="en-US" b="1" dirty="0">
                <a:solidFill>
                  <a:srgbClr val="FF0000"/>
                </a:solidFill>
                <a:effectLst>
                  <a:outerShdw blurRad="38100" dist="38100" dir="2700000" algn="tl">
                    <a:srgbClr val="000000">
                      <a:alpha val="43137"/>
                    </a:srgbClr>
                  </a:outerShdw>
                </a:effectLst>
              </a:rPr>
              <a:t>transparent and intelligible manner</a:t>
            </a:r>
            <a:r>
              <a:rPr lang="en-US" dirty="0">
                <a:solidFill>
                  <a:srgbClr val="002060"/>
                </a:solidFill>
                <a:effectLst>
                  <a:outerShdw blurRad="38100" dist="38100" dir="2700000" algn="tl">
                    <a:srgbClr val="000000">
                      <a:alpha val="43137"/>
                    </a:srgbClr>
                  </a:outerShdw>
                </a:effectLst>
              </a:rPr>
              <a:t>, using clear and plain language. </a:t>
            </a:r>
            <a:endParaRPr lang="pl-PL" dirty="0">
              <a:solidFill>
                <a:srgbClr val="00206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L</a:t>
            </a:r>
            <a:r>
              <a:rPr lang="en-US" dirty="0" err="1">
                <a:solidFill>
                  <a:srgbClr val="002060"/>
                </a:solidFill>
                <a:effectLst>
                  <a:outerShdw blurRad="38100" dist="38100" dir="2700000" algn="tl">
                    <a:srgbClr val="000000">
                      <a:alpha val="43137"/>
                    </a:srgbClr>
                  </a:outerShdw>
                </a:effectLst>
              </a:rPr>
              <a:t>abour</a:t>
            </a:r>
            <a:r>
              <a:rPr lang="en-US" dirty="0">
                <a:solidFill>
                  <a:srgbClr val="002060"/>
                </a:solidFill>
                <a:effectLst>
                  <a:outerShdw blurRad="38100" dist="38100" dir="2700000" algn="tl">
                    <a:srgbClr val="000000">
                      <a:alpha val="43137"/>
                    </a:srgbClr>
                  </a:outerShdw>
                </a:effectLst>
              </a:rPr>
              <a:t> platforms </a:t>
            </a:r>
            <a:r>
              <a:rPr lang="pl-PL" dirty="0" err="1">
                <a:solidFill>
                  <a:srgbClr val="002060"/>
                </a:solidFill>
                <a:effectLst>
                  <a:outerShdw blurRad="38100" dist="38100" dir="2700000" algn="tl">
                    <a:srgbClr val="000000">
                      <a:alpha val="43137"/>
                    </a:srgbClr>
                  </a:outerShdw>
                </a:effectLst>
              </a:rPr>
              <a:t>should</a:t>
            </a:r>
            <a:r>
              <a:rPr lang="pl-PL" dirty="0">
                <a:solidFill>
                  <a:srgbClr val="002060"/>
                </a:solidFill>
                <a:effectLst>
                  <a:outerShdw blurRad="38100" dist="38100" dir="2700000" algn="tl">
                    <a:srgbClr val="000000">
                      <a:alpha val="43137"/>
                    </a:srgbClr>
                  </a:outerShdw>
                </a:effectLst>
              </a:rPr>
              <a:t> </a:t>
            </a:r>
            <a:r>
              <a:rPr lang="en-US" dirty="0">
                <a:solidFill>
                  <a:srgbClr val="002060"/>
                </a:solidFill>
                <a:effectLst>
                  <a:outerShdw blurRad="38100" dist="38100" dir="2700000" algn="tl">
                    <a:srgbClr val="000000">
                      <a:alpha val="43137"/>
                    </a:srgbClr>
                  </a:outerShdw>
                </a:effectLst>
              </a:rPr>
              <a:t>provide persons performing platform work with access to </a:t>
            </a:r>
            <a:r>
              <a:rPr lang="en-US" b="1" dirty="0">
                <a:solidFill>
                  <a:srgbClr val="FF0000"/>
                </a:solidFill>
                <a:effectLst>
                  <a:outerShdw blurRad="38100" dist="38100" dir="2700000" algn="tl">
                    <a:srgbClr val="000000">
                      <a:alpha val="43137"/>
                    </a:srgbClr>
                  </a:outerShdw>
                </a:effectLst>
              </a:rPr>
              <a:t>a contact person </a:t>
            </a:r>
            <a:r>
              <a:rPr lang="en-US" dirty="0">
                <a:solidFill>
                  <a:srgbClr val="002060"/>
                </a:solidFill>
                <a:effectLst>
                  <a:outerShdw blurRad="38100" dist="38100" dir="2700000" algn="tl">
                    <a:srgbClr val="000000">
                      <a:alpha val="43137"/>
                    </a:srgbClr>
                  </a:outerShdw>
                </a:effectLst>
              </a:rPr>
              <a:t>designated by the digital </a:t>
            </a:r>
            <a:r>
              <a:rPr lang="en-US" dirty="0" err="1">
                <a:solidFill>
                  <a:srgbClr val="002060"/>
                </a:solidFill>
                <a:effectLst>
                  <a:outerShdw blurRad="38100" dist="38100" dir="2700000" algn="tl">
                    <a:srgbClr val="000000">
                      <a:alpha val="43137"/>
                    </a:srgbClr>
                  </a:outerShdw>
                </a:effectLst>
              </a:rPr>
              <a:t>labour</a:t>
            </a:r>
            <a:r>
              <a:rPr lang="en-US" dirty="0">
                <a:solidFill>
                  <a:srgbClr val="002060"/>
                </a:solidFill>
                <a:effectLst>
                  <a:outerShdw blurRad="38100" dist="38100" dir="2700000" algn="tl">
                    <a:srgbClr val="000000">
                      <a:alpha val="43137"/>
                    </a:srgbClr>
                  </a:outerShdw>
                </a:effectLst>
              </a:rPr>
              <a:t> platform to discuss and to clarify the facts, circumstances</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and reasons </a:t>
            </a:r>
            <a:r>
              <a:rPr lang="pl-PL" dirty="0" err="1">
                <a:solidFill>
                  <a:srgbClr val="002060"/>
                </a:solidFill>
                <a:effectLst>
                  <a:outerShdw blurRad="38100" dist="38100" dir="2700000" algn="tl">
                    <a:srgbClr val="000000">
                      <a:alpha val="43137"/>
                    </a:srgbClr>
                  </a:outerShdw>
                </a:effectLst>
              </a:rPr>
              <a:t>that</a:t>
            </a:r>
            <a:r>
              <a:rPr lang="en-US" dirty="0">
                <a:solidFill>
                  <a:srgbClr val="002060"/>
                </a:solidFill>
                <a:effectLst>
                  <a:outerShdw blurRad="38100" dist="38100" dir="2700000" algn="tl">
                    <a:srgbClr val="000000">
                      <a:alpha val="43137"/>
                    </a:srgbClr>
                  </a:outerShdw>
                </a:effectLst>
              </a:rPr>
              <a:t> led to the decision. </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Digital </a:t>
            </a:r>
            <a:r>
              <a:rPr lang="en-US" dirty="0" err="1">
                <a:solidFill>
                  <a:srgbClr val="002060"/>
                </a:solidFill>
                <a:effectLst>
                  <a:outerShdw blurRad="38100" dist="38100" dir="2700000" algn="tl">
                    <a:srgbClr val="000000">
                      <a:alpha val="43137"/>
                    </a:srgbClr>
                  </a:outerShdw>
                </a:effectLst>
              </a:rPr>
              <a:t>labour</a:t>
            </a:r>
            <a:r>
              <a:rPr lang="en-US" dirty="0">
                <a:solidFill>
                  <a:srgbClr val="002060"/>
                </a:solidFill>
                <a:effectLst>
                  <a:outerShdw blurRad="38100" dist="38100" dir="2700000" algn="tl">
                    <a:srgbClr val="000000">
                      <a:alpha val="43137"/>
                    </a:srgbClr>
                  </a:outerShdw>
                </a:effectLst>
              </a:rPr>
              <a:t> platforms shall ensure that such </a:t>
            </a:r>
            <a:r>
              <a:rPr lang="en-US" b="1" dirty="0">
                <a:solidFill>
                  <a:srgbClr val="FF0000"/>
                </a:solidFill>
                <a:effectLst>
                  <a:outerShdw blurRad="38100" dist="38100" dir="2700000" algn="tl">
                    <a:srgbClr val="000000">
                      <a:alpha val="43137"/>
                    </a:srgbClr>
                  </a:outerShdw>
                </a:effectLst>
              </a:rPr>
              <a:t>contact persons have the competence, training</a:t>
            </a:r>
            <a:r>
              <a:rPr lang="pl-PL" b="1" dirty="0">
                <a:solidFill>
                  <a:srgbClr val="FF0000"/>
                </a:solidFill>
                <a:effectLst>
                  <a:outerShdw blurRad="38100" dist="38100" dir="2700000" algn="tl">
                    <a:srgbClr val="000000">
                      <a:alpha val="43137"/>
                    </a:srgbClr>
                  </a:outerShdw>
                </a:effectLst>
              </a:rPr>
              <a:t>,</a:t>
            </a:r>
            <a:r>
              <a:rPr lang="en-US" b="1" dirty="0">
                <a:solidFill>
                  <a:srgbClr val="FF0000"/>
                </a:solidFill>
                <a:effectLst>
                  <a:outerShdw blurRad="38100" dist="38100" dir="2700000" algn="tl">
                    <a:srgbClr val="000000">
                      <a:alpha val="43137"/>
                    </a:srgbClr>
                  </a:outerShdw>
                </a:effectLst>
              </a:rPr>
              <a:t> and authority </a:t>
            </a:r>
            <a:r>
              <a:rPr lang="en-US" dirty="0">
                <a:solidFill>
                  <a:srgbClr val="002060"/>
                </a:solidFill>
                <a:effectLst>
                  <a:outerShdw blurRad="38100" dist="38100" dir="2700000" algn="tl">
                    <a:srgbClr val="000000">
                      <a:alpha val="43137"/>
                    </a:srgbClr>
                  </a:outerShdw>
                </a:effectLst>
              </a:rPr>
              <a:t>necessary to exercise that function</a:t>
            </a:r>
            <a:r>
              <a:rPr lang="pl-PL" dirty="0">
                <a:solidFill>
                  <a:srgbClr val="002060"/>
                </a:solidFill>
                <a:effectLst>
                  <a:outerShdw blurRad="38100" dist="38100" dir="2700000" algn="tl">
                    <a:srgbClr val="000000">
                      <a:alpha val="43137"/>
                    </a:srgbClr>
                  </a:outerShdw>
                </a:effectLst>
              </a:rPr>
              <a:t> </a:t>
            </a:r>
            <a:r>
              <a:rPr lang="pl-PL" b="1" dirty="0">
                <a:solidFill>
                  <a:srgbClr val="0070C0"/>
                </a:solidFill>
                <a:effectLst>
                  <a:outerShdw blurRad="38100" dist="38100" dir="2700000" algn="tl">
                    <a:srgbClr val="000000">
                      <a:alpha val="43137"/>
                    </a:srgbClr>
                  </a:outerShdw>
                </a:effectLst>
              </a:rPr>
              <a:t>[</a:t>
            </a:r>
            <a:r>
              <a:rPr lang="pl-PL" b="1" dirty="0" err="1">
                <a:solidFill>
                  <a:srgbClr val="0070C0"/>
                </a:solidFill>
                <a:effectLst>
                  <a:outerShdw blurRad="38100" dist="38100" dir="2700000" algn="tl">
                    <a:srgbClr val="000000">
                      <a:alpha val="43137"/>
                    </a:srgbClr>
                  </a:outerShdw>
                </a:effectLst>
              </a:rPr>
              <a:t>new</a:t>
            </a:r>
            <a:r>
              <a:rPr lang="pl-PL" b="1" dirty="0">
                <a:solidFill>
                  <a:srgbClr val="0070C0"/>
                </a:solidFill>
                <a:effectLst>
                  <a:outerShdw blurRad="38100" dist="38100" dir="2700000" algn="tl">
                    <a:srgbClr val="000000">
                      <a:alpha val="43137"/>
                    </a:srgbClr>
                  </a:outerShdw>
                </a:effectLst>
              </a:rPr>
              <a:t> </a:t>
            </a:r>
            <a:r>
              <a:rPr lang="pl-PL" b="1" dirty="0" err="1">
                <a:solidFill>
                  <a:srgbClr val="0070C0"/>
                </a:solidFill>
                <a:effectLst>
                  <a:outerShdw blurRad="38100" dist="38100" dir="2700000" algn="tl">
                    <a:srgbClr val="000000">
                      <a:alpha val="43137"/>
                    </a:srgbClr>
                  </a:outerShdw>
                </a:effectLst>
              </a:rPr>
              <a:t>types</a:t>
            </a:r>
            <a:r>
              <a:rPr lang="pl-PL" b="1" dirty="0">
                <a:solidFill>
                  <a:srgbClr val="0070C0"/>
                </a:solidFill>
                <a:effectLst>
                  <a:outerShdw blurRad="38100" dist="38100" dir="2700000" algn="tl">
                    <a:srgbClr val="000000">
                      <a:alpha val="43137"/>
                    </a:srgbClr>
                  </a:outerShdw>
                </a:effectLst>
              </a:rPr>
              <a:t> of </a:t>
            </a:r>
            <a:r>
              <a:rPr lang="pl-PL" b="1" dirty="0" err="1">
                <a:solidFill>
                  <a:srgbClr val="0070C0"/>
                </a:solidFill>
                <a:effectLst>
                  <a:outerShdw blurRad="38100" dist="38100" dir="2700000" algn="tl">
                    <a:srgbClr val="000000">
                      <a:alpha val="43137"/>
                    </a:srgbClr>
                  </a:outerShdw>
                </a:effectLst>
              </a:rPr>
              <a:t>jobs</a:t>
            </a:r>
            <a:r>
              <a:rPr lang="pl-PL" b="1" dirty="0">
                <a:solidFill>
                  <a:srgbClr val="0070C0"/>
                </a:solidFill>
                <a:effectLst>
                  <a:outerShdw blurRad="38100" dist="38100" dir="2700000" algn="tl">
                    <a:srgbClr val="000000">
                      <a:alpha val="43137"/>
                    </a:srgbClr>
                  </a:outerShdw>
                </a:effectLst>
              </a:rPr>
              <a:t>, </a:t>
            </a:r>
            <a:r>
              <a:rPr lang="pl-PL" b="1" dirty="0" err="1">
                <a:solidFill>
                  <a:srgbClr val="0070C0"/>
                </a:solidFill>
                <a:effectLst>
                  <a:outerShdw blurRad="38100" dist="38100" dir="2700000" algn="tl">
                    <a:srgbClr val="000000">
                      <a:alpha val="43137"/>
                    </a:srgbClr>
                  </a:outerShdw>
                </a:effectLst>
              </a:rPr>
              <a:t>new</a:t>
            </a:r>
            <a:r>
              <a:rPr lang="pl-PL" b="1" dirty="0">
                <a:solidFill>
                  <a:srgbClr val="0070C0"/>
                </a:solidFill>
                <a:effectLst>
                  <a:outerShdw blurRad="38100" dist="38100" dir="2700000" algn="tl">
                    <a:srgbClr val="000000">
                      <a:alpha val="43137"/>
                    </a:srgbClr>
                  </a:outerShdw>
                </a:effectLst>
              </a:rPr>
              <a:t> </a:t>
            </a:r>
            <a:r>
              <a:rPr lang="pl-PL" b="1" dirty="0" err="1">
                <a:solidFill>
                  <a:srgbClr val="0070C0"/>
                </a:solidFill>
                <a:effectLst>
                  <a:outerShdw blurRad="38100" dist="38100" dir="2700000" algn="tl">
                    <a:srgbClr val="000000">
                      <a:alpha val="43137"/>
                    </a:srgbClr>
                  </a:outerShdw>
                </a:effectLst>
              </a:rPr>
              <a:t>markets</a:t>
            </a:r>
            <a:r>
              <a:rPr lang="pl-PL" b="1" dirty="0">
                <a:solidFill>
                  <a:srgbClr val="0070C0"/>
                </a:solidFill>
                <a:effectLst>
                  <a:outerShdw blurRad="38100" dist="38100" dir="2700000" algn="tl">
                    <a:srgbClr val="000000">
                      <a:alpha val="43137"/>
                    </a:srgbClr>
                  </a:outerShdw>
                </a:effectLst>
              </a:rPr>
              <a:t>]</a:t>
            </a:r>
            <a:endParaRPr lang="en-US" b="1" dirty="0">
              <a:solidFill>
                <a:srgbClr val="0070C0"/>
              </a:solidFill>
              <a:effectLst>
                <a:outerShdw blurRad="38100" dist="38100" dir="2700000" algn="tl">
                  <a:srgbClr val="000000">
                    <a:alpha val="43137"/>
                  </a:srgbClr>
                </a:outerShdw>
              </a:effectLst>
            </a:endParaRPr>
          </a:p>
        </p:txBody>
      </p:sp>
      <p:sp>
        <p:nvSpPr>
          <p:cNvPr id="4" name="Symbol zastępczy numeru slajdu 3">
            <a:extLst>
              <a:ext uri="{FF2B5EF4-FFF2-40B4-BE49-F238E27FC236}">
                <a16:creationId xmlns:a16="http://schemas.microsoft.com/office/drawing/2014/main" id="{D87CC7E1-C7FB-A555-43DD-93A5F163DCB9}"/>
              </a:ext>
            </a:extLst>
          </p:cNvPr>
          <p:cNvSpPr>
            <a:spLocks noGrp="1"/>
          </p:cNvSpPr>
          <p:nvPr>
            <p:ph type="sldNum" sz="quarter" idx="12"/>
          </p:nvPr>
        </p:nvSpPr>
        <p:spPr/>
        <p:txBody>
          <a:bodyPr/>
          <a:lstStyle/>
          <a:p>
            <a:fld id="{31FE8408-9B39-4718-B64F-54F72D092B1B}" type="slidenum">
              <a:rPr lang="pl-PL" smtClean="0"/>
              <a:t>31</a:t>
            </a:fld>
            <a:endParaRPr lang="pl-PL" dirty="0"/>
          </a:p>
        </p:txBody>
      </p:sp>
    </p:spTree>
    <p:extLst>
      <p:ext uri="{BB962C8B-B14F-4D97-AF65-F5344CB8AC3E}">
        <p14:creationId xmlns:p14="http://schemas.microsoft.com/office/powerpoint/2010/main" val="42063831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C6D4E98-9427-6FDC-25C1-03A8DC20F700}"/>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a:t>
            </a:r>
            <a:r>
              <a:rPr lang="pl-PL" b="1" dirty="0">
                <a:solidFill>
                  <a:srgbClr val="FF0000"/>
                </a:solidFill>
                <a:effectLst>
                  <a:outerShdw blurRad="38100" dist="38100" dir="2700000" algn="tl">
                    <a:srgbClr val="000000">
                      <a:alpha val="43137"/>
                    </a:srgbClr>
                  </a:outerShdw>
                </a:effectLst>
              </a:rPr>
              <a:t>EU </a:t>
            </a:r>
            <a:r>
              <a:rPr lang="pl-PL" b="1" dirty="0" err="1">
                <a:solidFill>
                  <a:srgbClr val="FF0000"/>
                </a:solidFill>
                <a:effectLst>
                  <a:outerShdw blurRad="38100" dist="38100" dir="2700000" algn="tl">
                    <a:srgbClr val="000000">
                      <a:alpha val="43137"/>
                    </a:srgbClr>
                  </a:outerShdw>
                </a:effectLst>
              </a:rPr>
              <a:t>directive</a:t>
            </a:r>
            <a:r>
              <a:rPr lang="pl-PL" b="1" dirty="0">
                <a:solidFill>
                  <a:srgbClr val="FF000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concerning</a:t>
            </a:r>
            <a:r>
              <a:rPr lang="pl-PL" dirty="0">
                <a:solidFill>
                  <a:srgbClr val="002060"/>
                </a:solidFill>
                <a:effectLst>
                  <a:outerShdw blurRad="38100" dist="38100" dir="2700000" algn="tl">
                    <a:srgbClr val="000000">
                      <a:alpha val="43137"/>
                    </a:srgbClr>
                  </a:outerShdw>
                </a:effectLst>
              </a:rPr>
              <a:t> the GIG </a:t>
            </a:r>
            <a:r>
              <a:rPr lang="pl-PL" dirty="0" err="1">
                <a:solidFill>
                  <a:srgbClr val="002060"/>
                </a:solidFill>
                <a:effectLst>
                  <a:outerShdw blurRad="38100" dist="38100" dir="2700000" algn="tl">
                    <a:srgbClr val="000000">
                      <a:alpha val="43137"/>
                    </a:srgbClr>
                  </a:outerShdw>
                </a:effectLst>
              </a:rPr>
              <a:t>economy</a:t>
            </a:r>
            <a:endParaRPr lang="en-US" dirty="0"/>
          </a:p>
        </p:txBody>
      </p:sp>
      <p:sp>
        <p:nvSpPr>
          <p:cNvPr id="3" name="Symbol zastępczy zawartości 2">
            <a:extLst>
              <a:ext uri="{FF2B5EF4-FFF2-40B4-BE49-F238E27FC236}">
                <a16:creationId xmlns:a16="http://schemas.microsoft.com/office/drawing/2014/main" id="{174D15DE-2F62-CA65-A805-4945F064067B}"/>
              </a:ext>
            </a:extLst>
          </p:cNvPr>
          <p:cNvSpPr>
            <a:spLocks noGrp="1"/>
          </p:cNvSpPr>
          <p:nvPr>
            <p:ph idx="1"/>
          </p:nvPr>
        </p:nvSpPr>
        <p:spPr/>
        <p:txBody>
          <a:bodyPr>
            <a:normAutofit lnSpcReduction="10000"/>
          </a:bodyPr>
          <a:lstStyle/>
          <a:p>
            <a:r>
              <a:rPr lang="en-US" dirty="0">
                <a:solidFill>
                  <a:srgbClr val="002060"/>
                </a:solidFill>
                <a:effectLst>
                  <a:outerShdw blurRad="38100" dist="38100" dir="2700000" algn="tl">
                    <a:srgbClr val="000000">
                      <a:alpha val="43137"/>
                    </a:srgbClr>
                  </a:outerShdw>
                </a:effectLst>
              </a:rPr>
              <a:t>Digital </a:t>
            </a:r>
            <a:r>
              <a:rPr lang="en-US" dirty="0" err="1">
                <a:solidFill>
                  <a:srgbClr val="002060"/>
                </a:solidFill>
                <a:effectLst>
                  <a:outerShdw blurRad="38100" dist="38100" dir="2700000" algn="tl">
                    <a:srgbClr val="000000">
                      <a:alpha val="43137"/>
                    </a:srgbClr>
                  </a:outerShdw>
                </a:effectLst>
              </a:rPr>
              <a:t>labour</a:t>
            </a:r>
            <a:r>
              <a:rPr lang="en-US" dirty="0">
                <a:solidFill>
                  <a:srgbClr val="002060"/>
                </a:solidFill>
                <a:effectLst>
                  <a:outerShdw blurRad="38100" dist="38100" dir="2700000" algn="tl">
                    <a:srgbClr val="000000">
                      <a:alpha val="43137"/>
                    </a:srgbClr>
                  </a:outerShdw>
                </a:effectLst>
              </a:rPr>
              <a:t> platforms shall provide the </a:t>
            </a:r>
            <a:r>
              <a:rPr lang="en-US" b="1" dirty="0">
                <a:solidFill>
                  <a:srgbClr val="002060"/>
                </a:solidFill>
                <a:effectLst>
                  <a:outerShdw blurRad="38100" dist="38100" dir="2700000" algn="tl">
                    <a:srgbClr val="000000">
                      <a:alpha val="43137"/>
                    </a:srgbClr>
                  </a:outerShdw>
                </a:effectLst>
              </a:rPr>
              <a:t>person performing </a:t>
            </a:r>
            <a:r>
              <a:rPr lang="en-US" dirty="0">
                <a:solidFill>
                  <a:srgbClr val="002060"/>
                </a:solidFill>
                <a:effectLst>
                  <a:outerShdw blurRad="38100" dist="38100" dir="2700000" algn="tl">
                    <a:srgbClr val="000000">
                      <a:alpha val="43137"/>
                    </a:srgbClr>
                  </a:outerShdw>
                </a:effectLst>
              </a:rPr>
              <a:t>platform work with a </a:t>
            </a:r>
            <a:r>
              <a:rPr lang="en-US" b="1" dirty="0">
                <a:solidFill>
                  <a:srgbClr val="FF0000"/>
                </a:solidFill>
                <a:effectLst>
                  <a:outerShdw blurRad="38100" dist="38100" dir="2700000" algn="tl">
                    <a:srgbClr val="000000">
                      <a:alpha val="43137"/>
                    </a:srgbClr>
                  </a:outerShdw>
                </a:effectLst>
              </a:rPr>
              <a:t>written statement of the reasons for any decision </a:t>
            </a:r>
            <a:r>
              <a:rPr lang="en-US" dirty="0">
                <a:solidFill>
                  <a:srgbClr val="002060"/>
                </a:solidFill>
                <a:effectLst>
                  <a:outerShdw blurRad="38100" dist="38100" dir="2700000" algn="tl">
                    <a:srgbClr val="000000">
                      <a:alpha val="43137"/>
                    </a:srgbClr>
                  </a:outerShdw>
                </a:effectLst>
              </a:rPr>
              <a:t>taken or supported </a:t>
            </a:r>
            <a:r>
              <a:rPr lang="en-US" b="1" dirty="0">
                <a:solidFill>
                  <a:srgbClr val="FF0000"/>
                </a:solidFill>
                <a:effectLst>
                  <a:outerShdw blurRad="38100" dist="38100" dir="2700000" algn="tl">
                    <a:srgbClr val="000000">
                      <a:alpha val="43137"/>
                    </a:srgbClr>
                  </a:outerShdw>
                </a:effectLst>
              </a:rPr>
              <a:t>by</a:t>
            </a:r>
            <a:r>
              <a:rPr lang="en-US" dirty="0">
                <a:solidFill>
                  <a:srgbClr val="002060"/>
                </a:solidFill>
                <a:effectLst>
                  <a:outerShdw blurRad="38100" dist="38100" dir="2700000" algn="tl">
                    <a:srgbClr val="000000">
                      <a:alpha val="43137"/>
                    </a:srgbClr>
                  </a:outerShdw>
                </a:effectLst>
              </a:rPr>
              <a:t> an automated decision-making system </a:t>
            </a:r>
            <a:r>
              <a:rPr lang="en-US" b="1" dirty="0">
                <a:solidFill>
                  <a:srgbClr val="FF0000"/>
                </a:solidFill>
                <a:effectLst>
                  <a:outerShdw blurRad="38100" dist="38100" dir="2700000" algn="tl">
                    <a:srgbClr val="000000">
                      <a:alpha val="43137"/>
                    </a:srgbClr>
                  </a:outerShdw>
                </a:effectLst>
              </a:rPr>
              <a:t>to restrict, suspend or terminate the account of the person</a:t>
            </a:r>
            <a:r>
              <a:rPr lang="en-US" dirty="0">
                <a:solidFill>
                  <a:srgbClr val="002060"/>
                </a:solidFill>
                <a:effectLst>
                  <a:outerShdw blurRad="38100" dist="38100" dir="2700000" algn="tl">
                    <a:srgbClr val="000000">
                      <a:alpha val="43137"/>
                    </a:srgbClr>
                  </a:outerShdw>
                </a:effectLst>
              </a:rPr>
              <a:t> performing platform work, any decision </a:t>
            </a:r>
            <a:r>
              <a:rPr lang="en-US" b="1" dirty="0">
                <a:solidFill>
                  <a:srgbClr val="FF0000"/>
                </a:solidFill>
                <a:effectLst>
                  <a:outerShdw blurRad="38100" dist="38100" dir="2700000" algn="tl">
                    <a:srgbClr val="000000">
                      <a:alpha val="43137"/>
                    </a:srgbClr>
                  </a:outerShdw>
                </a:effectLst>
              </a:rPr>
              <a:t>to refuse the payment for work </a:t>
            </a:r>
            <a:r>
              <a:rPr lang="en-US" dirty="0">
                <a:solidFill>
                  <a:srgbClr val="002060"/>
                </a:solidFill>
                <a:effectLst>
                  <a:outerShdw blurRad="38100" dist="38100" dir="2700000" algn="tl">
                    <a:srgbClr val="000000">
                      <a:alpha val="43137"/>
                    </a:srgbClr>
                  </a:outerShdw>
                </a:effectLst>
              </a:rPr>
              <a:t>performed by the person performing platform work, </a:t>
            </a:r>
            <a:r>
              <a:rPr lang="en-US" b="1" dirty="0">
                <a:solidFill>
                  <a:srgbClr val="FF0000"/>
                </a:solidFill>
                <a:effectLst>
                  <a:outerShdw blurRad="38100" dist="38100" dir="2700000" algn="tl">
                    <a:srgbClr val="000000">
                      <a:alpha val="43137"/>
                    </a:srgbClr>
                  </a:outerShdw>
                </a:effectLst>
              </a:rPr>
              <a:t>any decision on the contractual status</a:t>
            </a:r>
            <a:r>
              <a:rPr lang="en-US" dirty="0">
                <a:solidFill>
                  <a:srgbClr val="002060"/>
                </a:solidFill>
                <a:effectLst>
                  <a:outerShdw blurRad="38100" dist="38100" dir="2700000" algn="tl">
                    <a:srgbClr val="000000">
                      <a:alpha val="43137"/>
                    </a:srgbClr>
                  </a:outerShdw>
                </a:effectLst>
              </a:rPr>
              <a:t> of the person performing platform work, any decision with </a:t>
            </a:r>
            <a:r>
              <a:rPr lang="en-US" b="1" dirty="0">
                <a:solidFill>
                  <a:srgbClr val="FF0000"/>
                </a:solidFill>
                <a:effectLst>
                  <a:outerShdw blurRad="38100" dist="38100" dir="2700000" algn="tl">
                    <a:srgbClr val="000000">
                      <a:alpha val="43137"/>
                    </a:srgbClr>
                  </a:outerShdw>
                </a:effectLst>
              </a:rPr>
              <a:t>similar effects </a:t>
            </a:r>
            <a:r>
              <a:rPr lang="en-US" dirty="0">
                <a:solidFill>
                  <a:srgbClr val="002060"/>
                </a:solidFill>
                <a:effectLst>
                  <a:outerShdw blurRad="38100" dist="38100" dir="2700000" algn="tl">
                    <a:srgbClr val="000000">
                      <a:alpha val="43137"/>
                    </a:srgbClr>
                  </a:outerShdw>
                </a:effectLst>
              </a:rPr>
              <a:t>or any </a:t>
            </a:r>
            <a:r>
              <a:rPr lang="en-US" b="1" dirty="0">
                <a:solidFill>
                  <a:srgbClr val="FF0000"/>
                </a:solidFill>
                <a:effectLst>
                  <a:outerShdw blurRad="38100" dist="38100" dir="2700000" algn="tl">
                    <a:srgbClr val="000000">
                      <a:alpha val="43137"/>
                    </a:srgbClr>
                  </a:outerShdw>
                </a:effectLst>
              </a:rPr>
              <a:t>other decision affecting the essential aspects </a:t>
            </a:r>
            <a:r>
              <a:rPr lang="en-US" b="1" dirty="0">
                <a:solidFill>
                  <a:srgbClr val="002060"/>
                </a:solidFill>
                <a:effectLst>
                  <a:outerShdw blurRad="38100" dist="38100" dir="2700000" algn="tl">
                    <a:srgbClr val="000000">
                      <a:alpha val="43137"/>
                    </a:srgbClr>
                  </a:outerShdw>
                </a:effectLst>
              </a:rPr>
              <a:t>of the employment or other contractual relationships</a:t>
            </a:r>
            <a:r>
              <a:rPr lang="en-US" dirty="0">
                <a:solidFill>
                  <a:srgbClr val="002060"/>
                </a:solidFill>
                <a:effectLst>
                  <a:outerShdw blurRad="38100" dist="38100" dir="2700000" algn="tl">
                    <a:srgbClr val="000000">
                      <a:alpha val="43137"/>
                    </a:srgbClr>
                  </a:outerShdw>
                </a:effectLst>
              </a:rPr>
              <a:t>, without undue delay and at the latest on the date on which it takes effect.</a:t>
            </a:r>
            <a:endParaRPr lang="pl-PL" dirty="0">
              <a:solidFill>
                <a:srgbClr val="00206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The </a:t>
            </a:r>
            <a:r>
              <a:rPr lang="pl-PL" dirty="0" err="1">
                <a:solidFill>
                  <a:srgbClr val="002060"/>
                </a:solidFill>
                <a:effectLst>
                  <a:outerShdw blurRad="38100" dist="38100" dir="2700000" algn="tl">
                    <a:srgbClr val="000000">
                      <a:alpha val="43137"/>
                    </a:srgbClr>
                  </a:outerShdw>
                </a:effectLst>
              </a:rPr>
              <a:t>above</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rights</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available</a:t>
            </a:r>
            <a:r>
              <a:rPr lang="pl-PL" dirty="0">
                <a:solidFill>
                  <a:srgbClr val="002060"/>
                </a:solidFill>
                <a:effectLst>
                  <a:outerShdw blurRad="38100" dist="38100" dir="2700000" algn="tl">
                    <a:srgbClr val="000000">
                      <a:alpha val="43137"/>
                    </a:srgbClr>
                  </a:outerShdw>
                </a:effectLst>
              </a:rPr>
              <a:t> to </a:t>
            </a:r>
            <a:r>
              <a:rPr lang="pl-PL" dirty="0" err="1">
                <a:solidFill>
                  <a:srgbClr val="002060"/>
                </a:solidFill>
                <a:effectLst>
                  <a:outerShdw blurRad="38100" dist="38100" dir="2700000" algn="tl">
                    <a:srgbClr val="000000">
                      <a:alpha val="43137"/>
                    </a:srgbClr>
                  </a:outerShdw>
                </a:effectLst>
              </a:rPr>
              <a:t>workers</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representatives</a:t>
            </a:r>
            <a:endParaRPr lang="en-US" dirty="0">
              <a:solidFill>
                <a:srgbClr val="002060"/>
              </a:solidFill>
              <a:effectLst>
                <a:outerShdw blurRad="38100" dist="38100" dir="2700000" algn="tl">
                  <a:srgbClr val="000000">
                    <a:alpha val="43137"/>
                  </a:srgbClr>
                </a:outerShdw>
              </a:effectLst>
            </a:endParaRPr>
          </a:p>
        </p:txBody>
      </p:sp>
      <p:sp>
        <p:nvSpPr>
          <p:cNvPr id="4" name="Symbol zastępczy numeru slajdu 3">
            <a:extLst>
              <a:ext uri="{FF2B5EF4-FFF2-40B4-BE49-F238E27FC236}">
                <a16:creationId xmlns:a16="http://schemas.microsoft.com/office/drawing/2014/main" id="{61E10E4E-E391-FFF1-BF9A-A60261FF2C38}"/>
              </a:ext>
            </a:extLst>
          </p:cNvPr>
          <p:cNvSpPr>
            <a:spLocks noGrp="1"/>
          </p:cNvSpPr>
          <p:nvPr>
            <p:ph type="sldNum" sz="quarter" idx="12"/>
          </p:nvPr>
        </p:nvSpPr>
        <p:spPr/>
        <p:txBody>
          <a:bodyPr/>
          <a:lstStyle/>
          <a:p>
            <a:fld id="{31FE8408-9B39-4718-B64F-54F72D092B1B}" type="slidenum">
              <a:rPr lang="pl-PL" smtClean="0"/>
              <a:t>32</a:t>
            </a:fld>
            <a:endParaRPr lang="pl-PL" dirty="0"/>
          </a:p>
        </p:txBody>
      </p:sp>
    </p:spTree>
    <p:extLst>
      <p:ext uri="{BB962C8B-B14F-4D97-AF65-F5344CB8AC3E}">
        <p14:creationId xmlns:p14="http://schemas.microsoft.com/office/powerpoint/2010/main" val="13054821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80312EE-B1B3-5680-5B6A-2E85DA4D376F}"/>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a:t>
            </a:r>
            <a:r>
              <a:rPr lang="pl-PL" b="1" dirty="0">
                <a:solidFill>
                  <a:srgbClr val="FF0000"/>
                </a:solidFill>
                <a:effectLst>
                  <a:outerShdw blurRad="38100" dist="38100" dir="2700000" algn="tl">
                    <a:srgbClr val="000000">
                      <a:alpha val="43137"/>
                    </a:srgbClr>
                  </a:outerShdw>
                </a:effectLst>
              </a:rPr>
              <a:t>EU </a:t>
            </a:r>
            <a:r>
              <a:rPr lang="pl-PL" b="1" dirty="0" err="1">
                <a:solidFill>
                  <a:srgbClr val="FF0000"/>
                </a:solidFill>
                <a:effectLst>
                  <a:outerShdw blurRad="38100" dist="38100" dir="2700000" algn="tl">
                    <a:srgbClr val="000000">
                      <a:alpha val="43137"/>
                    </a:srgbClr>
                  </a:outerShdw>
                </a:effectLst>
              </a:rPr>
              <a:t>directive</a:t>
            </a:r>
            <a:r>
              <a:rPr lang="pl-PL" b="1" dirty="0">
                <a:solidFill>
                  <a:srgbClr val="FF000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concerning</a:t>
            </a:r>
            <a:r>
              <a:rPr lang="pl-PL" dirty="0">
                <a:solidFill>
                  <a:srgbClr val="002060"/>
                </a:solidFill>
                <a:effectLst>
                  <a:outerShdw blurRad="38100" dist="38100" dir="2700000" algn="tl">
                    <a:srgbClr val="000000">
                      <a:alpha val="43137"/>
                    </a:srgbClr>
                  </a:outerShdw>
                </a:effectLst>
              </a:rPr>
              <a:t> the GIG </a:t>
            </a:r>
            <a:r>
              <a:rPr lang="pl-PL" dirty="0" err="1">
                <a:solidFill>
                  <a:srgbClr val="002060"/>
                </a:solidFill>
                <a:effectLst>
                  <a:outerShdw blurRad="38100" dist="38100" dir="2700000" algn="tl">
                    <a:srgbClr val="000000">
                      <a:alpha val="43137"/>
                    </a:srgbClr>
                  </a:outerShdw>
                </a:effectLst>
              </a:rPr>
              <a:t>economy</a:t>
            </a:r>
            <a:endParaRPr lang="en-US" dirty="0"/>
          </a:p>
        </p:txBody>
      </p:sp>
      <p:sp>
        <p:nvSpPr>
          <p:cNvPr id="3" name="Symbol zastępczy zawartości 2">
            <a:extLst>
              <a:ext uri="{FF2B5EF4-FFF2-40B4-BE49-F238E27FC236}">
                <a16:creationId xmlns:a16="http://schemas.microsoft.com/office/drawing/2014/main" id="{CC4BEB7C-B495-5C61-3297-37ABD00D0873}"/>
              </a:ext>
            </a:extLst>
          </p:cNvPr>
          <p:cNvSpPr>
            <a:spLocks noGrp="1"/>
          </p:cNvSpPr>
          <p:nvPr>
            <p:ph idx="1"/>
          </p:nvPr>
        </p:nvSpPr>
        <p:spPr/>
        <p:txBody>
          <a:bodyPr>
            <a:normAutofit lnSpcReduction="10000"/>
          </a:bodyPr>
          <a:lstStyle/>
          <a:p>
            <a:r>
              <a:rPr lang="en-US" dirty="0">
                <a:solidFill>
                  <a:srgbClr val="002060"/>
                </a:solidFill>
                <a:effectLst>
                  <a:outerShdw blurRad="38100" dist="38100" dir="2700000" algn="tl">
                    <a:srgbClr val="000000">
                      <a:alpha val="43137"/>
                    </a:srgbClr>
                  </a:outerShdw>
                </a:effectLst>
              </a:rPr>
              <a:t>Persons performing platform work and, in accordance with national law or practice, representatives of persons performing platform work acting on their behalf shall have </a:t>
            </a:r>
            <a:r>
              <a:rPr lang="en-US" b="1" dirty="0">
                <a:solidFill>
                  <a:srgbClr val="FF0000"/>
                </a:solidFill>
                <a:effectLst>
                  <a:outerShdw blurRad="38100" dist="38100" dir="2700000" algn="tl">
                    <a:srgbClr val="000000">
                      <a:alpha val="43137"/>
                    </a:srgbClr>
                  </a:outerShdw>
                </a:effectLst>
              </a:rPr>
              <a:t>the right to request</a:t>
            </a:r>
            <a:r>
              <a:rPr lang="en-US" dirty="0">
                <a:solidFill>
                  <a:srgbClr val="002060"/>
                </a:solidFill>
                <a:effectLst>
                  <a:outerShdw blurRad="38100" dist="38100" dir="2700000" algn="tl">
                    <a:srgbClr val="000000">
                      <a:alpha val="43137"/>
                    </a:srgbClr>
                  </a:outerShdw>
                </a:effectLst>
              </a:rPr>
              <a:t> the digital </a:t>
            </a:r>
            <a:r>
              <a:rPr lang="en-US" dirty="0" err="1">
                <a:solidFill>
                  <a:srgbClr val="002060"/>
                </a:solidFill>
                <a:effectLst>
                  <a:outerShdw blurRad="38100" dist="38100" dir="2700000" algn="tl">
                    <a:srgbClr val="000000">
                      <a:alpha val="43137"/>
                    </a:srgbClr>
                  </a:outerShdw>
                </a:effectLst>
              </a:rPr>
              <a:t>labour</a:t>
            </a:r>
            <a:r>
              <a:rPr lang="en-US" dirty="0">
                <a:solidFill>
                  <a:srgbClr val="002060"/>
                </a:solidFill>
                <a:effectLst>
                  <a:outerShdw blurRad="38100" dist="38100" dir="2700000" algn="tl">
                    <a:srgbClr val="000000">
                      <a:alpha val="43137"/>
                    </a:srgbClr>
                  </a:outerShdw>
                </a:effectLst>
              </a:rPr>
              <a:t> platform </a:t>
            </a:r>
            <a:r>
              <a:rPr lang="en-US" b="1" dirty="0">
                <a:solidFill>
                  <a:srgbClr val="FF0000"/>
                </a:solidFill>
                <a:effectLst>
                  <a:outerShdw blurRad="38100" dist="38100" dir="2700000" algn="tl">
                    <a:srgbClr val="000000">
                      <a:alpha val="43137"/>
                    </a:srgbClr>
                  </a:outerShdw>
                </a:effectLst>
                <a:highlight>
                  <a:srgbClr val="00FF00"/>
                </a:highlight>
              </a:rPr>
              <a:t>to review the </a:t>
            </a:r>
            <a:r>
              <a:rPr lang="pl-PL" b="1" dirty="0" err="1">
                <a:solidFill>
                  <a:srgbClr val="FF0000"/>
                </a:solidFill>
                <a:effectLst>
                  <a:outerShdw blurRad="38100" dist="38100" dir="2700000" algn="tl">
                    <a:srgbClr val="000000">
                      <a:alpha val="43137"/>
                    </a:srgbClr>
                  </a:outerShdw>
                </a:effectLst>
                <a:highlight>
                  <a:srgbClr val="00FF00"/>
                </a:highlight>
              </a:rPr>
              <a:t>above</a:t>
            </a:r>
            <a:r>
              <a:rPr lang="pl-PL" b="1" dirty="0">
                <a:solidFill>
                  <a:srgbClr val="FF0000"/>
                </a:solidFill>
                <a:effectLst>
                  <a:outerShdw blurRad="38100" dist="38100" dir="2700000" algn="tl">
                    <a:srgbClr val="000000">
                      <a:alpha val="43137"/>
                    </a:srgbClr>
                  </a:outerShdw>
                </a:effectLst>
                <a:highlight>
                  <a:srgbClr val="00FF00"/>
                </a:highlight>
              </a:rPr>
              <a:t> </a:t>
            </a:r>
            <a:r>
              <a:rPr lang="en-US" b="1" dirty="0">
                <a:solidFill>
                  <a:srgbClr val="FF0000"/>
                </a:solidFill>
                <a:effectLst>
                  <a:outerShdw blurRad="38100" dist="38100" dir="2700000" algn="tl">
                    <a:srgbClr val="000000">
                      <a:alpha val="43137"/>
                    </a:srgbClr>
                  </a:outerShdw>
                </a:effectLst>
                <a:highlight>
                  <a:srgbClr val="00FF00"/>
                </a:highlight>
              </a:rPr>
              <a:t>decisions</a:t>
            </a:r>
            <a:r>
              <a:rPr lang="en-US" dirty="0">
                <a:solidFill>
                  <a:srgbClr val="002060"/>
                </a:solidFill>
                <a:effectLst>
                  <a:outerShdw blurRad="38100" dist="38100" dir="2700000" algn="tl">
                    <a:srgbClr val="000000">
                      <a:alpha val="43137"/>
                    </a:srgbClr>
                  </a:outerShdw>
                </a:effectLst>
              </a:rPr>
              <a:t>.</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The digital </a:t>
            </a:r>
            <a:r>
              <a:rPr lang="en-US" dirty="0" err="1">
                <a:solidFill>
                  <a:srgbClr val="002060"/>
                </a:solidFill>
                <a:effectLst>
                  <a:outerShdw blurRad="38100" dist="38100" dir="2700000" algn="tl">
                    <a:srgbClr val="000000">
                      <a:alpha val="43137"/>
                    </a:srgbClr>
                  </a:outerShdw>
                </a:effectLst>
              </a:rPr>
              <a:t>labour</a:t>
            </a:r>
            <a:r>
              <a:rPr lang="en-US" dirty="0">
                <a:solidFill>
                  <a:srgbClr val="002060"/>
                </a:solidFill>
                <a:effectLst>
                  <a:outerShdw blurRad="38100" dist="38100" dir="2700000" algn="tl">
                    <a:srgbClr val="000000">
                      <a:alpha val="43137"/>
                    </a:srgbClr>
                  </a:outerShdw>
                </a:effectLst>
              </a:rPr>
              <a:t> platform shall respond to such </a:t>
            </a:r>
            <a:r>
              <a:rPr lang="pl-PL" dirty="0">
                <a:solidFill>
                  <a:srgbClr val="002060"/>
                </a:solidFill>
                <a:effectLst>
                  <a:outerShdw blurRad="38100" dist="38100" dir="2700000" algn="tl">
                    <a:srgbClr val="000000">
                      <a:alpha val="43137"/>
                    </a:srgbClr>
                  </a:outerShdw>
                </a:effectLst>
              </a:rPr>
              <a:t>a </a:t>
            </a:r>
            <a:r>
              <a:rPr lang="en-US" dirty="0">
                <a:solidFill>
                  <a:srgbClr val="002060"/>
                </a:solidFill>
                <a:effectLst>
                  <a:outerShdw blurRad="38100" dist="38100" dir="2700000" algn="tl">
                    <a:srgbClr val="000000">
                      <a:alpha val="43137"/>
                    </a:srgbClr>
                  </a:outerShdw>
                </a:effectLst>
              </a:rPr>
              <a:t>request by providing the person performing platform work with a sufficiently </a:t>
            </a:r>
            <a:r>
              <a:rPr lang="en-US" b="1" dirty="0">
                <a:solidFill>
                  <a:srgbClr val="002060"/>
                </a:solidFill>
                <a:effectLst>
                  <a:outerShdw blurRad="38100" dist="38100" dir="2700000" algn="tl">
                    <a:srgbClr val="000000">
                      <a:alpha val="43137"/>
                    </a:srgbClr>
                  </a:outerShdw>
                </a:effectLst>
              </a:rPr>
              <a:t>precise and adequately substantiated reply in the form of a written </a:t>
            </a:r>
            <a:r>
              <a:rPr lang="en-US" dirty="0">
                <a:solidFill>
                  <a:srgbClr val="002060"/>
                </a:solidFill>
                <a:effectLst>
                  <a:outerShdw blurRad="38100" dist="38100" dir="2700000" algn="tl">
                    <a:srgbClr val="000000">
                      <a:alpha val="43137"/>
                    </a:srgbClr>
                  </a:outerShdw>
                </a:effectLst>
              </a:rPr>
              <a:t>document, </a:t>
            </a:r>
            <a:r>
              <a:rPr lang="en-US" b="1" dirty="0">
                <a:solidFill>
                  <a:srgbClr val="002060"/>
                </a:solidFill>
                <a:effectLst>
                  <a:outerShdw blurRad="38100" dist="38100" dir="2700000" algn="tl">
                    <a:srgbClr val="000000">
                      <a:alpha val="43137"/>
                    </a:srgbClr>
                  </a:outerShdw>
                </a:effectLst>
              </a:rPr>
              <a:t>which may be in electronic form</a:t>
            </a:r>
            <a:r>
              <a:rPr lang="en-US" dirty="0">
                <a:solidFill>
                  <a:srgbClr val="002060"/>
                </a:solidFill>
                <a:effectLst>
                  <a:outerShdw blurRad="38100" dist="38100" dir="2700000" algn="tl">
                    <a:srgbClr val="000000">
                      <a:alpha val="43137"/>
                    </a:srgbClr>
                  </a:outerShdw>
                </a:effectLst>
              </a:rPr>
              <a:t>, without undue delay and in any event within </a:t>
            </a:r>
            <a:r>
              <a:rPr lang="en-US" b="1" dirty="0">
                <a:solidFill>
                  <a:srgbClr val="FF0000"/>
                </a:solidFill>
                <a:effectLst>
                  <a:outerShdw blurRad="38100" dist="38100" dir="2700000" algn="tl">
                    <a:srgbClr val="000000">
                      <a:alpha val="43137"/>
                    </a:srgbClr>
                  </a:outerShdw>
                </a:effectLst>
              </a:rPr>
              <a:t>two weeks </a:t>
            </a:r>
            <a:r>
              <a:rPr lang="en-US" dirty="0">
                <a:solidFill>
                  <a:srgbClr val="002060"/>
                </a:solidFill>
                <a:effectLst>
                  <a:outerShdw blurRad="38100" dist="38100" dir="2700000" algn="tl">
                    <a:srgbClr val="000000">
                      <a:alpha val="43137"/>
                    </a:srgbClr>
                  </a:outerShdw>
                </a:effectLst>
              </a:rPr>
              <a:t>of receipt of the request.</a:t>
            </a:r>
            <a:endParaRPr lang="pl-PL" dirty="0">
              <a:solidFill>
                <a:srgbClr val="00206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The platform </a:t>
            </a:r>
            <a:r>
              <a:rPr lang="pl-PL" dirty="0" err="1">
                <a:solidFill>
                  <a:srgbClr val="002060"/>
                </a:solidFill>
                <a:effectLst>
                  <a:outerShdw blurRad="38100" dist="38100" dir="2700000" algn="tl">
                    <a:srgbClr val="000000">
                      <a:alpha val="43137"/>
                    </a:srgbClr>
                  </a:outerShdw>
                </a:effectLst>
              </a:rPr>
              <a:t>should</a:t>
            </a:r>
            <a:r>
              <a:rPr lang="pl-PL" dirty="0">
                <a:solidFill>
                  <a:srgbClr val="00206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rectify</a:t>
            </a:r>
            <a:r>
              <a:rPr lang="pl-PL" b="1" dirty="0">
                <a:solidFill>
                  <a:srgbClr val="FF0000"/>
                </a:solidFill>
                <a:effectLst>
                  <a:outerShdw blurRad="38100" dist="38100" dir="2700000" algn="tl">
                    <a:srgbClr val="000000">
                      <a:alpha val="43137"/>
                    </a:srgbClr>
                  </a:outerShdw>
                </a:effectLst>
              </a:rPr>
              <a:t> the </a:t>
            </a:r>
            <a:r>
              <a:rPr lang="pl-PL" b="1" dirty="0" err="1">
                <a:solidFill>
                  <a:srgbClr val="FF0000"/>
                </a:solidFill>
                <a:effectLst>
                  <a:outerShdw blurRad="38100" dist="38100" dir="2700000" algn="tl">
                    <a:srgbClr val="000000">
                      <a:alpha val="43137"/>
                    </a:srgbClr>
                  </a:outerShdw>
                </a:effectLst>
              </a:rPr>
              <a:t>damage</a:t>
            </a:r>
            <a:r>
              <a:rPr lang="pl-PL" b="1" dirty="0">
                <a:solidFill>
                  <a:srgbClr val="FF000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or</a:t>
            </a:r>
            <a:r>
              <a:rPr lang="pl-PL" dirty="0">
                <a:solidFill>
                  <a:srgbClr val="00206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if</a:t>
            </a:r>
            <a:r>
              <a:rPr lang="pl-PL" dirty="0">
                <a:solidFill>
                  <a:srgbClr val="002060"/>
                </a:solidFill>
                <a:effectLst>
                  <a:outerShdw blurRad="38100" dist="38100" dir="2700000" algn="tl">
                    <a:srgbClr val="000000">
                      <a:alpha val="43137"/>
                    </a:srgbClr>
                  </a:outerShdw>
                </a:effectLst>
              </a:rPr>
              <a:t> not </a:t>
            </a:r>
            <a:r>
              <a:rPr lang="pl-PL" dirty="0" err="1">
                <a:solidFill>
                  <a:srgbClr val="002060"/>
                </a:solidFill>
                <a:effectLst>
                  <a:outerShdw blurRad="38100" dist="38100" dir="2700000" algn="tl">
                    <a:srgbClr val="000000">
                      <a:alpha val="43137"/>
                    </a:srgbClr>
                  </a:outerShdw>
                </a:effectLst>
              </a:rPr>
              <a:t>possible</a:t>
            </a:r>
            <a:r>
              <a:rPr lang="pl-PL" dirty="0">
                <a:solidFill>
                  <a:srgbClr val="002060"/>
                </a:solidFill>
                <a:effectLst>
                  <a:outerShdw blurRad="38100" dist="38100" dir="2700000" algn="tl">
                    <a:srgbClr val="000000">
                      <a:alpha val="43137"/>
                    </a:srgbClr>
                  </a:outerShdw>
                </a:effectLst>
              </a:rPr>
              <a:t>,  </a:t>
            </a:r>
            <a:r>
              <a:rPr lang="pl-PL" b="1" dirty="0" err="1">
                <a:solidFill>
                  <a:srgbClr val="FF0000"/>
                </a:solidFill>
                <a:effectLst>
                  <a:outerShdw blurRad="38100" dist="38100" dir="2700000" algn="tl">
                    <a:srgbClr val="000000">
                      <a:alpha val="43137"/>
                    </a:srgbClr>
                  </a:outerShdw>
                </a:effectLst>
              </a:rPr>
              <a:t>compensate</a:t>
            </a:r>
            <a:r>
              <a:rPr lang="pl-PL" b="1" dirty="0">
                <a:solidFill>
                  <a:srgbClr val="FF0000"/>
                </a:solidFill>
                <a:effectLst>
                  <a:outerShdw blurRad="38100" dist="38100" dir="2700000" algn="tl">
                    <a:srgbClr val="000000">
                      <a:alpha val="43137"/>
                    </a:srgbClr>
                  </a:outerShdw>
                </a:effectLst>
              </a:rPr>
              <a:t> for </a:t>
            </a:r>
            <a:r>
              <a:rPr lang="pl-PL" b="1" dirty="0" err="1">
                <a:solidFill>
                  <a:srgbClr val="FF0000"/>
                </a:solidFill>
                <a:effectLst>
                  <a:outerShdw blurRad="38100" dist="38100" dir="2700000" algn="tl">
                    <a:srgbClr val="000000">
                      <a:alpha val="43137"/>
                    </a:srgbClr>
                  </a:outerShdw>
                </a:effectLst>
              </a:rPr>
              <a:t>it</a:t>
            </a:r>
            <a:r>
              <a:rPr lang="pl-PL" dirty="0">
                <a:solidFill>
                  <a:srgbClr val="002060"/>
                </a:solidFill>
                <a:effectLst>
                  <a:outerShdw blurRad="38100" dist="38100" dir="2700000" algn="tl">
                    <a:srgbClr val="000000">
                      <a:alpha val="43137"/>
                    </a:srgbClr>
                  </a:outerShdw>
                </a:effectLst>
              </a:rPr>
              <a:t>.</a:t>
            </a:r>
            <a:endParaRPr lang="en-US" dirty="0">
              <a:solidFill>
                <a:srgbClr val="002060"/>
              </a:solidFill>
              <a:effectLst>
                <a:outerShdw blurRad="38100" dist="38100" dir="2700000" algn="tl">
                  <a:srgbClr val="000000">
                    <a:alpha val="43137"/>
                  </a:srgbClr>
                </a:outerShdw>
              </a:effectLst>
            </a:endParaRPr>
          </a:p>
        </p:txBody>
      </p:sp>
      <p:sp>
        <p:nvSpPr>
          <p:cNvPr id="4" name="Symbol zastępczy numeru slajdu 3">
            <a:extLst>
              <a:ext uri="{FF2B5EF4-FFF2-40B4-BE49-F238E27FC236}">
                <a16:creationId xmlns:a16="http://schemas.microsoft.com/office/drawing/2014/main" id="{AEB62D75-5F42-580B-4221-295C7040AA66}"/>
              </a:ext>
            </a:extLst>
          </p:cNvPr>
          <p:cNvSpPr>
            <a:spLocks noGrp="1"/>
          </p:cNvSpPr>
          <p:nvPr>
            <p:ph type="sldNum" sz="quarter" idx="12"/>
          </p:nvPr>
        </p:nvSpPr>
        <p:spPr/>
        <p:txBody>
          <a:bodyPr/>
          <a:lstStyle/>
          <a:p>
            <a:fld id="{31FE8408-9B39-4718-B64F-54F72D092B1B}" type="slidenum">
              <a:rPr lang="pl-PL" smtClean="0"/>
              <a:t>33</a:t>
            </a:fld>
            <a:endParaRPr lang="pl-PL" dirty="0"/>
          </a:p>
        </p:txBody>
      </p:sp>
    </p:spTree>
    <p:extLst>
      <p:ext uri="{BB962C8B-B14F-4D97-AF65-F5344CB8AC3E}">
        <p14:creationId xmlns:p14="http://schemas.microsoft.com/office/powerpoint/2010/main" val="41648060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1BFC165-F13D-3D2D-83DC-BC7EB453262A}"/>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a:t>
            </a:r>
            <a:r>
              <a:rPr lang="pl-PL" b="1" dirty="0">
                <a:solidFill>
                  <a:srgbClr val="FF0000"/>
                </a:solidFill>
                <a:effectLst>
                  <a:outerShdw blurRad="38100" dist="38100" dir="2700000" algn="tl">
                    <a:srgbClr val="000000">
                      <a:alpha val="43137"/>
                    </a:srgbClr>
                  </a:outerShdw>
                </a:effectLst>
              </a:rPr>
              <a:t>EU </a:t>
            </a:r>
            <a:r>
              <a:rPr lang="pl-PL" b="1" dirty="0" err="1">
                <a:solidFill>
                  <a:srgbClr val="FF0000"/>
                </a:solidFill>
                <a:effectLst>
                  <a:outerShdw blurRad="38100" dist="38100" dir="2700000" algn="tl">
                    <a:srgbClr val="000000">
                      <a:alpha val="43137"/>
                    </a:srgbClr>
                  </a:outerShdw>
                </a:effectLst>
              </a:rPr>
              <a:t>directive</a:t>
            </a:r>
            <a:r>
              <a:rPr lang="pl-PL" b="1" dirty="0">
                <a:solidFill>
                  <a:srgbClr val="FF0000"/>
                </a:solidFill>
                <a:effectLst>
                  <a:outerShdw blurRad="38100" dist="38100" dir="2700000" algn="tl">
                    <a:srgbClr val="000000">
                      <a:alpha val="43137"/>
                    </a:srgbClr>
                  </a:outerShdw>
                </a:effectLst>
              </a:rPr>
              <a:t> </a:t>
            </a:r>
            <a:r>
              <a:rPr lang="pl-PL" dirty="0" err="1">
                <a:solidFill>
                  <a:srgbClr val="002060"/>
                </a:solidFill>
                <a:effectLst>
                  <a:outerShdw blurRad="38100" dist="38100" dir="2700000" algn="tl">
                    <a:srgbClr val="000000">
                      <a:alpha val="43137"/>
                    </a:srgbClr>
                  </a:outerShdw>
                </a:effectLst>
              </a:rPr>
              <a:t>concerning</a:t>
            </a:r>
            <a:r>
              <a:rPr lang="pl-PL" dirty="0">
                <a:solidFill>
                  <a:srgbClr val="002060"/>
                </a:solidFill>
                <a:effectLst>
                  <a:outerShdw blurRad="38100" dist="38100" dir="2700000" algn="tl">
                    <a:srgbClr val="000000">
                      <a:alpha val="43137"/>
                    </a:srgbClr>
                  </a:outerShdw>
                </a:effectLst>
              </a:rPr>
              <a:t> the GIG </a:t>
            </a:r>
            <a:r>
              <a:rPr lang="pl-PL" dirty="0" err="1">
                <a:solidFill>
                  <a:srgbClr val="002060"/>
                </a:solidFill>
                <a:effectLst>
                  <a:outerShdw blurRad="38100" dist="38100" dir="2700000" algn="tl">
                    <a:srgbClr val="000000">
                      <a:alpha val="43137"/>
                    </a:srgbClr>
                  </a:outerShdw>
                </a:effectLst>
              </a:rPr>
              <a:t>economy</a:t>
            </a:r>
            <a:endParaRPr lang="en-US" dirty="0"/>
          </a:p>
        </p:txBody>
      </p:sp>
      <p:sp>
        <p:nvSpPr>
          <p:cNvPr id="3" name="Symbol zastępczy zawartości 2">
            <a:extLst>
              <a:ext uri="{FF2B5EF4-FFF2-40B4-BE49-F238E27FC236}">
                <a16:creationId xmlns:a16="http://schemas.microsoft.com/office/drawing/2014/main" id="{9D18B5BC-DD64-5C6F-B8A6-BA299BA8B3E1}"/>
              </a:ext>
            </a:extLst>
          </p:cNvPr>
          <p:cNvSpPr>
            <a:spLocks noGrp="1"/>
          </p:cNvSpPr>
          <p:nvPr>
            <p:ph idx="1"/>
          </p:nvPr>
        </p:nvSpPr>
        <p:spPr/>
        <p:txBody>
          <a:bodyPr>
            <a:normAutofit fontScale="85000" lnSpcReduction="20000"/>
          </a:bodyPr>
          <a:lstStyle/>
          <a:p>
            <a:r>
              <a:rPr lang="pl-PL" dirty="0" err="1">
                <a:solidFill>
                  <a:srgbClr val="002060"/>
                </a:solidFill>
                <a:effectLst>
                  <a:outerShdw blurRad="38100" dist="38100" dir="2700000" algn="tl">
                    <a:srgbClr val="000000">
                      <a:alpha val="43137"/>
                    </a:srgbClr>
                  </a:outerShdw>
                </a:effectLst>
              </a:rPr>
              <a:t>National</a:t>
            </a:r>
            <a:r>
              <a:rPr lang="pl-PL" dirty="0">
                <a:solidFill>
                  <a:srgbClr val="002060"/>
                </a:solidFill>
                <a:effectLst>
                  <a:outerShdw blurRad="38100" dist="38100" dir="2700000" algn="tl">
                    <a:srgbClr val="000000">
                      <a:alpha val="43137"/>
                    </a:srgbClr>
                  </a:outerShdw>
                </a:effectLst>
              </a:rPr>
              <a:t> law</a:t>
            </a:r>
            <a:r>
              <a:rPr lang="en-US" dirty="0">
                <a:solidFill>
                  <a:srgbClr val="002060"/>
                </a:solidFill>
                <a:effectLst>
                  <a:outerShdw blurRad="38100" dist="38100" dir="2700000" algn="tl">
                    <a:srgbClr val="000000">
                      <a:alpha val="43137"/>
                    </a:srgbClr>
                  </a:outerShdw>
                </a:effectLst>
              </a:rPr>
              <a:t> shall ensure that persons </a:t>
            </a:r>
            <a:r>
              <a:rPr lang="en-US" b="1" dirty="0">
                <a:solidFill>
                  <a:srgbClr val="002060"/>
                </a:solidFill>
                <a:effectLst>
                  <a:outerShdw blurRad="38100" dist="38100" dir="2700000" algn="tl">
                    <a:srgbClr val="000000">
                      <a:alpha val="43137"/>
                    </a:srgbClr>
                  </a:outerShdw>
                </a:effectLst>
              </a:rPr>
              <a:t>performing platform work</a:t>
            </a:r>
            <a:r>
              <a:rPr lang="en-US" dirty="0">
                <a:solidFill>
                  <a:srgbClr val="002060"/>
                </a:solidFill>
                <a:effectLst>
                  <a:outerShdw blurRad="38100" dist="38100" dir="2700000" algn="tl">
                    <a:srgbClr val="000000">
                      <a:alpha val="43137"/>
                    </a:srgbClr>
                  </a:outerShdw>
                </a:effectLst>
              </a:rPr>
              <a:t>, including those whose employment or other contractual relationship </a:t>
            </a:r>
            <a:r>
              <a:rPr lang="en-US" b="1" dirty="0">
                <a:solidFill>
                  <a:srgbClr val="002060"/>
                </a:solidFill>
                <a:effectLst>
                  <a:outerShdw blurRad="38100" dist="38100" dir="2700000" algn="tl">
                    <a:srgbClr val="000000">
                      <a:alpha val="43137"/>
                    </a:srgbClr>
                  </a:outerShdw>
                </a:effectLst>
              </a:rPr>
              <a:t>has ended</a:t>
            </a:r>
            <a:r>
              <a:rPr lang="en-US" dirty="0">
                <a:solidFill>
                  <a:srgbClr val="002060"/>
                </a:solidFill>
                <a:effectLst>
                  <a:outerShdw blurRad="38100" dist="38100" dir="2700000" algn="tl">
                    <a:srgbClr val="000000">
                      <a:alpha val="43137"/>
                    </a:srgbClr>
                  </a:outerShdw>
                </a:effectLst>
              </a:rPr>
              <a:t>, have access to timely, effective</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and </a:t>
            </a:r>
            <a:r>
              <a:rPr lang="en-US" b="1" dirty="0">
                <a:solidFill>
                  <a:srgbClr val="FF0000"/>
                </a:solidFill>
                <a:effectLst>
                  <a:outerShdw blurRad="38100" dist="38100" dir="2700000" algn="tl">
                    <a:srgbClr val="000000">
                      <a:alpha val="43137"/>
                    </a:srgbClr>
                  </a:outerShdw>
                </a:effectLst>
              </a:rPr>
              <a:t>impartial dispute resolution and a right to redress</a:t>
            </a:r>
            <a:r>
              <a:rPr lang="en-US" dirty="0">
                <a:solidFill>
                  <a:srgbClr val="002060"/>
                </a:solidFill>
                <a:effectLst>
                  <a:outerShdw blurRad="38100" dist="38100" dir="2700000" algn="tl">
                    <a:srgbClr val="000000">
                      <a:alpha val="43137"/>
                    </a:srgbClr>
                  </a:outerShdw>
                </a:effectLst>
              </a:rPr>
              <a:t>, including </a:t>
            </a:r>
            <a:r>
              <a:rPr lang="en-US" b="1" dirty="0">
                <a:solidFill>
                  <a:srgbClr val="002060"/>
                </a:solidFill>
                <a:effectLst>
                  <a:outerShdw blurRad="38100" dist="38100" dir="2700000" algn="tl">
                    <a:srgbClr val="000000">
                      <a:alpha val="43137"/>
                    </a:srgbClr>
                  </a:outerShdw>
                </a:effectLst>
              </a:rPr>
              <a:t>adequate compensation for the damage sustained</a:t>
            </a:r>
            <a:r>
              <a:rPr lang="en-US" dirty="0">
                <a:solidFill>
                  <a:srgbClr val="002060"/>
                </a:solidFill>
                <a:effectLst>
                  <a:outerShdw blurRad="38100" dist="38100" dir="2700000" algn="tl">
                    <a:srgbClr val="000000">
                      <a:alpha val="43137"/>
                    </a:srgbClr>
                  </a:outerShdw>
                </a:effectLst>
              </a:rPr>
              <a:t>, in the case of infringements of their rights arising from this Directive</a:t>
            </a:r>
            <a:endParaRPr lang="pl-PL" dirty="0">
              <a:solidFill>
                <a:srgbClr val="002060"/>
              </a:solidFill>
              <a:effectLst>
                <a:outerShdw blurRad="38100" dist="38100" dir="2700000" algn="tl">
                  <a:srgbClr val="000000">
                    <a:alpha val="43137"/>
                  </a:srgbClr>
                </a:outerShdw>
              </a:effectLst>
            </a:endParaRPr>
          </a:p>
          <a:p>
            <a:r>
              <a:rPr lang="en-US" dirty="0">
                <a:solidFill>
                  <a:srgbClr val="002060"/>
                </a:solidFill>
                <a:effectLst>
                  <a:outerShdw blurRad="38100" dist="38100" dir="2700000" algn="tl">
                    <a:srgbClr val="000000">
                      <a:alpha val="43137"/>
                    </a:srgbClr>
                  </a:outerShdw>
                </a:effectLst>
              </a:rPr>
              <a:t> </a:t>
            </a:r>
            <a:r>
              <a:rPr lang="en-US" b="1" dirty="0">
                <a:solidFill>
                  <a:srgbClr val="FF0000"/>
                </a:solidFill>
                <a:effectLst>
                  <a:outerShdw blurRad="38100" dist="38100" dir="2700000" algn="tl">
                    <a:srgbClr val="000000">
                      <a:alpha val="43137"/>
                    </a:srgbClr>
                  </a:outerShdw>
                </a:effectLst>
              </a:rPr>
              <a:t>Representatives</a:t>
            </a:r>
            <a:r>
              <a:rPr lang="en-US" dirty="0">
                <a:solidFill>
                  <a:srgbClr val="002060"/>
                </a:solidFill>
                <a:effectLst>
                  <a:outerShdw blurRad="38100" dist="38100" dir="2700000" algn="tl">
                    <a:srgbClr val="000000">
                      <a:alpha val="43137"/>
                    </a:srgbClr>
                  </a:outerShdw>
                </a:effectLst>
              </a:rPr>
              <a:t> of persons performing platform work and legal entities that have, in accordance with national law or practice, </a:t>
            </a:r>
            <a:r>
              <a:rPr lang="en-US" b="1" dirty="0">
                <a:solidFill>
                  <a:srgbClr val="FF0000"/>
                </a:solidFill>
                <a:effectLst>
                  <a:outerShdw blurRad="38100" dist="38100" dir="2700000" algn="tl">
                    <a:srgbClr val="000000">
                      <a:alpha val="43137"/>
                    </a:srgbClr>
                  </a:outerShdw>
                </a:effectLst>
              </a:rPr>
              <a:t>a legitimate interest </a:t>
            </a:r>
            <a:r>
              <a:rPr lang="en-US" dirty="0">
                <a:solidFill>
                  <a:srgbClr val="002060"/>
                </a:solidFill>
                <a:effectLst>
                  <a:outerShdw blurRad="38100" dist="38100" dir="2700000" algn="tl">
                    <a:srgbClr val="000000">
                      <a:alpha val="43137"/>
                    </a:srgbClr>
                  </a:outerShdw>
                </a:effectLst>
              </a:rPr>
              <a:t>in defending the rights of persons performing platform work are </a:t>
            </a:r>
            <a:r>
              <a:rPr lang="en-US" b="1" dirty="0">
                <a:solidFill>
                  <a:srgbClr val="FF0000"/>
                </a:solidFill>
                <a:effectLst>
                  <a:outerShdw blurRad="38100" dist="38100" dir="2700000" algn="tl">
                    <a:srgbClr val="000000">
                      <a:alpha val="43137"/>
                    </a:srgbClr>
                  </a:outerShdw>
                </a:effectLst>
              </a:rPr>
              <a:t>able to engage in any judicial or administrative procedure t</a:t>
            </a:r>
            <a:r>
              <a:rPr lang="en-US" dirty="0">
                <a:solidFill>
                  <a:srgbClr val="002060"/>
                </a:solidFill>
                <a:effectLst>
                  <a:outerShdw blurRad="38100" dist="38100" dir="2700000" algn="tl">
                    <a:srgbClr val="000000">
                      <a:alpha val="43137"/>
                    </a:srgbClr>
                  </a:outerShdw>
                </a:effectLst>
              </a:rPr>
              <a:t>o enforce any of the rights or obligations arising from this Directive. </a:t>
            </a:r>
            <a:endParaRPr lang="pl-PL" dirty="0">
              <a:solidFill>
                <a:srgbClr val="002060"/>
              </a:solidFill>
              <a:effectLst>
                <a:outerShdw blurRad="38100" dist="38100" dir="2700000" algn="tl">
                  <a:srgbClr val="000000">
                    <a:alpha val="43137"/>
                  </a:srgbClr>
                </a:outerShdw>
              </a:effectLst>
            </a:endParaRPr>
          </a:p>
          <a:p>
            <a:r>
              <a:rPr lang="pl-PL" dirty="0">
                <a:solidFill>
                  <a:srgbClr val="002060"/>
                </a:solidFill>
                <a:effectLst>
                  <a:outerShdw blurRad="38100" dist="38100" dir="2700000" algn="tl">
                    <a:srgbClr val="000000">
                      <a:alpha val="43137"/>
                    </a:srgbClr>
                  </a:outerShdw>
                </a:effectLst>
              </a:rPr>
              <a:t>S</a:t>
            </a:r>
            <a:r>
              <a:rPr lang="en-US" dirty="0" err="1">
                <a:solidFill>
                  <a:srgbClr val="002060"/>
                </a:solidFill>
                <a:effectLst>
                  <a:outerShdw blurRad="38100" dist="38100" dir="2700000" algn="tl">
                    <a:srgbClr val="000000">
                      <a:alpha val="43137"/>
                    </a:srgbClr>
                  </a:outerShdw>
                </a:effectLst>
              </a:rPr>
              <a:t>uch</a:t>
            </a:r>
            <a:r>
              <a:rPr lang="en-US" dirty="0">
                <a:solidFill>
                  <a:srgbClr val="002060"/>
                </a:solidFill>
                <a:effectLst>
                  <a:outerShdw blurRad="38100" dist="38100" dir="2700000" algn="tl">
                    <a:srgbClr val="000000">
                      <a:alpha val="43137"/>
                    </a:srgbClr>
                  </a:outerShdw>
                </a:effectLst>
              </a:rPr>
              <a:t> representatives and legal entities are </a:t>
            </a:r>
            <a:r>
              <a:rPr lang="en-US" b="1" dirty="0">
                <a:solidFill>
                  <a:srgbClr val="FF0000"/>
                </a:solidFill>
                <a:effectLst>
                  <a:outerShdw blurRad="38100" dist="38100" dir="2700000" algn="tl">
                    <a:srgbClr val="000000">
                      <a:alpha val="43137"/>
                    </a:srgbClr>
                  </a:outerShdw>
                </a:effectLst>
              </a:rPr>
              <a:t>able to act on behalf or in support </a:t>
            </a:r>
            <a:r>
              <a:rPr lang="en-US" dirty="0">
                <a:solidFill>
                  <a:srgbClr val="002060"/>
                </a:solidFill>
                <a:effectLst>
                  <a:outerShdw blurRad="38100" dist="38100" dir="2700000" algn="tl">
                    <a:srgbClr val="000000">
                      <a:alpha val="43137"/>
                    </a:srgbClr>
                  </a:outerShdw>
                </a:effectLst>
              </a:rPr>
              <a:t>of one or several persons performing platform work in the case of the infringement of any right or obligation arising from this Directive, in accordance with national law and </a:t>
            </a:r>
            <a:r>
              <a:rPr lang="en-US" dirty="0" err="1">
                <a:solidFill>
                  <a:srgbClr val="002060"/>
                </a:solidFill>
                <a:effectLst>
                  <a:outerShdw blurRad="38100" dist="38100" dir="2700000" algn="tl">
                    <a:srgbClr val="000000">
                      <a:alpha val="43137"/>
                    </a:srgbClr>
                  </a:outerShdw>
                </a:effectLst>
              </a:rPr>
              <a:t>practi</a:t>
            </a:r>
            <a:r>
              <a:rPr lang="pl-PL" dirty="0">
                <a:solidFill>
                  <a:srgbClr val="002060"/>
                </a:solidFill>
                <a:effectLst>
                  <a:outerShdw blurRad="38100" dist="38100" dir="2700000" algn="tl">
                    <a:srgbClr val="000000">
                      <a:alpha val="43137"/>
                    </a:srgbClr>
                  </a:outerShdw>
                </a:effectLst>
              </a:rPr>
              <a:t>ce.</a:t>
            </a:r>
            <a:endParaRPr lang="en-US" dirty="0">
              <a:solidFill>
                <a:srgbClr val="002060"/>
              </a:solidFill>
              <a:effectLst>
                <a:outerShdw blurRad="38100" dist="38100" dir="2700000" algn="tl">
                  <a:srgbClr val="000000">
                    <a:alpha val="43137"/>
                  </a:srgbClr>
                </a:outerShdw>
              </a:effectLst>
            </a:endParaRPr>
          </a:p>
        </p:txBody>
      </p:sp>
      <p:sp>
        <p:nvSpPr>
          <p:cNvPr id="4" name="Symbol zastępczy numeru slajdu 3">
            <a:extLst>
              <a:ext uri="{FF2B5EF4-FFF2-40B4-BE49-F238E27FC236}">
                <a16:creationId xmlns:a16="http://schemas.microsoft.com/office/drawing/2014/main" id="{E637C371-7202-B14D-C40A-E693C7EF2C91}"/>
              </a:ext>
            </a:extLst>
          </p:cNvPr>
          <p:cNvSpPr>
            <a:spLocks noGrp="1"/>
          </p:cNvSpPr>
          <p:nvPr>
            <p:ph type="sldNum" sz="quarter" idx="12"/>
          </p:nvPr>
        </p:nvSpPr>
        <p:spPr/>
        <p:txBody>
          <a:bodyPr/>
          <a:lstStyle/>
          <a:p>
            <a:fld id="{31FE8408-9B39-4718-B64F-54F72D092B1B}" type="slidenum">
              <a:rPr lang="pl-PL" smtClean="0"/>
              <a:t>34</a:t>
            </a:fld>
            <a:endParaRPr lang="pl-PL" dirty="0"/>
          </a:p>
        </p:txBody>
      </p:sp>
    </p:spTree>
    <p:extLst>
      <p:ext uri="{BB962C8B-B14F-4D97-AF65-F5344CB8AC3E}">
        <p14:creationId xmlns:p14="http://schemas.microsoft.com/office/powerpoint/2010/main" val="29537295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39BB7D4-606D-4AA7-61B5-E74857CC183B}"/>
              </a:ext>
            </a:extLst>
          </p:cNvPr>
          <p:cNvSpPr>
            <a:spLocks noGrp="1"/>
          </p:cNvSpPr>
          <p:nvPr>
            <p:ph type="title"/>
          </p:nvPr>
        </p:nvSpPr>
        <p:spPr/>
        <p:txBody>
          <a:bodyPr/>
          <a:lstStyle/>
          <a:p>
            <a:r>
              <a:rPr lang="pl-PL" b="1" dirty="0" err="1">
                <a:solidFill>
                  <a:srgbClr val="FF0000"/>
                </a:solidFill>
                <a:effectLst>
                  <a:outerShdw blurRad="38100" dist="38100" dir="2700000" algn="tl">
                    <a:srgbClr val="000000">
                      <a:alpha val="43137"/>
                    </a:srgbClr>
                  </a:outerShdw>
                </a:effectLst>
              </a:rPr>
              <a:t>Introduction</a:t>
            </a:r>
            <a:r>
              <a:rPr lang="pl-PL" b="1" dirty="0">
                <a:solidFill>
                  <a:srgbClr val="FF0000"/>
                </a:solidFill>
                <a:effectLst>
                  <a:outerShdw blurRad="38100" dist="38100" dir="2700000" algn="tl">
                    <a:srgbClr val="000000">
                      <a:alpha val="43137"/>
                    </a:srgbClr>
                  </a:outerShdw>
                </a:effectLst>
              </a:rPr>
              <a:t> to the </a:t>
            </a:r>
            <a:r>
              <a:rPr lang="pl-PL" b="1" dirty="0" err="1">
                <a:solidFill>
                  <a:srgbClr val="FF0000"/>
                </a:solidFill>
                <a:effectLst>
                  <a:outerShdw blurRad="38100" dist="38100" dir="2700000" algn="tl">
                    <a:srgbClr val="000000">
                      <a:alpha val="43137"/>
                    </a:srgbClr>
                  </a:outerShdw>
                </a:effectLst>
              </a:rPr>
              <a:t>Madrid</a:t>
            </a:r>
            <a:r>
              <a:rPr lang="pl-PL" b="1" dirty="0">
                <a:solidFill>
                  <a:srgbClr val="FF0000"/>
                </a:solidFill>
                <a:effectLst>
                  <a:outerShdw blurRad="38100" dist="38100" dir="2700000" algn="tl">
                    <a:srgbClr val="000000">
                      <a:alpha val="43137"/>
                    </a:srgbClr>
                  </a:outerShdw>
                </a:effectLst>
              </a:rPr>
              <a:t> Taxi Driver </a:t>
            </a:r>
            <a:r>
              <a:rPr lang="pl-PL" b="1" dirty="0" err="1">
                <a:solidFill>
                  <a:srgbClr val="FF0000"/>
                </a:solidFill>
                <a:effectLst>
                  <a:outerShdw blurRad="38100" dist="38100" dir="2700000" algn="tl">
                    <a:srgbClr val="000000">
                      <a:alpha val="43137"/>
                    </a:srgbClr>
                  </a:outerShdw>
                </a:effectLst>
              </a:rPr>
              <a:t>case</a:t>
            </a:r>
            <a:r>
              <a:rPr lang="pl-PL" b="1" dirty="0">
                <a:solidFill>
                  <a:srgbClr val="FF0000"/>
                </a:solidFill>
                <a:effectLst>
                  <a:outerShdw blurRad="38100" dist="38100" dir="2700000" algn="tl">
                    <a:srgbClr val="000000">
                      <a:alpha val="43137"/>
                    </a:srgbClr>
                  </a:outerShdw>
                </a:effectLst>
              </a:rPr>
              <a:t> </a:t>
            </a:r>
            <a:endParaRPr lang="en-US" b="1" dirty="0">
              <a:solidFill>
                <a:srgbClr val="FF000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EDD3290C-4CDB-84C4-AE49-FD8EB204083A}"/>
              </a:ext>
            </a:extLst>
          </p:cNvPr>
          <p:cNvSpPr>
            <a:spLocks noGrp="1"/>
          </p:cNvSpPr>
          <p:nvPr>
            <p:ph idx="1"/>
          </p:nvPr>
        </p:nvSpPr>
        <p:spPr/>
        <p:txBody>
          <a:bodyPr>
            <a:normAutofit fontScale="92500" lnSpcReduction="10000"/>
          </a:bodyPr>
          <a:lstStyle/>
          <a:p>
            <a:r>
              <a:rPr lang="en-US" noProof="0" dirty="0">
                <a:solidFill>
                  <a:srgbClr val="002060"/>
                </a:solidFill>
                <a:effectLst>
                  <a:outerShdw blurRad="38100" dist="38100" dir="2700000" algn="tl">
                    <a:srgbClr val="000000">
                      <a:alpha val="43137"/>
                    </a:srgbClr>
                  </a:outerShdw>
                </a:effectLst>
              </a:rPr>
              <a:t>The case below illustrates the EU Courts’ dilemma resulting from the fact </a:t>
            </a:r>
            <a:r>
              <a:rPr lang="en-US" b="1" noProof="0" dirty="0">
                <a:solidFill>
                  <a:srgbClr val="FF0000"/>
                </a:solidFill>
                <a:effectLst>
                  <a:outerShdw blurRad="38100" dist="38100" dir="2700000" algn="tl">
                    <a:srgbClr val="000000">
                      <a:alpha val="43137"/>
                    </a:srgbClr>
                  </a:outerShdw>
                </a:effectLst>
              </a:rPr>
              <a:t>that electronic services provided by UBER cannot be administratively restricted </a:t>
            </a:r>
            <a:r>
              <a:rPr lang="en-US" noProof="0" dirty="0">
                <a:solidFill>
                  <a:srgbClr val="002060"/>
                </a:solidFill>
                <a:effectLst>
                  <a:outerShdw blurRad="38100" dist="38100" dir="2700000" algn="tl">
                    <a:srgbClr val="000000">
                      <a:alpha val="43137"/>
                    </a:srgbClr>
                  </a:outerShdw>
                </a:effectLst>
              </a:rPr>
              <a:t>unless they pose a threat.</a:t>
            </a:r>
            <a:r>
              <a:rPr lang="pl-PL" noProof="0" dirty="0">
                <a:solidFill>
                  <a:srgbClr val="002060"/>
                </a:solidFill>
                <a:effectLst>
                  <a:outerShdw blurRad="38100" dist="38100" dir="2700000" algn="tl">
                    <a:srgbClr val="000000">
                      <a:alpha val="43137"/>
                    </a:srgbClr>
                  </a:outerShdw>
                </a:effectLst>
              </a:rPr>
              <a:t> </a:t>
            </a:r>
            <a:r>
              <a:rPr lang="en-US" noProof="0" dirty="0">
                <a:solidFill>
                  <a:srgbClr val="002060"/>
                </a:solidFill>
                <a:effectLst>
                  <a:outerShdw blurRad="38100" dist="38100" dir="2700000" algn="tl">
                    <a:srgbClr val="000000">
                      <a:alpha val="43137"/>
                    </a:srgbClr>
                  </a:outerShdw>
                </a:effectLst>
              </a:rPr>
              <a:t>At the same time, </a:t>
            </a:r>
            <a:r>
              <a:rPr lang="en-US" b="1" noProof="0" dirty="0">
                <a:solidFill>
                  <a:srgbClr val="FF0000"/>
                </a:solidFill>
                <a:effectLst>
                  <a:outerShdw blurRad="38100" dist="38100" dir="2700000" algn="tl">
                    <a:srgbClr val="000000">
                      <a:alpha val="43137"/>
                    </a:srgbClr>
                  </a:outerShdw>
                </a:effectLst>
              </a:rPr>
              <a:t>transportation services can</a:t>
            </a:r>
            <a:r>
              <a:rPr lang="en-US" noProof="0" dirty="0">
                <a:solidFill>
                  <a:srgbClr val="002060"/>
                </a:solidFill>
                <a:effectLst>
                  <a:outerShdw blurRad="38100" dist="38100" dir="2700000" algn="tl">
                    <a:srgbClr val="000000">
                      <a:alpha val="43137"/>
                    </a:srgbClr>
                  </a:outerShdw>
                </a:effectLst>
              </a:rPr>
              <a:t>. </a:t>
            </a:r>
            <a:endParaRPr lang="pl-PL" noProof="0" dirty="0">
              <a:solidFill>
                <a:srgbClr val="002060"/>
              </a:solidFill>
              <a:effectLst>
                <a:outerShdw blurRad="38100" dist="38100" dir="2700000" algn="tl">
                  <a:srgbClr val="000000">
                    <a:alpha val="43137"/>
                  </a:srgbClr>
                </a:outerShdw>
              </a:effectLst>
            </a:endParaRPr>
          </a:p>
          <a:p>
            <a:r>
              <a:rPr lang="en-US" noProof="0" dirty="0">
                <a:solidFill>
                  <a:srgbClr val="002060"/>
                </a:solidFill>
                <a:effectLst>
                  <a:outerShdw blurRad="38100" dist="38100" dir="2700000" algn="tl">
                    <a:srgbClr val="000000">
                      <a:alpha val="43137"/>
                    </a:srgbClr>
                  </a:outerShdw>
                </a:effectLst>
              </a:rPr>
              <a:t>The Court held that the </a:t>
            </a:r>
            <a:r>
              <a:rPr lang="en-US" b="1" noProof="0" dirty="0">
                <a:solidFill>
                  <a:srgbClr val="FF0000"/>
                </a:solidFill>
                <a:effectLst>
                  <a:outerShdw blurRad="38100" dist="38100" dir="2700000" algn="tl">
                    <a:srgbClr val="000000">
                      <a:alpha val="43137"/>
                    </a:srgbClr>
                  </a:outerShdw>
                </a:effectLst>
              </a:rPr>
              <a:t>two services are inseparable </a:t>
            </a:r>
            <a:r>
              <a:rPr lang="en-US" noProof="0" dirty="0">
                <a:solidFill>
                  <a:srgbClr val="002060"/>
                </a:solidFill>
                <a:effectLst>
                  <a:outerShdw blurRad="38100" dist="38100" dir="2700000" algn="tl">
                    <a:srgbClr val="000000">
                      <a:alpha val="43137"/>
                    </a:srgbClr>
                  </a:outerShdw>
                </a:effectLst>
              </a:rPr>
              <a:t>and that the </a:t>
            </a:r>
            <a:r>
              <a:rPr lang="en-US" b="1" noProof="0" dirty="0">
                <a:solidFill>
                  <a:srgbClr val="FF0000"/>
                </a:solidFill>
                <a:effectLst>
                  <a:outerShdw blurRad="38100" dist="38100" dir="2700000" algn="tl">
                    <a:srgbClr val="000000">
                      <a:alpha val="43137"/>
                    </a:srgbClr>
                  </a:outerShdw>
                </a:effectLst>
              </a:rPr>
              <a:t>transportation component is more important</a:t>
            </a:r>
            <a:r>
              <a:rPr lang="en-US" noProof="0" dirty="0">
                <a:solidFill>
                  <a:srgbClr val="002060"/>
                </a:solidFill>
                <a:effectLst>
                  <a:outerShdw blurRad="38100" dist="38100" dir="2700000" algn="tl">
                    <a:srgbClr val="000000">
                      <a:alpha val="43137"/>
                    </a:srgbClr>
                  </a:outerShdw>
                </a:effectLst>
              </a:rPr>
              <a:t>. For this reason, national governments </a:t>
            </a:r>
            <a:r>
              <a:rPr lang="en-US" b="1" noProof="0" dirty="0">
                <a:solidFill>
                  <a:srgbClr val="FF0000"/>
                </a:solidFill>
                <a:effectLst>
                  <a:outerShdw blurRad="38100" dist="38100" dir="2700000" algn="tl">
                    <a:srgbClr val="000000">
                      <a:alpha val="43137"/>
                    </a:srgbClr>
                  </a:outerShdw>
                </a:effectLst>
              </a:rPr>
              <a:t>can impose administrative restrictions</a:t>
            </a:r>
            <a:r>
              <a:rPr lang="en-US" noProof="0" dirty="0">
                <a:solidFill>
                  <a:srgbClr val="002060"/>
                </a:solidFill>
                <a:effectLst>
                  <a:outerShdw blurRad="38100" dist="38100" dir="2700000" algn="tl">
                    <a:srgbClr val="000000">
                      <a:alpha val="43137"/>
                    </a:srgbClr>
                  </a:outerShdw>
                </a:effectLst>
              </a:rPr>
              <a:t>.</a:t>
            </a:r>
          </a:p>
          <a:p>
            <a:r>
              <a:rPr lang="en-US" noProof="0" dirty="0">
                <a:solidFill>
                  <a:srgbClr val="002060"/>
                </a:solidFill>
                <a:effectLst>
                  <a:outerShdw blurRad="38100" dist="38100" dir="2700000" algn="tl">
                    <a:srgbClr val="000000">
                      <a:alpha val="43137"/>
                    </a:srgbClr>
                  </a:outerShdw>
                </a:effectLst>
              </a:rPr>
              <a:t>The Court also held that Uber and drivers are </a:t>
            </a:r>
            <a:r>
              <a:rPr lang="en-US" b="1" noProof="0" dirty="0">
                <a:solidFill>
                  <a:srgbClr val="FF0000"/>
                </a:solidFill>
                <a:effectLst>
                  <a:outerShdw blurRad="38100" dist="38100" dir="2700000" algn="tl">
                    <a:srgbClr val="000000">
                      <a:alpha val="43137"/>
                    </a:srgbClr>
                  </a:outerShdw>
                </a:effectLst>
              </a:rPr>
              <a:t>one economic entity </a:t>
            </a:r>
            <a:r>
              <a:rPr lang="en-US" noProof="0" dirty="0">
                <a:solidFill>
                  <a:srgbClr val="002060"/>
                </a:solidFill>
                <a:effectLst>
                  <a:outerShdw blurRad="38100" dist="38100" dir="2700000" algn="tl">
                    <a:srgbClr val="000000">
                      <a:alpha val="43137"/>
                    </a:srgbClr>
                  </a:outerShdw>
                </a:effectLst>
              </a:rPr>
              <a:t>(like in the case of Aslam v. Uber)</a:t>
            </a:r>
          </a:p>
          <a:p>
            <a:r>
              <a:rPr lang="en-US" noProof="0" dirty="0">
                <a:solidFill>
                  <a:srgbClr val="002060"/>
                </a:solidFill>
                <a:effectLst>
                  <a:outerShdw blurRad="38100" dist="38100" dir="2700000" algn="tl">
                    <a:srgbClr val="000000">
                      <a:alpha val="43137"/>
                    </a:srgbClr>
                  </a:outerShdw>
                </a:effectLst>
              </a:rPr>
              <a:t>This verdict has </a:t>
            </a:r>
            <a:r>
              <a:rPr lang="en-US" b="1" noProof="0" dirty="0">
                <a:solidFill>
                  <a:srgbClr val="FF0000"/>
                </a:solidFill>
                <a:effectLst>
                  <a:outerShdw blurRad="38100" dist="38100" dir="2700000" algn="tl">
                    <a:srgbClr val="000000">
                      <a:alpha val="43137"/>
                    </a:srgbClr>
                  </a:outerShdw>
                </a:effectLst>
              </a:rPr>
              <a:t>not been fully implemented in national law</a:t>
            </a:r>
            <a:r>
              <a:rPr lang="en-US" noProof="0" dirty="0">
                <a:solidFill>
                  <a:srgbClr val="002060"/>
                </a:solidFill>
                <a:effectLst>
                  <a:outerShdw blurRad="38100" dist="38100" dir="2700000" algn="tl">
                    <a:srgbClr val="000000">
                      <a:alpha val="43137"/>
                    </a:srgbClr>
                  </a:outerShdw>
                </a:effectLst>
              </a:rPr>
              <a:t>, because, while the Polish law (Lex Uber indeed imposed restrictions on UBER, it gives </a:t>
            </a:r>
            <a:r>
              <a:rPr lang="en-US" b="1" noProof="0" dirty="0">
                <a:solidFill>
                  <a:srgbClr val="002060"/>
                </a:solidFill>
                <a:effectLst>
                  <a:outerShdw blurRad="38100" dist="38100" dir="2700000" algn="tl">
                    <a:srgbClr val="000000">
                      <a:alpha val="43137"/>
                    </a:srgbClr>
                  </a:outerShdw>
                </a:effectLst>
              </a:rPr>
              <a:t>drivers the status of independent contractors</a:t>
            </a:r>
            <a:r>
              <a:rPr lang="en-US" noProof="0" dirty="0">
                <a:solidFill>
                  <a:srgbClr val="002060"/>
                </a:solidFill>
                <a:effectLst>
                  <a:outerShdw blurRad="38100" dist="38100" dir="2700000" algn="tl">
                    <a:srgbClr val="000000">
                      <a:alpha val="43137"/>
                    </a:srgbClr>
                  </a:outerShdw>
                </a:effectLst>
              </a:rPr>
              <a:t>, rather than workers.</a:t>
            </a:r>
            <a:endParaRPr lang="pl-PL" noProof="0" dirty="0">
              <a:solidFill>
                <a:srgbClr val="002060"/>
              </a:solidFill>
              <a:effectLst>
                <a:outerShdw blurRad="38100" dist="38100" dir="2700000" algn="tl">
                  <a:srgbClr val="000000">
                    <a:alpha val="43137"/>
                  </a:srgbClr>
                </a:outerShdw>
              </a:effectLst>
            </a:endParaRPr>
          </a:p>
        </p:txBody>
      </p:sp>
      <p:sp>
        <p:nvSpPr>
          <p:cNvPr id="4" name="Symbol zastępczy numeru slajdu 3">
            <a:extLst>
              <a:ext uri="{FF2B5EF4-FFF2-40B4-BE49-F238E27FC236}">
                <a16:creationId xmlns:a16="http://schemas.microsoft.com/office/drawing/2014/main" id="{71BA1ADF-8A9D-C6D8-C7DF-BA7208E55301}"/>
              </a:ext>
            </a:extLst>
          </p:cNvPr>
          <p:cNvSpPr>
            <a:spLocks noGrp="1"/>
          </p:cNvSpPr>
          <p:nvPr>
            <p:ph type="sldNum" sz="quarter" idx="12"/>
          </p:nvPr>
        </p:nvSpPr>
        <p:spPr/>
        <p:txBody>
          <a:bodyPr/>
          <a:lstStyle/>
          <a:p>
            <a:fld id="{31FE8408-9B39-4718-B64F-54F72D092B1B}" type="slidenum">
              <a:rPr lang="pl-PL" smtClean="0"/>
              <a:t>35</a:t>
            </a:fld>
            <a:endParaRPr lang="pl-PL" dirty="0"/>
          </a:p>
        </p:txBody>
      </p:sp>
    </p:spTree>
    <p:extLst>
      <p:ext uri="{BB962C8B-B14F-4D97-AF65-F5344CB8AC3E}">
        <p14:creationId xmlns:p14="http://schemas.microsoft.com/office/powerpoint/2010/main" val="32563200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39E834B-5985-FB8B-2425-271D2592DCFE}"/>
              </a:ext>
            </a:extLst>
          </p:cNvPr>
          <p:cNvSpPr>
            <a:spLocks noGrp="1"/>
          </p:cNvSpPr>
          <p:nvPr>
            <p:ph type="title"/>
          </p:nvPr>
        </p:nvSpPr>
        <p:spPr/>
        <p:txBody>
          <a:bodyPr/>
          <a:lstStyle/>
          <a:p>
            <a:r>
              <a:rPr lang="pl-PL" dirty="0" err="1">
                <a:solidFill>
                  <a:srgbClr val="002060"/>
                </a:solidFill>
                <a:effectLst>
                  <a:outerShdw blurRad="38100" dist="38100" dir="2700000" algn="tl">
                    <a:srgbClr val="000000">
                      <a:alpha val="43137"/>
                    </a:srgbClr>
                  </a:outerShdw>
                </a:effectLst>
              </a:rPr>
              <a:t>Scope</a:t>
            </a:r>
            <a:r>
              <a:rPr lang="pl-PL" dirty="0">
                <a:solidFill>
                  <a:srgbClr val="002060"/>
                </a:solidFill>
                <a:effectLst>
                  <a:outerShdw blurRad="38100" dist="38100" dir="2700000" algn="tl">
                    <a:srgbClr val="000000">
                      <a:alpha val="43137"/>
                    </a:srgbClr>
                  </a:outerShdw>
                </a:effectLst>
              </a:rPr>
              <a:t> of </a:t>
            </a:r>
            <a:r>
              <a:rPr lang="pl-PL" dirty="0" err="1">
                <a:solidFill>
                  <a:srgbClr val="002060"/>
                </a:solidFill>
                <a:effectLst>
                  <a:outerShdw blurRad="38100" dist="38100" dir="2700000" algn="tl">
                    <a:srgbClr val="000000">
                      <a:alpha val="43137"/>
                    </a:srgbClr>
                  </a:outerShdw>
                </a:effectLst>
              </a:rPr>
              <a:t>material</a:t>
            </a:r>
            <a:endParaRPr lang="en-US" dirty="0">
              <a:solidFill>
                <a:srgbClr val="00206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12D804F3-97F8-5731-C5CA-5B24FB3A852C}"/>
              </a:ext>
            </a:extLst>
          </p:cNvPr>
          <p:cNvSpPr>
            <a:spLocks noGrp="1"/>
          </p:cNvSpPr>
          <p:nvPr>
            <p:ph idx="1"/>
          </p:nvPr>
        </p:nvSpPr>
        <p:spPr/>
        <p:txBody>
          <a:bodyPr/>
          <a:lstStyle/>
          <a:p>
            <a:r>
              <a:rPr lang="pl-PL" dirty="0" err="1">
                <a:solidFill>
                  <a:srgbClr val="0070C0"/>
                </a:solidFill>
                <a:effectLst>
                  <a:outerShdw blurRad="38100" dist="38100" dir="2700000" algn="tl">
                    <a:srgbClr val="000000">
                      <a:alpha val="43137"/>
                    </a:srgbClr>
                  </a:outerShdw>
                </a:effectLst>
                <a:highlight>
                  <a:srgbClr val="FFFF00"/>
                </a:highlight>
              </a:rPr>
              <a:t>Slides</a:t>
            </a:r>
            <a:r>
              <a:rPr lang="pl-PL" dirty="0">
                <a:solidFill>
                  <a:srgbClr val="0070C0"/>
                </a:solidFill>
                <a:effectLst>
                  <a:outerShdw blurRad="38100" dist="38100" dir="2700000" algn="tl">
                    <a:srgbClr val="000000">
                      <a:alpha val="43137"/>
                    </a:srgbClr>
                  </a:outerShdw>
                </a:effectLst>
                <a:highlight>
                  <a:srgbClr val="FFFF00"/>
                </a:highlight>
              </a:rPr>
              <a:t> 37 70 </a:t>
            </a:r>
            <a:r>
              <a:rPr lang="pl-PL" dirty="0" err="1">
                <a:solidFill>
                  <a:srgbClr val="0070C0"/>
                </a:solidFill>
                <a:effectLst>
                  <a:outerShdw blurRad="38100" dist="38100" dir="2700000" algn="tl">
                    <a:srgbClr val="000000">
                      <a:alpha val="43137"/>
                    </a:srgbClr>
                  </a:outerShdw>
                </a:effectLst>
                <a:highlight>
                  <a:srgbClr val="FFFF00"/>
                </a:highlight>
              </a:rPr>
              <a:t>serve</a:t>
            </a:r>
            <a:r>
              <a:rPr lang="pl-PL" dirty="0">
                <a:solidFill>
                  <a:srgbClr val="0070C0"/>
                </a:solidFill>
                <a:effectLst>
                  <a:outerShdw blurRad="38100" dist="38100" dir="2700000" algn="tl">
                    <a:srgbClr val="000000">
                      <a:alpha val="43137"/>
                    </a:srgbClr>
                  </a:outerShdw>
                </a:effectLst>
                <a:highlight>
                  <a:srgbClr val="FFFF00"/>
                </a:highlight>
              </a:rPr>
              <a:t> as </a:t>
            </a:r>
            <a:r>
              <a:rPr lang="pl-PL" dirty="0" err="1">
                <a:solidFill>
                  <a:srgbClr val="0070C0"/>
                </a:solidFill>
                <a:effectLst>
                  <a:outerShdw blurRad="38100" dist="38100" dir="2700000" algn="tl">
                    <a:srgbClr val="000000">
                      <a:alpha val="43137"/>
                    </a:srgbClr>
                  </a:outerShdw>
                </a:effectLst>
                <a:highlight>
                  <a:srgbClr val="FFFF00"/>
                </a:highlight>
              </a:rPr>
              <a:t>an</a:t>
            </a:r>
            <a:r>
              <a:rPr lang="pl-PL" dirty="0">
                <a:solidFill>
                  <a:srgbClr val="0070C0"/>
                </a:solidFill>
                <a:effectLst>
                  <a:outerShdw blurRad="38100" dist="38100" dir="2700000" algn="tl">
                    <a:srgbClr val="000000">
                      <a:alpha val="43137"/>
                    </a:srgbClr>
                  </a:outerShdw>
                </a:effectLst>
                <a:highlight>
                  <a:srgbClr val="FFFF00"/>
                </a:highlight>
              </a:rPr>
              <a:t> </a:t>
            </a:r>
            <a:r>
              <a:rPr lang="pl-PL" dirty="0" err="1">
                <a:solidFill>
                  <a:srgbClr val="0070C0"/>
                </a:solidFill>
                <a:effectLst>
                  <a:outerShdw blurRad="38100" dist="38100" dir="2700000" algn="tl">
                    <a:srgbClr val="000000">
                      <a:alpha val="43137"/>
                    </a:srgbClr>
                  </a:outerShdw>
                </a:effectLst>
                <a:highlight>
                  <a:srgbClr val="FFFF00"/>
                </a:highlight>
              </a:rPr>
              <a:t>illustration</a:t>
            </a:r>
            <a:r>
              <a:rPr lang="pl-PL" dirty="0">
                <a:solidFill>
                  <a:srgbClr val="0070C0"/>
                </a:solidFill>
                <a:effectLst>
                  <a:outerShdw blurRad="38100" dist="38100" dir="2700000" algn="tl">
                    <a:srgbClr val="000000">
                      <a:alpha val="43137"/>
                    </a:srgbClr>
                  </a:outerShdw>
                </a:effectLst>
                <a:highlight>
                  <a:srgbClr val="FFFF00"/>
                </a:highlight>
              </a:rPr>
              <a:t> and </a:t>
            </a:r>
            <a:r>
              <a:rPr lang="pl-PL" dirty="0" err="1">
                <a:solidFill>
                  <a:srgbClr val="0070C0"/>
                </a:solidFill>
                <a:effectLst>
                  <a:outerShdw blurRad="38100" dist="38100" dir="2700000" algn="tl">
                    <a:srgbClr val="000000">
                      <a:alpha val="43137"/>
                    </a:srgbClr>
                  </a:outerShdw>
                </a:effectLst>
                <a:highlight>
                  <a:srgbClr val="FFFF00"/>
                </a:highlight>
              </a:rPr>
              <a:t>are</a:t>
            </a:r>
            <a:r>
              <a:rPr lang="pl-PL" dirty="0">
                <a:solidFill>
                  <a:srgbClr val="0070C0"/>
                </a:solidFill>
                <a:effectLst>
                  <a:outerShdw blurRad="38100" dist="38100" dir="2700000" algn="tl">
                    <a:srgbClr val="000000">
                      <a:alpha val="43137"/>
                    </a:srgbClr>
                  </a:outerShdw>
                </a:effectLst>
                <a:highlight>
                  <a:srgbClr val="FFFF00"/>
                </a:highlight>
              </a:rPr>
              <a:t> not </a:t>
            </a:r>
            <a:r>
              <a:rPr lang="pl-PL" dirty="0" err="1">
                <a:solidFill>
                  <a:srgbClr val="0070C0"/>
                </a:solidFill>
                <a:effectLst>
                  <a:outerShdw blurRad="38100" dist="38100" dir="2700000" algn="tl">
                    <a:srgbClr val="000000">
                      <a:alpha val="43137"/>
                    </a:srgbClr>
                  </a:outerShdw>
                </a:effectLst>
                <a:highlight>
                  <a:srgbClr val="FFFF00"/>
                </a:highlight>
              </a:rPr>
              <a:t>mandatory</a:t>
            </a:r>
            <a:r>
              <a:rPr lang="pl-PL" dirty="0">
                <a:solidFill>
                  <a:srgbClr val="0070C0"/>
                </a:solidFill>
                <a:effectLst>
                  <a:outerShdw blurRad="38100" dist="38100" dir="2700000" algn="tl">
                    <a:srgbClr val="000000">
                      <a:alpha val="43137"/>
                    </a:srgbClr>
                  </a:outerShdw>
                </a:effectLst>
                <a:highlight>
                  <a:srgbClr val="FFFF00"/>
                </a:highlight>
              </a:rPr>
              <a:t> for the </a:t>
            </a:r>
            <a:r>
              <a:rPr lang="pl-PL" dirty="0" err="1">
                <a:solidFill>
                  <a:srgbClr val="0070C0"/>
                </a:solidFill>
                <a:effectLst>
                  <a:outerShdw blurRad="38100" dist="38100" dir="2700000" algn="tl">
                    <a:srgbClr val="000000">
                      <a:alpha val="43137"/>
                    </a:srgbClr>
                  </a:outerShdw>
                </a:effectLst>
                <a:highlight>
                  <a:srgbClr val="FFFF00"/>
                </a:highlight>
              </a:rPr>
              <a:t>exam</a:t>
            </a:r>
            <a:r>
              <a:rPr lang="pl-PL" dirty="0">
                <a:solidFill>
                  <a:srgbClr val="002060"/>
                </a:solidFill>
                <a:effectLst>
                  <a:outerShdw blurRad="38100" dist="38100" dir="2700000" algn="tl">
                    <a:srgbClr val="000000">
                      <a:alpha val="43137"/>
                    </a:srgbClr>
                  </a:outerShdw>
                </a:effectLst>
              </a:rPr>
              <a:t>.</a:t>
            </a:r>
            <a:endParaRPr lang="en-US" dirty="0">
              <a:solidFill>
                <a:srgbClr val="002060"/>
              </a:solidFill>
              <a:effectLst>
                <a:outerShdw blurRad="38100" dist="38100" dir="2700000" algn="tl">
                  <a:srgbClr val="000000">
                    <a:alpha val="43137"/>
                  </a:srgbClr>
                </a:outerShdw>
              </a:effectLst>
            </a:endParaRPr>
          </a:p>
          <a:p>
            <a:endParaRPr lang="en-US" dirty="0"/>
          </a:p>
        </p:txBody>
      </p:sp>
      <p:sp>
        <p:nvSpPr>
          <p:cNvPr id="4" name="Symbol zastępczy numeru slajdu 3">
            <a:extLst>
              <a:ext uri="{FF2B5EF4-FFF2-40B4-BE49-F238E27FC236}">
                <a16:creationId xmlns:a16="http://schemas.microsoft.com/office/drawing/2014/main" id="{10C0BE2F-1172-4603-1684-310DD5470D77}"/>
              </a:ext>
            </a:extLst>
          </p:cNvPr>
          <p:cNvSpPr>
            <a:spLocks noGrp="1"/>
          </p:cNvSpPr>
          <p:nvPr>
            <p:ph type="sldNum" sz="quarter" idx="12"/>
          </p:nvPr>
        </p:nvSpPr>
        <p:spPr/>
        <p:txBody>
          <a:bodyPr/>
          <a:lstStyle/>
          <a:p>
            <a:fld id="{31FE8408-9B39-4718-B64F-54F72D092B1B}" type="slidenum">
              <a:rPr lang="pl-PL" smtClean="0"/>
              <a:t>36</a:t>
            </a:fld>
            <a:endParaRPr lang="pl-PL" dirty="0"/>
          </a:p>
        </p:txBody>
      </p:sp>
    </p:spTree>
    <p:extLst>
      <p:ext uri="{BB962C8B-B14F-4D97-AF65-F5344CB8AC3E}">
        <p14:creationId xmlns:p14="http://schemas.microsoft.com/office/powerpoint/2010/main" val="22769740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0965627-5478-E9FE-4EE5-3DFCBA23EF78}"/>
              </a:ext>
            </a:extLst>
          </p:cNvPr>
          <p:cNvSpPr>
            <a:spLocks noGrp="1"/>
          </p:cNvSpPr>
          <p:nvPr>
            <p:ph type="title"/>
          </p:nvPr>
        </p:nvSpPr>
        <p:spPr/>
        <p:txBody>
          <a:bodyPr/>
          <a:lstStyle/>
          <a:p>
            <a:r>
              <a:rPr lang="en-US" dirty="0">
                <a:solidFill>
                  <a:srgbClr val="002060"/>
                </a:solidFill>
                <a:effectLst>
                  <a:outerShdw blurRad="38100" dist="38100" dir="2700000" algn="tl">
                    <a:srgbClr val="000000">
                      <a:alpha val="43137"/>
                    </a:srgbClr>
                  </a:outerShdw>
                </a:effectLst>
              </a:rPr>
              <a:t>The issue (2) – licensing and unfair competition</a:t>
            </a:r>
            <a:endParaRPr lang="en-US" dirty="0"/>
          </a:p>
        </p:txBody>
      </p:sp>
      <p:sp>
        <p:nvSpPr>
          <p:cNvPr id="3" name="Symbol zastępczy zawartości 2">
            <a:extLst>
              <a:ext uri="{FF2B5EF4-FFF2-40B4-BE49-F238E27FC236}">
                <a16:creationId xmlns:a16="http://schemas.microsoft.com/office/drawing/2014/main" id="{F823EB89-D8A6-912F-9D3F-5D1C7F1B5802}"/>
              </a:ext>
            </a:extLst>
          </p:cNvPr>
          <p:cNvSpPr>
            <a:spLocks noGrp="1"/>
          </p:cNvSpPr>
          <p:nvPr>
            <p:ph idx="1"/>
          </p:nvPr>
        </p:nvSpPr>
        <p:spPr>
          <a:xfrm>
            <a:off x="838200" y="1825624"/>
            <a:ext cx="10515600" cy="5032375"/>
          </a:xfrm>
        </p:spPr>
        <p:txBody>
          <a:bodyPr>
            <a:normAutofit fontScale="92500" lnSpcReduction="20000"/>
          </a:bodyPr>
          <a:lstStyle/>
          <a:p>
            <a:r>
              <a:rPr lang="en-US" dirty="0">
                <a:solidFill>
                  <a:srgbClr val="002060"/>
                </a:solidFill>
                <a:effectLst>
                  <a:outerShdw blurRad="38100" dist="38100" dir="2700000" algn="tl">
                    <a:srgbClr val="000000">
                      <a:alpha val="43137"/>
                    </a:srgbClr>
                  </a:outerShdw>
                </a:effectLst>
              </a:rPr>
              <a:t>In the case of </a:t>
            </a:r>
            <a:r>
              <a:rPr lang="en-US" b="1" dirty="0">
                <a:solidFill>
                  <a:srgbClr val="FF0000"/>
                </a:solidFill>
                <a:effectLst>
                  <a:outerShdw blurRad="38100" dist="38100" dir="2700000" algn="tl">
                    <a:srgbClr val="000000">
                      <a:alpha val="43137"/>
                    </a:srgbClr>
                  </a:outerShdw>
                </a:effectLst>
                <a:highlight>
                  <a:srgbClr val="00FF00"/>
                </a:highlight>
              </a:rPr>
              <a:t>Madrid Taxi Drivers </a:t>
            </a:r>
            <a:r>
              <a:rPr lang="en-US" dirty="0">
                <a:solidFill>
                  <a:srgbClr val="002060"/>
                </a:solidFill>
                <a:effectLst>
                  <a:outerShdw blurRad="38100" dist="38100" dir="2700000" algn="tl">
                    <a:srgbClr val="000000">
                      <a:alpha val="43137"/>
                    </a:srgbClr>
                  </a:outerShdw>
                </a:effectLst>
              </a:rPr>
              <a:t>v</a:t>
            </a:r>
            <a:r>
              <a:rPr lang="pl-PL" dirty="0">
                <a:solidFill>
                  <a:srgbClr val="002060"/>
                </a:solidFill>
                <a:effectLst>
                  <a:outerShdw blurRad="38100" dist="38100" dir="2700000" algn="tl">
                    <a:srgbClr val="000000">
                      <a:alpha val="43137"/>
                    </a:srgbClr>
                  </a:outerShdw>
                </a:effectLst>
              </a:rPr>
              <a:t>ersus</a:t>
            </a:r>
            <a:r>
              <a:rPr lang="en-US" dirty="0">
                <a:solidFill>
                  <a:srgbClr val="002060"/>
                </a:solidFill>
                <a:effectLst>
                  <a:outerShdw blurRad="38100" dist="38100" dir="2700000" algn="tl">
                    <a:srgbClr val="000000">
                      <a:alpha val="43137"/>
                    </a:srgbClr>
                  </a:outerShdw>
                </a:effectLst>
              </a:rPr>
              <a:t> Uber below</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Taxi Drivers, representing </a:t>
            </a:r>
            <a:r>
              <a:rPr lang="en-US" b="1" dirty="0">
                <a:solidFill>
                  <a:srgbClr val="002060"/>
                </a:solidFill>
                <a:effectLst>
                  <a:outerShdw blurRad="38100" dist="38100" dir="2700000" algn="tl">
                    <a:srgbClr val="000000">
                      <a:alpha val="43137"/>
                    </a:srgbClr>
                  </a:outerShdw>
                </a:effectLst>
              </a:rPr>
              <a:t>a traditional model </a:t>
            </a:r>
            <a:r>
              <a:rPr lang="en-US" dirty="0">
                <a:solidFill>
                  <a:srgbClr val="002060"/>
                </a:solidFill>
                <a:effectLst>
                  <a:outerShdw blurRad="38100" dist="38100" dir="2700000" algn="tl">
                    <a:srgbClr val="000000">
                      <a:alpha val="43137"/>
                    </a:srgbClr>
                  </a:outerShdw>
                </a:effectLst>
              </a:rPr>
              <a:t>of urban transportation, claimed that Uber </a:t>
            </a:r>
            <a:r>
              <a:rPr lang="en-US" b="1" dirty="0">
                <a:solidFill>
                  <a:srgbClr val="002060"/>
                </a:solidFill>
                <a:effectLst>
                  <a:outerShdw blurRad="38100" dist="38100" dir="2700000" algn="tl">
                    <a:srgbClr val="000000">
                      <a:alpha val="43137"/>
                    </a:srgbClr>
                  </a:outerShdw>
                </a:effectLst>
              </a:rPr>
              <a:t>violates the law </a:t>
            </a:r>
            <a:r>
              <a:rPr lang="en-US" dirty="0">
                <a:solidFill>
                  <a:srgbClr val="002060"/>
                </a:solidFill>
                <a:effectLst>
                  <a:outerShdw blurRad="38100" dist="38100" dir="2700000" algn="tl">
                    <a:srgbClr val="000000">
                      <a:alpha val="43137"/>
                    </a:srgbClr>
                  </a:outerShdw>
                </a:effectLst>
              </a:rPr>
              <a:t>because its services are performed </a:t>
            </a:r>
            <a:r>
              <a:rPr lang="en-US" b="1" dirty="0">
                <a:solidFill>
                  <a:srgbClr val="002060"/>
                </a:solidFill>
                <a:effectLst>
                  <a:outerShdw blurRad="38100" dist="38100" dir="2700000" algn="tl">
                    <a:srgbClr val="000000">
                      <a:alpha val="43137"/>
                    </a:srgbClr>
                  </a:outerShdw>
                </a:effectLst>
              </a:rPr>
              <a:t>without a license </a:t>
            </a:r>
            <a:r>
              <a:rPr lang="en-US" dirty="0">
                <a:solidFill>
                  <a:srgbClr val="002060"/>
                </a:solidFill>
                <a:effectLst>
                  <a:outerShdw blurRad="38100" dist="38100" dir="2700000" algn="tl">
                    <a:srgbClr val="000000">
                      <a:alpha val="43137"/>
                    </a:srgbClr>
                  </a:outerShdw>
                </a:effectLst>
              </a:rPr>
              <a:t>which the taxi drivers must obtain from the city administration</a:t>
            </a:r>
            <a:r>
              <a:rPr lang="pl-PL" dirty="0">
                <a:solidFill>
                  <a:srgbClr val="002060"/>
                </a:solidFill>
                <a:effectLst>
                  <a:outerShdw blurRad="38100" dist="38100" dir="2700000" algn="tl">
                    <a:srgbClr val="000000">
                      <a:alpha val="43137"/>
                    </a:srgbClr>
                  </a:outerShdw>
                </a:effectLst>
              </a:rPr>
              <a:t>. It constitutes an act of unfair competition.</a:t>
            </a:r>
          </a:p>
          <a:p>
            <a:r>
              <a:rPr lang="pl-PL" dirty="0">
                <a:solidFill>
                  <a:srgbClr val="002060"/>
                </a:solidFill>
                <a:effectLst>
                  <a:outerShdw blurRad="38100" dist="38100" dir="2700000" algn="tl">
                    <a:srgbClr val="000000">
                      <a:alpha val="43137"/>
                    </a:srgbClr>
                  </a:outerShdw>
                </a:effectLst>
              </a:rPr>
              <a:t>In most EU countries services are subject to administrative limitations by </a:t>
            </a:r>
            <a:r>
              <a:rPr lang="pl-PL" b="1" dirty="0">
                <a:solidFill>
                  <a:srgbClr val="FF0000"/>
                </a:solidFill>
                <a:effectLst>
                  <a:outerShdw blurRad="38100" dist="38100" dir="2700000" algn="tl">
                    <a:srgbClr val="000000">
                      <a:alpha val="43137"/>
                    </a:srgbClr>
                  </a:outerShdw>
                </a:effectLst>
              </a:rPr>
              <a:t>licensing, permissions and notification </a:t>
            </a:r>
            <a:r>
              <a:rPr lang="pl-PL" dirty="0">
                <a:solidFill>
                  <a:srgbClr val="002060"/>
                </a:solidFill>
                <a:effectLst>
                  <a:outerShdw blurRad="38100" dist="38100" dir="2700000" algn="tl">
                    <a:srgbClr val="000000">
                      <a:alpha val="43137"/>
                    </a:srgbClr>
                  </a:outerShdw>
                </a:effectLst>
              </a:rPr>
              <a:t>of the intention to provide a service. These traditional form do not seem to fit the new model of business.</a:t>
            </a:r>
            <a:endParaRPr lang="en-US" dirty="0">
              <a:solidFill>
                <a:srgbClr val="002060"/>
              </a:solidFill>
              <a:effectLst>
                <a:outerShdw blurRad="38100" dist="38100" dir="2700000" algn="tl">
                  <a:srgbClr val="000000">
                    <a:alpha val="43137"/>
                  </a:srgbClr>
                </a:outerShdw>
              </a:effectLst>
            </a:endParaRPr>
          </a:p>
          <a:p>
            <a:r>
              <a:rPr lang="en-US" b="1" dirty="0">
                <a:solidFill>
                  <a:srgbClr val="002060"/>
                </a:solidFill>
                <a:effectLst>
                  <a:outerShdw blurRad="38100" dist="38100" dir="2700000" algn="tl">
                    <a:srgbClr val="000000">
                      <a:alpha val="43137"/>
                    </a:srgbClr>
                  </a:outerShdw>
                </a:effectLst>
              </a:rPr>
              <a:t>Under the EU law </a:t>
            </a:r>
            <a:r>
              <a:rPr lang="en-US" b="1" dirty="0">
                <a:solidFill>
                  <a:srgbClr val="FF0000"/>
                </a:solidFill>
                <a:effectLst>
                  <a:outerShdw blurRad="38100" dist="38100" dir="2700000" algn="tl">
                    <a:srgbClr val="000000">
                      <a:alpha val="43137"/>
                    </a:srgbClr>
                  </a:outerShdw>
                </a:effectLst>
              </a:rPr>
              <a:t>electronic services </a:t>
            </a:r>
            <a:r>
              <a:rPr lang="en-US" dirty="0">
                <a:solidFill>
                  <a:srgbClr val="002060"/>
                </a:solidFill>
                <a:effectLst>
                  <a:outerShdw blurRad="38100" dist="38100" dir="2700000" algn="tl">
                    <a:srgbClr val="000000">
                      <a:alpha val="43137"/>
                    </a:srgbClr>
                  </a:outerShdw>
                </a:effectLst>
              </a:rPr>
              <a:t>cannot be restricted in their flow across national </a:t>
            </a:r>
            <a:r>
              <a:rPr lang="en-US" b="1" dirty="0">
                <a:solidFill>
                  <a:srgbClr val="002060"/>
                </a:solidFill>
                <a:effectLst>
                  <a:outerShdw blurRad="38100" dist="38100" dir="2700000" algn="tl">
                    <a:srgbClr val="000000">
                      <a:alpha val="43137"/>
                    </a:srgbClr>
                  </a:outerShdw>
                </a:effectLst>
              </a:rPr>
              <a:t>borders. Uber claimed it is an </a:t>
            </a:r>
            <a:r>
              <a:rPr lang="en-US" dirty="0">
                <a:solidFill>
                  <a:srgbClr val="002060"/>
                </a:solidFill>
                <a:effectLst>
                  <a:outerShdw blurRad="38100" dist="38100" dir="2700000" algn="tl">
                    <a:srgbClr val="000000">
                      <a:alpha val="43137"/>
                    </a:srgbClr>
                  </a:outerShdw>
                </a:effectLst>
              </a:rPr>
              <a:t>electronic platform located outside of Spain and it provides such an electronic service</a:t>
            </a:r>
            <a:r>
              <a:rPr lang="pl-PL" dirty="0">
                <a:solidFill>
                  <a:srgbClr val="002060"/>
                </a:solidFill>
                <a:effectLst>
                  <a:outerShdw blurRad="38100" dist="38100" dir="2700000" algn="tl">
                    <a:srgbClr val="000000">
                      <a:alpha val="43137"/>
                    </a:srgbClr>
                  </a:outerShdw>
                </a:effectLst>
              </a:rPr>
              <a:t> accross Europe</a:t>
            </a:r>
            <a:r>
              <a:rPr lang="en-US" dirty="0">
                <a:solidFill>
                  <a:srgbClr val="002060"/>
                </a:solidFill>
                <a:effectLst>
                  <a:outerShdw blurRad="38100" dist="38100" dir="2700000" algn="tl">
                    <a:srgbClr val="000000">
                      <a:alpha val="43137"/>
                    </a:srgbClr>
                  </a:outerShdw>
                </a:effectLst>
              </a:rPr>
              <a:t>. Therefore</a:t>
            </a:r>
            <a:r>
              <a:rPr lang="pl-PL" dirty="0">
                <a:solidFill>
                  <a:srgbClr val="002060"/>
                </a:solidFill>
                <a:effectLst>
                  <a:outerShdw blurRad="38100" dist="38100" dir="2700000" algn="tl">
                    <a:srgbClr val="000000">
                      <a:alpha val="43137"/>
                    </a:srgbClr>
                  </a:outerShdw>
                </a:effectLst>
              </a:rPr>
              <a:t>,</a:t>
            </a:r>
            <a:r>
              <a:rPr lang="en-US" dirty="0">
                <a:solidFill>
                  <a:srgbClr val="002060"/>
                </a:solidFill>
                <a:effectLst>
                  <a:outerShdw blurRad="38100" dist="38100" dir="2700000" algn="tl">
                    <a:srgbClr val="000000">
                      <a:alpha val="43137"/>
                    </a:srgbClr>
                  </a:outerShdw>
                </a:effectLst>
              </a:rPr>
              <a:t> it is not subject to national administrative restrictions. It claimed its activity is limited to the middleman service and does not include actual transportation of passengers.</a:t>
            </a:r>
          </a:p>
        </p:txBody>
      </p:sp>
      <p:sp>
        <p:nvSpPr>
          <p:cNvPr id="4" name="Symbol zastępczy numeru slajdu 3">
            <a:extLst>
              <a:ext uri="{FF2B5EF4-FFF2-40B4-BE49-F238E27FC236}">
                <a16:creationId xmlns:a16="http://schemas.microsoft.com/office/drawing/2014/main" id="{E6A7FC1F-A795-828D-829E-A7966B3F7096}"/>
              </a:ext>
            </a:extLst>
          </p:cNvPr>
          <p:cNvSpPr>
            <a:spLocks noGrp="1"/>
          </p:cNvSpPr>
          <p:nvPr>
            <p:ph type="sldNum" sz="quarter" idx="12"/>
          </p:nvPr>
        </p:nvSpPr>
        <p:spPr/>
        <p:txBody>
          <a:bodyPr/>
          <a:lstStyle/>
          <a:p>
            <a:fld id="{31FE8408-9B39-4718-B64F-54F72D092B1B}" type="slidenum">
              <a:rPr lang="pl-PL" smtClean="0"/>
              <a:t>37</a:t>
            </a:fld>
            <a:endParaRPr lang="pl-PL" dirty="0"/>
          </a:p>
        </p:txBody>
      </p:sp>
    </p:spTree>
    <p:extLst>
      <p:ext uri="{BB962C8B-B14F-4D97-AF65-F5344CB8AC3E}">
        <p14:creationId xmlns:p14="http://schemas.microsoft.com/office/powerpoint/2010/main" val="31724145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2DA0427-4778-B409-F4DD-93604BCD4B84}"/>
              </a:ext>
            </a:extLst>
          </p:cNvPr>
          <p:cNvSpPr>
            <a:spLocks noGrp="1"/>
          </p:cNvSpPr>
          <p:nvPr>
            <p:ph type="title"/>
          </p:nvPr>
        </p:nvSpPr>
        <p:spPr/>
        <p:txBody>
          <a:bodyPr/>
          <a:lstStyle/>
          <a:p>
            <a:r>
              <a:rPr lang="pl-PL" dirty="0">
                <a:solidFill>
                  <a:srgbClr val="002060"/>
                </a:solidFill>
                <a:effectLst>
                  <a:outerShdw blurRad="38100" dist="38100" dir="2700000" algn="tl">
                    <a:srgbClr val="000000">
                      <a:alpha val="43137"/>
                    </a:srgbClr>
                  </a:outerShdw>
                </a:effectLst>
              </a:rPr>
              <a:t>The issue (2) – licensing and unfair competition</a:t>
            </a:r>
            <a:endParaRPr lang="en-US" dirty="0"/>
          </a:p>
        </p:txBody>
      </p:sp>
      <p:sp>
        <p:nvSpPr>
          <p:cNvPr id="3" name="Symbol zastępczy zawartości 2">
            <a:extLst>
              <a:ext uri="{FF2B5EF4-FFF2-40B4-BE49-F238E27FC236}">
                <a16:creationId xmlns:a16="http://schemas.microsoft.com/office/drawing/2014/main" id="{DD22EFE4-4261-76A6-2CAC-64936F64B7B1}"/>
              </a:ext>
            </a:extLst>
          </p:cNvPr>
          <p:cNvSpPr>
            <a:spLocks noGrp="1"/>
          </p:cNvSpPr>
          <p:nvPr>
            <p:ph idx="1"/>
          </p:nvPr>
        </p:nvSpPr>
        <p:spPr>
          <a:xfrm>
            <a:off x="838200" y="1825625"/>
            <a:ext cx="10515600" cy="4895850"/>
          </a:xfrm>
        </p:spPr>
        <p:txBody>
          <a:bodyPr>
            <a:normAutofit fontScale="92500" lnSpcReduction="20000"/>
          </a:bodyPr>
          <a:lstStyle/>
          <a:p>
            <a:r>
              <a:rPr lang="en-US" b="1" dirty="0">
                <a:solidFill>
                  <a:srgbClr val="FF0000"/>
                </a:solidFill>
                <a:effectLst>
                  <a:outerShdw blurRad="38100" dist="38100" dir="2700000" algn="tl">
                    <a:srgbClr val="000000">
                      <a:alpha val="43137"/>
                    </a:srgbClr>
                  </a:outerShdw>
                </a:effectLst>
              </a:rPr>
              <a:t>Urban transportation service </a:t>
            </a:r>
            <a:r>
              <a:rPr lang="en-US" dirty="0">
                <a:solidFill>
                  <a:srgbClr val="002060"/>
                </a:solidFill>
                <a:effectLst>
                  <a:outerShdw blurRad="38100" dist="38100" dir="2700000" algn="tl">
                    <a:srgbClr val="000000">
                      <a:alpha val="43137"/>
                    </a:srgbClr>
                  </a:outerShdw>
                </a:effectLst>
              </a:rPr>
              <a:t>is viewed under the EU law as </a:t>
            </a:r>
            <a:r>
              <a:rPr lang="en-US" b="1" dirty="0">
                <a:solidFill>
                  <a:srgbClr val="FF0000"/>
                </a:solidFill>
                <a:effectLst>
                  <a:outerShdw blurRad="38100" dist="38100" dir="2700000" algn="tl">
                    <a:srgbClr val="000000">
                      <a:alpha val="43137"/>
                    </a:srgbClr>
                  </a:outerShdw>
                </a:effectLst>
              </a:rPr>
              <a:t>local</a:t>
            </a:r>
            <a:r>
              <a:rPr lang="en-US" dirty="0">
                <a:solidFill>
                  <a:srgbClr val="002060"/>
                </a:solidFill>
                <a:effectLst>
                  <a:outerShdw blurRad="38100" dist="38100" dir="2700000" algn="tl">
                    <a:srgbClr val="000000">
                      <a:alpha val="43137"/>
                    </a:srgbClr>
                  </a:outerShdw>
                </a:effectLst>
              </a:rPr>
              <a:t> and subject to </a:t>
            </a:r>
            <a:r>
              <a:rPr lang="en-US" b="1" dirty="0">
                <a:solidFill>
                  <a:srgbClr val="FF0000"/>
                </a:solidFill>
                <a:effectLst>
                  <a:outerShdw blurRad="38100" dist="38100" dir="2700000" algn="tl">
                    <a:srgbClr val="000000">
                      <a:alpha val="43137"/>
                    </a:srgbClr>
                  </a:outerShdw>
                </a:effectLst>
              </a:rPr>
              <a:t>administrative limitation by national or local government</a:t>
            </a:r>
            <a:r>
              <a:rPr lang="en-US" dirty="0">
                <a:solidFill>
                  <a:srgbClr val="002060"/>
                </a:solidFill>
                <a:effectLst>
                  <a:outerShdw blurRad="38100" dist="38100" dir="2700000" algn="tl">
                    <a:srgbClr val="000000">
                      <a:alpha val="43137"/>
                    </a:srgbClr>
                  </a:outerShdw>
                </a:effectLst>
              </a:rPr>
              <a:t>, </a:t>
            </a:r>
            <a:r>
              <a:rPr lang="en-US" b="1" dirty="0">
                <a:solidFill>
                  <a:srgbClr val="002060"/>
                </a:solidFill>
                <a:effectLst>
                  <a:outerShdw blurRad="38100" dist="38100" dir="2700000" algn="tl">
                    <a:srgbClr val="000000">
                      <a:alpha val="43137"/>
                    </a:srgbClr>
                  </a:outerShdw>
                </a:effectLst>
              </a:rPr>
              <a:t>unlike electronic services.</a:t>
            </a:r>
          </a:p>
          <a:p>
            <a:r>
              <a:rPr lang="en-US" b="1" dirty="0">
                <a:solidFill>
                  <a:srgbClr val="FF0000"/>
                </a:solidFill>
                <a:effectLst>
                  <a:outerShdw blurRad="38100" dist="38100" dir="2700000" algn="tl">
                    <a:srgbClr val="000000">
                      <a:alpha val="43137"/>
                    </a:srgbClr>
                  </a:outerShdw>
                </a:effectLst>
              </a:rPr>
              <a:t>The EU Court </a:t>
            </a:r>
            <a:r>
              <a:rPr lang="en-US" dirty="0">
                <a:solidFill>
                  <a:srgbClr val="002060"/>
                </a:solidFill>
                <a:effectLst>
                  <a:outerShdw blurRad="38100" dist="38100" dir="2700000" algn="tl">
                    <a:srgbClr val="000000">
                      <a:alpha val="43137"/>
                    </a:srgbClr>
                  </a:outerShdw>
                </a:effectLst>
              </a:rPr>
              <a:t>decided that even if electronic </a:t>
            </a:r>
            <a:r>
              <a:rPr lang="pl-PL" dirty="0">
                <a:solidFill>
                  <a:srgbClr val="002060"/>
                </a:solidFill>
                <a:effectLst>
                  <a:outerShdw blurRad="38100" dist="38100" dir="2700000" algn="tl">
                    <a:srgbClr val="000000">
                      <a:alpha val="43137"/>
                    </a:srgbClr>
                  </a:outerShdw>
                </a:effectLst>
              </a:rPr>
              <a:t>inter</a:t>
            </a:r>
            <a:r>
              <a:rPr lang="en-US" dirty="0">
                <a:solidFill>
                  <a:srgbClr val="002060"/>
                </a:solidFill>
                <a:effectLst>
                  <a:outerShdw blurRad="38100" dist="38100" dir="2700000" algn="tl">
                    <a:srgbClr val="000000">
                      <a:alpha val="43137"/>
                    </a:srgbClr>
                  </a:outerShdw>
                </a:effectLst>
              </a:rPr>
              <a:t>mediation is in principle </a:t>
            </a:r>
            <a:r>
              <a:rPr lang="en-US" b="1" dirty="0">
                <a:solidFill>
                  <a:srgbClr val="FF0000"/>
                </a:solidFill>
                <a:effectLst>
                  <a:outerShdw blurRad="38100" dist="38100" dir="2700000" algn="tl">
                    <a:srgbClr val="000000">
                      <a:alpha val="43137"/>
                    </a:srgbClr>
                  </a:outerShdw>
                </a:effectLst>
              </a:rPr>
              <a:t>separate</a:t>
            </a:r>
            <a:r>
              <a:rPr lang="en-US" dirty="0">
                <a:solidFill>
                  <a:srgbClr val="002060"/>
                </a:solidFill>
                <a:effectLst>
                  <a:outerShdw blurRad="38100" dist="38100" dir="2700000" algn="tl">
                    <a:srgbClr val="000000">
                      <a:alpha val="43137"/>
                    </a:srgbClr>
                  </a:outerShdw>
                </a:effectLst>
              </a:rPr>
              <a:t> from physical transportation, in the case of Uber, these two are so </a:t>
            </a:r>
            <a:r>
              <a:rPr lang="en-US" b="1" dirty="0">
                <a:solidFill>
                  <a:srgbClr val="FF0000"/>
                </a:solidFill>
                <a:effectLst>
                  <a:outerShdw blurRad="38100" dist="38100" dir="2700000" algn="tl">
                    <a:srgbClr val="000000">
                      <a:alpha val="43137"/>
                    </a:srgbClr>
                  </a:outerShdw>
                </a:effectLst>
              </a:rPr>
              <a:t>closely connected </a:t>
            </a:r>
            <a:r>
              <a:rPr lang="en-US" dirty="0">
                <a:solidFill>
                  <a:srgbClr val="002060"/>
                </a:solidFill>
                <a:effectLst>
                  <a:outerShdw blurRad="38100" dist="38100" dir="2700000" algn="tl">
                    <a:srgbClr val="000000">
                      <a:alpha val="43137"/>
                    </a:srgbClr>
                  </a:outerShdw>
                </a:effectLst>
              </a:rPr>
              <a:t>that one does not make sense without the other. From the customer point of view transportation service is more important. Therefore, the set of these two services is </a:t>
            </a:r>
            <a:r>
              <a:rPr lang="en-US" b="1" dirty="0">
                <a:solidFill>
                  <a:srgbClr val="FF0000"/>
                </a:solidFill>
                <a:effectLst>
                  <a:outerShdw blurRad="38100" dist="38100" dir="2700000" algn="tl">
                    <a:srgbClr val="000000">
                      <a:alpha val="43137"/>
                    </a:srgbClr>
                  </a:outerShdw>
                </a:effectLst>
              </a:rPr>
              <a:t>subject to national law, which may require a taxi driver license from Uber drivers</a:t>
            </a:r>
            <a:r>
              <a:rPr lang="en-US" dirty="0">
                <a:solidFill>
                  <a:srgbClr val="002060"/>
                </a:solidFill>
                <a:effectLst>
                  <a:outerShdw blurRad="38100" dist="38100" dir="2700000" algn="tl">
                    <a:srgbClr val="000000">
                      <a:alpha val="43137"/>
                    </a:srgbClr>
                  </a:outerShdw>
                </a:effectLst>
              </a:rPr>
              <a:t>. </a:t>
            </a:r>
          </a:p>
          <a:p>
            <a:r>
              <a:rPr lang="en-US" dirty="0">
                <a:solidFill>
                  <a:srgbClr val="002060"/>
                </a:solidFill>
                <a:effectLst>
                  <a:outerShdw blurRad="38100" dist="38100" dir="2700000" algn="tl">
                    <a:srgbClr val="000000">
                      <a:alpha val="43137"/>
                    </a:srgbClr>
                  </a:outerShdw>
                </a:effectLst>
              </a:rPr>
              <a:t>This case is disputable for, while brining in line Uber drivers with taxi drivers, it </a:t>
            </a:r>
            <a:r>
              <a:rPr lang="en-US" b="1" dirty="0">
                <a:solidFill>
                  <a:srgbClr val="FF0000"/>
                </a:solidFill>
                <a:effectLst>
                  <a:outerShdw blurRad="38100" dist="38100" dir="2700000" algn="tl">
                    <a:srgbClr val="000000">
                      <a:alpha val="43137"/>
                    </a:srgbClr>
                  </a:outerShdw>
                </a:effectLst>
              </a:rPr>
              <a:t>effectively destroyed the novel business model</a:t>
            </a:r>
            <a:r>
              <a:rPr lang="en-US" dirty="0">
                <a:solidFill>
                  <a:srgbClr val="002060"/>
                </a:solidFill>
                <a:effectLst>
                  <a:outerShdw blurRad="38100" dist="38100" dir="2700000" algn="tl">
                    <a:srgbClr val="000000">
                      <a:alpha val="43137"/>
                    </a:srgbClr>
                  </a:outerShdw>
                </a:effectLst>
              </a:rPr>
              <a:t>. Nevertheless, it put an end to unfair competition. </a:t>
            </a:r>
          </a:p>
          <a:p>
            <a:r>
              <a:rPr lang="en-US" b="1" dirty="0">
                <a:solidFill>
                  <a:srgbClr val="FF0000"/>
                </a:solidFill>
                <a:effectLst>
                  <a:outerShdw blurRad="38100" dist="38100" dir="2700000" algn="tl">
                    <a:srgbClr val="000000">
                      <a:alpha val="43137"/>
                    </a:srgbClr>
                  </a:outerShdw>
                </a:effectLst>
              </a:rPr>
              <a:t>In Poland </a:t>
            </a:r>
            <a:r>
              <a:rPr lang="en-US" dirty="0">
                <a:solidFill>
                  <a:srgbClr val="002060"/>
                </a:solidFill>
                <a:effectLst>
                  <a:outerShdw blurRad="38100" dist="38100" dir="2700000" algn="tl">
                    <a:srgbClr val="000000">
                      <a:alpha val="43137"/>
                    </a:srgbClr>
                  </a:outerShdw>
                </a:effectLst>
              </a:rPr>
              <a:t>the new law has equaled Uber drivers with taxi drivers but at the same time has eased re</a:t>
            </a:r>
            <a:r>
              <a:rPr lang="pl-PL" dirty="0">
                <a:solidFill>
                  <a:srgbClr val="002060"/>
                </a:solidFill>
                <a:effectLst>
                  <a:outerShdw blurRad="38100" dist="38100" dir="2700000" algn="tl">
                    <a:srgbClr val="000000">
                      <a:alpha val="43137"/>
                    </a:srgbClr>
                  </a:outerShdw>
                </a:effectLst>
              </a:rPr>
              <a:t>s</a:t>
            </a:r>
            <a:r>
              <a:rPr lang="en-US" dirty="0">
                <a:solidFill>
                  <a:srgbClr val="002060"/>
                </a:solidFill>
                <a:effectLst>
                  <a:outerShdw blurRad="38100" dist="38100" dir="2700000" algn="tl">
                    <a:srgbClr val="000000">
                      <a:alpha val="43137"/>
                    </a:srgbClr>
                  </a:outerShdw>
                </a:effectLst>
              </a:rPr>
              <a:t>trictions on the taxi drivers as far as conditions of licensing are concerned</a:t>
            </a:r>
            <a:r>
              <a:rPr lang="pl-PL" dirty="0">
                <a:solidFill>
                  <a:srgbClr val="002060"/>
                </a:solidFill>
                <a:effectLst>
                  <a:outerShdw blurRad="38100" dist="38100" dir="2700000" algn="tl">
                    <a:srgbClr val="000000">
                      <a:alpha val="43137"/>
                    </a:srgbClr>
                  </a:outerShdw>
                </a:effectLst>
              </a:rPr>
              <a:t>.</a:t>
            </a:r>
            <a:endParaRPr lang="en-US" dirty="0">
              <a:solidFill>
                <a:srgbClr val="002060"/>
              </a:solidFill>
              <a:effectLst>
                <a:outerShdw blurRad="38100" dist="38100" dir="2700000" algn="tl">
                  <a:srgbClr val="000000">
                    <a:alpha val="43137"/>
                  </a:srgbClr>
                </a:outerShdw>
              </a:effectLst>
            </a:endParaRPr>
          </a:p>
        </p:txBody>
      </p:sp>
      <p:sp>
        <p:nvSpPr>
          <p:cNvPr id="4" name="Symbol zastępczy numeru slajdu 3">
            <a:extLst>
              <a:ext uri="{FF2B5EF4-FFF2-40B4-BE49-F238E27FC236}">
                <a16:creationId xmlns:a16="http://schemas.microsoft.com/office/drawing/2014/main" id="{708CB729-74F7-9B23-B889-A8A1E09DC01D}"/>
              </a:ext>
            </a:extLst>
          </p:cNvPr>
          <p:cNvSpPr>
            <a:spLocks noGrp="1"/>
          </p:cNvSpPr>
          <p:nvPr>
            <p:ph type="sldNum" sz="quarter" idx="12"/>
          </p:nvPr>
        </p:nvSpPr>
        <p:spPr/>
        <p:txBody>
          <a:bodyPr/>
          <a:lstStyle/>
          <a:p>
            <a:fld id="{31FE8408-9B39-4718-B64F-54F72D092B1B}" type="slidenum">
              <a:rPr lang="pl-PL" smtClean="0"/>
              <a:t>38</a:t>
            </a:fld>
            <a:endParaRPr lang="pl-PL" dirty="0"/>
          </a:p>
        </p:txBody>
      </p:sp>
    </p:spTree>
    <p:extLst>
      <p:ext uri="{BB962C8B-B14F-4D97-AF65-F5344CB8AC3E}">
        <p14:creationId xmlns:p14="http://schemas.microsoft.com/office/powerpoint/2010/main" val="25755817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A780158-E5E7-4CE3-93FF-9ABB76AFFA8D}"/>
              </a:ext>
            </a:extLst>
          </p:cNvPr>
          <p:cNvSpPr>
            <a:spLocks noGrp="1"/>
          </p:cNvSpPr>
          <p:nvPr>
            <p:ph type="title"/>
          </p:nvPr>
        </p:nvSpPr>
        <p:spPr/>
        <p:txBody>
          <a:bodyPr/>
          <a:lstStyle/>
          <a:p>
            <a:r>
              <a:rPr lang="en-US" b="1" dirty="0">
                <a:solidFill>
                  <a:srgbClr val="002060"/>
                </a:solidFill>
                <a:effectLst>
                  <a:outerShdw blurRad="38100" dist="38100" dir="2700000" algn="tl">
                    <a:srgbClr val="000000">
                      <a:alpha val="43137"/>
                    </a:srgbClr>
                  </a:outerShdw>
                </a:effectLst>
              </a:rPr>
              <a:t>General information</a:t>
            </a:r>
          </a:p>
        </p:txBody>
      </p:sp>
      <p:sp>
        <p:nvSpPr>
          <p:cNvPr id="3" name="Symbol zastępczy zawartości 2">
            <a:extLst>
              <a:ext uri="{FF2B5EF4-FFF2-40B4-BE49-F238E27FC236}">
                <a16:creationId xmlns:a16="http://schemas.microsoft.com/office/drawing/2014/main" id="{F05BCD7D-BCF1-4683-80C4-017A65A41913}"/>
              </a:ext>
            </a:extLst>
          </p:cNvPr>
          <p:cNvSpPr>
            <a:spLocks noGrp="1"/>
          </p:cNvSpPr>
          <p:nvPr>
            <p:ph idx="1"/>
          </p:nvPr>
        </p:nvSpPr>
        <p:spPr>
          <a:xfrm>
            <a:off x="838200" y="1825624"/>
            <a:ext cx="10515600" cy="5032375"/>
          </a:xfrm>
        </p:spPr>
        <p:txBody>
          <a:bodyPr>
            <a:normAutofit/>
          </a:bodyPr>
          <a:lstStyle/>
          <a:p>
            <a:r>
              <a:rPr lang="en-US" sz="4000" b="1" dirty="0">
                <a:solidFill>
                  <a:srgbClr val="002060"/>
                </a:solidFill>
                <a:cs typeface="Times New Roman" panose="02020603050405020304" pitchFamily="18" charset="0"/>
              </a:rPr>
              <a:t>Asociación Profesional Élite Taxi</a:t>
            </a:r>
            <a:r>
              <a:rPr lang="en-US" sz="4000" dirty="0">
                <a:solidFill>
                  <a:srgbClr val="002060"/>
                </a:solidFill>
                <a:cs typeface="Times New Roman" panose="02020603050405020304" pitchFamily="18" charset="0"/>
              </a:rPr>
              <a:t> v </a:t>
            </a:r>
            <a:r>
              <a:rPr lang="en-US" sz="4000" b="1" dirty="0">
                <a:solidFill>
                  <a:srgbClr val="002060"/>
                </a:solidFill>
                <a:cs typeface="Times New Roman" panose="02020603050405020304" pitchFamily="18" charset="0"/>
              </a:rPr>
              <a:t>Uber Systems Spain SL</a:t>
            </a:r>
          </a:p>
          <a:p>
            <a:r>
              <a:rPr lang="en-US" sz="4000" dirty="0">
                <a:solidFill>
                  <a:srgbClr val="002060"/>
                </a:solidFill>
                <a:cs typeface="Times New Roman" panose="02020603050405020304" pitchFamily="18" charset="0"/>
              </a:rPr>
              <a:t>REQUEST for a </a:t>
            </a:r>
            <a:r>
              <a:rPr lang="en-US" sz="4000" b="1" dirty="0">
                <a:solidFill>
                  <a:srgbClr val="FF0000"/>
                </a:solidFill>
                <a:effectLst>
                  <a:outerShdw blurRad="38100" dist="38100" dir="2700000" algn="tl">
                    <a:srgbClr val="000000">
                      <a:alpha val="43137"/>
                    </a:srgbClr>
                  </a:outerShdw>
                </a:effectLst>
                <a:cs typeface="Times New Roman" panose="02020603050405020304" pitchFamily="18" charset="0"/>
              </a:rPr>
              <a:t>preliminary ruling </a:t>
            </a:r>
            <a:r>
              <a:rPr lang="en-US" sz="4000" b="1" dirty="0">
                <a:solidFill>
                  <a:srgbClr val="002060"/>
                </a:solidFill>
                <a:effectLst>
                  <a:outerShdw blurRad="38100" dist="38100" dir="2700000" algn="tl">
                    <a:srgbClr val="000000">
                      <a:alpha val="43137"/>
                    </a:srgbClr>
                  </a:outerShdw>
                </a:effectLst>
                <a:cs typeface="Times New Roman" panose="02020603050405020304" pitchFamily="18" charset="0"/>
              </a:rPr>
              <a:t>[a legal question from national to the EU court] </a:t>
            </a:r>
            <a:r>
              <a:rPr lang="en-US" sz="4000" dirty="0">
                <a:cs typeface="Times New Roman" panose="02020603050405020304" pitchFamily="18" charset="0"/>
              </a:rPr>
              <a:t>under Article </a:t>
            </a:r>
            <a:r>
              <a:rPr lang="en-US" sz="4000" b="1" dirty="0">
                <a:solidFill>
                  <a:srgbClr val="FF0000"/>
                </a:solidFill>
                <a:cs typeface="Times New Roman" panose="02020603050405020304" pitchFamily="18" charset="0"/>
              </a:rPr>
              <a:t>267 TFEU </a:t>
            </a:r>
            <a:r>
              <a:rPr lang="en-US" sz="4000" dirty="0">
                <a:solidFill>
                  <a:srgbClr val="002060"/>
                </a:solidFill>
                <a:cs typeface="Times New Roman" panose="02020603050405020304" pitchFamily="18" charset="0"/>
              </a:rPr>
              <a:t>from Commercial Court No 3 in Barcelona made by decision of </a:t>
            </a:r>
            <a:r>
              <a:rPr lang="en-US" sz="4000" b="1" dirty="0">
                <a:solidFill>
                  <a:srgbClr val="FF0000"/>
                </a:solidFill>
                <a:effectLst>
                  <a:outerShdw blurRad="38100" dist="38100" dir="2700000" algn="tl">
                    <a:srgbClr val="000000">
                      <a:alpha val="43137"/>
                    </a:srgbClr>
                  </a:outerShdw>
                </a:effectLst>
                <a:cs typeface="Times New Roman" panose="02020603050405020304" pitchFamily="18" charset="0"/>
              </a:rPr>
              <a:t>16</a:t>
            </a:r>
            <a:r>
              <a:rPr lang="en-US" sz="4000" dirty="0">
                <a:cs typeface="Times New Roman" panose="02020603050405020304" pitchFamily="18" charset="0"/>
              </a:rPr>
              <a:t> </a:t>
            </a:r>
            <a:r>
              <a:rPr lang="en-US" sz="4000" b="1" dirty="0">
                <a:solidFill>
                  <a:srgbClr val="FF0000"/>
                </a:solidFill>
                <a:effectLst>
                  <a:outerShdw blurRad="38100" dist="38100" dir="2700000" algn="tl">
                    <a:srgbClr val="000000">
                      <a:alpha val="43137"/>
                    </a:srgbClr>
                  </a:outerShdw>
                </a:effectLst>
                <a:cs typeface="Times New Roman" panose="02020603050405020304" pitchFamily="18" charset="0"/>
              </a:rPr>
              <a:t>July 2015</a:t>
            </a:r>
          </a:p>
          <a:p>
            <a:r>
              <a:rPr lang="en-US" sz="2400" i="1" dirty="0">
                <a:solidFill>
                  <a:srgbClr val="FF0000"/>
                </a:solidFill>
                <a:effectLst>
                  <a:outerShdw blurRad="38100" dist="38100" dir="2700000" algn="tl">
                    <a:srgbClr val="000000">
                      <a:alpha val="43137"/>
                    </a:srgbClr>
                  </a:outerShdw>
                </a:effectLst>
                <a:highlight>
                  <a:srgbClr val="00FFFF"/>
                </a:highlight>
                <a:cs typeface="Times New Roman" panose="02020603050405020304" pitchFamily="18" charset="0"/>
              </a:rPr>
              <a:t>(note: for the purpose of the exam</a:t>
            </a:r>
            <a:r>
              <a:rPr lang="pl-PL" sz="2400" i="1" dirty="0">
                <a:solidFill>
                  <a:srgbClr val="FF0000"/>
                </a:solidFill>
                <a:effectLst>
                  <a:outerShdw blurRad="38100" dist="38100" dir="2700000" algn="tl">
                    <a:srgbClr val="000000">
                      <a:alpha val="43137"/>
                    </a:srgbClr>
                  </a:outerShdw>
                </a:effectLst>
                <a:highlight>
                  <a:srgbClr val="00FFFF"/>
                </a:highlight>
                <a:cs typeface="Times New Roman" panose="02020603050405020304" pitchFamily="18" charset="0"/>
              </a:rPr>
              <a:t>,</a:t>
            </a:r>
            <a:r>
              <a:rPr lang="en-US" sz="2400" i="1" dirty="0">
                <a:solidFill>
                  <a:srgbClr val="FF0000"/>
                </a:solidFill>
                <a:effectLst>
                  <a:outerShdw blurRad="38100" dist="38100" dir="2700000" algn="tl">
                    <a:srgbClr val="000000">
                      <a:alpha val="43137"/>
                    </a:srgbClr>
                  </a:outerShdw>
                </a:effectLst>
                <a:highlight>
                  <a:srgbClr val="00FFFF"/>
                </a:highlight>
                <a:cs typeface="Times New Roman" panose="02020603050405020304" pitchFamily="18" charset="0"/>
              </a:rPr>
              <a:t> it is not necessary to remember the names of legal acts)</a:t>
            </a:r>
            <a:endParaRPr lang="en-US" sz="2400" i="1" dirty="0">
              <a:highlight>
                <a:srgbClr val="00FFFF"/>
              </a:highlight>
              <a:cs typeface="Times New Roman" panose="02020603050405020304" pitchFamily="18" charset="0"/>
            </a:endParaRPr>
          </a:p>
        </p:txBody>
      </p:sp>
      <p:sp>
        <p:nvSpPr>
          <p:cNvPr id="4" name="Symbol zastępczy numeru slajdu 3">
            <a:extLst>
              <a:ext uri="{FF2B5EF4-FFF2-40B4-BE49-F238E27FC236}">
                <a16:creationId xmlns:a16="http://schemas.microsoft.com/office/drawing/2014/main" id="{1BE31CDA-010A-488C-B7EB-3DC59FFD5B19}"/>
              </a:ext>
            </a:extLst>
          </p:cNvPr>
          <p:cNvSpPr>
            <a:spLocks noGrp="1"/>
          </p:cNvSpPr>
          <p:nvPr>
            <p:ph type="sldNum" sz="quarter" idx="12"/>
          </p:nvPr>
        </p:nvSpPr>
        <p:spPr/>
        <p:txBody>
          <a:bodyPr/>
          <a:lstStyle/>
          <a:p>
            <a:fld id="{31FE8408-9B39-4718-B64F-54F72D092B1B}" type="slidenum">
              <a:rPr lang="pl-PL" smtClean="0"/>
              <a:t>39</a:t>
            </a:fld>
            <a:endParaRPr lang="pl-PL" dirty="0"/>
          </a:p>
        </p:txBody>
      </p:sp>
    </p:spTree>
    <p:extLst>
      <p:ext uri="{BB962C8B-B14F-4D97-AF65-F5344CB8AC3E}">
        <p14:creationId xmlns:p14="http://schemas.microsoft.com/office/powerpoint/2010/main" val="319307637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FE67442-5CBD-5F3D-F928-82FA2964F46F}"/>
              </a:ext>
            </a:extLst>
          </p:cNvPr>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rPr>
              <a:t>The nature of the problem</a:t>
            </a:r>
            <a:endParaRPr lang="en-US" dirty="0"/>
          </a:p>
        </p:txBody>
      </p:sp>
      <p:sp>
        <p:nvSpPr>
          <p:cNvPr id="3" name="Symbol zastępczy zawartości 2">
            <a:extLst>
              <a:ext uri="{FF2B5EF4-FFF2-40B4-BE49-F238E27FC236}">
                <a16:creationId xmlns:a16="http://schemas.microsoft.com/office/drawing/2014/main" id="{0AFC2874-E4B2-55CF-E223-9D46EF596910}"/>
              </a:ext>
            </a:extLst>
          </p:cNvPr>
          <p:cNvSpPr>
            <a:spLocks noGrp="1"/>
          </p:cNvSpPr>
          <p:nvPr>
            <p:ph idx="1"/>
          </p:nvPr>
        </p:nvSpPr>
        <p:spPr/>
        <p:txBody>
          <a:bodyPr/>
          <a:lstStyle/>
          <a:p>
            <a:pPr marL="0" indent="0">
              <a:buNone/>
            </a:pPr>
            <a:r>
              <a:rPr lang="en-US" dirty="0">
                <a:solidFill>
                  <a:srgbClr val="002060"/>
                </a:solidFill>
                <a:effectLst>
                  <a:outerShdw blurRad="38100" dist="38100" dir="2700000" algn="tl">
                    <a:srgbClr val="000000">
                      <a:alpha val="43137"/>
                    </a:srgbClr>
                  </a:outerShdw>
                </a:effectLst>
              </a:rPr>
              <a:t>The EU Court has the following options:</a:t>
            </a:r>
          </a:p>
          <a:p>
            <a:pPr marL="514350" indent="-514350">
              <a:buAutoNum type="arabicPeriod"/>
            </a:pPr>
            <a:r>
              <a:rPr lang="en-US" dirty="0">
                <a:solidFill>
                  <a:srgbClr val="002060"/>
                </a:solidFill>
                <a:effectLst>
                  <a:outerShdw blurRad="38100" dist="38100" dir="2700000" algn="tl">
                    <a:srgbClr val="000000">
                      <a:alpha val="43137"/>
                    </a:srgbClr>
                  </a:outerShdw>
                </a:effectLst>
              </a:rPr>
              <a:t>Uber provides </a:t>
            </a:r>
            <a:r>
              <a:rPr lang="en-US" b="1" dirty="0">
                <a:solidFill>
                  <a:srgbClr val="FF0000"/>
                </a:solidFill>
                <a:effectLst>
                  <a:outerShdw blurRad="38100" dist="38100" dir="2700000" algn="tl">
                    <a:srgbClr val="000000">
                      <a:alpha val="43137"/>
                    </a:srgbClr>
                  </a:outerShdw>
                </a:effectLst>
              </a:rPr>
              <a:t>an electronic service </a:t>
            </a:r>
            <a:r>
              <a:rPr lang="en-US" dirty="0">
                <a:solidFill>
                  <a:srgbClr val="002060"/>
                </a:solidFill>
                <a:effectLst>
                  <a:outerShdw blurRad="38100" dist="38100" dir="2700000" algn="tl">
                    <a:srgbClr val="000000">
                      <a:alpha val="43137"/>
                    </a:srgbClr>
                  </a:outerShdw>
                </a:effectLst>
              </a:rPr>
              <a:t>(an intermediary between the driver and the customer), and as such, under the EU law, national governments must not impose administrative restrictions (</a:t>
            </a:r>
            <a:r>
              <a:rPr lang="en-US" b="1" dirty="0">
                <a:solidFill>
                  <a:srgbClr val="002060"/>
                </a:solidFill>
                <a:effectLst>
                  <a:outerShdw blurRad="38100" dist="38100" dir="2700000" algn="tl">
                    <a:srgbClr val="000000">
                      <a:alpha val="43137"/>
                    </a:srgbClr>
                  </a:outerShdw>
                </a:effectLst>
              </a:rPr>
              <a:t>permits</a:t>
            </a:r>
            <a:r>
              <a:rPr lang="en-US" dirty="0">
                <a:solidFill>
                  <a:srgbClr val="002060"/>
                </a:solidFill>
                <a:effectLst>
                  <a:outerShdw blurRad="38100" dist="38100" dir="2700000" algn="tl">
                    <a:srgbClr val="000000">
                      <a:alpha val="43137"/>
                    </a:srgbClr>
                  </a:outerShdw>
                </a:effectLst>
              </a:rPr>
              <a:t>), while drivers are independent contractors</a:t>
            </a:r>
          </a:p>
          <a:p>
            <a:pPr marL="514350" indent="-514350">
              <a:buFont typeface="Arial" panose="020B0604020202020204" pitchFamily="34" charset="0"/>
              <a:buAutoNum type="arabicPeriod"/>
            </a:pPr>
            <a:r>
              <a:rPr lang="en-US" dirty="0">
                <a:solidFill>
                  <a:srgbClr val="002060"/>
                </a:solidFill>
                <a:effectLst>
                  <a:outerShdw blurRad="38100" dist="38100" dir="2700000" algn="tl">
                    <a:srgbClr val="000000">
                      <a:alpha val="43137"/>
                    </a:srgbClr>
                  </a:outerShdw>
                </a:effectLst>
              </a:rPr>
              <a:t>Uber is in </a:t>
            </a:r>
            <a:r>
              <a:rPr lang="en-US" b="1" dirty="0">
                <a:solidFill>
                  <a:srgbClr val="FF0000"/>
                </a:solidFill>
                <a:effectLst>
                  <a:outerShdw blurRad="38100" dist="38100" dir="2700000" algn="tl">
                    <a:srgbClr val="000000">
                      <a:alpha val="43137"/>
                    </a:srgbClr>
                  </a:outerShdw>
                </a:effectLst>
              </a:rPr>
              <a:t>transportation service </a:t>
            </a:r>
            <a:r>
              <a:rPr lang="en-US" dirty="0">
                <a:solidFill>
                  <a:srgbClr val="002060"/>
                </a:solidFill>
                <a:effectLst>
                  <a:outerShdw blurRad="38100" dist="38100" dir="2700000" algn="tl">
                    <a:srgbClr val="000000">
                      <a:alpha val="43137"/>
                    </a:srgbClr>
                  </a:outerShdw>
                </a:effectLst>
              </a:rPr>
              <a:t>(national governments may impose administrative restrictions (</a:t>
            </a:r>
            <a:r>
              <a:rPr lang="en-US" b="1" dirty="0">
                <a:solidFill>
                  <a:srgbClr val="002060"/>
                </a:solidFill>
                <a:effectLst>
                  <a:outerShdw blurRad="38100" dist="38100" dir="2700000" algn="tl">
                    <a:srgbClr val="000000">
                      <a:alpha val="43137"/>
                    </a:srgbClr>
                  </a:outerShdw>
                </a:effectLst>
              </a:rPr>
              <a:t>permits</a:t>
            </a:r>
            <a:r>
              <a:rPr lang="en-US" dirty="0">
                <a:solidFill>
                  <a:srgbClr val="002060"/>
                </a:solidFill>
                <a:effectLst>
                  <a:outerShdw blurRad="38100" dist="38100" dir="2700000" algn="tl">
                    <a:srgbClr val="000000">
                      <a:alpha val="43137"/>
                    </a:srgbClr>
                  </a:outerShdw>
                </a:effectLst>
              </a:rPr>
              <a:t>)</a:t>
            </a:r>
          </a:p>
          <a:p>
            <a:pPr marL="514350" indent="-514350">
              <a:buFont typeface="Arial" panose="020B0604020202020204" pitchFamily="34" charset="0"/>
              <a:buAutoNum type="arabicPeriod"/>
            </a:pPr>
            <a:r>
              <a:rPr lang="en-US" dirty="0">
                <a:solidFill>
                  <a:srgbClr val="002060"/>
                </a:solidFill>
                <a:effectLst>
                  <a:outerShdw blurRad="38100" dist="38100" dir="2700000" algn="tl">
                    <a:srgbClr val="000000">
                      <a:alpha val="43137"/>
                    </a:srgbClr>
                  </a:outerShdw>
                </a:effectLst>
              </a:rPr>
              <a:t>Uber is </a:t>
            </a:r>
            <a:r>
              <a:rPr lang="en-US" b="1" dirty="0">
                <a:solidFill>
                  <a:srgbClr val="FF0000"/>
                </a:solidFill>
                <a:effectLst>
                  <a:outerShdw blurRad="38100" dist="38100" dir="2700000" algn="tl">
                    <a:srgbClr val="000000">
                      <a:alpha val="43137"/>
                    </a:srgbClr>
                  </a:outerShdw>
                </a:effectLst>
              </a:rPr>
              <a:t>a combination of an electronic service and transportation service</a:t>
            </a:r>
            <a:r>
              <a:rPr lang="en-US" dirty="0">
                <a:solidFill>
                  <a:srgbClr val="002060"/>
                </a:solidFill>
                <a:effectLst>
                  <a:outerShdw blurRad="38100" dist="38100" dir="2700000" algn="tl">
                    <a:srgbClr val="000000">
                      <a:alpha val="43137"/>
                    </a:srgbClr>
                  </a:outerShdw>
                </a:effectLst>
              </a:rPr>
              <a:t> where transportation is more important, therefore it falls under the law on transportation for which </a:t>
            </a:r>
            <a:r>
              <a:rPr lang="en-US" b="1" dirty="0">
                <a:solidFill>
                  <a:srgbClr val="002060"/>
                </a:solidFill>
                <a:effectLst>
                  <a:outerShdw blurRad="38100" dist="38100" dir="2700000" algn="tl">
                    <a:srgbClr val="000000">
                      <a:alpha val="43137"/>
                    </a:srgbClr>
                  </a:outerShdw>
                </a:effectLst>
              </a:rPr>
              <a:t>a permit </a:t>
            </a:r>
            <a:r>
              <a:rPr lang="en-US" dirty="0">
                <a:solidFill>
                  <a:srgbClr val="002060"/>
                </a:solidFill>
                <a:effectLst>
                  <a:outerShdw blurRad="38100" dist="38100" dir="2700000" algn="tl">
                    <a:srgbClr val="000000">
                      <a:alpha val="43137"/>
                    </a:srgbClr>
                  </a:outerShdw>
                </a:effectLst>
              </a:rPr>
              <a:t>can be required</a:t>
            </a:r>
          </a:p>
          <a:p>
            <a:pPr marL="514350" indent="-514350">
              <a:buAutoNum type="arabicPeriod"/>
            </a:pPr>
            <a:endParaRPr lang="pl-PL" dirty="0"/>
          </a:p>
          <a:p>
            <a:pPr marL="0" indent="0">
              <a:buNone/>
            </a:pPr>
            <a:endParaRPr lang="en-US" dirty="0"/>
          </a:p>
        </p:txBody>
      </p:sp>
      <p:sp>
        <p:nvSpPr>
          <p:cNvPr id="4" name="Symbol zastępczy numeru slajdu 3">
            <a:extLst>
              <a:ext uri="{FF2B5EF4-FFF2-40B4-BE49-F238E27FC236}">
                <a16:creationId xmlns:a16="http://schemas.microsoft.com/office/drawing/2014/main" id="{DBF4332E-2534-7603-1636-B31A88DE28F7}"/>
              </a:ext>
            </a:extLst>
          </p:cNvPr>
          <p:cNvSpPr>
            <a:spLocks noGrp="1"/>
          </p:cNvSpPr>
          <p:nvPr>
            <p:ph type="sldNum" sz="quarter" idx="12"/>
          </p:nvPr>
        </p:nvSpPr>
        <p:spPr/>
        <p:txBody>
          <a:bodyPr/>
          <a:lstStyle/>
          <a:p>
            <a:fld id="{31FE8408-9B39-4718-B64F-54F72D092B1B}" type="slidenum">
              <a:rPr lang="pl-PL" smtClean="0"/>
              <a:t>40</a:t>
            </a:fld>
            <a:endParaRPr lang="pl-PL" dirty="0"/>
          </a:p>
        </p:txBody>
      </p:sp>
    </p:spTree>
    <p:extLst>
      <p:ext uri="{BB962C8B-B14F-4D97-AF65-F5344CB8AC3E}">
        <p14:creationId xmlns:p14="http://schemas.microsoft.com/office/powerpoint/2010/main" val="3250241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4163493-8E83-47FC-8CB4-0BA7254DA960}"/>
              </a:ext>
            </a:extLst>
          </p:cNvPr>
          <p:cNvSpPr>
            <a:spLocks noGrp="1"/>
          </p:cNvSpPr>
          <p:nvPr>
            <p:ph type="title"/>
          </p:nvPr>
        </p:nvSpPr>
        <p:spPr/>
        <p:txBody>
          <a:bodyPr/>
          <a:lstStyle/>
          <a:p>
            <a:r>
              <a:rPr lang="en-US" b="1" dirty="0">
                <a:solidFill>
                  <a:srgbClr val="002060"/>
                </a:solidFill>
                <a:effectLst>
                  <a:outerShdw blurRad="38100" dist="38100" dir="2700000" algn="tl">
                    <a:srgbClr val="000000">
                      <a:alpha val="43137"/>
                    </a:srgbClr>
                  </a:outerShdw>
                </a:effectLst>
              </a:rPr>
              <a:t>General information</a:t>
            </a:r>
            <a:endParaRPr lang="pl-PL" dirty="0"/>
          </a:p>
        </p:txBody>
      </p:sp>
      <p:sp>
        <p:nvSpPr>
          <p:cNvPr id="3" name="Symbol zastępczy zawartości 2">
            <a:extLst>
              <a:ext uri="{FF2B5EF4-FFF2-40B4-BE49-F238E27FC236}">
                <a16:creationId xmlns:a16="http://schemas.microsoft.com/office/drawing/2014/main" id="{059AECF1-2781-4126-B776-171534A9F73C}"/>
              </a:ext>
            </a:extLst>
          </p:cNvPr>
          <p:cNvSpPr>
            <a:spLocks noGrp="1"/>
          </p:cNvSpPr>
          <p:nvPr>
            <p:ph idx="1"/>
          </p:nvPr>
        </p:nvSpPr>
        <p:spPr>
          <a:xfrm>
            <a:off x="1012874" y="1825625"/>
            <a:ext cx="10340926" cy="4895850"/>
          </a:xfrm>
        </p:spPr>
        <p:txBody>
          <a:bodyPr>
            <a:normAutofit lnSpcReduction="10000"/>
          </a:bodyPr>
          <a:lstStyle/>
          <a:p>
            <a:pPr marL="0" indent="0">
              <a:buNone/>
            </a:pPr>
            <a:r>
              <a:rPr lang="pl-PL" dirty="0">
                <a:solidFill>
                  <a:srgbClr val="002060"/>
                </a:solidFill>
              </a:rPr>
              <a:t>The </a:t>
            </a:r>
            <a:r>
              <a:rPr lang="pl-PL" b="1" dirty="0">
                <a:solidFill>
                  <a:srgbClr val="FF0000"/>
                </a:solidFill>
                <a:effectLst>
                  <a:outerShdw blurRad="38100" dist="38100" dir="2700000" algn="tl">
                    <a:srgbClr val="000000">
                      <a:alpha val="43137"/>
                    </a:srgbClr>
                  </a:outerShdw>
                </a:effectLst>
              </a:rPr>
              <a:t>p</a:t>
            </a:r>
            <a:r>
              <a:rPr lang="en-US" b="1" dirty="0">
                <a:solidFill>
                  <a:srgbClr val="FF0000"/>
                </a:solidFill>
                <a:effectLst>
                  <a:outerShdw blurRad="38100" dist="38100" dir="2700000" algn="tl">
                    <a:srgbClr val="000000">
                      <a:alpha val="43137"/>
                    </a:srgbClr>
                  </a:outerShdw>
                </a:effectLst>
              </a:rPr>
              <a:t>reliminary ruling </a:t>
            </a:r>
            <a:r>
              <a:rPr lang="en-US" b="1" dirty="0">
                <a:solidFill>
                  <a:srgbClr val="002060"/>
                </a:solidFill>
              </a:rPr>
              <a:t>concern</a:t>
            </a:r>
            <a:r>
              <a:rPr lang="pl-PL" b="1" dirty="0">
                <a:solidFill>
                  <a:srgbClr val="002060"/>
                </a:solidFill>
              </a:rPr>
              <a:t>ed</a:t>
            </a:r>
            <a:r>
              <a:rPr lang="en-US" b="1" dirty="0">
                <a:solidFill>
                  <a:srgbClr val="002060"/>
                </a:solidFill>
              </a:rPr>
              <a:t>:</a:t>
            </a:r>
          </a:p>
          <a:p>
            <a:r>
              <a:rPr lang="en-US" b="1" dirty="0"/>
              <a:t> </a:t>
            </a:r>
            <a:r>
              <a:rPr lang="pl-PL" b="1" dirty="0"/>
              <a:t>T</a:t>
            </a:r>
            <a:r>
              <a:rPr lang="en-US" b="1" dirty="0"/>
              <a:t>he interpretation of </a:t>
            </a:r>
            <a:r>
              <a:rPr lang="en-US" b="1" dirty="0">
                <a:solidFill>
                  <a:srgbClr val="FF0000"/>
                </a:solidFill>
                <a:effectLst>
                  <a:outerShdw blurRad="38100" dist="38100" dir="2700000" algn="tl">
                    <a:srgbClr val="000000">
                      <a:alpha val="43137"/>
                    </a:srgbClr>
                  </a:outerShdw>
                </a:effectLst>
                <a:highlight>
                  <a:srgbClr val="FFFF00"/>
                </a:highlight>
              </a:rPr>
              <a:t>Article 56 TFEU</a:t>
            </a:r>
            <a:r>
              <a:rPr lang="pl-PL" b="1" dirty="0">
                <a:solidFill>
                  <a:srgbClr val="FF0000"/>
                </a:solidFill>
                <a:effectLst>
                  <a:outerShdw blurRad="38100" dist="38100" dir="2700000" algn="tl">
                    <a:srgbClr val="000000">
                      <a:alpha val="43137"/>
                    </a:srgbClr>
                  </a:outerShdw>
                </a:effectLst>
                <a:highlight>
                  <a:srgbClr val="FFFF00"/>
                </a:highlight>
              </a:rPr>
              <a:t> </a:t>
            </a:r>
            <a:r>
              <a:rPr lang="pl-PL" b="1" dirty="0">
                <a:solidFill>
                  <a:srgbClr val="FF0000"/>
                </a:solidFill>
                <a:effectLst>
                  <a:outerShdw blurRad="38100" dist="38100" dir="2700000" algn="tl">
                    <a:srgbClr val="000000">
                      <a:alpha val="43137"/>
                    </a:srgbClr>
                  </a:outerShdw>
                </a:effectLst>
              </a:rPr>
              <a:t>(Treaty on the Functioning of the European Union), which </a:t>
            </a:r>
            <a:r>
              <a:rPr lang="pl-PL" b="1" dirty="0">
                <a:solidFill>
                  <a:srgbClr val="FF0000"/>
                </a:solidFill>
                <a:effectLst>
                  <a:outerShdw blurRad="38100" dist="38100" dir="2700000" algn="tl">
                    <a:srgbClr val="000000">
                      <a:alpha val="43137"/>
                    </a:srgbClr>
                  </a:outerShdw>
                </a:effectLst>
                <a:highlight>
                  <a:srgbClr val="00FF00"/>
                </a:highlight>
              </a:rPr>
              <a:t>prohibits barriers in services </a:t>
            </a:r>
            <a:r>
              <a:rPr lang="pl-PL" b="1" dirty="0">
                <a:solidFill>
                  <a:srgbClr val="FF0000"/>
                </a:solidFill>
                <a:effectLst>
                  <a:outerShdw blurRad="38100" dist="38100" dir="2700000" algn="tl">
                    <a:srgbClr val="000000">
                      <a:alpha val="43137"/>
                    </a:srgbClr>
                  </a:outerShdw>
                </a:effectLst>
                <a:highlight>
                  <a:srgbClr val="FFFF00"/>
                </a:highlight>
              </a:rPr>
              <a:t>across EU national borders</a:t>
            </a:r>
          </a:p>
          <a:p>
            <a:r>
              <a:rPr lang="en-US" dirty="0"/>
              <a:t>Article 1 of </a:t>
            </a:r>
            <a:r>
              <a:rPr lang="en-US" b="1" dirty="0">
                <a:solidFill>
                  <a:srgbClr val="FF0000"/>
                </a:solidFill>
                <a:effectLst>
                  <a:outerShdw blurRad="38100" dist="38100" dir="2700000" algn="tl">
                    <a:srgbClr val="000000">
                      <a:alpha val="43137"/>
                    </a:srgbClr>
                  </a:outerShdw>
                </a:effectLst>
              </a:rPr>
              <a:t>Directive 98/34/EC </a:t>
            </a:r>
            <a:r>
              <a:rPr lang="en-US" dirty="0"/>
              <a:t>laying down a procedure for the </a:t>
            </a:r>
            <a:r>
              <a:rPr lang="en-US" b="1" dirty="0">
                <a:solidFill>
                  <a:srgbClr val="002060"/>
                </a:solidFill>
                <a:effectLst>
                  <a:outerShdw blurRad="38100" dist="38100" dir="2700000" algn="tl">
                    <a:srgbClr val="000000">
                      <a:alpha val="43137"/>
                    </a:srgbClr>
                  </a:outerShdw>
                </a:effectLst>
              </a:rPr>
              <a:t>provision of information in the field of technical standards and regulations and of rules on </a:t>
            </a:r>
            <a:r>
              <a:rPr lang="en-US" b="1" u="sng" dirty="0">
                <a:solidFill>
                  <a:srgbClr val="FF0000"/>
                </a:solidFill>
                <a:effectLst>
                  <a:outerShdw blurRad="38100" dist="38100" dir="2700000" algn="tl">
                    <a:srgbClr val="000000">
                      <a:alpha val="43137"/>
                    </a:srgbClr>
                  </a:outerShdw>
                </a:effectLst>
                <a:highlight>
                  <a:srgbClr val="00FF00"/>
                </a:highlight>
              </a:rPr>
              <a:t>Information Society servi</a:t>
            </a:r>
            <a:r>
              <a:rPr lang="en-US" b="1" dirty="0">
                <a:solidFill>
                  <a:srgbClr val="FF0000"/>
                </a:solidFill>
                <a:effectLst>
                  <a:outerShdw blurRad="38100" dist="38100" dir="2700000" algn="tl">
                    <a:srgbClr val="000000">
                      <a:alpha val="43137"/>
                    </a:srgbClr>
                  </a:outerShdw>
                </a:effectLst>
                <a:highlight>
                  <a:srgbClr val="00FF00"/>
                </a:highlight>
              </a:rPr>
              <a:t>ces </a:t>
            </a:r>
          </a:p>
          <a:p>
            <a:r>
              <a:rPr lang="en-US" dirty="0"/>
              <a:t>Article 3 of </a:t>
            </a:r>
            <a:r>
              <a:rPr lang="en-US" b="1" dirty="0">
                <a:solidFill>
                  <a:srgbClr val="FF0000"/>
                </a:solidFill>
                <a:effectLst>
                  <a:outerShdw blurRad="38100" dist="38100" dir="2700000" algn="tl">
                    <a:srgbClr val="000000">
                      <a:alpha val="43137"/>
                    </a:srgbClr>
                  </a:outerShdw>
                </a:effectLst>
              </a:rPr>
              <a:t>Directive 2000/31/EC </a:t>
            </a:r>
            <a:r>
              <a:rPr lang="en-US" dirty="0"/>
              <a:t>on certain legal aspects of </a:t>
            </a:r>
            <a:r>
              <a:rPr lang="en-US" b="1" u="sng" dirty="0">
                <a:solidFill>
                  <a:srgbClr val="FF0000"/>
                </a:solidFill>
                <a:effectLst>
                  <a:outerShdw blurRad="38100" dist="38100" dir="2700000" algn="tl">
                    <a:srgbClr val="000000">
                      <a:alpha val="43137"/>
                    </a:srgbClr>
                  </a:outerShdw>
                </a:effectLst>
              </a:rPr>
              <a:t>information society services</a:t>
            </a:r>
            <a:r>
              <a:rPr lang="en-US" dirty="0"/>
              <a:t>, in particular </a:t>
            </a:r>
            <a:r>
              <a:rPr lang="en-US" b="1" dirty="0">
                <a:solidFill>
                  <a:srgbClr val="FF0000"/>
                </a:solidFill>
                <a:effectLst>
                  <a:outerShdw blurRad="38100" dist="38100" dir="2700000" algn="tl">
                    <a:srgbClr val="000000">
                      <a:alpha val="43137"/>
                    </a:srgbClr>
                  </a:outerShdw>
                </a:effectLst>
                <a:highlight>
                  <a:srgbClr val="FFFF00"/>
                </a:highlight>
              </a:rPr>
              <a:t>electronic commerce</a:t>
            </a:r>
            <a:r>
              <a:rPr lang="en-US" dirty="0"/>
              <a:t>, in the Internal Market (‘Directive on electronic commerce’)</a:t>
            </a:r>
          </a:p>
          <a:p>
            <a:r>
              <a:rPr lang="en-US" dirty="0"/>
              <a:t>Articles 2 and 9 of Directive </a:t>
            </a:r>
            <a:r>
              <a:rPr lang="en-US" b="1" dirty="0">
                <a:solidFill>
                  <a:srgbClr val="FF0000"/>
                </a:solidFill>
                <a:effectLst>
                  <a:outerShdw blurRad="38100" dist="38100" dir="2700000" algn="tl">
                    <a:srgbClr val="000000">
                      <a:alpha val="43137"/>
                    </a:srgbClr>
                  </a:outerShdw>
                </a:effectLst>
              </a:rPr>
              <a:t>2006/123/EC </a:t>
            </a:r>
            <a:r>
              <a:rPr lang="en-US" dirty="0"/>
              <a:t>on </a:t>
            </a:r>
            <a:r>
              <a:rPr lang="en-US" b="1" u="sng" dirty="0">
                <a:solidFill>
                  <a:srgbClr val="FF0000"/>
                </a:solidFill>
                <a:effectLst>
                  <a:outerShdw blurRad="38100" dist="38100" dir="2700000" algn="tl">
                    <a:srgbClr val="000000">
                      <a:alpha val="43137"/>
                    </a:srgbClr>
                  </a:outerShdw>
                </a:effectLst>
              </a:rPr>
              <a:t>services in the internal market </a:t>
            </a:r>
          </a:p>
        </p:txBody>
      </p:sp>
      <p:sp>
        <p:nvSpPr>
          <p:cNvPr id="4" name="Symbol zastępczy numeru slajdu 3">
            <a:extLst>
              <a:ext uri="{FF2B5EF4-FFF2-40B4-BE49-F238E27FC236}">
                <a16:creationId xmlns:a16="http://schemas.microsoft.com/office/drawing/2014/main" id="{6519040C-A0CC-485F-9C71-7ADD8E11B736}"/>
              </a:ext>
            </a:extLst>
          </p:cNvPr>
          <p:cNvSpPr>
            <a:spLocks noGrp="1"/>
          </p:cNvSpPr>
          <p:nvPr>
            <p:ph type="sldNum" sz="quarter" idx="12"/>
          </p:nvPr>
        </p:nvSpPr>
        <p:spPr/>
        <p:txBody>
          <a:bodyPr/>
          <a:lstStyle/>
          <a:p>
            <a:fld id="{31FE8408-9B39-4718-B64F-54F72D092B1B}" type="slidenum">
              <a:rPr lang="pl-PL" smtClean="0"/>
              <a:t>41</a:t>
            </a:fld>
            <a:endParaRPr lang="pl-PL" dirty="0"/>
          </a:p>
        </p:txBody>
      </p:sp>
    </p:spTree>
    <p:extLst>
      <p:ext uri="{BB962C8B-B14F-4D97-AF65-F5344CB8AC3E}">
        <p14:creationId xmlns:p14="http://schemas.microsoft.com/office/powerpoint/2010/main" val="14942932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03966CF-4F96-4958-81AA-B2F5A382485B}"/>
              </a:ext>
            </a:extLst>
          </p:cNvPr>
          <p:cNvSpPr>
            <a:spLocks noGrp="1"/>
          </p:cNvSpPr>
          <p:nvPr>
            <p:ph type="title"/>
          </p:nvPr>
        </p:nvSpPr>
        <p:spPr/>
        <p:txBody>
          <a:bodyPr/>
          <a:lstStyle/>
          <a:p>
            <a:r>
              <a:rPr lang="en-US" b="1" dirty="0">
                <a:solidFill>
                  <a:srgbClr val="002060"/>
                </a:solidFill>
                <a:effectLst>
                  <a:outerShdw blurRad="38100" dist="38100" dir="2700000" algn="tl">
                    <a:srgbClr val="000000">
                      <a:alpha val="43137"/>
                    </a:srgbClr>
                  </a:outerShdw>
                </a:effectLst>
              </a:rPr>
              <a:t>General information</a:t>
            </a:r>
            <a:endParaRPr lang="pl-PL" dirty="0"/>
          </a:p>
        </p:txBody>
      </p:sp>
      <p:sp>
        <p:nvSpPr>
          <p:cNvPr id="3" name="Symbol zastępczy zawartości 2">
            <a:extLst>
              <a:ext uri="{FF2B5EF4-FFF2-40B4-BE49-F238E27FC236}">
                <a16:creationId xmlns:a16="http://schemas.microsoft.com/office/drawing/2014/main" id="{2275079E-D140-4727-8826-28452C96F113}"/>
              </a:ext>
            </a:extLst>
          </p:cNvPr>
          <p:cNvSpPr>
            <a:spLocks noGrp="1"/>
          </p:cNvSpPr>
          <p:nvPr>
            <p:ph idx="1"/>
          </p:nvPr>
        </p:nvSpPr>
        <p:spPr>
          <a:xfrm>
            <a:off x="838200" y="1825625"/>
            <a:ext cx="10515600" cy="4912800"/>
          </a:xfrm>
        </p:spPr>
        <p:txBody>
          <a:bodyPr>
            <a:noAutofit/>
          </a:bodyPr>
          <a:lstStyle/>
          <a:p>
            <a:r>
              <a:rPr lang="en-US" sz="3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request has been made in proceedings between </a:t>
            </a:r>
            <a:r>
              <a:rPr lang="en-US" sz="32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Asociación Profesional Elite Taxi (‘Elite Taxi’), </a:t>
            </a:r>
            <a:r>
              <a:rPr lang="en-US" sz="32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professional taxi drivers’ association in Barcelona (Spain), and </a:t>
            </a:r>
            <a:r>
              <a:rPr lang="en-US" sz="32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Uber Systems Spain SL, a company related to Uber Technologies Inc.</a:t>
            </a:r>
            <a:r>
              <a:rPr lang="en-US"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r>
              <a:rPr lang="en-US"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pl-PL" sz="3200"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It </a:t>
            </a:r>
            <a:r>
              <a:rPr lang="en-US" sz="3200"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concern</a:t>
            </a:r>
            <a:r>
              <a:rPr lang="pl-PL" sz="3200"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ed</a:t>
            </a:r>
            <a:r>
              <a:rPr lang="en-US" sz="3200"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 the provision by the latter, </a:t>
            </a:r>
            <a:r>
              <a:rPr lang="en-US" sz="3200" b="1"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by means of a </a:t>
            </a:r>
            <a:r>
              <a:rPr lang="en-US" sz="3200" b="1" dirty="0">
                <a:solidFill>
                  <a:srgbClr val="002060"/>
                </a:solidFill>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smartphone application</a:t>
            </a:r>
            <a:r>
              <a:rPr lang="en-US" sz="3200"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 of the </a:t>
            </a:r>
            <a:r>
              <a:rPr lang="en-US" sz="3200" b="1" u="sng" dirty="0">
                <a:solidFill>
                  <a:srgbClr val="FF0000"/>
                </a:solidFill>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paid service </a:t>
            </a:r>
            <a:r>
              <a:rPr lang="en-US" sz="3200" b="1" dirty="0">
                <a:solidFill>
                  <a:srgbClr val="FF0000"/>
                </a:solidFill>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consisting of connecting non-professional drivers </a:t>
            </a:r>
            <a:r>
              <a:rPr lang="en-US" sz="3200" b="1" dirty="0">
                <a:solidFill>
                  <a:srgbClr val="002060"/>
                </a:solidFill>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using their own vehicle with persons who wish to make urban journeys</a:t>
            </a:r>
            <a:r>
              <a:rPr lang="en-US" sz="3200" dirty="0">
                <a:effectLst>
                  <a:outerShdw blurRad="38100" dist="38100" dir="2700000" algn="tl">
                    <a:srgbClr val="000000">
                      <a:alpha val="43137"/>
                    </a:srgbClr>
                  </a:outerShdw>
                </a:effectLst>
                <a:highlight>
                  <a:srgbClr val="FFFF00"/>
                </a:highlight>
                <a:latin typeface="Times New Roman" panose="02020603050405020304" pitchFamily="18" charset="0"/>
                <a:cs typeface="Times New Roman" panose="02020603050405020304" pitchFamily="18" charset="0"/>
              </a:rPr>
              <a:t>, </a:t>
            </a:r>
            <a:r>
              <a:rPr lang="en-US" sz="3200" b="1" u="sng" dirty="0">
                <a:solidFill>
                  <a:srgbClr val="FF0000"/>
                </a:solidFill>
                <a:effectLst>
                  <a:outerShdw blurRad="38100" dist="38100" dir="2700000" algn="tl">
                    <a:srgbClr val="000000">
                      <a:alpha val="43137"/>
                    </a:srgbClr>
                  </a:outerShdw>
                </a:effectLst>
                <a:highlight>
                  <a:srgbClr val="00FF00"/>
                </a:highlight>
                <a:latin typeface="Times New Roman" panose="02020603050405020304" pitchFamily="18" charset="0"/>
                <a:cs typeface="Times New Roman" panose="02020603050405020304" pitchFamily="18" charset="0"/>
              </a:rPr>
              <a:t>without holding any administrative licence or authorisation</a:t>
            </a:r>
            <a:endParaRPr lang="en-US" sz="3200" u="sng" dirty="0">
              <a:solidFill>
                <a:srgbClr val="FF0000"/>
              </a:solidFill>
              <a:effectLst>
                <a:outerShdw blurRad="38100" dist="38100" dir="2700000" algn="tl">
                  <a:srgbClr val="000000">
                    <a:alpha val="43137"/>
                  </a:srgbClr>
                </a:outerShdw>
              </a:effectLst>
              <a:highlight>
                <a:srgbClr val="00FF00"/>
              </a:highlight>
              <a:latin typeface="Times New Roman" panose="02020603050405020304" pitchFamily="18" charset="0"/>
              <a:cs typeface="Times New Roman" panose="02020603050405020304" pitchFamily="18" charset="0"/>
            </a:endParaRPr>
          </a:p>
        </p:txBody>
      </p:sp>
      <p:sp>
        <p:nvSpPr>
          <p:cNvPr id="4" name="Symbol zastępczy numeru slajdu 3">
            <a:extLst>
              <a:ext uri="{FF2B5EF4-FFF2-40B4-BE49-F238E27FC236}">
                <a16:creationId xmlns:a16="http://schemas.microsoft.com/office/drawing/2014/main" id="{D606FF55-23B8-4E88-B5CB-195A2C416C88}"/>
              </a:ext>
            </a:extLst>
          </p:cNvPr>
          <p:cNvSpPr>
            <a:spLocks noGrp="1"/>
          </p:cNvSpPr>
          <p:nvPr>
            <p:ph type="sldNum" sz="quarter" idx="12"/>
          </p:nvPr>
        </p:nvSpPr>
        <p:spPr/>
        <p:txBody>
          <a:bodyPr/>
          <a:lstStyle/>
          <a:p>
            <a:fld id="{31FE8408-9B39-4718-B64F-54F72D092B1B}" type="slidenum">
              <a:rPr lang="pl-PL" smtClean="0"/>
              <a:t>42</a:t>
            </a:fld>
            <a:endParaRPr lang="pl-PL" dirty="0"/>
          </a:p>
        </p:txBody>
      </p:sp>
    </p:spTree>
    <p:extLst>
      <p:ext uri="{BB962C8B-B14F-4D97-AF65-F5344CB8AC3E}">
        <p14:creationId xmlns:p14="http://schemas.microsoft.com/office/powerpoint/2010/main" val="9361603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ADEC7A3-59D1-41CF-A899-04D6ACA583B9}"/>
              </a:ext>
            </a:extLst>
          </p:cNvPr>
          <p:cNvSpPr>
            <a:spLocks noGrp="1"/>
          </p:cNvSpPr>
          <p:nvPr>
            <p:ph type="title"/>
          </p:nvPr>
        </p:nvSpPr>
        <p:spPr>
          <a:xfrm>
            <a:off x="838200" y="365126"/>
            <a:ext cx="10515600" cy="992334"/>
          </a:xfrm>
        </p:spPr>
        <p:txBody>
          <a:bodyPr>
            <a:normAutofit fontScale="90000"/>
          </a:bodyPr>
          <a:lstStyle/>
          <a:p>
            <a:br>
              <a:rPr lang="pl-PL" sz="2200" b="1" i="1" dirty="0">
                <a:solidFill>
                  <a:srgbClr val="002060"/>
                </a:solidFill>
              </a:rPr>
            </a:br>
            <a:br>
              <a:rPr lang="pl-PL" sz="2200" b="1" i="1" dirty="0">
                <a:solidFill>
                  <a:srgbClr val="002060"/>
                </a:solidFill>
              </a:rPr>
            </a:br>
            <a:r>
              <a:rPr lang="pl-PL" sz="4000" b="1" i="1" dirty="0">
                <a:solidFill>
                  <a:srgbClr val="002060"/>
                </a:solidFill>
              </a:rPr>
              <a:t>LEGAL CONTEXT:  </a:t>
            </a:r>
            <a:br>
              <a:rPr lang="pl-PL" sz="6000" b="1" i="1" dirty="0">
                <a:solidFill>
                  <a:srgbClr val="002060"/>
                </a:solidFill>
              </a:rPr>
            </a:br>
            <a:r>
              <a:rPr lang="pl-PL" sz="4000" b="1" i="1" dirty="0">
                <a:solidFill>
                  <a:srgbClr val="FF0000"/>
                </a:solidFill>
                <a:effectLst>
                  <a:outerShdw blurRad="38100" dist="38100" dir="2700000" algn="tl">
                    <a:srgbClr val="000000">
                      <a:alpha val="43137"/>
                    </a:srgbClr>
                  </a:outerShdw>
                </a:effectLst>
              </a:rPr>
              <a:t>Directive 98/34   </a:t>
            </a:r>
            <a:r>
              <a:rPr lang="pl-PL" sz="4000" b="1" i="1" dirty="0">
                <a:solidFill>
                  <a:srgbClr val="FF0000"/>
                </a:solidFill>
                <a:effectLst>
                  <a:outerShdw blurRad="38100" dist="38100" dir="2700000" algn="tl">
                    <a:srgbClr val="000000">
                      <a:alpha val="43137"/>
                    </a:srgbClr>
                  </a:outerShdw>
                </a:effectLst>
                <a:highlight>
                  <a:srgbClr val="00FF00"/>
                </a:highlight>
              </a:rPr>
              <a:t>Information society services</a:t>
            </a:r>
            <a:r>
              <a:rPr lang="pl-PL" sz="4000" b="1" dirty="0">
                <a:solidFill>
                  <a:srgbClr val="FF0000"/>
                </a:solidFill>
                <a:effectLst>
                  <a:outerShdw blurRad="38100" dist="38100" dir="2700000" algn="tl">
                    <a:srgbClr val="000000">
                      <a:alpha val="43137"/>
                    </a:srgbClr>
                  </a:outerShdw>
                </a:effectLst>
                <a:highlight>
                  <a:srgbClr val="00FF00"/>
                </a:highlight>
              </a:rPr>
              <a:t> </a:t>
            </a:r>
            <a:br>
              <a:rPr lang="pl-PL" dirty="0"/>
            </a:br>
            <a:endParaRPr lang="pl-PL" dirty="0"/>
          </a:p>
        </p:txBody>
      </p:sp>
      <p:sp>
        <p:nvSpPr>
          <p:cNvPr id="3" name="Symbol zastępczy zawartości 2">
            <a:extLst>
              <a:ext uri="{FF2B5EF4-FFF2-40B4-BE49-F238E27FC236}">
                <a16:creationId xmlns:a16="http://schemas.microsoft.com/office/drawing/2014/main" id="{A57DD9CA-162C-4251-8BCE-61C48244FB7D}"/>
              </a:ext>
            </a:extLst>
          </p:cNvPr>
          <p:cNvSpPr>
            <a:spLocks noGrp="1"/>
          </p:cNvSpPr>
          <p:nvPr>
            <p:ph idx="1"/>
          </p:nvPr>
        </p:nvSpPr>
        <p:spPr>
          <a:xfrm>
            <a:off x="838200" y="1649690"/>
            <a:ext cx="10515600" cy="5208309"/>
          </a:xfrm>
        </p:spPr>
        <p:txBody>
          <a:bodyPr>
            <a:noAutofit/>
          </a:bodyPr>
          <a:lstStyle/>
          <a:p>
            <a:r>
              <a:rPr lang="pl-PL" b="1" dirty="0">
                <a:solidFill>
                  <a:srgbClr val="FF0000"/>
                </a:solidFill>
                <a:effectLst>
                  <a:outerShdw blurRad="38100" dist="38100" dir="2700000" algn="tl">
                    <a:srgbClr val="000000">
                      <a:alpha val="43137"/>
                    </a:srgbClr>
                  </a:outerShdw>
                </a:effectLst>
                <a:highlight>
                  <a:srgbClr val="FFFF00"/>
                </a:highlight>
              </a:rPr>
              <a:t>A</a:t>
            </a:r>
            <a:r>
              <a:rPr lang="en-US" b="1" dirty="0">
                <a:solidFill>
                  <a:srgbClr val="FF0000"/>
                </a:solidFill>
                <a:effectLst>
                  <a:outerShdw blurRad="38100" dist="38100" dir="2700000" algn="tl">
                    <a:srgbClr val="000000">
                      <a:alpha val="43137"/>
                    </a:srgbClr>
                  </a:outerShdw>
                </a:effectLst>
                <a:highlight>
                  <a:srgbClr val="FFFF00"/>
                </a:highlight>
              </a:rPr>
              <a:t> “service</a:t>
            </a:r>
            <a:r>
              <a:rPr lang="en-US" b="1" dirty="0">
                <a:solidFill>
                  <a:srgbClr val="FF0000"/>
                </a:solidFill>
                <a:effectLst>
                  <a:outerShdw blurRad="38100" dist="38100" dir="2700000" algn="tl">
                    <a:srgbClr val="000000">
                      <a:alpha val="43137"/>
                    </a:srgbClr>
                  </a:outerShdw>
                </a:effectLst>
              </a:rPr>
              <a:t>”</a:t>
            </a:r>
            <a:r>
              <a:rPr lang="en-US" dirty="0"/>
              <a:t>, any Information Society service </a:t>
            </a:r>
            <a:r>
              <a:rPr lang="en-US" b="1" dirty="0">
                <a:solidFill>
                  <a:srgbClr val="FF0000"/>
                </a:solidFill>
                <a:effectLst>
                  <a:outerShdw blurRad="38100" dist="38100" dir="2700000" algn="tl">
                    <a:srgbClr val="000000">
                      <a:alpha val="43137"/>
                    </a:srgbClr>
                  </a:outerShdw>
                </a:effectLst>
                <a:highlight>
                  <a:srgbClr val="00FF00"/>
                </a:highlight>
              </a:rPr>
              <a:t>normally provided </a:t>
            </a:r>
            <a:r>
              <a:rPr lang="en-US" b="1" dirty="0">
                <a:solidFill>
                  <a:srgbClr val="002060"/>
                </a:solidFill>
                <a:effectLst>
                  <a:outerShdw blurRad="38100" dist="38100" dir="2700000" algn="tl">
                    <a:srgbClr val="000000">
                      <a:alpha val="43137"/>
                    </a:srgbClr>
                  </a:outerShdw>
                </a:effectLst>
                <a:highlight>
                  <a:srgbClr val="00FF00"/>
                </a:highlight>
              </a:rPr>
              <a:t>for remuneration</a:t>
            </a:r>
            <a:r>
              <a:rPr lang="en-US" b="1" dirty="0">
                <a:solidFill>
                  <a:srgbClr val="FF0000"/>
                </a:solidFill>
                <a:effectLst>
                  <a:outerShdw blurRad="38100" dist="38100" dir="2700000" algn="tl">
                    <a:srgbClr val="000000">
                      <a:alpha val="43137"/>
                    </a:srgbClr>
                  </a:outerShdw>
                </a:effectLst>
                <a:highlight>
                  <a:srgbClr val="00FF00"/>
                </a:highlight>
              </a:rPr>
              <a:t>, at a distance, by electronic means </a:t>
            </a:r>
            <a:r>
              <a:rPr lang="en-US" dirty="0"/>
              <a:t>and </a:t>
            </a:r>
            <a:r>
              <a:rPr lang="en-US" sz="2400" dirty="0"/>
              <a:t>at the individual request of a recipient of services</a:t>
            </a:r>
          </a:p>
          <a:p>
            <a:r>
              <a:rPr lang="en-US" sz="2400" dirty="0"/>
              <a:t>For the purposes of this definition:</a:t>
            </a:r>
          </a:p>
          <a:p>
            <a:r>
              <a:rPr lang="en-US" sz="2400" dirty="0"/>
              <a:t>–        “</a:t>
            </a:r>
            <a:r>
              <a:rPr lang="en-US" sz="2400" u="sng" dirty="0">
                <a:solidFill>
                  <a:srgbClr val="FF0000"/>
                </a:solidFill>
                <a:effectLst>
                  <a:outerShdw blurRad="38100" dist="38100" dir="2700000" algn="tl">
                    <a:srgbClr val="000000">
                      <a:alpha val="43137"/>
                    </a:srgbClr>
                  </a:outerShdw>
                </a:effectLst>
              </a:rPr>
              <a:t>at a distance</a:t>
            </a:r>
            <a:r>
              <a:rPr lang="en-US" sz="2400" dirty="0"/>
              <a:t>” means that the service is provided without the parties being simultaneously present</a:t>
            </a:r>
          </a:p>
          <a:p>
            <a:r>
              <a:rPr lang="en-US" sz="2400" dirty="0"/>
              <a:t>–        “</a:t>
            </a:r>
            <a:r>
              <a:rPr lang="en-US" sz="2400" u="sng" dirty="0">
                <a:solidFill>
                  <a:srgbClr val="FF0000"/>
                </a:solidFill>
                <a:effectLst>
                  <a:outerShdw blurRad="38100" dist="38100" dir="2700000" algn="tl">
                    <a:srgbClr val="000000">
                      <a:alpha val="43137"/>
                    </a:srgbClr>
                  </a:outerShdw>
                </a:effectLst>
              </a:rPr>
              <a:t>by electronic means</a:t>
            </a:r>
            <a:r>
              <a:rPr lang="en-US" sz="2400" dirty="0"/>
              <a:t>” means that the </a:t>
            </a:r>
            <a:r>
              <a:rPr lang="en-US" sz="2400" b="1" dirty="0">
                <a:solidFill>
                  <a:srgbClr val="002060"/>
                </a:solidFill>
                <a:effectLst>
                  <a:outerShdw blurRad="38100" dist="38100" dir="2700000" algn="tl">
                    <a:srgbClr val="000000">
                      <a:alpha val="43137"/>
                    </a:srgbClr>
                  </a:outerShdw>
                </a:effectLst>
              </a:rPr>
              <a:t>service is sent </a:t>
            </a:r>
            <a:r>
              <a:rPr lang="en-US" sz="2400" dirty="0"/>
              <a:t>initially </a:t>
            </a:r>
            <a:r>
              <a:rPr lang="en-US" sz="2400" b="1" dirty="0">
                <a:solidFill>
                  <a:srgbClr val="002060"/>
                </a:solidFill>
                <a:effectLst>
                  <a:outerShdw blurRad="38100" dist="38100" dir="2700000" algn="tl">
                    <a:srgbClr val="000000">
                      <a:alpha val="43137"/>
                    </a:srgbClr>
                  </a:outerShdw>
                </a:effectLst>
              </a:rPr>
              <a:t>and received </a:t>
            </a:r>
            <a:r>
              <a:rPr lang="en-US" sz="2400" dirty="0"/>
              <a:t>at its destination by means of electronic equipment for the processing (including digital compression) and storage of data, and </a:t>
            </a:r>
            <a:r>
              <a:rPr lang="en-US" sz="2400" b="1" u="sng" dirty="0">
                <a:solidFill>
                  <a:srgbClr val="002060"/>
                </a:solidFill>
                <a:effectLst>
                  <a:outerShdw blurRad="38100" dist="38100" dir="2700000" algn="tl">
                    <a:srgbClr val="000000">
                      <a:alpha val="43137"/>
                    </a:srgbClr>
                  </a:outerShdw>
                </a:effectLst>
                <a:highlight>
                  <a:srgbClr val="FFFF00"/>
                </a:highlight>
              </a:rPr>
              <a:t>entirely transmitted, conveyed </a:t>
            </a:r>
            <a:r>
              <a:rPr lang="en-US" sz="2400" u="sng" dirty="0">
                <a:highlight>
                  <a:srgbClr val="FFFF00"/>
                </a:highlight>
              </a:rPr>
              <a:t>and received by </a:t>
            </a:r>
            <a:r>
              <a:rPr lang="en-US" sz="2400" b="1" u="sng" dirty="0">
                <a:solidFill>
                  <a:srgbClr val="FF0000"/>
                </a:solidFill>
                <a:effectLst>
                  <a:outerShdw blurRad="38100" dist="38100" dir="2700000" algn="tl">
                    <a:srgbClr val="000000">
                      <a:alpha val="43137"/>
                    </a:srgbClr>
                  </a:outerShdw>
                </a:effectLst>
                <a:highlight>
                  <a:srgbClr val="FFFF00"/>
                </a:highlight>
              </a:rPr>
              <a:t>wire, by radio, by optical means or by other electromagnetic means</a:t>
            </a:r>
          </a:p>
        </p:txBody>
      </p:sp>
      <p:sp>
        <p:nvSpPr>
          <p:cNvPr id="4" name="Symbol zastępczy numeru slajdu 3">
            <a:extLst>
              <a:ext uri="{FF2B5EF4-FFF2-40B4-BE49-F238E27FC236}">
                <a16:creationId xmlns:a16="http://schemas.microsoft.com/office/drawing/2014/main" id="{54447697-2322-40BD-B408-6265C4F59E29}"/>
              </a:ext>
            </a:extLst>
          </p:cNvPr>
          <p:cNvSpPr>
            <a:spLocks noGrp="1"/>
          </p:cNvSpPr>
          <p:nvPr>
            <p:ph type="sldNum" sz="quarter" idx="12"/>
          </p:nvPr>
        </p:nvSpPr>
        <p:spPr/>
        <p:txBody>
          <a:bodyPr/>
          <a:lstStyle/>
          <a:p>
            <a:fld id="{31FE8408-9B39-4718-B64F-54F72D092B1B}" type="slidenum">
              <a:rPr lang="pl-PL" smtClean="0"/>
              <a:t>43</a:t>
            </a:fld>
            <a:endParaRPr lang="pl-PL" dirty="0"/>
          </a:p>
        </p:txBody>
      </p:sp>
    </p:spTree>
    <p:extLst>
      <p:ext uri="{BB962C8B-B14F-4D97-AF65-F5344CB8AC3E}">
        <p14:creationId xmlns:p14="http://schemas.microsoft.com/office/powerpoint/2010/main" val="25947975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00EC2BC-F637-412E-96B1-1DFE84448292}"/>
              </a:ext>
            </a:extLst>
          </p:cNvPr>
          <p:cNvSpPr>
            <a:spLocks noGrp="1"/>
          </p:cNvSpPr>
          <p:nvPr>
            <p:ph type="title"/>
          </p:nvPr>
        </p:nvSpPr>
        <p:spPr/>
        <p:txBody>
          <a:bodyPr/>
          <a:lstStyle/>
          <a:p>
            <a:r>
              <a:rPr lang="pl-PL" b="1" i="1" dirty="0">
                <a:solidFill>
                  <a:srgbClr val="002060"/>
                </a:solidFill>
              </a:rPr>
              <a:t>LEGAL CONTEXT:   </a:t>
            </a:r>
            <a:r>
              <a:rPr lang="pl-PL" b="1" i="1" dirty="0">
                <a:solidFill>
                  <a:srgbClr val="FF0000"/>
                </a:solidFill>
                <a:effectLst>
                  <a:outerShdw blurRad="38100" dist="38100" dir="2700000" algn="tl">
                    <a:srgbClr val="000000">
                      <a:alpha val="43137"/>
                    </a:srgbClr>
                  </a:outerShdw>
                </a:effectLst>
              </a:rPr>
              <a:t>Directive 23/31</a:t>
            </a:r>
            <a:endParaRPr lang="pl-PL" dirty="0">
              <a:solidFill>
                <a:srgbClr val="FF000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D8EDAF29-B67B-4BA8-9B5E-DFC8C0E2ED32}"/>
              </a:ext>
            </a:extLst>
          </p:cNvPr>
          <p:cNvSpPr>
            <a:spLocks noGrp="1"/>
          </p:cNvSpPr>
          <p:nvPr>
            <p:ph idx="1"/>
          </p:nvPr>
        </p:nvSpPr>
        <p:spPr>
          <a:xfrm>
            <a:off x="838200" y="1825625"/>
            <a:ext cx="10515600" cy="4895850"/>
          </a:xfrm>
        </p:spPr>
        <p:txBody>
          <a:bodyPr/>
          <a:lstStyle/>
          <a:p>
            <a:pPr marL="0" indent="0">
              <a:buNone/>
            </a:pPr>
            <a:r>
              <a:rPr lang="pl-PL" sz="4000" u="sng" dirty="0">
                <a:solidFill>
                  <a:srgbClr val="FF0000"/>
                </a:solidFill>
                <a:effectLst>
                  <a:outerShdw blurRad="38100" dist="38100" dir="2700000" algn="tl">
                    <a:srgbClr val="000000">
                      <a:alpha val="43137"/>
                    </a:srgbClr>
                  </a:outerShdw>
                </a:effectLst>
                <a:highlight>
                  <a:srgbClr val="00FF00"/>
                </a:highlight>
                <a:latin typeface="Arial Black" panose="020B0A04020102020204" pitchFamily="34" charset="0"/>
              </a:rPr>
              <a:t>EU </a:t>
            </a:r>
            <a:r>
              <a:rPr lang="en-US" sz="4000" u="sng" dirty="0">
                <a:solidFill>
                  <a:srgbClr val="FF0000"/>
                </a:solidFill>
                <a:effectLst>
                  <a:outerShdw blurRad="38100" dist="38100" dir="2700000" algn="tl">
                    <a:srgbClr val="000000">
                      <a:alpha val="43137"/>
                    </a:srgbClr>
                  </a:outerShdw>
                </a:effectLst>
                <a:highlight>
                  <a:srgbClr val="00FF00"/>
                </a:highlight>
                <a:latin typeface="Arial Black" panose="020B0A04020102020204" pitchFamily="34" charset="0"/>
              </a:rPr>
              <a:t>Member </a:t>
            </a:r>
            <a:r>
              <a:rPr lang="en-US" sz="4000" b="1" u="sng" dirty="0">
                <a:solidFill>
                  <a:srgbClr val="FF0000"/>
                </a:solidFill>
                <a:effectLst>
                  <a:outerShdw blurRad="38100" dist="38100" dir="2700000" algn="tl">
                    <a:srgbClr val="000000">
                      <a:alpha val="43137"/>
                    </a:srgbClr>
                  </a:outerShdw>
                </a:effectLst>
                <a:highlight>
                  <a:srgbClr val="00FF00"/>
                </a:highlight>
                <a:latin typeface="Arial Black" panose="020B0A04020102020204" pitchFamily="34" charset="0"/>
              </a:rPr>
              <a:t>States m</a:t>
            </a:r>
            <a:r>
              <a:rPr lang="pl-PL" sz="4000" b="1" u="sng" dirty="0">
                <a:solidFill>
                  <a:srgbClr val="FF0000"/>
                </a:solidFill>
                <a:effectLst>
                  <a:outerShdw blurRad="38100" dist="38100" dir="2700000" algn="tl">
                    <a:srgbClr val="000000">
                      <a:alpha val="43137"/>
                    </a:srgbClr>
                  </a:outerShdw>
                </a:effectLst>
                <a:highlight>
                  <a:srgbClr val="00FF00"/>
                </a:highlight>
                <a:latin typeface="Arial Black" panose="020B0A04020102020204" pitchFamily="34" charset="0"/>
              </a:rPr>
              <a:t>ust</a:t>
            </a:r>
            <a:r>
              <a:rPr lang="en-US" sz="4000" b="1" u="sng" dirty="0">
                <a:solidFill>
                  <a:srgbClr val="FF0000"/>
                </a:solidFill>
                <a:effectLst>
                  <a:outerShdw blurRad="38100" dist="38100" dir="2700000" algn="tl">
                    <a:srgbClr val="000000">
                      <a:alpha val="43137"/>
                    </a:srgbClr>
                  </a:outerShdw>
                </a:effectLst>
                <a:highlight>
                  <a:srgbClr val="00FF00"/>
                </a:highlight>
                <a:latin typeface="Arial Black" panose="020B0A04020102020204" pitchFamily="34" charset="0"/>
              </a:rPr>
              <a:t> not</a:t>
            </a:r>
            <a:r>
              <a:rPr lang="pl-PL" sz="4000" b="1" u="sng" dirty="0">
                <a:solidFill>
                  <a:srgbClr val="FF0000"/>
                </a:solidFill>
                <a:effectLst>
                  <a:outerShdw blurRad="38100" dist="38100" dir="2700000" algn="tl">
                    <a:srgbClr val="000000">
                      <a:alpha val="43137"/>
                    </a:srgbClr>
                  </a:outerShdw>
                </a:effectLst>
                <a:highlight>
                  <a:srgbClr val="00FF00"/>
                </a:highlight>
                <a:latin typeface="Arial Black" panose="020B0A04020102020204" pitchFamily="34" charset="0"/>
              </a:rPr>
              <a:t> </a:t>
            </a:r>
            <a:r>
              <a:rPr lang="en-US" sz="4000" u="sng" dirty="0">
                <a:solidFill>
                  <a:srgbClr val="FF0000"/>
                </a:solidFill>
                <a:effectLst>
                  <a:outerShdw blurRad="38100" dist="38100" dir="2700000" algn="tl">
                    <a:srgbClr val="000000">
                      <a:alpha val="43137"/>
                    </a:srgbClr>
                  </a:outerShdw>
                </a:effectLst>
                <a:highlight>
                  <a:srgbClr val="00FF00"/>
                </a:highlight>
                <a:latin typeface="Arial Black" panose="020B0A04020102020204" pitchFamily="34" charset="0"/>
              </a:rPr>
              <a:t>restrict the freedom to provide information </a:t>
            </a:r>
            <a:r>
              <a:rPr lang="en-US" sz="4000" dirty="0">
                <a:solidFill>
                  <a:srgbClr val="FF0000"/>
                </a:solidFill>
                <a:effectLst>
                  <a:outerShdw blurRad="38100" dist="38100" dir="2700000" algn="tl">
                    <a:srgbClr val="000000">
                      <a:alpha val="43137"/>
                    </a:srgbClr>
                  </a:outerShdw>
                </a:effectLst>
                <a:highlight>
                  <a:srgbClr val="00FF00"/>
                </a:highlight>
                <a:latin typeface="Arial Black" panose="020B0A04020102020204" pitchFamily="34" charset="0"/>
              </a:rPr>
              <a:t>society services </a:t>
            </a:r>
            <a:r>
              <a:rPr lang="en-US" sz="4000" dirty="0">
                <a:solidFill>
                  <a:srgbClr val="002060"/>
                </a:solidFill>
              </a:rPr>
              <a:t>from another Member State</a:t>
            </a:r>
            <a:r>
              <a:rPr lang="pl-PL" sz="4000" dirty="0">
                <a:solidFill>
                  <a:srgbClr val="002060"/>
                </a:solidFill>
              </a:rPr>
              <a:t> (there are exceptions)</a:t>
            </a:r>
            <a:endParaRPr lang="en-US" sz="4000" dirty="0">
              <a:solidFill>
                <a:srgbClr val="002060"/>
              </a:solidFill>
            </a:endParaRPr>
          </a:p>
          <a:p>
            <a:pPr marL="0" indent="0">
              <a:buNone/>
            </a:pPr>
            <a:endParaRPr lang="pl-PL" sz="4000" dirty="0"/>
          </a:p>
          <a:p>
            <a:pPr marL="0" indent="0">
              <a:buNone/>
            </a:pPr>
            <a:endParaRPr lang="pl-PL" dirty="0"/>
          </a:p>
        </p:txBody>
      </p:sp>
      <p:sp>
        <p:nvSpPr>
          <p:cNvPr id="4" name="Symbol zastępczy numeru slajdu 3">
            <a:extLst>
              <a:ext uri="{FF2B5EF4-FFF2-40B4-BE49-F238E27FC236}">
                <a16:creationId xmlns:a16="http://schemas.microsoft.com/office/drawing/2014/main" id="{58B9CD8C-72C1-47F4-9E6E-D61A36619AC5}"/>
              </a:ext>
            </a:extLst>
          </p:cNvPr>
          <p:cNvSpPr>
            <a:spLocks noGrp="1"/>
          </p:cNvSpPr>
          <p:nvPr>
            <p:ph type="sldNum" sz="quarter" idx="12"/>
          </p:nvPr>
        </p:nvSpPr>
        <p:spPr/>
        <p:txBody>
          <a:bodyPr/>
          <a:lstStyle/>
          <a:p>
            <a:fld id="{31FE8408-9B39-4718-B64F-54F72D092B1B}" type="slidenum">
              <a:rPr lang="pl-PL" smtClean="0"/>
              <a:t>44</a:t>
            </a:fld>
            <a:endParaRPr lang="pl-PL" dirty="0"/>
          </a:p>
        </p:txBody>
      </p:sp>
    </p:spTree>
    <p:extLst>
      <p:ext uri="{BB962C8B-B14F-4D97-AF65-F5344CB8AC3E}">
        <p14:creationId xmlns:p14="http://schemas.microsoft.com/office/powerpoint/2010/main" val="18374817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6385E67-1574-4B2E-A06D-919A80F02BD7}"/>
              </a:ext>
            </a:extLst>
          </p:cNvPr>
          <p:cNvSpPr>
            <a:spLocks noGrp="1"/>
          </p:cNvSpPr>
          <p:nvPr>
            <p:ph type="title"/>
          </p:nvPr>
        </p:nvSpPr>
        <p:spPr/>
        <p:txBody>
          <a:bodyPr/>
          <a:lstStyle/>
          <a:p>
            <a:r>
              <a:rPr lang="pl-PL" b="1" i="1" dirty="0">
                <a:solidFill>
                  <a:srgbClr val="002060"/>
                </a:solidFill>
              </a:rPr>
              <a:t>LEGAL CONTEXT:   </a:t>
            </a:r>
            <a:r>
              <a:rPr lang="pl-PL" b="1" i="1" dirty="0">
                <a:solidFill>
                  <a:srgbClr val="FF0000"/>
                </a:solidFill>
                <a:effectLst>
                  <a:outerShdw blurRad="38100" dist="38100" dir="2700000" algn="tl">
                    <a:srgbClr val="000000">
                      <a:alpha val="43137"/>
                    </a:srgbClr>
                  </a:outerShdw>
                </a:effectLst>
              </a:rPr>
              <a:t>Directive 2006/123</a:t>
            </a:r>
            <a:endParaRPr lang="pl-PL" dirty="0">
              <a:solidFill>
                <a:srgbClr val="FF000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61983EA6-1885-4D63-9E01-E46BC089ED02}"/>
              </a:ext>
            </a:extLst>
          </p:cNvPr>
          <p:cNvSpPr>
            <a:spLocks noGrp="1"/>
          </p:cNvSpPr>
          <p:nvPr>
            <p:ph idx="1"/>
          </p:nvPr>
        </p:nvSpPr>
        <p:spPr/>
        <p:txBody>
          <a:bodyPr/>
          <a:lstStyle/>
          <a:p>
            <a:r>
              <a:rPr lang="en-US" sz="3600" dirty="0"/>
              <a:t> ‘</a:t>
            </a:r>
            <a:r>
              <a:rPr lang="pl-PL" sz="3600" b="1" u="sng" dirty="0">
                <a:solidFill>
                  <a:srgbClr val="FF0000"/>
                </a:solidFill>
                <a:effectLst>
                  <a:outerShdw blurRad="38100" dist="38100" dir="2700000" algn="tl">
                    <a:srgbClr val="000000">
                      <a:alpha val="43137"/>
                    </a:srgbClr>
                  </a:outerShdw>
                </a:effectLst>
                <a:highlight>
                  <a:srgbClr val="00FF00"/>
                </a:highlight>
              </a:rPr>
              <a:t>T</a:t>
            </a:r>
            <a:r>
              <a:rPr lang="en-US" sz="3600" b="1" u="sng" dirty="0">
                <a:solidFill>
                  <a:srgbClr val="FF0000"/>
                </a:solidFill>
                <a:effectLst>
                  <a:outerShdw blurRad="38100" dist="38100" dir="2700000" algn="tl">
                    <a:srgbClr val="000000">
                      <a:alpha val="43137"/>
                    </a:srgbClr>
                  </a:outerShdw>
                </a:effectLst>
                <a:highlight>
                  <a:srgbClr val="00FF00"/>
                </a:highlight>
              </a:rPr>
              <a:t>ransport services</a:t>
            </a:r>
            <a:r>
              <a:rPr lang="en-US" sz="3600" dirty="0"/>
              <a:t>, including urban </a:t>
            </a:r>
            <a:r>
              <a:rPr lang="en-US" sz="3600" b="1" dirty="0">
                <a:solidFill>
                  <a:srgbClr val="002060"/>
                </a:solidFill>
                <a:effectLst>
                  <a:outerShdw blurRad="38100" dist="38100" dir="2700000" algn="tl">
                    <a:srgbClr val="000000">
                      <a:alpha val="43137"/>
                    </a:srgbClr>
                  </a:outerShdw>
                </a:effectLst>
              </a:rPr>
              <a:t>transport, taxis and ambulances</a:t>
            </a:r>
            <a:r>
              <a:rPr lang="en-US" sz="3600" dirty="0"/>
              <a:t> as well as port services, </a:t>
            </a:r>
            <a:r>
              <a:rPr lang="en-US" sz="3600" b="1" u="sng" dirty="0">
                <a:solidFill>
                  <a:srgbClr val="FF0000"/>
                </a:solidFill>
                <a:effectLst>
                  <a:outerShdw blurRad="38100" dist="38100" dir="2700000" algn="tl">
                    <a:srgbClr val="000000">
                      <a:alpha val="43137"/>
                    </a:srgbClr>
                  </a:outerShdw>
                </a:effectLst>
              </a:rPr>
              <a:t>should be </a:t>
            </a:r>
            <a:r>
              <a:rPr lang="en-US" sz="3600" b="1" u="sng" dirty="0">
                <a:solidFill>
                  <a:srgbClr val="002060"/>
                </a:solidFill>
                <a:effectLst>
                  <a:outerShdw blurRad="38100" dist="38100" dir="2700000" algn="tl">
                    <a:srgbClr val="000000">
                      <a:alpha val="43137"/>
                    </a:srgbClr>
                  </a:outerShdw>
                </a:effectLst>
              </a:rPr>
              <a:t>excluded</a:t>
            </a:r>
            <a:r>
              <a:rPr lang="en-US" sz="3600" b="1" u="sng" dirty="0">
                <a:solidFill>
                  <a:srgbClr val="FF0000"/>
                </a:solidFill>
                <a:effectLst>
                  <a:outerShdw blurRad="38100" dist="38100" dir="2700000" algn="tl">
                    <a:srgbClr val="000000">
                      <a:alpha val="43137"/>
                    </a:srgbClr>
                  </a:outerShdw>
                </a:effectLst>
              </a:rPr>
              <a:t> from the scope of this Directive</a:t>
            </a:r>
            <a:r>
              <a:rPr lang="en-US" sz="3600" u="sng" dirty="0"/>
              <a:t>’</a:t>
            </a:r>
          </a:p>
          <a:p>
            <a:r>
              <a:rPr lang="en-US" sz="3600" b="1" dirty="0">
                <a:solidFill>
                  <a:srgbClr val="FF0000"/>
                </a:solidFill>
                <a:effectLst>
                  <a:outerShdw blurRad="38100" dist="38100" dir="2700000" algn="tl">
                    <a:srgbClr val="000000">
                      <a:alpha val="43137"/>
                    </a:srgbClr>
                  </a:outerShdw>
                </a:effectLst>
              </a:rPr>
              <a:t>Directive does </a:t>
            </a:r>
            <a:r>
              <a:rPr lang="en-US" sz="3600" b="1" dirty="0">
                <a:solidFill>
                  <a:srgbClr val="FF0000"/>
                </a:solidFill>
                <a:effectLst>
                  <a:outerShdw blurRad="38100" dist="38100" dir="2700000" algn="tl">
                    <a:srgbClr val="000000">
                      <a:alpha val="43137"/>
                    </a:srgbClr>
                  </a:outerShdw>
                </a:effectLst>
                <a:highlight>
                  <a:srgbClr val="FFFF00"/>
                </a:highlight>
              </a:rPr>
              <a:t>not apply </a:t>
            </a:r>
            <a:r>
              <a:rPr lang="en-US" sz="3600" dirty="0">
                <a:highlight>
                  <a:srgbClr val="FFFF00"/>
                </a:highlight>
              </a:rPr>
              <a:t>to services in the field of </a:t>
            </a:r>
            <a:r>
              <a:rPr lang="en-US" sz="3600" b="1" dirty="0">
                <a:solidFill>
                  <a:srgbClr val="FF0000"/>
                </a:solidFill>
                <a:effectLst>
                  <a:outerShdw blurRad="38100" dist="38100" dir="2700000" algn="tl">
                    <a:srgbClr val="000000">
                      <a:alpha val="43137"/>
                    </a:srgbClr>
                  </a:outerShdw>
                </a:effectLst>
                <a:highlight>
                  <a:srgbClr val="FFFF00"/>
                </a:highlight>
              </a:rPr>
              <a:t>transport</a:t>
            </a:r>
            <a:r>
              <a:rPr lang="en-US" sz="3600" b="1" dirty="0">
                <a:solidFill>
                  <a:srgbClr val="FF0000"/>
                </a:solidFill>
                <a:effectLst>
                  <a:outerShdw blurRad="38100" dist="38100" dir="2700000" algn="tl">
                    <a:srgbClr val="000000">
                      <a:alpha val="43137"/>
                    </a:srgbClr>
                  </a:outerShdw>
                </a:effectLst>
              </a:rPr>
              <a:t>, </a:t>
            </a:r>
            <a:r>
              <a:rPr lang="en-US" sz="3600" dirty="0"/>
              <a:t>including port services, falling within the scope of [now] </a:t>
            </a:r>
            <a:r>
              <a:rPr lang="en-US" sz="3600" b="1" dirty="0">
                <a:solidFill>
                  <a:srgbClr val="002060"/>
                </a:solidFill>
                <a:effectLst>
                  <a:outerShdw blurRad="38100" dist="38100" dir="2700000" algn="tl">
                    <a:srgbClr val="000000">
                      <a:alpha val="43137"/>
                    </a:srgbClr>
                  </a:outerShdw>
                </a:effectLst>
              </a:rPr>
              <a:t>Title VI </a:t>
            </a:r>
            <a:r>
              <a:rPr lang="en-US" sz="3600" dirty="0"/>
              <a:t>of Part Three of TFEU</a:t>
            </a:r>
          </a:p>
          <a:p>
            <a:pPr marL="0" indent="0">
              <a:buNone/>
            </a:pPr>
            <a:endParaRPr lang="pl-PL" dirty="0"/>
          </a:p>
        </p:txBody>
      </p:sp>
      <p:sp>
        <p:nvSpPr>
          <p:cNvPr id="4" name="Symbol zastępczy numeru slajdu 3">
            <a:extLst>
              <a:ext uri="{FF2B5EF4-FFF2-40B4-BE49-F238E27FC236}">
                <a16:creationId xmlns:a16="http://schemas.microsoft.com/office/drawing/2014/main" id="{DEB28B66-9CFB-4BF1-9F65-8475326AC500}"/>
              </a:ext>
            </a:extLst>
          </p:cNvPr>
          <p:cNvSpPr>
            <a:spLocks noGrp="1"/>
          </p:cNvSpPr>
          <p:nvPr>
            <p:ph type="sldNum" sz="quarter" idx="12"/>
          </p:nvPr>
        </p:nvSpPr>
        <p:spPr/>
        <p:txBody>
          <a:bodyPr/>
          <a:lstStyle/>
          <a:p>
            <a:fld id="{31FE8408-9B39-4718-B64F-54F72D092B1B}" type="slidenum">
              <a:rPr lang="pl-PL" smtClean="0"/>
              <a:t>45</a:t>
            </a:fld>
            <a:endParaRPr lang="pl-PL" dirty="0"/>
          </a:p>
        </p:txBody>
      </p:sp>
    </p:spTree>
    <p:extLst>
      <p:ext uri="{BB962C8B-B14F-4D97-AF65-F5344CB8AC3E}">
        <p14:creationId xmlns:p14="http://schemas.microsoft.com/office/powerpoint/2010/main" val="31225251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244B1BA-6555-4926-9D35-D061D9D8CD46}"/>
              </a:ext>
            </a:extLst>
          </p:cNvPr>
          <p:cNvSpPr>
            <a:spLocks noGrp="1"/>
          </p:cNvSpPr>
          <p:nvPr>
            <p:ph type="title"/>
          </p:nvPr>
        </p:nvSpPr>
        <p:spPr/>
        <p:txBody>
          <a:bodyPr/>
          <a:lstStyle/>
          <a:p>
            <a:r>
              <a:rPr lang="pl-PL" b="1" i="1" dirty="0">
                <a:solidFill>
                  <a:srgbClr val="002060"/>
                </a:solidFill>
              </a:rPr>
              <a:t>LEGAL CONTEXT:   </a:t>
            </a:r>
            <a:r>
              <a:rPr lang="pl-PL" b="1" i="1" dirty="0">
                <a:solidFill>
                  <a:srgbClr val="FF0000"/>
                </a:solidFill>
                <a:effectLst>
                  <a:outerShdw blurRad="38100" dist="38100" dir="2700000" algn="tl">
                    <a:srgbClr val="000000">
                      <a:alpha val="43137"/>
                    </a:srgbClr>
                  </a:outerShdw>
                </a:effectLst>
              </a:rPr>
              <a:t>Directive 2006/123 </a:t>
            </a:r>
            <a:br>
              <a:rPr lang="pl-PL" b="1" i="1" dirty="0">
                <a:solidFill>
                  <a:srgbClr val="FF0000"/>
                </a:solidFill>
                <a:effectLst>
                  <a:outerShdw blurRad="38100" dist="38100" dir="2700000" algn="tl">
                    <a:srgbClr val="000000">
                      <a:alpha val="43137"/>
                    </a:srgbClr>
                  </a:outerShdw>
                </a:effectLst>
              </a:rPr>
            </a:br>
            <a:r>
              <a:rPr lang="pl-PL" b="1" i="1" dirty="0">
                <a:solidFill>
                  <a:srgbClr val="FF0000"/>
                </a:solidFill>
                <a:effectLst>
                  <a:outerShdw blurRad="38100" dist="38100" dir="2700000" algn="tl">
                    <a:srgbClr val="000000">
                      <a:alpha val="43137"/>
                    </a:srgbClr>
                  </a:outerShdw>
                </a:effectLst>
              </a:rPr>
              <a:t>                </a:t>
            </a:r>
            <a:r>
              <a:rPr lang="pl-PL" b="1" i="1" dirty="0">
                <a:solidFill>
                  <a:srgbClr val="FF0000"/>
                </a:solidFill>
                <a:effectLst>
                  <a:outerShdw blurRad="38100" dist="38100" dir="2700000" algn="tl">
                    <a:srgbClr val="000000">
                      <a:alpha val="43137"/>
                    </a:srgbClr>
                  </a:outerShdw>
                </a:effectLst>
                <a:highlight>
                  <a:srgbClr val="00FF00"/>
                </a:highlight>
              </a:rPr>
              <a:t>internal market services</a:t>
            </a:r>
            <a:endParaRPr lang="pl-PL" dirty="0">
              <a:highlight>
                <a:srgbClr val="00FF00"/>
              </a:highlight>
            </a:endParaRPr>
          </a:p>
        </p:txBody>
      </p:sp>
      <p:sp>
        <p:nvSpPr>
          <p:cNvPr id="3" name="Symbol zastępczy zawartości 2">
            <a:extLst>
              <a:ext uri="{FF2B5EF4-FFF2-40B4-BE49-F238E27FC236}">
                <a16:creationId xmlns:a16="http://schemas.microsoft.com/office/drawing/2014/main" id="{7D30A508-4B1F-44FA-9125-10B3662D20BC}"/>
              </a:ext>
            </a:extLst>
          </p:cNvPr>
          <p:cNvSpPr>
            <a:spLocks noGrp="1"/>
          </p:cNvSpPr>
          <p:nvPr>
            <p:ph idx="1"/>
          </p:nvPr>
        </p:nvSpPr>
        <p:spPr>
          <a:xfrm>
            <a:off x="838200" y="1825624"/>
            <a:ext cx="10515600" cy="5032375"/>
          </a:xfrm>
        </p:spPr>
        <p:txBody>
          <a:bodyPr>
            <a:normAutofit/>
          </a:bodyPr>
          <a:lstStyle/>
          <a:p>
            <a:pPr marL="0" indent="0">
              <a:buNone/>
            </a:pPr>
            <a:r>
              <a:rPr lang="pl-PL" sz="3200" dirty="0">
                <a:cs typeface="Times New Roman" panose="02020603050405020304" pitchFamily="18" charset="0"/>
              </a:rPr>
              <a:t>EU </a:t>
            </a:r>
            <a:r>
              <a:rPr lang="en-US" sz="3200" dirty="0">
                <a:cs typeface="Times New Roman" panose="02020603050405020304" pitchFamily="18" charset="0"/>
              </a:rPr>
              <a:t>Member States </a:t>
            </a:r>
            <a:r>
              <a:rPr lang="en-US" sz="3200" b="1" dirty="0">
                <a:solidFill>
                  <a:srgbClr val="002060"/>
                </a:solidFill>
                <a:effectLst>
                  <a:outerShdw blurRad="38100" dist="38100" dir="2700000" algn="tl">
                    <a:srgbClr val="000000">
                      <a:alpha val="43137"/>
                    </a:srgbClr>
                  </a:outerShdw>
                </a:effectLst>
                <a:cs typeface="Times New Roman" panose="02020603050405020304" pitchFamily="18" charset="0"/>
              </a:rPr>
              <a:t>shall </a:t>
            </a:r>
            <a:r>
              <a:rPr lang="pl-PL" sz="3200" b="1" dirty="0">
                <a:solidFill>
                  <a:srgbClr val="FF0000"/>
                </a:solidFill>
                <a:effectLst>
                  <a:outerShdw blurRad="38100" dist="38100" dir="2700000" algn="tl">
                    <a:srgbClr val="000000">
                      <a:alpha val="43137"/>
                    </a:srgbClr>
                  </a:outerShdw>
                </a:effectLst>
                <a:highlight>
                  <a:srgbClr val="FFFF00"/>
                </a:highlight>
                <a:cs typeface="Times New Roman" panose="02020603050405020304" pitchFamily="18" charset="0"/>
              </a:rPr>
              <a:t>NOT</a:t>
            </a:r>
            <a:r>
              <a:rPr lang="en-US" sz="3200" b="1" dirty="0">
                <a:solidFill>
                  <a:srgbClr val="FF0000"/>
                </a:solidFill>
                <a:effectLst>
                  <a:outerShdw blurRad="38100" dist="38100" dir="2700000" algn="tl">
                    <a:srgbClr val="000000">
                      <a:alpha val="43137"/>
                    </a:srgbClr>
                  </a:outerShdw>
                </a:effectLst>
                <a:cs typeface="Times New Roman" panose="02020603050405020304" pitchFamily="18" charset="0"/>
              </a:rPr>
              <a:t> </a:t>
            </a:r>
            <a:r>
              <a:rPr lang="en-US" sz="3200" b="1" dirty="0">
                <a:solidFill>
                  <a:srgbClr val="002060"/>
                </a:solidFill>
                <a:effectLst>
                  <a:outerShdw blurRad="38100" dist="38100" dir="2700000" algn="tl">
                    <a:srgbClr val="000000">
                      <a:alpha val="43137"/>
                    </a:srgbClr>
                  </a:outerShdw>
                </a:effectLst>
                <a:cs typeface="Times New Roman" panose="02020603050405020304" pitchFamily="18" charset="0"/>
              </a:rPr>
              <a:t>make access to a service activity </a:t>
            </a:r>
            <a:r>
              <a:rPr lang="en-US" sz="3200" dirty="0">
                <a:cs typeface="Times New Roman" panose="02020603050405020304" pitchFamily="18" charset="0"/>
              </a:rPr>
              <a:t>or the </a:t>
            </a:r>
            <a:r>
              <a:rPr lang="en-US" sz="3200" b="1" dirty="0">
                <a:solidFill>
                  <a:srgbClr val="002060"/>
                </a:solidFill>
                <a:effectLst>
                  <a:outerShdw blurRad="38100" dist="38100" dir="2700000" algn="tl">
                    <a:srgbClr val="000000">
                      <a:alpha val="43137"/>
                    </a:srgbClr>
                  </a:outerShdw>
                </a:effectLst>
                <a:cs typeface="Times New Roman" panose="02020603050405020304" pitchFamily="18" charset="0"/>
              </a:rPr>
              <a:t>exercise thereof </a:t>
            </a:r>
            <a:r>
              <a:rPr lang="en-US" sz="3200" dirty="0">
                <a:solidFill>
                  <a:srgbClr val="FF0000"/>
                </a:solidFill>
                <a:effectLst>
                  <a:outerShdw blurRad="38100" dist="38100" dir="2700000" algn="tl">
                    <a:srgbClr val="000000">
                      <a:alpha val="43137"/>
                    </a:srgbClr>
                  </a:outerShdw>
                </a:effectLst>
                <a:cs typeface="Times New Roman" panose="02020603050405020304" pitchFamily="18" charset="0"/>
              </a:rPr>
              <a:t>subject to an </a:t>
            </a:r>
            <a:r>
              <a:rPr lang="en-US" sz="3200" u="sng" dirty="0">
                <a:solidFill>
                  <a:srgbClr val="FF0000"/>
                </a:solidFill>
                <a:effectLst>
                  <a:outerShdw blurRad="38100" dist="38100" dir="2700000" algn="tl">
                    <a:srgbClr val="000000">
                      <a:alpha val="43137"/>
                    </a:srgbClr>
                  </a:outerShdw>
                </a:effectLst>
                <a:highlight>
                  <a:srgbClr val="00FF00"/>
                </a:highlight>
                <a:cs typeface="Times New Roman" panose="02020603050405020304" pitchFamily="18" charset="0"/>
              </a:rPr>
              <a:t>authorisation</a:t>
            </a:r>
            <a:r>
              <a:rPr lang="en-US" sz="3200" dirty="0">
                <a:solidFill>
                  <a:srgbClr val="FF0000"/>
                </a:solidFill>
                <a:effectLst>
                  <a:outerShdw blurRad="38100" dist="38100" dir="2700000" algn="tl">
                    <a:srgbClr val="000000">
                      <a:alpha val="43137"/>
                    </a:srgbClr>
                  </a:outerShdw>
                </a:effectLst>
                <a:highlight>
                  <a:srgbClr val="FFFF00"/>
                </a:highlight>
                <a:cs typeface="Times New Roman" panose="02020603050405020304" pitchFamily="18" charset="0"/>
              </a:rPr>
              <a:t> </a:t>
            </a:r>
            <a:r>
              <a:rPr lang="en-US" sz="3200" dirty="0">
                <a:effectLst>
                  <a:outerShdw blurRad="38100" dist="38100" dir="2700000" algn="tl">
                    <a:srgbClr val="000000">
                      <a:alpha val="43137"/>
                    </a:srgbClr>
                  </a:outerShdw>
                </a:effectLst>
                <a:cs typeface="Times New Roman" panose="02020603050405020304" pitchFamily="18" charset="0"/>
              </a:rPr>
              <a:t>scheme</a:t>
            </a:r>
            <a:r>
              <a:rPr lang="pl-PL" sz="3200" dirty="0">
                <a:effectLst>
                  <a:outerShdw blurRad="38100" dist="38100" dir="2700000" algn="tl">
                    <a:srgbClr val="000000">
                      <a:alpha val="43137"/>
                    </a:srgbClr>
                  </a:outerShdw>
                </a:effectLst>
                <a:cs typeface="Times New Roman" panose="02020603050405020304" pitchFamily="18" charset="0"/>
              </a:rPr>
              <a:t> (permission) </a:t>
            </a:r>
            <a:r>
              <a:rPr lang="en-US" sz="3200" dirty="0">
                <a:effectLst>
                  <a:outerShdw blurRad="38100" dist="38100" dir="2700000" algn="tl">
                    <a:srgbClr val="000000">
                      <a:alpha val="43137"/>
                    </a:srgbClr>
                  </a:outerShdw>
                </a:effectLst>
                <a:cs typeface="Times New Roman" panose="02020603050405020304" pitchFamily="18" charset="0"/>
              </a:rPr>
              <a:t> </a:t>
            </a:r>
            <a:endParaRPr lang="pl-PL" sz="3200" b="1" dirty="0">
              <a:solidFill>
                <a:srgbClr val="FF0000"/>
              </a:solidFill>
              <a:effectLst>
                <a:outerShdw blurRad="38100" dist="38100" dir="2700000" algn="tl">
                  <a:srgbClr val="000000">
                    <a:alpha val="43137"/>
                  </a:srgbClr>
                </a:outerShdw>
              </a:effectLst>
              <a:cs typeface="Times New Roman" panose="02020603050405020304" pitchFamily="18" charset="0"/>
            </a:endParaRPr>
          </a:p>
          <a:p>
            <a:pPr marL="0" indent="0">
              <a:buNone/>
            </a:pPr>
            <a:r>
              <a:rPr lang="pl-PL" sz="2000" b="1" dirty="0">
                <a:solidFill>
                  <a:srgbClr val="FF0000"/>
                </a:solidFill>
                <a:effectLst>
                  <a:outerShdw blurRad="38100" dist="38100" dir="2700000" algn="tl">
                    <a:srgbClr val="000000">
                      <a:alpha val="43137"/>
                    </a:srgbClr>
                  </a:outerShdw>
                </a:effectLst>
                <a:cs typeface="Times New Roman" panose="02020603050405020304" pitchFamily="18" charset="0"/>
              </a:rPr>
              <a:t>Exceptions:</a:t>
            </a:r>
            <a:endParaRPr lang="en-US" sz="2000" dirty="0">
              <a:solidFill>
                <a:srgbClr val="002060"/>
              </a:solidFill>
              <a:cs typeface="Times New Roman" panose="02020603050405020304" pitchFamily="18" charset="0"/>
            </a:endParaRPr>
          </a:p>
          <a:p>
            <a:r>
              <a:rPr lang="en-US" sz="2000" dirty="0">
                <a:cs typeface="Times New Roman" panose="02020603050405020304" pitchFamily="18" charset="0"/>
              </a:rPr>
              <a:t>(a)      the authorisation scheme does </a:t>
            </a:r>
            <a:r>
              <a:rPr lang="en-US" sz="2000" b="1" dirty="0">
                <a:solidFill>
                  <a:srgbClr val="FF0000"/>
                </a:solidFill>
                <a:effectLst>
                  <a:outerShdw blurRad="38100" dist="38100" dir="2700000" algn="tl">
                    <a:srgbClr val="000000">
                      <a:alpha val="43137"/>
                    </a:srgbClr>
                  </a:outerShdw>
                </a:effectLst>
                <a:cs typeface="Times New Roman" panose="02020603050405020304" pitchFamily="18" charset="0"/>
              </a:rPr>
              <a:t>not discriminate </a:t>
            </a:r>
            <a:r>
              <a:rPr lang="en-US" sz="2000" dirty="0">
                <a:cs typeface="Times New Roman" panose="02020603050405020304" pitchFamily="18" charset="0"/>
              </a:rPr>
              <a:t>against the provider in question;</a:t>
            </a:r>
          </a:p>
          <a:p>
            <a:r>
              <a:rPr lang="en-US" sz="2000" dirty="0">
                <a:cs typeface="Times New Roman" panose="02020603050405020304" pitchFamily="18" charset="0"/>
              </a:rPr>
              <a:t>(b)      the </a:t>
            </a:r>
            <a:r>
              <a:rPr lang="en-US" sz="2000" b="1" dirty="0">
                <a:solidFill>
                  <a:srgbClr val="002060"/>
                </a:solidFill>
                <a:effectLst>
                  <a:outerShdw blurRad="38100" dist="38100" dir="2700000" algn="tl">
                    <a:srgbClr val="000000">
                      <a:alpha val="43137"/>
                    </a:srgbClr>
                  </a:outerShdw>
                </a:effectLst>
                <a:cs typeface="Times New Roman" panose="02020603050405020304" pitchFamily="18" charset="0"/>
              </a:rPr>
              <a:t>need for an authorisation </a:t>
            </a:r>
            <a:r>
              <a:rPr lang="en-US" sz="2000" dirty="0">
                <a:cs typeface="Times New Roman" panose="02020603050405020304" pitchFamily="18" charset="0"/>
              </a:rPr>
              <a:t>scheme is justified by an </a:t>
            </a:r>
            <a:r>
              <a:rPr lang="en-US" sz="2000" b="1" dirty="0">
                <a:solidFill>
                  <a:srgbClr val="FF0000"/>
                </a:solidFill>
                <a:effectLst>
                  <a:outerShdw blurRad="38100" dist="38100" dir="2700000" algn="tl">
                    <a:srgbClr val="000000">
                      <a:alpha val="43137"/>
                    </a:srgbClr>
                  </a:outerShdw>
                </a:effectLst>
                <a:cs typeface="Times New Roman" panose="02020603050405020304" pitchFamily="18" charset="0"/>
              </a:rPr>
              <a:t>overriding reason </a:t>
            </a:r>
            <a:r>
              <a:rPr lang="en-US" sz="2000" b="1" dirty="0">
                <a:solidFill>
                  <a:srgbClr val="002060"/>
                </a:solidFill>
                <a:effectLst>
                  <a:outerShdw blurRad="38100" dist="38100" dir="2700000" algn="tl">
                    <a:srgbClr val="000000">
                      <a:alpha val="43137"/>
                    </a:srgbClr>
                  </a:outerShdw>
                </a:effectLst>
                <a:cs typeface="Times New Roman" panose="02020603050405020304" pitchFamily="18" charset="0"/>
              </a:rPr>
              <a:t>relating to the </a:t>
            </a:r>
            <a:r>
              <a:rPr lang="en-US" sz="2000" b="1" dirty="0">
                <a:solidFill>
                  <a:srgbClr val="FF0000"/>
                </a:solidFill>
                <a:effectLst>
                  <a:outerShdw blurRad="38100" dist="38100" dir="2700000" algn="tl">
                    <a:srgbClr val="000000">
                      <a:alpha val="43137"/>
                    </a:srgbClr>
                  </a:outerShdw>
                </a:effectLst>
                <a:cs typeface="Times New Roman" panose="02020603050405020304" pitchFamily="18" charset="0"/>
              </a:rPr>
              <a:t>public interest</a:t>
            </a:r>
            <a:r>
              <a:rPr lang="en-US" sz="2000" dirty="0">
                <a:cs typeface="Times New Roman" panose="02020603050405020304" pitchFamily="18" charset="0"/>
              </a:rPr>
              <a:t>;</a:t>
            </a:r>
          </a:p>
          <a:p>
            <a:r>
              <a:rPr lang="en-US" sz="2000" dirty="0">
                <a:cs typeface="Times New Roman" panose="02020603050405020304" pitchFamily="18" charset="0"/>
              </a:rPr>
              <a:t>(c)      the </a:t>
            </a:r>
            <a:r>
              <a:rPr lang="en-US" sz="2000" b="1" dirty="0">
                <a:solidFill>
                  <a:srgbClr val="002060"/>
                </a:solidFill>
                <a:effectLst>
                  <a:outerShdw blurRad="38100" dist="38100" dir="2700000" algn="tl">
                    <a:srgbClr val="000000">
                      <a:alpha val="43137"/>
                    </a:srgbClr>
                  </a:outerShdw>
                </a:effectLst>
                <a:cs typeface="Times New Roman" panose="02020603050405020304" pitchFamily="18" charset="0"/>
              </a:rPr>
              <a:t>objective pursued cannot be attained </a:t>
            </a:r>
            <a:r>
              <a:rPr lang="en-US" sz="2000" dirty="0">
                <a:cs typeface="Times New Roman" panose="02020603050405020304" pitchFamily="18" charset="0"/>
              </a:rPr>
              <a:t>by means of a</a:t>
            </a:r>
            <a:r>
              <a:rPr lang="en-US" sz="2000" b="1" dirty="0">
                <a:solidFill>
                  <a:srgbClr val="002060"/>
                </a:solidFill>
                <a:effectLst>
                  <a:outerShdw blurRad="38100" dist="38100" dir="2700000" algn="tl">
                    <a:srgbClr val="000000">
                      <a:alpha val="43137"/>
                    </a:srgbClr>
                  </a:outerShdw>
                </a:effectLst>
                <a:cs typeface="Times New Roman" panose="02020603050405020304" pitchFamily="18" charset="0"/>
              </a:rPr>
              <a:t> less restrictive measure</a:t>
            </a:r>
            <a:r>
              <a:rPr lang="en-US" sz="2000" dirty="0">
                <a:cs typeface="Times New Roman" panose="02020603050405020304" pitchFamily="18" charset="0"/>
              </a:rPr>
              <a:t>, in particular because an </a:t>
            </a:r>
            <a:r>
              <a:rPr lang="en-US" sz="2000" b="1" dirty="0">
                <a:solidFill>
                  <a:srgbClr val="002060"/>
                </a:solidFill>
                <a:effectLst>
                  <a:outerShdw blurRad="38100" dist="38100" dir="2700000" algn="tl">
                    <a:srgbClr val="000000">
                      <a:alpha val="43137"/>
                    </a:srgbClr>
                  </a:outerShdw>
                </a:effectLst>
                <a:cs typeface="Times New Roman" panose="02020603050405020304" pitchFamily="18" charset="0"/>
              </a:rPr>
              <a:t>a posteriori inspection </a:t>
            </a:r>
            <a:r>
              <a:rPr lang="en-US" sz="2000" dirty="0">
                <a:cs typeface="Times New Roman" panose="02020603050405020304" pitchFamily="18" charset="0"/>
              </a:rPr>
              <a:t>would take place too late to be genuinely effective.’</a:t>
            </a:r>
            <a:endParaRPr lang="pl-PL" sz="2000" dirty="0">
              <a:cs typeface="Times New Roman" panose="02020603050405020304" pitchFamily="18" charset="0"/>
            </a:endParaRPr>
          </a:p>
          <a:p>
            <a:endParaRPr lang="en-US" dirty="0"/>
          </a:p>
          <a:p>
            <a:pPr marL="0" indent="0">
              <a:buNone/>
            </a:pPr>
            <a:endParaRPr lang="pl-PL" dirty="0"/>
          </a:p>
        </p:txBody>
      </p:sp>
      <p:sp>
        <p:nvSpPr>
          <p:cNvPr id="4" name="Symbol zastępczy numeru slajdu 3">
            <a:extLst>
              <a:ext uri="{FF2B5EF4-FFF2-40B4-BE49-F238E27FC236}">
                <a16:creationId xmlns:a16="http://schemas.microsoft.com/office/drawing/2014/main" id="{D8A060C9-D12F-4A91-9CC5-411282A130CC}"/>
              </a:ext>
            </a:extLst>
          </p:cNvPr>
          <p:cNvSpPr>
            <a:spLocks noGrp="1"/>
          </p:cNvSpPr>
          <p:nvPr>
            <p:ph type="sldNum" sz="quarter" idx="12"/>
          </p:nvPr>
        </p:nvSpPr>
        <p:spPr/>
        <p:txBody>
          <a:bodyPr/>
          <a:lstStyle/>
          <a:p>
            <a:fld id="{31FE8408-9B39-4718-B64F-54F72D092B1B}" type="slidenum">
              <a:rPr lang="pl-PL" smtClean="0"/>
              <a:t>46</a:t>
            </a:fld>
            <a:endParaRPr lang="pl-PL" dirty="0"/>
          </a:p>
        </p:txBody>
      </p:sp>
    </p:spTree>
    <p:extLst>
      <p:ext uri="{BB962C8B-B14F-4D97-AF65-F5344CB8AC3E}">
        <p14:creationId xmlns:p14="http://schemas.microsoft.com/office/powerpoint/2010/main" val="124649927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AFC3DB47-7E07-4660-832D-58F8B2600028}"/>
              </a:ext>
            </a:extLst>
          </p:cNvPr>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highlight>
                  <a:srgbClr val="00FF00"/>
                </a:highlight>
              </a:rPr>
              <a:t>SPANISH LAW</a:t>
            </a:r>
            <a:endParaRPr lang="pl-PL" b="1" dirty="0">
              <a:solidFill>
                <a:srgbClr val="FF0000"/>
              </a:solidFill>
              <a:highlight>
                <a:srgbClr val="00FF00"/>
              </a:highlight>
            </a:endParaRPr>
          </a:p>
        </p:txBody>
      </p:sp>
      <p:sp>
        <p:nvSpPr>
          <p:cNvPr id="3" name="Symbol zastępczy zawartości 2">
            <a:extLst>
              <a:ext uri="{FF2B5EF4-FFF2-40B4-BE49-F238E27FC236}">
                <a16:creationId xmlns:a16="http://schemas.microsoft.com/office/drawing/2014/main" id="{F7D09D5C-0F9C-4E50-8E3B-03BE5384FCA0}"/>
              </a:ext>
            </a:extLst>
          </p:cNvPr>
          <p:cNvSpPr>
            <a:spLocks noGrp="1"/>
          </p:cNvSpPr>
          <p:nvPr>
            <p:ph idx="1"/>
          </p:nvPr>
        </p:nvSpPr>
        <p:spPr>
          <a:xfrm>
            <a:off x="583676" y="1635710"/>
            <a:ext cx="10515600" cy="5222290"/>
          </a:xfrm>
        </p:spPr>
        <p:txBody>
          <a:bodyPr>
            <a:normAutofit/>
          </a:bodyPr>
          <a:lstStyle/>
          <a:p>
            <a:pPr marL="0" indent="0">
              <a:buNone/>
            </a:pPr>
            <a:r>
              <a:rPr lang="en-US" dirty="0"/>
              <a:t>Art. 4 of the </a:t>
            </a:r>
            <a:r>
              <a:rPr lang="en-US" b="1" dirty="0">
                <a:solidFill>
                  <a:srgbClr val="002060"/>
                </a:solidFill>
                <a:effectLst>
                  <a:outerShdw blurRad="38100" dist="38100" dir="2700000" algn="tl">
                    <a:srgbClr val="000000">
                      <a:alpha val="43137"/>
                    </a:srgbClr>
                  </a:outerShdw>
                </a:effectLst>
              </a:rPr>
              <a:t>Law</a:t>
            </a:r>
            <a:r>
              <a:rPr lang="en-US" dirty="0"/>
              <a:t>:</a:t>
            </a:r>
          </a:p>
          <a:p>
            <a:pPr marL="0" indent="0">
              <a:buNone/>
            </a:pPr>
            <a:r>
              <a:rPr lang="en-US" sz="3200" dirty="0"/>
              <a:t>‘1.      The provision of urban </a:t>
            </a:r>
            <a:r>
              <a:rPr lang="en-US" sz="3200" b="1" u="sng" dirty="0">
                <a:solidFill>
                  <a:srgbClr val="FF0000"/>
                </a:solidFill>
                <a:effectLst>
                  <a:outerShdw blurRad="38100" dist="38100" dir="2700000" algn="tl">
                    <a:srgbClr val="000000">
                      <a:alpha val="43137"/>
                    </a:srgbClr>
                  </a:outerShdw>
                </a:effectLst>
              </a:rPr>
              <a:t>taxi services </a:t>
            </a:r>
            <a:r>
              <a:rPr lang="en-US" sz="3200" dirty="0"/>
              <a:t>is subject to the prior grant of a </a:t>
            </a:r>
            <a:r>
              <a:rPr lang="en-US" sz="3200" b="1" dirty="0">
                <a:solidFill>
                  <a:srgbClr val="FF0000"/>
                </a:solidFill>
                <a:effectLst>
                  <a:outerShdw blurRad="38100" dist="38100" dir="2700000" algn="tl">
                    <a:srgbClr val="000000">
                      <a:alpha val="43137"/>
                    </a:srgbClr>
                  </a:outerShdw>
                </a:effectLst>
                <a:highlight>
                  <a:srgbClr val="00FF00"/>
                </a:highlight>
              </a:rPr>
              <a:t>licen</a:t>
            </a:r>
            <a:r>
              <a:rPr lang="pl-PL" sz="3200" b="1" dirty="0">
                <a:solidFill>
                  <a:srgbClr val="FF0000"/>
                </a:solidFill>
                <a:effectLst>
                  <a:outerShdw blurRad="38100" dist="38100" dir="2700000" algn="tl">
                    <a:srgbClr val="000000">
                      <a:alpha val="43137"/>
                    </a:srgbClr>
                  </a:outerShdw>
                </a:effectLst>
                <a:highlight>
                  <a:srgbClr val="00FF00"/>
                </a:highlight>
              </a:rPr>
              <a:t>s</a:t>
            </a:r>
            <a:r>
              <a:rPr lang="en-US" sz="3200" b="1" dirty="0">
                <a:solidFill>
                  <a:srgbClr val="FF0000"/>
                </a:solidFill>
                <a:effectLst>
                  <a:outerShdw blurRad="38100" dist="38100" dir="2700000" algn="tl">
                    <a:srgbClr val="000000">
                      <a:alpha val="43137"/>
                    </a:srgbClr>
                  </a:outerShdw>
                </a:effectLst>
                <a:highlight>
                  <a:srgbClr val="00FF00"/>
                </a:highlight>
              </a:rPr>
              <a:t>e</a:t>
            </a:r>
            <a:r>
              <a:rPr lang="en-US" sz="3200" b="1" dirty="0">
                <a:solidFill>
                  <a:srgbClr val="FF0000"/>
                </a:solidFill>
                <a:effectLst>
                  <a:outerShdw blurRad="38100" dist="38100" dir="2700000" algn="tl">
                    <a:srgbClr val="000000">
                      <a:alpha val="43137"/>
                    </a:srgbClr>
                  </a:outerShdw>
                </a:effectLst>
              </a:rPr>
              <a:t> </a:t>
            </a:r>
            <a:r>
              <a:rPr lang="en-US" sz="3200" dirty="0"/>
              <a:t>entitling the licence holder for each vehicle intended to carry out that activity</a:t>
            </a:r>
          </a:p>
          <a:p>
            <a:pPr marL="0" indent="0">
              <a:buNone/>
            </a:pPr>
            <a:r>
              <a:rPr lang="en-US" sz="3200" dirty="0"/>
              <a:t>2.      Licences for the provision of urban taxi services are issued by the </a:t>
            </a:r>
            <a:r>
              <a:rPr lang="en-US" sz="3200" b="1" dirty="0">
                <a:solidFill>
                  <a:srgbClr val="FF0000"/>
                </a:solidFill>
                <a:effectLst>
                  <a:outerShdw blurRad="38100" dist="38100" dir="2700000" algn="tl">
                    <a:srgbClr val="000000">
                      <a:alpha val="43137"/>
                    </a:srgbClr>
                  </a:outerShdw>
                </a:effectLst>
              </a:rPr>
              <a:t>town halls or local authorities </a:t>
            </a:r>
            <a:r>
              <a:rPr lang="en-US" sz="3200" dirty="0"/>
              <a:t>in the territory where the activity shall be carried out</a:t>
            </a:r>
          </a:p>
          <a:p>
            <a:pPr marL="0" indent="0">
              <a:buNone/>
            </a:pPr>
            <a:r>
              <a:rPr lang="en-US" sz="3200" dirty="0"/>
              <a:t>3.      The provision of </a:t>
            </a:r>
            <a:r>
              <a:rPr lang="en-US" sz="3200" b="1" dirty="0">
                <a:solidFill>
                  <a:srgbClr val="FF0000"/>
                </a:solidFill>
                <a:effectLst>
                  <a:outerShdw blurRad="38100" dist="38100" dir="2700000" algn="tl">
                    <a:srgbClr val="000000">
                      <a:alpha val="43137"/>
                    </a:srgbClr>
                  </a:outerShdw>
                </a:effectLst>
              </a:rPr>
              <a:t>interurban taxi services </a:t>
            </a:r>
            <a:r>
              <a:rPr lang="en-US" sz="3200" dirty="0"/>
              <a:t>is subject to the prior grant of the corresponding authorisation issued by </a:t>
            </a:r>
            <a:r>
              <a:rPr lang="en-US" sz="3200" b="1" dirty="0">
                <a:solidFill>
                  <a:srgbClr val="FF0000"/>
                </a:solidFill>
                <a:effectLst>
                  <a:outerShdw blurRad="38100" dist="38100" dir="2700000" algn="tl">
                    <a:srgbClr val="000000">
                      <a:alpha val="43137"/>
                    </a:srgbClr>
                  </a:outerShdw>
                </a:effectLst>
              </a:rPr>
              <a:t>the ministry </a:t>
            </a:r>
            <a:r>
              <a:rPr lang="en-US" sz="3200" dirty="0"/>
              <a:t>of transport of the </a:t>
            </a:r>
            <a:r>
              <a:rPr lang="en-US" sz="3200" b="1" dirty="0">
                <a:solidFill>
                  <a:srgbClr val="002060"/>
                </a:solidFill>
                <a:effectLst>
                  <a:outerShdw blurRad="38100" dist="38100" dir="2700000" algn="tl">
                    <a:srgbClr val="000000">
                      <a:alpha val="43137"/>
                    </a:srgbClr>
                  </a:outerShdw>
                </a:effectLst>
              </a:rPr>
              <a:t>regional government</a:t>
            </a:r>
            <a:r>
              <a:rPr lang="en-US" sz="3200" dirty="0"/>
              <a:t>’</a:t>
            </a:r>
          </a:p>
          <a:p>
            <a:pPr marL="0" indent="0">
              <a:buNone/>
            </a:pPr>
            <a:endParaRPr lang="pl-PL" dirty="0"/>
          </a:p>
        </p:txBody>
      </p:sp>
      <p:sp>
        <p:nvSpPr>
          <p:cNvPr id="4" name="Symbol zastępczy numeru slajdu 3">
            <a:extLst>
              <a:ext uri="{FF2B5EF4-FFF2-40B4-BE49-F238E27FC236}">
                <a16:creationId xmlns:a16="http://schemas.microsoft.com/office/drawing/2014/main" id="{218C8D30-ED0C-4F26-87BE-7B4CF4095535}"/>
              </a:ext>
            </a:extLst>
          </p:cNvPr>
          <p:cNvSpPr>
            <a:spLocks noGrp="1"/>
          </p:cNvSpPr>
          <p:nvPr>
            <p:ph type="sldNum" sz="quarter" idx="12"/>
          </p:nvPr>
        </p:nvSpPr>
        <p:spPr/>
        <p:txBody>
          <a:bodyPr/>
          <a:lstStyle/>
          <a:p>
            <a:fld id="{31FE8408-9B39-4718-B64F-54F72D092B1B}" type="slidenum">
              <a:rPr lang="pl-PL" smtClean="0"/>
              <a:t>47</a:t>
            </a:fld>
            <a:endParaRPr lang="pl-PL" dirty="0"/>
          </a:p>
        </p:txBody>
      </p:sp>
    </p:spTree>
    <p:extLst>
      <p:ext uri="{BB962C8B-B14F-4D97-AF65-F5344CB8AC3E}">
        <p14:creationId xmlns:p14="http://schemas.microsoft.com/office/powerpoint/2010/main" val="28535038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F9276A6-710C-4B72-BE26-D975F770C3C4}"/>
              </a:ext>
            </a:extLst>
          </p:cNvPr>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rPr>
              <a:t>The dispute and the preliminary question</a:t>
            </a:r>
            <a:endParaRPr lang="en-US" b="1" dirty="0">
              <a:solidFill>
                <a:srgbClr val="FF0000"/>
              </a:solidFill>
            </a:endParaRPr>
          </a:p>
        </p:txBody>
      </p:sp>
      <p:sp>
        <p:nvSpPr>
          <p:cNvPr id="3" name="Symbol zastępczy zawartości 2">
            <a:extLst>
              <a:ext uri="{FF2B5EF4-FFF2-40B4-BE49-F238E27FC236}">
                <a16:creationId xmlns:a16="http://schemas.microsoft.com/office/drawing/2014/main" id="{7B3E46CA-FD9D-4DC0-9568-A80315F13C77}"/>
              </a:ext>
            </a:extLst>
          </p:cNvPr>
          <p:cNvSpPr>
            <a:spLocks noGrp="1"/>
          </p:cNvSpPr>
          <p:nvPr>
            <p:ph idx="1"/>
          </p:nvPr>
        </p:nvSpPr>
        <p:spPr>
          <a:xfrm>
            <a:off x="838200" y="1825624"/>
            <a:ext cx="10515600" cy="5032376"/>
          </a:xfrm>
        </p:spPr>
        <p:txBody>
          <a:bodyPr>
            <a:normAutofit/>
          </a:bodyPr>
          <a:lstStyle/>
          <a:p>
            <a:r>
              <a:rPr lang="en-US" b="1" dirty="0"/>
              <a:t>On 29 October 2014, </a:t>
            </a:r>
            <a:r>
              <a:rPr lang="en-US" b="1" dirty="0">
                <a:solidFill>
                  <a:srgbClr val="FF0000"/>
                </a:solidFill>
                <a:effectLst>
                  <a:outerShdw blurRad="38100" dist="38100" dir="2700000" algn="tl">
                    <a:srgbClr val="000000">
                      <a:alpha val="43137"/>
                    </a:srgbClr>
                  </a:outerShdw>
                </a:effectLst>
                <a:highlight>
                  <a:srgbClr val="00FF00"/>
                </a:highlight>
              </a:rPr>
              <a:t>Elite Taxi brought an action before </a:t>
            </a:r>
            <a:r>
              <a:rPr lang="pl-PL" b="1" dirty="0">
                <a:solidFill>
                  <a:srgbClr val="FF0000"/>
                </a:solidFill>
                <a:effectLst>
                  <a:outerShdw blurRad="38100" dist="38100" dir="2700000" algn="tl">
                    <a:srgbClr val="000000">
                      <a:alpha val="43137"/>
                    </a:srgbClr>
                  </a:outerShdw>
                </a:effectLst>
                <a:highlight>
                  <a:srgbClr val="00FF00"/>
                </a:highlight>
              </a:rPr>
              <a:t>the </a:t>
            </a:r>
            <a:r>
              <a:rPr lang="en-US" b="1" dirty="0">
                <a:solidFill>
                  <a:srgbClr val="FF0000"/>
                </a:solidFill>
                <a:effectLst>
                  <a:outerShdw blurRad="38100" dist="38100" dir="2700000" algn="tl">
                    <a:srgbClr val="000000">
                      <a:alpha val="43137"/>
                    </a:srgbClr>
                  </a:outerShdw>
                </a:effectLst>
                <a:highlight>
                  <a:srgbClr val="00FF00"/>
                </a:highlight>
              </a:rPr>
              <a:t>Commercial Court</a:t>
            </a:r>
            <a:r>
              <a:rPr lang="en-US" dirty="0">
                <a:solidFill>
                  <a:srgbClr val="FF0000"/>
                </a:solidFill>
                <a:highlight>
                  <a:srgbClr val="00FF00"/>
                </a:highlight>
              </a:rPr>
              <a:t> </a:t>
            </a:r>
            <a:r>
              <a:rPr lang="en-US" dirty="0"/>
              <a:t>No 3, Barcelona</a:t>
            </a:r>
          </a:p>
          <a:p>
            <a:r>
              <a:rPr lang="en-US" b="1" dirty="0">
                <a:solidFill>
                  <a:srgbClr val="002060"/>
                </a:solidFill>
                <a:effectLst>
                  <a:outerShdw blurRad="38100" dist="38100" dir="2700000" algn="tl">
                    <a:srgbClr val="000000">
                      <a:alpha val="43137"/>
                    </a:srgbClr>
                  </a:outerShdw>
                </a:effectLst>
              </a:rPr>
              <a:t>Elite Taxi sought </a:t>
            </a:r>
            <a:r>
              <a:rPr lang="en-US" dirty="0"/>
              <a:t>a declaration from that court that the activities of Uber Systems Spain infringe the legislation in force and amount to </a:t>
            </a:r>
            <a:r>
              <a:rPr lang="en-US" b="1" dirty="0">
                <a:solidFill>
                  <a:srgbClr val="FF0000"/>
                </a:solidFill>
                <a:effectLst>
                  <a:outerShdw blurRad="38100" dist="38100" dir="2700000" algn="tl">
                    <a:srgbClr val="000000">
                      <a:alpha val="43137"/>
                    </a:srgbClr>
                  </a:outerShdw>
                </a:effectLst>
                <a:highlight>
                  <a:srgbClr val="00FFFF"/>
                </a:highlight>
                <a:latin typeface="Amasis MT Pro Black" panose="02040A04050005020304" pitchFamily="18" charset="-18"/>
              </a:rPr>
              <a:t>misleading practices </a:t>
            </a:r>
            <a:r>
              <a:rPr lang="en-US" b="1" dirty="0">
                <a:solidFill>
                  <a:srgbClr val="FF0000"/>
                </a:solidFill>
                <a:effectLst>
                  <a:outerShdw blurRad="38100" dist="38100" dir="2700000" algn="tl">
                    <a:srgbClr val="000000">
                      <a:alpha val="43137"/>
                    </a:srgbClr>
                  </a:outerShdw>
                </a:effectLst>
                <a:highlight>
                  <a:srgbClr val="FFFF00"/>
                </a:highlight>
                <a:latin typeface="Amasis MT Pro Black" panose="02040A04050005020304" pitchFamily="18" charset="-18"/>
              </a:rPr>
              <a:t>and acts of </a:t>
            </a:r>
            <a:r>
              <a:rPr lang="en-US" b="1" dirty="0">
                <a:solidFill>
                  <a:srgbClr val="FF0000"/>
                </a:solidFill>
                <a:effectLst>
                  <a:outerShdw blurRad="38100" dist="38100" dir="2700000" algn="tl">
                    <a:srgbClr val="000000">
                      <a:alpha val="43137"/>
                    </a:srgbClr>
                  </a:outerShdw>
                </a:effectLst>
                <a:highlight>
                  <a:srgbClr val="00FFFF"/>
                </a:highlight>
                <a:latin typeface="Amasis MT Pro Black" panose="02040A04050005020304" pitchFamily="18" charset="-18"/>
              </a:rPr>
              <a:t>unfair competition </a:t>
            </a:r>
          </a:p>
          <a:p>
            <a:r>
              <a:rPr lang="en-US" dirty="0"/>
              <a:t>Uber Systems Spain should be </a:t>
            </a:r>
            <a:r>
              <a:rPr lang="en-US" b="1" dirty="0">
                <a:solidFill>
                  <a:srgbClr val="FF0000"/>
                </a:solidFill>
                <a:effectLst>
                  <a:outerShdw blurRad="38100" dist="38100" dir="2700000" algn="tl">
                    <a:srgbClr val="000000">
                      <a:alpha val="43137"/>
                    </a:srgbClr>
                  </a:outerShdw>
                </a:effectLst>
              </a:rPr>
              <a:t>ordered to cease its unfair conduct consisting of supporting other companies in the group by providing on-demand booking services</a:t>
            </a:r>
            <a:r>
              <a:rPr lang="en-US" dirty="0"/>
              <a:t> </a:t>
            </a:r>
            <a:r>
              <a:rPr lang="en-US" b="1" dirty="0">
                <a:solidFill>
                  <a:srgbClr val="002060"/>
                </a:solidFill>
                <a:effectLst>
                  <a:outerShdw blurRad="38100" dist="38100" dir="2700000" algn="tl">
                    <a:srgbClr val="000000">
                      <a:alpha val="43137"/>
                    </a:srgbClr>
                  </a:outerShdw>
                </a:effectLst>
              </a:rPr>
              <a:t>by means of mobile devices and the internet</a:t>
            </a:r>
          </a:p>
          <a:p>
            <a:r>
              <a:rPr lang="en-US" dirty="0"/>
              <a:t>The court should </a:t>
            </a:r>
            <a:r>
              <a:rPr lang="en-US" b="1" dirty="0">
                <a:solidFill>
                  <a:srgbClr val="FF0000"/>
                </a:solidFill>
                <a:effectLst>
                  <a:outerShdw blurRad="38100" dist="38100" dir="2700000" algn="tl">
                    <a:srgbClr val="000000">
                      <a:alpha val="43137"/>
                    </a:srgbClr>
                  </a:outerShdw>
                </a:effectLst>
              </a:rPr>
              <a:t>prohibit Uber </a:t>
            </a:r>
            <a:r>
              <a:rPr lang="en-US" dirty="0"/>
              <a:t>Systems Spain </a:t>
            </a:r>
            <a:r>
              <a:rPr lang="en-US" b="1" dirty="0">
                <a:solidFill>
                  <a:srgbClr val="002060"/>
                </a:solidFill>
                <a:effectLst>
                  <a:outerShdw blurRad="38100" dist="38100" dir="2700000" algn="tl">
                    <a:srgbClr val="000000">
                      <a:alpha val="43137"/>
                    </a:srgbClr>
                  </a:outerShdw>
                </a:effectLst>
              </a:rPr>
              <a:t>from engaging in such activity in the future</a:t>
            </a:r>
          </a:p>
          <a:p>
            <a:pPr marL="0" indent="0">
              <a:buNone/>
            </a:pPr>
            <a:endParaRPr lang="pl-PL" dirty="0"/>
          </a:p>
        </p:txBody>
      </p:sp>
      <p:sp>
        <p:nvSpPr>
          <p:cNvPr id="4" name="Symbol zastępczy numeru slajdu 3">
            <a:extLst>
              <a:ext uri="{FF2B5EF4-FFF2-40B4-BE49-F238E27FC236}">
                <a16:creationId xmlns:a16="http://schemas.microsoft.com/office/drawing/2014/main" id="{995F1C16-2074-4C03-A43E-5125F54349B8}"/>
              </a:ext>
            </a:extLst>
          </p:cNvPr>
          <p:cNvSpPr>
            <a:spLocks noGrp="1"/>
          </p:cNvSpPr>
          <p:nvPr>
            <p:ph type="sldNum" sz="quarter" idx="12"/>
          </p:nvPr>
        </p:nvSpPr>
        <p:spPr/>
        <p:txBody>
          <a:bodyPr/>
          <a:lstStyle/>
          <a:p>
            <a:fld id="{31FE8408-9B39-4718-B64F-54F72D092B1B}" type="slidenum">
              <a:rPr lang="pl-PL" smtClean="0"/>
              <a:t>48</a:t>
            </a:fld>
            <a:endParaRPr lang="pl-PL" dirty="0"/>
          </a:p>
        </p:txBody>
      </p:sp>
    </p:spTree>
    <p:extLst>
      <p:ext uri="{BB962C8B-B14F-4D97-AF65-F5344CB8AC3E}">
        <p14:creationId xmlns:p14="http://schemas.microsoft.com/office/powerpoint/2010/main" val="5036780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D84BE14D-7B89-4399-9368-6EB9CF11A133}"/>
              </a:ext>
            </a:extLst>
          </p:cNvPr>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rPr>
              <a:t>The dispute and the preliminary question</a:t>
            </a:r>
            <a:endParaRPr lang="pl-PL" dirty="0"/>
          </a:p>
        </p:txBody>
      </p:sp>
      <p:sp>
        <p:nvSpPr>
          <p:cNvPr id="3" name="Symbol zastępczy zawartości 2">
            <a:extLst>
              <a:ext uri="{FF2B5EF4-FFF2-40B4-BE49-F238E27FC236}">
                <a16:creationId xmlns:a16="http://schemas.microsoft.com/office/drawing/2014/main" id="{C60E625C-7BC9-421B-B475-D042A2904434}"/>
              </a:ext>
            </a:extLst>
          </p:cNvPr>
          <p:cNvSpPr>
            <a:spLocks noGrp="1"/>
          </p:cNvSpPr>
          <p:nvPr>
            <p:ph idx="1"/>
          </p:nvPr>
        </p:nvSpPr>
        <p:spPr>
          <a:xfrm>
            <a:off x="1021080" y="1825625"/>
            <a:ext cx="10515600" cy="4895850"/>
          </a:xfrm>
        </p:spPr>
        <p:txBody>
          <a:bodyPr>
            <a:normAutofit/>
          </a:bodyPr>
          <a:lstStyle/>
          <a:p>
            <a:pPr marL="0" indent="0">
              <a:buNone/>
            </a:pPr>
            <a:r>
              <a:rPr lang="en-US" dirty="0">
                <a:solidFill>
                  <a:srgbClr val="002060"/>
                </a:solidFill>
                <a:latin typeface="Amasis MT Pro Black" panose="02040A04050005020304" pitchFamily="18" charset="-18"/>
              </a:rPr>
              <a:t>Spanish Court:</a:t>
            </a:r>
          </a:p>
          <a:p>
            <a:r>
              <a:rPr lang="en-US" sz="3600" dirty="0">
                <a:cs typeface="Times New Roman" panose="02020603050405020304" pitchFamily="18" charset="0"/>
              </a:rPr>
              <a:t> Although Uber Systems Spain </a:t>
            </a:r>
            <a:r>
              <a:rPr lang="en-US" sz="3600" b="1" dirty="0">
                <a:solidFill>
                  <a:srgbClr val="FF0000"/>
                </a:solidFill>
                <a:effectLst>
                  <a:outerShdw blurRad="38100" dist="38100" dir="2700000" algn="tl">
                    <a:srgbClr val="000000">
                      <a:alpha val="43137"/>
                    </a:srgbClr>
                  </a:outerShdw>
                </a:effectLst>
                <a:cs typeface="Times New Roman" panose="02020603050405020304" pitchFamily="18" charset="0"/>
              </a:rPr>
              <a:t>carries out its activity in Spain</a:t>
            </a:r>
            <a:r>
              <a:rPr lang="en-US" sz="3600" dirty="0">
                <a:cs typeface="Times New Roman" panose="02020603050405020304" pitchFamily="18" charset="0"/>
              </a:rPr>
              <a:t>, that activity is </a:t>
            </a:r>
            <a:r>
              <a:rPr lang="en-US" sz="3600" b="1" u="sng" dirty="0">
                <a:solidFill>
                  <a:srgbClr val="FF0000"/>
                </a:solidFill>
                <a:effectLst>
                  <a:outerShdw blurRad="38100" dist="38100" dir="2700000" algn="tl">
                    <a:srgbClr val="000000">
                      <a:alpha val="43137"/>
                    </a:srgbClr>
                  </a:outerShdw>
                </a:effectLst>
                <a:highlight>
                  <a:srgbClr val="00FF00"/>
                </a:highlight>
                <a:cs typeface="Times New Roman" panose="02020603050405020304" pitchFamily="18" charset="0"/>
              </a:rPr>
              <a:t>linked to an international </a:t>
            </a:r>
            <a:r>
              <a:rPr lang="en-US" sz="3600" b="1" u="sng" dirty="0">
                <a:solidFill>
                  <a:srgbClr val="FF0000"/>
                </a:solidFill>
                <a:effectLst>
                  <a:outerShdw blurRad="38100" dist="38100" dir="2700000" algn="tl">
                    <a:srgbClr val="000000">
                      <a:alpha val="43137"/>
                    </a:srgbClr>
                  </a:outerShdw>
                </a:effectLst>
                <a:highlight>
                  <a:srgbClr val="00FFFF"/>
                </a:highlight>
                <a:cs typeface="Times New Roman" panose="02020603050405020304" pitchFamily="18" charset="0"/>
              </a:rPr>
              <a:t>platform</a:t>
            </a:r>
            <a:r>
              <a:rPr lang="en-US" sz="3600" u="sng" dirty="0">
                <a:cs typeface="Times New Roman" panose="02020603050405020304" pitchFamily="18" charset="0"/>
              </a:rPr>
              <a:t>, </a:t>
            </a:r>
            <a:r>
              <a:rPr lang="en-US" sz="3600" u="sng" dirty="0">
                <a:highlight>
                  <a:srgbClr val="FFFF00"/>
                </a:highlight>
                <a:cs typeface="Times New Roman" panose="02020603050405020304" pitchFamily="18" charset="0"/>
              </a:rPr>
              <a:t>thus </a:t>
            </a:r>
            <a:r>
              <a:rPr lang="en-US" sz="3600" b="1" u="sng" dirty="0">
                <a:solidFill>
                  <a:srgbClr val="FF0000"/>
                </a:solidFill>
                <a:effectLst>
                  <a:outerShdw blurRad="38100" dist="38100" dir="2700000" algn="tl">
                    <a:srgbClr val="000000">
                      <a:alpha val="43137"/>
                    </a:srgbClr>
                  </a:outerShdw>
                </a:effectLst>
                <a:highlight>
                  <a:srgbClr val="FFFF00"/>
                </a:highlight>
                <a:cs typeface="Times New Roman" panose="02020603050405020304" pitchFamily="18" charset="0"/>
              </a:rPr>
              <a:t>justifying the assessment at EU level </a:t>
            </a:r>
            <a:r>
              <a:rPr lang="en-US" sz="3600" dirty="0">
                <a:cs typeface="Times New Roman" panose="02020603050405020304" pitchFamily="18" charset="0"/>
              </a:rPr>
              <a:t>of the actions of that company.</a:t>
            </a:r>
          </a:p>
          <a:p>
            <a:r>
              <a:rPr lang="en-US" sz="3600" dirty="0">
                <a:cs typeface="Times New Roman" panose="02020603050405020304" pitchFamily="18" charset="0"/>
              </a:rPr>
              <a:t>It also observed that </a:t>
            </a:r>
            <a:r>
              <a:rPr lang="en-US" sz="3600" b="1" u="sng" dirty="0">
                <a:solidFill>
                  <a:srgbClr val="FF0000"/>
                </a:solidFill>
                <a:effectLst>
                  <a:outerShdw blurRad="38100" dist="38100" dir="2700000" algn="tl">
                    <a:srgbClr val="000000">
                      <a:alpha val="43137"/>
                    </a:srgbClr>
                  </a:outerShdw>
                </a:effectLst>
                <a:highlight>
                  <a:srgbClr val="FFFF00"/>
                </a:highlight>
                <a:cs typeface="Times New Roman" panose="02020603050405020304" pitchFamily="18" charset="0"/>
              </a:rPr>
              <a:t>neither U</a:t>
            </a:r>
            <a:r>
              <a:rPr lang="pl-PL" sz="3600" b="1" u="sng" dirty="0">
                <a:solidFill>
                  <a:srgbClr val="FF0000"/>
                </a:solidFill>
                <a:effectLst>
                  <a:outerShdw blurRad="38100" dist="38100" dir="2700000" algn="tl">
                    <a:srgbClr val="000000">
                      <a:alpha val="43137"/>
                    </a:srgbClr>
                  </a:outerShdw>
                </a:effectLst>
                <a:highlight>
                  <a:srgbClr val="FFFF00"/>
                </a:highlight>
                <a:cs typeface="Times New Roman" panose="02020603050405020304" pitchFamily="18" charset="0"/>
              </a:rPr>
              <a:t>BER</a:t>
            </a:r>
            <a:r>
              <a:rPr lang="en-US" sz="3600" b="1" u="sng" dirty="0">
                <a:solidFill>
                  <a:srgbClr val="FF0000"/>
                </a:solidFill>
                <a:effectLst>
                  <a:outerShdw blurRad="38100" dist="38100" dir="2700000" algn="tl">
                    <a:srgbClr val="000000">
                      <a:alpha val="43137"/>
                    </a:srgbClr>
                  </a:outerShdw>
                </a:effectLst>
                <a:highlight>
                  <a:srgbClr val="FFFF00"/>
                </a:highlight>
                <a:cs typeface="Times New Roman" panose="02020603050405020304" pitchFamily="18" charset="0"/>
              </a:rPr>
              <a:t> </a:t>
            </a:r>
            <a:r>
              <a:rPr lang="en-US" sz="3600" dirty="0">
                <a:highlight>
                  <a:srgbClr val="FFFF00"/>
                </a:highlight>
                <a:cs typeface="Times New Roman" panose="02020603050405020304" pitchFamily="18" charset="0"/>
              </a:rPr>
              <a:t>Systems Spain </a:t>
            </a:r>
            <a:r>
              <a:rPr lang="en-US" sz="3600" b="1" dirty="0">
                <a:solidFill>
                  <a:srgbClr val="FF0000"/>
                </a:solidFill>
                <a:effectLst>
                  <a:outerShdw blurRad="38100" dist="38100" dir="2700000" algn="tl">
                    <a:srgbClr val="000000">
                      <a:alpha val="43137"/>
                    </a:srgbClr>
                  </a:outerShdw>
                </a:effectLst>
                <a:highlight>
                  <a:srgbClr val="FFFF00"/>
                </a:highlight>
                <a:cs typeface="Times New Roman" panose="02020603050405020304" pitchFamily="18" charset="0"/>
              </a:rPr>
              <a:t>nor the non-professional drivers </a:t>
            </a:r>
            <a:r>
              <a:rPr lang="en-US" sz="3600" dirty="0">
                <a:highlight>
                  <a:srgbClr val="FFFF00"/>
                </a:highlight>
                <a:cs typeface="Times New Roman" panose="02020603050405020304" pitchFamily="18" charset="0"/>
              </a:rPr>
              <a:t>of the vehicles concerned </a:t>
            </a:r>
            <a:r>
              <a:rPr lang="en-US" sz="3600" b="1" u="sng" dirty="0">
                <a:solidFill>
                  <a:srgbClr val="FF0000"/>
                </a:solidFill>
                <a:effectLst>
                  <a:outerShdw blurRad="38100" dist="38100" dir="2700000" algn="tl">
                    <a:srgbClr val="000000">
                      <a:alpha val="43137"/>
                    </a:srgbClr>
                  </a:outerShdw>
                </a:effectLst>
                <a:highlight>
                  <a:srgbClr val="FFFF00"/>
                </a:highlight>
                <a:cs typeface="Times New Roman" panose="02020603050405020304" pitchFamily="18" charset="0"/>
              </a:rPr>
              <a:t>have the </a:t>
            </a:r>
            <a:r>
              <a:rPr lang="en-US" sz="3600" b="1" u="sng" dirty="0">
                <a:solidFill>
                  <a:srgbClr val="FF0000"/>
                </a:solidFill>
                <a:effectLst>
                  <a:outerShdw blurRad="38100" dist="38100" dir="2700000" algn="tl">
                    <a:srgbClr val="000000">
                      <a:alpha val="43137"/>
                    </a:srgbClr>
                  </a:outerShdw>
                </a:effectLst>
                <a:highlight>
                  <a:srgbClr val="00FF00"/>
                </a:highlight>
                <a:cs typeface="Times New Roman" panose="02020603050405020304" pitchFamily="18" charset="0"/>
              </a:rPr>
              <a:t>licen</a:t>
            </a:r>
            <a:r>
              <a:rPr lang="pl-PL" sz="3600" b="1" u="sng" dirty="0">
                <a:solidFill>
                  <a:srgbClr val="FF0000"/>
                </a:solidFill>
                <a:effectLst>
                  <a:outerShdw blurRad="38100" dist="38100" dir="2700000" algn="tl">
                    <a:srgbClr val="000000">
                      <a:alpha val="43137"/>
                    </a:srgbClr>
                  </a:outerShdw>
                </a:effectLst>
                <a:highlight>
                  <a:srgbClr val="00FF00"/>
                </a:highlight>
                <a:cs typeface="Times New Roman" panose="02020603050405020304" pitchFamily="18" charset="0"/>
              </a:rPr>
              <a:t>s</a:t>
            </a:r>
            <a:r>
              <a:rPr lang="en-US" sz="3600" b="1" u="sng" dirty="0">
                <a:solidFill>
                  <a:srgbClr val="FF0000"/>
                </a:solidFill>
                <a:effectLst>
                  <a:outerShdw blurRad="38100" dist="38100" dir="2700000" algn="tl">
                    <a:srgbClr val="000000">
                      <a:alpha val="43137"/>
                    </a:srgbClr>
                  </a:outerShdw>
                </a:effectLst>
                <a:highlight>
                  <a:srgbClr val="00FF00"/>
                </a:highlight>
                <a:cs typeface="Times New Roman" panose="02020603050405020304" pitchFamily="18" charset="0"/>
              </a:rPr>
              <a:t>es </a:t>
            </a:r>
            <a:r>
              <a:rPr lang="en-US" sz="3600" dirty="0">
                <a:highlight>
                  <a:srgbClr val="FFFF00"/>
                </a:highlight>
                <a:cs typeface="Times New Roman" panose="02020603050405020304" pitchFamily="18" charset="0"/>
              </a:rPr>
              <a:t>and </a:t>
            </a:r>
            <a:r>
              <a:rPr lang="en-US" sz="3600" b="1" dirty="0">
                <a:solidFill>
                  <a:srgbClr val="FF0000"/>
                </a:solidFill>
                <a:effectLst>
                  <a:outerShdw blurRad="38100" dist="38100" dir="2700000" algn="tl">
                    <a:srgbClr val="000000">
                      <a:alpha val="43137"/>
                    </a:srgbClr>
                  </a:outerShdw>
                </a:effectLst>
                <a:highlight>
                  <a:srgbClr val="FFFF00"/>
                </a:highlight>
                <a:cs typeface="Times New Roman" panose="02020603050405020304" pitchFamily="18" charset="0"/>
              </a:rPr>
              <a:t>authorisations </a:t>
            </a:r>
            <a:r>
              <a:rPr lang="pl-PL" sz="3600" b="1" dirty="0">
                <a:solidFill>
                  <a:srgbClr val="FF0000"/>
                </a:solidFill>
                <a:effectLst>
                  <a:outerShdw blurRad="38100" dist="38100" dir="2700000" algn="tl">
                    <a:srgbClr val="000000">
                      <a:alpha val="43137"/>
                    </a:srgbClr>
                  </a:outerShdw>
                </a:effectLst>
                <a:highlight>
                  <a:srgbClr val="FFFF00"/>
                </a:highlight>
                <a:cs typeface="Times New Roman" panose="02020603050405020304" pitchFamily="18" charset="0"/>
              </a:rPr>
              <a:t>as </a:t>
            </a:r>
            <a:r>
              <a:rPr lang="en-US" sz="3600" b="1" dirty="0">
                <a:solidFill>
                  <a:srgbClr val="FF0000"/>
                </a:solidFill>
                <a:effectLst>
                  <a:outerShdw blurRad="38100" dist="38100" dir="2700000" algn="tl">
                    <a:srgbClr val="000000">
                      <a:alpha val="43137"/>
                    </a:srgbClr>
                  </a:outerShdw>
                </a:effectLst>
                <a:highlight>
                  <a:srgbClr val="FFFF00"/>
                </a:highlight>
                <a:cs typeface="Times New Roman" panose="02020603050405020304" pitchFamily="18" charset="0"/>
              </a:rPr>
              <a:t>required </a:t>
            </a:r>
          </a:p>
        </p:txBody>
      </p:sp>
      <p:sp>
        <p:nvSpPr>
          <p:cNvPr id="4" name="Symbol zastępczy numeru slajdu 3">
            <a:extLst>
              <a:ext uri="{FF2B5EF4-FFF2-40B4-BE49-F238E27FC236}">
                <a16:creationId xmlns:a16="http://schemas.microsoft.com/office/drawing/2014/main" id="{CD664C06-A061-4219-8EDB-39636D5CC0A6}"/>
              </a:ext>
            </a:extLst>
          </p:cNvPr>
          <p:cNvSpPr>
            <a:spLocks noGrp="1"/>
          </p:cNvSpPr>
          <p:nvPr>
            <p:ph type="sldNum" sz="quarter" idx="12"/>
          </p:nvPr>
        </p:nvSpPr>
        <p:spPr/>
        <p:txBody>
          <a:bodyPr/>
          <a:lstStyle/>
          <a:p>
            <a:fld id="{31FE8408-9B39-4718-B64F-54F72D092B1B}" type="slidenum">
              <a:rPr lang="pl-PL" smtClean="0"/>
              <a:t>49</a:t>
            </a:fld>
            <a:endParaRPr lang="pl-PL" dirty="0"/>
          </a:p>
        </p:txBody>
      </p:sp>
    </p:spTree>
    <p:extLst>
      <p:ext uri="{BB962C8B-B14F-4D97-AF65-F5344CB8AC3E}">
        <p14:creationId xmlns:p14="http://schemas.microsoft.com/office/powerpoint/2010/main" val="25883106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3FFCE28-0E10-466C-B13F-00406ABED86C}"/>
              </a:ext>
            </a:extLst>
          </p:cNvPr>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rPr>
              <a:t>The dispute and the </a:t>
            </a:r>
            <a:r>
              <a:rPr lang="en-US" b="1" u="sng" dirty="0">
                <a:solidFill>
                  <a:srgbClr val="FF0000"/>
                </a:solidFill>
                <a:effectLst>
                  <a:outerShdw blurRad="38100" dist="38100" dir="2700000" algn="tl">
                    <a:srgbClr val="000000">
                      <a:alpha val="43137"/>
                    </a:srgbClr>
                  </a:outerShdw>
                </a:effectLst>
              </a:rPr>
              <a:t>preliminary question</a:t>
            </a:r>
            <a:endParaRPr lang="en-US" u="sng" dirty="0"/>
          </a:p>
        </p:txBody>
      </p:sp>
      <p:sp>
        <p:nvSpPr>
          <p:cNvPr id="3" name="Symbol zastępczy zawartości 2">
            <a:extLst>
              <a:ext uri="{FF2B5EF4-FFF2-40B4-BE49-F238E27FC236}">
                <a16:creationId xmlns:a16="http://schemas.microsoft.com/office/drawing/2014/main" id="{673D759C-7D59-434D-8545-07691C2C79C3}"/>
              </a:ext>
            </a:extLst>
          </p:cNvPr>
          <p:cNvSpPr>
            <a:spLocks noGrp="1"/>
          </p:cNvSpPr>
          <p:nvPr>
            <p:ph idx="1"/>
          </p:nvPr>
        </p:nvSpPr>
        <p:spPr>
          <a:xfrm>
            <a:off x="838200" y="1825624"/>
            <a:ext cx="10515600" cy="4842461"/>
          </a:xfrm>
        </p:spPr>
        <p:txBody>
          <a:bodyPr/>
          <a:lstStyle/>
          <a:p>
            <a:r>
              <a:rPr lang="en-US" dirty="0">
                <a:solidFill>
                  <a:srgbClr val="002060"/>
                </a:solidFill>
                <a:effectLst>
                  <a:outerShdw blurRad="38100" dist="38100" dir="2700000" algn="tl">
                    <a:srgbClr val="000000">
                      <a:alpha val="43137"/>
                    </a:srgbClr>
                  </a:outerShdw>
                </a:effectLst>
              </a:rPr>
              <a:t>In order to determine whether </a:t>
            </a:r>
            <a:r>
              <a:rPr lang="en-US" dirty="0">
                <a:effectLst>
                  <a:outerShdw blurRad="38100" dist="38100" dir="2700000" algn="tl">
                    <a:srgbClr val="000000">
                      <a:alpha val="43137"/>
                    </a:srgbClr>
                  </a:outerShdw>
                </a:effectLst>
              </a:rPr>
              <a:t>the practices of Uber Systems Spain and related companies (together, ‘Uber’) can be classified </a:t>
            </a:r>
            <a:r>
              <a:rPr lang="en-US" b="1" dirty="0">
                <a:solidFill>
                  <a:srgbClr val="002060"/>
                </a:solidFill>
                <a:effectLst>
                  <a:outerShdw blurRad="38100" dist="38100" dir="2700000" algn="tl">
                    <a:srgbClr val="000000">
                      <a:alpha val="43137"/>
                    </a:srgbClr>
                  </a:outerShdw>
                </a:effectLst>
              </a:rPr>
              <a:t>as </a:t>
            </a:r>
            <a:r>
              <a:rPr lang="en-US" b="1" dirty="0">
                <a:solidFill>
                  <a:srgbClr val="FF0000"/>
                </a:solidFill>
                <a:effectLst>
                  <a:outerShdw blurRad="38100" dist="38100" dir="2700000" algn="tl">
                    <a:srgbClr val="000000">
                      <a:alpha val="43137"/>
                    </a:srgbClr>
                  </a:outerShdw>
                </a:effectLst>
              </a:rPr>
              <a:t>unfair practices</a:t>
            </a:r>
          </a:p>
          <a:p>
            <a:r>
              <a:rPr lang="en-US" sz="3600" dirty="0">
                <a:solidFill>
                  <a:srgbClr val="002060"/>
                </a:solidFill>
                <a:effectLst>
                  <a:outerShdw blurRad="38100" dist="38100" dir="2700000" algn="tl">
                    <a:srgbClr val="000000">
                      <a:alpha val="43137"/>
                    </a:srgbClr>
                  </a:outerShdw>
                </a:effectLst>
                <a:latin typeface="Amasis MT Pro Black" panose="02040A04050005020304" pitchFamily="18" charset="-18"/>
              </a:rPr>
              <a:t>necessary to ascertain </a:t>
            </a:r>
            <a:r>
              <a:rPr lang="en-US" sz="3600" u="sng" dirty="0">
                <a:solidFill>
                  <a:srgbClr val="FF0000"/>
                </a:solidFill>
                <a:effectLst>
                  <a:outerShdw blurRad="38100" dist="38100" dir="2700000" algn="tl">
                    <a:srgbClr val="000000">
                      <a:alpha val="43137"/>
                    </a:srgbClr>
                  </a:outerShdw>
                </a:effectLst>
                <a:highlight>
                  <a:srgbClr val="FFFF00"/>
                </a:highlight>
                <a:latin typeface="Amasis MT Pro Black" panose="02040A04050005020304" pitchFamily="18" charset="-18"/>
              </a:rPr>
              <a:t>whether or not </a:t>
            </a:r>
            <a:r>
              <a:rPr lang="en-US" sz="3600" u="sng" dirty="0">
                <a:solidFill>
                  <a:srgbClr val="FF0000"/>
                </a:solidFill>
                <a:effectLst>
                  <a:outerShdw blurRad="38100" dist="38100" dir="2700000" algn="tl">
                    <a:srgbClr val="000000">
                      <a:alpha val="43137"/>
                    </a:srgbClr>
                  </a:outerShdw>
                </a:effectLst>
                <a:latin typeface="Amasis MT Pro Black" panose="02040A04050005020304" pitchFamily="18" charset="-18"/>
              </a:rPr>
              <a:t>Uber requires prior administrative </a:t>
            </a:r>
            <a:r>
              <a:rPr lang="en-US" sz="3600" u="sng" dirty="0">
                <a:solidFill>
                  <a:srgbClr val="FF0000"/>
                </a:solidFill>
                <a:effectLst>
                  <a:outerShdw blurRad="38100" dist="38100" dir="2700000" algn="tl">
                    <a:srgbClr val="000000">
                      <a:alpha val="43137"/>
                    </a:srgbClr>
                  </a:outerShdw>
                </a:effectLst>
                <a:highlight>
                  <a:srgbClr val="00FF00"/>
                </a:highlight>
                <a:latin typeface="Amasis MT Pro Black" panose="02040A04050005020304" pitchFamily="18" charset="-18"/>
              </a:rPr>
              <a:t>authorisation</a:t>
            </a:r>
          </a:p>
          <a:p>
            <a:endParaRPr lang="en-US" sz="3600" dirty="0"/>
          </a:p>
        </p:txBody>
      </p:sp>
      <p:sp>
        <p:nvSpPr>
          <p:cNvPr id="4" name="Symbol zastępczy numeru slajdu 3">
            <a:extLst>
              <a:ext uri="{FF2B5EF4-FFF2-40B4-BE49-F238E27FC236}">
                <a16:creationId xmlns:a16="http://schemas.microsoft.com/office/drawing/2014/main" id="{E33CA294-3AA1-4EDF-A790-AA70C748B0C2}"/>
              </a:ext>
            </a:extLst>
          </p:cNvPr>
          <p:cNvSpPr>
            <a:spLocks noGrp="1"/>
          </p:cNvSpPr>
          <p:nvPr>
            <p:ph type="sldNum" sz="quarter" idx="12"/>
          </p:nvPr>
        </p:nvSpPr>
        <p:spPr/>
        <p:txBody>
          <a:bodyPr/>
          <a:lstStyle/>
          <a:p>
            <a:fld id="{31FE8408-9B39-4718-B64F-54F72D092B1B}" type="slidenum">
              <a:rPr lang="pl-PL" smtClean="0"/>
              <a:t>50</a:t>
            </a:fld>
            <a:endParaRPr lang="pl-PL" dirty="0"/>
          </a:p>
        </p:txBody>
      </p:sp>
    </p:spTree>
    <p:extLst>
      <p:ext uri="{BB962C8B-B14F-4D97-AF65-F5344CB8AC3E}">
        <p14:creationId xmlns:p14="http://schemas.microsoft.com/office/powerpoint/2010/main" val="31025568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rPr>
              <a:t>The dispute and the </a:t>
            </a:r>
            <a:r>
              <a:rPr lang="en-US" b="1" u="sng" dirty="0">
                <a:solidFill>
                  <a:srgbClr val="FF0000"/>
                </a:solidFill>
                <a:effectLst>
                  <a:outerShdw blurRad="38100" dist="38100" dir="2700000" algn="tl">
                    <a:srgbClr val="000000">
                      <a:alpha val="43137"/>
                    </a:srgbClr>
                  </a:outerShdw>
                </a:effectLst>
              </a:rPr>
              <a:t>preliminary question</a:t>
            </a:r>
            <a:endParaRPr lang="pl-PL" dirty="0"/>
          </a:p>
        </p:txBody>
      </p:sp>
      <p:sp>
        <p:nvSpPr>
          <p:cNvPr id="3" name="Symbol zastępczy zawartości 2"/>
          <p:cNvSpPr>
            <a:spLocks noGrp="1"/>
          </p:cNvSpPr>
          <p:nvPr>
            <p:ph idx="1"/>
          </p:nvPr>
        </p:nvSpPr>
        <p:spPr/>
        <p:txBody>
          <a:bodyPr/>
          <a:lstStyle/>
          <a:p>
            <a:r>
              <a:rPr lang="en-US" b="1" dirty="0">
                <a:effectLst>
                  <a:outerShdw blurRad="38100" dist="38100" dir="2700000" algn="tl">
                    <a:srgbClr val="000000">
                      <a:alpha val="43137"/>
                    </a:srgbClr>
                  </a:outerShdw>
                </a:effectLst>
              </a:rPr>
              <a:t>it should be determined </a:t>
            </a:r>
            <a:r>
              <a:rPr lang="en-US" b="1" dirty="0">
                <a:solidFill>
                  <a:srgbClr val="FF0000"/>
                </a:solidFill>
                <a:effectLst>
                  <a:outerShdw blurRad="38100" dist="38100" dir="2700000" algn="tl">
                    <a:srgbClr val="000000">
                      <a:alpha val="43137"/>
                    </a:srgbClr>
                  </a:outerShdw>
                </a:effectLst>
              </a:rPr>
              <a:t>whether </a:t>
            </a:r>
            <a:r>
              <a:rPr lang="en-US" b="1" dirty="0">
                <a:effectLst>
                  <a:outerShdw blurRad="38100" dist="38100" dir="2700000" algn="tl">
                    <a:srgbClr val="000000">
                      <a:alpha val="43137"/>
                    </a:srgbClr>
                  </a:outerShdw>
                </a:effectLst>
              </a:rPr>
              <a:t>the services provided by that company are to be </a:t>
            </a:r>
            <a:r>
              <a:rPr lang="en-US" b="1" u="sng" dirty="0">
                <a:solidFill>
                  <a:srgbClr val="FF0000"/>
                </a:solidFill>
                <a:effectLst>
                  <a:outerShdw blurRad="38100" dist="38100" dir="2700000" algn="tl">
                    <a:srgbClr val="000000">
                      <a:alpha val="43137"/>
                    </a:srgbClr>
                  </a:outerShdw>
                </a:effectLst>
              </a:rPr>
              <a:t>regarded</a:t>
            </a:r>
            <a:r>
              <a:rPr lang="pl-PL" b="1" u="sng" dirty="0">
                <a:solidFill>
                  <a:srgbClr val="FF0000"/>
                </a:solidFill>
                <a:effectLst>
                  <a:outerShdw blurRad="38100" dist="38100" dir="2700000" algn="tl">
                    <a:srgbClr val="000000">
                      <a:alpha val="43137"/>
                    </a:srgbClr>
                  </a:outerShdw>
                </a:effectLst>
              </a:rPr>
              <a:t> as</a:t>
            </a:r>
          </a:p>
          <a:p>
            <a:r>
              <a:rPr lang="en-US" b="1" u="sng" dirty="0">
                <a:solidFill>
                  <a:srgbClr val="FF0000"/>
                </a:solidFill>
                <a:effectLst>
                  <a:outerShdw blurRad="38100" dist="38100" dir="2700000" algn="tl">
                    <a:srgbClr val="000000">
                      <a:alpha val="43137"/>
                    </a:srgbClr>
                  </a:outerShdw>
                </a:effectLst>
                <a:highlight>
                  <a:srgbClr val="FFFF00"/>
                </a:highlight>
                <a:latin typeface="Amasis MT Pro Black" panose="02040A04050005020304" pitchFamily="18" charset="-18"/>
              </a:rPr>
              <a:t>transport services, </a:t>
            </a:r>
            <a:endParaRPr lang="pl-PL" b="1" u="sng" dirty="0">
              <a:solidFill>
                <a:srgbClr val="FF0000"/>
              </a:solidFill>
              <a:effectLst>
                <a:outerShdw blurRad="38100" dist="38100" dir="2700000" algn="tl">
                  <a:srgbClr val="000000">
                    <a:alpha val="43137"/>
                  </a:srgbClr>
                </a:outerShdw>
              </a:effectLst>
              <a:highlight>
                <a:srgbClr val="FFFF00"/>
              </a:highlight>
              <a:latin typeface="Amasis MT Pro Black" panose="02040A04050005020304" pitchFamily="18" charset="-18"/>
            </a:endParaRPr>
          </a:p>
          <a:p>
            <a:r>
              <a:rPr lang="en-US" b="1" u="sng" dirty="0">
                <a:solidFill>
                  <a:srgbClr val="FF0000"/>
                </a:solidFill>
                <a:effectLst>
                  <a:outerShdw blurRad="38100" dist="38100" dir="2700000" algn="tl">
                    <a:srgbClr val="000000">
                      <a:alpha val="43137"/>
                    </a:srgbClr>
                  </a:outerShdw>
                </a:effectLst>
                <a:highlight>
                  <a:srgbClr val="FFFF00"/>
                </a:highlight>
                <a:latin typeface="Amasis MT Pro Black" panose="02040A04050005020304" pitchFamily="18" charset="-18"/>
              </a:rPr>
              <a:t>information society services </a:t>
            </a:r>
            <a:endParaRPr lang="pl-PL" b="1" u="sng" dirty="0">
              <a:solidFill>
                <a:srgbClr val="FF0000"/>
              </a:solidFill>
              <a:effectLst>
                <a:outerShdw blurRad="38100" dist="38100" dir="2700000" algn="tl">
                  <a:srgbClr val="000000">
                    <a:alpha val="43137"/>
                  </a:srgbClr>
                </a:outerShdw>
              </a:effectLst>
              <a:highlight>
                <a:srgbClr val="FFFF00"/>
              </a:highlight>
              <a:latin typeface="Amasis MT Pro Black" panose="02040A04050005020304" pitchFamily="18" charset="-18"/>
            </a:endParaRPr>
          </a:p>
          <a:p>
            <a:r>
              <a:rPr lang="en-US" b="1" u="sng" dirty="0">
                <a:solidFill>
                  <a:srgbClr val="FF0000"/>
                </a:solidFill>
                <a:effectLst>
                  <a:outerShdw blurRad="38100" dist="38100" dir="2700000" algn="tl">
                    <a:srgbClr val="000000">
                      <a:alpha val="43137"/>
                    </a:srgbClr>
                  </a:outerShdw>
                </a:effectLst>
                <a:highlight>
                  <a:srgbClr val="FFFF00"/>
                </a:highlight>
                <a:latin typeface="Amasis MT Pro Black" panose="02040A04050005020304" pitchFamily="18" charset="-18"/>
              </a:rPr>
              <a:t>or a combination of both</a:t>
            </a:r>
          </a:p>
          <a:p>
            <a:r>
              <a:rPr lang="en-US" dirty="0">
                <a:solidFill>
                  <a:srgbClr val="002060"/>
                </a:solidFill>
                <a:effectLst>
                  <a:outerShdw blurRad="38100" dist="38100" dir="2700000" algn="tl">
                    <a:srgbClr val="000000">
                      <a:alpha val="43137"/>
                    </a:srgbClr>
                  </a:outerShdw>
                </a:effectLst>
              </a:rPr>
              <a:t>Whether or not prior administrative </a:t>
            </a:r>
            <a:r>
              <a:rPr lang="en-US" dirty="0">
                <a:solidFill>
                  <a:srgbClr val="FF0000"/>
                </a:solidFill>
                <a:effectLst>
                  <a:outerShdw blurRad="38100" dist="38100" dir="2700000" algn="tl">
                    <a:srgbClr val="000000">
                      <a:alpha val="43137"/>
                    </a:srgbClr>
                  </a:outerShdw>
                </a:effectLst>
              </a:rPr>
              <a:t>authorisation</a:t>
            </a:r>
            <a:r>
              <a:rPr lang="en-US" dirty="0">
                <a:solidFill>
                  <a:srgbClr val="002060"/>
                </a:solidFill>
                <a:effectLst>
                  <a:outerShdw blurRad="38100" dist="38100" dir="2700000" algn="tl">
                    <a:srgbClr val="000000">
                      <a:alpha val="43137"/>
                    </a:srgbClr>
                  </a:outerShdw>
                </a:effectLst>
              </a:rPr>
              <a:t> may be required </a:t>
            </a:r>
            <a:r>
              <a:rPr lang="en-US" b="1" dirty="0">
                <a:solidFill>
                  <a:srgbClr val="FF0000"/>
                </a:solidFill>
                <a:effectLst>
                  <a:outerShdw blurRad="38100" dist="38100" dir="2700000" algn="tl">
                    <a:srgbClr val="000000">
                      <a:alpha val="43137"/>
                    </a:srgbClr>
                  </a:outerShdw>
                </a:effectLst>
              </a:rPr>
              <a:t>depends on the classification </a:t>
            </a:r>
            <a:r>
              <a:rPr lang="en-US" b="1" dirty="0">
                <a:solidFill>
                  <a:srgbClr val="002060"/>
                </a:solidFill>
                <a:effectLst>
                  <a:outerShdw blurRad="38100" dist="38100" dir="2700000" algn="tl">
                    <a:srgbClr val="000000">
                      <a:alpha val="43137"/>
                    </a:srgbClr>
                  </a:outerShdw>
                </a:effectLst>
              </a:rPr>
              <a:t>adopted</a:t>
            </a:r>
          </a:p>
          <a:p>
            <a:endParaRPr lang="pl-PL" dirty="0"/>
          </a:p>
        </p:txBody>
      </p:sp>
      <p:sp>
        <p:nvSpPr>
          <p:cNvPr id="4" name="Symbol zastępczy numeru slajdu 3"/>
          <p:cNvSpPr>
            <a:spLocks noGrp="1"/>
          </p:cNvSpPr>
          <p:nvPr>
            <p:ph type="sldNum" sz="quarter" idx="12"/>
          </p:nvPr>
        </p:nvSpPr>
        <p:spPr/>
        <p:txBody>
          <a:bodyPr/>
          <a:lstStyle/>
          <a:p>
            <a:fld id="{31FE8408-9B39-4718-B64F-54F72D092B1B}" type="slidenum">
              <a:rPr lang="pl-PL" smtClean="0"/>
              <a:t>51</a:t>
            </a:fld>
            <a:endParaRPr lang="pl-PL" dirty="0"/>
          </a:p>
        </p:txBody>
      </p:sp>
    </p:spTree>
    <p:extLst>
      <p:ext uri="{BB962C8B-B14F-4D97-AF65-F5344CB8AC3E}">
        <p14:creationId xmlns:p14="http://schemas.microsoft.com/office/powerpoint/2010/main" val="28787519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D539FAE-3B69-4F93-88B8-9A4567255C59}"/>
              </a:ext>
            </a:extLst>
          </p:cNvPr>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rPr>
              <a:t>The dispute and the preliminary question</a:t>
            </a:r>
            <a:endParaRPr lang="en-US" dirty="0"/>
          </a:p>
        </p:txBody>
      </p:sp>
      <p:sp>
        <p:nvSpPr>
          <p:cNvPr id="3" name="Symbol zastępczy zawartości 2">
            <a:extLst>
              <a:ext uri="{FF2B5EF4-FFF2-40B4-BE49-F238E27FC236}">
                <a16:creationId xmlns:a16="http://schemas.microsoft.com/office/drawing/2014/main" id="{8E9D1034-1875-48D6-BBC6-FC9CC3AE7309}"/>
              </a:ext>
            </a:extLst>
          </p:cNvPr>
          <p:cNvSpPr>
            <a:spLocks noGrp="1"/>
          </p:cNvSpPr>
          <p:nvPr>
            <p:ph idx="1"/>
          </p:nvPr>
        </p:nvSpPr>
        <p:spPr>
          <a:xfrm>
            <a:off x="838200" y="1825624"/>
            <a:ext cx="10515600" cy="4530725"/>
          </a:xfrm>
        </p:spPr>
        <p:txBody>
          <a:bodyPr>
            <a:normAutofit/>
          </a:bodyPr>
          <a:lstStyle/>
          <a:p>
            <a:pPr marL="0" indent="0">
              <a:buNone/>
            </a:pPr>
            <a:r>
              <a:rPr lang="en-US" sz="4400" b="1" dirty="0">
                <a:solidFill>
                  <a:srgbClr val="002060"/>
                </a:solidFill>
                <a:effectLst>
                  <a:outerShdw blurRad="38100" dist="38100" dir="2700000" algn="tl">
                    <a:srgbClr val="000000">
                      <a:alpha val="43137"/>
                    </a:srgbClr>
                  </a:outerShdw>
                </a:effectLst>
              </a:rPr>
              <a:t>The </a:t>
            </a:r>
            <a:r>
              <a:rPr lang="pl-PL" sz="4400" b="1" dirty="0">
                <a:solidFill>
                  <a:srgbClr val="002060"/>
                </a:solidFill>
                <a:effectLst>
                  <a:outerShdw blurRad="38100" dist="38100" dir="2700000" algn="tl">
                    <a:srgbClr val="000000">
                      <a:alpha val="43137"/>
                    </a:srgbClr>
                  </a:outerShdw>
                </a:effectLst>
              </a:rPr>
              <a:t>Spanish</a:t>
            </a:r>
            <a:r>
              <a:rPr lang="en-US" sz="4400" b="1" dirty="0">
                <a:solidFill>
                  <a:srgbClr val="002060"/>
                </a:solidFill>
                <a:effectLst>
                  <a:outerShdw blurRad="38100" dist="38100" dir="2700000" algn="tl">
                    <a:srgbClr val="000000">
                      <a:alpha val="43137"/>
                    </a:srgbClr>
                  </a:outerShdw>
                </a:effectLst>
              </a:rPr>
              <a:t> court</a:t>
            </a:r>
            <a:r>
              <a:rPr lang="pl-PL" sz="4400" b="1" dirty="0">
                <a:solidFill>
                  <a:srgbClr val="002060"/>
                </a:solidFill>
                <a:effectLst>
                  <a:outerShdw blurRad="38100" dist="38100" dir="2700000" algn="tl">
                    <a:srgbClr val="000000">
                      <a:alpha val="43137"/>
                    </a:srgbClr>
                  </a:outerShdw>
                </a:effectLst>
              </a:rPr>
              <a:t>:</a:t>
            </a:r>
          </a:p>
          <a:p>
            <a:pPr marL="0" indent="0">
              <a:buNone/>
            </a:pPr>
            <a:r>
              <a:rPr lang="en-US" sz="4400" b="1" dirty="0">
                <a:solidFill>
                  <a:srgbClr val="002060"/>
                </a:solidFill>
                <a:effectLst>
                  <a:outerShdw blurRad="38100" dist="38100" dir="2700000" algn="tl">
                    <a:srgbClr val="000000">
                      <a:alpha val="43137"/>
                    </a:srgbClr>
                  </a:outerShdw>
                </a:effectLst>
              </a:rPr>
              <a:t> </a:t>
            </a:r>
            <a:r>
              <a:rPr lang="en-US" sz="4400" b="1" u="sng" dirty="0">
                <a:solidFill>
                  <a:srgbClr val="FF0000"/>
                </a:solidFill>
                <a:effectLst>
                  <a:outerShdw blurRad="38100" dist="38100" dir="2700000" algn="tl">
                    <a:srgbClr val="000000">
                      <a:alpha val="43137"/>
                    </a:srgbClr>
                  </a:outerShdw>
                </a:effectLst>
                <a:highlight>
                  <a:srgbClr val="FFFF00"/>
                </a:highlight>
              </a:rPr>
              <a:t>if </a:t>
            </a:r>
            <a:r>
              <a:rPr lang="en-US" sz="4400" b="1" dirty="0">
                <a:solidFill>
                  <a:srgbClr val="FF0000"/>
                </a:solidFill>
                <a:effectLst>
                  <a:outerShdw blurRad="38100" dist="38100" dir="2700000" algn="tl">
                    <a:srgbClr val="000000">
                      <a:alpha val="43137"/>
                    </a:srgbClr>
                  </a:outerShdw>
                </a:effectLst>
                <a:highlight>
                  <a:srgbClr val="FFFF00"/>
                </a:highlight>
              </a:rPr>
              <a:t>the service</a:t>
            </a:r>
            <a:r>
              <a:rPr lang="en-US" sz="4400" dirty="0">
                <a:highlight>
                  <a:srgbClr val="FFFF00"/>
                </a:highlight>
              </a:rPr>
              <a:t> </a:t>
            </a:r>
            <a:r>
              <a:rPr lang="pl-PL" sz="4400" dirty="0">
                <a:solidFill>
                  <a:srgbClr val="002060"/>
                </a:solidFill>
                <a:highlight>
                  <a:srgbClr val="FFFF00"/>
                </a:highlight>
              </a:rPr>
              <a:t>were </a:t>
            </a:r>
            <a:r>
              <a:rPr lang="en-US" sz="4400" b="1" dirty="0">
                <a:solidFill>
                  <a:srgbClr val="002060"/>
                </a:solidFill>
                <a:effectLst>
                  <a:outerShdw blurRad="38100" dist="38100" dir="2700000" algn="tl">
                    <a:srgbClr val="000000">
                      <a:alpha val="43137"/>
                    </a:srgbClr>
                  </a:outerShdw>
                </a:effectLst>
                <a:highlight>
                  <a:srgbClr val="FFFF00"/>
                </a:highlight>
              </a:rPr>
              <a:t>covered </a:t>
            </a:r>
            <a:r>
              <a:rPr lang="en-US" sz="4400" b="1" dirty="0">
                <a:solidFill>
                  <a:srgbClr val="FF0000"/>
                </a:solidFill>
                <a:effectLst>
                  <a:outerShdw blurRad="38100" dist="38100" dir="2700000" algn="tl">
                    <a:srgbClr val="000000">
                      <a:alpha val="43137"/>
                    </a:srgbClr>
                  </a:outerShdw>
                </a:effectLst>
                <a:highlight>
                  <a:srgbClr val="FFFF00"/>
                </a:highlight>
              </a:rPr>
              <a:t>by Directive</a:t>
            </a:r>
            <a:r>
              <a:rPr lang="pl-PL" sz="4400" b="1" dirty="0">
                <a:solidFill>
                  <a:srgbClr val="FF0000"/>
                </a:solidFill>
                <a:effectLst>
                  <a:outerShdw blurRad="38100" dist="38100" dir="2700000" algn="tl">
                    <a:srgbClr val="000000">
                      <a:alpha val="43137"/>
                    </a:srgbClr>
                  </a:outerShdw>
                </a:effectLst>
                <a:highlight>
                  <a:srgbClr val="FFFF00"/>
                </a:highlight>
              </a:rPr>
              <a:t>s</a:t>
            </a:r>
            <a:r>
              <a:rPr lang="en-US" sz="4400" b="1" dirty="0">
                <a:solidFill>
                  <a:srgbClr val="FF0000"/>
                </a:solidFill>
                <a:effectLst>
                  <a:outerShdw blurRad="38100" dist="38100" dir="2700000" algn="tl">
                    <a:srgbClr val="000000">
                      <a:alpha val="43137"/>
                    </a:srgbClr>
                  </a:outerShdw>
                </a:effectLst>
              </a:rPr>
              <a:t> </a:t>
            </a:r>
            <a:r>
              <a:rPr lang="en-US" sz="4400" dirty="0">
                <a:solidFill>
                  <a:srgbClr val="002060"/>
                </a:solidFill>
              </a:rPr>
              <a:t>2006/123 or Directive</a:t>
            </a:r>
            <a:r>
              <a:rPr lang="pl-PL" sz="4400" dirty="0">
                <a:solidFill>
                  <a:srgbClr val="002060"/>
                </a:solidFill>
              </a:rPr>
              <a:t> on services in the internal market</a:t>
            </a:r>
            <a:r>
              <a:rPr lang="en-US" sz="4400" dirty="0">
                <a:solidFill>
                  <a:srgbClr val="002060"/>
                </a:solidFill>
              </a:rPr>
              <a:t> 98/34, </a:t>
            </a:r>
            <a:r>
              <a:rPr lang="en-US" sz="4400" b="1" dirty="0">
                <a:solidFill>
                  <a:srgbClr val="FF0000"/>
                </a:solidFill>
                <a:effectLst>
                  <a:outerShdw blurRad="38100" dist="38100" dir="2700000" algn="tl">
                    <a:srgbClr val="000000">
                      <a:alpha val="43137"/>
                    </a:srgbClr>
                  </a:outerShdw>
                </a:effectLst>
                <a:highlight>
                  <a:srgbClr val="FFFF00"/>
                </a:highlight>
              </a:rPr>
              <a:t>Uber’s practices </a:t>
            </a:r>
            <a:r>
              <a:rPr lang="en-US" sz="4400" b="1" u="sng" dirty="0">
                <a:solidFill>
                  <a:srgbClr val="FF0000"/>
                </a:solidFill>
                <a:effectLst>
                  <a:outerShdw blurRad="38100" dist="38100" dir="2700000" algn="tl">
                    <a:srgbClr val="000000">
                      <a:alpha val="43137"/>
                    </a:srgbClr>
                  </a:outerShdw>
                </a:effectLst>
                <a:highlight>
                  <a:srgbClr val="FFFF00"/>
                </a:highlight>
              </a:rPr>
              <a:t>could </a:t>
            </a:r>
            <a:r>
              <a:rPr lang="en-US" sz="4400" b="1" i="1" u="sng" dirty="0">
                <a:solidFill>
                  <a:srgbClr val="FF0000"/>
                </a:solidFill>
                <a:effectLst>
                  <a:outerShdw blurRad="38100" dist="38100" dir="2700000" algn="tl">
                    <a:srgbClr val="000000">
                      <a:alpha val="43137"/>
                    </a:srgbClr>
                  </a:outerShdw>
                </a:effectLst>
                <a:highlight>
                  <a:srgbClr val="FFFF00"/>
                </a:highlight>
              </a:rPr>
              <a:t>not be regarded as unfair practices</a:t>
            </a:r>
            <a:endParaRPr lang="en-US" sz="4400" i="1" u="sng" dirty="0">
              <a:highlight>
                <a:srgbClr val="FFFF00"/>
              </a:highlight>
            </a:endParaRPr>
          </a:p>
          <a:p>
            <a:pPr marL="0" indent="0">
              <a:buNone/>
            </a:pPr>
            <a:endParaRPr lang="pl-PL" dirty="0"/>
          </a:p>
          <a:p>
            <a:endParaRPr lang="en-US" dirty="0"/>
          </a:p>
        </p:txBody>
      </p:sp>
      <p:sp>
        <p:nvSpPr>
          <p:cNvPr id="4" name="Symbol zastępczy numeru slajdu 3">
            <a:extLst>
              <a:ext uri="{FF2B5EF4-FFF2-40B4-BE49-F238E27FC236}">
                <a16:creationId xmlns:a16="http://schemas.microsoft.com/office/drawing/2014/main" id="{D9DBA5A7-8FA7-4F08-8B50-677B6C859041}"/>
              </a:ext>
            </a:extLst>
          </p:cNvPr>
          <p:cNvSpPr>
            <a:spLocks noGrp="1"/>
          </p:cNvSpPr>
          <p:nvPr>
            <p:ph type="sldNum" sz="quarter" idx="12"/>
          </p:nvPr>
        </p:nvSpPr>
        <p:spPr/>
        <p:txBody>
          <a:bodyPr/>
          <a:lstStyle/>
          <a:p>
            <a:fld id="{31FE8408-9B39-4718-B64F-54F72D092B1B}" type="slidenum">
              <a:rPr lang="pl-PL" smtClean="0"/>
              <a:t>52</a:t>
            </a:fld>
            <a:endParaRPr lang="pl-PL" dirty="0"/>
          </a:p>
        </p:txBody>
      </p:sp>
    </p:spTree>
    <p:extLst>
      <p:ext uri="{BB962C8B-B14F-4D97-AF65-F5344CB8AC3E}">
        <p14:creationId xmlns:p14="http://schemas.microsoft.com/office/powerpoint/2010/main" val="6743655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42D4204-F5D5-41A9-B742-AD4D49BA5B36}"/>
              </a:ext>
            </a:extLst>
          </p:cNvPr>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rPr>
              <a:t>The dispute and the preliminary question</a:t>
            </a:r>
            <a:endParaRPr lang="en-US" dirty="0"/>
          </a:p>
        </p:txBody>
      </p:sp>
      <p:sp>
        <p:nvSpPr>
          <p:cNvPr id="3" name="Symbol zastępczy zawartości 2">
            <a:extLst>
              <a:ext uri="{FF2B5EF4-FFF2-40B4-BE49-F238E27FC236}">
                <a16:creationId xmlns:a16="http://schemas.microsoft.com/office/drawing/2014/main" id="{564689A8-824B-4DDC-A391-27D9C8A60920}"/>
              </a:ext>
            </a:extLst>
          </p:cNvPr>
          <p:cNvSpPr>
            <a:spLocks noGrp="1"/>
          </p:cNvSpPr>
          <p:nvPr>
            <p:ph idx="1"/>
          </p:nvPr>
        </p:nvSpPr>
        <p:spPr>
          <a:xfrm>
            <a:off x="838200" y="1825625"/>
            <a:ext cx="10515600" cy="4895850"/>
          </a:xfrm>
        </p:spPr>
        <p:txBody>
          <a:bodyPr>
            <a:normAutofit/>
          </a:bodyPr>
          <a:lstStyle/>
          <a:p>
            <a:r>
              <a:rPr lang="en-US" sz="4000" b="1" dirty="0">
                <a:solidFill>
                  <a:srgbClr val="FF0000"/>
                </a:solidFill>
                <a:effectLst>
                  <a:outerShdw blurRad="38100" dist="38100" dir="2700000" algn="tl">
                    <a:srgbClr val="000000">
                      <a:alpha val="43137"/>
                    </a:srgbClr>
                  </a:outerShdw>
                </a:effectLst>
                <a:highlight>
                  <a:srgbClr val="FFFF00"/>
                </a:highlight>
              </a:rPr>
              <a:t>Uber contacts or connects </a:t>
            </a:r>
            <a:r>
              <a:rPr lang="en-US" sz="4000" dirty="0"/>
              <a:t>with </a:t>
            </a:r>
            <a:r>
              <a:rPr lang="en-US" sz="4000" dirty="0">
                <a:solidFill>
                  <a:srgbClr val="92D050"/>
                </a:solidFill>
              </a:rPr>
              <a:t>non-professional drivers</a:t>
            </a:r>
            <a:r>
              <a:rPr lang="en-US" sz="4000" dirty="0">
                <a:solidFill>
                  <a:srgbClr val="002060"/>
                </a:solidFill>
              </a:rPr>
              <a:t> </a:t>
            </a:r>
            <a:r>
              <a:rPr lang="en-US" sz="4000" dirty="0"/>
              <a:t>to whom it provides a number of </a:t>
            </a:r>
            <a:r>
              <a:rPr lang="en-US" sz="4000" b="1" u="sng" dirty="0">
                <a:solidFill>
                  <a:srgbClr val="FF0000"/>
                </a:solidFill>
                <a:effectLst>
                  <a:outerShdw blurRad="38100" dist="38100" dir="2700000" algn="tl">
                    <a:srgbClr val="000000">
                      <a:alpha val="43137"/>
                    </a:srgbClr>
                  </a:outerShdw>
                </a:effectLst>
                <a:highlight>
                  <a:srgbClr val="FFFF00"/>
                </a:highlight>
              </a:rPr>
              <a:t>software tools</a:t>
            </a:r>
            <a:r>
              <a:rPr lang="en-US" sz="4000" dirty="0">
                <a:highlight>
                  <a:srgbClr val="FFFF00"/>
                </a:highlight>
              </a:rPr>
              <a:t> </a:t>
            </a:r>
            <a:r>
              <a:rPr lang="en-US" sz="4000" dirty="0"/>
              <a:t>— an </a:t>
            </a:r>
            <a:r>
              <a:rPr lang="en-US" sz="4000" dirty="0">
                <a:solidFill>
                  <a:srgbClr val="002060"/>
                </a:solidFill>
              </a:rPr>
              <a:t>interface</a:t>
            </a:r>
            <a:r>
              <a:rPr lang="en-US" sz="4000" dirty="0"/>
              <a:t> — which enables them, in turn, to connect with persons who wish to make urban journeys and who </a:t>
            </a:r>
            <a:r>
              <a:rPr lang="en-US" sz="4000" b="1" dirty="0">
                <a:solidFill>
                  <a:srgbClr val="FF0000"/>
                </a:solidFill>
                <a:effectLst>
                  <a:outerShdw blurRad="38100" dist="38100" dir="2700000" algn="tl">
                    <a:srgbClr val="000000">
                      <a:alpha val="43137"/>
                    </a:srgbClr>
                  </a:outerShdw>
                </a:effectLst>
              </a:rPr>
              <a:t>gain access to the service </a:t>
            </a:r>
            <a:r>
              <a:rPr lang="en-US" sz="4000" dirty="0"/>
              <a:t>through the eponymous software application</a:t>
            </a:r>
          </a:p>
          <a:p>
            <a:r>
              <a:rPr lang="en-US" sz="4000" dirty="0">
                <a:solidFill>
                  <a:srgbClr val="002060"/>
                </a:solidFill>
              </a:rPr>
              <a:t>Uber’s </a:t>
            </a:r>
            <a:r>
              <a:rPr lang="en-US" sz="4000" b="1" dirty="0">
                <a:solidFill>
                  <a:srgbClr val="002060"/>
                </a:solidFill>
              </a:rPr>
              <a:t>activity is </a:t>
            </a:r>
            <a:r>
              <a:rPr lang="en-US" sz="4000" b="1" dirty="0">
                <a:solidFill>
                  <a:srgbClr val="FF0000"/>
                </a:solidFill>
              </a:rPr>
              <a:t>for profit</a:t>
            </a:r>
            <a:endParaRPr lang="en-US" sz="4000" dirty="0">
              <a:solidFill>
                <a:srgbClr val="FF0000"/>
              </a:solidFill>
            </a:endParaRPr>
          </a:p>
          <a:p>
            <a:endParaRPr lang="en-US" dirty="0"/>
          </a:p>
        </p:txBody>
      </p:sp>
      <p:sp>
        <p:nvSpPr>
          <p:cNvPr id="4" name="Symbol zastępczy numeru slajdu 3">
            <a:extLst>
              <a:ext uri="{FF2B5EF4-FFF2-40B4-BE49-F238E27FC236}">
                <a16:creationId xmlns:a16="http://schemas.microsoft.com/office/drawing/2014/main" id="{A50045E1-10E7-4FD0-BBCC-793925A9CC56}"/>
              </a:ext>
            </a:extLst>
          </p:cNvPr>
          <p:cNvSpPr>
            <a:spLocks noGrp="1"/>
          </p:cNvSpPr>
          <p:nvPr>
            <p:ph type="sldNum" sz="quarter" idx="12"/>
          </p:nvPr>
        </p:nvSpPr>
        <p:spPr/>
        <p:txBody>
          <a:bodyPr/>
          <a:lstStyle/>
          <a:p>
            <a:fld id="{31FE8408-9B39-4718-B64F-54F72D092B1B}" type="slidenum">
              <a:rPr lang="pl-PL" smtClean="0"/>
              <a:t>53</a:t>
            </a:fld>
            <a:endParaRPr lang="pl-PL" dirty="0"/>
          </a:p>
        </p:txBody>
      </p:sp>
    </p:spTree>
    <p:extLst>
      <p:ext uri="{BB962C8B-B14F-4D97-AF65-F5344CB8AC3E}">
        <p14:creationId xmlns:p14="http://schemas.microsoft.com/office/powerpoint/2010/main" val="40325881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472F71F-F3D1-49A6-82DB-17269FBCCF18}"/>
              </a:ext>
            </a:extLst>
          </p:cNvPr>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rPr>
              <a:t>Preliminary questions</a:t>
            </a:r>
            <a:r>
              <a:rPr lang="pl-PL" b="1" dirty="0">
                <a:solidFill>
                  <a:srgbClr val="FF0000"/>
                </a:solidFill>
                <a:effectLst>
                  <a:outerShdw blurRad="38100" dist="38100" dir="2700000" algn="tl">
                    <a:srgbClr val="000000">
                      <a:alpha val="43137"/>
                    </a:srgbClr>
                  </a:outerShdw>
                </a:effectLst>
              </a:rPr>
              <a:t> </a:t>
            </a:r>
            <a:endParaRPr lang="en-US" dirty="0"/>
          </a:p>
        </p:txBody>
      </p:sp>
      <p:sp>
        <p:nvSpPr>
          <p:cNvPr id="3" name="Symbol zastępczy zawartości 2">
            <a:extLst>
              <a:ext uri="{FF2B5EF4-FFF2-40B4-BE49-F238E27FC236}">
                <a16:creationId xmlns:a16="http://schemas.microsoft.com/office/drawing/2014/main" id="{88528952-11E1-4A5F-91AB-4108C0866F14}"/>
              </a:ext>
            </a:extLst>
          </p:cNvPr>
          <p:cNvSpPr>
            <a:spLocks noGrp="1"/>
          </p:cNvSpPr>
          <p:nvPr>
            <p:ph idx="1"/>
          </p:nvPr>
        </p:nvSpPr>
        <p:spPr>
          <a:xfrm>
            <a:off x="838200" y="1825625"/>
            <a:ext cx="10515600" cy="4895850"/>
          </a:xfrm>
        </p:spPr>
        <p:txBody>
          <a:bodyPr>
            <a:normAutofit/>
          </a:bodyPr>
          <a:lstStyle/>
          <a:p>
            <a:pPr marL="0" indent="0">
              <a:buNone/>
            </a:pPr>
            <a:r>
              <a:rPr lang="en-US" sz="3600" dirty="0"/>
              <a:t>Within the identification of the </a:t>
            </a:r>
            <a:r>
              <a:rPr lang="en-US" sz="3600" b="1" dirty="0">
                <a:solidFill>
                  <a:srgbClr val="FF0000"/>
                </a:solidFill>
                <a:effectLst>
                  <a:outerShdw blurRad="38100" dist="38100" dir="2700000" algn="tl">
                    <a:srgbClr val="000000">
                      <a:alpha val="43137"/>
                    </a:srgbClr>
                  </a:outerShdw>
                </a:effectLst>
              </a:rPr>
              <a:t>legal nature of that activity,</a:t>
            </a:r>
            <a:r>
              <a:rPr lang="en-US" sz="3600" dirty="0"/>
              <a:t> can it be considered to be … </a:t>
            </a:r>
            <a:r>
              <a:rPr lang="en-US" sz="3600" b="1" dirty="0">
                <a:solidFill>
                  <a:srgbClr val="0070C0"/>
                </a:solidFill>
                <a:effectLst>
                  <a:outerShdw blurRad="38100" dist="38100" dir="2700000" algn="tl">
                    <a:srgbClr val="000000">
                      <a:alpha val="43137"/>
                    </a:srgbClr>
                  </a:outerShdw>
                </a:effectLst>
              </a:rPr>
              <a:t>in part </a:t>
            </a:r>
            <a:r>
              <a:rPr lang="en-US" sz="3600" dirty="0"/>
              <a:t>an </a:t>
            </a:r>
            <a:r>
              <a:rPr lang="en-US" sz="3600" b="1" dirty="0">
                <a:solidFill>
                  <a:srgbClr val="FF0000"/>
                </a:solidFill>
                <a:effectLst>
                  <a:outerShdw blurRad="38100" dist="38100" dir="2700000" algn="tl">
                    <a:srgbClr val="000000">
                      <a:alpha val="43137"/>
                    </a:srgbClr>
                  </a:outerShdw>
                </a:effectLst>
              </a:rPr>
              <a:t>information society service</a:t>
            </a:r>
            <a:r>
              <a:rPr lang="en-US" sz="3600" dirty="0"/>
              <a:t>, and,</a:t>
            </a:r>
          </a:p>
          <a:p>
            <a:pPr marL="0" indent="0">
              <a:buNone/>
            </a:pPr>
            <a:r>
              <a:rPr lang="en-US" sz="3600" dirty="0"/>
              <a:t> </a:t>
            </a:r>
            <a:r>
              <a:rPr lang="en-US" sz="3600" b="1" dirty="0">
                <a:solidFill>
                  <a:srgbClr val="FF0000"/>
                </a:solidFill>
                <a:effectLst>
                  <a:outerShdw blurRad="38100" dist="38100" dir="2700000" algn="tl">
                    <a:srgbClr val="000000">
                      <a:alpha val="43137"/>
                    </a:srgbClr>
                  </a:outerShdw>
                </a:effectLst>
              </a:rPr>
              <a:t>if so, </a:t>
            </a:r>
            <a:r>
              <a:rPr lang="en-US" sz="3600" dirty="0"/>
              <a:t>ought the electronic intermediary service to benefit from the </a:t>
            </a:r>
            <a:r>
              <a:rPr lang="en-US" sz="3600" b="1" u="sng" dirty="0">
                <a:solidFill>
                  <a:srgbClr val="FF0000"/>
                </a:solidFill>
                <a:effectLst>
                  <a:outerShdw blurRad="38100" dist="38100" dir="2700000" algn="tl">
                    <a:srgbClr val="000000">
                      <a:alpha val="43137"/>
                    </a:srgbClr>
                  </a:outerShdw>
                </a:effectLst>
                <a:highlight>
                  <a:srgbClr val="FFFF00"/>
                </a:highlight>
              </a:rPr>
              <a:t>principle of freedom to </a:t>
            </a:r>
            <a:endParaRPr lang="pl-PL" sz="3600" b="1" u="sng" dirty="0">
              <a:solidFill>
                <a:srgbClr val="FF0000"/>
              </a:solidFill>
              <a:effectLst>
                <a:outerShdw blurRad="38100" dist="38100" dir="2700000" algn="tl">
                  <a:srgbClr val="000000">
                    <a:alpha val="43137"/>
                  </a:srgbClr>
                </a:outerShdw>
              </a:effectLst>
              <a:highlight>
                <a:srgbClr val="FFFF00"/>
              </a:highlight>
            </a:endParaRPr>
          </a:p>
          <a:p>
            <a:pPr marL="0" indent="0">
              <a:buNone/>
            </a:pPr>
            <a:r>
              <a:rPr lang="en-US" sz="3600" b="1" u="sng" dirty="0">
                <a:solidFill>
                  <a:srgbClr val="FF0000"/>
                </a:solidFill>
                <a:effectLst>
                  <a:outerShdw blurRad="38100" dist="38100" dir="2700000" algn="tl">
                    <a:srgbClr val="000000">
                      <a:alpha val="43137"/>
                    </a:srgbClr>
                  </a:outerShdw>
                </a:effectLst>
                <a:highlight>
                  <a:srgbClr val="FFFF00"/>
                </a:highlight>
              </a:rPr>
              <a:t>provide services </a:t>
            </a:r>
            <a:r>
              <a:rPr lang="en-US" sz="3600" u="sng" dirty="0"/>
              <a:t>as guaranteed </a:t>
            </a:r>
            <a:r>
              <a:rPr lang="pl-PL" sz="3600" u="sng" dirty="0"/>
              <a:t>in</a:t>
            </a:r>
            <a:r>
              <a:rPr lang="en-US" sz="3600" u="sng" dirty="0"/>
              <a:t> </a:t>
            </a:r>
            <a:r>
              <a:rPr lang="en-US" sz="3600" b="1" u="sng" dirty="0">
                <a:solidFill>
                  <a:srgbClr val="FF0000"/>
                </a:solidFill>
                <a:effectLst>
                  <a:outerShdw blurRad="38100" dist="38100" dir="2700000" algn="tl">
                    <a:srgbClr val="000000">
                      <a:alpha val="43137"/>
                    </a:srgbClr>
                  </a:outerShdw>
                </a:effectLst>
                <a:highlight>
                  <a:srgbClr val="FFFF00"/>
                </a:highlight>
              </a:rPr>
              <a:t>Article</a:t>
            </a:r>
            <a:r>
              <a:rPr lang="en-US" sz="3600" u="sng" dirty="0">
                <a:solidFill>
                  <a:srgbClr val="FF0000"/>
                </a:solidFill>
                <a:highlight>
                  <a:srgbClr val="FFFF00"/>
                </a:highlight>
              </a:rPr>
              <a:t> </a:t>
            </a:r>
            <a:r>
              <a:rPr lang="en-US" sz="3600" b="1" u="sng" dirty="0">
                <a:solidFill>
                  <a:srgbClr val="FF0000"/>
                </a:solidFill>
                <a:effectLst>
                  <a:outerShdw blurRad="38100" dist="38100" dir="2700000" algn="tl">
                    <a:srgbClr val="000000">
                      <a:alpha val="43137"/>
                    </a:srgbClr>
                  </a:outerShdw>
                </a:effectLst>
                <a:highlight>
                  <a:srgbClr val="FFFF00"/>
                </a:highlight>
              </a:rPr>
              <a:t>56 TFEU </a:t>
            </a:r>
            <a:r>
              <a:rPr lang="en-US" sz="3600" dirty="0"/>
              <a:t>and Directives [2006/123] and … [2000/31]?</a:t>
            </a:r>
          </a:p>
          <a:p>
            <a:pPr marL="0" indent="0">
              <a:buNone/>
            </a:pPr>
            <a:endParaRPr lang="en-US" dirty="0"/>
          </a:p>
        </p:txBody>
      </p:sp>
      <p:sp>
        <p:nvSpPr>
          <p:cNvPr id="4" name="Symbol zastępczy numeru slajdu 3">
            <a:extLst>
              <a:ext uri="{FF2B5EF4-FFF2-40B4-BE49-F238E27FC236}">
                <a16:creationId xmlns:a16="http://schemas.microsoft.com/office/drawing/2014/main" id="{37BA157B-C8A9-4B61-B068-AE0A39273E2B}"/>
              </a:ext>
            </a:extLst>
          </p:cNvPr>
          <p:cNvSpPr>
            <a:spLocks noGrp="1"/>
          </p:cNvSpPr>
          <p:nvPr>
            <p:ph type="sldNum" sz="quarter" idx="12"/>
          </p:nvPr>
        </p:nvSpPr>
        <p:spPr/>
        <p:txBody>
          <a:bodyPr/>
          <a:lstStyle/>
          <a:p>
            <a:fld id="{31FE8408-9B39-4718-B64F-54F72D092B1B}" type="slidenum">
              <a:rPr lang="pl-PL" smtClean="0"/>
              <a:t>54</a:t>
            </a:fld>
            <a:endParaRPr lang="pl-PL" dirty="0"/>
          </a:p>
        </p:txBody>
      </p:sp>
    </p:spTree>
    <p:extLst>
      <p:ext uri="{BB962C8B-B14F-4D97-AF65-F5344CB8AC3E}">
        <p14:creationId xmlns:p14="http://schemas.microsoft.com/office/powerpoint/2010/main" val="9524817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4845E54A-3DD0-42D7-B578-7E220E092D36}"/>
              </a:ext>
            </a:extLst>
          </p:cNvPr>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rPr>
              <a:t>Preliminary questions</a:t>
            </a:r>
            <a:endParaRPr lang="en-US" dirty="0"/>
          </a:p>
        </p:txBody>
      </p:sp>
      <p:sp>
        <p:nvSpPr>
          <p:cNvPr id="3" name="Symbol zastępczy zawartości 2">
            <a:extLst>
              <a:ext uri="{FF2B5EF4-FFF2-40B4-BE49-F238E27FC236}">
                <a16:creationId xmlns:a16="http://schemas.microsoft.com/office/drawing/2014/main" id="{FAE8281A-1C68-4517-B993-DB05C0304041}"/>
              </a:ext>
            </a:extLst>
          </p:cNvPr>
          <p:cNvSpPr>
            <a:spLocks noGrp="1"/>
          </p:cNvSpPr>
          <p:nvPr>
            <p:ph idx="1"/>
          </p:nvPr>
        </p:nvSpPr>
        <p:spPr>
          <a:xfrm>
            <a:off x="838200" y="1825625"/>
            <a:ext cx="10515600" cy="4895850"/>
          </a:xfrm>
        </p:spPr>
        <p:txBody>
          <a:bodyPr>
            <a:normAutofit/>
          </a:bodyPr>
          <a:lstStyle/>
          <a:p>
            <a:r>
              <a:rPr lang="pl-PL" b="1" dirty="0">
                <a:solidFill>
                  <a:srgbClr val="002060"/>
                </a:solidFill>
                <a:effectLst>
                  <a:outerShdw blurRad="38100" dist="38100" dir="2700000" algn="tl">
                    <a:srgbClr val="000000">
                      <a:alpha val="43137"/>
                    </a:srgbClr>
                  </a:outerShdw>
                </a:effectLst>
              </a:rPr>
              <a:t>I</a:t>
            </a:r>
            <a:r>
              <a:rPr lang="en-US" b="1" dirty="0">
                <a:solidFill>
                  <a:srgbClr val="002060"/>
                </a:solidFill>
                <a:effectLst>
                  <a:outerShdw blurRad="38100" dist="38100" dir="2700000" algn="tl">
                    <a:srgbClr val="000000">
                      <a:alpha val="43137"/>
                    </a:srgbClr>
                  </a:outerShdw>
                </a:effectLst>
              </a:rPr>
              <a:t>s Article 15 of </a:t>
            </a:r>
            <a:r>
              <a:rPr lang="pl-PL" b="1" dirty="0">
                <a:solidFill>
                  <a:srgbClr val="002060"/>
                </a:solidFill>
                <a:effectLst>
                  <a:outerShdw blurRad="38100" dist="38100" dir="2700000" algn="tl">
                    <a:srgbClr val="000000">
                      <a:alpha val="43137"/>
                    </a:srgbClr>
                  </a:outerShdw>
                </a:effectLst>
              </a:rPr>
              <a:t>the </a:t>
            </a:r>
            <a:r>
              <a:rPr lang="pl-PL" b="1" dirty="0">
                <a:solidFill>
                  <a:srgbClr val="002060"/>
                </a:solidFill>
                <a:effectLst>
                  <a:outerShdw blurRad="38100" dist="38100" dir="2700000" algn="tl">
                    <a:srgbClr val="000000">
                      <a:alpha val="43137"/>
                    </a:srgbClr>
                  </a:outerShdw>
                </a:effectLst>
                <a:highlight>
                  <a:srgbClr val="FFFF00"/>
                </a:highlight>
              </a:rPr>
              <a:t>Spanish </a:t>
            </a:r>
            <a:r>
              <a:rPr lang="en-US" b="1" dirty="0">
                <a:solidFill>
                  <a:srgbClr val="002060"/>
                </a:solidFill>
                <a:effectLst>
                  <a:outerShdw blurRad="38100" dist="38100" dir="2700000" algn="tl">
                    <a:srgbClr val="000000">
                      <a:alpha val="43137"/>
                    </a:srgbClr>
                  </a:outerShdw>
                </a:effectLst>
                <a:highlight>
                  <a:srgbClr val="FFFF00"/>
                </a:highlight>
              </a:rPr>
              <a:t>Law</a:t>
            </a:r>
            <a:r>
              <a:rPr lang="en-US" dirty="0">
                <a:highlight>
                  <a:srgbClr val="FFFF00"/>
                </a:highlight>
              </a:rPr>
              <a:t> </a:t>
            </a:r>
            <a:r>
              <a:rPr lang="en-US" dirty="0">
                <a:solidFill>
                  <a:srgbClr val="002060"/>
                </a:solidFill>
              </a:rPr>
              <a:t>on</a:t>
            </a:r>
            <a:r>
              <a:rPr lang="en-US" dirty="0"/>
              <a:t> </a:t>
            </a:r>
            <a:r>
              <a:rPr lang="pl-PL" b="1" dirty="0">
                <a:solidFill>
                  <a:srgbClr val="002060"/>
                </a:solidFill>
                <a:effectLst>
                  <a:outerShdw blurRad="38100" dist="38100" dir="2700000" algn="tl">
                    <a:srgbClr val="000000">
                      <a:alpha val="43137"/>
                    </a:srgbClr>
                  </a:outerShdw>
                </a:effectLst>
              </a:rPr>
              <a:t>UNFAIR</a:t>
            </a:r>
            <a:r>
              <a:rPr lang="en-US" b="1" dirty="0">
                <a:solidFill>
                  <a:srgbClr val="002060"/>
                </a:solidFill>
                <a:effectLst>
                  <a:outerShdw blurRad="38100" dist="38100" dir="2700000" algn="tl">
                    <a:srgbClr val="000000">
                      <a:alpha val="43137"/>
                    </a:srgbClr>
                  </a:outerShdw>
                </a:effectLst>
              </a:rPr>
              <a:t> competition</a:t>
            </a:r>
            <a:r>
              <a:rPr lang="pl-PL" b="1" dirty="0">
                <a:solidFill>
                  <a:srgbClr val="002060"/>
                </a:solidFill>
                <a:effectLst>
                  <a:outerShdw blurRad="38100" dist="38100" dir="2700000" algn="tl">
                    <a:srgbClr val="000000">
                      <a:alpha val="43137"/>
                    </a:srgbClr>
                  </a:outerShdw>
                </a:effectLst>
              </a:rPr>
              <a:t> </a:t>
            </a:r>
            <a:r>
              <a:rPr lang="pl-PL" b="1" u="sng" dirty="0">
                <a:solidFill>
                  <a:srgbClr val="002060"/>
                </a:solidFill>
                <a:effectLst>
                  <a:outerShdw blurRad="38100" dist="38100" dir="2700000" algn="tl">
                    <a:srgbClr val="000000">
                      <a:alpha val="43137"/>
                    </a:srgbClr>
                  </a:outerShdw>
                </a:effectLst>
                <a:highlight>
                  <a:srgbClr val="FFFF00"/>
                </a:highlight>
              </a:rPr>
              <a:t>CONTRARY</a:t>
            </a:r>
            <a:r>
              <a:rPr lang="en-US" b="1" u="sng" dirty="0">
                <a:solidFill>
                  <a:srgbClr val="FF0000"/>
                </a:solidFill>
                <a:effectLst>
                  <a:outerShdw blurRad="38100" dist="38100" dir="2700000" algn="tl">
                    <a:srgbClr val="000000">
                      <a:alpha val="43137"/>
                    </a:srgbClr>
                  </a:outerShdw>
                </a:effectLst>
                <a:highlight>
                  <a:srgbClr val="FFFF00"/>
                </a:highlight>
              </a:rPr>
              <a:t> to Directive 2006/123</a:t>
            </a:r>
            <a:r>
              <a:rPr lang="pl-PL" b="1" u="sng" dirty="0">
                <a:solidFill>
                  <a:srgbClr val="FF0000"/>
                </a:solidFill>
                <a:effectLst>
                  <a:outerShdw blurRad="38100" dist="38100" dir="2700000" algn="tl">
                    <a:srgbClr val="000000">
                      <a:alpha val="43137"/>
                    </a:srgbClr>
                  </a:outerShdw>
                </a:effectLst>
                <a:highlight>
                  <a:srgbClr val="FFFF00"/>
                </a:highlight>
              </a:rPr>
              <a:t> </a:t>
            </a:r>
            <a:r>
              <a:rPr lang="pl-PL" b="1" i="1" u="sng" dirty="0">
                <a:solidFill>
                  <a:srgbClr val="002060"/>
                </a:solidFill>
                <a:effectLst>
                  <a:outerShdw blurRad="38100" dist="38100" dir="2700000" algn="tl">
                    <a:srgbClr val="000000">
                      <a:alpha val="43137"/>
                    </a:srgbClr>
                  </a:outerShdw>
                </a:effectLst>
                <a:highlight>
                  <a:srgbClr val="FFFF00"/>
                </a:highlight>
              </a:rPr>
              <a:t>[which protects freedom of international trade within the EU</a:t>
            </a:r>
            <a:r>
              <a:rPr lang="pl-PL" b="1" i="1" u="sng" dirty="0">
                <a:solidFill>
                  <a:srgbClr val="002060"/>
                </a:solidFill>
                <a:effectLst>
                  <a:outerShdw blurRad="38100" dist="38100" dir="2700000" algn="tl">
                    <a:srgbClr val="000000">
                      <a:alpha val="43137"/>
                    </a:srgbClr>
                  </a:outerShdw>
                </a:effectLst>
              </a:rPr>
              <a:t>]?</a:t>
            </a:r>
          </a:p>
          <a:p>
            <a:r>
              <a:rPr lang="pl-PL" dirty="0"/>
              <a:t>S</a:t>
            </a:r>
            <a:r>
              <a:rPr lang="en-US" dirty="0"/>
              <a:t>pecifically Article 9 on </a:t>
            </a:r>
            <a:r>
              <a:rPr lang="en-US" b="1" dirty="0">
                <a:solidFill>
                  <a:srgbClr val="FF0000"/>
                </a:solidFill>
                <a:effectLst>
                  <a:outerShdw blurRad="38100" dist="38100" dir="2700000" algn="tl">
                    <a:srgbClr val="000000">
                      <a:alpha val="43137"/>
                    </a:srgbClr>
                  </a:outerShdw>
                </a:effectLst>
              </a:rPr>
              <a:t>freedom of establishment and authorisation schemes</a:t>
            </a:r>
            <a:r>
              <a:rPr lang="en-US" dirty="0"/>
              <a:t>, when the reference to national laws or to legal provisions is made </a:t>
            </a:r>
            <a:r>
              <a:rPr lang="en-US" b="1" dirty="0">
                <a:solidFill>
                  <a:srgbClr val="002060"/>
                </a:solidFill>
                <a:effectLst>
                  <a:outerShdw blurRad="38100" dist="38100" dir="2700000" algn="tl">
                    <a:srgbClr val="000000">
                      <a:alpha val="43137"/>
                    </a:srgbClr>
                  </a:outerShdw>
                </a:effectLst>
              </a:rPr>
              <a:t>without taking into account the fact </a:t>
            </a:r>
            <a:r>
              <a:rPr lang="en-US" dirty="0"/>
              <a:t>that </a:t>
            </a:r>
            <a:r>
              <a:rPr lang="en-US" b="1" dirty="0">
                <a:solidFill>
                  <a:srgbClr val="FF0000"/>
                </a:solidFill>
                <a:effectLst>
                  <a:outerShdw blurRad="38100" dist="38100" dir="2700000" algn="tl">
                    <a:srgbClr val="000000">
                      <a:alpha val="43137"/>
                    </a:srgbClr>
                  </a:outerShdw>
                </a:effectLst>
              </a:rPr>
              <a:t>the scheme </a:t>
            </a:r>
            <a:r>
              <a:rPr lang="en-US" dirty="0"/>
              <a:t>for obtaining </a:t>
            </a:r>
            <a:r>
              <a:rPr lang="en-US" b="1" dirty="0">
                <a:solidFill>
                  <a:srgbClr val="FF0000"/>
                </a:solidFill>
                <a:effectLst>
                  <a:outerShdw blurRad="38100" dist="38100" dir="2700000" algn="tl">
                    <a:srgbClr val="000000">
                      <a:alpha val="43137"/>
                    </a:srgbClr>
                  </a:outerShdw>
                </a:effectLst>
              </a:rPr>
              <a:t>licences, authorisations </a:t>
            </a:r>
            <a:r>
              <a:rPr lang="en-US" dirty="0"/>
              <a:t>and permits </a:t>
            </a:r>
            <a:r>
              <a:rPr lang="en-US" dirty="0">
                <a:solidFill>
                  <a:srgbClr val="002060"/>
                </a:solidFill>
              </a:rPr>
              <a:t>may not be in any way </a:t>
            </a:r>
            <a:r>
              <a:rPr lang="en-US" dirty="0">
                <a:solidFill>
                  <a:srgbClr val="FF0000"/>
                </a:solidFill>
                <a:effectLst>
                  <a:outerShdw blurRad="38100" dist="38100" dir="2700000" algn="tl">
                    <a:srgbClr val="000000">
                      <a:alpha val="43137"/>
                    </a:srgbClr>
                  </a:outerShdw>
                </a:effectLst>
              </a:rPr>
              <a:t>restrictive or disproportionate</a:t>
            </a:r>
            <a:r>
              <a:rPr lang="en-US" dirty="0">
                <a:solidFill>
                  <a:srgbClr val="FF0000"/>
                </a:solidFill>
              </a:rPr>
              <a:t>,</a:t>
            </a:r>
            <a:r>
              <a:rPr lang="en-US" dirty="0"/>
              <a:t> that is, it may not </a:t>
            </a:r>
            <a:r>
              <a:rPr lang="en-US" dirty="0">
                <a:highlight>
                  <a:srgbClr val="FFFF00"/>
                </a:highlight>
              </a:rPr>
              <a:t>unreasonably impede the </a:t>
            </a:r>
            <a:r>
              <a:rPr lang="pl-PL" dirty="0">
                <a:highlight>
                  <a:srgbClr val="FFFF00"/>
                </a:highlight>
                <a:latin typeface="Amasis MT Pro Black" panose="02040A04050005020304" pitchFamily="18" charset="-18"/>
              </a:rPr>
              <a:t>EU </a:t>
            </a:r>
            <a:r>
              <a:rPr lang="en-US" dirty="0">
                <a:highlight>
                  <a:srgbClr val="FFFF00"/>
                </a:highlight>
                <a:latin typeface="Amasis MT Pro Black" panose="02040A04050005020304" pitchFamily="18" charset="-18"/>
              </a:rPr>
              <a:t>principle of </a:t>
            </a:r>
            <a:r>
              <a:rPr lang="pl-PL" dirty="0">
                <a:highlight>
                  <a:srgbClr val="FFFF00"/>
                </a:highlight>
                <a:latin typeface="Amasis MT Pro Black" panose="02040A04050005020304" pitchFamily="18" charset="-18"/>
              </a:rPr>
              <a:t>the </a:t>
            </a:r>
            <a:r>
              <a:rPr lang="en-US" b="1" dirty="0">
                <a:solidFill>
                  <a:srgbClr val="FF0000"/>
                </a:solidFill>
                <a:effectLst>
                  <a:outerShdw blurRad="38100" dist="38100" dir="2700000" algn="tl">
                    <a:srgbClr val="000000">
                      <a:alpha val="43137"/>
                    </a:srgbClr>
                  </a:outerShdw>
                </a:effectLst>
                <a:highlight>
                  <a:srgbClr val="00FF00"/>
                </a:highlight>
                <a:latin typeface="Amasis MT Pro Black" panose="02040A04050005020304" pitchFamily="18" charset="-18"/>
              </a:rPr>
              <a:t>freedom of establishment</a:t>
            </a:r>
            <a:r>
              <a:rPr lang="pl-PL" b="1" dirty="0">
                <a:solidFill>
                  <a:srgbClr val="FF0000"/>
                </a:solidFill>
                <a:effectLst>
                  <a:outerShdw blurRad="38100" dist="38100" dir="2700000" algn="tl">
                    <a:srgbClr val="000000">
                      <a:alpha val="43137"/>
                    </a:srgbClr>
                  </a:outerShdw>
                </a:effectLst>
                <a:highlight>
                  <a:srgbClr val="00FF00"/>
                </a:highlight>
                <a:latin typeface="Amasis MT Pro Black" panose="02040A04050005020304" pitchFamily="18" charset="-18"/>
              </a:rPr>
              <a:t> </a:t>
            </a:r>
            <a:r>
              <a:rPr lang="pl-PL" b="1" dirty="0">
                <a:solidFill>
                  <a:srgbClr val="002060"/>
                </a:solidFill>
                <a:effectLst>
                  <a:outerShdw blurRad="38100" dist="38100" dir="2700000" algn="tl">
                    <a:srgbClr val="000000">
                      <a:alpha val="43137"/>
                    </a:srgbClr>
                  </a:outerShdw>
                </a:effectLst>
                <a:highlight>
                  <a:srgbClr val="FFFF00"/>
                </a:highlight>
                <a:latin typeface="Amasis MT Pro Black" panose="02040A04050005020304" pitchFamily="18" charset="-18"/>
              </a:rPr>
              <a:t>(the right to start a business)?</a:t>
            </a:r>
            <a:endParaRPr lang="pl-PL" dirty="0">
              <a:highlight>
                <a:srgbClr val="FFFF00"/>
              </a:highlight>
              <a:latin typeface="Amasis MT Pro Black" panose="02040A04050005020304" pitchFamily="18" charset="-18"/>
            </a:endParaRPr>
          </a:p>
          <a:p>
            <a:pPr marL="0" indent="0">
              <a:buNone/>
            </a:pPr>
            <a:endParaRPr lang="en-US" dirty="0"/>
          </a:p>
        </p:txBody>
      </p:sp>
      <p:sp>
        <p:nvSpPr>
          <p:cNvPr id="4" name="Symbol zastępczy numeru slajdu 3">
            <a:extLst>
              <a:ext uri="{FF2B5EF4-FFF2-40B4-BE49-F238E27FC236}">
                <a16:creationId xmlns:a16="http://schemas.microsoft.com/office/drawing/2014/main" id="{E9FC8134-19D2-4089-B56D-F92112769E56}"/>
              </a:ext>
            </a:extLst>
          </p:cNvPr>
          <p:cNvSpPr>
            <a:spLocks noGrp="1"/>
          </p:cNvSpPr>
          <p:nvPr>
            <p:ph type="sldNum" sz="quarter" idx="12"/>
          </p:nvPr>
        </p:nvSpPr>
        <p:spPr/>
        <p:txBody>
          <a:bodyPr/>
          <a:lstStyle/>
          <a:p>
            <a:fld id="{31FE8408-9B39-4718-B64F-54F72D092B1B}" type="slidenum">
              <a:rPr lang="pl-PL" smtClean="0"/>
              <a:t>55</a:t>
            </a:fld>
            <a:endParaRPr lang="pl-PL" dirty="0"/>
          </a:p>
        </p:txBody>
      </p:sp>
    </p:spTree>
    <p:extLst>
      <p:ext uri="{BB962C8B-B14F-4D97-AF65-F5344CB8AC3E}">
        <p14:creationId xmlns:p14="http://schemas.microsoft.com/office/powerpoint/2010/main" val="36233502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EC77860-DD0A-4259-8570-B0CDA6550986}"/>
              </a:ext>
            </a:extLst>
          </p:cNvPr>
          <p:cNvSpPr>
            <a:spLocks noGrp="1"/>
          </p:cNvSpPr>
          <p:nvPr>
            <p:ph type="title"/>
          </p:nvPr>
        </p:nvSpPr>
        <p:spPr/>
        <p:txBody>
          <a:bodyPr/>
          <a:lstStyle/>
          <a:p>
            <a:r>
              <a:rPr lang="en-US" b="1" dirty="0">
                <a:solidFill>
                  <a:srgbClr val="002060"/>
                </a:solidFill>
              </a:rPr>
              <a:t>Admissibility</a:t>
            </a:r>
            <a:r>
              <a:rPr lang="pl-PL" dirty="0"/>
              <a:t> </a:t>
            </a:r>
            <a:br>
              <a:rPr lang="pl-PL" dirty="0"/>
            </a:br>
            <a:endParaRPr lang="en-US" dirty="0"/>
          </a:p>
        </p:txBody>
      </p:sp>
      <p:sp>
        <p:nvSpPr>
          <p:cNvPr id="3" name="Symbol zastępczy zawartości 2">
            <a:extLst>
              <a:ext uri="{FF2B5EF4-FFF2-40B4-BE49-F238E27FC236}">
                <a16:creationId xmlns:a16="http://schemas.microsoft.com/office/drawing/2014/main" id="{79B960F3-69A4-4895-A0F2-44590ADFCC64}"/>
              </a:ext>
            </a:extLst>
          </p:cNvPr>
          <p:cNvSpPr>
            <a:spLocks noGrp="1"/>
          </p:cNvSpPr>
          <p:nvPr>
            <p:ph idx="1"/>
          </p:nvPr>
        </p:nvSpPr>
        <p:spPr>
          <a:xfrm>
            <a:off x="998806" y="1825624"/>
            <a:ext cx="10354993" cy="5032376"/>
          </a:xfrm>
        </p:spPr>
        <p:txBody>
          <a:bodyPr>
            <a:normAutofit/>
          </a:bodyPr>
          <a:lstStyle/>
          <a:p>
            <a:r>
              <a:rPr lang="en-US" sz="2600" b="1" dirty="0">
                <a:solidFill>
                  <a:srgbClr val="FF0000"/>
                </a:solidFill>
                <a:highlight>
                  <a:srgbClr val="00FF00"/>
                </a:highlight>
                <a:latin typeface="Amasis MT Pro Black" panose="02040A04050005020304" pitchFamily="18" charset="-18"/>
              </a:rPr>
              <a:t>The Polish Government </a:t>
            </a:r>
            <a:r>
              <a:rPr lang="en-US" sz="2600" dirty="0"/>
              <a:t>also expresse</a:t>
            </a:r>
            <a:r>
              <a:rPr lang="pl-PL" sz="2600" dirty="0"/>
              <a:t>d</a:t>
            </a:r>
            <a:r>
              <a:rPr lang="en-US" sz="2600" dirty="0"/>
              <a:t> its </a:t>
            </a:r>
            <a:r>
              <a:rPr lang="en-US" sz="2600" b="1" dirty="0">
                <a:solidFill>
                  <a:srgbClr val="FF0000"/>
                </a:solidFill>
                <a:effectLst>
                  <a:outerShdw blurRad="38100" dist="38100" dir="2700000" algn="tl">
                    <a:srgbClr val="000000">
                      <a:alpha val="43137"/>
                    </a:srgbClr>
                  </a:outerShdw>
                </a:effectLst>
              </a:rPr>
              <a:t>doubts as to whether Article 56 TFEU</a:t>
            </a:r>
            <a:r>
              <a:rPr lang="en-US" sz="2600" dirty="0"/>
              <a:t>, inter alia, </a:t>
            </a:r>
            <a:r>
              <a:rPr lang="en-US" sz="2600" dirty="0">
                <a:solidFill>
                  <a:srgbClr val="002060"/>
                </a:solidFill>
              </a:rPr>
              <a:t>is applicable </a:t>
            </a:r>
            <a:r>
              <a:rPr lang="en-US" sz="2600" dirty="0"/>
              <a:t>to the present case, on the ground that the matter in the main proceedings is </a:t>
            </a:r>
            <a:endParaRPr lang="pl-PL" sz="2600" dirty="0"/>
          </a:p>
          <a:p>
            <a:r>
              <a:rPr lang="en-US" sz="2600" dirty="0"/>
              <a:t>allegedly a </a:t>
            </a:r>
            <a:r>
              <a:rPr lang="en-US" sz="2600" b="1" dirty="0">
                <a:solidFill>
                  <a:srgbClr val="FF0000"/>
                </a:solidFill>
                <a:effectLst>
                  <a:outerShdw blurRad="38100" dist="38100" dir="2700000" algn="tl">
                    <a:srgbClr val="000000">
                      <a:alpha val="43137"/>
                    </a:srgbClr>
                  </a:outerShdw>
                </a:effectLst>
                <a:highlight>
                  <a:srgbClr val="00FFFF"/>
                </a:highlight>
                <a:latin typeface="Amasis MT Pro Black" panose="02040A04050005020304" pitchFamily="18" charset="-18"/>
              </a:rPr>
              <a:t>purely internal matter</a:t>
            </a:r>
            <a:r>
              <a:rPr lang="pl-PL" sz="2600" b="1" dirty="0">
                <a:solidFill>
                  <a:srgbClr val="FF0000"/>
                </a:solidFill>
                <a:effectLst>
                  <a:outerShdw blurRad="38100" dist="38100" dir="2700000" algn="tl">
                    <a:srgbClr val="000000">
                      <a:alpha val="43137"/>
                    </a:srgbClr>
                  </a:outerShdw>
                </a:effectLst>
                <a:highlight>
                  <a:srgbClr val="00FFFF"/>
                </a:highlight>
                <a:latin typeface="Amasis MT Pro Black" panose="02040A04050005020304" pitchFamily="18" charset="-18"/>
              </a:rPr>
              <a:t> </a:t>
            </a:r>
            <a:r>
              <a:rPr lang="pl-PL" sz="2600" dirty="0">
                <a:solidFill>
                  <a:srgbClr val="FF0000"/>
                </a:solidFill>
                <a:effectLst>
                  <a:outerShdw blurRad="38100" dist="38100" dir="2700000" algn="tl">
                    <a:srgbClr val="000000">
                      <a:alpha val="43137"/>
                    </a:srgbClr>
                  </a:outerShdw>
                </a:effectLst>
                <a:highlight>
                  <a:srgbClr val="FFFF00"/>
                </a:highlight>
              </a:rPr>
              <a:t>[if so, the case should </a:t>
            </a:r>
          </a:p>
          <a:p>
            <a:pPr marL="0" indent="0">
              <a:buNone/>
            </a:pPr>
            <a:r>
              <a:rPr lang="pl-PL" sz="2600" dirty="0">
                <a:solidFill>
                  <a:srgbClr val="FF0000"/>
                </a:solidFill>
                <a:effectLst>
                  <a:outerShdw blurRad="38100" dist="38100" dir="2700000" algn="tl">
                    <a:srgbClr val="000000">
                      <a:alpha val="43137"/>
                    </a:srgbClr>
                  </a:outerShdw>
                </a:effectLst>
                <a:highlight>
                  <a:srgbClr val="FFFF00"/>
                </a:highlight>
              </a:rPr>
              <a:t>   not by decided by the EU but by Spain]</a:t>
            </a:r>
            <a:endParaRPr lang="en-US" sz="2600" dirty="0">
              <a:highlight>
                <a:srgbClr val="FFFF00"/>
              </a:highlight>
            </a:endParaRPr>
          </a:p>
          <a:p>
            <a:r>
              <a:rPr lang="en-US" sz="2600" dirty="0"/>
              <a:t>However, </a:t>
            </a:r>
            <a:r>
              <a:rPr lang="en-US" sz="2600" b="1" dirty="0">
                <a:solidFill>
                  <a:srgbClr val="002060"/>
                </a:solidFill>
                <a:effectLst>
                  <a:outerShdw blurRad="38100" dist="38100" dir="2700000" algn="tl">
                    <a:srgbClr val="000000">
                      <a:alpha val="43137"/>
                    </a:srgbClr>
                  </a:outerShdw>
                </a:effectLst>
              </a:rPr>
              <a:t>it is apparent </a:t>
            </a:r>
            <a:r>
              <a:rPr lang="en-US" sz="2600" dirty="0"/>
              <a:t>from the order for reference, in particular the information referred to in paragraph 14 above and the other documents in the file before the Court, </a:t>
            </a:r>
            <a:r>
              <a:rPr lang="en-US" sz="2600" b="1" dirty="0">
                <a:solidFill>
                  <a:srgbClr val="002060"/>
                </a:solidFill>
                <a:effectLst>
                  <a:outerShdw blurRad="38100" dist="38100" dir="2700000" algn="tl">
                    <a:srgbClr val="000000">
                      <a:alpha val="43137"/>
                    </a:srgbClr>
                  </a:outerShdw>
                </a:effectLst>
              </a:rPr>
              <a:t>that the service </a:t>
            </a:r>
            <a:r>
              <a:rPr lang="en-US" sz="2600" dirty="0"/>
              <a:t>at issue in the main proceedings is </a:t>
            </a:r>
            <a:r>
              <a:rPr lang="en-US" sz="2600" b="1" dirty="0">
                <a:solidFill>
                  <a:srgbClr val="FF0000"/>
                </a:solidFill>
                <a:effectLst>
                  <a:outerShdw blurRad="38100" dist="38100" dir="2700000" algn="tl">
                    <a:srgbClr val="000000">
                      <a:alpha val="43137"/>
                    </a:srgbClr>
                  </a:outerShdw>
                </a:effectLst>
              </a:rPr>
              <a:t>provided through a company that </a:t>
            </a:r>
            <a:r>
              <a:rPr lang="en-US" sz="2600" b="1" u="sng" dirty="0">
                <a:solidFill>
                  <a:srgbClr val="FF0000"/>
                </a:solidFill>
                <a:effectLst>
                  <a:outerShdw blurRad="38100" dist="38100" dir="2700000" algn="tl">
                    <a:srgbClr val="000000">
                      <a:alpha val="43137"/>
                    </a:srgbClr>
                  </a:outerShdw>
                </a:effectLst>
                <a:highlight>
                  <a:srgbClr val="FFFF00"/>
                </a:highlight>
              </a:rPr>
              <a:t>operates from another Member </a:t>
            </a:r>
            <a:r>
              <a:rPr lang="en-US" sz="2600" b="1" dirty="0">
                <a:solidFill>
                  <a:srgbClr val="FF0000"/>
                </a:solidFill>
                <a:effectLst>
                  <a:outerShdw blurRad="38100" dist="38100" dir="2700000" algn="tl">
                    <a:srgbClr val="000000">
                      <a:alpha val="43137"/>
                    </a:srgbClr>
                  </a:outerShdw>
                </a:effectLst>
                <a:highlight>
                  <a:srgbClr val="FFFF00"/>
                </a:highlight>
              </a:rPr>
              <a:t>State</a:t>
            </a:r>
            <a:r>
              <a:rPr lang="en-US" sz="2600" b="1" dirty="0">
                <a:solidFill>
                  <a:srgbClr val="FF0000"/>
                </a:solidFill>
                <a:effectLst>
                  <a:outerShdw blurRad="38100" dist="38100" dir="2700000" algn="tl">
                    <a:srgbClr val="000000">
                      <a:alpha val="43137"/>
                    </a:srgbClr>
                  </a:outerShdw>
                </a:effectLst>
              </a:rPr>
              <a:t>, namely the Kingdom of the </a:t>
            </a:r>
            <a:r>
              <a:rPr lang="en-US" sz="2600" b="1" dirty="0">
                <a:solidFill>
                  <a:srgbClr val="FF0000"/>
                </a:solidFill>
                <a:effectLst>
                  <a:outerShdw blurRad="38100" dist="38100" dir="2700000" algn="tl">
                    <a:srgbClr val="000000">
                      <a:alpha val="43137"/>
                    </a:srgbClr>
                  </a:outerShdw>
                </a:effectLst>
                <a:highlight>
                  <a:srgbClr val="00FFFF"/>
                </a:highlight>
              </a:rPr>
              <a:t>Netherlands</a:t>
            </a:r>
            <a:endParaRPr lang="en-US" sz="2600" dirty="0">
              <a:highlight>
                <a:srgbClr val="00FFFF"/>
              </a:highlight>
            </a:endParaRPr>
          </a:p>
          <a:p>
            <a:endParaRPr lang="en-US" dirty="0"/>
          </a:p>
        </p:txBody>
      </p:sp>
      <p:sp>
        <p:nvSpPr>
          <p:cNvPr id="4" name="Symbol zastępczy numeru slajdu 3">
            <a:extLst>
              <a:ext uri="{FF2B5EF4-FFF2-40B4-BE49-F238E27FC236}">
                <a16:creationId xmlns:a16="http://schemas.microsoft.com/office/drawing/2014/main" id="{EB11DEB2-ACDB-46E0-8B7B-E0F2A4A4FD08}"/>
              </a:ext>
            </a:extLst>
          </p:cNvPr>
          <p:cNvSpPr>
            <a:spLocks noGrp="1"/>
          </p:cNvSpPr>
          <p:nvPr>
            <p:ph type="sldNum" sz="quarter" idx="12"/>
          </p:nvPr>
        </p:nvSpPr>
        <p:spPr/>
        <p:txBody>
          <a:bodyPr/>
          <a:lstStyle/>
          <a:p>
            <a:fld id="{31FE8408-9B39-4718-B64F-54F72D092B1B}" type="slidenum">
              <a:rPr lang="pl-PL" smtClean="0"/>
              <a:t>56</a:t>
            </a:fld>
            <a:endParaRPr lang="pl-PL" dirty="0"/>
          </a:p>
        </p:txBody>
      </p:sp>
    </p:spTree>
    <p:extLst>
      <p:ext uri="{BB962C8B-B14F-4D97-AF65-F5344CB8AC3E}">
        <p14:creationId xmlns:p14="http://schemas.microsoft.com/office/powerpoint/2010/main" val="5425056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95E010A-8137-46B0-8BE7-5221B6BEFEF6}"/>
              </a:ext>
            </a:extLst>
          </p:cNvPr>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rPr>
              <a:t>Substance</a:t>
            </a:r>
            <a:r>
              <a:rPr lang="pl-PL" b="1" dirty="0">
                <a:solidFill>
                  <a:srgbClr val="FF0000"/>
                </a:solidFill>
                <a:effectLst>
                  <a:outerShdw blurRad="38100" dist="38100" dir="2700000" algn="tl">
                    <a:srgbClr val="000000">
                      <a:alpha val="43137"/>
                    </a:srgbClr>
                  </a:outerShdw>
                </a:effectLst>
              </a:rPr>
              <a:t> of the question posed by the Spanish court</a:t>
            </a:r>
            <a:endParaRPr lang="en-US" b="1" dirty="0">
              <a:solidFill>
                <a:srgbClr val="FF0000"/>
              </a:solidFill>
              <a:effectLst>
                <a:outerShdw blurRad="38100" dist="38100" dir="2700000" algn="tl">
                  <a:srgbClr val="000000">
                    <a:alpha val="43137"/>
                  </a:srgbClr>
                </a:outerShdw>
              </a:effectLst>
            </a:endParaRPr>
          </a:p>
        </p:txBody>
      </p:sp>
      <p:sp>
        <p:nvSpPr>
          <p:cNvPr id="3" name="Symbol zastępczy zawartości 2">
            <a:extLst>
              <a:ext uri="{FF2B5EF4-FFF2-40B4-BE49-F238E27FC236}">
                <a16:creationId xmlns:a16="http://schemas.microsoft.com/office/drawing/2014/main" id="{7F22A1DE-E2F3-4469-ACE6-00E1767D86B3}"/>
              </a:ext>
            </a:extLst>
          </p:cNvPr>
          <p:cNvSpPr>
            <a:spLocks noGrp="1"/>
          </p:cNvSpPr>
          <p:nvPr>
            <p:ph idx="1"/>
          </p:nvPr>
        </p:nvSpPr>
        <p:spPr>
          <a:xfrm>
            <a:off x="838200" y="1825625"/>
            <a:ext cx="10515600" cy="4667250"/>
          </a:xfrm>
        </p:spPr>
        <p:txBody>
          <a:bodyPr>
            <a:normAutofit/>
          </a:bodyPr>
          <a:lstStyle/>
          <a:p>
            <a:pPr marL="0" indent="0">
              <a:buNone/>
            </a:pPr>
            <a:r>
              <a:rPr lang="pl-PL" b="1" dirty="0">
                <a:solidFill>
                  <a:srgbClr val="FF0000"/>
                </a:solidFill>
                <a:effectLst>
                  <a:outerShdw blurRad="38100" dist="38100" dir="2700000" algn="tl">
                    <a:srgbClr val="000000">
                      <a:alpha val="43137"/>
                    </a:srgbClr>
                  </a:outerShdw>
                </a:effectLst>
                <a:latin typeface="Amasis MT Pro Black" panose="02040A04050005020304" pitchFamily="18" charset="-18"/>
              </a:rPr>
              <a:t>EU COURT: </a:t>
            </a:r>
            <a:r>
              <a:rPr lang="en-US" dirty="0"/>
              <a:t>By its </a:t>
            </a:r>
            <a:r>
              <a:rPr lang="en-US" b="1" dirty="0">
                <a:solidFill>
                  <a:srgbClr val="002060"/>
                </a:solidFill>
                <a:effectLst>
                  <a:outerShdw blurRad="38100" dist="38100" dir="2700000" algn="tl">
                    <a:srgbClr val="000000">
                      <a:alpha val="43137"/>
                    </a:srgbClr>
                  </a:outerShdw>
                </a:effectLst>
              </a:rPr>
              <a:t>first and second questions</a:t>
            </a:r>
            <a:r>
              <a:rPr lang="en-US" dirty="0"/>
              <a:t>, which should be </a:t>
            </a:r>
            <a:r>
              <a:rPr lang="en-US" b="1" dirty="0">
                <a:solidFill>
                  <a:srgbClr val="FF0000"/>
                </a:solidFill>
                <a:effectLst>
                  <a:outerShdw blurRad="38100" dist="38100" dir="2700000" algn="tl">
                    <a:srgbClr val="000000">
                      <a:alpha val="43137"/>
                    </a:srgbClr>
                  </a:outerShdw>
                </a:effectLst>
              </a:rPr>
              <a:t>considered together</a:t>
            </a:r>
            <a:r>
              <a:rPr lang="en-US" dirty="0"/>
              <a:t>, the referring court </a:t>
            </a:r>
            <a:r>
              <a:rPr lang="en-US" dirty="0">
                <a:solidFill>
                  <a:srgbClr val="FF0000"/>
                </a:solidFill>
                <a:effectLst>
                  <a:outerShdw blurRad="38100" dist="38100" dir="2700000" algn="tl">
                    <a:srgbClr val="000000">
                      <a:alpha val="43137"/>
                    </a:srgbClr>
                  </a:outerShdw>
                </a:effectLst>
              </a:rPr>
              <a:t>asks </a:t>
            </a:r>
            <a:r>
              <a:rPr lang="en-US" u="sng" dirty="0">
                <a:solidFill>
                  <a:srgbClr val="FF0000"/>
                </a:solidFill>
                <a:effectLst>
                  <a:outerShdw blurRad="38100" dist="38100" dir="2700000" algn="tl">
                    <a:srgbClr val="000000">
                      <a:alpha val="43137"/>
                    </a:srgbClr>
                  </a:outerShdw>
                </a:effectLst>
                <a:highlight>
                  <a:srgbClr val="00FF00"/>
                </a:highlight>
              </a:rPr>
              <a:t>whether </a:t>
            </a:r>
            <a:r>
              <a:rPr lang="en-US" b="1" u="sng" dirty="0">
                <a:solidFill>
                  <a:srgbClr val="FF0000"/>
                </a:solidFill>
                <a:effectLst>
                  <a:outerShdw blurRad="38100" dist="38100" dir="2700000" algn="tl">
                    <a:srgbClr val="000000">
                      <a:alpha val="43137"/>
                    </a:srgbClr>
                  </a:outerShdw>
                </a:effectLst>
                <a:highlight>
                  <a:srgbClr val="00FF00"/>
                </a:highlight>
              </a:rPr>
              <a:t>Article 56 TFEU</a:t>
            </a:r>
            <a:r>
              <a:rPr lang="en-US" dirty="0"/>
              <a:t>, read together with </a:t>
            </a:r>
            <a:r>
              <a:rPr lang="en-US" b="1" dirty="0">
                <a:solidFill>
                  <a:srgbClr val="FF0000"/>
                </a:solidFill>
                <a:effectLst>
                  <a:outerShdw blurRad="38100" dist="38100" dir="2700000" algn="tl">
                    <a:srgbClr val="000000">
                      <a:alpha val="43137"/>
                    </a:srgbClr>
                  </a:outerShdw>
                </a:effectLst>
              </a:rPr>
              <a:t>Article 58(1) TFEU</a:t>
            </a:r>
            <a:r>
              <a:rPr lang="en-US" dirty="0"/>
              <a:t>, as well as Article 2(2)(d) of </a:t>
            </a:r>
            <a:r>
              <a:rPr lang="en-US" b="1" dirty="0">
                <a:solidFill>
                  <a:srgbClr val="002060"/>
                </a:solidFill>
                <a:effectLst>
                  <a:outerShdw blurRad="38100" dist="38100" dir="2700000" algn="tl">
                    <a:srgbClr val="000000">
                      <a:alpha val="43137"/>
                    </a:srgbClr>
                  </a:outerShdw>
                </a:effectLst>
              </a:rPr>
              <a:t>Directive 2006/123 </a:t>
            </a:r>
            <a:r>
              <a:rPr lang="en-US" dirty="0"/>
              <a:t>and Article 1(2) of </a:t>
            </a:r>
            <a:r>
              <a:rPr lang="en-US" b="1" dirty="0">
                <a:solidFill>
                  <a:srgbClr val="002060"/>
                </a:solidFill>
                <a:effectLst>
                  <a:outerShdw blurRad="38100" dist="38100" dir="2700000" algn="tl">
                    <a:srgbClr val="000000">
                      <a:alpha val="43137"/>
                    </a:srgbClr>
                  </a:outerShdw>
                </a:effectLst>
              </a:rPr>
              <a:t>Directive 98/34</a:t>
            </a:r>
            <a:r>
              <a:rPr lang="en-US" dirty="0"/>
              <a:t>, </a:t>
            </a:r>
            <a:r>
              <a:rPr lang="en-US" b="1" dirty="0">
                <a:solidFill>
                  <a:srgbClr val="0070C0"/>
                </a:solidFill>
                <a:effectLst>
                  <a:outerShdw blurRad="38100" dist="38100" dir="2700000" algn="tl">
                    <a:srgbClr val="000000">
                      <a:alpha val="43137"/>
                    </a:srgbClr>
                  </a:outerShdw>
                </a:effectLst>
              </a:rPr>
              <a:t>to which </a:t>
            </a:r>
            <a:r>
              <a:rPr lang="en-US" dirty="0"/>
              <a:t>Article 2(a) of </a:t>
            </a:r>
            <a:r>
              <a:rPr lang="en-US" b="1" dirty="0">
                <a:solidFill>
                  <a:srgbClr val="002060"/>
                </a:solidFill>
                <a:effectLst>
                  <a:outerShdw blurRad="38100" dist="38100" dir="2700000" algn="tl">
                    <a:srgbClr val="000000">
                      <a:alpha val="43137"/>
                    </a:srgbClr>
                  </a:outerShdw>
                </a:effectLst>
              </a:rPr>
              <a:t>Directive 2000/31 </a:t>
            </a:r>
            <a:r>
              <a:rPr lang="en-US" dirty="0"/>
              <a:t>refers, </a:t>
            </a:r>
            <a:r>
              <a:rPr lang="en-US" u="sng" dirty="0">
                <a:solidFill>
                  <a:srgbClr val="FF0000"/>
                </a:solidFill>
                <a:effectLst>
                  <a:outerShdw blurRad="38100" dist="38100" dir="2700000" algn="tl">
                    <a:srgbClr val="000000">
                      <a:alpha val="43137"/>
                    </a:srgbClr>
                  </a:outerShdw>
                </a:effectLst>
                <a:highlight>
                  <a:srgbClr val="FFFF00"/>
                </a:highlight>
                <a:latin typeface="Amasis MT Pro Black" panose="02040A04050005020304" pitchFamily="18" charset="-18"/>
              </a:rPr>
              <a:t>must be interpreted as </a:t>
            </a:r>
            <a:r>
              <a:rPr lang="en-US" dirty="0">
                <a:highlight>
                  <a:srgbClr val="FFFF00"/>
                </a:highlight>
                <a:latin typeface="Amasis MT Pro Black" panose="02040A04050005020304" pitchFamily="18" charset="-18"/>
              </a:rPr>
              <a:t>meaning </a:t>
            </a:r>
            <a:r>
              <a:rPr lang="en-US" u="sng" dirty="0">
                <a:solidFill>
                  <a:srgbClr val="FF0000"/>
                </a:solidFill>
                <a:highlight>
                  <a:srgbClr val="FFFF00"/>
                </a:highlight>
                <a:latin typeface="Amasis MT Pro Black" panose="02040A04050005020304" pitchFamily="18" charset="-18"/>
              </a:rPr>
              <a:t>that </a:t>
            </a:r>
            <a:r>
              <a:rPr lang="en-US" b="1" u="sng" dirty="0">
                <a:solidFill>
                  <a:srgbClr val="FF0000"/>
                </a:solidFill>
                <a:effectLst>
                  <a:outerShdw blurRad="38100" dist="38100" dir="2700000" algn="tl">
                    <a:srgbClr val="000000">
                      <a:alpha val="43137"/>
                    </a:srgbClr>
                  </a:outerShdw>
                </a:effectLst>
                <a:highlight>
                  <a:srgbClr val="FFFF00"/>
                </a:highlight>
                <a:latin typeface="Amasis MT Pro Black" panose="02040A04050005020304" pitchFamily="18" charset="-18"/>
              </a:rPr>
              <a:t>an </a:t>
            </a:r>
            <a:r>
              <a:rPr lang="en-US" b="1" u="sng" dirty="0">
                <a:solidFill>
                  <a:srgbClr val="FF0000"/>
                </a:solidFill>
                <a:effectLst>
                  <a:outerShdw blurRad="38100" dist="38100" dir="2700000" algn="tl">
                    <a:srgbClr val="000000">
                      <a:alpha val="43137"/>
                    </a:srgbClr>
                  </a:outerShdw>
                </a:effectLst>
                <a:highlight>
                  <a:srgbClr val="00FF00"/>
                </a:highlight>
                <a:latin typeface="Amasis MT Pro Black" panose="02040A04050005020304" pitchFamily="18" charset="-18"/>
              </a:rPr>
              <a:t>intermediation service </a:t>
            </a:r>
            <a:r>
              <a:rPr lang="en-US" dirty="0"/>
              <a:t>such as that at issue in the main proceedings</a:t>
            </a:r>
            <a:r>
              <a:rPr lang="en-US" b="1" i="1" dirty="0">
                <a:solidFill>
                  <a:srgbClr val="0070C0"/>
                </a:solidFill>
                <a:effectLst>
                  <a:outerShdw blurRad="38100" dist="38100" dir="2700000" algn="tl">
                    <a:srgbClr val="000000">
                      <a:alpha val="43137"/>
                    </a:srgbClr>
                  </a:outerShdw>
                </a:effectLst>
              </a:rPr>
              <a:t>, the purpose of which is to connect, by means of a smartphone application and for remuneration, non-professional drivers using their own vehicle with persons who wish to make urban journeys   </a:t>
            </a:r>
          </a:p>
          <a:p>
            <a:pPr marL="0" indent="0">
              <a:buNone/>
            </a:pPr>
            <a:r>
              <a:rPr lang="pl-PL" b="1" i="1" dirty="0">
                <a:solidFill>
                  <a:srgbClr val="FF0000"/>
                </a:solidFill>
                <a:effectLst>
                  <a:outerShdw blurRad="38100" dist="38100" dir="2700000" algn="tl">
                    <a:srgbClr val="000000">
                      <a:alpha val="43137"/>
                    </a:srgbClr>
                  </a:outerShdw>
                </a:effectLst>
              </a:rPr>
              <a:t>→→→</a:t>
            </a:r>
            <a:endParaRPr lang="en-US" dirty="0">
              <a:solidFill>
                <a:srgbClr val="FF0000"/>
              </a:solidFill>
            </a:endParaRPr>
          </a:p>
        </p:txBody>
      </p:sp>
      <p:sp>
        <p:nvSpPr>
          <p:cNvPr id="4" name="Symbol zastępczy numeru slajdu 3">
            <a:extLst>
              <a:ext uri="{FF2B5EF4-FFF2-40B4-BE49-F238E27FC236}">
                <a16:creationId xmlns:a16="http://schemas.microsoft.com/office/drawing/2014/main" id="{49AEC38B-72E7-4716-8970-06E0B3ED9AE7}"/>
              </a:ext>
            </a:extLst>
          </p:cNvPr>
          <p:cNvSpPr>
            <a:spLocks noGrp="1"/>
          </p:cNvSpPr>
          <p:nvPr>
            <p:ph type="sldNum" sz="quarter" idx="12"/>
          </p:nvPr>
        </p:nvSpPr>
        <p:spPr/>
        <p:txBody>
          <a:bodyPr/>
          <a:lstStyle/>
          <a:p>
            <a:fld id="{31FE8408-9B39-4718-B64F-54F72D092B1B}" type="slidenum">
              <a:rPr lang="pl-PL" smtClean="0"/>
              <a:t>57</a:t>
            </a:fld>
            <a:endParaRPr lang="pl-PL" dirty="0"/>
          </a:p>
        </p:txBody>
      </p:sp>
    </p:spTree>
    <p:extLst>
      <p:ext uri="{BB962C8B-B14F-4D97-AF65-F5344CB8AC3E}">
        <p14:creationId xmlns:p14="http://schemas.microsoft.com/office/powerpoint/2010/main" val="29811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93E5CE4B-D3FF-4645-9C1C-BF4358DC479C}"/>
              </a:ext>
            </a:extLst>
          </p:cNvPr>
          <p:cNvSpPr>
            <a:spLocks noGrp="1"/>
          </p:cNvSpPr>
          <p:nvPr>
            <p:ph type="title"/>
          </p:nvPr>
        </p:nvSpPr>
        <p:spPr/>
        <p:txBody>
          <a:bodyPr/>
          <a:lstStyle/>
          <a:p>
            <a:r>
              <a:rPr lang="en-US" b="1" dirty="0">
                <a:solidFill>
                  <a:srgbClr val="FF0000"/>
                </a:solidFill>
                <a:effectLst>
                  <a:outerShdw blurRad="38100" dist="38100" dir="2700000" algn="tl">
                    <a:srgbClr val="000000">
                      <a:alpha val="43137"/>
                    </a:srgbClr>
                  </a:outerShdw>
                </a:effectLst>
              </a:rPr>
              <a:t>Substance</a:t>
            </a:r>
            <a:r>
              <a:rPr lang="pl-PL" b="1" dirty="0">
                <a:solidFill>
                  <a:srgbClr val="FF0000"/>
                </a:solidFill>
                <a:effectLst>
                  <a:outerShdw blurRad="38100" dist="38100" dir="2700000" algn="tl">
                    <a:srgbClr val="000000">
                      <a:alpha val="43137"/>
                    </a:srgbClr>
                  </a:outerShdw>
                </a:effectLst>
              </a:rPr>
              <a:t> of the question posed by the Spanish court</a:t>
            </a:r>
            <a:endParaRPr lang="en-US" dirty="0"/>
          </a:p>
        </p:txBody>
      </p:sp>
      <p:sp>
        <p:nvSpPr>
          <p:cNvPr id="3" name="Symbol zastępczy zawartości 2">
            <a:extLst>
              <a:ext uri="{FF2B5EF4-FFF2-40B4-BE49-F238E27FC236}">
                <a16:creationId xmlns:a16="http://schemas.microsoft.com/office/drawing/2014/main" id="{FE1231CE-6A2D-44DB-8793-EBF3A66001F7}"/>
              </a:ext>
            </a:extLst>
          </p:cNvPr>
          <p:cNvSpPr>
            <a:spLocks noGrp="1"/>
          </p:cNvSpPr>
          <p:nvPr>
            <p:ph idx="1"/>
          </p:nvPr>
        </p:nvSpPr>
        <p:spPr>
          <a:xfrm>
            <a:off x="838200" y="1825624"/>
            <a:ext cx="10515600" cy="4842461"/>
          </a:xfrm>
        </p:spPr>
        <p:txBody>
          <a:bodyPr>
            <a:normAutofit lnSpcReduction="10000"/>
          </a:bodyPr>
          <a:lstStyle/>
          <a:p>
            <a:pPr marL="0" indent="0">
              <a:buNone/>
            </a:pPr>
            <a:r>
              <a:rPr lang="pl-PL" b="1" i="1" dirty="0">
                <a:solidFill>
                  <a:srgbClr val="0070C0"/>
                </a:solidFill>
                <a:effectLst>
                  <a:outerShdw blurRad="38100" dist="38100" dir="2700000" algn="tl">
                    <a:srgbClr val="000000">
                      <a:alpha val="43137"/>
                    </a:srgbClr>
                  </a:outerShdw>
                </a:effectLst>
              </a:rPr>
              <a:t> </a:t>
            </a:r>
            <a:r>
              <a:rPr lang="pl-PL" b="1" i="1" dirty="0">
                <a:solidFill>
                  <a:srgbClr val="002060"/>
                </a:solidFill>
                <a:effectLst>
                  <a:outerShdw blurRad="38100" dist="38100" dir="2700000" algn="tl">
                    <a:srgbClr val="000000">
                      <a:alpha val="43137"/>
                    </a:srgbClr>
                  </a:outerShdw>
                </a:effectLst>
              </a:rPr>
              <a:t>→→→</a:t>
            </a:r>
            <a:endParaRPr lang="en-US" dirty="0">
              <a:solidFill>
                <a:srgbClr val="002060"/>
              </a:solidFill>
            </a:endParaRPr>
          </a:p>
          <a:p>
            <a:pPr marL="0" indent="0">
              <a:buNone/>
            </a:pPr>
            <a:r>
              <a:rPr lang="en-US" sz="3200" b="1" u="sng" dirty="0">
                <a:solidFill>
                  <a:srgbClr val="FF0000"/>
                </a:solidFill>
                <a:effectLst>
                  <a:outerShdw blurRad="38100" dist="38100" dir="2700000" algn="tl">
                    <a:srgbClr val="000000">
                      <a:alpha val="43137"/>
                    </a:srgbClr>
                  </a:outerShdw>
                </a:effectLst>
                <a:highlight>
                  <a:srgbClr val="00FF00"/>
                </a:highlight>
                <a:latin typeface="Times New Roman" panose="02020603050405020304" pitchFamily="18" charset="0"/>
                <a:cs typeface="Times New Roman" panose="02020603050405020304" pitchFamily="18" charset="0"/>
              </a:rPr>
              <a:t>is to be classified as </a:t>
            </a:r>
          </a:p>
          <a:p>
            <a:r>
              <a:rPr lang="en-US" sz="32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 ‘</a:t>
            </a:r>
            <a:r>
              <a:rPr lang="en-US" sz="3200" b="1" u="sng" dirty="0">
                <a:solidFill>
                  <a:srgbClr val="FF0000"/>
                </a:solidFill>
                <a:effectLst>
                  <a:outerShdw blurRad="38100" dist="38100" dir="2700000" algn="tl">
                    <a:srgbClr val="000000">
                      <a:alpha val="43137"/>
                    </a:srgbClr>
                  </a:outerShdw>
                </a:effectLst>
                <a:highlight>
                  <a:srgbClr val="00FF00"/>
                </a:highlight>
                <a:latin typeface="Times New Roman" panose="02020603050405020304" pitchFamily="18" charset="0"/>
                <a:cs typeface="Times New Roman" panose="02020603050405020304" pitchFamily="18" charset="0"/>
              </a:rPr>
              <a:t>service in the field of transport</a:t>
            </a:r>
            <a:r>
              <a:rPr lang="en-US" sz="32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3200" dirty="0">
                <a:latin typeface="Times New Roman" panose="02020603050405020304" pitchFamily="18" charset="0"/>
                <a:cs typeface="Times New Roman" panose="02020603050405020304" pitchFamily="18" charset="0"/>
              </a:rPr>
              <a:t>within the meaning of </a:t>
            </a:r>
            <a:r>
              <a:rPr lang="en-US" sz="32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Art. 58(1) TFEU </a:t>
            </a:r>
            <a:r>
              <a:rPr lang="en-US" sz="3200" dirty="0">
                <a:latin typeface="Times New Roman" panose="02020603050405020304" pitchFamily="18" charset="0"/>
                <a:cs typeface="Times New Roman" panose="02020603050405020304" pitchFamily="18" charset="0"/>
              </a:rPr>
              <a:t>and, </a:t>
            </a:r>
            <a:r>
              <a:rPr lang="en-US" sz="32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therefore, excluded from the scope </a:t>
            </a:r>
            <a:r>
              <a:rPr lang="en-US" sz="3200" dirty="0">
                <a:solidFill>
                  <a:srgbClr val="FF0000"/>
                </a:solidFill>
                <a:latin typeface="Times New Roman" panose="02020603050405020304" pitchFamily="18" charset="0"/>
                <a:cs typeface="Times New Roman" panose="02020603050405020304" pitchFamily="18" charset="0"/>
              </a:rPr>
              <a:t>of Article </a:t>
            </a:r>
            <a:r>
              <a:rPr lang="en-US" sz="3200" b="1" dirty="0">
                <a:solidFill>
                  <a:srgbClr val="FF0000"/>
                </a:solidFill>
                <a:latin typeface="Times New Roman" panose="02020603050405020304" pitchFamily="18" charset="0"/>
                <a:cs typeface="Times New Roman" panose="02020603050405020304" pitchFamily="18" charset="0"/>
              </a:rPr>
              <a:t>56 </a:t>
            </a:r>
            <a:r>
              <a:rPr lang="en-US" sz="32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TFEU</a:t>
            </a:r>
            <a:r>
              <a:rPr lang="en-US" sz="3200" dirty="0">
                <a:latin typeface="Times New Roman" panose="02020603050405020304" pitchFamily="18" charset="0"/>
                <a:cs typeface="Times New Roman" panose="02020603050405020304" pitchFamily="18" charset="0"/>
              </a:rPr>
              <a:t>, Directive 2006/123 and Directive 2000/31, </a:t>
            </a:r>
            <a:r>
              <a:rPr lang="pl-PL" sz="32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[because it has its own regulation concerning transport only]</a:t>
            </a:r>
            <a:endParaRPr lang="en-US" sz="3200" b="1" dirty="0">
              <a:solidFill>
                <a:srgbClr val="0070C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					</a:t>
            </a:r>
            <a:r>
              <a:rPr lang="pl-PL" sz="3200" dirty="0">
                <a:solidFill>
                  <a:srgbClr val="FF0000"/>
                </a:solidFill>
                <a:latin typeface="Times New Roman" panose="02020603050405020304" pitchFamily="18" charset="0"/>
                <a:cs typeface="Times New Roman" panose="02020603050405020304" pitchFamily="18" charset="0"/>
              </a:rPr>
              <a:t>OR</a:t>
            </a:r>
            <a:r>
              <a:rPr lang="en-US" sz="3200" dirty="0">
                <a:solidFill>
                  <a:srgbClr val="FF0000"/>
                </a:solidFill>
                <a:latin typeface="Times New Roman" panose="02020603050405020304" pitchFamily="18" charset="0"/>
                <a:cs typeface="Times New Roman" panose="02020603050405020304" pitchFamily="18" charset="0"/>
              </a:rPr>
              <a:t> </a:t>
            </a:r>
          </a:p>
          <a:p>
            <a:r>
              <a:rPr lang="en-US" sz="3200" dirty="0">
                <a:latin typeface="Times New Roman" panose="02020603050405020304" pitchFamily="18" charset="0"/>
                <a:cs typeface="Times New Roman" panose="02020603050405020304" pitchFamily="18" charset="0"/>
              </a:rPr>
              <a:t>whether, </a:t>
            </a:r>
            <a:r>
              <a:rPr lang="en-US" sz="3200" b="1" dirty="0">
                <a:latin typeface="Times New Roman" panose="02020603050405020304" pitchFamily="18" charset="0"/>
                <a:cs typeface="Times New Roman" panose="02020603050405020304" pitchFamily="18" charset="0"/>
              </a:rPr>
              <a:t>on the contrary</a:t>
            </a:r>
            <a:r>
              <a:rPr lang="en-US" sz="3200" dirty="0">
                <a:latin typeface="Times New Roman" panose="02020603050405020304" pitchFamily="18" charset="0"/>
                <a:cs typeface="Times New Roman" panose="02020603050405020304" pitchFamily="18" charset="0"/>
              </a:rPr>
              <a:t>, the service </a:t>
            </a:r>
            <a:r>
              <a:rPr lang="en-US" sz="32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is covered by Article 56 TFEU</a:t>
            </a:r>
            <a:r>
              <a:rPr lang="en-US" sz="3200" dirty="0">
                <a:latin typeface="Times New Roman" panose="02020603050405020304" pitchFamily="18" charset="0"/>
                <a:cs typeface="Times New Roman" panose="02020603050405020304" pitchFamily="18" charset="0"/>
              </a:rPr>
              <a:t>, Directive 2006/123 and Directive 2000/31?</a:t>
            </a:r>
          </a:p>
          <a:p>
            <a:endParaRPr lang="en-US" dirty="0"/>
          </a:p>
        </p:txBody>
      </p:sp>
      <p:sp>
        <p:nvSpPr>
          <p:cNvPr id="4" name="Symbol zastępczy numeru slajdu 3">
            <a:extLst>
              <a:ext uri="{FF2B5EF4-FFF2-40B4-BE49-F238E27FC236}">
                <a16:creationId xmlns:a16="http://schemas.microsoft.com/office/drawing/2014/main" id="{668E7D9E-F919-4E54-B302-2E0939B25CF6}"/>
              </a:ext>
            </a:extLst>
          </p:cNvPr>
          <p:cNvSpPr>
            <a:spLocks noGrp="1"/>
          </p:cNvSpPr>
          <p:nvPr>
            <p:ph type="sldNum" sz="quarter" idx="12"/>
          </p:nvPr>
        </p:nvSpPr>
        <p:spPr/>
        <p:txBody>
          <a:bodyPr/>
          <a:lstStyle/>
          <a:p>
            <a:fld id="{31FE8408-9B39-4718-B64F-54F72D092B1B}" type="slidenum">
              <a:rPr lang="pl-PL" smtClean="0"/>
              <a:t>58</a:t>
            </a:fld>
            <a:endParaRPr lang="pl-PL" dirty="0"/>
          </a:p>
        </p:txBody>
      </p:sp>
    </p:spTree>
    <p:extLst>
      <p:ext uri="{BB962C8B-B14F-4D97-AF65-F5344CB8AC3E}">
        <p14:creationId xmlns:p14="http://schemas.microsoft.com/office/powerpoint/2010/main" val="6858707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47CEE2E-A584-48F4-B91D-CAEE5FB82CD0}"/>
              </a:ext>
            </a:extLst>
          </p:cNvPr>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Court’s reasoning</a:t>
            </a:r>
            <a:endParaRPr lang="en-US" dirty="0"/>
          </a:p>
        </p:txBody>
      </p:sp>
      <p:sp>
        <p:nvSpPr>
          <p:cNvPr id="3" name="Symbol zastępczy zawartości 2">
            <a:extLst>
              <a:ext uri="{FF2B5EF4-FFF2-40B4-BE49-F238E27FC236}">
                <a16:creationId xmlns:a16="http://schemas.microsoft.com/office/drawing/2014/main" id="{ACFE94A2-93B2-4168-9355-59E8E2177A53}"/>
              </a:ext>
            </a:extLst>
          </p:cNvPr>
          <p:cNvSpPr>
            <a:spLocks noGrp="1"/>
          </p:cNvSpPr>
          <p:nvPr>
            <p:ph idx="1"/>
          </p:nvPr>
        </p:nvSpPr>
        <p:spPr>
          <a:xfrm>
            <a:off x="838200" y="1825624"/>
            <a:ext cx="10515600" cy="5032375"/>
          </a:xfrm>
        </p:spPr>
        <p:txBody>
          <a:bodyPr>
            <a:noAutofit/>
          </a:bodyPr>
          <a:lstStyle/>
          <a:p>
            <a:r>
              <a:rPr lang="en-US" sz="3200" b="1" u="sng" dirty="0">
                <a:solidFill>
                  <a:srgbClr val="FF0000"/>
                </a:solidFill>
                <a:effectLst>
                  <a:outerShdw blurRad="38100" dist="38100" dir="2700000" algn="tl">
                    <a:srgbClr val="000000">
                      <a:alpha val="43137"/>
                    </a:srgbClr>
                  </a:outerShdw>
                </a:effectLst>
                <a:highlight>
                  <a:srgbClr val="00FF00"/>
                </a:highlight>
                <a:latin typeface="Amasis MT Pro Black" panose="02040A04050005020304" pitchFamily="18" charset="-18"/>
              </a:rPr>
              <a:t>An intermediation service </a:t>
            </a:r>
            <a:r>
              <a:rPr lang="en-US" sz="3200" b="1" dirty="0"/>
              <a:t>consisting of connecting a non-professional driver using his or her own vehicle with a person who wishes to make an urban journey </a:t>
            </a:r>
            <a:r>
              <a:rPr lang="en-US" sz="3200" b="1" u="sng" dirty="0">
                <a:solidFill>
                  <a:srgbClr val="FF0000"/>
                </a:solidFill>
                <a:effectLst>
                  <a:outerShdw blurRad="38100" dist="38100" dir="2700000" algn="tl">
                    <a:srgbClr val="000000">
                      <a:alpha val="43137"/>
                    </a:srgbClr>
                  </a:outerShdw>
                </a:effectLst>
                <a:highlight>
                  <a:srgbClr val="FFFF00"/>
                </a:highlight>
                <a:latin typeface="Amasis MT Pro Black" panose="02040A04050005020304" pitchFamily="18" charset="-18"/>
              </a:rPr>
              <a:t>is, in principle, </a:t>
            </a:r>
            <a:r>
              <a:rPr lang="en-US" sz="3200" b="1" u="sng" dirty="0">
                <a:solidFill>
                  <a:srgbClr val="FF0000"/>
                </a:solidFill>
                <a:effectLst>
                  <a:outerShdw blurRad="38100" dist="38100" dir="2700000" algn="tl">
                    <a:srgbClr val="000000">
                      <a:alpha val="43137"/>
                    </a:srgbClr>
                  </a:outerShdw>
                </a:effectLst>
                <a:highlight>
                  <a:srgbClr val="00FF00"/>
                </a:highlight>
                <a:latin typeface="Amasis MT Pro Black" panose="02040A04050005020304" pitchFamily="18" charset="-18"/>
              </a:rPr>
              <a:t>a separate service </a:t>
            </a:r>
            <a:r>
              <a:rPr lang="en-US" sz="3200" b="1" u="sng" dirty="0">
                <a:solidFill>
                  <a:srgbClr val="FF0000"/>
                </a:solidFill>
                <a:effectLst>
                  <a:outerShdw blurRad="38100" dist="38100" dir="2700000" algn="tl">
                    <a:srgbClr val="000000">
                      <a:alpha val="43137"/>
                    </a:srgbClr>
                  </a:outerShdw>
                </a:effectLst>
                <a:highlight>
                  <a:srgbClr val="FFFF00"/>
                </a:highlight>
                <a:latin typeface="Amasis MT Pro Black" panose="02040A04050005020304" pitchFamily="18" charset="-18"/>
              </a:rPr>
              <a:t>from </a:t>
            </a:r>
            <a:r>
              <a:rPr lang="pl-PL" sz="3200" b="1" u="sng" dirty="0">
                <a:solidFill>
                  <a:srgbClr val="FF0000"/>
                </a:solidFill>
                <a:effectLst>
                  <a:outerShdw blurRad="38100" dist="38100" dir="2700000" algn="tl">
                    <a:srgbClr val="000000">
                      <a:alpha val="43137"/>
                    </a:srgbClr>
                  </a:outerShdw>
                </a:effectLst>
                <a:highlight>
                  <a:srgbClr val="FFFF00"/>
                </a:highlight>
                <a:latin typeface="Amasis MT Pro Black" panose="02040A04050005020304" pitchFamily="18" charset="-18"/>
              </a:rPr>
              <a:t>the</a:t>
            </a:r>
            <a:r>
              <a:rPr lang="en-US" sz="3200" b="1" u="sng" dirty="0">
                <a:solidFill>
                  <a:srgbClr val="FF0000"/>
                </a:solidFill>
                <a:effectLst>
                  <a:outerShdw blurRad="38100" dist="38100" dir="2700000" algn="tl">
                    <a:srgbClr val="000000">
                      <a:alpha val="43137"/>
                    </a:srgbClr>
                  </a:outerShdw>
                </a:effectLst>
                <a:highlight>
                  <a:srgbClr val="FFFF00"/>
                </a:highlight>
                <a:latin typeface="Amasis MT Pro Black" panose="02040A04050005020304" pitchFamily="18" charset="-18"/>
              </a:rPr>
              <a:t> transport service </a:t>
            </a:r>
            <a:r>
              <a:rPr lang="en-US" sz="3200" b="1" dirty="0"/>
              <a:t>consisting of the </a:t>
            </a:r>
            <a:r>
              <a:rPr lang="en-US" sz="3200" b="1" dirty="0">
                <a:solidFill>
                  <a:srgbClr val="002060"/>
                </a:solidFill>
              </a:rPr>
              <a:t>physical act of moving persons or goods </a:t>
            </a:r>
            <a:r>
              <a:rPr lang="en-US" sz="3200" b="1" dirty="0"/>
              <a:t>from one place to another by means of a vehicle</a:t>
            </a:r>
          </a:p>
          <a:p>
            <a:r>
              <a:rPr lang="en-US" sz="3200" b="1" dirty="0">
                <a:highlight>
                  <a:srgbClr val="FFFF00"/>
                </a:highlight>
                <a:latin typeface="Amasis MT Pro Black" panose="02040A04050005020304" pitchFamily="18" charset="-18"/>
              </a:rPr>
              <a:t>Each of those services, taken separately, can be </a:t>
            </a:r>
            <a:r>
              <a:rPr lang="en-US" sz="3200" b="1" dirty="0">
                <a:solidFill>
                  <a:srgbClr val="FF0000"/>
                </a:solidFill>
                <a:effectLst>
                  <a:outerShdw blurRad="38100" dist="38100" dir="2700000" algn="tl">
                    <a:srgbClr val="000000">
                      <a:alpha val="43137"/>
                    </a:srgbClr>
                  </a:outerShdw>
                </a:effectLst>
                <a:highlight>
                  <a:srgbClr val="FFFF00"/>
                </a:highlight>
                <a:latin typeface="Amasis MT Pro Black" panose="02040A04050005020304" pitchFamily="18" charset="-18"/>
              </a:rPr>
              <a:t>linked to different directives </a:t>
            </a:r>
            <a:r>
              <a:rPr lang="en-US" sz="3200" b="1" dirty="0">
                <a:solidFill>
                  <a:srgbClr val="FF0000"/>
                </a:solidFill>
                <a:effectLst>
                  <a:outerShdw blurRad="38100" dist="38100" dir="2700000" algn="tl">
                    <a:srgbClr val="000000">
                      <a:alpha val="43137"/>
                    </a:srgbClr>
                  </a:outerShdw>
                </a:effectLst>
              </a:rPr>
              <a:t>or provisions of the TFEU </a:t>
            </a:r>
            <a:r>
              <a:rPr lang="en-US" sz="3200" b="1" dirty="0">
                <a:solidFill>
                  <a:srgbClr val="002060"/>
                </a:solidFill>
              </a:rPr>
              <a:t>on the freedom to provide services</a:t>
            </a:r>
            <a:r>
              <a:rPr lang="en-US" sz="3200" b="1" dirty="0"/>
              <a:t>, as contemplated by the</a:t>
            </a:r>
            <a:r>
              <a:rPr lang="pl-PL" sz="3200" b="1" dirty="0"/>
              <a:t> Spanish</a:t>
            </a:r>
            <a:r>
              <a:rPr lang="en-US" sz="3200" b="1" dirty="0"/>
              <a:t> court</a:t>
            </a:r>
          </a:p>
        </p:txBody>
      </p:sp>
      <p:sp>
        <p:nvSpPr>
          <p:cNvPr id="4" name="Symbol zastępczy numeru slajdu 3">
            <a:extLst>
              <a:ext uri="{FF2B5EF4-FFF2-40B4-BE49-F238E27FC236}">
                <a16:creationId xmlns:a16="http://schemas.microsoft.com/office/drawing/2014/main" id="{DB26B318-B0CA-4E62-83D5-760408EA354B}"/>
              </a:ext>
            </a:extLst>
          </p:cNvPr>
          <p:cNvSpPr>
            <a:spLocks noGrp="1"/>
          </p:cNvSpPr>
          <p:nvPr>
            <p:ph type="sldNum" sz="quarter" idx="12"/>
          </p:nvPr>
        </p:nvSpPr>
        <p:spPr/>
        <p:txBody>
          <a:bodyPr/>
          <a:lstStyle/>
          <a:p>
            <a:fld id="{31FE8408-9B39-4718-B64F-54F72D092B1B}" type="slidenum">
              <a:rPr lang="pl-PL" smtClean="0"/>
              <a:t>59</a:t>
            </a:fld>
            <a:endParaRPr lang="pl-PL" dirty="0"/>
          </a:p>
        </p:txBody>
      </p:sp>
    </p:spTree>
    <p:extLst>
      <p:ext uri="{BB962C8B-B14F-4D97-AF65-F5344CB8AC3E}">
        <p14:creationId xmlns:p14="http://schemas.microsoft.com/office/powerpoint/2010/main" val="21172962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54CFE35A-2D2E-47A8-8651-DBFBC0DC7F30}"/>
              </a:ext>
            </a:extLst>
          </p:cNvPr>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Court’s reasoning</a:t>
            </a:r>
            <a:endParaRPr lang="en-US" dirty="0"/>
          </a:p>
        </p:txBody>
      </p:sp>
      <p:sp>
        <p:nvSpPr>
          <p:cNvPr id="3" name="Symbol zastępczy zawartości 2">
            <a:extLst>
              <a:ext uri="{FF2B5EF4-FFF2-40B4-BE49-F238E27FC236}">
                <a16:creationId xmlns:a16="http://schemas.microsoft.com/office/drawing/2014/main" id="{A06089BB-DD64-4237-AC4F-F24EF6BFD4B1}"/>
              </a:ext>
            </a:extLst>
          </p:cNvPr>
          <p:cNvSpPr>
            <a:spLocks noGrp="1"/>
          </p:cNvSpPr>
          <p:nvPr>
            <p:ph idx="1"/>
          </p:nvPr>
        </p:nvSpPr>
        <p:spPr>
          <a:xfrm>
            <a:off x="998806" y="1825624"/>
            <a:ext cx="10354994" cy="4856529"/>
          </a:xfrm>
        </p:spPr>
        <p:txBody>
          <a:bodyPr>
            <a:normAutofit/>
          </a:bodyPr>
          <a:lstStyle/>
          <a:p>
            <a:pPr marL="0" indent="0">
              <a:buNone/>
            </a:pPr>
            <a:r>
              <a:rPr lang="en-GB" b="1" u="sng" dirty="0">
                <a:solidFill>
                  <a:srgbClr val="FF0000"/>
                </a:solidFill>
                <a:effectLst>
                  <a:outerShdw blurRad="38100" dist="38100" dir="2700000" algn="tl">
                    <a:srgbClr val="000000">
                      <a:alpha val="43137"/>
                    </a:srgbClr>
                  </a:outerShdw>
                </a:effectLst>
                <a:highlight>
                  <a:srgbClr val="00FF00"/>
                </a:highlight>
                <a:latin typeface="Amasis MT Pro Black" panose="02040A04050005020304" pitchFamily="18" charset="-18"/>
              </a:rPr>
              <a:t>An intermediation service </a:t>
            </a:r>
            <a:r>
              <a:rPr lang="en-GB" i="1" dirty="0"/>
              <a:t>that enables the </a:t>
            </a:r>
            <a:r>
              <a:rPr lang="en-GB" b="1" i="1" dirty="0">
                <a:solidFill>
                  <a:srgbClr val="002060"/>
                </a:solidFill>
                <a:effectLst>
                  <a:outerShdw blurRad="38100" dist="38100" dir="2700000" algn="tl">
                    <a:srgbClr val="000000">
                      <a:alpha val="43137"/>
                    </a:srgbClr>
                  </a:outerShdw>
                </a:effectLst>
              </a:rPr>
              <a:t>transfer,</a:t>
            </a:r>
            <a:r>
              <a:rPr lang="en-GB" i="1" dirty="0"/>
              <a:t> by means of a </a:t>
            </a:r>
            <a:r>
              <a:rPr lang="en-GB" b="1" i="1" dirty="0">
                <a:solidFill>
                  <a:srgbClr val="002060"/>
                </a:solidFill>
                <a:effectLst>
                  <a:outerShdw blurRad="38100" dist="38100" dir="2700000" algn="tl">
                    <a:srgbClr val="000000">
                      <a:alpha val="43137"/>
                    </a:srgbClr>
                  </a:outerShdw>
                </a:effectLst>
              </a:rPr>
              <a:t>smartphone application</a:t>
            </a:r>
            <a:r>
              <a:rPr lang="en-GB" i="1" dirty="0"/>
              <a:t>, of information concerning the booking of a transport service between the passenger and the non-professional driver who will carry out the transportation using his or her own vehicle,</a:t>
            </a:r>
            <a:r>
              <a:rPr lang="en-GB" dirty="0"/>
              <a:t> </a:t>
            </a:r>
            <a:r>
              <a:rPr lang="en-GB" b="1" u="sng" dirty="0">
                <a:solidFill>
                  <a:srgbClr val="FF0000"/>
                </a:solidFill>
                <a:effectLst>
                  <a:outerShdw blurRad="38100" dist="38100" dir="2700000" algn="tl">
                    <a:srgbClr val="000000">
                      <a:alpha val="43137"/>
                    </a:srgbClr>
                  </a:outerShdw>
                </a:effectLst>
              </a:rPr>
              <a:t>meets, in principle, the criteria for classification as an </a:t>
            </a:r>
            <a:r>
              <a:rPr lang="en-GB" b="1" u="sng" dirty="0">
                <a:solidFill>
                  <a:srgbClr val="FF0000"/>
                </a:solidFill>
                <a:effectLst>
                  <a:outerShdw blurRad="38100" dist="38100" dir="2700000" algn="tl">
                    <a:srgbClr val="000000">
                      <a:alpha val="43137"/>
                    </a:srgbClr>
                  </a:outerShdw>
                </a:effectLst>
                <a:latin typeface="Amasis MT Pro Black" panose="02040A04050005020304" pitchFamily="18" charset="-18"/>
              </a:rPr>
              <a:t>‘</a:t>
            </a:r>
            <a:r>
              <a:rPr lang="en-GB" b="1" u="sng" dirty="0">
                <a:solidFill>
                  <a:srgbClr val="FF0000"/>
                </a:solidFill>
                <a:effectLst>
                  <a:outerShdw blurRad="38100" dist="38100" dir="2700000" algn="tl">
                    <a:srgbClr val="000000">
                      <a:alpha val="43137"/>
                    </a:srgbClr>
                  </a:outerShdw>
                </a:effectLst>
                <a:highlight>
                  <a:srgbClr val="00FF00"/>
                </a:highlight>
                <a:latin typeface="Amasis MT Pro Black" panose="02040A04050005020304" pitchFamily="18" charset="-18"/>
              </a:rPr>
              <a:t>information society service</a:t>
            </a:r>
            <a:r>
              <a:rPr lang="en-GB" b="1" dirty="0">
                <a:solidFill>
                  <a:srgbClr val="FF0000"/>
                </a:solidFill>
                <a:effectLst>
                  <a:outerShdw blurRad="38100" dist="38100" dir="2700000" algn="tl">
                    <a:srgbClr val="000000">
                      <a:alpha val="43137"/>
                    </a:srgbClr>
                  </a:outerShdw>
                </a:effectLst>
                <a:latin typeface="Amasis MT Pro Black" panose="02040A04050005020304" pitchFamily="18" charset="-18"/>
              </a:rPr>
              <a:t>’ </a:t>
            </a:r>
            <a:r>
              <a:rPr lang="en-GB" i="1" dirty="0">
                <a:latin typeface="Amasis MT Pro Black" panose="02040A04050005020304" pitchFamily="18" charset="-18"/>
              </a:rPr>
              <a:t>within </a:t>
            </a:r>
            <a:r>
              <a:rPr lang="en-GB" i="1" dirty="0"/>
              <a:t>the meaning of Article 1(2) of Directive 98/34 and Article 2(a) of Directive 2000/31</a:t>
            </a:r>
            <a:endParaRPr lang="en-GB" dirty="0"/>
          </a:p>
          <a:p>
            <a:pPr marL="0" indent="0">
              <a:buNone/>
            </a:pPr>
            <a:r>
              <a:rPr lang="en-GB" dirty="0"/>
              <a:t>According to </a:t>
            </a:r>
            <a:r>
              <a:rPr lang="en-GB" dirty="0">
                <a:solidFill>
                  <a:srgbClr val="FF0000"/>
                </a:solidFill>
              </a:rPr>
              <a:t>the </a:t>
            </a:r>
            <a:r>
              <a:rPr lang="en-GB" b="1" dirty="0">
                <a:solidFill>
                  <a:srgbClr val="FF0000"/>
                </a:solidFill>
                <a:effectLst>
                  <a:outerShdw blurRad="38100" dist="38100" dir="2700000" algn="tl">
                    <a:srgbClr val="000000">
                      <a:alpha val="43137"/>
                    </a:srgbClr>
                  </a:outerShdw>
                </a:effectLst>
              </a:rPr>
              <a:t>definition </a:t>
            </a:r>
            <a:r>
              <a:rPr lang="en-GB" dirty="0"/>
              <a:t>laid down in Article 1(2) of Directive 98/34, is ‘a service </a:t>
            </a:r>
            <a:r>
              <a:rPr lang="en-GB" b="1" dirty="0">
                <a:solidFill>
                  <a:srgbClr val="002060"/>
                </a:solidFill>
                <a:effectLst>
                  <a:outerShdw blurRad="38100" dist="38100" dir="2700000" algn="tl">
                    <a:srgbClr val="000000">
                      <a:alpha val="43137"/>
                    </a:srgbClr>
                  </a:outerShdw>
                </a:effectLst>
              </a:rPr>
              <a:t>normally provided for remuneration</a:t>
            </a:r>
            <a:r>
              <a:rPr lang="en-GB" dirty="0"/>
              <a:t>, </a:t>
            </a:r>
            <a:r>
              <a:rPr lang="en-GB" b="1" dirty="0">
                <a:solidFill>
                  <a:srgbClr val="FF0000"/>
                </a:solidFill>
                <a:effectLst>
                  <a:outerShdw blurRad="38100" dist="38100" dir="2700000" algn="tl">
                    <a:srgbClr val="000000">
                      <a:alpha val="43137"/>
                    </a:srgbClr>
                  </a:outerShdw>
                </a:effectLst>
              </a:rPr>
              <a:t>at a distance</a:t>
            </a:r>
            <a:r>
              <a:rPr lang="en-GB" dirty="0"/>
              <a:t>, </a:t>
            </a:r>
            <a:r>
              <a:rPr lang="en-GB" dirty="0">
                <a:solidFill>
                  <a:srgbClr val="FF0000"/>
                </a:solidFill>
              </a:rPr>
              <a:t>by </a:t>
            </a:r>
            <a:r>
              <a:rPr lang="en-GB" b="1" dirty="0">
                <a:solidFill>
                  <a:srgbClr val="FF0000"/>
                </a:solidFill>
                <a:effectLst>
                  <a:outerShdw blurRad="38100" dist="38100" dir="2700000" algn="tl">
                    <a:srgbClr val="000000">
                      <a:alpha val="43137"/>
                    </a:srgbClr>
                  </a:outerShdw>
                </a:effectLst>
              </a:rPr>
              <a:t>electronic means </a:t>
            </a:r>
            <a:r>
              <a:rPr lang="en-GB" b="1" dirty="0">
                <a:effectLst>
                  <a:outerShdw blurRad="38100" dist="38100" dir="2700000" algn="tl">
                    <a:srgbClr val="000000">
                      <a:alpha val="43137"/>
                    </a:srgbClr>
                  </a:outerShdw>
                </a:effectLst>
              </a:rPr>
              <a:t>and at the individual request of a recipient of services</a:t>
            </a:r>
            <a:r>
              <a:rPr lang="en-GB" dirty="0"/>
              <a:t>’</a:t>
            </a:r>
          </a:p>
        </p:txBody>
      </p:sp>
      <p:sp>
        <p:nvSpPr>
          <p:cNvPr id="4" name="Symbol zastępczy numeru slajdu 3">
            <a:extLst>
              <a:ext uri="{FF2B5EF4-FFF2-40B4-BE49-F238E27FC236}">
                <a16:creationId xmlns:a16="http://schemas.microsoft.com/office/drawing/2014/main" id="{380A813B-9ABD-4A5B-9C8F-08E5D923007E}"/>
              </a:ext>
            </a:extLst>
          </p:cNvPr>
          <p:cNvSpPr>
            <a:spLocks noGrp="1"/>
          </p:cNvSpPr>
          <p:nvPr>
            <p:ph type="sldNum" sz="quarter" idx="12"/>
          </p:nvPr>
        </p:nvSpPr>
        <p:spPr/>
        <p:txBody>
          <a:bodyPr/>
          <a:lstStyle/>
          <a:p>
            <a:fld id="{31FE8408-9B39-4718-B64F-54F72D092B1B}" type="slidenum">
              <a:rPr lang="pl-PL" smtClean="0"/>
              <a:t>60</a:t>
            </a:fld>
            <a:endParaRPr lang="pl-PL" dirty="0"/>
          </a:p>
        </p:txBody>
      </p:sp>
    </p:spTree>
    <p:extLst>
      <p:ext uri="{BB962C8B-B14F-4D97-AF65-F5344CB8AC3E}">
        <p14:creationId xmlns:p14="http://schemas.microsoft.com/office/powerpoint/2010/main" val="21625184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4144EB7-4211-4D55-A54B-B353AA885D32}"/>
              </a:ext>
            </a:extLst>
          </p:cNvPr>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Court’s reasoning</a:t>
            </a:r>
            <a:endParaRPr lang="en-US" dirty="0"/>
          </a:p>
        </p:txBody>
      </p:sp>
      <p:sp>
        <p:nvSpPr>
          <p:cNvPr id="3" name="Symbol zastępczy zawartości 2">
            <a:extLst>
              <a:ext uri="{FF2B5EF4-FFF2-40B4-BE49-F238E27FC236}">
                <a16:creationId xmlns:a16="http://schemas.microsoft.com/office/drawing/2014/main" id="{F4BCA601-8855-464B-9732-654DD4EDD02B}"/>
              </a:ext>
            </a:extLst>
          </p:cNvPr>
          <p:cNvSpPr>
            <a:spLocks noGrp="1"/>
          </p:cNvSpPr>
          <p:nvPr>
            <p:ph idx="1"/>
          </p:nvPr>
        </p:nvSpPr>
        <p:spPr/>
        <p:txBody>
          <a:bodyPr>
            <a:normAutofit/>
          </a:bodyPr>
          <a:lstStyle/>
          <a:p>
            <a:pPr marL="0" indent="0">
              <a:buNone/>
            </a:pPr>
            <a:r>
              <a:rPr lang="en-US" sz="3600" b="1" dirty="0">
                <a:solidFill>
                  <a:srgbClr val="FF0000"/>
                </a:solidFill>
                <a:effectLst>
                  <a:outerShdw blurRad="38100" dist="38100" dir="2700000" algn="tl">
                    <a:srgbClr val="000000">
                      <a:alpha val="43137"/>
                    </a:srgbClr>
                  </a:outerShdw>
                </a:effectLst>
                <a:highlight>
                  <a:srgbClr val="00FF00"/>
                </a:highlight>
              </a:rPr>
              <a:t>By contrast</a:t>
            </a:r>
            <a:r>
              <a:rPr lang="pl-PL" sz="3600" b="1" dirty="0">
                <a:solidFill>
                  <a:srgbClr val="FF0000"/>
                </a:solidFill>
                <a:effectLst>
                  <a:outerShdw blurRad="38100" dist="38100" dir="2700000" algn="tl">
                    <a:srgbClr val="000000">
                      <a:alpha val="43137"/>
                    </a:srgbClr>
                  </a:outerShdw>
                </a:effectLst>
              </a:rPr>
              <a:t>,</a:t>
            </a:r>
            <a:r>
              <a:rPr lang="en-US" sz="3600" dirty="0">
                <a:effectLst>
                  <a:outerShdw blurRad="38100" dist="38100" dir="2700000" algn="tl">
                    <a:srgbClr val="000000">
                      <a:alpha val="43137"/>
                    </a:srgbClr>
                  </a:outerShdw>
                </a:effectLst>
              </a:rPr>
              <a:t> </a:t>
            </a:r>
            <a:r>
              <a:rPr lang="en-US" sz="3600" b="1" dirty="0">
                <a:solidFill>
                  <a:srgbClr val="002060"/>
                </a:solidFill>
                <a:effectLst>
                  <a:outerShdw blurRad="38100" dist="38100" dir="2700000" algn="tl">
                    <a:srgbClr val="000000">
                      <a:alpha val="43137"/>
                    </a:srgbClr>
                  </a:outerShdw>
                </a:effectLst>
              </a:rPr>
              <a:t>non-public urban transport services</a:t>
            </a:r>
            <a:r>
              <a:rPr lang="en-US" sz="3600" dirty="0">
                <a:effectLst>
                  <a:outerShdw blurRad="38100" dist="38100" dir="2700000" algn="tl">
                    <a:srgbClr val="000000">
                      <a:alpha val="43137"/>
                    </a:srgbClr>
                  </a:outerShdw>
                </a:effectLst>
              </a:rPr>
              <a:t>, such as a </a:t>
            </a:r>
            <a:r>
              <a:rPr lang="en-US" sz="3600" b="1" u="sng" dirty="0">
                <a:solidFill>
                  <a:srgbClr val="FF0000"/>
                </a:solidFill>
                <a:effectLst>
                  <a:outerShdw blurRad="38100" dist="38100" dir="2700000" algn="tl">
                    <a:srgbClr val="000000">
                      <a:alpha val="43137"/>
                    </a:srgbClr>
                  </a:outerShdw>
                </a:effectLst>
                <a:highlight>
                  <a:srgbClr val="FFFF00"/>
                </a:highlight>
              </a:rPr>
              <a:t>taxi services</a:t>
            </a:r>
            <a:r>
              <a:rPr lang="en-US" sz="3600" u="sng" dirty="0">
                <a:effectLst>
                  <a:outerShdw blurRad="38100" dist="38100" dir="2700000" algn="tl">
                    <a:srgbClr val="000000">
                      <a:alpha val="43137"/>
                    </a:srgbClr>
                  </a:outerShdw>
                </a:effectLst>
              </a:rPr>
              <a:t>, must be classified as ‘</a:t>
            </a:r>
            <a:r>
              <a:rPr lang="en-US" sz="3600" b="1" u="sng" dirty="0">
                <a:solidFill>
                  <a:srgbClr val="FF0000"/>
                </a:solidFill>
                <a:effectLst>
                  <a:outerShdw blurRad="38100" dist="38100" dir="2700000" algn="tl">
                    <a:srgbClr val="000000">
                      <a:alpha val="43137"/>
                    </a:srgbClr>
                  </a:outerShdw>
                </a:effectLst>
                <a:highlight>
                  <a:srgbClr val="FFFF00"/>
                </a:highlight>
              </a:rPr>
              <a:t>services in the field of transport</a:t>
            </a:r>
            <a:r>
              <a:rPr lang="en-US" sz="3600" dirty="0">
                <a:solidFill>
                  <a:srgbClr val="0070C0"/>
                </a:solidFill>
                <a:effectLst>
                  <a:outerShdw blurRad="38100" dist="38100" dir="2700000" algn="tl">
                    <a:srgbClr val="000000">
                      <a:alpha val="43137"/>
                    </a:srgbClr>
                  </a:outerShdw>
                </a:effectLst>
                <a:highlight>
                  <a:srgbClr val="FFFF00"/>
                </a:highlight>
              </a:rPr>
              <a:t>’ </a:t>
            </a:r>
            <a:r>
              <a:rPr lang="en-US" sz="3600" i="1" dirty="0">
                <a:effectLst>
                  <a:outerShdw blurRad="38100" dist="38100" dir="2700000" algn="tl">
                    <a:srgbClr val="000000">
                      <a:alpha val="43137"/>
                    </a:srgbClr>
                  </a:outerShdw>
                </a:effectLst>
              </a:rPr>
              <a:t>within the meaning of Article 2(2)(d) of Directive 2006/123, read in the light of recital 21 thereof (see, to that effect, judgment of 1 October 2015, Trijber and Harmsen, C‑340/14 and C‑341/14, EU:C:2015:641, paragraph 49</a:t>
            </a:r>
          </a:p>
        </p:txBody>
      </p:sp>
      <p:sp>
        <p:nvSpPr>
          <p:cNvPr id="4" name="Symbol zastępczy numeru slajdu 3">
            <a:extLst>
              <a:ext uri="{FF2B5EF4-FFF2-40B4-BE49-F238E27FC236}">
                <a16:creationId xmlns:a16="http://schemas.microsoft.com/office/drawing/2014/main" id="{35D8FE4D-61CD-4774-B439-AE62B7CB1FB2}"/>
              </a:ext>
            </a:extLst>
          </p:cNvPr>
          <p:cNvSpPr>
            <a:spLocks noGrp="1"/>
          </p:cNvSpPr>
          <p:nvPr>
            <p:ph type="sldNum" sz="quarter" idx="12"/>
          </p:nvPr>
        </p:nvSpPr>
        <p:spPr/>
        <p:txBody>
          <a:bodyPr/>
          <a:lstStyle/>
          <a:p>
            <a:fld id="{31FE8408-9B39-4718-B64F-54F72D092B1B}" type="slidenum">
              <a:rPr lang="pl-PL" smtClean="0"/>
              <a:t>61</a:t>
            </a:fld>
            <a:endParaRPr lang="pl-PL" dirty="0"/>
          </a:p>
        </p:txBody>
      </p:sp>
    </p:spTree>
    <p:extLst>
      <p:ext uri="{BB962C8B-B14F-4D97-AF65-F5344CB8AC3E}">
        <p14:creationId xmlns:p14="http://schemas.microsoft.com/office/powerpoint/2010/main" val="9900556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0DE5C027-6A40-44C8-A991-CFD9D5105180}"/>
              </a:ext>
            </a:extLst>
          </p:cNvPr>
          <p:cNvSpPr>
            <a:spLocks noGrp="1"/>
          </p:cNvSpPr>
          <p:nvPr>
            <p:ph type="title"/>
          </p:nvPr>
        </p:nvSpPr>
        <p:spPr>
          <a:xfrm>
            <a:off x="923827" y="376333"/>
            <a:ext cx="10703350" cy="1325563"/>
          </a:xfrm>
        </p:spPr>
        <p:txBody>
          <a:bodyPr/>
          <a:lstStyle/>
          <a:p>
            <a:r>
              <a:rPr lang="pl-PL" b="1" dirty="0">
                <a:solidFill>
                  <a:srgbClr val="FF0000"/>
                </a:solidFill>
                <a:effectLst>
                  <a:outerShdw blurRad="38100" dist="38100" dir="2700000" algn="tl">
                    <a:srgbClr val="000000">
                      <a:alpha val="43137"/>
                    </a:srgbClr>
                  </a:outerShdw>
                </a:effectLst>
              </a:rPr>
              <a:t>Court’s reasoning</a:t>
            </a:r>
            <a:endParaRPr lang="en-US" dirty="0"/>
          </a:p>
        </p:txBody>
      </p:sp>
      <p:sp>
        <p:nvSpPr>
          <p:cNvPr id="3" name="Symbol zastępczy zawartości 2">
            <a:extLst>
              <a:ext uri="{FF2B5EF4-FFF2-40B4-BE49-F238E27FC236}">
                <a16:creationId xmlns:a16="http://schemas.microsoft.com/office/drawing/2014/main" id="{B517E8AC-686B-4E10-8AA2-6389DA008BA6}"/>
              </a:ext>
            </a:extLst>
          </p:cNvPr>
          <p:cNvSpPr>
            <a:spLocks noGrp="1"/>
          </p:cNvSpPr>
          <p:nvPr>
            <p:ph idx="1"/>
          </p:nvPr>
        </p:nvSpPr>
        <p:spPr>
          <a:xfrm>
            <a:off x="838200" y="1825624"/>
            <a:ext cx="10515600" cy="4772123"/>
          </a:xfrm>
        </p:spPr>
        <p:txBody>
          <a:bodyPr>
            <a:normAutofit lnSpcReduction="10000"/>
          </a:bodyPr>
          <a:lstStyle/>
          <a:p>
            <a:r>
              <a:rPr lang="en-US" b="1" dirty="0">
                <a:solidFill>
                  <a:srgbClr val="002060"/>
                </a:solidFill>
              </a:rPr>
              <a:t>A service such as that is </a:t>
            </a:r>
            <a:endParaRPr lang="pl-PL" b="1" dirty="0">
              <a:solidFill>
                <a:srgbClr val="002060"/>
              </a:solidFill>
            </a:endParaRPr>
          </a:p>
          <a:p>
            <a:pPr marL="0" indent="0">
              <a:buNone/>
            </a:pPr>
            <a:r>
              <a:rPr lang="en-US" sz="3600" b="1" u="sng" dirty="0">
                <a:solidFill>
                  <a:srgbClr val="FF0000"/>
                </a:solidFill>
                <a:effectLst>
                  <a:outerShdw blurRad="38100" dist="38100" dir="2700000" algn="tl">
                    <a:srgbClr val="000000">
                      <a:alpha val="43137"/>
                    </a:srgbClr>
                  </a:outerShdw>
                </a:effectLst>
                <a:highlight>
                  <a:srgbClr val="FFFF00"/>
                </a:highlight>
                <a:latin typeface="Amasis MT Pro Black" panose="02040A04050005020304" pitchFamily="18" charset="-18"/>
              </a:rPr>
              <a:t>more than an intermediation service</a:t>
            </a:r>
            <a:r>
              <a:rPr lang="en-US" sz="3600" u="sng" dirty="0">
                <a:highlight>
                  <a:srgbClr val="FFFF00"/>
                </a:highlight>
                <a:latin typeface="Amasis MT Pro Black" panose="02040A04050005020304" pitchFamily="18" charset="-18"/>
              </a:rPr>
              <a:t> </a:t>
            </a:r>
            <a:r>
              <a:rPr lang="en-US" dirty="0">
                <a:solidFill>
                  <a:srgbClr val="002060"/>
                </a:solidFill>
              </a:rPr>
              <a:t>consisting of connecting</a:t>
            </a:r>
            <a:r>
              <a:rPr lang="en-US" dirty="0"/>
              <a:t>, by means of a smartphone application, a non-professional driver using his or her own vehicle with a person who wishes to make an urban journey</a:t>
            </a:r>
          </a:p>
          <a:p>
            <a:r>
              <a:rPr lang="en-US" b="1" dirty="0"/>
              <a:t>The provider of that intermediation service </a:t>
            </a:r>
            <a:r>
              <a:rPr lang="en-US" sz="3200" b="1" u="sng" dirty="0">
                <a:solidFill>
                  <a:srgbClr val="FF0000"/>
                </a:solidFill>
                <a:effectLst>
                  <a:outerShdw blurRad="38100" dist="38100" dir="2700000" algn="tl">
                    <a:srgbClr val="000000">
                      <a:alpha val="43137"/>
                    </a:srgbClr>
                  </a:outerShdw>
                </a:effectLst>
                <a:highlight>
                  <a:srgbClr val="FFFF00"/>
                </a:highlight>
                <a:latin typeface="Amasis MT Pro Black" panose="02040A04050005020304" pitchFamily="18" charset="-18"/>
              </a:rPr>
              <a:t>simultaneously</a:t>
            </a:r>
            <a:r>
              <a:rPr lang="en-US" sz="3200" b="1" u="sng" dirty="0">
                <a:solidFill>
                  <a:srgbClr val="FF0000"/>
                </a:solidFill>
                <a:effectLst>
                  <a:outerShdw blurRad="38100" dist="38100" dir="2700000" algn="tl">
                    <a:srgbClr val="000000">
                      <a:alpha val="43137"/>
                    </a:srgbClr>
                  </a:outerShdw>
                </a:effectLst>
                <a:latin typeface="Amasis MT Pro Black" panose="02040A04050005020304" pitchFamily="18" charset="-18"/>
              </a:rPr>
              <a:t> offers urban transport service</a:t>
            </a:r>
            <a:r>
              <a:rPr lang="en-US" sz="3200" u="sng" dirty="0">
                <a:solidFill>
                  <a:srgbClr val="FF0000"/>
                </a:solidFill>
                <a:effectLst>
                  <a:outerShdw blurRad="38100" dist="38100" dir="2700000" algn="tl">
                    <a:srgbClr val="000000">
                      <a:alpha val="43137"/>
                    </a:srgbClr>
                  </a:outerShdw>
                </a:effectLst>
                <a:latin typeface="Amasis MT Pro Black" panose="02040A04050005020304" pitchFamily="18" charset="-18"/>
              </a:rPr>
              <a:t>s</a:t>
            </a:r>
            <a:r>
              <a:rPr lang="en-US" dirty="0">
                <a:latin typeface="Amasis MT Pro Black" panose="02040A04050005020304" pitchFamily="18" charset="-18"/>
              </a:rPr>
              <a:t>,</a:t>
            </a:r>
            <a:r>
              <a:rPr lang="en-US" dirty="0"/>
              <a:t> </a:t>
            </a:r>
            <a:r>
              <a:rPr lang="en-US" dirty="0">
                <a:solidFill>
                  <a:srgbClr val="002060"/>
                </a:solidFill>
              </a:rPr>
              <a:t>which it renders accessibl</a:t>
            </a:r>
            <a:r>
              <a:rPr lang="en-US" dirty="0"/>
              <a:t>e, in particular, through software tools such as the application at issue in the main proceedings and </a:t>
            </a:r>
            <a:r>
              <a:rPr lang="en-US" b="1" dirty="0">
                <a:solidFill>
                  <a:srgbClr val="002060"/>
                </a:solidFill>
              </a:rPr>
              <a:t>whose operation it organi</a:t>
            </a:r>
            <a:r>
              <a:rPr lang="pl-PL" b="1" dirty="0">
                <a:solidFill>
                  <a:srgbClr val="002060"/>
                </a:solidFill>
              </a:rPr>
              <a:t>z</a:t>
            </a:r>
            <a:r>
              <a:rPr lang="en-US" b="1" dirty="0">
                <a:solidFill>
                  <a:srgbClr val="002060"/>
                </a:solidFill>
              </a:rPr>
              <a:t>es for the benefit of persons who wish to accept that offer in order to make an urban journey</a:t>
            </a:r>
          </a:p>
          <a:p>
            <a:endParaRPr lang="en-US" dirty="0"/>
          </a:p>
        </p:txBody>
      </p:sp>
      <p:sp>
        <p:nvSpPr>
          <p:cNvPr id="4" name="Symbol zastępczy numeru slajdu 3">
            <a:extLst>
              <a:ext uri="{FF2B5EF4-FFF2-40B4-BE49-F238E27FC236}">
                <a16:creationId xmlns:a16="http://schemas.microsoft.com/office/drawing/2014/main" id="{ECA7A0A8-F813-47F8-9852-4F0138F71001}"/>
              </a:ext>
            </a:extLst>
          </p:cNvPr>
          <p:cNvSpPr>
            <a:spLocks noGrp="1"/>
          </p:cNvSpPr>
          <p:nvPr>
            <p:ph type="sldNum" sz="quarter" idx="12"/>
          </p:nvPr>
        </p:nvSpPr>
        <p:spPr/>
        <p:txBody>
          <a:bodyPr/>
          <a:lstStyle/>
          <a:p>
            <a:fld id="{31FE8408-9B39-4718-B64F-54F72D092B1B}" type="slidenum">
              <a:rPr lang="pl-PL" smtClean="0"/>
              <a:t>62</a:t>
            </a:fld>
            <a:endParaRPr lang="pl-PL" dirty="0"/>
          </a:p>
        </p:txBody>
      </p:sp>
    </p:spTree>
    <p:extLst>
      <p:ext uri="{BB962C8B-B14F-4D97-AF65-F5344CB8AC3E}">
        <p14:creationId xmlns:p14="http://schemas.microsoft.com/office/powerpoint/2010/main" val="18684647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F72E4E2-B1F2-4D52-9F38-6E8CD1CDE70B}"/>
              </a:ext>
            </a:extLst>
          </p:cNvPr>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Court’s reasoning</a:t>
            </a:r>
            <a:endParaRPr lang="en-US" dirty="0"/>
          </a:p>
        </p:txBody>
      </p:sp>
      <p:sp>
        <p:nvSpPr>
          <p:cNvPr id="3" name="Symbol zastępczy zawartości 2">
            <a:extLst>
              <a:ext uri="{FF2B5EF4-FFF2-40B4-BE49-F238E27FC236}">
                <a16:creationId xmlns:a16="http://schemas.microsoft.com/office/drawing/2014/main" id="{2E612112-4254-4169-9F61-6942C1A9AD52}"/>
              </a:ext>
            </a:extLst>
          </p:cNvPr>
          <p:cNvSpPr>
            <a:spLocks noGrp="1"/>
          </p:cNvSpPr>
          <p:nvPr>
            <p:ph idx="1"/>
          </p:nvPr>
        </p:nvSpPr>
        <p:spPr>
          <a:xfrm>
            <a:off x="838200" y="1825625"/>
            <a:ext cx="10515600" cy="4895850"/>
          </a:xfrm>
        </p:spPr>
        <p:txBody>
          <a:bodyPr>
            <a:normAutofit fontScale="92500"/>
          </a:bodyPr>
          <a:lstStyle/>
          <a:p>
            <a:pPr marL="0" indent="0">
              <a:buNone/>
            </a:pPr>
            <a:r>
              <a:rPr lang="en-US" sz="3600" dirty="0">
                <a:solidFill>
                  <a:srgbClr val="FF0000"/>
                </a:solidFill>
                <a:effectLst>
                  <a:outerShdw blurRad="38100" dist="38100" dir="2700000" algn="tl">
                    <a:srgbClr val="000000">
                      <a:alpha val="43137"/>
                    </a:srgbClr>
                  </a:outerShdw>
                </a:effectLst>
              </a:rPr>
              <a:t>The </a:t>
            </a:r>
            <a:r>
              <a:rPr lang="en-US" sz="3600" b="1" dirty="0">
                <a:solidFill>
                  <a:srgbClr val="FF0000"/>
                </a:solidFill>
                <a:effectLst>
                  <a:outerShdw blurRad="38100" dist="38100" dir="2700000" algn="tl">
                    <a:srgbClr val="000000">
                      <a:alpha val="43137"/>
                    </a:srgbClr>
                  </a:outerShdw>
                </a:effectLst>
                <a:highlight>
                  <a:srgbClr val="00FF00"/>
                </a:highlight>
              </a:rPr>
              <a:t>intermediation service </a:t>
            </a:r>
            <a:r>
              <a:rPr lang="en-US" sz="3600" dirty="0"/>
              <a:t>provided by Uber is based on the selection of </a:t>
            </a:r>
            <a:r>
              <a:rPr lang="en-US" sz="3600" dirty="0">
                <a:solidFill>
                  <a:srgbClr val="002060"/>
                </a:solidFill>
                <a:highlight>
                  <a:srgbClr val="00FFFF"/>
                </a:highlight>
              </a:rPr>
              <a:t>non-professional drivers</a:t>
            </a:r>
            <a:r>
              <a:rPr lang="en-US" sz="3600" dirty="0">
                <a:solidFill>
                  <a:srgbClr val="002060"/>
                </a:solidFill>
              </a:rPr>
              <a:t> </a:t>
            </a:r>
            <a:r>
              <a:rPr lang="en-US" sz="3600" dirty="0"/>
              <a:t>using their own vehicle, to whom the </a:t>
            </a:r>
            <a:r>
              <a:rPr lang="en-US" sz="3600" b="1" dirty="0">
                <a:solidFill>
                  <a:srgbClr val="002060"/>
                </a:solidFill>
                <a:effectLst>
                  <a:outerShdw blurRad="38100" dist="38100" dir="2700000" algn="tl">
                    <a:srgbClr val="000000">
                      <a:alpha val="43137"/>
                    </a:srgbClr>
                  </a:outerShdw>
                </a:effectLst>
              </a:rPr>
              <a:t>company provides an </a:t>
            </a:r>
            <a:r>
              <a:rPr lang="en-US" sz="3600" b="1" u="sng" dirty="0">
                <a:solidFill>
                  <a:srgbClr val="FF0000"/>
                </a:solidFill>
                <a:effectLst>
                  <a:outerShdw blurRad="38100" dist="38100" dir="2700000" algn="tl">
                    <a:srgbClr val="000000">
                      <a:alpha val="43137"/>
                    </a:srgbClr>
                  </a:outerShdw>
                </a:effectLst>
              </a:rPr>
              <a:t>application </a:t>
            </a:r>
            <a:r>
              <a:rPr lang="en-US" sz="3600" b="1" u="sng" dirty="0">
                <a:solidFill>
                  <a:srgbClr val="FF0000"/>
                </a:solidFill>
                <a:effectLst>
                  <a:outerShdw blurRad="38100" dist="38100" dir="2700000" algn="tl">
                    <a:srgbClr val="000000">
                      <a:alpha val="43137"/>
                    </a:srgbClr>
                  </a:outerShdw>
                </a:effectLst>
                <a:highlight>
                  <a:srgbClr val="FFFF00"/>
                </a:highlight>
              </a:rPr>
              <a:t>without which </a:t>
            </a:r>
            <a:endParaRPr lang="pl-PL" sz="3600" b="1" u="sng" dirty="0">
              <a:solidFill>
                <a:srgbClr val="FF0000"/>
              </a:solidFill>
              <a:effectLst>
                <a:outerShdw blurRad="38100" dist="38100" dir="2700000" algn="tl">
                  <a:srgbClr val="000000">
                    <a:alpha val="43137"/>
                  </a:srgbClr>
                </a:outerShdw>
              </a:effectLst>
              <a:highlight>
                <a:srgbClr val="FFFF00"/>
              </a:highlight>
            </a:endParaRPr>
          </a:p>
          <a:p>
            <a:pPr marL="857250" indent="-857250">
              <a:buAutoNum type="romanLcParenBoth"/>
            </a:pPr>
            <a:r>
              <a:rPr lang="en-US" sz="3600" b="1" u="sng" dirty="0">
                <a:solidFill>
                  <a:srgbClr val="FF0000"/>
                </a:solidFill>
                <a:effectLst>
                  <a:outerShdw blurRad="38100" dist="38100" dir="2700000" algn="tl">
                    <a:srgbClr val="000000">
                      <a:alpha val="43137"/>
                    </a:srgbClr>
                  </a:outerShdw>
                </a:effectLst>
              </a:rPr>
              <a:t>those drivers would not be led to provide </a:t>
            </a:r>
            <a:r>
              <a:rPr lang="en-US" sz="3600" dirty="0"/>
              <a:t>transport services and </a:t>
            </a:r>
            <a:endParaRPr lang="pl-PL" sz="3600" dirty="0"/>
          </a:p>
          <a:p>
            <a:pPr marL="857250" indent="-857250">
              <a:buAutoNum type="romanLcParenBoth"/>
            </a:pPr>
            <a:r>
              <a:rPr lang="en-US" sz="3600" dirty="0"/>
              <a:t>(ii) persons who wish to make an urban journey </a:t>
            </a:r>
            <a:r>
              <a:rPr lang="en-US" sz="3600" b="1" dirty="0">
                <a:solidFill>
                  <a:srgbClr val="FF0000"/>
                </a:solidFill>
                <a:effectLst>
                  <a:outerShdw blurRad="38100" dist="38100" dir="2700000" algn="tl">
                    <a:srgbClr val="000000">
                      <a:alpha val="43137"/>
                    </a:srgbClr>
                  </a:outerShdw>
                </a:effectLst>
              </a:rPr>
              <a:t>would not use the services </a:t>
            </a:r>
            <a:r>
              <a:rPr lang="en-US" sz="3600" dirty="0"/>
              <a:t>provided by those drivers</a:t>
            </a:r>
            <a:r>
              <a:rPr lang="pl-PL" sz="3600" dirty="0"/>
              <a:t> </a:t>
            </a:r>
            <a:r>
              <a:rPr lang="pl-PL" sz="3600" b="1" dirty="0">
                <a:solidFill>
                  <a:srgbClr val="FF0000"/>
                </a:solidFill>
                <a:effectLst>
                  <a:outerShdw blurRad="38100" dist="38100" dir="2700000" algn="tl">
                    <a:srgbClr val="000000">
                      <a:alpha val="43137"/>
                    </a:srgbClr>
                  </a:outerShdw>
                </a:effectLst>
                <a:highlight>
                  <a:srgbClr val="00FFFF"/>
                </a:highlight>
              </a:rPr>
              <a:t>[So the </a:t>
            </a:r>
            <a:r>
              <a:rPr lang="pl-PL" sz="3600" b="1" dirty="0">
                <a:solidFill>
                  <a:srgbClr val="FF0000"/>
                </a:solidFill>
                <a:effectLst>
                  <a:outerShdw blurRad="38100" dist="38100" dir="2700000" algn="tl">
                    <a:srgbClr val="000000">
                      <a:alpha val="43137"/>
                    </a:srgbClr>
                  </a:outerShdw>
                </a:effectLst>
                <a:highlight>
                  <a:srgbClr val="FFFF00"/>
                </a:highlight>
                <a:latin typeface="Amasis MT Pro Black" panose="02040A04050005020304" pitchFamily="18" charset="-18"/>
              </a:rPr>
              <a:t>intermediation service is indispensible for the transportation service</a:t>
            </a:r>
            <a:r>
              <a:rPr lang="pl-PL" sz="3600" b="1" dirty="0">
                <a:solidFill>
                  <a:srgbClr val="FF0000"/>
                </a:solidFill>
                <a:effectLst>
                  <a:outerShdw blurRad="38100" dist="38100" dir="2700000" algn="tl">
                    <a:srgbClr val="000000">
                      <a:alpha val="43137"/>
                    </a:srgbClr>
                  </a:outerShdw>
                </a:effectLst>
                <a:highlight>
                  <a:srgbClr val="00FFFF"/>
                </a:highlight>
              </a:rPr>
              <a:t>]</a:t>
            </a:r>
            <a:endParaRPr lang="en-US" sz="3600" b="1" dirty="0">
              <a:solidFill>
                <a:srgbClr val="FF0000"/>
              </a:solidFill>
              <a:effectLst>
                <a:outerShdw blurRad="38100" dist="38100" dir="2700000" algn="tl">
                  <a:srgbClr val="000000">
                    <a:alpha val="43137"/>
                  </a:srgbClr>
                </a:outerShdw>
              </a:effectLst>
              <a:highlight>
                <a:srgbClr val="00FFFF"/>
              </a:highlight>
            </a:endParaRPr>
          </a:p>
        </p:txBody>
      </p:sp>
      <p:sp>
        <p:nvSpPr>
          <p:cNvPr id="4" name="Symbol zastępczy numeru slajdu 3">
            <a:extLst>
              <a:ext uri="{FF2B5EF4-FFF2-40B4-BE49-F238E27FC236}">
                <a16:creationId xmlns:a16="http://schemas.microsoft.com/office/drawing/2014/main" id="{A36F647F-602A-47D7-9C12-30D7A5E53495}"/>
              </a:ext>
            </a:extLst>
          </p:cNvPr>
          <p:cNvSpPr>
            <a:spLocks noGrp="1"/>
          </p:cNvSpPr>
          <p:nvPr>
            <p:ph type="sldNum" sz="quarter" idx="12"/>
          </p:nvPr>
        </p:nvSpPr>
        <p:spPr/>
        <p:txBody>
          <a:bodyPr/>
          <a:lstStyle/>
          <a:p>
            <a:fld id="{31FE8408-9B39-4718-B64F-54F72D092B1B}" type="slidenum">
              <a:rPr lang="pl-PL" smtClean="0"/>
              <a:t>63</a:t>
            </a:fld>
            <a:endParaRPr lang="pl-PL" dirty="0"/>
          </a:p>
        </p:txBody>
      </p:sp>
    </p:spTree>
    <p:extLst>
      <p:ext uri="{BB962C8B-B14F-4D97-AF65-F5344CB8AC3E}">
        <p14:creationId xmlns:p14="http://schemas.microsoft.com/office/powerpoint/2010/main" val="16899279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EDCE230A-F3DF-4EE2-94F2-1DCAA89FFD0F}"/>
              </a:ext>
            </a:extLst>
          </p:cNvPr>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Court’s reasoning</a:t>
            </a:r>
            <a:endParaRPr lang="en-US" dirty="0"/>
          </a:p>
        </p:txBody>
      </p:sp>
      <p:sp>
        <p:nvSpPr>
          <p:cNvPr id="3" name="Symbol zastępczy zawartości 2">
            <a:extLst>
              <a:ext uri="{FF2B5EF4-FFF2-40B4-BE49-F238E27FC236}">
                <a16:creationId xmlns:a16="http://schemas.microsoft.com/office/drawing/2014/main" id="{CB2A719E-8F7A-41F6-A632-9F1C97AB7168}"/>
              </a:ext>
            </a:extLst>
          </p:cNvPr>
          <p:cNvSpPr>
            <a:spLocks noGrp="1"/>
          </p:cNvSpPr>
          <p:nvPr>
            <p:ph idx="1"/>
          </p:nvPr>
        </p:nvSpPr>
        <p:spPr>
          <a:xfrm>
            <a:off x="838200" y="1825625"/>
            <a:ext cx="10515600" cy="4895850"/>
          </a:xfrm>
        </p:spPr>
        <p:txBody>
          <a:bodyPr>
            <a:normAutofit/>
          </a:bodyPr>
          <a:lstStyle/>
          <a:p>
            <a:r>
              <a:rPr lang="en-US" sz="3200" b="1" dirty="0">
                <a:solidFill>
                  <a:srgbClr val="FF0000"/>
                </a:solidFill>
                <a:effectLst>
                  <a:outerShdw blurRad="38100" dist="38100" dir="2700000" algn="tl">
                    <a:srgbClr val="000000">
                      <a:alpha val="43137"/>
                    </a:srgbClr>
                  </a:outerShdw>
                </a:effectLst>
                <a:highlight>
                  <a:srgbClr val="00FF00"/>
                </a:highlight>
              </a:rPr>
              <a:t>Uber exercises decisive influence </a:t>
            </a:r>
            <a:r>
              <a:rPr lang="en-US" sz="3200" b="1" dirty="0">
                <a:solidFill>
                  <a:srgbClr val="002060"/>
                </a:solidFill>
                <a:effectLst>
                  <a:outerShdw blurRad="38100" dist="38100" dir="2700000" algn="tl">
                    <a:srgbClr val="000000">
                      <a:alpha val="43137"/>
                    </a:srgbClr>
                  </a:outerShdw>
                </a:effectLst>
              </a:rPr>
              <a:t>over the conditions under which that service is provided by those drivers</a:t>
            </a:r>
            <a:r>
              <a:rPr lang="en-US" sz="3200" dirty="0"/>
              <a:t> </a:t>
            </a:r>
          </a:p>
          <a:p>
            <a:r>
              <a:rPr lang="en-US" sz="3200" dirty="0"/>
              <a:t>Uber determines </a:t>
            </a:r>
            <a:r>
              <a:rPr lang="en-US" sz="3200" b="1" dirty="0">
                <a:solidFill>
                  <a:srgbClr val="002060"/>
                </a:solidFill>
                <a:effectLst>
                  <a:outerShdw blurRad="38100" dist="38100" dir="2700000" algn="tl">
                    <a:srgbClr val="000000">
                      <a:alpha val="43137"/>
                    </a:srgbClr>
                  </a:outerShdw>
                </a:effectLst>
              </a:rPr>
              <a:t>at least the </a:t>
            </a:r>
            <a:r>
              <a:rPr lang="en-US" sz="3200" b="1" u="sng" dirty="0">
                <a:solidFill>
                  <a:srgbClr val="FF0000"/>
                </a:solidFill>
                <a:effectLst>
                  <a:outerShdw blurRad="38100" dist="38100" dir="2700000" algn="tl">
                    <a:srgbClr val="000000">
                      <a:alpha val="43137"/>
                    </a:srgbClr>
                  </a:outerShdw>
                </a:effectLst>
                <a:highlight>
                  <a:srgbClr val="FFFF00"/>
                </a:highlight>
              </a:rPr>
              <a:t>maximum fare </a:t>
            </a:r>
            <a:r>
              <a:rPr lang="en-US" sz="3200" b="1" dirty="0">
                <a:solidFill>
                  <a:srgbClr val="002060"/>
                </a:solidFill>
                <a:effectLst>
                  <a:outerShdw blurRad="38100" dist="38100" dir="2700000" algn="tl">
                    <a:srgbClr val="000000">
                      <a:alpha val="43137"/>
                    </a:srgbClr>
                  </a:outerShdw>
                </a:effectLst>
              </a:rPr>
              <a:t>by means of the application</a:t>
            </a:r>
            <a:r>
              <a:rPr lang="en-US" sz="3200" dirty="0"/>
              <a:t>, that the </a:t>
            </a:r>
            <a:r>
              <a:rPr lang="en-US" sz="3200" b="1" dirty="0">
                <a:solidFill>
                  <a:srgbClr val="002060"/>
                </a:solidFill>
                <a:effectLst>
                  <a:outerShdw blurRad="38100" dist="38100" dir="2700000" algn="tl">
                    <a:srgbClr val="000000">
                      <a:alpha val="43137"/>
                    </a:srgbClr>
                  </a:outerShdw>
                </a:effectLst>
              </a:rPr>
              <a:t>company receives that amount from the client before paying part of it to the non-professional driver </a:t>
            </a:r>
            <a:r>
              <a:rPr lang="en-US" sz="3200" dirty="0"/>
              <a:t>of the vehicle, and that it exercises a </a:t>
            </a:r>
            <a:r>
              <a:rPr lang="en-US" sz="3200" b="1" u="sng" dirty="0">
                <a:solidFill>
                  <a:srgbClr val="FF0000"/>
                </a:solidFill>
                <a:effectLst>
                  <a:outerShdw blurRad="38100" dist="38100" dir="2700000" algn="tl">
                    <a:srgbClr val="000000">
                      <a:alpha val="43137"/>
                    </a:srgbClr>
                  </a:outerShdw>
                </a:effectLst>
                <a:highlight>
                  <a:srgbClr val="FFFF00"/>
                </a:highlight>
              </a:rPr>
              <a:t>certain control over the quality of the vehicles, the drivers and their conduct</a:t>
            </a:r>
            <a:r>
              <a:rPr lang="en-US" sz="3200" u="sng" dirty="0">
                <a:highlight>
                  <a:srgbClr val="FFFF00"/>
                </a:highlight>
              </a:rPr>
              <a:t>, which can, in some circumstances, result in </a:t>
            </a:r>
            <a:r>
              <a:rPr lang="en-US" sz="3200" b="1" u="sng" dirty="0">
                <a:solidFill>
                  <a:srgbClr val="FF0000"/>
                </a:solidFill>
                <a:effectLst>
                  <a:outerShdw blurRad="38100" dist="38100" dir="2700000" algn="tl">
                    <a:srgbClr val="000000">
                      <a:alpha val="43137"/>
                    </a:srgbClr>
                  </a:outerShdw>
                </a:effectLst>
                <a:highlight>
                  <a:srgbClr val="FFFF00"/>
                </a:highlight>
              </a:rPr>
              <a:t>their exclusion</a:t>
            </a:r>
          </a:p>
          <a:p>
            <a:endParaRPr lang="en-US" dirty="0"/>
          </a:p>
        </p:txBody>
      </p:sp>
      <p:sp>
        <p:nvSpPr>
          <p:cNvPr id="4" name="Symbol zastępczy numeru slajdu 3">
            <a:extLst>
              <a:ext uri="{FF2B5EF4-FFF2-40B4-BE49-F238E27FC236}">
                <a16:creationId xmlns:a16="http://schemas.microsoft.com/office/drawing/2014/main" id="{828D319F-202D-47E6-9B07-58EDDB1A1B15}"/>
              </a:ext>
            </a:extLst>
          </p:cNvPr>
          <p:cNvSpPr>
            <a:spLocks noGrp="1"/>
          </p:cNvSpPr>
          <p:nvPr>
            <p:ph type="sldNum" sz="quarter" idx="12"/>
          </p:nvPr>
        </p:nvSpPr>
        <p:spPr/>
        <p:txBody>
          <a:bodyPr/>
          <a:lstStyle/>
          <a:p>
            <a:fld id="{31FE8408-9B39-4718-B64F-54F72D092B1B}" type="slidenum">
              <a:rPr lang="pl-PL" smtClean="0"/>
              <a:t>64</a:t>
            </a:fld>
            <a:endParaRPr lang="pl-PL" dirty="0"/>
          </a:p>
        </p:txBody>
      </p:sp>
    </p:spTree>
    <p:extLst>
      <p:ext uri="{BB962C8B-B14F-4D97-AF65-F5344CB8AC3E}">
        <p14:creationId xmlns:p14="http://schemas.microsoft.com/office/powerpoint/2010/main" val="19819224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1DC91F42-BF02-4AC7-BD9A-D9FD1AF73AC3}"/>
              </a:ext>
            </a:extLst>
          </p:cNvPr>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Court’s reasoning</a:t>
            </a:r>
            <a:endParaRPr lang="en-US" dirty="0"/>
          </a:p>
        </p:txBody>
      </p:sp>
      <p:sp>
        <p:nvSpPr>
          <p:cNvPr id="3" name="Symbol zastępczy zawartości 2">
            <a:extLst>
              <a:ext uri="{FF2B5EF4-FFF2-40B4-BE49-F238E27FC236}">
                <a16:creationId xmlns:a16="http://schemas.microsoft.com/office/drawing/2014/main" id="{B1620D9D-CF66-48B6-9854-853262812317}"/>
              </a:ext>
            </a:extLst>
          </p:cNvPr>
          <p:cNvSpPr>
            <a:spLocks noGrp="1"/>
          </p:cNvSpPr>
          <p:nvPr>
            <p:ph idx="1"/>
          </p:nvPr>
        </p:nvSpPr>
        <p:spPr>
          <a:xfrm>
            <a:off x="838200" y="1825624"/>
            <a:ext cx="10515600" cy="5032375"/>
          </a:xfrm>
        </p:spPr>
        <p:txBody>
          <a:bodyPr>
            <a:normAutofit/>
          </a:bodyPr>
          <a:lstStyle/>
          <a:p>
            <a:pPr marL="0" indent="0">
              <a:buNone/>
            </a:pPr>
            <a:r>
              <a:rPr lang="en-US" sz="4800" b="1" dirty="0">
                <a:solidFill>
                  <a:srgbClr val="FF0000"/>
                </a:solidFill>
                <a:effectLst>
                  <a:outerShdw blurRad="38100" dist="38100" dir="2700000" algn="tl">
                    <a:srgbClr val="000000">
                      <a:alpha val="43137"/>
                    </a:srgbClr>
                  </a:outerShdw>
                </a:effectLst>
              </a:rPr>
              <a:t>That intermediation service </a:t>
            </a:r>
            <a:r>
              <a:rPr lang="en-US" sz="4800" b="1" dirty="0">
                <a:effectLst>
                  <a:outerShdw blurRad="38100" dist="38100" dir="2700000" algn="tl">
                    <a:srgbClr val="000000">
                      <a:alpha val="43137"/>
                    </a:srgbClr>
                  </a:outerShdw>
                </a:effectLst>
              </a:rPr>
              <a:t>must thus be regarded as forming an </a:t>
            </a:r>
            <a:r>
              <a:rPr lang="en-US" sz="4800" b="1" dirty="0">
                <a:solidFill>
                  <a:srgbClr val="FF0000"/>
                </a:solidFill>
                <a:effectLst>
                  <a:outerShdw blurRad="38100" dist="38100" dir="2700000" algn="tl">
                    <a:srgbClr val="000000">
                      <a:alpha val="43137"/>
                    </a:srgbClr>
                  </a:outerShdw>
                </a:effectLst>
                <a:latin typeface="Amasis MT Pro Black" panose="02040A04050005020304" pitchFamily="18" charset="-18"/>
              </a:rPr>
              <a:t>integral part of an overall service </a:t>
            </a:r>
          </a:p>
          <a:p>
            <a:pPr marL="0" indent="0">
              <a:buNone/>
            </a:pPr>
            <a:r>
              <a:rPr lang="en-US" sz="4800" b="1" dirty="0">
                <a:solidFill>
                  <a:srgbClr val="002060"/>
                </a:solidFill>
                <a:effectLst>
                  <a:outerShdw blurRad="38100" dist="38100" dir="2700000" algn="tl">
                    <a:srgbClr val="000000">
                      <a:alpha val="43137"/>
                    </a:srgbClr>
                  </a:outerShdw>
                </a:effectLst>
              </a:rPr>
              <a:t>whose</a:t>
            </a:r>
            <a:r>
              <a:rPr lang="en-US" sz="4800" b="1" dirty="0">
                <a:effectLst>
                  <a:outerShdw blurRad="38100" dist="38100" dir="2700000" algn="tl">
                    <a:srgbClr val="000000">
                      <a:alpha val="43137"/>
                    </a:srgbClr>
                  </a:outerShdw>
                </a:effectLst>
              </a:rPr>
              <a:t> </a:t>
            </a:r>
            <a:r>
              <a:rPr lang="en-US" sz="4800" b="1" dirty="0">
                <a:solidFill>
                  <a:srgbClr val="FF0000"/>
                </a:solidFill>
                <a:effectLst>
                  <a:outerShdw blurRad="38100" dist="38100" dir="2700000" algn="tl">
                    <a:srgbClr val="000000">
                      <a:alpha val="43137"/>
                    </a:srgbClr>
                  </a:outerShdw>
                </a:effectLst>
                <a:highlight>
                  <a:srgbClr val="00FF00"/>
                </a:highlight>
              </a:rPr>
              <a:t>main component is a </a:t>
            </a:r>
            <a:endParaRPr lang="pl-PL" sz="4800" b="1" dirty="0">
              <a:solidFill>
                <a:srgbClr val="FF0000"/>
              </a:solidFill>
              <a:effectLst>
                <a:outerShdw blurRad="38100" dist="38100" dir="2700000" algn="tl">
                  <a:srgbClr val="000000">
                    <a:alpha val="43137"/>
                  </a:srgbClr>
                </a:outerShdw>
              </a:effectLst>
              <a:highlight>
                <a:srgbClr val="00FF00"/>
              </a:highlight>
            </a:endParaRPr>
          </a:p>
          <a:p>
            <a:pPr marL="0" indent="0">
              <a:buNone/>
            </a:pPr>
            <a:r>
              <a:rPr lang="en-US" sz="4800" b="1" dirty="0">
                <a:solidFill>
                  <a:srgbClr val="FF0000"/>
                </a:solidFill>
                <a:effectLst>
                  <a:outerShdw blurRad="38100" dist="38100" dir="2700000" algn="tl">
                    <a:srgbClr val="000000">
                      <a:alpha val="43137"/>
                    </a:srgbClr>
                  </a:outerShdw>
                </a:effectLst>
                <a:highlight>
                  <a:srgbClr val="00FF00"/>
                </a:highlight>
              </a:rPr>
              <a:t>transport service</a:t>
            </a:r>
            <a:r>
              <a:rPr lang="en-US" sz="4800" b="1" dirty="0">
                <a:effectLst>
                  <a:outerShdw blurRad="38100" dist="38100" dir="2700000" algn="tl">
                    <a:srgbClr val="000000">
                      <a:alpha val="43137"/>
                    </a:srgbClr>
                  </a:outerShdw>
                </a:effectLst>
                <a:highlight>
                  <a:srgbClr val="00FF00"/>
                </a:highlight>
              </a:rPr>
              <a:t> </a:t>
            </a:r>
            <a:r>
              <a:rPr lang="en-US" sz="4800" b="1" dirty="0">
                <a:effectLst>
                  <a:outerShdw blurRad="38100" dist="38100" dir="2700000" algn="tl">
                    <a:srgbClr val="000000">
                      <a:alpha val="43137"/>
                    </a:srgbClr>
                  </a:outerShdw>
                </a:effectLst>
              </a:rPr>
              <a:t>and, accordingly,</a:t>
            </a:r>
          </a:p>
        </p:txBody>
      </p:sp>
      <p:sp>
        <p:nvSpPr>
          <p:cNvPr id="4" name="Symbol zastępczy numeru slajdu 3">
            <a:extLst>
              <a:ext uri="{FF2B5EF4-FFF2-40B4-BE49-F238E27FC236}">
                <a16:creationId xmlns:a16="http://schemas.microsoft.com/office/drawing/2014/main" id="{7DDC0915-4798-451A-8376-F146EBDCEE09}"/>
              </a:ext>
            </a:extLst>
          </p:cNvPr>
          <p:cNvSpPr>
            <a:spLocks noGrp="1"/>
          </p:cNvSpPr>
          <p:nvPr>
            <p:ph type="sldNum" sz="quarter" idx="12"/>
          </p:nvPr>
        </p:nvSpPr>
        <p:spPr/>
        <p:txBody>
          <a:bodyPr/>
          <a:lstStyle/>
          <a:p>
            <a:fld id="{31FE8408-9B39-4718-B64F-54F72D092B1B}" type="slidenum">
              <a:rPr lang="pl-PL" smtClean="0"/>
              <a:t>65</a:t>
            </a:fld>
            <a:endParaRPr lang="pl-PL" dirty="0"/>
          </a:p>
        </p:txBody>
      </p:sp>
    </p:spTree>
    <p:extLst>
      <p:ext uri="{BB962C8B-B14F-4D97-AF65-F5344CB8AC3E}">
        <p14:creationId xmlns:p14="http://schemas.microsoft.com/office/powerpoint/2010/main" val="243344975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Conclusion</a:t>
            </a:r>
            <a:endParaRPr lang="pl-PL" dirty="0"/>
          </a:p>
        </p:txBody>
      </p:sp>
      <p:sp>
        <p:nvSpPr>
          <p:cNvPr id="3" name="Symbol zastępczy zawartości 2"/>
          <p:cNvSpPr>
            <a:spLocks noGrp="1"/>
          </p:cNvSpPr>
          <p:nvPr>
            <p:ph idx="1"/>
          </p:nvPr>
        </p:nvSpPr>
        <p:spPr/>
        <p:txBody>
          <a:bodyPr>
            <a:normAutofit/>
          </a:bodyPr>
          <a:lstStyle/>
          <a:p>
            <a:pPr marL="0" indent="0">
              <a:buNone/>
            </a:pPr>
            <a:r>
              <a:rPr lang="en-US" sz="4000" b="1" u="sng" dirty="0">
                <a:solidFill>
                  <a:srgbClr val="002060"/>
                </a:solidFill>
                <a:effectLst>
                  <a:outerShdw blurRad="38100" dist="38100" dir="2700000" algn="tl">
                    <a:srgbClr val="000000">
                      <a:alpha val="43137"/>
                    </a:srgbClr>
                  </a:outerShdw>
                </a:effectLst>
                <a:highlight>
                  <a:srgbClr val="00FF00"/>
                </a:highlight>
                <a:latin typeface="Amasis MT Pro Black" panose="02040A04050005020304" pitchFamily="18" charset="-18"/>
              </a:rPr>
              <a:t>must be classified </a:t>
            </a:r>
            <a:r>
              <a:rPr lang="pl-PL" sz="4000" b="1" u="sng" dirty="0">
                <a:solidFill>
                  <a:srgbClr val="FF0000"/>
                </a:solidFill>
                <a:effectLst>
                  <a:outerShdw blurRad="38100" dist="38100" dir="2700000" algn="tl">
                    <a:srgbClr val="000000">
                      <a:alpha val="43137"/>
                    </a:srgbClr>
                  </a:outerShdw>
                </a:effectLst>
                <a:highlight>
                  <a:srgbClr val="00FF00"/>
                </a:highlight>
                <a:latin typeface="Amasis MT Pro Black" panose="02040A04050005020304" pitchFamily="18" charset="-18"/>
              </a:rPr>
              <a:t>NOT</a:t>
            </a:r>
            <a:r>
              <a:rPr lang="en-US" sz="4000" b="1" u="sng" dirty="0">
                <a:solidFill>
                  <a:srgbClr val="FF0000"/>
                </a:solidFill>
                <a:effectLst>
                  <a:outerShdw blurRad="38100" dist="38100" dir="2700000" algn="tl">
                    <a:srgbClr val="000000">
                      <a:alpha val="43137"/>
                    </a:srgbClr>
                  </a:outerShdw>
                </a:effectLst>
                <a:highlight>
                  <a:srgbClr val="00FF00"/>
                </a:highlight>
                <a:latin typeface="Amasis MT Pro Black" panose="02040A04050005020304" pitchFamily="18" charset="-18"/>
              </a:rPr>
              <a:t> as ‘an information society service</a:t>
            </a:r>
            <a:r>
              <a:rPr lang="en-US" sz="4000" b="1" dirty="0">
                <a:solidFill>
                  <a:srgbClr val="FF0000"/>
                </a:solidFill>
                <a:effectLst>
                  <a:outerShdw blurRad="38100" dist="38100" dir="2700000" algn="tl">
                    <a:srgbClr val="000000">
                      <a:alpha val="43137"/>
                    </a:srgbClr>
                  </a:outerShdw>
                </a:effectLst>
              </a:rPr>
              <a:t>’</a:t>
            </a:r>
            <a:r>
              <a:rPr lang="en-US" sz="4000" b="1" dirty="0">
                <a:effectLst>
                  <a:outerShdw blurRad="38100" dist="38100" dir="2700000" algn="tl">
                    <a:srgbClr val="000000">
                      <a:alpha val="43137"/>
                    </a:srgbClr>
                  </a:outerShdw>
                </a:effectLst>
              </a:rPr>
              <a:t> within the meaning of Article 1(2) of Directive 98/34, to which Article 2(a) of Directive 2000/31 refers, </a:t>
            </a:r>
            <a:r>
              <a:rPr lang="en-US" sz="4000" b="1" u="sng" dirty="0">
                <a:solidFill>
                  <a:srgbClr val="FF0000"/>
                </a:solidFill>
                <a:effectLst>
                  <a:outerShdw blurRad="38100" dist="38100" dir="2700000" algn="tl">
                    <a:srgbClr val="000000">
                      <a:alpha val="43137"/>
                    </a:srgbClr>
                  </a:outerShdw>
                </a:effectLst>
                <a:highlight>
                  <a:srgbClr val="00FF00"/>
                </a:highlight>
                <a:latin typeface="Amasis MT Pro Black" panose="02040A04050005020304" pitchFamily="18" charset="-18"/>
              </a:rPr>
              <a:t>but as ‘a service in the field of transport</a:t>
            </a:r>
            <a:r>
              <a:rPr lang="en-US" sz="4000" b="1" dirty="0">
                <a:solidFill>
                  <a:srgbClr val="002060"/>
                </a:solidFill>
                <a:effectLst>
                  <a:outerShdw blurRad="38100" dist="38100" dir="2700000" algn="tl">
                    <a:srgbClr val="000000">
                      <a:alpha val="43137"/>
                    </a:srgbClr>
                  </a:outerShdw>
                </a:effectLst>
                <a:latin typeface="Amasis MT Pro Black" panose="02040A04050005020304" pitchFamily="18" charset="-18"/>
              </a:rPr>
              <a:t>’ </a:t>
            </a:r>
            <a:r>
              <a:rPr lang="en-US" sz="4000" b="1" dirty="0">
                <a:effectLst>
                  <a:outerShdw blurRad="38100" dist="38100" dir="2700000" algn="tl">
                    <a:srgbClr val="000000">
                      <a:alpha val="43137"/>
                    </a:srgbClr>
                  </a:outerShdw>
                </a:effectLst>
              </a:rPr>
              <a:t>within the meaning of Article 2(2)(d) of Directive 2006/123</a:t>
            </a:r>
          </a:p>
          <a:p>
            <a:endParaRPr lang="pl-PL" sz="4000" dirty="0"/>
          </a:p>
        </p:txBody>
      </p:sp>
      <p:sp>
        <p:nvSpPr>
          <p:cNvPr id="4" name="Symbol zastępczy numeru slajdu 3"/>
          <p:cNvSpPr>
            <a:spLocks noGrp="1"/>
          </p:cNvSpPr>
          <p:nvPr>
            <p:ph type="sldNum" sz="quarter" idx="12"/>
          </p:nvPr>
        </p:nvSpPr>
        <p:spPr/>
        <p:txBody>
          <a:bodyPr/>
          <a:lstStyle/>
          <a:p>
            <a:fld id="{31FE8408-9B39-4718-B64F-54F72D092B1B}" type="slidenum">
              <a:rPr lang="pl-PL" smtClean="0"/>
              <a:t>66</a:t>
            </a:fld>
            <a:endParaRPr lang="pl-PL" dirty="0"/>
          </a:p>
        </p:txBody>
      </p:sp>
    </p:spTree>
    <p:extLst>
      <p:ext uri="{BB962C8B-B14F-4D97-AF65-F5344CB8AC3E}">
        <p14:creationId xmlns:p14="http://schemas.microsoft.com/office/powerpoint/2010/main" val="15658981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B60C4EC6-DB1F-40C1-AF6F-1541C19FF7A7}"/>
              </a:ext>
            </a:extLst>
          </p:cNvPr>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Conclusion</a:t>
            </a:r>
            <a:endParaRPr lang="en-US" dirty="0"/>
          </a:p>
        </p:txBody>
      </p:sp>
      <p:sp>
        <p:nvSpPr>
          <p:cNvPr id="3" name="Symbol zastępczy zawartości 2">
            <a:extLst>
              <a:ext uri="{FF2B5EF4-FFF2-40B4-BE49-F238E27FC236}">
                <a16:creationId xmlns:a16="http://schemas.microsoft.com/office/drawing/2014/main" id="{3F55902A-B8D3-46BD-9E73-5F68CAB5F769}"/>
              </a:ext>
            </a:extLst>
          </p:cNvPr>
          <p:cNvSpPr>
            <a:spLocks noGrp="1"/>
          </p:cNvSpPr>
          <p:nvPr>
            <p:ph idx="1"/>
          </p:nvPr>
        </p:nvSpPr>
        <p:spPr>
          <a:xfrm>
            <a:off x="647114" y="1825624"/>
            <a:ext cx="10706686" cy="5032375"/>
          </a:xfrm>
        </p:spPr>
        <p:txBody>
          <a:bodyPr>
            <a:normAutofit/>
          </a:bodyPr>
          <a:lstStyle/>
          <a:p>
            <a:pPr marL="0" indent="0">
              <a:buNone/>
            </a:pPr>
            <a:r>
              <a:rPr lang="pl-PL" dirty="0"/>
              <a:t>That classification is confirmed by the </a:t>
            </a:r>
            <a:r>
              <a:rPr lang="pl-PL" dirty="0">
                <a:solidFill>
                  <a:srgbClr val="FF0000"/>
                </a:solidFill>
                <a:effectLst>
                  <a:outerShdw blurRad="38100" dist="38100" dir="2700000" algn="tl">
                    <a:srgbClr val="000000">
                      <a:alpha val="43137"/>
                    </a:srgbClr>
                  </a:outerShdw>
                </a:effectLst>
                <a:highlight>
                  <a:srgbClr val="FFFF00"/>
                </a:highlight>
              </a:rPr>
              <a:t>case-law</a:t>
            </a:r>
            <a:r>
              <a:rPr lang="pl-PL" dirty="0"/>
              <a:t> of the Court, according to which </a:t>
            </a:r>
            <a:r>
              <a:rPr lang="pl-PL" sz="4000" dirty="0">
                <a:solidFill>
                  <a:srgbClr val="002060"/>
                </a:solidFill>
                <a:effectLst>
                  <a:outerShdw blurRad="38100" dist="38100" dir="2700000" algn="tl">
                    <a:srgbClr val="000000">
                      <a:alpha val="43137"/>
                    </a:srgbClr>
                  </a:outerShdw>
                </a:effectLst>
              </a:rPr>
              <a:t>the concept of ‘services in the field of </a:t>
            </a:r>
            <a:r>
              <a:rPr lang="pl-PL" sz="4000" u="sng" dirty="0">
                <a:solidFill>
                  <a:srgbClr val="FF0000"/>
                </a:solidFill>
                <a:effectLst>
                  <a:outerShdw blurRad="38100" dist="38100" dir="2700000" algn="tl">
                    <a:srgbClr val="000000">
                      <a:alpha val="43137"/>
                    </a:srgbClr>
                  </a:outerShdw>
                </a:effectLst>
                <a:highlight>
                  <a:srgbClr val="00FF00"/>
                </a:highlight>
              </a:rPr>
              <a:t>transport’ </a:t>
            </a:r>
            <a:r>
              <a:rPr lang="pl-PL" sz="4000" b="1" u="sng" dirty="0">
                <a:solidFill>
                  <a:srgbClr val="FF0000"/>
                </a:solidFill>
                <a:effectLst>
                  <a:outerShdw blurRad="38100" dist="38100" dir="2700000" algn="tl">
                    <a:srgbClr val="000000">
                      <a:alpha val="43137"/>
                    </a:srgbClr>
                  </a:outerShdw>
                </a:effectLst>
                <a:highlight>
                  <a:srgbClr val="00FF00"/>
                </a:highlight>
              </a:rPr>
              <a:t>includes </a:t>
            </a:r>
            <a:r>
              <a:rPr lang="pl-PL" sz="4000" b="1" u="sng" dirty="0">
                <a:solidFill>
                  <a:srgbClr val="FF0000"/>
                </a:solidFill>
                <a:effectLst>
                  <a:outerShdw blurRad="38100" dist="38100" dir="2700000" algn="tl">
                    <a:srgbClr val="000000">
                      <a:alpha val="43137"/>
                    </a:srgbClr>
                  </a:outerShdw>
                </a:effectLst>
                <a:highlight>
                  <a:srgbClr val="FFFF00"/>
                </a:highlight>
              </a:rPr>
              <a:t>not only transport </a:t>
            </a:r>
            <a:r>
              <a:rPr lang="pl-PL" sz="4000" b="1" dirty="0">
                <a:solidFill>
                  <a:srgbClr val="FF0000"/>
                </a:solidFill>
                <a:effectLst>
                  <a:outerShdw blurRad="38100" dist="38100" dir="2700000" algn="tl">
                    <a:srgbClr val="000000">
                      <a:alpha val="43137"/>
                    </a:srgbClr>
                  </a:outerShdw>
                </a:effectLst>
                <a:highlight>
                  <a:srgbClr val="FFFF00"/>
                </a:highlight>
              </a:rPr>
              <a:t>services </a:t>
            </a:r>
            <a:r>
              <a:rPr lang="pl-PL" sz="4000" b="1" dirty="0">
                <a:solidFill>
                  <a:srgbClr val="002060"/>
                </a:solidFill>
                <a:effectLst>
                  <a:outerShdw blurRad="38100" dist="38100" dir="2700000" algn="tl">
                    <a:srgbClr val="000000">
                      <a:alpha val="43137"/>
                    </a:srgbClr>
                  </a:outerShdw>
                </a:effectLst>
                <a:highlight>
                  <a:srgbClr val="FFFF00"/>
                </a:highlight>
              </a:rPr>
              <a:t>in themselves </a:t>
            </a:r>
            <a:r>
              <a:rPr lang="pl-PL" sz="4000" dirty="0">
                <a:solidFill>
                  <a:srgbClr val="002060"/>
                </a:solidFill>
                <a:highlight>
                  <a:srgbClr val="FFFF00"/>
                </a:highlight>
              </a:rPr>
              <a:t>but also </a:t>
            </a:r>
            <a:r>
              <a:rPr lang="pl-PL" sz="4000" b="1" dirty="0">
                <a:solidFill>
                  <a:srgbClr val="FF0000"/>
                </a:solidFill>
                <a:effectLst>
                  <a:outerShdw blurRad="38100" dist="38100" dir="2700000" algn="tl">
                    <a:srgbClr val="000000">
                      <a:alpha val="43137"/>
                    </a:srgbClr>
                  </a:outerShdw>
                </a:effectLst>
                <a:highlight>
                  <a:srgbClr val="FFFF00"/>
                </a:highlight>
              </a:rPr>
              <a:t>any service inherently linked </a:t>
            </a:r>
            <a:r>
              <a:rPr lang="pl-PL" sz="4000" dirty="0">
                <a:solidFill>
                  <a:srgbClr val="002060"/>
                </a:solidFill>
                <a:highlight>
                  <a:srgbClr val="FFFF00"/>
                </a:highlight>
              </a:rPr>
              <a:t>to any physical act of moving persons or g</a:t>
            </a:r>
            <a:r>
              <a:rPr lang="pl-PL" sz="3900" dirty="0">
                <a:solidFill>
                  <a:srgbClr val="002060"/>
                </a:solidFill>
                <a:highlight>
                  <a:srgbClr val="FFFF00"/>
                </a:highlight>
              </a:rPr>
              <a:t>oods</a:t>
            </a:r>
            <a:r>
              <a:rPr lang="pl-PL" dirty="0">
                <a:solidFill>
                  <a:srgbClr val="002060"/>
                </a:solidFill>
                <a:highlight>
                  <a:srgbClr val="FFFF00"/>
                </a:highlight>
              </a:rPr>
              <a:t> </a:t>
            </a:r>
            <a:r>
              <a:rPr lang="pl-PL" dirty="0"/>
              <a:t>from one place to another by means of transport</a:t>
            </a:r>
          </a:p>
          <a:p>
            <a:pPr marL="0" indent="0">
              <a:buNone/>
            </a:pPr>
            <a:r>
              <a:rPr lang="pl-PL" dirty="0"/>
              <a:t> </a:t>
            </a:r>
            <a:endParaRPr lang="en-US" i="1" dirty="0"/>
          </a:p>
        </p:txBody>
      </p:sp>
      <p:sp>
        <p:nvSpPr>
          <p:cNvPr id="4" name="Symbol zastępczy numeru slajdu 3">
            <a:extLst>
              <a:ext uri="{FF2B5EF4-FFF2-40B4-BE49-F238E27FC236}">
                <a16:creationId xmlns:a16="http://schemas.microsoft.com/office/drawing/2014/main" id="{715AC52F-04BE-4856-95C9-00E54557A5BB}"/>
              </a:ext>
            </a:extLst>
          </p:cNvPr>
          <p:cNvSpPr>
            <a:spLocks noGrp="1"/>
          </p:cNvSpPr>
          <p:nvPr>
            <p:ph type="sldNum" sz="quarter" idx="12"/>
          </p:nvPr>
        </p:nvSpPr>
        <p:spPr/>
        <p:txBody>
          <a:bodyPr/>
          <a:lstStyle/>
          <a:p>
            <a:fld id="{31FE8408-9B39-4718-B64F-54F72D092B1B}" type="slidenum">
              <a:rPr lang="pl-PL" smtClean="0"/>
              <a:t>67</a:t>
            </a:fld>
            <a:endParaRPr lang="pl-PL" dirty="0"/>
          </a:p>
        </p:txBody>
      </p:sp>
    </p:spTree>
    <p:extLst>
      <p:ext uri="{BB962C8B-B14F-4D97-AF65-F5344CB8AC3E}">
        <p14:creationId xmlns:p14="http://schemas.microsoft.com/office/powerpoint/2010/main" val="22725151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F4604353-7D96-4787-8E6A-B65B86A7E254}"/>
              </a:ext>
            </a:extLst>
          </p:cNvPr>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Conclusion</a:t>
            </a:r>
            <a:endParaRPr lang="en-US" dirty="0"/>
          </a:p>
        </p:txBody>
      </p:sp>
      <p:sp>
        <p:nvSpPr>
          <p:cNvPr id="3" name="Symbol zastępczy zawartości 2">
            <a:extLst>
              <a:ext uri="{FF2B5EF4-FFF2-40B4-BE49-F238E27FC236}">
                <a16:creationId xmlns:a16="http://schemas.microsoft.com/office/drawing/2014/main" id="{F918AEE0-ADB1-4535-AC5D-712C89EAC793}"/>
              </a:ext>
            </a:extLst>
          </p:cNvPr>
          <p:cNvSpPr>
            <a:spLocks noGrp="1"/>
          </p:cNvSpPr>
          <p:nvPr>
            <p:ph idx="1"/>
          </p:nvPr>
        </p:nvSpPr>
        <p:spPr/>
        <p:txBody>
          <a:bodyPr>
            <a:normAutofit/>
          </a:bodyPr>
          <a:lstStyle/>
          <a:p>
            <a:pPr marL="0" indent="0">
              <a:buNone/>
            </a:pPr>
            <a:r>
              <a:rPr lang="en-US" sz="3600" dirty="0">
                <a:solidFill>
                  <a:srgbClr val="002060"/>
                </a:solidFill>
                <a:cs typeface="Times New Roman" panose="02020603050405020304" pitchFamily="18" charset="0"/>
              </a:rPr>
              <a:t>Consequently,</a:t>
            </a:r>
            <a:r>
              <a:rPr lang="en-US" sz="3600" dirty="0">
                <a:cs typeface="Times New Roman" panose="02020603050405020304" pitchFamily="18" charset="0"/>
              </a:rPr>
              <a:t> </a:t>
            </a:r>
            <a:r>
              <a:rPr lang="en-US" sz="3600" dirty="0">
                <a:solidFill>
                  <a:srgbClr val="002060"/>
                </a:solidFill>
                <a:cs typeface="Times New Roman" panose="02020603050405020304" pitchFamily="18" charset="0"/>
              </a:rPr>
              <a:t>Directive 2000/13 </a:t>
            </a:r>
            <a:r>
              <a:rPr lang="pl-PL" sz="3600" dirty="0">
                <a:solidFill>
                  <a:srgbClr val="002060"/>
                </a:solidFill>
                <a:cs typeface="Times New Roman" panose="02020603050405020304" pitchFamily="18" charset="0"/>
              </a:rPr>
              <a:t>[information society service] </a:t>
            </a:r>
            <a:r>
              <a:rPr lang="en-US" sz="3600" dirty="0">
                <a:solidFill>
                  <a:srgbClr val="FF0000"/>
                </a:solidFill>
                <a:effectLst>
                  <a:outerShdw blurRad="38100" dist="38100" dir="2700000" algn="tl">
                    <a:srgbClr val="000000">
                      <a:alpha val="43137"/>
                    </a:srgbClr>
                  </a:outerShdw>
                </a:effectLst>
                <a:latin typeface="Amasis MT Pro Black" panose="02040A04050005020304" pitchFamily="18" charset="-18"/>
                <a:cs typeface="Times New Roman" panose="02020603050405020304" pitchFamily="18" charset="0"/>
              </a:rPr>
              <a:t>does not apply</a:t>
            </a:r>
            <a:r>
              <a:rPr lang="en-US" sz="3600" dirty="0">
                <a:solidFill>
                  <a:srgbClr val="FF0000"/>
                </a:solidFill>
                <a:latin typeface="Amasis MT Pro Black" panose="02040A04050005020304" pitchFamily="18" charset="-18"/>
                <a:cs typeface="Times New Roman" panose="02020603050405020304" pitchFamily="18" charset="0"/>
              </a:rPr>
              <a:t> </a:t>
            </a:r>
            <a:r>
              <a:rPr lang="en-US" sz="3600" dirty="0">
                <a:solidFill>
                  <a:srgbClr val="FF0000"/>
                </a:solidFill>
                <a:cs typeface="Times New Roman" panose="02020603050405020304" pitchFamily="18" charset="0"/>
              </a:rPr>
              <a:t>to an intermediation service </a:t>
            </a:r>
            <a:r>
              <a:rPr lang="pl-PL" sz="3600" dirty="0">
                <a:solidFill>
                  <a:srgbClr val="FF0000"/>
                </a:solidFill>
                <a:cs typeface="Times New Roman" panose="02020603050405020304" pitchFamily="18" charset="0"/>
              </a:rPr>
              <a:t> </a:t>
            </a:r>
            <a:r>
              <a:rPr lang="pl-PL" sz="3600" dirty="0">
                <a:solidFill>
                  <a:srgbClr val="FF0000"/>
                </a:solidFill>
                <a:effectLst>
                  <a:outerShdw blurRad="38100" dist="38100" dir="2700000" algn="tl">
                    <a:srgbClr val="000000">
                      <a:alpha val="43137"/>
                    </a:srgbClr>
                  </a:outerShdw>
                </a:effectLst>
                <a:cs typeface="Times New Roman" panose="02020603050405020304" pitchFamily="18" charset="0"/>
              </a:rPr>
              <a:t>neither does  </a:t>
            </a:r>
            <a:r>
              <a:rPr lang="en-US" sz="3600" dirty="0">
                <a:solidFill>
                  <a:srgbClr val="002060"/>
                </a:solidFill>
                <a:effectLst>
                  <a:outerShdw blurRad="38100" dist="38100" dir="2700000" algn="tl">
                    <a:srgbClr val="000000">
                      <a:alpha val="43137"/>
                    </a:srgbClr>
                  </a:outerShdw>
                </a:effectLst>
                <a:cs typeface="Times New Roman" panose="02020603050405020304" pitchFamily="18" charset="0"/>
              </a:rPr>
              <a:t>Directive </a:t>
            </a:r>
            <a:r>
              <a:rPr lang="en-US" sz="3600" dirty="0">
                <a:solidFill>
                  <a:srgbClr val="002060"/>
                </a:solidFill>
                <a:cs typeface="Times New Roman" panose="02020603050405020304" pitchFamily="18" charset="0"/>
              </a:rPr>
              <a:t>2006/123</a:t>
            </a:r>
            <a:endParaRPr lang="en-US" sz="3600" dirty="0">
              <a:cs typeface="Times New Roman" panose="02020603050405020304" pitchFamily="18" charset="0"/>
            </a:endParaRPr>
          </a:p>
        </p:txBody>
      </p:sp>
      <p:sp>
        <p:nvSpPr>
          <p:cNvPr id="4" name="Symbol zastępczy numeru slajdu 3">
            <a:extLst>
              <a:ext uri="{FF2B5EF4-FFF2-40B4-BE49-F238E27FC236}">
                <a16:creationId xmlns:a16="http://schemas.microsoft.com/office/drawing/2014/main" id="{FE87A747-EB78-4CDC-B7E4-99225D71BCA7}"/>
              </a:ext>
            </a:extLst>
          </p:cNvPr>
          <p:cNvSpPr>
            <a:spLocks noGrp="1"/>
          </p:cNvSpPr>
          <p:nvPr>
            <p:ph type="sldNum" sz="quarter" idx="12"/>
          </p:nvPr>
        </p:nvSpPr>
        <p:spPr/>
        <p:txBody>
          <a:bodyPr/>
          <a:lstStyle/>
          <a:p>
            <a:fld id="{31FE8408-9B39-4718-B64F-54F72D092B1B}" type="slidenum">
              <a:rPr lang="pl-PL" smtClean="0"/>
              <a:t>68</a:t>
            </a:fld>
            <a:endParaRPr lang="pl-PL" dirty="0"/>
          </a:p>
        </p:txBody>
      </p:sp>
    </p:spTree>
    <p:extLst>
      <p:ext uri="{BB962C8B-B14F-4D97-AF65-F5344CB8AC3E}">
        <p14:creationId xmlns:p14="http://schemas.microsoft.com/office/powerpoint/2010/main" val="42920523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66591561-D9B1-4177-8220-4048A7E70B39}"/>
              </a:ext>
            </a:extLst>
          </p:cNvPr>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Conclusion</a:t>
            </a:r>
            <a:endParaRPr lang="en-US" dirty="0"/>
          </a:p>
        </p:txBody>
      </p:sp>
      <p:sp>
        <p:nvSpPr>
          <p:cNvPr id="3" name="Symbol zastępczy zawartości 2">
            <a:extLst>
              <a:ext uri="{FF2B5EF4-FFF2-40B4-BE49-F238E27FC236}">
                <a16:creationId xmlns:a16="http://schemas.microsoft.com/office/drawing/2014/main" id="{D8D20A02-15A4-4509-AB40-79537069BAB9}"/>
              </a:ext>
            </a:extLst>
          </p:cNvPr>
          <p:cNvSpPr>
            <a:spLocks noGrp="1"/>
          </p:cNvSpPr>
          <p:nvPr>
            <p:ph idx="1"/>
          </p:nvPr>
        </p:nvSpPr>
        <p:spPr>
          <a:xfrm>
            <a:off x="838200" y="1825624"/>
            <a:ext cx="10515600" cy="5032375"/>
          </a:xfrm>
        </p:spPr>
        <p:txBody>
          <a:bodyPr>
            <a:normAutofit/>
          </a:bodyPr>
          <a:lstStyle/>
          <a:p>
            <a:pPr marL="0" indent="0">
              <a:buNone/>
            </a:pPr>
            <a:r>
              <a:rPr lang="pl-PL" sz="3200" dirty="0">
                <a:effectLst>
                  <a:outerShdw blurRad="38100" dist="38100" dir="2700000" algn="tl">
                    <a:srgbClr val="000000">
                      <a:alpha val="43137"/>
                    </a:srgbClr>
                  </a:outerShdw>
                </a:effectLst>
              </a:rPr>
              <a:t>S</a:t>
            </a:r>
            <a:r>
              <a:rPr lang="en-US" sz="3200" dirty="0">
                <a:effectLst>
                  <a:outerShdw blurRad="38100" dist="38100" dir="2700000" algn="tl">
                    <a:srgbClr val="000000">
                      <a:alpha val="43137"/>
                    </a:srgbClr>
                  </a:outerShdw>
                </a:effectLst>
              </a:rPr>
              <a:t>ince the </a:t>
            </a:r>
            <a:r>
              <a:rPr lang="en-US" sz="3200" b="1" dirty="0">
                <a:solidFill>
                  <a:srgbClr val="FF0000"/>
                </a:solidFill>
                <a:effectLst>
                  <a:outerShdw blurRad="38100" dist="38100" dir="2700000" algn="tl">
                    <a:srgbClr val="000000">
                      <a:alpha val="43137"/>
                    </a:srgbClr>
                  </a:outerShdw>
                </a:effectLst>
                <a:highlight>
                  <a:srgbClr val="00FF00"/>
                </a:highlight>
              </a:rPr>
              <a:t>intermediation service </a:t>
            </a:r>
            <a:r>
              <a:rPr lang="en-US" sz="3200" dirty="0">
                <a:effectLst>
                  <a:outerShdw blurRad="38100" dist="38100" dir="2700000" algn="tl">
                    <a:srgbClr val="000000">
                      <a:alpha val="43137"/>
                    </a:srgbClr>
                  </a:outerShdw>
                </a:effectLst>
                <a:highlight>
                  <a:srgbClr val="00FF00"/>
                </a:highlight>
              </a:rPr>
              <a:t>is classified as ‘a service in the field of transport’, </a:t>
            </a:r>
            <a:r>
              <a:rPr lang="en-US" sz="3200" dirty="0">
                <a:solidFill>
                  <a:srgbClr val="002060"/>
                </a:solidFill>
                <a:effectLst>
                  <a:outerShdw blurRad="38100" dist="38100" dir="2700000" algn="tl">
                    <a:srgbClr val="000000">
                      <a:alpha val="43137"/>
                    </a:srgbClr>
                  </a:outerShdw>
                </a:effectLst>
              </a:rPr>
              <a:t>it is covered </a:t>
            </a:r>
            <a:r>
              <a:rPr lang="pl-PL" sz="3200" u="sng" dirty="0">
                <a:solidFill>
                  <a:srgbClr val="FF0000"/>
                </a:solidFill>
                <a:effectLst>
                  <a:outerShdw blurRad="38100" dist="38100" dir="2700000" algn="tl">
                    <a:srgbClr val="000000">
                      <a:alpha val="43137"/>
                    </a:srgbClr>
                  </a:outerShdw>
                </a:effectLst>
                <a:highlight>
                  <a:srgbClr val="FFFF00"/>
                </a:highlight>
              </a:rPr>
              <a:t>NOT</a:t>
            </a:r>
            <a:r>
              <a:rPr lang="en-US" sz="3200" dirty="0">
                <a:solidFill>
                  <a:srgbClr val="FF0000"/>
                </a:solidFill>
                <a:effectLst>
                  <a:outerShdw blurRad="38100" dist="38100" dir="2700000" algn="tl">
                    <a:srgbClr val="000000">
                      <a:alpha val="43137"/>
                    </a:srgbClr>
                  </a:outerShdw>
                </a:effectLst>
              </a:rPr>
              <a:t> by Article 56 TFEU </a:t>
            </a:r>
            <a:r>
              <a:rPr lang="en-US" sz="3200" dirty="0">
                <a:solidFill>
                  <a:srgbClr val="002060"/>
                </a:solidFill>
                <a:effectLst>
                  <a:outerShdw blurRad="38100" dist="38100" dir="2700000" algn="tl">
                    <a:srgbClr val="000000">
                      <a:alpha val="43137"/>
                    </a:srgbClr>
                  </a:outerShdw>
                </a:effectLst>
              </a:rPr>
              <a:t>on the </a:t>
            </a:r>
            <a:r>
              <a:rPr lang="en-US" sz="3200" u="sng" dirty="0">
                <a:solidFill>
                  <a:srgbClr val="002060"/>
                </a:solidFill>
                <a:effectLst>
                  <a:outerShdw blurRad="38100" dist="38100" dir="2700000" algn="tl">
                    <a:srgbClr val="000000">
                      <a:alpha val="43137"/>
                    </a:srgbClr>
                  </a:outerShdw>
                </a:effectLst>
              </a:rPr>
              <a:t>freedom to provide services </a:t>
            </a:r>
            <a:r>
              <a:rPr lang="en-US" sz="3200" dirty="0">
                <a:solidFill>
                  <a:srgbClr val="002060"/>
                </a:solidFill>
                <a:effectLst>
                  <a:outerShdw blurRad="38100" dist="38100" dir="2700000" algn="tl">
                    <a:srgbClr val="000000">
                      <a:alpha val="43137"/>
                    </a:srgbClr>
                  </a:outerShdw>
                </a:effectLst>
              </a:rPr>
              <a:t>in general </a:t>
            </a:r>
            <a:endParaRPr lang="pl-PL" sz="3200" dirty="0">
              <a:solidFill>
                <a:srgbClr val="002060"/>
              </a:solidFill>
              <a:effectLst>
                <a:outerShdw blurRad="38100" dist="38100" dir="2700000" algn="tl">
                  <a:srgbClr val="000000">
                    <a:alpha val="43137"/>
                  </a:srgbClr>
                </a:outerShdw>
              </a:effectLst>
            </a:endParaRPr>
          </a:p>
          <a:p>
            <a:pPr marL="0" indent="0">
              <a:buNone/>
            </a:pPr>
            <a:r>
              <a:rPr lang="en-US" sz="3200" dirty="0">
                <a:solidFill>
                  <a:srgbClr val="FF0000"/>
                </a:solidFill>
                <a:effectLst>
                  <a:outerShdw blurRad="38100" dist="38100" dir="2700000" algn="tl">
                    <a:srgbClr val="000000">
                      <a:alpha val="43137"/>
                    </a:srgbClr>
                  </a:outerShdw>
                </a:effectLst>
                <a:highlight>
                  <a:srgbClr val="FFFF00"/>
                </a:highlight>
              </a:rPr>
              <a:t>but by </a:t>
            </a:r>
            <a:endParaRPr lang="pl-PL" sz="3200" dirty="0">
              <a:solidFill>
                <a:srgbClr val="FF0000"/>
              </a:solidFill>
              <a:effectLst>
                <a:outerShdw blurRad="38100" dist="38100" dir="2700000" algn="tl">
                  <a:srgbClr val="000000">
                    <a:alpha val="43137"/>
                  </a:srgbClr>
                </a:outerShdw>
              </a:effectLst>
              <a:highlight>
                <a:srgbClr val="FFFF00"/>
              </a:highlight>
            </a:endParaRPr>
          </a:p>
          <a:p>
            <a:pPr marL="0" indent="0">
              <a:buNone/>
            </a:pPr>
            <a:r>
              <a:rPr lang="en-US" sz="3200" dirty="0">
                <a:solidFill>
                  <a:srgbClr val="FF0000"/>
                </a:solidFill>
                <a:effectLst>
                  <a:outerShdw blurRad="38100" dist="38100" dir="2700000" algn="tl">
                    <a:srgbClr val="000000">
                      <a:alpha val="43137"/>
                    </a:srgbClr>
                  </a:outerShdw>
                </a:effectLst>
              </a:rPr>
              <a:t>Article </a:t>
            </a:r>
            <a:r>
              <a:rPr lang="en-US" sz="3200" dirty="0">
                <a:solidFill>
                  <a:srgbClr val="FF0000"/>
                </a:solidFill>
                <a:effectLst>
                  <a:outerShdw blurRad="38100" dist="38100" dir="2700000" algn="tl">
                    <a:srgbClr val="000000">
                      <a:alpha val="43137"/>
                    </a:srgbClr>
                  </a:outerShdw>
                </a:effectLst>
                <a:highlight>
                  <a:srgbClr val="FFFF00"/>
                </a:highlight>
              </a:rPr>
              <a:t>58(1) </a:t>
            </a:r>
            <a:r>
              <a:rPr lang="en-US" sz="3200" dirty="0">
                <a:solidFill>
                  <a:srgbClr val="FF0000"/>
                </a:solidFill>
                <a:effectLst>
                  <a:outerShdw blurRad="38100" dist="38100" dir="2700000" algn="tl">
                    <a:srgbClr val="000000">
                      <a:alpha val="43137"/>
                    </a:srgbClr>
                  </a:outerShdw>
                </a:effectLst>
              </a:rPr>
              <a:t>TFEU</a:t>
            </a:r>
            <a:r>
              <a:rPr lang="en-US" sz="3200" dirty="0">
                <a:effectLst>
                  <a:outerShdw blurRad="38100" dist="38100" dir="2700000" algn="tl">
                    <a:srgbClr val="000000">
                      <a:alpha val="43137"/>
                    </a:srgbClr>
                  </a:outerShdw>
                </a:effectLst>
              </a:rPr>
              <a:t>, a specific provision according to which ‘</a:t>
            </a:r>
            <a:r>
              <a:rPr lang="en-US" sz="3200" b="1" dirty="0">
                <a:solidFill>
                  <a:srgbClr val="FF0000"/>
                </a:solidFill>
                <a:effectLst>
                  <a:outerShdw blurRad="38100" dist="38100" dir="2700000" algn="tl">
                    <a:srgbClr val="000000">
                      <a:alpha val="43137"/>
                    </a:srgbClr>
                  </a:outerShdw>
                </a:effectLst>
              </a:rPr>
              <a:t>freedom to provide services </a:t>
            </a:r>
            <a:r>
              <a:rPr lang="en-US" sz="3200" dirty="0">
                <a:effectLst>
                  <a:outerShdw blurRad="38100" dist="38100" dir="2700000" algn="tl">
                    <a:srgbClr val="000000">
                      <a:alpha val="43137"/>
                    </a:srgbClr>
                  </a:outerShdw>
                </a:effectLst>
              </a:rPr>
              <a:t>in the </a:t>
            </a:r>
            <a:r>
              <a:rPr lang="en-US" sz="3200" b="1" dirty="0">
                <a:solidFill>
                  <a:srgbClr val="FF0000"/>
                </a:solidFill>
                <a:effectLst>
                  <a:outerShdw blurRad="38100" dist="38100" dir="2700000" algn="tl">
                    <a:srgbClr val="000000">
                      <a:alpha val="43137"/>
                    </a:srgbClr>
                  </a:outerShdw>
                </a:effectLst>
                <a:highlight>
                  <a:srgbClr val="00FF00"/>
                </a:highlight>
              </a:rPr>
              <a:t>field of transport </a:t>
            </a:r>
            <a:r>
              <a:rPr lang="en-US" sz="3200" dirty="0">
                <a:effectLst>
                  <a:outerShdw blurRad="38100" dist="38100" dir="2700000" algn="tl">
                    <a:srgbClr val="000000">
                      <a:alpha val="43137"/>
                    </a:srgbClr>
                  </a:outerShdw>
                </a:effectLst>
              </a:rPr>
              <a:t>shall be </a:t>
            </a:r>
            <a:r>
              <a:rPr lang="en-US" sz="3200" dirty="0">
                <a:effectLst>
                  <a:outerShdw blurRad="38100" dist="38100" dir="2700000" algn="tl">
                    <a:srgbClr val="000000">
                      <a:alpha val="43137"/>
                    </a:srgbClr>
                  </a:outerShdw>
                </a:effectLst>
                <a:latin typeface="Amasis MT Pro Black" panose="02040A04050005020304" pitchFamily="18" charset="-18"/>
              </a:rPr>
              <a:t>governed by the provisions of the </a:t>
            </a:r>
            <a:r>
              <a:rPr lang="en-US" sz="3200" dirty="0">
                <a:solidFill>
                  <a:srgbClr val="FF0000"/>
                </a:solidFill>
                <a:effectLst>
                  <a:outerShdw blurRad="38100" dist="38100" dir="2700000" algn="tl">
                    <a:srgbClr val="000000">
                      <a:alpha val="43137"/>
                    </a:srgbClr>
                  </a:outerShdw>
                </a:effectLst>
                <a:latin typeface="Amasis MT Pro Black" panose="02040A04050005020304" pitchFamily="18" charset="-18"/>
              </a:rPr>
              <a:t>Title relating to transport’</a:t>
            </a:r>
            <a:endParaRPr lang="en-US" dirty="0">
              <a:effectLst>
                <a:outerShdw blurRad="38100" dist="38100" dir="2700000" algn="tl">
                  <a:srgbClr val="000000">
                    <a:alpha val="43137"/>
                  </a:srgbClr>
                </a:outerShdw>
              </a:effectLst>
              <a:latin typeface="Amasis MT Pro Black" panose="02040A04050005020304" pitchFamily="18" charset="-18"/>
            </a:endParaRPr>
          </a:p>
        </p:txBody>
      </p:sp>
      <p:sp>
        <p:nvSpPr>
          <p:cNvPr id="4" name="Symbol zastępczy numeru slajdu 3">
            <a:extLst>
              <a:ext uri="{FF2B5EF4-FFF2-40B4-BE49-F238E27FC236}">
                <a16:creationId xmlns:a16="http://schemas.microsoft.com/office/drawing/2014/main" id="{7BEDFFA6-C3DC-4E39-98D0-654E72DA9FDD}"/>
              </a:ext>
            </a:extLst>
          </p:cNvPr>
          <p:cNvSpPr>
            <a:spLocks noGrp="1"/>
          </p:cNvSpPr>
          <p:nvPr>
            <p:ph type="sldNum" sz="quarter" idx="12"/>
          </p:nvPr>
        </p:nvSpPr>
        <p:spPr/>
        <p:txBody>
          <a:bodyPr/>
          <a:lstStyle/>
          <a:p>
            <a:fld id="{31FE8408-9B39-4718-B64F-54F72D092B1B}" type="slidenum">
              <a:rPr lang="pl-PL" smtClean="0"/>
              <a:t>69</a:t>
            </a:fld>
            <a:endParaRPr lang="pl-PL" dirty="0"/>
          </a:p>
        </p:txBody>
      </p:sp>
    </p:spTree>
    <p:extLst>
      <p:ext uri="{BB962C8B-B14F-4D97-AF65-F5344CB8AC3E}">
        <p14:creationId xmlns:p14="http://schemas.microsoft.com/office/powerpoint/2010/main" val="69920880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a:extLst>
              <a:ext uri="{FF2B5EF4-FFF2-40B4-BE49-F238E27FC236}">
                <a16:creationId xmlns:a16="http://schemas.microsoft.com/office/drawing/2014/main" id="{C9E1B53A-4780-4BC0-9333-3E7A8E121F8D}"/>
              </a:ext>
            </a:extLst>
          </p:cNvPr>
          <p:cNvSpPr>
            <a:spLocks noGrp="1"/>
          </p:cNvSpPr>
          <p:nvPr>
            <p:ph type="title"/>
          </p:nvPr>
        </p:nvSpPr>
        <p:spPr/>
        <p:txBody>
          <a:bodyPr/>
          <a:lstStyle/>
          <a:p>
            <a:r>
              <a:rPr lang="pl-PL" b="1" dirty="0">
                <a:solidFill>
                  <a:srgbClr val="FF0000"/>
                </a:solidFill>
                <a:effectLst>
                  <a:outerShdw blurRad="38100" dist="38100" dir="2700000" algn="tl">
                    <a:srgbClr val="000000">
                      <a:alpha val="43137"/>
                    </a:srgbClr>
                  </a:outerShdw>
                </a:effectLst>
              </a:rPr>
              <a:t>Conclusion</a:t>
            </a:r>
            <a:endParaRPr lang="en-US" dirty="0"/>
          </a:p>
        </p:txBody>
      </p:sp>
      <p:sp>
        <p:nvSpPr>
          <p:cNvPr id="3" name="Symbol zastępczy zawartości 2">
            <a:extLst>
              <a:ext uri="{FF2B5EF4-FFF2-40B4-BE49-F238E27FC236}">
                <a16:creationId xmlns:a16="http://schemas.microsoft.com/office/drawing/2014/main" id="{EC03BDE7-823B-446D-BE91-F13FC7A0407E}"/>
              </a:ext>
            </a:extLst>
          </p:cNvPr>
          <p:cNvSpPr>
            <a:spLocks noGrp="1"/>
          </p:cNvSpPr>
          <p:nvPr>
            <p:ph idx="1"/>
          </p:nvPr>
        </p:nvSpPr>
        <p:spPr>
          <a:xfrm>
            <a:off x="838200" y="1825624"/>
            <a:ext cx="10515600" cy="5217201"/>
          </a:xfrm>
        </p:spPr>
        <p:txBody>
          <a:bodyPr>
            <a:normAutofit lnSpcReduction="10000"/>
          </a:bodyPr>
          <a:lstStyle/>
          <a:p>
            <a:pPr marL="0" indent="0">
              <a:buNone/>
            </a:pPr>
            <a:r>
              <a:rPr lang="pl-PL" sz="3200" b="1" u="sng" dirty="0">
                <a:solidFill>
                  <a:srgbClr val="FF0000"/>
                </a:solidFill>
                <a:effectLst>
                  <a:outerShdw blurRad="38100" dist="38100" dir="2700000" algn="tl">
                    <a:srgbClr val="000000">
                      <a:alpha val="43137"/>
                    </a:srgbClr>
                  </a:outerShdw>
                </a:effectLst>
              </a:rPr>
              <a:t>I</a:t>
            </a:r>
            <a:r>
              <a:rPr lang="en-US" sz="3200" b="1" u="sng" dirty="0">
                <a:solidFill>
                  <a:srgbClr val="FF0000"/>
                </a:solidFill>
                <a:effectLst>
                  <a:outerShdw blurRad="38100" dist="38100" dir="2700000" algn="tl">
                    <a:srgbClr val="000000">
                      <a:alpha val="43137"/>
                    </a:srgbClr>
                  </a:outerShdw>
                </a:effectLst>
              </a:rPr>
              <a:t>ntermediation service </a:t>
            </a:r>
            <a:r>
              <a:rPr lang="en-US" sz="3200" dirty="0"/>
              <a:t>such as that at issue in the main proceedings, the purpose of which is to connect, by means of a smartphone application and for remuneration, non-professional drivers using their own vehicle with persons who wish to make urban journeys, </a:t>
            </a:r>
            <a:r>
              <a:rPr lang="en-US" sz="3200" b="1" dirty="0">
                <a:solidFill>
                  <a:srgbClr val="FF0000"/>
                </a:solidFill>
                <a:effectLst>
                  <a:outerShdw blurRad="38100" dist="38100" dir="2700000" algn="tl">
                    <a:srgbClr val="000000">
                      <a:alpha val="43137"/>
                    </a:srgbClr>
                  </a:outerShdw>
                </a:effectLst>
              </a:rPr>
              <a:t>must be regarded as being </a:t>
            </a:r>
            <a:r>
              <a:rPr lang="en-US" sz="3200" b="1" u="sng" dirty="0">
                <a:solidFill>
                  <a:srgbClr val="FF0000"/>
                </a:solidFill>
                <a:effectLst>
                  <a:outerShdw blurRad="38100" dist="38100" dir="2700000" algn="tl">
                    <a:srgbClr val="000000">
                      <a:alpha val="43137"/>
                    </a:srgbClr>
                  </a:outerShdw>
                </a:effectLst>
                <a:highlight>
                  <a:srgbClr val="00FF00"/>
                </a:highlight>
              </a:rPr>
              <a:t>inherently linked </a:t>
            </a:r>
            <a:r>
              <a:rPr lang="en-US" sz="3200" b="1" dirty="0">
                <a:solidFill>
                  <a:srgbClr val="FF0000"/>
                </a:solidFill>
                <a:effectLst>
                  <a:outerShdw blurRad="38100" dist="38100" dir="2700000" algn="tl">
                    <a:srgbClr val="000000">
                      <a:alpha val="43137"/>
                    </a:srgbClr>
                  </a:outerShdw>
                </a:effectLst>
              </a:rPr>
              <a:t>to a transport service</a:t>
            </a:r>
            <a:r>
              <a:rPr lang="en-US" sz="3200" dirty="0"/>
              <a:t> and,</a:t>
            </a:r>
            <a:endParaRPr lang="pl-PL" sz="3200" dirty="0"/>
          </a:p>
          <a:p>
            <a:pPr marL="0" indent="0">
              <a:buNone/>
            </a:pPr>
            <a:r>
              <a:rPr lang="en-US" sz="3200" dirty="0"/>
              <a:t> accordingly, </a:t>
            </a:r>
            <a:r>
              <a:rPr lang="en-US" sz="3200" b="1" u="sng" dirty="0">
                <a:solidFill>
                  <a:srgbClr val="FF0000"/>
                </a:solidFill>
                <a:effectLst>
                  <a:outerShdw blurRad="38100" dist="38100" dir="2700000" algn="tl">
                    <a:srgbClr val="000000">
                      <a:alpha val="43137"/>
                    </a:srgbClr>
                  </a:outerShdw>
                </a:effectLst>
                <a:highlight>
                  <a:srgbClr val="00FF00"/>
                </a:highlight>
              </a:rPr>
              <a:t>must be classified as ‘a service in </a:t>
            </a:r>
            <a:endParaRPr lang="pl-PL" sz="3200" b="1" u="sng" dirty="0">
              <a:solidFill>
                <a:srgbClr val="FF0000"/>
              </a:solidFill>
              <a:effectLst>
                <a:outerShdw blurRad="38100" dist="38100" dir="2700000" algn="tl">
                  <a:srgbClr val="000000">
                    <a:alpha val="43137"/>
                  </a:srgbClr>
                </a:outerShdw>
              </a:effectLst>
              <a:highlight>
                <a:srgbClr val="00FF00"/>
              </a:highlight>
            </a:endParaRPr>
          </a:p>
          <a:p>
            <a:pPr marL="0" indent="0">
              <a:buNone/>
            </a:pPr>
            <a:r>
              <a:rPr lang="en-US" sz="3200" b="1" u="sng" dirty="0">
                <a:solidFill>
                  <a:srgbClr val="FF0000"/>
                </a:solidFill>
                <a:effectLst>
                  <a:outerShdw blurRad="38100" dist="38100" dir="2700000" algn="tl">
                    <a:srgbClr val="000000">
                      <a:alpha val="43137"/>
                    </a:srgbClr>
                  </a:outerShdw>
                </a:effectLst>
                <a:highlight>
                  <a:srgbClr val="00FF00"/>
                </a:highlight>
              </a:rPr>
              <a:t>the field of transport</a:t>
            </a:r>
            <a:r>
              <a:rPr lang="en-US" sz="3200" b="1" dirty="0">
                <a:solidFill>
                  <a:srgbClr val="FF0000"/>
                </a:solidFill>
                <a:effectLst>
                  <a:outerShdw blurRad="38100" dist="38100" dir="2700000" algn="tl">
                    <a:srgbClr val="000000">
                      <a:alpha val="43137"/>
                    </a:srgbClr>
                  </a:outerShdw>
                </a:effectLst>
                <a:highlight>
                  <a:srgbClr val="FFFF00"/>
                </a:highlight>
              </a:rPr>
              <a:t>’</a:t>
            </a:r>
            <a:r>
              <a:rPr lang="en-US" sz="3200" dirty="0">
                <a:highlight>
                  <a:srgbClr val="FFFF00"/>
                </a:highlight>
              </a:rPr>
              <a:t> </a:t>
            </a:r>
            <a:r>
              <a:rPr lang="en-US" sz="3200" dirty="0"/>
              <a:t>within the meaning of </a:t>
            </a:r>
            <a:r>
              <a:rPr lang="en-US" sz="3200" b="1" dirty="0">
                <a:solidFill>
                  <a:srgbClr val="FF0000"/>
                </a:solidFill>
                <a:effectLst>
                  <a:outerShdw blurRad="38100" dist="38100" dir="2700000" algn="tl">
                    <a:srgbClr val="000000">
                      <a:alpha val="43137"/>
                    </a:srgbClr>
                  </a:outerShdw>
                </a:effectLst>
              </a:rPr>
              <a:t>Article 58(1) TFEU</a:t>
            </a:r>
            <a:endParaRPr lang="pl-PL" sz="3200" b="1" dirty="0">
              <a:solidFill>
                <a:srgbClr val="FF0000"/>
              </a:solidFill>
              <a:effectLst>
                <a:outerShdw blurRad="38100" dist="38100" dir="2700000" algn="tl">
                  <a:srgbClr val="000000">
                    <a:alpha val="43137"/>
                  </a:srgbClr>
                </a:outerShdw>
              </a:effectLst>
            </a:endParaRPr>
          </a:p>
          <a:p>
            <a:r>
              <a:rPr lang="pl-PL" sz="3200" b="1" dirty="0">
                <a:solidFill>
                  <a:srgbClr val="FF0000"/>
                </a:solidFill>
                <a:effectLst>
                  <a:outerShdw blurRad="38100" dist="38100" dir="2700000" algn="tl">
                    <a:srgbClr val="000000">
                      <a:alpha val="43137"/>
                    </a:srgbClr>
                  </a:outerShdw>
                </a:effectLst>
                <a:highlight>
                  <a:srgbClr val="00FFFF"/>
                </a:highlight>
              </a:rPr>
              <a:t>Therefore the Spanish government (or any other government) may impose administrative restrictions upon it. </a:t>
            </a:r>
            <a:endParaRPr lang="en-US" sz="3200" dirty="0">
              <a:highlight>
                <a:srgbClr val="00FFFF"/>
              </a:highlight>
            </a:endParaRPr>
          </a:p>
          <a:p>
            <a:endParaRPr lang="en-US" dirty="0"/>
          </a:p>
        </p:txBody>
      </p:sp>
      <p:sp>
        <p:nvSpPr>
          <p:cNvPr id="4" name="Symbol zastępczy numeru slajdu 3">
            <a:extLst>
              <a:ext uri="{FF2B5EF4-FFF2-40B4-BE49-F238E27FC236}">
                <a16:creationId xmlns:a16="http://schemas.microsoft.com/office/drawing/2014/main" id="{B4738488-C7A2-423F-90EF-58236D8A44E3}"/>
              </a:ext>
            </a:extLst>
          </p:cNvPr>
          <p:cNvSpPr>
            <a:spLocks noGrp="1"/>
          </p:cNvSpPr>
          <p:nvPr>
            <p:ph type="sldNum" sz="quarter" idx="12"/>
          </p:nvPr>
        </p:nvSpPr>
        <p:spPr/>
        <p:txBody>
          <a:bodyPr/>
          <a:lstStyle/>
          <a:p>
            <a:fld id="{31FE8408-9B39-4718-B64F-54F72D092B1B}" type="slidenum">
              <a:rPr lang="pl-PL" smtClean="0"/>
              <a:t>70</a:t>
            </a:fld>
            <a:endParaRPr lang="pl-PL" dirty="0"/>
          </a:p>
        </p:txBody>
      </p:sp>
    </p:spTree>
    <p:extLst>
      <p:ext uri="{BB962C8B-B14F-4D97-AF65-F5344CB8AC3E}">
        <p14:creationId xmlns:p14="http://schemas.microsoft.com/office/powerpoint/2010/main" val="315452425"/>
      </p:ext>
    </p:extLst>
  </p:cSld>
  <p:clrMapOvr>
    <a:masterClrMapping/>
  </p:clrMapOvr>
</p:sld>
</file>

<file path=ppt/theme/theme1.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1097</TotalTime>
  <Words>6940</Words>
  <Application>Microsoft Office PowerPoint</Application>
  <PresentationFormat>Panoramiczny</PresentationFormat>
  <Paragraphs>379</Paragraphs>
  <Slides>70</Slides>
  <Notes>0</Notes>
  <HiddenSlides>0</HiddenSlides>
  <MMClips>0</MMClips>
  <ScaleCrop>false</ScaleCrop>
  <HeadingPairs>
    <vt:vector size="6" baseType="variant">
      <vt:variant>
        <vt:lpstr>Używane czcionki</vt:lpstr>
      </vt:variant>
      <vt:variant>
        <vt:i4>6</vt:i4>
      </vt:variant>
      <vt:variant>
        <vt:lpstr>Motyw</vt:lpstr>
      </vt:variant>
      <vt:variant>
        <vt:i4>1</vt:i4>
      </vt:variant>
      <vt:variant>
        <vt:lpstr>Tytuły slajdów</vt:lpstr>
      </vt:variant>
      <vt:variant>
        <vt:i4>70</vt:i4>
      </vt:variant>
    </vt:vector>
  </HeadingPairs>
  <TitlesOfParts>
    <vt:vector size="77" baseType="lpstr">
      <vt:lpstr>Amasis MT Pro Black</vt:lpstr>
      <vt:lpstr>Arial</vt:lpstr>
      <vt:lpstr>Arial Black</vt:lpstr>
      <vt:lpstr>Calibri</vt:lpstr>
      <vt:lpstr>Calibri Light</vt:lpstr>
      <vt:lpstr>Times New Roman</vt:lpstr>
      <vt:lpstr>Motyw pakietu Office</vt:lpstr>
      <vt:lpstr>Labour and licensing issues in the electronic platforms industries Cases Aslam v Uber &amp; Élite Taxi v Uber Systems Spain SL </vt:lpstr>
      <vt:lpstr>The issue (1) – worker benefits</vt:lpstr>
      <vt:lpstr>The issue (1) – worker benefits</vt:lpstr>
      <vt:lpstr>Gig economy – administrative policing and labor issues</vt:lpstr>
      <vt:lpstr>Gig economy – administrative policing and labor issues</vt:lpstr>
      <vt:lpstr>Gig economy – administrative policing and labor issues</vt:lpstr>
      <vt:lpstr>Gig economy – administrative policing and labor issues</vt:lpstr>
      <vt:lpstr>Gig economy – administrative policing and labor issues</vt:lpstr>
      <vt:lpstr>Gig economy – administrative policing and labor issues</vt:lpstr>
      <vt:lpstr>Gig economy – administrative policing and labor issues</vt:lpstr>
      <vt:lpstr>Gig economy – administrative policing and labor issues</vt:lpstr>
      <vt:lpstr>Gig economy – administrative policing and labor issues</vt:lpstr>
      <vt:lpstr>Gig economy – administrative policing and labor issues</vt:lpstr>
      <vt:lpstr>Gig economy – administrative policing and labor issues</vt:lpstr>
      <vt:lpstr>Polish Commissioner for Human Rights (The ombudsman)</vt:lpstr>
      <vt:lpstr>Polish Commissioner for Human Rights (The ombudsman)</vt:lpstr>
      <vt:lpstr>Polish Commissioner for Human Rights (The ombudsman)</vt:lpstr>
      <vt:lpstr>Uber as a cartel</vt:lpstr>
      <vt:lpstr>Academic view (M. Toroń, K. Wiese)</vt:lpstr>
      <vt:lpstr>Academic view (M. Toroń, K. Wiese)</vt:lpstr>
      <vt:lpstr>Academic view (M. Toroń, K. Wiese)</vt:lpstr>
      <vt:lpstr>Academic view (M. Toroń, K. Wiese)</vt:lpstr>
      <vt:lpstr>The EU directive concerning the GIG economy</vt:lpstr>
      <vt:lpstr>The EU directive concerning the GIG economy</vt:lpstr>
      <vt:lpstr>The EU directive concerning the GIG economy</vt:lpstr>
      <vt:lpstr>The EU directive concerning the GIG economy</vt:lpstr>
      <vt:lpstr>The EU directive concerning the GIG economy</vt:lpstr>
      <vt:lpstr>The EU directive concerning the GIG economy</vt:lpstr>
      <vt:lpstr>The EU directive concerning the GIG economy</vt:lpstr>
      <vt:lpstr>The EU directive concerning the GIG economy</vt:lpstr>
      <vt:lpstr>The EU directive concerning the GIG economy</vt:lpstr>
      <vt:lpstr>The EU directive concerning the GIG economy</vt:lpstr>
      <vt:lpstr>The EU directive concerning the GIG economy</vt:lpstr>
      <vt:lpstr>The EU directive concerning the GIG economy</vt:lpstr>
      <vt:lpstr>Introduction to the Madrid Taxi Driver case </vt:lpstr>
      <vt:lpstr>Scope of material</vt:lpstr>
      <vt:lpstr>The issue (2) – licensing and unfair competition</vt:lpstr>
      <vt:lpstr>The issue (2) – licensing and unfair competition</vt:lpstr>
      <vt:lpstr>General information</vt:lpstr>
      <vt:lpstr>The nature of the problem</vt:lpstr>
      <vt:lpstr>General information</vt:lpstr>
      <vt:lpstr>General information</vt:lpstr>
      <vt:lpstr>  LEGAL CONTEXT:   Directive 98/34   Information society services  </vt:lpstr>
      <vt:lpstr>LEGAL CONTEXT:   Directive 23/31</vt:lpstr>
      <vt:lpstr>LEGAL CONTEXT:   Directive 2006/123</vt:lpstr>
      <vt:lpstr>LEGAL CONTEXT:   Directive 2006/123                  internal market services</vt:lpstr>
      <vt:lpstr>SPANISH LAW</vt:lpstr>
      <vt:lpstr>The dispute and the preliminary question</vt:lpstr>
      <vt:lpstr>The dispute and the preliminary question</vt:lpstr>
      <vt:lpstr>The dispute and the preliminary question</vt:lpstr>
      <vt:lpstr>The dispute and the preliminary question</vt:lpstr>
      <vt:lpstr>The dispute and the preliminary question</vt:lpstr>
      <vt:lpstr>The dispute and the preliminary question</vt:lpstr>
      <vt:lpstr>Preliminary questions </vt:lpstr>
      <vt:lpstr>Preliminary questions</vt:lpstr>
      <vt:lpstr>Admissibility  </vt:lpstr>
      <vt:lpstr>Substance of the question posed by the Spanish court</vt:lpstr>
      <vt:lpstr>Substance of the question posed by the Spanish court</vt:lpstr>
      <vt:lpstr>Court’s reasoning</vt:lpstr>
      <vt:lpstr>Court’s reasoning</vt:lpstr>
      <vt:lpstr>Court’s reasoning</vt:lpstr>
      <vt:lpstr>Court’s reasoning</vt:lpstr>
      <vt:lpstr>Court’s reasoning</vt:lpstr>
      <vt:lpstr>Court’s reasoning</vt:lpstr>
      <vt:lpstr>Court’s reasoning</vt:lpstr>
      <vt:lpstr>Conclusion</vt:lpstr>
      <vt:lpstr>Conclusion</vt:lpstr>
      <vt:lpstr>Conclusion</vt:lpstr>
      <vt:lpstr>Conclusion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UBER C-434/15 </dc:title>
  <dc:creator>Waldemar Hoff</dc:creator>
  <cp:lastModifiedBy>Waldemar Hoff</cp:lastModifiedBy>
  <cp:revision>75</cp:revision>
  <cp:lastPrinted>2018-01-09T07:50:17Z</cp:lastPrinted>
  <dcterms:created xsi:type="dcterms:W3CDTF">2018-01-07T13:39:45Z</dcterms:created>
  <dcterms:modified xsi:type="dcterms:W3CDTF">2026-01-29T11:01:43Z</dcterms:modified>
</cp:coreProperties>
</file>