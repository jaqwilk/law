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13" r:id="rId4"/>
    <p:sldId id="258" r:id="rId5"/>
    <p:sldId id="308" r:id="rId6"/>
    <p:sldId id="259" r:id="rId7"/>
    <p:sldId id="309" r:id="rId8"/>
    <p:sldId id="261" r:id="rId9"/>
    <p:sldId id="260" r:id="rId10"/>
    <p:sldId id="262" r:id="rId11"/>
    <p:sldId id="263" r:id="rId12"/>
    <p:sldId id="266" r:id="rId13"/>
    <p:sldId id="265" r:id="rId14"/>
    <p:sldId id="264" r:id="rId15"/>
    <p:sldId id="267" r:id="rId16"/>
    <p:sldId id="268" r:id="rId17"/>
    <p:sldId id="269" r:id="rId18"/>
    <p:sldId id="270" r:id="rId19"/>
    <p:sldId id="272" r:id="rId20"/>
    <p:sldId id="271" r:id="rId21"/>
    <p:sldId id="273" r:id="rId22"/>
    <p:sldId id="274" r:id="rId23"/>
    <p:sldId id="277" r:id="rId24"/>
    <p:sldId id="276" r:id="rId25"/>
    <p:sldId id="310" r:id="rId26"/>
    <p:sldId id="275" r:id="rId27"/>
    <p:sldId id="278" r:id="rId28"/>
    <p:sldId id="279" r:id="rId29"/>
    <p:sldId id="280" r:id="rId30"/>
    <p:sldId id="311" r:id="rId31"/>
    <p:sldId id="281" r:id="rId32"/>
    <p:sldId id="285" r:id="rId33"/>
    <p:sldId id="314" r:id="rId34"/>
    <p:sldId id="284" r:id="rId35"/>
    <p:sldId id="283" r:id="rId36"/>
    <p:sldId id="312" r:id="rId37"/>
    <p:sldId id="282" r:id="rId38"/>
    <p:sldId id="288" r:id="rId39"/>
    <p:sldId id="287" r:id="rId40"/>
    <p:sldId id="286" r:id="rId41"/>
    <p:sldId id="290" r:id="rId42"/>
    <p:sldId id="291" r:id="rId43"/>
    <p:sldId id="289" r:id="rId44"/>
    <p:sldId id="315" r:id="rId45"/>
    <p:sldId id="292" r:id="rId46"/>
    <p:sldId id="294" r:id="rId47"/>
    <p:sldId id="293" r:id="rId48"/>
    <p:sldId id="295" r:id="rId49"/>
    <p:sldId id="298" r:id="rId50"/>
    <p:sldId id="297" r:id="rId51"/>
    <p:sldId id="296" r:id="rId52"/>
    <p:sldId id="300" r:id="rId53"/>
    <p:sldId id="299" r:id="rId54"/>
    <p:sldId id="302" r:id="rId55"/>
    <p:sldId id="303" r:id="rId56"/>
    <p:sldId id="304" r:id="rId57"/>
    <p:sldId id="305" r:id="rId58"/>
    <p:sldId id="306" r:id="rId59"/>
    <p:sldId id="307" r:id="rId60"/>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9482AC-517C-4FC7-9522-621DBAB67A1E}" v="309" dt="2025-12-02T07:37:08.1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demar Hoff" userId="bacb8968-6b42-45e3-b232-453b0d6bde59" providerId="ADAL" clId="{F8C1E58B-402C-4ED2-AD69-E062B24CC05A}"/>
    <pc:docChg chg="undo custSel addSld delSld modSld sldOrd">
      <pc:chgData name="Waldemar Hoff" userId="bacb8968-6b42-45e3-b232-453b0d6bde59" providerId="ADAL" clId="{F8C1E58B-402C-4ED2-AD69-E062B24CC05A}" dt="2025-12-02T07:37:38.144" v="9003" actId="13926"/>
      <pc:docMkLst>
        <pc:docMk/>
      </pc:docMkLst>
      <pc:sldChg chg="modSp new mod">
        <pc:chgData name="Waldemar Hoff" userId="bacb8968-6b42-45e3-b232-453b0d6bde59" providerId="ADAL" clId="{F8C1E58B-402C-4ED2-AD69-E062B24CC05A}" dt="2025-12-01T20:37:09.682" v="8183"/>
        <pc:sldMkLst>
          <pc:docMk/>
          <pc:sldMk cId="1156867155" sldId="256"/>
        </pc:sldMkLst>
        <pc:spChg chg="mod">
          <ac:chgData name="Waldemar Hoff" userId="bacb8968-6b42-45e3-b232-453b0d6bde59" providerId="ADAL" clId="{F8C1E58B-402C-4ED2-AD69-E062B24CC05A}" dt="2025-12-01T20:37:09.682" v="8183"/>
          <ac:spMkLst>
            <pc:docMk/>
            <pc:sldMk cId="1156867155" sldId="256"/>
            <ac:spMk id="2" creationId="{2C44819A-ECDF-3344-443B-A0343C17D5D2}"/>
          </ac:spMkLst>
        </pc:spChg>
        <pc:spChg chg="mod">
          <ac:chgData name="Waldemar Hoff" userId="bacb8968-6b42-45e3-b232-453b0d6bde59" providerId="ADAL" clId="{F8C1E58B-402C-4ED2-AD69-E062B24CC05A}" dt="2025-12-01T20:36:21.297" v="8151" actId="207"/>
          <ac:spMkLst>
            <pc:docMk/>
            <pc:sldMk cId="1156867155" sldId="256"/>
            <ac:spMk id="3" creationId="{17FFB740-F107-FDF2-D539-1ED7C48E6087}"/>
          </ac:spMkLst>
        </pc:spChg>
      </pc:sldChg>
      <pc:sldChg chg="modSp new mod ord">
        <pc:chgData name="Waldemar Hoff" userId="bacb8968-6b42-45e3-b232-453b0d6bde59" providerId="ADAL" clId="{F8C1E58B-402C-4ED2-AD69-E062B24CC05A}" dt="2025-12-01T20:20:43.329" v="6918"/>
        <pc:sldMkLst>
          <pc:docMk/>
          <pc:sldMk cId="4255672952" sldId="257"/>
        </pc:sldMkLst>
        <pc:spChg chg="mod">
          <ac:chgData name="Waldemar Hoff" userId="bacb8968-6b42-45e3-b232-453b0d6bde59" providerId="ADAL" clId="{F8C1E58B-402C-4ED2-AD69-E062B24CC05A}" dt="2025-11-21T20:00:14.034" v="74"/>
          <ac:spMkLst>
            <pc:docMk/>
            <pc:sldMk cId="4255672952" sldId="257"/>
            <ac:spMk id="2" creationId="{C9B48CB6-ED55-F714-4A6F-6E646F807F2A}"/>
          </ac:spMkLst>
        </pc:spChg>
        <pc:spChg chg="mod">
          <ac:chgData name="Waldemar Hoff" userId="bacb8968-6b42-45e3-b232-453b0d6bde59" providerId="ADAL" clId="{F8C1E58B-402C-4ED2-AD69-E062B24CC05A}" dt="2025-12-01T20:19:19.373" v="6799"/>
          <ac:spMkLst>
            <pc:docMk/>
            <pc:sldMk cId="4255672952" sldId="257"/>
            <ac:spMk id="3" creationId="{A4C1D418-63D6-75C8-D97C-B80D5C5D82D1}"/>
          </ac:spMkLst>
        </pc:spChg>
      </pc:sldChg>
      <pc:sldChg chg="modSp new mod">
        <pc:chgData name="Waldemar Hoff" userId="bacb8968-6b42-45e3-b232-453b0d6bde59" providerId="ADAL" clId="{F8C1E58B-402C-4ED2-AD69-E062B24CC05A}" dt="2025-12-02T07:02:41.677" v="8331" actId="207"/>
        <pc:sldMkLst>
          <pc:docMk/>
          <pc:sldMk cId="1531603906" sldId="258"/>
        </pc:sldMkLst>
        <pc:spChg chg="mod">
          <ac:chgData name="Waldemar Hoff" userId="bacb8968-6b42-45e3-b232-453b0d6bde59" providerId="ADAL" clId="{F8C1E58B-402C-4ED2-AD69-E062B24CC05A}" dt="2025-12-01T18:48:09.538" v="5332"/>
          <ac:spMkLst>
            <pc:docMk/>
            <pc:sldMk cId="1531603906" sldId="258"/>
            <ac:spMk id="2" creationId="{69AA1327-217D-58B1-36D9-AE6944F7AA47}"/>
          </ac:spMkLst>
        </pc:spChg>
        <pc:spChg chg="mod">
          <ac:chgData name="Waldemar Hoff" userId="bacb8968-6b42-45e3-b232-453b0d6bde59" providerId="ADAL" clId="{F8C1E58B-402C-4ED2-AD69-E062B24CC05A}" dt="2025-12-02T07:02:41.677" v="8331" actId="207"/>
          <ac:spMkLst>
            <pc:docMk/>
            <pc:sldMk cId="1531603906" sldId="258"/>
            <ac:spMk id="3" creationId="{1CD867A8-A089-A51E-BBD4-A9EB11ACFB75}"/>
          </ac:spMkLst>
        </pc:spChg>
      </pc:sldChg>
      <pc:sldChg chg="modSp new mod">
        <pc:chgData name="Waldemar Hoff" userId="bacb8968-6b42-45e3-b232-453b0d6bde59" providerId="ADAL" clId="{F8C1E58B-402C-4ED2-AD69-E062B24CC05A}" dt="2025-12-02T07:05:12.126" v="8405" actId="207"/>
        <pc:sldMkLst>
          <pc:docMk/>
          <pc:sldMk cId="1558336015" sldId="259"/>
        </pc:sldMkLst>
        <pc:spChg chg="mod">
          <ac:chgData name="Waldemar Hoff" userId="bacb8968-6b42-45e3-b232-453b0d6bde59" providerId="ADAL" clId="{F8C1E58B-402C-4ED2-AD69-E062B24CC05A}" dt="2025-12-01T20:27:41.169" v="7730" actId="2"/>
          <ac:spMkLst>
            <pc:docMk/>
            <pc:sldMk cId="1558336015" sldId="259"/>
            <ac:spMk id="2" creationId="{93117D02-D89F-2179-1E58-391EADB11894}"/>
          </ac:spMkLst>
        </pc:spChg>
        <pc:spChg chg="mod">
          <ac:chgData name="Waldemar Hoff" userId="bacb8968-6b42-45e3-b232-453b0d6bde59" providerId="ADAL" clId="{F8C1E58B-402C-4ED2-AD69-E062B24CC05A}" dt="2025-12-02T07:05:12.126" v="8405" actId="207"/>
          <ac:spMkLst>
            <pc:docMk/>
            <pc:sldMk cId="1558336015" sldId="259"/>
            <ac:spMk id="3" creationId="{365AB772-0D90-E924-9735-5A8603A679E5}"/>
          </ac:spMkLst>
        </pc:spChg>
      </pc:sldChg>
      <pc:sldChg chg="modSp new mod">
        <pc:chgData name="Waldemar Hoff" userId="bacb8968-6b42-45e3-b232-453b0d6bde59" providerId="ADAL" clId="{F8C1E58B-402C-4ED2-AD69-E062B24CC05A}" dt="2025-12-02T07:09:41.635" v="8483"/>
        <pc:sldMkLst>
          <pc:docMk/>
          <pc:sldMk cId="2907343352" sldId="260"/>
        </pc:sldMkLst>
        <pc:spChg chg="mod">
          <ac:chgData name="Waldemar Hoff" userId="bacb8968-6b42-45e3-b232-453b0d6bde59" providerId="ADAL" clId="{F8C1E58B-402C-4ED2-AD69-E062B24CC05A}" dt="2025-12-01T20:28:01.450" v="7746" actId="2"/>
          <ac:spMkLst>
            <pc:docMk/>
            <pc:sldMk cId="2907343352" sldId="260"/>
            <ac:spMk id="2" creationId="{BC301D2D-B54C-B108-EAEF-D30478F71498}"/>
          </ac:spMkLst>
        </pc:spChg>
        <pc:spChg chg="mod">
          <ac:chgData name="Waldemar Hoff" userId="bacb8968-6b42-45e3-b232-453b0d6bde59" providerId="ADAL" clId="{F8C1E58B-402C-4ED2-AD69-E062B24CC05A}" dt="2025-12-02T07:09:41.635" v="8483"/>
          <ac:spMkLst>
            <pc:docMk/>
            <pc:sldMk cId="2907343352" sldId="260"/>
            <ac:spMk id="3" creationId="{819272C7-7EBC-BBD9-6049-1ED7999833EF}"/>
          </ac:spMkLst>
        </pc:spChg>
      </pc:sldChg>
      <pc:sldChg chg="modSp new mod">
        <pc:chgData name="Waldemar Hoff" userId="bacb8968-6b42-45e3-b232-453b0d6bde59" providerId="ADAL" clId="{F8C1E58B-402C-4ED2-AD69-E062B24CC05A}" dt="2025-12-02T07:08:09.650" v="8434" actId="207"/>
        <pc:sldMkLst>
          <pc:docMk/>
          <pc:sldMk cId="1389934048" sldId="261"/>
        </pc:sldMkLst>
        <pc:spChg chg="mod">
          <ac:chgData name="Waldemar Hoff" userId="bacb8968-6b42-45e3-b232-453b0d6bde59" providerId="ADAL" clId="{F8C1E58B-402C-4ED2-AD69-E062B24CC05A}" dt="2025-12-01T20:27:58.458" v="7741" actId="2"/>
          <ac:spMkLst>
            <pc:docMk/>
            <pc:sldMk cId="1389934048" sldId="261"/>
            <ac:spMk id="2" creationId="{99C4DE90-B332-5614-16F2-2DB6A6E4B8EB}"/>
          </ac:spMkLst>
        </pc:spChg>
        <pc:spChg chg="mod">
          <ac:chgData name="Waldemar Hoff" userId="bacb8968-6b42-45e3-b232-453b0d6bde59" providerId="ADAL" clId="{F8C1E58B-402C-4ED2-AD69-E062B24CC05A}" dt="2025-12-02T07:08:09.650" v="8434" actId="207"/>
          <ac:spMkLst>
            <pc:docMk/>
            <pc:sldMk cId="1389934048" sldId="261"/>
            <ac:spMk id="3" creationId="{FE62A49E-0BFA-6F27-F15E-CEE122BD28AE}"/>
          </ac:spMkLst>
        </pc:spChg>
      </pc:sldChg>
      <pc:sldChg chg="modSp new mod">
        <pc:chgData name="Waldemar Hoff" userId="bacb8968-6b42-45e3-b232-453b0d6bde59" providerId="ADAL" clId="{F8C1E58B-402C-4ED2-AD69-E062B24CC05A}" dt="2025-12-02T07:10:25.437" v="8489" actId="207"/>
        <pc:sldMkLst>
          <pc:docMk/>
          <pc:sldMk cId="479332755" sldId="262"/>
        </pc:sldMkLst>
        <pc:spChg chg="mod">
          <ac:chgData name="Waldemar Hoff" userId="bacb8968-6b42-45e3-b232-453b0d6bde59" providerId="ADAL" clId="{F8C1E58B-402C-4ED2-AD69-E062B24CC05A}" dt="2025-11-23T15:16:20.022" v="916"/>
          <ac:spMkLst>
            <pc:docMk/>
            <pc:sldMk cId="479332755" sldId="262"/>
            <ac:spMk id="2" creationId="{2A572537-6620-D7EC-4B5C-3CD5CBF3AB97}"/>
          </ac:spMkLst>
        </pc:spChg>
        <pc:spChg chg="mod">
          <ac:chgData name="Waldemar Hoff" userId="bacb8968-6b42-45e3-b232-453b0d6bde59" providerId="ADAL" clId="{F8C1E58B-402C-4ED2-AD69-E062B24CC05A}" dt="2025-12-02T07:10:25.437" v="8489" actId="207"/>
          <ac:spMkLst>
            <pc:docMk/>
            <pc:sldMk cId="479332755" sldId="262"/>
            <ac:spMk id="3" creationId="{278BE3B0-A5C2-DE22-7A8B-FFBF1F5E3C55}"/>
          </ac:spMkLst>
        </pc:spChg>
      </pc:sldChg>
      <pc:sldChg chg="modSp new mod">
        <pc:chgData name="Waldemar Hoff" userId="bacb8968-6b42-45e3-b232-453b0d6bde59" providerId="ADAL" clId="{F8C1E58B-402C-4ED2-AD69-E062B24CC05A}" dt="2025-12-02T07:12:43.932" v="8503" actId="113"/>
        <pc:sldMkLst>
          <pc:docMk/>
          <pc:sldMk cId="3906789178" sldId="263"/>
        </pc:sldMkLst>
        <pc:spChg chg="mod">
          <ac:chgData name="Waldemar Hoff" userId="bacb8968-6b42-45e3-b232-453b0d6bde59" providerId="ADAL" clId="{F8C1E58B-402C-4ED2-AD69-E062B24CC05A}" dt="2025-11-23T15:16:15.691" v="914"/>
          <ac:spMkLst>
            <pc:docMk/>
            <pc:sldMk cId="3906789178" sldId="263"/>
            <ac:spMk id="2" creationId="{5C4C2A20-EF9C-3997-EDF5-E0646576C2D3}"/>
          </ac:spMkLst>
        </pc:spChg>
        <pc:spChg chg="mod">
          <ac:chgData name="Waldemar Hoff" userId="bacb8968-6b42-45e3-b232-453b0d6bde59" providerId="ADAL" clId="{F8C1E58B-402C-4ED2-AD69-E062B24CC05A}" dt="2025-12-02T07:12:43.932" v="8503" actId="113"/>
          <ac:spMkLst>
            <pc:docMk/>
            <pc:sldMk cId="3906789178" sldId="263"/>
            <ac:spMk id="3" creationId="{FC0DA214-1717-07FE-00EA-1D0244871AEA}"/>
          </ac:spMkLst>
        </pc:spChg>
      </pc:sldChg>
      <pc:sldChg chg="modSp new mod">
        <pc:chgData name="Waldemar Hoff" userId="bacb8968-6b42-45e3-b232-453b0d6bde59" providerId="ADAL" clId="{F8C1E58B-402C-4ED2-AD69-E062B24CC05A}" dt="2025-12-02T07:19:07.806" v="8726" actId="13926"/>
        <pc:sldMkLst>
          <pc:docMk/>
          <pc:sldMk cId="3421927826" sldId="264"/>
        </pc:sldMkLst>
        <pc:spChg chg="mod">
          <ac:chgData name="Waldemar Hoff" userId="bacb8968-6b42-45e3-b232-453b0d6bde59" providerId="ADAL" clId="{F8C1E58B-402C-4ED2-AD69-E062B24CC05A}" dt="2025-11-23T15:15:57.893" v="908"/>
          <ac:spMkLst>
            <pc:docMk/>
            <pc:sldMk cId="3421927826" sldId="264"/>
            <ac:spMk id="2" creationId="{ACF5575F-6359-780D-3176-3F23D090DF5C}"/>
          </ac:spMkLst>
        </pc:spChg>
        <pc:spChg chg="mod">
          <ac:chgData name="Waldemar Hoff" userId="bacb8968-6b42-45e3-b232-453b0d6bde59" providerId="ADAL" clId="{F8C1E58B-402C-4ED2-AD69-E062B24CC05A}" dt="2025-12-02T07:19:07.806" v="8726" actId="13926"/>
          <ac:spMkLst>
            <pc:docMk/>
            <pc:sldMk cId="3421927826" sldId="264"/>
            <ac:spMk id="3" creationId="{D819B694-E7BC-3E9D-CBAC-94E6E9BBE2D7}"/>
          </ac:spMkLst>
        </pc:spChg>
      </pc:sldChg>
      <pc:sldChg chg="modSp new mod">
        <pc:chgData name="Waldemar Hoff" userId="bacb8968-6b42-45e3-b232-453b0d6bde59" providerId="ADAL" clId="{F8C1E58B-402C-4ED2-AD69-E062B24CC05A}" dt="2025-12-02T07:16:07.361" v="8646" actId="13926"/>
        <pc:sldMkLst>
          <pc:docMk/>
          <pc:sldMk cId="183807744" sldId="265"/>
        </pc:sldMkLst>
        <pc:spChg chg="mod">
          <ac:chgData name="Waldemar Hoff" userId="bacb8968-6b42-45e3-b232-453b0d6bde59" providerId="ADAL" clId="{F8C1E58B-402C-4ED2-AD69-E062B24CC05A}" dt="2025-11-23T15:16:04.035" v="910"/>
          <ac:spMkLst>
            <pc:docMk/>
            <pc:sldMk cId="183807744" sldId="265"/>
            <ac:spMk id="2" creationId="{48BE028E-F738-6AA5-7BC3-ABA5547CD1D1}"/>
          </ac:spMkLst>
        </pc:spChg>
        <pc:spChg chg="mod">
          <ac:chgData name="Waldemar Hoff" userId="bacb8968-6b42-45e3-b232-453b0d6bde59" providerId="ADAL" clId="{F8C1E58B-402C-4ED2-AD69-E062B24CC05A}" dt="2025-12-02T07:16:07.361" v="8646" actId="13926"/>
          <ac:spMkLst>
            <pc:docMk/>
            <pc:sldMk cId="183807744" sldId="265"/>
            <ac:spMk id="3" creationId="{45955774-F854-8286-700A-E994BE382C91}"/>
          </ac:spMkLst>
        </pc:spChg>
      </pc:sldChg>
      <pc:sldChg chg="modSp new mod">
        <pc:chgData name="Waldemar Hoff" userId="bacb8968-6b42-45e3-b232-453b0d6bde59" providerId="ADAL" clId="{F8C1E58B-402C-4ED2-AD69-E062B24CC05A}" dt="2025-12-02T07:14:01.052" v="8578" actId="20577"/>
        <pc:sldMkLst>
          <pc:docMk/>
          <pc:sldMk cId="3341995798" sldId="266"/>
        </pc:sldMkLst>
        <pc:spChg chg="mod">
          <ac:chgData name="Waldemar Hoff" userId="bacb8968-6b42-45e3-b232-453b0d6bde59" providerId="ADAL" clId="{F8C1E58B-402C-4ED2-AD69-E062B24CC05A}" dt="2025-11-23T15:16:08.857" v="912"/>
          <ac:spMkLst>
            <pc:docMk/>
            <pc:sldMk cId="3341995798" sldId="266"/>
            <ac:spMk id="2" creationId="{A063BE8A-10A3-82A9-3D9E-BCAE3E3204D5}"/>
          </ac:spMkLst>
        </pc:spChg>
        <pc:spChg chg="mod">
          <ac:chgData name="Waldemar Hoff" userId="bacb8968-6b42-45e3-b232-453b0d6bde59" providerId="ADAL" clId="{F8C1E58B-402C-4ED2-AD69-E062B24CC05A}" dt="2025-12-02T07:14:01.052" v="8578" actId="20577"/>
          <ac:spMkLst>
            <pc:docMk/>
            <pc:sldMk cId="3341995798" sldId="266"/>
            <ac:spMk id="3" creationId="{365DE092-B910-115E-CD1F-4ECE11AD2D0D}"/>
          </ac:spMkLst>
        </pc:spChg>
      </pc:sldChg>
      <pc:sldChg chg="modSp new mod">
        <pc:chgData name="Waldemar Hoff" userId="bacb8968-6b42-45e3-b232-453b0d6bde59" providerId="ADAL" clId="{F8C1E58B-402C-4ED2-AD69-E062B24CC05A}" dt="2025-12-02T07:18:59.970" v="8724" actId="13926"/>
        <pc:sldMkLst>
          <pc:docMk/>
          <pc:sldMk cId="2086997229" sldId="267"/>
        </pc:sldMkLst>
        <pc:spChg chg="mod">
          <ac:chgData name="Waldemar Hoff" userId="bacb8968-6b42-45e3-b232-453b0d6bde59" providerId="ADAL" clId="{F8C1E58B-402C-4ED2-AD69-E062B24CC05A}" dt="2025-11-23T15:15:52.681" v="906"/>
          <ac:spMkLst>
            <pc:docMk/>
            <pc:sldMk cId="2086997229" sldId="267"/>
            <ac:spMk id="2" creationId="{8FD88492-9C05-A01A-FEC9-04188E9AE532}"/>
          </ac:spMkLst>
        </pc:spChg>
        <pc:spChg chg="mod">
          <ac:chgData name="Waldemar Hoff" userId="bacb8968-6b42-45e3-b232-453b0d6bde59" providerId="ADAL" clId="{F8C1E58B-402C-4ED2-AD69-E062B24CC05A}" dt="2025-12-02T07:18:59.970" v="8724" actId="13926"/>
          <ac:spMkLst>
            <pc:docMk/>
            <pc:sldMk cId="2086997229" sldId="267"/>
            <ac:spMk id="3" creationId="{1D947975-DCA8-6DAE-99BF-B17855BCF7A8}"/>
          </ac:spMkLst>
        </pc:spChg>
      </pc:sldChg>
      <pc:sldChg chg="modSp new mod">
        <pc:chgData name="Waldemar Hoff" userId="bacb8968-6b42-45e3-b232-453b0d6bde59" providerId="ADAL" clId="{F8C1E58B-402C-4ED2-AD69-E062B24CC05A}" dt="2025-12-02T07:19:54.209" v="8728" actId="13926"/>
        <pc:sldMkLst>
          <pc:docMk/>
          <pc:sldMk cId="4126501739" sldId="268"/>
        </pc:sldMkLst>
        <pc:spChg chg="mod">
          <ac:chgData name="Waldemar Hoff" userId="bacb8968-6b42-45e3-b232-453b0d6bde59" providerId="ADAL" clId="{F8C1E58B-402C-4ED2-AD69-E062B24CC05A}" dt="2025-11-23T15:15:46.916" v="904"/>
          <ac:spMkLst>
            <pc:docMk/>
            <pc:sldMk cId="4126501739" sldId="268"/>
            <ac:spMk id="2" creationId="{795D5749-A97D-B385-E824-74A77F2DF96E}"/>
          </ac:spMkLst>
        </pc:spChg>
        <pc:spChg chg="mod">
          <ac:chgData name="Waldemar Hoff" userId="bacb8968-6b42-45e3-b232-453b0d6bde59" providerId="ADAL" clId="{F8C1E58B-402C-4ED2-AD69-E062B24CC05A}" dt="2025-12-02T07:19:54.209" v="8728" actId="13926"/>
          <ac:spMkLst>
            <pc:docMk/>
            <pc:sldMk cId="4126501739" sldId="268"/>
            <ac:spMk id="3" creationId="{EA30B398-90AD-5815-AE05-789EB9176915}"/>
          </ac:spMkLst>
        </pc:spChg>
      </pc:sldChg>
      <pc:sldChg chg="modSp new mod">
        <pc:chgData name="Waldemar Hoff" userId="bacb8968-6b42-45e3-b232-453b0d6bde59" providerId="ADAL" clId="{F8C1E58B-402C-4ED2-AD69-E062B24CC05A}" dt="2025-12-02T07:20:25.769" v="8730" actId="255"/>
        <pc:sldMkLst>
          <pc:docMk/>
          <pc:sldMk cId="672876651" sldId="269"/>
        </pc:sldMkLst>
        <pc:spChg chg="mod">
          <ac:chgData name="Waldemar Hoff" userId="bacb8968-6b42-45e3-b232-453b0d6bde59" providerId="ADAL" clId="{F8C1E58B-402C-4ED2-AD69-E062B24CC05A}" dt="2025-11-23T15:15:41.211" v="902"/>
          <ac:spMkLst>
            <pc:docMk/>
            <pc:sldMk cId="672876651" sldId="269"/>
            <ac:spMk id="2" creationId="{943ABC75-0D0E-49D2-1871-8A62F480B5C0}"/>
          </ac:spMkLst>
        </pc:spChg>
        <pc:spChg chg="mod">
          <ac:chgData name="Waldemar Hoff" userId="bacb8968-6b42-45e3-b232-453b0d6bde59" providerId="ADAL" clId="{F8C1E58B-402C-4ED2-AD69-E062B24CC05A}" dt="2025-12-02T07:20:25.769" v="8730" actId="255"/>
          <ac:spMkLst>
            <pc:docMk/>
            <pc:sldMk cId="672876651" sldId="269"/>
            <ac:spMk id="3" creationId="{6A155FB9-702D-4877-CA22-38A79561B6C6}"/>
          </ac:spMkLst>
        </pc:spChg>
      </pc:sldChg>
      <pc:sldChg chg="modSp new mod">
        <pc:chgData name="Waldemar Hoff" userId="bacb8968-6b42-45e3-b232-453b0d6bde59" providerId="ADAL" clId="{F8C1E58B-402C-4ED2-AD69-E062B24CC05A}" dt="2025-12-02T07:21:00.835" v="8733" actId="113"/>
        <pc:sldMkLst>
          <pc:docMk/>
          <pc:sldMk cId="2258372157" sldId="270"/>
        </pc:sldMkLst>
        <pc:spChg chg="mod">
          <ac:chgData name="Waldemar Hoff" userId="bacb8968-6b42-45e3-b232-453b0d6bde59" providerId="ADAL" clId="{F8C1E58B-402C-4ED2-AD69-E062B24CC05A}" dt="2025-11-23T15:15:36.426" v="900"/>
          <ac:spMkLst>
            <pc:docMk/>
            <pc:sldMk cId="2258372157" sldId="270"/>
            <ac:spMk id="2" creationId="{81578F29-002A-30E9-68A9-756EB2B661C3}"/>
          </ac:spMkLst>
        </pc:spChg>
        <pc:spChg chg="mod">
          <ac:chgData name="Waldemar Hoff" userId="bacb8968-6b42-45e3-b232-453b0d6bde59" providerId="ADAL" clId="{F8C1E58B-402C-4ED2-AD69-E062B24CC05A}" dt="2025-12-02T07:21:00.835" v="8733" actId="113"/>
          <ac:spMkLst>
            <pc:docMk/>
            <pc:sldMk cId="2258372157" sldId="270"/>
            <ac:spMk id="3" creationId="{8A7AD7DD-18C7-ACAF-38F8-3B74DA29DEAA}"/>
          </ac:spMkLst>
        </pc:spChg>
      </pc:sldChg>
      <pc:sldChg chg="modSp new mod">
        <pc:chgData name="Waldemar Hoff" userId="bacb8968-6b42-45e3-b232-453b0d6bde59" providerId="ADAL" clId="{F8C1E58B-402C-4ED2-AD69-E062B24CC05A}" dt="2025-12-02T07:21:41.229" v="8735" actId="13926"/>
        <pc:sldMkLst>
          <pc:docMk/>
          <pc:sldMk cId="78332869" sldId="271"/>
        </pc:sldMkLst>
        <pc:spChg chg="mod">
          <ac:chgData name="Waldemar Hoff" userId="bacb8968-6b42-45e3-b232-453b0d6bde59" providerId="ADAL" clId="{F8C1E58B-402C-4ED2-AD69-E062B24CC05A}" dt="2025-11-23T15:22:49.626" v="1018" actId="207"/>
          <ac:spMkLst>
            <pc:docMk/>
            <pc:sldMk cId="78332869" sldId="271"/>
            <ac:spMk id="2" creationId="{9EA1F9E4-5748-E3F0-61D2-9D57E520D276}"/>
          </ac:spMkLst>
        </pc:spChg>
        <pc:spChg chg="mod">
          <ac:chgData name="Waldemar Hoff" userId="bacb8968-6b42-45e3-b232-453b0d6bde59" providerId="ADAL" clId="{F8C1E58B-402C-4ED2-AD69-E062B24CC05A}" dt="2025-12-02T07:21:41.229" v="8735" actId="13926"/>
          <ac:spMkLst>
            <pc:docMk/>
            <pc:sldMk cId="78332869" sldId="271"/>
            <ac:spMk id="3" creationId="{525B36B2-116D-CC93-B2A7-30CA40731130}"/>
          </ac:spMkLst>
        </pc:spChg>
      </pc:sldChg>
      <pc:sldChg chg="modSp new mod ord">
        <pc:chgData name="Waldemar Hoff" userId="bacb8968-6b42-45e3-b232-453b0d6bde59" providerId="ADAL" clId="{F8C1E58B-402C-4ED2-AD69-E062B24CC05A}" dt="2025-12-02T07:21:12.418" v="8734" actId="113"/>
        <pc:sldMkLst>
          <pc:docMk/>
          <pc:sldMk cId="861020356" sldId="272"/>
        </pc:sldMkLst>
        <pc:spChg chg="mod">
          <ac:chgData name="Waldemar Hoff" userId="bacb8968-6b42-45e3-b232-453b0d6bde59" providerId="ADAL" clId="{F8C1E58B-402C-4ED2-AD69-E062B24CC05A}" dt="2025-11-23T15:23:10.953" v="1024" actId="255"/>
          <ac:spMkLst>
            <pc:docMk/>
            <pc:sldMk cId="861020356" sldId="272"/>
            <ac:spMk id="2" creationId="{734BFE0B-A43A-8CD3-9655-5F9620B510F0}"/>
          </ac:spMkLst>
        </pc:spChg>
        <pc:spChg chg="mod">
          <ac:chgData name="Waldemar Hoff" userId="bacb8968-6b42-45e3-b232-453b0d6bde59" providerId="ADAL" clId="{F8C1E58B-402C-4ED2-AD69-E062B24CC05A}" dt="2025-12-02T07:21:12.418" v="8734" actId="113"/>
          <ac:spMkLst>
            <pc:docMk/>
            <pc:sldMk cId="861020356" sldId="272"/>
            <ac:spMk id="3" creationId="{D06513AF-DD65-3EE5-DF74-7033AAE893DE}"/>
          </ac:spMkLst>
        </pc:spChg>
      </pc:sldChg>
      <pc:sldChg chg="addSp delSp modSp new mod">
        <pc:chgData name="Waldemar Hoff" userId="bacb8968-6b42-45e3-b232-453b0d6bde59" providerId="ADAL" clId="{F8C1E58B-402C-4ED2-AD69-E062B24CC05A}" dt="2025-12-02T07:22:24.585" v="8744" actId="13926"/>
        <pc:sldMkLst>
          <pc:docMk/>
          <pc:sldMk cId="1655264693" sldId="273"/>
        </pc:sldMkLst>
        <pc:spChg chg="mod">
          <ac:chgData name="Waldemar Hoff" userId="bacb8968-6b42-45e3-b232-453b0d6bde59" providerId="ADAL" clId="{F8C1E58B-402C-4ED2-AD69-E062B24CC05A}" dt="2025-11-23T15:23:00.229" v="1021"/>
          <ac:spMkLst>
            <pc:docMk/>
            <pc:sldMk cId="1655264693" sldId="273"/>
            <ac:spMk id="2" creationId="{BD7130DD-4AC1-A102-69FA-F1F9CAD00E12}"/>
          </ac:spMkLst>
        </pc:spChg>
        <pc:spChg chg="mod">
          <ac:chgData name="Waldemar Hoff" userId="bacb8968-6b42-45e3-b232-453b0d6bde59" providerId="ADAL" clId="{F8C1E58B-402C-4ED2-AD69-E062B24CC05A}" dt="2025-12-02T07:22:24.585" v="8744" actId="13926"/>
          <ac:spMkLst>
            <pc:docMk/>
            <pc:sldMk cId="1655264693" sldId="273"/>
            <ac:spMk id="3" creationId="{70FFA9E4-D6E8-D3A0-6387-3564F004CD51}"/>
          </ac:spMkLst>
        </pc:spChg>
      </pc:sldChg>
      <pc:sldChg chg="modSp new mod">
        <pc:chgData name="Waldemar Hoff" userId="bacb8968-6b42-45e3-b232-453b0d6bde59" providerId="ADAL" clId="{F8C1E58B-402C-4ED2-AD69-E062B24CC05A}" dt="2025-12-02T07:23:37.469" v="8788" actId="20577"/>
        <pc:sldMkLst>
          <pc:docMk/>
          <pc:sldMk cId="3544767017" sldId="274"/>
        </pc:sldMkLst>
        <pc:spChg chg="mod">
          <ac:chgData name="Waldemar Hoff" userId="bacb8968-6b42-45e3-b232-453b0d6bde59" providerId="ADAL" clId="{F8C1E58B-402C-4ED2-AD69-E062B24CC05A}" dt="2025-11-23T15:39:19.436" v="1289" actId="255"/>
          <ac:spMkLst>
            <pc:docMk/>
            <pc:sldMk cId="3544767017" sldId="274"/>
            <ac:spMk id="2" creationId="{FEDFD82C-0542-747A-C1ED-36754D869C04}"/>
          </ac:spMkLst>
        </pc:spChg>
        <pc:spChg chg="mod">
          <ac:chgData name="Waldemar Hoff" userId="bacb8968-6b42-45e3-b232-453b0d6bde59" providerId="ADAL" clId="{F8C1E58B-402C-4ED2-AD69-E062B24CC05A}" dt="2025-12-02T07:23:37.469" v="8788" actId="20577"/>
          <ac:spMkLst>
            <pc:docMk/>
            <pc:sldMk cId="3544767017" sldId="274"/>
            <ac:spMk id="3" creationId="{0004B7F5-5987-DD23-6ED3-6808EB8D3533}"/>
          </ac:spMkLst>
        </pc:spChg>
      </pc:sldChg>
      <pc:sldChg chg="modSp new mod">
        <pc:chgData name="Waldemar Hoff" userId="bacb8968-6b42-45e3-b232-453b0d6bde59" providerId="ADAL" clId="{F8C1E58B-402C-4ED2-AD69-E062B24CC05A}" dt="2025-12-02T07:26:50.342" v="8832" actId="13926"/>
        <pc:sldMkLst>
          <pc:docMk/>
          <pc:sldMk cId="283687651" sldId="275"/>
        </pc:sldMkLst>
        <pc:spChg chg="mod">
          <ac:chgData name="Waldemar Hoff" userId="bacb8968-6b42-45e3-b232-453b0d6bde59" providerId="ADAL" clId="{F8C1E58B-402C-4ED2-AD69-E062B24CC05A}" dt="2025-11-23T15:39:40.450" v="1295" actId="255"/>
          <ac:spMkLst>
            <pc:docMk/>
            <pc:sldMk cId="283687651" sldId="275"/>
            <ac:spMk id="2" creationId="{F2F060F5-E957-5C1B-52AD-38709FCDA932}"/>
          </ac:spMkLst>
        </pc:spChg>
        <pc:spChg chg="mod">
          <ac:chgData name="Waldemar Hoff" userId="bacb8968-6b42-45e3-b232-453b0d6bde59" providerId="ADAL" clId="{F8C1E58B-402C-4ED2-AD69-E062B24CC05A}" dt="2025-12-02T07:26:50.342" v="8832" actId="13926"/>
          <ac:spMkLst>
            <pc:docMk/>
            <pc:sldMk cId="283687651" sldId="275"/>
            <ac:spMk id="3" creationId="{9B402B06-9A8E-2D42-49B6-1A81F9B4A85E}"/>
          </ac:spMkLst>
        </pc:spChg>
      </pc:sldChg>
      <pc:sldChg chg="modSp new mod">
        <pc:chgData name="Waldemar Hoff" userId="bacb8968-6b42-45e3-b232-453b0d6bde59" providerId="ADAL" clId="{F8C1E58B-402C-4ED2-AD69-E062B24CC05A}" dt="2025-12-02T07:25:04.246" v="8811" actId="13926"/>
        <pc:sldMkLst>
          <pc:docMk/>
          <pc:sldMk cId="4041450210" sldId="276"/>
        </pc:sldMkLst>
        <pc:spChg chg="mod">
          <ac:chgData name="Waldemar Hoff" userId="bacb8968-6b42-45e3-b232-453b0d6bde59" providerId="ADAL" clId="{F8C1E58B-402C-4ED2-AD69-E062B24CC05A}" dt="2025-11-23T15:39:33.359" v="1293" actId="255"/>
          <ac:spMkLst>
            <pc:docMk/>
            <pc:sldMk cId="4041450210" sldId="276"/>
            <ac:spMk id="2" creationId="{21F40567-996C-D38B-B8C8-DA2EF9BF5E6D}"/>
          </ac:spMkLst>
        </pc:spChg>
        <pc:spChg chg="mod">
          <ac:chgData name="Waldemar Hoff" userId="bacb8968-6b42-45e3-b232-453b0d6bde59" providerId="ADAL" clId="{F8C1E58B-402C-4ED2-AD69-E062B24CC05A}" dt="2025-12-02T07:25:04.246" v="8811" actId="13926"/>
          <ac:spMkLst>
            <pc:docMk/>
            <pc:sldMk cId="4041450210" sldId="276"/>
            <ac:spMk id="3" creationId="{738E19A8-558D-7190-93BB-CDAFFADB215C}"/>
          </ac:spMkLst>
        </pc:spChg>
      </pc:sldChg>
      <pc:sldChg chg="modSp new mod">
        <pc:chgData name="Waldemar Hoff" userId="bacb8968-6b42-45e3-b232-453b0d6bde59" providerId="ADAL" clId="{F8C1E58B-402C-4ED2-AD69-E062B24CC05A}" dt="2025-12-02T07:24:09.289" v="8807" actId="20577"/>
        <pc:sldMkLst>
          <pc:docMk/>
          <pc:sldMk cId="2739698339" sldId="277"/>
        </pc:sldMkLst>
        <pc:spChg chg="mod">
          <ac:chgData name="Waldemar Hoff" userId="bacb8968-6b42-45e3-b232-453b0d6bde59" providerId="ADAL" clId="{F8C1E58B-402C-4ED2-AD69-E062B24CC05A}" dt="2025-11-23T15:39:26.332" v="1291" actId="255"/>
          <ac:spMkLst>
            <pc:docMk/>
            <pc:sldMk cId="2739698339" sldId="277"/>
            <ac:spMk id="2" creationId="{554FAF91-4263-BF6D-636E-64D16B7F9F1C}"/>
          </ac:spMkLst>
        </pc:spChg>
        <pc:spChg chg="mod">
          <ac:chgData name="Waldemar Hoff" userId="bacb8968-6b42-45e3-b232-453b0d6bde59" providerId="ADAL" clId="{F8C1E58B-402C-4ED2-AD69-E062B24CC05A}" dt="2025-12-02T07:24:09.289" v="8807" actId="20577"/>
          <ac:spMkLst>
            <pc:docMk/>
            <pc:sldMk cId="2739698339" sldId="277"/>
            <ac:spMk id="3" creationId="{019E9DCF-A015-110E-B9ED-215EF2C735E3}"/>
          </ac:spMkLst>
        </pc:spChg>
      </pc:sldChg>
      <pc:sldChg chg="modSp new mod">
        <pc:chgData name="Waldemar Hoff" userId="bacb8968-6b42-45e3-b232-453b0d6bde59" providerId="ADAL" clId="{F8C1E58B-402C-4ED2-AD69-E062B24CC05A}" dt="2025-12-02T07:26:58.325" v="8833" actId="13926"/>
        <pc:sldMkLst>
          <pc:docMk/>
          <pc:sldMk cId="624604455" sldId="278"/>
        </pc:sldMkLst>
        <pc:spChg chg="mod">
          <ac:chgData name="Waldemar Hoff" userId="bacb8968-6b42-45e3-b232-453b0d6bde59" providerId="ADAL" clId="{F8C1E58B-402C-4ED2-AD69-E062B24CC05A}" dt="2025-11-23T15:52:01.164" v="1900" actId="255"/>
          <ac:spMkLst>
            <pc:docMk/>
            <pc:sldMk cId="624604455" sldId="278"/>
            <ac:spMk id="2" creationId="{4C478005-3DCE-4ECE-A1E9-7C13511EF0C1}"/>
          </ac:spMkLst>
        </pc:spChg>
        <pc:spChg chg="mod">
          <ac:chgData name="Waldemar Hoff" userId="bacb8968-6b42-45e3-b232-453b0d6bde59" providerId="ADAL" clId="{F8C1E58B-402C-4ED2-AD69-E062B24CC05A}" dt="2025-12-02T07:26:58.325" v="8833" actId="13926"/>
          <ac:spMkLst>
            <pc:docMk/>
            <pc:sldMk cId="624604455" sldId="278"/>
            <ac:spMk id="3" creationId="{718ECB72-EFEF-8A8B-477E-7D566031BAF0}"/>
          </ac:spMkLst>
        </pc:spChg>
      </pc:sldChg>
      <pc:sldChg chg="modSp new mod">
        <pc:chgData name="Waldemar Hoff" userId="bacb8968-6b42-45e3-b232-453b0d6bde59" providerId="ADAL" clId="{F8C1E58B-402C-4ED2-AD69-E062B24CC05A}" dt="2025-12-01T20:29:33.500" v="7833" actId="2"/>
        <pc:sldMkLst>
          <pc:docMk/>
          <pc:sldMk cId="1855339630" sldId="279"/>
        </pc:sldMkLst>
        <pc:spChg chg="mod">
          <ac:chgData name="Waldemar Hoff" userId="bacb8968-6b42-45e3-b232-453b0d6bde59" providerId="ADAL" clId="{F8C1E58B-402C-4ED2-AD69-E062B24CC05A}" dt="2025-11-23T15:52:08.898" v="1902" actId="255"/>
          <ac:spMkLst>
            <pc:docMk/>
            <pc:sldMk cId="1855339630" sldId="279"/>
            <ac:spMk id="2" creationId="{560E9B81-845F-59F5-0883-B59BAAF80851}"/>
          </ac:spMkLst>
        </pc:spChg>
        <pc:spChg chg="mod">
          <ac:chgData name="Waldemar Hoff" userId="bacb8968-6b42-45e3-b232-453b0d6bde59" providerId="ADAL" clId="{F8C1E58B-402C-4ED2-AD69-E062B24CC05A}" dt="2025-12-01T20:29:33.500" v="7833" actId="2"/>
          <ac:spMkLst>
            <pc:docMk/>
            <pc:sldMk cId="1855339630" sldId="279"/>
            <ac:spMk id="3" creationId="{294191C7-A68F-5B92-CA1C-C78CE2615F8F}"/>
          </ac:spMkLst>
        </pc:spChg>
      </pc:sldChg>
      <pc:sldChg chg="modSp new mod">
        <pc:chgData name="Waldemar Hoff" userId="bacb8968-6b42-45e3-b232-453b0d6bde59" providerId="ADAL" clId="{F8C1E58B-402C-4ED2-AD69-E062B24CC05A}" dt="2025-12-02T07:27:40.883" v="8844" actId="13926"/>
        <pc:sldMkLst>
          <pc:docMk/>
          <pc:sldMk cId="3314970720" sldId="280"/>
        </pc:sldMkLst>
        <pc:spChg chg="mod">
          <ac:chgData name="Waldemar Hoff" userId="bacb8968-6b42-45e3-b232-453b0d6bde59" providerId="ADAL" clId="{F8C1E58B-402C-4ED2-AD69-E062B24CC05A}" dt="2025-11-24T13:06:00.605" v="2179" actId="21"/>
          <ac:spMkLst>
            <pc:docMk/>
            <pc:sldMk cId="3314970720" sldId="280"/>
            <ac:spMk id="2" creationId="{3D1BFACA-EB2B-C54E-FEA6-44B955471B04}"/>
          </ac:spMkLst>
        </pc:spChg>
        <pc:spChg chg="mod">
          <ac:chgData name="Waldemar Hoff" userId="bacb8968-6b42-45e3-b232-453b0d6bde59" providerId="ADAL" clId="{F8C1E58B-402C-4ED2-AD69-E062B24CC05A}" dt="2025-12-02T07:27:40.883" v="8844" actId="13926"/>
          <ac:spMkLst>
            <pc:docMk/>
            <pc:sldMk cId="3314970720" sldId="280"/>
            <ac:spMk id="3" creationId="{97EED388-D230-8B53-60F8-0653C52BFF6A}"/>
          </ac:spMkLst>
        </pc:spChg>
      </pc:sldChg>
      <pc:sldChg chg="modSp new mod">
        <pc:chgData name="Waldemar Hoff" userId="bacb8968-6b42-45e3-b232-453b0d6bde59" providerId="ADAL" clId="{F8C1E58B-402C-4ED2-AD69-E062B24CC05A}" dt="2025-12-02T07:28:20.046" v="8848" actId="13926"/>
        <pc:sldMkLst>
          <pc:docMk/>
          <pc:sldMk cId="2836892248" sldId="281"/>
        </pc:sldMkLst>
        <pc:spChg chg="mod">
          <ac:chgData name="Waldemar Hoff" userId="bacb8968-6b42-45e3-b232-453b0d6bde59" providerId="ADAL" clId="{F8C1E58B-402C-4ED2-AD69-E062B24CC05A}" dt="2025-12-01T20:29:37.580" v="7842" actId="2"/>
          <ac:spMkLst>
            <pc:docMk/>
            <pc:sldMk cId="2836892248" sldId="281"/>
            <ac:spMk id="2" creationId="{CEEA2712-DCC7-45E8-D123-0C8BE9B71ADB}"/>
          </ac:spMkLst>
        </pc:spChg>
        <pc:spChg chg="mod">
          <ac:chgData name="Waldemar Hoff" userId="bacb8968-6b42-45e3-b232-453b0d6bde59" providerId="ADAL" clId="{F8C1E58B-402C-4ED2-AD69-E062B24CC05A}" dt="2025-12-02T07:28:20.046" v="8848" actId="13926"/>
          <ac:spMkLst>
            <pc:docMk/>
            <pc:sldMk cId="2836892248" sldId="281"/>
            <ac:spMk id="3" creationId="{09F90A78-2EC7-DD13-F7EF-9E01DAC52BB9}"/>
          </ac:spMkLst>
        </pc:spChg>
      </pc:sldChg>
      <pc:sldChg chg="modSp new mod">
        <pc:chgData name="Waldemar Hoff" userId="bacb8968-6b42-45e3-b232-453b0d6bde59" providerId="ADAL" clId="{F8C1E58B-402C-4ED2-AD69-E062B24CC05A}" dt="2025-12-02T07:32:24.025" v="8960" actId="207"/>
        <pc:sldMkLst>
          <pc:docMk/>
          <pc:sldMk cId="1515722921" sldId="282"/>
        </pc:sldMkLst>
        <pc:spChg chg="mod">
          <ac:chgData name="Waldemar Hoff" userId="bacb8968-6b42-45e3-b232-453b0d6bde59" providerId="ADAL" clId="{F8C1E58B-402C-4ED2-AD69-E062B24CC05A}" dt="2025-12-01T20:30:02.916" v="7873" actId="2"/>
          <ac:spMkLst>
            <pc:docMk/>
            <pc:sldMk cId="1515722921" sldId="282"/>
            <ac:spMk id="2" creationId="{0C36E7A1-B92D-D723-DA6E-3BE168039DF7}"/>
          </ac:spMkLst>
        </pc:spChg>
        <pc:spChg chg="mod">
          <ac:chgData name="Waldemar Hoff" userId="bacb8968-6b42-45e3-b232-453b0d6bde59" providerId="ADAL" clId="{F8C1E58B-402C-4ED2-AD69-E062B24CC05A}" dt="2025-12-02T07:32:24.025" v="8960" actId="207"/>
          <ac:spMkLst>
            <pc:docMk/>
            <pc:sldMk cId="1515722921" sldId="282"/>
            <ac:spMk id="3" creationId="{424C270F-59D6-0447-99C5-B383F229E51D}"/>
          </ac:spMkLst>
        </pc:spChg>
      </pc:sldChg>
      <pc:sldChg chg="modSp new mod">
        <pc:chgData name="Waldemar Hoff" userId="bacb8968-6b42-45e3-b232-453b0d6bde59" providerId="ADAL" clId="{F8C1E58B-402C-4ED2-AD69-E062B24CC05A}" dt="2025-12-02T07:30:25.514" v="8866" actId="5793"/>
        <pc:sldMkLst>
          <pc:docMk/>
          <pc:sldMk cId="3065416914" sldId="283"/>
        </pc:sldMkLst>
        <pc:spChg chg="mod">
          <ac:chgData name="Waldemar Hoff" userId="bacb8968-6b42-45e3-b232-453b0d6bde59" providerId="ADAL" clId="{F8C1E58B-402C-4ED2-AD69-E062B24CC05A}" dt="2025-12-01T20:29:46.508" v="7861" actId="2"/>
          <ac:spMkLst>
            <pc:docMk/>
            <pc:sldMk cId="3065416914" sldId="283"/>
            <ac:spMk id="2" creationId="{2B0513EA-B2BF-2299-1C9D-A46125663A23}"/>
          </ac:spMkLst>
        </pc:spChg>
        <pc:spChg chg="mod">
          <ac:chgData name="Waldemar Hoff" userId="bacb8968-6b42-45e3-b232-453b0d6bde59" providerId="ADAL" clId="{F8C1E58B-402C-4ED2-AD69-E062B24CC05A}" dt="2025-12-02T07:30:25.514" v="8866" actId="5793"/>
          <ac:spMkLst>
            <pc:docMk/>
            <pc:sldMk cId="3065416914" sldId="283"/>
            <ac:spMk id="3" creationId="{51581ED0-9B50-9400-663B-8CCE16321BF5}"/>
          </ac:spMkLst>
        </pc:spChg>
      </pc:sldChg>
      <pc:sldChg chg="modSp new mod">
        <pc:chgData name="Waldemar Hoff" userId="bacb8968-6b42-45e3-b232-453b0d6bde59" providerId="ADAL" clId="{F8C1E58B-402C-4ED2-AD69-E062B24CC05A}" dt="2025-12-02T07:29:42.306" v="8856" actId="207"/>
        <pc:sldMkLst>
          <pc:docMk/>
          <pc:sldMk cId="162416363" sldId="284"/>
        </pc:sldMkLst>
        <pc:spChg chg="mod">
          <ac:chgData name="Waldemar Hoff" userId="bacb8968-6b42-45e3-b232-453b0d6bde59" providerId="ADAL" clId="{F8C1E58B-402C-4ED2-AD69-E062B24CC05A}" dt="2025-12-01T20:29:43.787" v="7855" actId="2"/>
          <ac:spMkLst>
            <pc:docMk/>
            <pc:sldMk cId="162416363" sldId="284"/>
            <ac:spMk id="2" creationId="{38127280-4BFB-C02E-3645-1B4798888598}"/>
          </ac:spMkLst>
        </pc:spChg>
        <pc:spChg chg="mod">
          <ac:chgData name="Waldemar Hoff" userId="bacb8968-6b42-45e3-b232-453b0d6bde59" providerId="ADAL" clId="{F8C1E58B-402C-4ED2-AD69-E062B24CC05A}" dt="2025-12-02T07:29:42.306" v="8856" actId="207"/>
          <ac:spMkLst>
            <pc:docMk/>
            <pc:sldMk cId="162416363" sldId="284"/>
            <ac:spMk id="3" creationId="{33AEBF66-E626-4322-B53B-0BFF5D389FB7}"/>
          </ac:spMkLst>
        </pc:spChg>
      </pc:sldChg>
      <pc:sldChg chg="modSp new mod">
        <pc:chgData name="Waldemar Hoff" userId="bacb8968-6b42-45e3-b232-453b0d6bde59" providerId="ADAL" clId="{F8C1E58B-402C-4ED2-AD69-E062B24CC05A}" dt="2025-12-02T07:28:42.986" v="8850" actId="207"/>
        <pc:sldMkLst>
          <pc:docMk/>
          <pc:sldMk cId="4016587954" sldId="285"/>
        </pc:sldMkLst>
        <pc:spChg chg="mod">
          <ac:chgData name="Waldemar Hoff" userId="bacb8968-6b42-45e3-b232-453b0d6bde59" providerId="ADAL" clId="{F8C1E58B-402C-4ED2-AD69-E062B24CC05A}" dt="2025-12-01T20:29:40.571" v="7848" actId="2"/>
          <ac:spMkLst>
            <pc:docMk/>
            <pc:sldMk cId="4016587954" sldId="285"/>
            <ac:spMk id="2" creationId="{F90EE386-5313-0D29-4AAD-771BC10D7A95}"/>
          </ac:spMkLst>
        </pc:spChg>
        <pc:spChg chg="mod">
          <ac:chgData name="Waldemar Hoff" userId="bacb8968-6b42-45e3-b232-453b0d6bde59" providerId="ADAL" clId="{F8C1E58B-402C-4ED2-AD69-E062B24CC05A}" dt="2025-12-02T07:28:42.986" v="8850" actId="207"/>
          <ac:spMkLst>
            <pc:docMk/>
            <pc:sldMk cId="4016587954" sldId="285"/>
            <ac:spMk id="3" creationId="{0DDD38DB-F5F4-F450-7374-AAB6201AC264}"/>
          </ac:spMkLst>
        </pc:spChg>
      </pc:sldChg>
      <pc:sldChg chg="modSp new mod">
        <pc:chgData name="Waldemar Hoff" userId="bacb8968-6b42-45e3-b232-453b0d6bde59" providerId="ADAL" clId="{F8C1E58B-402C-4ED2-AD69-E062B24CC05A}" dt="2025-12-02T07:35:00.521" v="8984" actId="13926"/>
        <pc:sldMkLst>
          <pc:docMk/>
          <pc:sldMk cId="3529904117" sldId="286"/>
        </pc:sldMkLst>
        <pc:spChg chg="mod">
          <ac:chgData name="Waldemar Hoff" userId="bacb8968-6b42-45e3-b232-453b0d6bde59" providerId="ADAL" clId="{F8C1E58B-402C-4ED2-AD69-E062B24CC05A}" dt="2025-12-01T20:30:12.643" v="7888" actId="2"/>
          <ac:spMkLst>
            <pc:docMk/>
            <pc:sldMk cId="3529904117" sldId="286"/>
            <ac:spMk id="2" creationId="{B13DB3A1-9A1A-25D5-8127-F9D67FFBFDDD}"/>
          </ac:spMkLst>
        </pc:spChg>
        <pc:spChg chg="mod">
          <ac:chgData name="Waldemar Hoff" userId="bacb8968-6b42-45e3-b232-453b0d6bde59" providerId="ADAL" clId="{F8C1E58B-402C-4ED2-AD69-E062B24CC05A}" dt="2025-12-02T07:35:00.521" v="8984" actId="13926"/>
          <ac:spMkLst>
            <pc:docMk/>
            <pc:sldMk cId="3529904117" sldId="286"/>
            <ac:spMk id="3" creationId="{759CBB38-48E6-EEC5-7E38-DCF11CC0C0EF}"/>
          </ac:spMkLst>
        </pc:spChg>
      </pc:sldChg>
      <pc:sldChg chg="modSp new mod">
        <pc:chgData name="Waldemar Hoff" userId="bacb8968-6b42-45e3-b232-453b0d6bde59" providerId="ADAL" clId="{F8C1E58B-402C-4ED2-AD69-E062B24CC05A}" dt="2025-12-02T07:34:34.239" v="8983" actId="114"/>
        <pc:sldMkLst>
          <pc:docMk/>
          <pc:sldMk cId="712746296" sldId="287"/>
        </pc:sldMkLst>
        <pc:spChg chg="mod">
          <ac:chgData name="Waldemar Hoff" userId="bacb8968-6b42-45e3-b232-453b0d6bde59" providerId="ADAL" clId="{F8C1E58B-402C-4ED2-AD69-E062B24CC05A}" dt="2025-12-01T20:30:08.301" v="7880" actId="2"/>
          <ac:spMkLst>
            <pc:docMk/>
            <pc:sldMk cId="712746296" sldId="287"/>
            <ac:spMk id="2" creationId="{4A7423EC-1760-3122-A34A-EE1D9B310A25}"/>
          </ac:spMkLst>
        </pc:spChg>
        <pc:spChg chg="mod">
          <ac:chgData name="Waldemar Hoff" userId="bacb8968-6b42-45e3-b232-453b0d6bde59" providerId="ADAL" clId="{F8C1E58B-402C-4ED2-AD69-E062B24CC05A}" dt="2025-12-02T07:34:34.239" v="8983" actId="114"/>
          <ac:spMkLst>
            <pc:docMk/>
            <pc:sldMk cId="712746296" sldId="287"/>
            <ac:spMk id="3" creationId="{6C292512-32B6-6AAA-FB17-BF0ABD9F0F67}"/>
          </ac:spMkLst>
        </pc:spChg>
      </pc:sldChg>
      <pc:sldChg chg="modSp new mod">
        <pc:chgData name="Waldemar Hoff" userId="bacb8968-6b42-45e3-b232-453b0d6bde59" providerId="ADAL" clId="{F8C1E58B-402C-4ED2-AD69-E062B24CC05A}" dt="2025-12-02T07:33:33.632" v="8966" actId="27636"/>
        <pc:sldMkLst>
          <pc:docMk/>
          <pc:sldMk cId="4282726898" sldId="288"/>
        </pc:sldMkLst>
        <pc:spChg chg="mod">
          <ac:chgData name="Waldemar Hoff" userId="bacb8968-6b42-45e3-b232-453b0d6bde59" providerId="ADAL" clId="{F8C1E58B-402C-4ED2-AD69-E062B24CC05A}" dt="2025-12-01T20:30:05.986" v="7877" actId="2"/>
          <ac:spMkLst>
            <pc:docMk/>
            <pc:sldMk cId="4282726898" sldId="288"/>
            <ac:spMk id="2" creationId="{A676FECE-B579-E443-8725-4B017DE4FE6A}"/>
          </ac:spMkLst>
        </pc:spChg>
        <pc:spChg chg="mod">
          <ac:chgData name="Waldemar Hoff" userId="bacb8968-6b42-45e3-b232-453b0d6bde59" providerId="ADAL" clId="{F8C1E58B-402C-4ED2-AD69-E062B24CC05A}" dt="2025-12-02T07:33:33.632" v="8966" actId="27636"/>
          <ac:spMkLst>
            <pc:docMk/>
            <pc:sldMk cId="4282726898" sldId="288"/>
            <ac:spMk id="3" creationId="{EB61B2D9-669B-F1E2-1F88-5F65F928475C}"/>
          </ac:spMkLst>
        </pc:spChg>
      </pc:sldChg>
      <pc:sldChg chg="modSp new mod">
        <pc:chgData name="Waldemar Hoff" userId="bacb8968-6b42-45e3-b232-453b0d6bde59" providerId="ADAL" clId="{F8C1E58B-402C-4ED2-AD69-E062B24CC05A}" dt="2025-12-02T07:36:54.880" v="8995" actId="27636"/>
        <pc:sldMkLst>
          <pc:docMk/>
          <pc:sldMk cId="3118501999" sldId="289"/>
        </pc:sldMkLst>
        <pc:spChg chg="mod">
          <ac:chgData name="Waldemar Hoff" userId="bacb8968-6b42-45e3-b232-453b0d6bde59" providerId="ADAL" clId="{F8C1E58B-402C-4ED2-AD69-E062B24CC05A}" dt="2025-11-24T15:54:56.012" v="4520" actId="20577"/>
          <ac:spMkLst>
            <pc:docMk/>
            <pc:sldMk cId="3118501999" sldId="289"/>
            <ac:spMk id="2" creationId="{81D49FFF-F168-E5C3-619B-2A7E64B83833}"/>
          </ac:spMkLst>
        </pc:spChg>
        <pc:spChg chg="mod">
          <ac:chgData name="Waldemar Hoff" userId="bacb8968-6b42-45e3-b232-453b0d6bde59" providerId="ADAL" clId="{F8C1E58B-402C-4ED2-AD69-E062B24CC05A}" dt="2025-12-02T07:36:54.880" v="8995" actId="27636"/>
          <ac:spMkLst>
            <pc:docMk/>
            <pc:sldMk cId="3118501999" sldId="289"/>
            <ac:spMk id="3" creationId="{1D147EA2-5765-9C3E-A49A-25061C6E9D56}"/>
          </ac:spMkLst>
        </pc:spChg>
      </pc:sldChg>
      <pc:sldChg chg="modSp new mod">
        <pc:chgData name="Waldemar Hoff" userId="bacb8968-6b42-45e3-b232-453b0d6bde59" providerId="ADAL" clId="{F8C1E58B-402C-4ED2-AD69-E062B24CC05A}" dt="2025-12-02T07:35:53.060" v="8990" actId="27636"/>
        <pc:sldMkLst>
          <pc:docMk/>
          <pc:sldMk cId="754628746" sldId="290"/>
        </pc:sldMkLst>
        <pc:spChg chg="mod">
          <ac:chgData name="Waldemar Hoff" userId="bacb8968-6b42-45e3-b232-453b0d6bde59" providerId="ADAL" clId="{F8C1E58B-402C-4ED2-AD69-E062B24CC05A}" dt="2025-12-01T20:30:15.037" v="7892" actId="2"/>
          <ac:spMkLst>
            <pc:docMk/>
            <pc:sldMk cId="754628746" sldId="290"/>
            <ac:spMk id="2" creationId="{949A4E65-63FA-E579-2233-AE33715DADFA}"/>
          </ac:spMkLst>
        </pc:spChg>
        <pc:spChg chg="mod">
          <ac:chgData name="Waldemar Hoff" userId="bacb8968-6b42-45e3-b232-453b0d6bde59" providerId="ADAL" clId="{F8C1E58B-402C-4ED2-AD69-E062B24CC05A}" dt="2025-12-02T07:35:53.060" v="8990" actId="27636"/>
          <ac:spMkLst>
            <pc:docMk/>
            <pc:sldMk cId="754628746" sldId="290"/>
            <ac:spMk id="3" creationId="{32B6FF0A-24A0-25B8-12D9-14402B4EF443}"/>
          </ac:spMkLst>
        </pc:spChg>
      </pc:sldChg>
      <pc:sldChg chg="modSp new mod">
        <pc:chgData name="Waldemar Hoff" userId="bacb8968-6b42-45e3-b232-453b0d6bde59" providerId="ADAL" clId="{F8C1E58B-402C-4ED2-AD69-E062B24CC05A}" dt="2025-12-01T20:30:21.570" v="7907" actId="2"/>
        <pc:sldMkLst>
          <pc:docMk/>
          <pc:sldMk cId="4020490002" sldId="291"/>
        </pc:sldMkLst>
        <pc:spChg chg="mod">
          <ac:chgData name="Waldemar Hoff" userId="bacb8968-6b42-45e3-b232-453b0d6bde59" providerId="ADAL" clId="{F8C1E58B-402C-4ED2-AD69-E062B24CC05A}" dt="2025-12-01T20:30:19.259" v="7900" actId="2"/>
          <ac:spMkLst>
            <pc:docMk/>
            <pc:sldMk cId="4020490002" sldId="291"/>
            <ac:spMk id="2" creationId="{EAFEA8E6-967D-821E-F43A-91C54FD9ECA5}"/>
          </ac:spMkLst>
        </pc:spChg>
        <pc:spChg chg="mod">
          <ac:chgData name="Waldemar Hoff" userId="bacb8968-6b42-45e3-b232-453b0d6bde59" providerId="ADAL" clId="{F8C1E58B-402C-4ED2-AD69-E062B24CC05A}" dt="2025-12-01T20:30:21.570" v="7907" actId="2"/>
          <ac:spMkLst>
            <pc:docMk/>
            <pc:sldMk cId="4020490002" sldId="291"/>
            <ac:spMk id="3" creationId="{B01D26B9-8F44-0F23-30C0-E4CFEB4B7B3D}"/>
          </ac:spMkLst>
        </pc:spChg>
      </pc:sldChg>
      <pc:sldChg chg="modSp new mod">
        <pc:chgData name="Waldemar Hoff" userId="bacb8968-6b42-45e3-b232-453b0d6bde59" providerId="ADAL" clId="{F8C1E58B-402C-4ED2-AD69-E062B24CC05A}" dt="2025-12-02T07:37:38.144" v="9003" actId="13926"/>
        <pc:sldMkLst>
          <pc:docMk/>
          <pc:sldMk cId="1645543984" sldId="292"/>
        </pc:sldMkLst>
        <pc:spChg chg="mod">
          <ac:chgData name="Waldemar Hoff" userId="bacb8968-6b42-45e3-b232-453b0d6bde59" providerId="ADAL" clId="{F8C1E58B-402C-4ED2-AD69-E062B24CC05A}" dt="2025-11-24T15:54:49.390" v="4513" actId="20577"/>
          <ac:spMkLst>
            <pc:docMk/>
            <pc:sldMk cId="1645543984" sldId="292"/>
            <ac:spMk id="2" creationId="{38C553C7-D25B-23D1-5105-C927B25903F8}"/>
          </ac:spMkLst>
        </pc:spChg>
        <pc:spChg chg="mod">
          <ac:chgData name="Waldemar Hoff" userId="bacb8968-6b42-45e3-b232-453b0d6bde59" providerId="ADAL" clId="{F8C1E58B-402C-4ED2-AD69-E062B24CC05A}" dt="2025-12-02T07:37:38.144" v="9003" actId="13926"/>
          <ac:spMkLst>
            <pc:docMk/>
            <pc:sldMk cId="1645543984" sldId="292"/>
            <ac:spMk id="3" creationId="{F47E68F1-F865-8CE6-AA3A-B0558B78B83C}"/>
          </ac:spMkLst>
        </pc:spChg>
      </pc:sldChg>
      <pc:sldChg chg="modSp new mod">
        <pc:chgData name="Waldemar Hoff" userId="bacb8968-6b42-45e3-b232-453b0d6bde59" providerId="ADAL" clId="{F8C1E58B-402C-4ED2-AD69-E062B24CC05A}" dt="2025-12-01T20:30:27.185" v="7915" actId="2"/>
        <pc:sldMkLst>
          <pc:docMk/>
          <pc:sldMk cId="2376047929" sldId="293"/>
        </pc:sldMkLst>
        <pc:spChg chg="mod">
          <ac:chgData name="Waldemar Hoff" userId="bacb8968-6b42-45e3-b232-453b0d6bde59" providerId="ADAL" clId="{F8C1E58B-402C-4ED2-AD69-E062B24CC05A}" dt="2025-11-24T15:54:38.752" v="4499" actId="20577"/>
          <ac:spMkLst>
            <pc:docMk/>
            <pc:sldMk cId="2376047929" sldId="293"/>
            <ac:spMk id="2" creationId="{ADBA7065-7C5C-513B-CD0E-973F7D9D68A8}"/>
          </ac:spMkLst>
        </pc:spChg>
        <pc:spChg chg="mod">
          <ac:chgData name="Waldemar Hoff" userId="bacb8968-6b42-45e3-b232-453b0d6bde59" providerId="ADAL" clId="{F8C1E58B-402C-4ED2-AD69-E062B24CC05A}" dt="2025-12-01T20:30:27.185" v="7915" actId="2"/>
          <ac:spMkLst>
            <pc:docMk/>
            <pc:sldMk cId="2376047929" sldId="293"/>
            <ac:spMk id="3" creationId="{A19EB6B5-7779-0226-50E6-459EC128756A}"/>
          </ac:spMkLst>
        </pc:spChg>
      </pc:sldChg>
      <pc:sldChg chg="modSp new mod">
        <pc:chgData name="Waldemar Hoff" userId="bacb8968-6b42-45e3-b232-453b0d6bde59" providerId="ADAL" clId="{F8C1E58B-402C-4ED2-AD69-E062B24CC05A}" dt="2025-12-01T20:30:25.205" v="7912" actId="2"/>
        <pc:sldMkLst>
          <pc:docMk/>
          <pc:sldMk cId="3608375968" sldId="294"/>
        </pc:sldMkLst>
        <pc:spChg chg="mod">
          <ac:chgData name="Waldemar Hoff" userId="bacb8968-6b42-45e3-b232-453b0d6bde59" providerId="ADAL" clId="{F8C1E58B-402C-4ED2-AD69-E062B24CC05A}" dt="2025-11-24T15:54:44.232" v="4506" actId="20577"/>
          <ac:spMkLst>
            <pc:docMk/>
            <pc:sldMk cId="3608375968" sldId="294"/>
            <ac:spMk id="2" creationId="{88218F61-C7F7-8A96-63EB-50502CBB4A82}"/>
          </ac:spMkLst>
        </pc:spChg>
        <pc:spChg chg="mod">
          <ac:chgData name="Waldemar Hoff" userId="bacb8968-6b42-45e3-b232-453b0d6bde59" providerId="ADAL" clId="{F8C1E58B-402C-4ED2-AD69-E062B24CC05A}" dt="2025-12-01T20:30:25.205" v="7912" actId="2"/>
          <ac:spMkLst>
            <pc:docMk/>
            <pc:sldMk cId="3608375968" sldId="294"/>
            <ac:spMk id="3" creationId="{E163CB7F-C8D7-50A6-AE60-2D2989BD45EF}"/>
          </ac:spMkLst>
        </pc:spChg>
      </pc:sldChg>
      <pc:sldChg chg="modSp new mod">
        <pc:chgData name="Waldemar Hoff" userId="bacb8968-6b42-45e3-b232-453b0d6bde59" providerId="ADAL" clId="{F8C1E58B-402C-4ED2-AD69-E062B24CC05A}" dt="2025-12-01T20:30:28.082" v="7916" actId="2"/>
        <pc:sldMkLst>
          <pc:docMk/>
          <pc:sldMk cId="353912727" sldId="295"/>
        </pc:sldMkLst>
        <pc:spChg chg="mod">
          <ac:chgData name="Waldemar Hoff" userId="bacb8968-6b42-45e3-b232-453b0d6bde59" providerId="ADAL" clId="{F8C1E58B-402C-4ED2-AD69-E062B24CC05A}" dt="2025-11-24T15:54:33.544" v="4492" actId="20577"/>
          <ac:spMkLst>
            <pc:docMk/>
            <pc:sldMk cId="353912727" sldId="295"/>
            <ac:spMk id="2" creationId="{E429A681-FAD9-D7FE-8AE8-9BB70A38C720}"/>
          </ac:spMkLst>
        </pc:spChg>
        <pc:spChg chg="mod">
          <ac:chgData name="Waldemar Hoff" userId="bacb8968-6b42-45e3-b232-453b0d6bde59" providerId="ADAL" clId="{F8C1E58B-402C-4ED2-AD69-E062B24CC05A}" dt="2025-12-01T20:30:28.082" v="7916" actId="2"/>
          <ac:spMkLst>
            <pc:docMk/>
            <pc:sldMk cId="353912727" sldId="295"/>
            <ac:spMk id="3" creationId="{FAE0CEED-89E0-39E0-9D01-55E32F5D98C7}"/>
          </ac:spMkLst>
        </pc:spChg>
      </pc:sldChg>
      <pc:sldChg chg="modSp new mod">
        <pc:chgData name="Waldemar Hoff" userId="bacb8968-6b42-45e3-b232-453b0d6bde59" providerId="ADAL" clId="{F8C1E58B-402C-4ED2-AD69-E062B24CC05A}" dt="2025-12-01T20:30:30.978" v="7923" actId="2"/>
        <pc:sldMkLst>
          <pc:docMk/>
          <pc:sldMk cId="2157789433" sldId="296"/>
        </pc:sldMkLst>
        <pc:spChg chg="mod">
          <ac:chgData name="Waldemar Hoff" userId="bacb8968-6b42-45e3-b232-453b0d6bde59" providerId="ADAL" clId="{F8C1E58B-402C-4ED2-AD69-E062B24CC05A}" dt="2025-11-24T15:54:23.265" v="4478" actId="20577"/>
          <ac:spMkLst>
            <pc:docMk/>
            <pc:sldMk cId="2157789433" sldId="296"/>
            <ac:spMk id="2" creationId="{FCAC344B-2E54-6D7A-3848-9CB0C89BCE69}"/>
          </ac:spMkLst>
        </pc:spChg>
        <pc:spChg chg="mod">
          <ac:chgData name="Waldemar Hoff" userId="bacb8968-6b42-45e3-b232-453b0d6bde59" providerId="ADAL" clId="{F8C1E58B-402C-4ED2-AD69-E062B24CC05A}" dt="2025-12-01T20:30:30.978" v="7923" actId="2"/>
          <ac:spMkLst>
            <pc:docMk/>
            <pc:sldMk cId="2157789433" sldId="296"/>
            <ac:spMk id="3" creationId="{B90D7EAE-426C-9195-4F67-D9E40EA23869}"/>
          </ac:spMkLst>
        </pc:spChg>
      </pc:sldChg>
      <pc:sldChg chg="modSp new mod">
        <pc:chgData name="Waldemar Hoff" userId="bacb8968-6b42-45e3-b232-453b0d6bde59" providerId="ADAL" clId="{F8C1E58B-402C-4ED2-AD69-E062B24CC05A}" dt="2025-12-01T20:30:29.708" v="7920" actId="2"/>
        <pc:sldMkLst>
          <pc:docMk/>
          <pc:sldMk cId="1669156394" sldId="297"/>
        </pc:sldMkLst>
        <pc:spChg chg="mod">
          <ac:chgData name="Waldemar Hoff" userId="bacb8968-6b42-45e3-b232-453b0d6bde59" providerId="ADAL" clId="{F8C1E58B-402C-4ED2-AD69-E062B24CC05A}" dt="2025-11-24T15:54:18.028" v="4471" actId="20577"/>
          <ac:spMkLst>
            <pc:docMk/>
            <pc:sldMk cId="1669156394" sldId="297"/>
            <ac:spMk id="2" creationId="{297366A4-58B8-6413-6584-5B042FF5C1D3}"/>
          </ac:spMkLst>
        </pc:spChg>
        <pc:spChg chg="mod">
          <ac:chgData name="Waldemar Hoff" userId="bacb8968-6b42-45e3-b232-453b0d6bde59" providerId="ADAL" clId="{F8C1E58B-402C-4ED2-AD69-E062B24CC05A}" dt="2025-12-01T20:30:29.708" v="7920" actId="2"/>
          <ac:spMkLst>
            <pc:docMk/>
            <pc:sldMk cId="1669156394" sldId="297"/>
            <ac:spMk id="3" creationId="{C0C76552-4BAC-C210-B4FF-5C600FE01A8E}"/>
          </ac:spMkLst>
        </pc:spChg>
      </pc:sldChg>
      <pc:sldChg chg="modSp new mod">
        <pc:chgData name="Waldemar Hoff" userId="bacb8968-6b42-45e3-b232-453b0d6bde59" providerId="ADAL" clId="{F8C1E58B-402C-4ED2-AD69-E062B24CC05A}" dt="2025-12-01T20:30:28.473" v="7917" actId="2"/>
        <pc:sldMkLst>
          <pc:docMk/>
          <pc:sldMk cId="2810516799" sldId="298"/>
        </pc:sldMkLst>
        <pc:spChg chg="mod">
          <ac:chgData name="Waldemar Hoff" userId="bacb8968-6b42-45e3-b232-453b0d6bde59" providerId="ADAL" clId="{F8C1E58B-402C-4ED2-AD69-E062B24CC05A}" dt="2025-11-24T15:54:28.439" v="4485" actId="20577"/>
          <ac:spMkLst>
            <pc:docMk/>
            <pc:sldMk cId="2810516799" sldId="298"/>
            <ac:spMk id="2" creationId="{B6041138-8D31-86DC-BF20-5140716EF9DE}"/>
          </ac:spMkLst>
        </pc:spChg>
        <pc:spChg chg="mod">
          <ac:chgData name="Waldemar Hoff" userId="bacb8968-6b42-45e3-b232-453b0d6bde59" providerId="ADAL" clId="{F8C1E58B-402C-4ED2-AD69-E062B24CC05A}" dt="2025-12-01T20:30:28.473" v="7917" actId="2"/>
          <ac:spMkLst>
            <pc:docMk/>
            <pc:sldMk cId="2810516799" sldId="298"/>
            <ac:spMk id="3" creationId="{A9EEE695-1BF1-F470-B074-4A65E1FDF0A5}"/>
          </ac:spMkLst>
        </pc:spChg>
      </pc:sldChg>
      <pc:sldChg chg="modSp new mod">
        <pc:chgData name="Waldemar Hoff" userId="bacb8968-6b42-45e3-b232-453b0d6bde59" providerId="ADAL" clId="{F8C1E58B-402C-4ED2-AD69-E062B24CC05A}" dt="2025-12-01T20:30:38.034" v="7940" actId="2"/>
        <pc:sldMkLst>
          <pc:docMk/>
          <pc:sldMk cId="75755454" sldId="299"/>
        </pc:sldMkLst>
        <pc:spChg chg="mod">
          <ac:chgData name="Waldemar Hoff" userId="bacb8968-6b42-45e3-b232-453b0d6bde59" providerId="ADAL" clId="{F8C1E58B-402C-4ED2-AD69-E062B24CC05A}" dt="2025-11-24T15:56:54.270" v="4544" actId="207"/>
          <ac:spMkLst>
            <pc:docMk/>
            <pc:sldMk cId="75755454" sldId="299"/>
            <ac:spMk id="2" creationId="{D32273F5-E42C-40CA-D0C3-F9C535D1F771}"/>
          </ac:spMkLst>
        </pc:spChg>
        <pc:spChg chg="mod">
          <ac:chgData name="Waldemar Hoff" userId="bacb8968-6b42-45e3-b232-453b0d6bde59" providerId="ADAL" clId="{F8C1E58B-402C-4ED2-AD69-E062B24CC05A}" dt="2025-12-01T20:30:38.034" v="7940" actId="2"/>
          <ac:spMkLst>
            <pc:docMk/>
            <pc:sldMk cId="75755454" sldId="299"/>
            <ac:spMk id="3" creationId="{DF6FB149-FEE7-592C-E490-41D5A7AB930F}"/>
          </ac:spMkLst>
        </pc:spChg>
      </pc:sldChg>
      <pc:sldChg chg="modSp new mod">
        <pc:chgData name="Waldemar Hoff" userId="bacb8968-6b42-45e3-b232-453b0d6bde59" providerId="ADAL" clId="{F8C1E58B-402C-4ED2-AD69-E062B24CC05A}" dt="2025-12-01T20:30:31.523" v="7924" actId="2"/>
        <pc:sldMkLst>
          <pc:docMk/>
          <pc:sldMk cId="2376820947" sldId="300"/>
        </pc:sldMkLst>
        <pc:spChg chg="mod">
          <ac:chgData name="Waldemar Hoff" userId="bacb8968-6b42-45e3-b232-453b0d6bde59" providerId="ADAL" clId="{F8C1E58B-402C-4ED2-AD69-E062B24CC05A}" dt="2025-11-24T15:56:23.526" v="4536" actId="207"/>
          <ac:spMkLst>
            <pc:docMk/>
            <pc:sldMk cId="2376820947" sldId="300"/>
            <ac:spMk id="2" creationId="{1B8BFC40-F75C-663F-2371-12277CFF7DFC}"/>
          </ac:spMkLst>
        </pc:spChg>
        <pc:spChg chg="mod">
          <ac:chgData name="Waldemar Hoff" userId="bacb8968-6b42-45e3-b232-453b0d6bde59" providerId="ADAL" clId="{F8C1E58B-402C-4ED2-AD69-E062B24CC05A}" dt="2025-12-01T20:30:31.523" v="7924" actId="2"/>
          <ac:spMkLst>
            <pc:docMk/>
            <pc:sldMk cId="2376820947" sldId="300"/>
            <ac:spMk id="3" creationId="{B9B8F1A6-BB3F-D6B1-E392-582231218154}"/>
          </ac:spMkLst>
        </pc:spChg>
      </pc:sldChg>
      <pc:sldChg chg="modSp new del mod">
        <pc:chgData name="Waldemar Hoff" userId="bacb8968-6b42-45e3-b232-453b0d6bde59" providerId="ADAL" clId="{F8C1E58B-402C-4ED2-AD69-E062B24CC05A}" dt="2025-12-01T20:12:21.034" v="6712" actId="2696"/>
        <pc:sldMkLst>
          <pc:docMk/>
          <pc:sldMk cId="534522330" sldId="301"/>
        </pc:sldMkLst>
      </pc:sldChg>
      <pc:sldChg chg="modSp new mod">
        <pc:chgData name="Waldemar Hoff" userId="bacb8968-6b42-45e3-b232-453b0d6bde59" providerId="ADAL" clId="{F8C1E58B-402C-4ED2-AD69-E062B24CC05A}" dt="2025-12-01T20:30:38.962" v="7942" actId="2"/>
        <pc:sldMkLst>
          <pc:docMk/>
          <pc:sldMk cId="856082696" sldId="302"/>
        </pc:sldMkLst>
        <pc:spChg chg="mod">
          <ac:chgData name="Waldemar Hoff" userId="bacb8968-6b42-45e3-b232-453b0d6bde59" providerId="ADAL" clId="{F8C1E58B-402C-4ED2-AD69-E062B24CC05A}" dt="2025-11-24T15:56:49.066" v="4543" actId="207"/>
          <ac:spMkLst>
            <pc:docMk/>
            <pc:sldMk cId="856082696" sldId="302"/>
            <ac:spMk id="2" creationId="{E1525107-0732-28FA-DE71-965ADA338834}"/>
          </ac:spMkLst>
        </pc:spChg>
        <pc:spChg chg="mod">
          <ac:chgData name="Waldemar Hoff" userId="bacb8968-6b42-45e3-b232-453b0d6bde59" providerId="ADAL" clId="{F8C1E58B-402C-4ED2-AD69-E062B24CC05A}" dt="2025-12-01T20:30:38.962" v="7942" actId="2"/>
          <ac:spMkLst>
            <pc:docMk/>
            <pc:sldMk cId="856082696" sldId="302"/>
            <ac:spMk id="3" creationId="{F6F61179-A1D2-C666-346F-2762E4EA36F1}"/>
          </ac:spMkLst>
        </pc:spChg>
      </pc:sldChg>
      <pc:sldChg chg="modSp new mod">
        <pc:chgData name="Waldemar Hoff" userId="bacb8968-6b42-45e3-b232-453b0d6bde59" providerId="ADAL" clId="{F8C1E58B-402C-4ED2-AD69-E062B24CC05A}" dt="2025-12-01T20:30:39.290" v="7943" actId="2"/>
        <pc:sldMkLst>
          <pc:docMk/>
          <pc:sldMk cId="4229294134" sldId="303"/>
        </pc:sldMkLst>
        <pc:spChg chg="mod">
          <ac:chgData name="Waldemar Hoff" userId="bacb8968-6b42-45e3-b232-453b0d6bde59" providerId="ADAL" clId="{F8C1E58B-402C-4ED2-AD69-E062B24CC05A}" dt="2025-11-24T15:56:44.460" v="4542" actId="207"/>
          <ac:spMkLst>
            <pc:docMk/>
            <pc:sldMk cId="4229294134" sldId="303"/>
            <ac:spMk id="2" creationId="{E7AADD2B-549F-E9E1-1A35-9FBB460783B5}"/>
          </ac:spMkLst>
        </pc:spChg>
        <pc:spChg chg="mod">
          <ac:chgData name="Waldemar Hoff" userId="bacb8968-6b42-45e3-b232-453b0d6bde59" providerId="ADAL" clId="{F8C1E58B-402C-4ED2-AD69-E062B24CC05A}" dt="2025-12-01T20:30:39.290" v="7943" actId="2"/>
          <ac:spMkLst>
            <pc:docMk/>
            <pc:sldMk cId="4229294134" sldId="303"/>
            <ac:spMk id="3" creationId="{C2330486-A2FC-5B0A-69D7-A6E1C3CBA313}"/>
          </ac:spMkLst>
        </pc:spChg>
      </pc:sldChg>
      <pc:sldChg chg="modSp new mod">
        <pc:chgData name="Waldemar Hoff" userId="bacb8968-6b42-45e3-b232-453b0d6bde59" providerId="ADAL" clId="{F8C1E58B-402C-4ED2-AD69-E062B24CC05A}" dt="2025-11-24T16:14:55.221" v="5070"/>
        <pc:sldMkLst>
          <pc:docMk/>
          <pc:sldMk cId="2520906475" sldId="304"/>
        </pc:sldMkLst>
        <pc:spChg chg="mod">
          <ac:chgData name="Waldemar Hoff" userId="bacb8968-6b42-45e3-b232-453b0d6bde59" providerId="ADAL" clId="{F8C1E58B-402C-4ED2-AD69-E062B24CC05A}" dt="2025-11-24T16:14:20.237" v="5012" actId="255"/>
          <ac:spMkLst>
            <pc:docMk/>
            <pc:sldMk cId="2520906475" sldId="304"/>
            <ac:spMk id="2" creationId="{FFA81C8B-F238-8F9D-A542-EE751AE30725}"/>
          </ac:spMkLst>
        </pc:spChg>
        <pc:spChg chg="mod">
          <ac:chgData name="Waldemar Hoff" userId="bacb8968-6b42-45e3-b232-453b0d6bde59" providerId="ADAL" clId="{F8C1E58B-402C-4ED2-AD69-E062B24CC05A}" dt="2025-11-24T16:14:55.221" v="5070"/>
          <ac:spMkLst>
            <pc:docMk/>
            <pc:sldMk cId="2520906475" sldId="304"/>
            <ac:spMk id="3" creationId="{F48D4563-41B1-69EA-233D-275BF29AF48C}"/>
          </ac:spMkLst>
        </pc:spChg>
      </pc:sldChg>
      <pc:sldChg chg="modSp new mod">
        <pc:chgData name="Waldemar Hoff" userId="bacb8968-6b42-45e3-b232-453b0d6bde59" providerId="ADAL" clId="{F8C1E58B-402C-4ED2-AD69-E062B24CC05A}" dt="2025-12-01T20:30:39.845" v="7944" actId="2"/>
        <pc:sldMkLst>
          <pc:docMk/>
          <pc:sldMk cId="3698325321" sldId="305"/>
        </pc:sldMkLst>
        <pc:spChg chg="mod">
          <ac:chgData name="Waldemar Hoff" userId="bacb8968-6b42-45e3-b232-453b0d6bde59" providerId="ADAL" clId="{F8C1E58B-402C-4ED2-AD69-E062B24CC05A}" dt="2025-11-24T16:19:38.743" v="5158" actId="255"/>
          <ac:spMkLst>
            <pc:docMk/>
            <pc:sldMk cId="3698325321" sldId="305"/>
            <ac:spMk id="2" creationId="{5E82D5F9-8A51-1CB8-ADB1-D967E5AFDE43}"/>
          </ac:spMkLst>
        </pc:spChg>
        <pc:spChg chg="mod">
          <ac:chgData name="Waldemar Hoff" userId="bacb8968-6b42-45e3-b232-453b0d6bde59" providerId="ADAL" clId="{F8C1E58B-402C-4ED2-AD69-E062B24CC05A}" dt="2025-12-01T20:30:39.845" v="7944" actId="2"/>
          <ac:spMkLst>
            <pc:docMk/>
            <pc:sldMk cId="3698325321" sldId="305"/>
            <ac:spMk id="3" creationId="{31D7BCB6-C139-DACD-B6B0-2B1574F89682}"/>
          </ac:spMkLst>
        </pc:spChg>
      </pc:sldChg>
      <pc:sldChg chg="modSp new mod">
        <pc:chgData name="Waldemar Hoff" userId="bacb8968-6b42-45e3-b232-453b0d6bde59" providerId="ADAL" clId="{F8C1E58B-402C-4ED2-AD69-E062B24CC05A}" dt="2025-12-01T20:30:40.386" v="7945" actId="2"/>
        <pc:sldMkLst>
          <pc:docMk/>
          <pc:sldMk cId="2204343859" sldId="306"/>
        </pc:sldMkLst>
        <pc:spChg chg="mod">
          <ac:chgData name="Waldemar Hoff" userId="bacb8968-6b42-45e3-b232-453b0d6bde59" providerId="ADAL" clId="{F8C1E58B-402C-4ED2-AD69-E062B24CC05A}" dt="2025-11-24T16:19:46.679" v="5160" actId="255"/>
          <ac:spMkLst>
            <pc:docMk/>
            <pc:sldMk cId="2204343859" sldId="306"/>
            <ac:spMk id="2" creationId="{D4615AB5-C42A-3AC1-3659-95C8684C3344}"/>
          </ac:spMkLst>
        </pc:spChg>
        <pc:spChg chg="mod">
          <ac:chgData name="Waldemar Hoff" userId="bacb8968-6b42-45e3-b232-453b0d6bde59" providerId="ADAL" clId="{F8C1E58B-402C-4ED2-AD69-E062B24CC05A}" dt="2025-12-01T20:30:40.386" v="7945" actId="2"/>
          <ac:spMkLst>
            <pc:docMk/>
            <pc:sldMk cId="2204343859" sldId="306"/>
            <ac:spMk id="3" creationId="{E740AF81-36A9-AD5D-5461-322AE0E12D28}"/>
          </ac:spMkLst>
        </pc:spChg>
      </pc:sldChg>
      <pc:sldChg chg="modSp new mod">
        <pc:chgData name="Waldemar Hoff" userId="bacb8968-6b42-45e3-b232-453b0d6bde59" providerId="ADAL" clId="{F8C1E58B-402C-4ED2-AD69-E062B24CC05A}" dt="2025-12-01T20:30:41.958" v="7949" actId="2"/>
        <pc:sldMkLst>
          <pc:docMk/>
          <pc:sldMk cId="1539042682" sldId="307"/>
        </pc:sldMkLst>
        <pc:spChg chg="mod">
          <ac:chgData name="Waldemar Hoff" userId="bacb8968-6b42-45e3-b232-453b0d6bde59" providerId="ADAL" clId="{F8C1E58B-402C-4ED2-AD69-E062B24CC05A}" dt="2025-11-24T16:19:58.908" v="5163" actId="255"/>
          <ac:spMkLst>
            <pc:docMk/>
            <pc:sldMk cId="1539042682" sldId="307"/>
            <ac:spMk id="2" creationId="{FD7518F8-9072-BD22-B149-823066235321}"/>
          </ac:spMkLst>
        </pc:spChg>
        <pc:spChg chg="mod">
          <ac:chgData name="Waldemar Hoff" userId="bacb8968-6b42-45e3-b232-453b0d6bde59" providerId="ADAL" clId="{F8C1E58B-402C-4ED2-AD69-E062B24CC05A}" dt="2025-12-01T20:30:41.958" v="7949" actId="2"/>
          <ac:spMkLst>
            <pc:docMk/>
            <pc:sldMk cId="1539042682" sldId="307"/>
            <ac:spMk id="3" creationId="{9AA13B15-EA67-59A4-3D21-3570E80AC7AE}"/>
          </ac:spMkLst>
        </pc:spChg>
      </pc:sldChg>
      <pc:sldChg chg="modSp new mod">
        <pc:chgData name="Waldemar Hoff" userId="bacb8968-6b42-45e3-b232-453b0d6bde59" providerId="ADAL" clId="{F8C1E58B-402C-4ED2-AD69-E062B24CC05A}" dt="2025-12-02T07:04:51.676" v="8403" actId="13926"/>
        <pc:sldMkLst>
          <pc:docMk/>
          <pc:sldMk cId="728571150" sldId="308"/>
        </pc:sldMkLst>
        <pc:spChg chg="mod">
          <ac:chgData name="Waldemar Hoff" userId="bacb8968-6b42-45e3-b232-453b0d6bde59" providerId="ADAL" clId="{F8C1E58B-402C-4ED2-AD69-E062B24CC05A}" dt="2025-12-01T18:50:09.384" v="5406"/>
          <ac:spMkLst>
            <pc:docMk/>
            <pc:sldMk cId="728571150" sldId="308"/>
            <ac:spMk id="2" creationId="{657E2A23-2956-F603-58C0-1163D97E9ACE}"/>
          </ac:spMkLst>
        </pc:spChg>
        <pc:spChg chg="mod">
          <ac:chgData name="Waldemar Hoff" userId="bacb8968-6b42-45e3-b232-453b0d6bde59" providerId="ADAL" clId="{F8C1E58B-402C-4ED2-AD69-E062B24CC05A}" dt="2025-12-02T07:04:51.676" v="8403" actId="13926"/>
          <ac:spMkLst>
            <pc:docMk/>
            <pc:sldMk cId="728571150" sldId="308"/>
            <ac:spMk id="3" creationId="{0D37BA37-3298-464C-F7B8-1389347E75F8}"/>
          </ac:spMkLst>
        </pc:spChg>
      </pc:sldChg>
      <pc:sldChg chg="modSp new mod">
        <pc:chgData name="Waldemar Hoff" userId="bacb8968-6b42-45e3-b232-453b0d6bde59" providerId="ADAL" clId="{F8C1E58B-402C-4ED2-AD69-E062B24CC05A}" dt="2025-12-02T07:07:18.031" v="8418" actId="13926"/>
        <pc:sldMkLst>
          <pc:docMk/>
          <pc:sldMk cId="2693199191" sldId="309"/>
        </pc:sldMkLst>
        <pc:spChg chg="mod">
          <ac:chgData name="Waldemar Hoff" userId="bacb8968-6b42-45e3-b232-453b0d6bde59" providerId="ADAL" clId="{F8C1E58B-402C-4ED2-AD69-E062B24CC05A}" dt="2025-12-01T20:27:44.210" v="7733" actId="2"/>
          <ac:spMkLst>
            <pc:docMk/>
            <pc:sldMk cId="2693199191" sldId="309"/>
            <ac:spMk id="2" creationId="{801CDAA1-9DA3-EFE9-13CE-018298F4F62B}"/>
          </ac:spMkLst>
        </pc:spChg>
        <pc:spChg chg="mod">
          <ac:chgData name="Waldemar Hoff" userId="bacb8968-6b42-45e3-b232-453b0d6bde59" providerId="ADAL" clId="{F8C1E58B-402C-4ED2-AD69-E062B24CC05A}" dt="2025-12-02T07:07:18.031" v="8418" actId="13926"/>
          <ac:spMkLst>
            <pc:docMk/>
            <pc:sldMk cId="2693199191" sldId="309"/>
            <ac:spMk id="3" creationId="{65B9F848-7063-0C34-B55E-4EB8BE3C78C8}"/>
          </ac:spMkLst>
        </pc:spChg>
      </pc:sldChg>
      <pc:sldChg chg="modSp new mod">
        <pc:chgData name="Waldemar Hoff" userId="bacb8968-6b42-45e3-b232-453b0d6bde59" providerId="ADAL" clId="{F8C1E58B-402C-4ED2-AD69-E062B24CC05A}" dt="2025-12-02T07:25:33.631" v="8817" actId="13926"/>
        <pc:sldMkLst>
          <pc:docMk/>
          <pc:sldMk cId="2892366328" sldId="310"/>
        </pc:sldMkLst>
        <pc:spChg chg="mod">
          <ac:chgData name="Waldemar Hoff" userId="bacb8968-6b42-45e3-b232-453b0d6bde59" providerId="ADAL" clId="{F8C1E58B-402C-4ED2-AD69-E062B24CC05A}" dt="2025-12-01T19:42:35.766" v="6315"/>
          <ac:spMkLst>
            <pc:docMk/>
            <pc:sldMk cId="2892366328" sldId="310"/>
            <ac:spMk id="2" creationId="{CB848AA2-0D94-1936-15CC-892F79B6D440}"/>
          </ac:spMkLst>
        </pc:spChg>
        <pc:spChg chg="mod">
          <ac:chgData name="Waldemar Hoff" userId="bacb8968-6b42-45e3-b232-453b0d6bde59" providerId="ADAL" clId="{F8C1E58B-402C-4ED2-AD69-E062B24CC05A}" dt="2025-12-02T07:25:33.631" v="8817" actId="13926"/>
          <ac:spMkLst>
            <pc:docMk/>
            <pc:sldMk cId="2892366328" sldId="310"/>
            <ac:spMk id="3" creationId="{40D6A6EE-3EA6-655A-2DB0-319A29F84871}"/>
          </ac:spMkLst>
        </pc:spChg>
      </pc:sldChg>
      <pc:sldChg chg="modSp new mod">
        <pc:chgData name="Waldemar Hoff" userId="bacb8968-6b42-45e3-b232-453b0d6bde59" providerId="ADAL" clId="{F8C1E58B-402C-4ED2-AD69-E062B24CC05A}" dt="2025-12-02T07:28:10.632" v="8847" actId="255"/>
        <pc:sldMkLst>
          <pc:docMk/>
          <pc:sldMk cId="2492312355" sldId="311"/>
        </pc:sldMkLst>
        <pc:spChg chg="mod">
          <ac:chgData name="Waldemar Hoff" userId="bacb8968-6b42-45e3-b232-453b0d6bde59" providerId="ADAL" clId="{F8C1E58B-402C-4ED2-AD69-E062B24CC05A}" dt="2025-12-01T19:48:14.104" v="6400" actId="27636"/>
          <ac:spMkLst>
            <pc:docMk/>
            <pc:sldMk cId="2492312355" sldId="311"/>
            <ac:spMk id="2" creationId="{514EB150-A474-20C6-EE5C-5F7CE8A70FD5}"/>
          </ac:spMkLst>
        </pc:spChg>
        <pc:spChg chg="mod">
          <ac:chgData name="Waldemar Hoff" userId="bacb8968-6b42-45e3-b232-453b0d6bde59" providerId="ADAL" clId="{F8C1E58B-402C-4ED2-AD69-E062B24CC05A}" dt="2025-12-02T07:28:10.632" v="8847" actId="255"/>
          <ac:spMkLst>
            <pc:docMk/>
            <pc:sldMk cId="2492312355" sldId="311"/>
            <ac:spMk id="3" creationId="{1D045655-CCA0-B23A-E91A-7E23462C05CB}"/>
          </ac:spMkLst>
        </pc:spChg>
      </pc:sldChg>
      <pc:sldChg chg="modSp new mod">
        <pc:chgData name="Waldemar Hoff" userId="bacb8968-6b42-45e3-b232-453b0d6bde59" providerId="ADAL" clId="{F8C1E58B-402C-4ED2-AD69-E062B24CC05A}" dt="2025-12-02T07:31:08.922" v="8870" actId="207"/>
        <pc:sldMkLst>
          <pc:docMk/>
          <pc:sldMk cId="3786603468" sldId="312"/>
        </pc:sldMkLst>
        <pc:spChg chg="mod">
          <ac:chgData name="Waldemar Hoff" userId="bacb8968-6b42-45e3-b232-453b0d6bde59" providerId="ADAL" clId="{F8C1E58B-402C-4ED2-AD69-E062B24CC05A}" dt="2025-12-01T20:29:49.043" v="7866" actId="2"/>
          <ac:spMkLst>
            <pc:docMk/>
            <pc:sldMk cId="3786603468" sldId="312"/>
            <ac:spMk id="2" creationId="{C16E7A44-4488-A49D-70FB-C581069E79A0}"/>
          </ac:spMkLst>
        </pc:spChg>
        <pc:spChg chg="mod">
          <ac:chgData name="Waldemar Hoff" userId="bacb8968-6b42-45e3-b232-453b0d6bde59" providerId="ADAL" clId="{F8C1E58B-402C-4ED2-AD69-E062B24CC05A}" dt="2025-12-02T07:31:08.922" v="8870" actId="207"/>
          <ac:spMkLst>
            <pc:docMk/>
            <pc:sldMk cId="3786603468" sldId="312"/>
            <ac:spMk id="3" creationId="{6C8AACEF-16A2-9989-B4CE-D6632BCDAD94}"/>
          </ac:spMkLst>
        </pc:spChg>
      </pc:sldChg>
      <pc:sldChg chg="modSp new mod">
        <pc:chgData name="Waldemar Hoff" userId="bacb8968-6b42-45e3-b232-453b0d6bde59" providerId="ADAL" clId="{F8C1E58B-402C-4ED2-AD69-E062B24CC05A}" dt="2025-12-02T07:01:46.687" v="8300" actId="20577"/>
        <pc:sldMkLst>
          <pc:docMk/>
          <pc:sldMk cId="835157744" sldId="313"/>
        </pc:sldMkLst>
        <pc:spChg chg="mod">
          <ac:chgData name="Waldemar Hoff" userId="bacb8968-6b42-45e3-b232-453b0d6bde59" providerId="ADAL" clId="{F8C1E58B-402C-4ED2-AD69-E062B24CC05A}" dt="2025-12-02T07:00:33.271" v="8203"/>
          <ac:spMkLst>
            <pc:docMk/>
            <pc:sldMk cId="835157744" sldId="313"/>
            <ac:spMk id="2" creationId="{7C7C18FE-F5DE-2CA5-6BD4-EC7B9FF19BAB}"/>
          </ac:spMkLst>
        </pc:spChg>
        <pc:spChg chg="mod">
          <ac:chgData name="Waldemar Hoff" userId="bacb8968-6b42-45e3-b232-453b0d6bde59" providerId="ADAL" clId="{F8C1E58B-402C-4ED2-AD69-E062B24CC05A}" dt="2025-12-02T07:01:46.687" v="8300" actId="20577"/>
          <ac:spMkLst>
            <pc:docMk/>
            <pc:sldMk cId="835157744" sldId="313"/>
            <ac:spMk id="3" creationId="{F081D70A-54BC-E564-A0FC-6D2E17ADC005}"/>
          </ac:spMkLst>
        </pc:spChg>
      </pc:sldChg>
      <pc:sldChg chg="modSp new mod">
        <pc:chgData name="Waldemar Hoff" userId="bacb8968-6b42-45e3-b232-453b0d6bde59" providerId="ADAL" clId="{F8C1E58B-402C-4ED2-AD69-E062B24CC05A}" dt="2025-12-02T07:29:00.329" v="8851" actId="113"/>
        <pc:sldMkLst>
          <pc:docMk/>
          <pc:sldMk cId="2301154186" sldId="314"/>
        </pc:sldMkLst>
        <pc:spChg chg="mod">
          <ac:chgData name="Waldemar Hoff" userId="bacb8968-6b42-45e3-b232-453b0d6bde59" providerId="ADAL" clId="{F8C1E58B-402C-4ED2-AD69-E062B24CC05A}" dt="2025-12-01T20:33:36.883" v="8135" actId="255"/>
          <ac:spMkLst>
            <pc:docMk/>
            <pc:sldMk cId="2301154186" sldId="314"/>
            <ac:spMk id="2" creationId="{DAAD5F9E-18D6-2E69-3219-73244A6D5648}"/>
          </ac:spMkLst>
        </pc:spChg>
        <pc:spChg chg="mod">
          <ac:chgData name="Waldemar Hoff" userId="bacb8968-6b42-45e3-b232-453b0d6bde59" providerId="ADAL" clId="{F8C1E58B-402C-4ED2-AD69-E062B24CC05A}" dt="2025-12-02T07:29:00.329" v="8851" actId="113"/>
          <ac:spMkLst>
            <pc:docMk/>
            <pc:sldMk cId="2301154186" sldId="314"/>
            <ac:spMk id="3" creationId="{3FE59ECC-5929-8908-B1DE-5B00FC20A57C}"/>
          </ac:spMkLst>
        </pc:spChg>
      </pc:sldChg>
      <pc:sldChg chg="modSp new mod">
        <pc:chgData name="Waldemar Hoff" userId="bacb8968-6b42-45e3-b232-453b0d6bde59" providerId="ADAL" clId="{F8C1E58B-402C-4ED2-AD69-E062B24CC05A}" dt="2025-12-02T07:37:20.512" v="9002" actId="255"/>
        <pc:sldMkLst>
          <pc:docMk/>
          <pc:sldMk cId="761599613" sldId="315"/>
        </pc:sldMkLst>
        <pc:spChg chg="mod">
          <ac:chgData name="Waldemar Hoff" userId="bacb8968-6b42-45e3-b232-453b0d6bde59" providerId="ADAL" clId="{F8C1E58B-402C-4ED2-AD69-E062B24CC05A}" dt="2025-12-02T07:37:13.840" v="9001" actId="27636"/>
          <ac:spMkLst>
            <pc:docMk/>
            <pc:sldMk cId="761599613" sldId="315"/>
            <ac:spMk id="2" creationId="{DA959FF1-511C-FA66-2308-644E89B25BFB}"/>
          </ac:spMkLst>
        </pc:spChg>
        <pc:spChg chg="mod">
          <ac:chgData name="Waldemar Hoff" userId="bacb8968-6b42-45e3-b232-453b0d6bde59" providerId="ADAL" clId="{F8C1E58B-402C-4ED2-AD69-E062B24CC05A}" dt="2025-12-02T07:37:20.512" v="9002" actId="255"/>
          <ac:spMkLst>
            <pc:docMk/>
            <pc:sldMk cId="761599613" sldId="315"/>
            <ac:spMk id="3" creationId="{FEFC898E-4617-B8A2-B028-E837D7A73A4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D396DCD-AC10-DD09-FB94-3FDA68356A38}"/>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US"/>
          </a:p>
        </p:txBody>
      </p:sp>
      <p:sp>
        <p:nvSpPr>
          <p:cNvPr id="3" name="Podtytuł 2">
            <a:extLst>
              <a:ext uri="{FF2B5EF4-FFF2-40B4-BE49-F238E27FC236}">
                <a16:creationId xmlns:a16="http://schemas.microsoft.com/office/drawing/2014/main" id="{4A14C85E-88CF-1973-7489-B4C185EC9E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US"/>
          </a:p>
        </p:txBody>
      </p:sp>
      <p:sp>
        <p:nvSpPr>
          <p:cNvPr id="4" name="Symbol zastępczy daty 3">
            <a:extLst>
              <a:ext uri="{FF2B5EF4-FFF2-40B4-BE49-F238E27FC236}">
                <a16:creationId xmlns:a16="http://schemas.microsoft.com/office/drawing/2014/main" id="{16187B35-CCBF-340F-00F7-AA484B12F6AA}"/>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5" name="Symbol zastępczy stopki 4">
            <a:extLst>
              <a:ext uri="{FF2B5EF4-FFF2-40B4-BE49-F238E27FC236}">
                <a16:creationId xmlns:a16="http://schemas.microsoft.com/office/drawing/2014/main" id="{584CBEEF-E0B8-4DAD-9706-EBEEB0A78E9A}"/>
              </a:ext>
            </a:extLst>
          </p:cNvPr>
          <p:cNvSpPr>
            <a:spLocks noGrp="1"/>
          </p:cNvSpPr>
          <p:nvPr>
            <p:ph type="ftr" sz="quarter" idx="11"/>
          </p:nvPr>
        </p:nvSpPr>
        <p:spPr/>
        <p:txBody>
          <a:bodyPr/>
          <a:lstStyle/>
          <a:p>
            <a:endParaRPr lang="en-US" dirty="0"/>
          </a:p>
        </p:txBody>
      </p:sp>
      <p:sp>
        <p:nvSpPr>
          <p:cNvPr id="6" name="Symbol zastępczy numeru slajdu 5">
            <a:extLst>
              <a:ext uri="{FF2B5EF4-FFF2-40B4-BE49-F238E27FC236}">
                <a16:creationId xmlns:a16="http://schemas.microsoft.com/office/drawing/2014/main" id="{CEBDCDE2-3323-4107-365E-5C5064633FF1}"/>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2307879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8318B28-E9D2-F7E8-3594-3B47C41DA818}"/>
              </a:ext>
            </a:extLst>
          </p:cNvPr>
          <p:cNvSpPr>
            <a:spLocks noGrp="1"/>
          </p:cNvSpPr>
          <p:nvPr>
            <p:ph type="title"/>
          </p:nvPr>
        </p:nvSpPr>
        <p:spPr/>
        <p:txBody>
          <a:bodyPr/>
          <a:lstStyle/>
          <a:p>
            <a:r>
              <a:rPr lang="pl-PL"/>
              <a:t>Kliknij, aby edytować styl</a:t>
            </a:r>
            <a:endParaRPr lang="en-US"/>
          </a:p>
        </p:txBody>
      </p:sp>
      <p:sp>
        <p:nvSpPr>
          <p:cNvPr id="3" name="Symbol zastępczy zawartości 2">
            <a:extLst>
              <a:ext uri="{FF2B5EF4-FFF2-40B4-BE49-F238E27FC236}">
                <a16:creationId xmlns:a16="http://schemas.microsoft.com/office/drawing/2014/main" id="{A779D18B-9E30-B4F2-436F-D3AE04B3CF78}"/>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1E072075-7D51-AE23-8C73-85760A918412}"/>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5" name="Symbol zastępczy stopki 4">
            <a:extLst>
              <a:ext uri="{FF2B5EF4-FFF2-40B4-BE49-F238E27FC236}">
                <a16:creationId xmlns:a16="http://schemas.microsoft.com/office/drawing/2014/main" id="{E053BF4B-EA25-0221-8DAE-403A27654E0B}"/>
              </a:ext>
            </a:extLst>
          </p:cNvPr>
          <p:cNvSpPr>
            <a:spLocks noGrp="1"/>
          </p:cNvSpPr>
          <p:nvPr>
            <p:ph type="ftr" sz="quarter" idx="11"/>
          </p:nvPr>
        </p:nvSpPr>
        <p:spPr/>
        <p:txBody>
          <a:bodyPr/>
          <a:lstStyle/>
          <a:p>
            <a:endParaRPr lang="en-US" dirty="0"/>
          </a:p>
        </p:txBody>
      </p:sp>
      <p:sp>
        <p:nvSpPr>
          <p:cNvPr id="6" name="Symbol zastępczy numeru slajdu 5">
            <a:extLst>
              <a:ext uri="{FF2B5EF4-FFF2-40B4-BE49-F238E27FC236}">
                <a16:creationId xmlns:a16="http://schemas.microsoft.com/office/drawing/2014/main" id="{26DF2031-36A6-5A2F-D527-49513FB137B4}"/>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454768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884B77A-C626-73A6-8E06-2FE7F6E2CEC1}"/>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US"/>
          </a:p>
        </p:txBody>
      </p:sp>
      <p:sp>
        <p:nvSpPr>
          <p:cNvPr id="3" name="Symbol zastępczy tekstu 2">
            <a:extLst>
              <a:ext uri="{FF2B5EF4-FFF2-40B4-BE49-F238E27FC236}">
                <a16:creationId xmlns:a16="http://schemas.microsoft.com/office/drawing/2014/main" id="{570F1887-57D9-BA6E-82F7-991B656AEB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82FA493A-5D16-FE14-D166-78E065AB7F0F}"/>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5" name="Symbol zastępczy stopki 4">
            <a:extLst>
              <a:ext uri="{FF2B5EF4-FFF2-40B4-BE49-F238E27FC236}">
                <a16:creationId xmlns:a16="http://schemas.microsoft.com/office/drawing/2014/main" id="{D52BBCB6-A1B2-AB6D-1B7A-1044ACCFB6EF}"/>
              </a:ext>
            </a:extLst>
          </p:cNvPr>
          <p:cNvSpPr>
            <a:spLocks noGrp="1"/>
          </p:cNvSpPr>
          <p:nvPr>
            <p:ph type="ftr" sz="quarter" idx="11"/>
          </p:nvPr>
        </p:nvSpPr>
        <p:spPr/>
        <p:txBody>
          <a:bodyPr/>
          <a:lstStyle/>
          <a:p>
            <a:endParaRPr lang="en-US" dirty="0"/>
          </a:p>
        </p:txBody>
      </p:sp>
      <p:sp>
        <p:nvSpPr>
          <p:cNvPr id="6" name="Symbol zastępczy numeru slajdu 5">
            <a:extLst>
              <a:ext uri="{FF2B5EF4-FFF2-40B4-BE49-F238E27FC236}">
                <a16:creationId xmlns:a16="http://schemas.microsoft.com/office/drawing/2014/main" id="{E39AC6E3-5639-15CE-8A4D-ACA311519D9D}"/>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1349851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CEF907-9B21-C999-193F-6ECBB5769297}"/>
              </a:ext>
            </a:extLst>
          </p:cNvPr>
          <p:cNvSpPr>
            <a:spLocks noGrp="1"/>
          </p:cNvSpPr>
          <p:nvPr>
            <p:ph type="title"/>
          </p:nvPr>
        </p:nvSpPr>
        <p:spPr/>
        <p:txBody>
          <a:bodyPr/>
          <a:lstStyle/>
          <a:p>
            <a:r>
              <a:rPr lang="pl-PL"/>
              <a:t>Kliknij, aby edytować styl</a:t>
            </a:r>
            <a:endParaRPr lang="en-US"/>
          </a:p>
        </p:txBody>
      </p:sp>
      <p:sp>
        <p:nvSpPr>
          <p:cNvPr id="3" name="Symbol zastępczy zawartości 2">
            <a:extLst>
              <a:ext uri="{FF2B5EF4-FFF2-40B4-BE49-F238E27FC236}">
                <a16:creationId xmlns:a16="http://schemas.microsoft.com/office/drawing/2014/main" id="{EB9B934B-AD20-0C92-A664-46748B7D17C0}"/>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zawartości 3">
            <a:extLst>
              <a:ext uri="{FF2B5EF4-FFF2-40B4-BE49-F238E27FC236}">
                <a16:creationId xmlns:a16="http://schemas.microsoft.com/office/drawing/2014/main" id="{C23C4AF0-7825-F3C9-31FC-EC19904658C2}"/>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Symbol zastępczy daty 4">
            <a:extLst>
              <a:ext uri="{FF2B5EF4-FFF2-40B4-BE49-F238E27FC236}">
                <a16:creationId xmlns:a16="http://schemas.microsoft.com/office/drawing/2014/main" id="{C6C90F65-BDB2-C390-5F01-29316CE91236}"/>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6" name="Symbol zastępczy stopki 5">
            <a:extLst>
              <a:ext uri="{FF2B5EF4-FFF2-40B4-BE49-F238E27FC236}">
                <a16:creationId xmlns:a16="http://schemas.microsoft.com/office/drawing/2014/main" id="{089078EB-5881-2958-4F5D-06B6CC007F70}"/>
              </a:ext>
            </a:extLst>
          </p:cNvPr>
          <p:cNvSpPr>
            <a:spLocks noGrp="1"/>
          </p:cNvSpPr>
          <p:nvPr>
            <p:ph type="ftr" sz="quarter" idx="11"/>
          </p:nvPr>
        </p:nvSpPr>
        <p:spPr/>
        <p:txBody>
          <a:bodyPr/>
          <a:lstStyle/>
          <a:p>
            <a:endParaRPr lang="en-US" dirty="0"/>
          </a:p>
        </p:txBody>
      </p:sp>
      <p:sp>
        <p:nvSpPr>
          <p:cNvPr id="7" name="Symbol zastępczy numeru slajdu 6">
            <a:extLst>
              <a:ext uri="{FF2B5EF4-FFF2-40B4-BE49-F238E27FC236}">
                <a16:creationId xmlns:a16="http://schemas.microsoft.com/office/drawing/2014/main" id="{50EC263B-CF09-FC61-3928-F3D7443EA85F}"/>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3434130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884E924-AEE0-8F3A-A985-A5C891DACB1C}"/>
              </a:ext>
            </a:extLst>
          </p:cNvPr>
          <p:cNvSpPr>
            <a:spLocks noGrp="1"/>
          </p:cNvSpPr>
          <p:nvPr>
            <p:ph type="title"/>
          </p:nvPr>
        </p:nvSpPr>
        <p:spPr>
          <a:xfrm>
            <a:off x="839788" y="365125"/>
            <a:ext cx="10515600" cy="1325563"/>
          </a:xfrm>
        </p:spPr>
        <p:txBody>
          <a:bodyPr/>
          <a:lstStyle/>
          <a:p>
            <a:r>
              <a:rPr lang="pl-PL"/>
              <a:t>Kliknij, aby edytować styl</a:t>
            </a:r>
            <a:endParaRPr lang="en-US"/>
          </a:p>
        </p:txBody>
      </p:sp>
      <p:sp>
        <p:nvSpPr>
          <p:cNvPr id="3" name="Symbol zastępczy tekstu 2">
            <a:extLst>
              <a:ext uri="{FF2B5EF4-FFF2-40B4-BE49-F238E27FC236}">
                <a16:creationId xmlns:a16="http://schemas.microsoft.com/office/drawing/2014/main" id="{10044FDA-DC56-BA00-E8FF-C20583D873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25174581-0639-9002-1696-1D098D6451BB}"/>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Symbol zastępczy tekstu 4">
            <a:extLst>
              <a:ext uri="{FF2B5EF4-FFF2-40B4-BE49-F238E27FC236}">
                <a16:creationId xmlns:a16="http://schemas.microsoft.com/office/drawing/2014/main" id="{4CB4402B-888F-6749-1C14-64544EFDED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A6CC9095-AEA0-33EE-54D4-B85EA0D2B575}"/>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Symbol zastępczy daty 6">
            <a:extLst>
              <a:ext uri="{FF2B5EF4-FFF2-40B4-BE49-F238E27FC236}">
                <a16:creationId xmlns:a16="http://schemas.microsoft.com/office/drawing/2014/main" id="{66176445-82C1-3A31-B800-EDB4F9792759}"/>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8" name="Symbol zastępczy stopki 7">
            <a:extLst>
              <a:ext uri="{FF2B5EF4-FFF2-40B4-BE49-F238E27FC236}">
                <a16:creationId xmlns:a16="http://schemas.microsoft.com/office/drawing/2014/main" id="{08A9C7B4-9F75-2541-E8E0-FC213A870B76}"/>
              </a:ext>
            </a:extLst>
          </p:cNvPr>
          <p:cNvSpPr>
            <a:spLocks noGrp="1"/>
          </p:cNvSpPr>
          <p:nvPr>
            <p:ph type="ftr" sz="quarter" idx="11"/>
          </p:nvPr>
        </p:nvSpPr>
        <p:spPr/>
        <p:txBody>
          <a:bodyPr/>
          <a:lstStyle/>
          <a:p>
            <a:endParaRPr lang="en-US" dirty="0"/>
          </a:p>
        </p:txBody>
      </p:sp>
      <p:sp>
        <p:nvSpPr>
          <p:cNvPr id="9" name="Symbol zastępczy numeru slajdu 8">
            <a:extLst>
              <a:ext uri="{FF2B5EF4-FFF2-40B4-BE49-F238E27FC236}">
                <a16:creationId xmlns:a16="http://schemas.microsoft.com/office/drawing/2014/main" id="{E4ED23AC-7C01-AF19-913B-A06A62F7B6B5}"/>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180345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E9C7165-88B8-F502-B0FE-EB7065DED4B0}"/>
              </a:ext>
            </a:extLst>
          </p:cNvPr>
          <p:cNvSpPr>
            <a:spLocks noGrp="1"/>
          </p:cNvSpPr>
          <p:nvPr>
            <p:ph type="title"/>
          </p:nvPr>
        </p:nvSpPr>
        <p:spPr/>
        <p:txBody>
          <a:bodyPr/>
          <a:lstStyle/>
          <a:p>
            <a:r>
              <a:rPr lang="pl-PL"/>
              <a:t>Kliknij, aby edytować styl</a:t>
            </a:r>
            <a:endParaRPr lang="en-US"/>
          </a:p>
        </p:txBody>
      </p:sp>
      <p:sp>
        <p:nvSpPr>
          <p:cNvPr id="3" name="Symbol zastępczy daty 2">
            <a:extLst>
              <a:ext uri="{FF2B5EF4-FFF2-40B4-BE49-F238E27FC236}">
                <a16:creationId xmlns:a16="http://schemas.microsoft.com/office/drawing/2014/main" id="{9F05EC4F-B781-56C7-F0BA-0022C2CD7CE9}"/>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4" name="Symbol zastępczy stopki 3">
            <a:extLst>
              <a:ext uri="{FF2B5EF4-FFF2-40B4-BE49-F238E27FC236}">
                <a16:creationId xmlns:a16="http://schemas.microsoft.com/office/drawing/2014/main" id="{9C649382-5C07-F402-7D51-F85E398E5701}"/>
              </a:ext>
            </a:extLst>
          </p:cNvPr>
          <p:cNvSpPr>
            <a:spLocks noGrp="1"/>
          </p:cNvSpPr>
          <p:nvPr>
            <p:ph type="ftr" sz="quarter" idx="11"/>
          </p:nvPr>
        </p:nvSpPr>
        <p:spPr/>
        <p:txBody>
          <a:bodyPr/>
          <a:lstStyle/>
          <a:p>
            <a:endParaRPr lang="en-US" dirty="0"/>
          </a:p>
        </p:txBody>
      </p:sp>
      <p:sp>
        <p:nvSpPr>
          <p:cNvPr id="5" name="Symbol zastępczy numeru slajdu 4">
            <a:extLst>
              <a:ext uri="{FF2B5EF4-FFF2-40B4-BE49-F238E27FC236}">
                <a16:creationId xmlns:a16="http://schemas.microsoft.com/office/drawing/2014/main" id="{237C6BFD-1A90-5BB8-CC85-6A3D55E7A4D1}"/>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3817936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DD82C961-84EE-C650-5488-8DB2C085B6E9}"/>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3" name="Symbol zastępczy stopki 2">
            <a:extLst>
              <a:ext uri="{FF2B5EF4-FFF2-40B4-BE49-F238E27FC236}">
                <a16:creationId xmlns:a16="http://schemas.microsoft.com/office/drawing/2014/main" id="{DA663C51-6EA2-D6BB-A6F1-38F8A41A1AF9}"/>
              </a:ext>
            </a:extLst>
          </p:cNvPr>
          <p:cNvSpPr>
            <a:spLocks noGrp="1"/>
          </p:cNvSpPr>
          <p:nvPr>
            <p:ph type="ftr" sz="quarter" idx="11"/>
          </p:nvPr>
        </p:nvSpPr>
        <p:spPr/>
        <p:txBody>
          <a:bodyPr/>
          <a:lstStyle/>
          <a:p>
            <a:endParaRPr lang="en-US" dirty="0"/>
          </a:p>
        </p:txBody>
      </p:sp>
      <p:sp>
        <p:nvSpPr>
          <p:cNvPr id="4" name="Symbol zastępczy numeru slajdu 3">
            <a:extLst>
              <a:ext uri="{FF2B5EF4-FFF2-40B4-BE49-F238E27FC236}">
                <a16:creationId xmlns:a16="http://schemas.microsoft.com/office/drawing/2014/main" id="{2645C49E-0CC7-D63F-DF6D-5BD63E36C7E9}"/>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1803151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7561B9-2248-7AEE-705A-5E87AB5BAA35}"/>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US"/>
          </a:p>
        </p:txBody>
      </p:sp>
      <p:sp>
        <p:nvSpPr>
          <p:cNvPr id="3" name="Symbol zastępczy zawartości 2">
            <a:extLst>
              <a:ext uri="{FF2B5EF4-FFF2-40B4-BE49-F238E27FC236}">
                <a16:creationId xmlns:a16="http://schemas.microsoft.com/office/drawing/2014/main" id="{E81F37E4-E7AD-8539-FF67-0347E0358B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tekstu 3">
            <a:extLst>
              <a:ext uri="{FF2B5EF4-FFF2-40B4-BE49-F238E27FC236}">
                <a16:creationId xmlns:a16="http://schemas.microsoft.com/office/drawing/2014/main" id="{2A3E5DFC-99D6-BEC9-DA7B-6F16F14E29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D8BC078D-2F62-8794-7E7C-4053858D5CEF}"/>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6" name="Symbol zastępczy stopki 5">
            <a:extLst>
              <a:ext uri="{FF2B5EF4-FFF2-40B4-BE49-F238E27FC236}">
                <a16:creationId xmlns:a16="http://schemas.microsoft.com/office/drawing/2014/main" id="{E5292380-E910-513D-3DDB-0050EF56BA89}"/>
              </a:ext>
            </a:extLst>
          </p:cNvPr>
          <p:cNvSpPr>
            <a:spLocks noGrp="1"/>
          </p:cNvSpPr>
          <p:nvPr>
            <p:ph type="ftr" sz="quarter" idx="11"/>
          </p:nvPr>
        </p:nvSpPr>
        <p:spPr/>
        <p:txBody>
          <a:bodyPr/>
          <a:lstStyle/>
          <a:p>
            <a:endParaRPr lang="en-US" dirty="0"/>
          </a:p>
        </p:txBody>
      </p:sp>
      <p:sp>
        <p:nvSpPr>
          <p:cNvPr id="7" name="Symbol zastępczy numeru slajdu 6">
            <a:extLst>
              <a:ext uri="{FF2B5EF4-FFF2-40B4-BE49-F238E27FC236}">
                <a16:creationId xmlns:a16="http://schemas.microsoft.com/office/drawing/2014/main" id="{A26860E9-424D-0997-A7B1-61888BC209ED}"/>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2703855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EF5A4EB-BD27-F0F0-2FC7-FFA6135E1256}"/>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US"/>
          </a:p>
        </p:txBody>
      </p:sp>
      <p:sp>
        <p:nvSpPr>
          <p:cNvPr id="3" name="Symbol zastępczy obrazu 2">
            <a:extLst>
              <a:ext uri="{FF2B5EF4-FFF2-40B4-BE49-F238E27FC236}">
                <a16:creationId xmlns:a16="http://schemas.microsoft.com/office/drawing/2014/main" id="{D9960135-4A7C-A191-B92F-E1C238CB07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Symbol zastępczy tekstu 3">
            <a:extLst>
              <a:ext uri="{FF2B5EF4-FFF2-40B4-BE49-F238E27FC236}">
                <a16:creationId xmlns:a16="http://schemas.microsoft.com/office/drawing/2014/main" id="{A1347C66-DBF3-2D9C-9FC8-A84A6B79B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07DE2FCA-9012-9F6B-E11B-55869CBF85D1}"/>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6" name="Symbol zastępczy stopki 5">
            <a:extLst>
              <a:ext uri="{FF2B5EF4-FFF2-40B4-BE49-F238E27FC236}">
                <a16:creationId xmlns:a16="http://schemas.microsoft.com/office/drawing/2014/main" id="{9FC2A1F0-8061-774B-A530-570376E0478E}"/>
              </a:ext>
            </a:extLst>
          </p:cNvPr>
          <p:cNvSpPr>
            <a:spLocks noGrp="1"/>
          </p:cNvSpPr>
          <p:nvPr>
            <p:ph type="ftr" sz="quarter" idx="11"/>
          </p:nvPr>
        </p:nvSpPr>
        <p:spPr/>
        <p:txBody>
          <a:bodyPr/>
          <a:lstStyle/>
          <a:p>
            <a:endParaRPr lang="en-US" dirty="0"/>
          </a:p>
        </p:txBody>
      </p:sp>
      <p:sp>
        <p:nvSpPr>
          <p:cNvPr id="7" name="Symbol zastępczy numeru slajdu 6">
            <a:extLst>
              <a:ext uri="{FF2B5EF4-FFF2-40B4-BE49-F238E27FC236}">
                <a16:creationId xmlns:a16="http://schemas.microsoft.com/office/drawing/2014/main" id="{3633FC32-1E34-EC49-C351-52486605D7BD}"/>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1914182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B0ADB35-B823-8DD6-B6D3-CADEAAA35AF9}"/>
              </a:ext>
            </a:extLst>
          </p:cNvPr>
          <p:cNvSpPr>
            <a:spLocks noGrp="1"/>
          </p:cNvSpPr>
          <p:nvPr>
            <p:ph type="title"/>
          </p:nvPr>
        </p:nvSpPr>
        <p:spPr/>
        <p:txBody>
          <a:bodyPr/>
          <a:lstStyle/>
          <a:p>
            <a:r>
              <a:rPr lang="pl-PL"/>
              <a:t>Kliknij, aby edytować styl</a:t>
            </a:r>
            <a:endParaRPr lang="en-US"/>
          </a:p>
        </p:txBody>
      </p:sp>
      <p:sp>
        <p:nvSpPr>
          <p:cNvPr id="3" name="Symbol zastępczy tytułu pionowego 2">
            <a:extLst>
              <a:ext uri="{FF2B5EF4-FFF2-40B4-BE49-F238E27FC236}">
                <a16:creationId xmlns:a16="http://schemas.microsoft.com/office/drawing/2014/main" id="{02B6587A-6216-43D1-F836-8129EB2A847D}"/>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5EFB7D4E-8C88-10C6-9CCF-1A8DD9CEDBF8}"/>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5" name="Symbol zastępczy stopki 4">
            <a:extLst>
              <a:ext uri="{FF2B5EF4-FFF2-40B4-BE49-F238E27FC236}">
                <a16:creationId xmlns:a16="http://schemas.microsoft.com/office/drawing/2014/main" id="{7E16BB41-739B-75E8-D231-7F8F84CFA33C}"/>
              </a:ext>
            </a:extLst>
          </p:cNvPr>
          <p:cNvSpPr>
            <a:spLocks noGrp="1"/>
          </p:cNvSpPr>
          <p:nvPr>
            <p:ph type="ftr" sz="quarter" idx="11"/>
          </p:nvPr>
        </p:nvSpPr>
        <p:spPr/>
        <p:txBody>
          <a:bodyPr/>
          <a:lstStyle/>
          <a:p>
            <a:endParaRPr lang="en-US" dirty="0"/>
          </a:p>
        </p:txBody>
      </p:sp>
      <p:sp>
        <p:nvSpPr>
          <p:cNvPr id="6" name="Symbol zastępczy numeru slajdu 5">
            <a:extLst>
              <a:ext uri="{FF2B5EF4-FFF2-40B4-BE49-F238E27FC236}">
                <a16:creationId xmlns:a16="http://schemas.microsoft.com/office/drawing/2014/main" id="{F330E15A-A44A-0D13-0483-CBB2512F559D}"/>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105762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0EA6BE50-05E4-AF18-E499-6D479AB7D7A8}"/>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US"/>
          </a:p>
        </p:txBody>
      </p:sp>
      <p:sp>
        <p:nvSpPr>
          <p:cNvPr id="3" name="Symbol zastępczy tytułu pionowego 2">
            <a:extLst>
              <a:ext uri="{FF2B5EF4-FFF2-40B4-BE49-F238E27FC236}">
                <a16:creationId xmlns:a16="http://schemas.microsoft.com/office/drawing/2014/main" id="{EE60164D-ABE4-6860-E5DE-213B8BF8A240}"/>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CEBBE94E-3337-F4E0-0E78-24A2F125379D}"/>
              </a:ext>
            </a:extLst>
          </p:cNvPr>
          <p:cNvSpPr>
            <a:spLocks noGrp="1"/>
          </p:cNvSpPr>
          <p:nvPr>
            <p:ph type="dt" sz="half" idx="10"/>
          </p:nvPr>
        </p:nvSpPr>
        <p:spPr/>
        <p:txBody>
          <a:bodyPr/>
          <a:lstStyle/>
          <a:p>
            <a:fld id="{F5754F85-3110-4F86-85EB-A3F73A9365F6}" type="datetimeFigureOut">
              <a:rPr lang="en-US" smtClean="0"/>
              <a:t>12/2/2025</a:t>
            </a:fld>
            <a:endParaRPr lang="en-US" dirty="0"/>
          </a:p>
        </p:txBody>
      </p:sp>
      <p:sp>
        <p:nvSpPr>
          <p:cNvPr id="5" name="Symbol zastępczy stopki 4">
            <a:extLst>
              <a:ext uri="{FF2B5EF4-FFF2-40B4-BE49-F238E27FC236}">
                <a16:creationId xmlns:a16="http://schemas.microsoft.com/office/drawing/2014/main" id="{D7D562AD-0E6B-6404-2DBE-6073A3F047C1}"/>
              </a:ext>
            </a:extLst>
          </p:cNvPr>
          <p:cNvSpPr>
            <a:spLocks noGrp="1"/>
          </p:cNvSpPr>
          <p:nvPr>
            <p:ph type="ftr" sz="quarter" idx="11"/>
          </p:nvPr>
        </p:nvSpPr>
        <p:spPr/>
        <p:txBody>
          <a:bodyPr/>
          <a:lstStyle/>
          <a:p>
            <a:endParaRPr lang="en-US" dirty="0"/>
          </a:p>
        </p:txBody>
      </p:sp>
      <p:sp>
        <p:nvSpPr>
          <p:cNvPr id="6" name="Symbol zastępczy numeru slajdu 5">
            <a:extLst>
              <a:ext uri="{FF2B5EF4-FFF2-40B4-BE49-F238E27FC236}">
                <a16:creationId xmlns:a16="http://schemas.microsoft.com/office/drawing/2014/main" id="{781E4F62-0397-44B6-3160-FB0AB4E86F33}"/>
              </a:ext>
            </a:extLst>
          </p:cNvPr>
          <p:cNvSpPr>
            <a:spLocks noGrp="1"/>
          </p:cNvSpPr>
          <p:nvPr>
            <p:ph type="sldNum" sz="quarter" idx="12"/>
          </p:nvPr>
        </p:nvSpPr>
        <p:spPr/>
        <p:txBody>
          <a:bodyPr/>
          <a:lstStyle/>
          <a:p>
            <a:fld id="{0C621944-BE62-403B-811F-2C453E499539}" type="slidenum">
              <a:rPr lang="en-US" smtClean="0"/>
              <a:t>‹#›</a:t>
            </a:fld>
            <a:endParaRPr lang="en-US" dirty="0"/>
          </a:p>
        </p:txBody>
      </p:sp>
    </p:spTree>
    <p:extLst>
      <p:ext uri="{BB962C8B-B14F-4D97-AF65-F5344CB8AC3E}">
        <p14:creationId xmlns:p14="http://schemas.microsoft.com/office/powerpoint/2010/main" val="1034427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C042794C-13F0-75AC-BF9C-91B787F2C7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US"/>
          </a:p>
        </p:txBody>
      </p:sp>
      <p:sp>
        <p:nvSpPr>
          <p:cNvPr id="3" name="Symbol zastępczy tekstu 2">
            <a:extLst>
              <a:ext uri="{FF2B5EF4-FFF2-40B4-BE49-F238E27FC236}">
                <a16:creationId xmlns:a16="http://schemas.microsoft.com/office/drawing/2014/main" id="{78D87C8F-80D3-25A1-40E9-86374FE3FE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Symbol zastępczy daty 3">
            <a:extLst>
              <a:ext uri="{FF2B5EF4-FFF2-40B4-BE49-F238E27FC236}">
                <a16:creationId xmlns:a16="http://schemas.microsoft.com/office/drawing/2014/main" id="{5C5BB253-CB9D-9C17-DEE1-96F77B0A9B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754F85-3110-4F86-85EB-A3F73A9365F6}" type="datetimeFigureOut">
              <a:rPr lang="en-US" smtClean="0"/>
              <a:t>12/2/2025</a:t>
            </a:fld>
            <a:endParaRPr lang="en-US" dirty="0"/>
          </a:p>
        </p:txBody>
      </p:sp>
      <p:sp>
        <p:nvSpPr>
          <p:cNvPr id="5" name="Symbol zastępczy stopki 4">
            <a:extLst>
              <a:ext uri="{FF2B5EF4-FFF2-40B4-BE49-F238E27FC236}">
                <a16:creationId xmlns:a16="http://schemas.microsoft.com/office/drawing/2014/main" id="{1C957782-AD4F-DF61-41C2-58AA1EC24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ymbol zastępczy numeru slajdu 5">
            <a:extLst>
              <a:ext uri="{FF2B5EF4-FFF2-40B4-BE49-F238E27FC236}">
                <a16:creationId xmlns:a16="http://schemas.microsoft.com/office/drawing/2014/main" id="{698175CF-7485-5823-4716-FC2FFF0E52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621944-BE62-403B-811F-2C453E499539}" type="slidenum">
              <a:rPr lang="en-US" smtClean="0"/>
              <a:t>‹#›</a:t>
            </a:fld>
            <a:endParaRPr lang="en-US" dirty="0"/>
          </a:p>
        </p:txBody>
      </p:sp>
    </p:spTree>
    <p:extLst>
      <p:ext uri="{BB962C8B-B14F-4D97-AF65-F5344CB8AC3E}">
        <p14:creationId xmlns:p14="http://schemas.microsoft.com/office/powerpoint/2010/main" val="3723642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C44819A-ECDF-3344-443B-A0343C17D5D2}"/>
              </a:ext>
            </a:extLst>
          </p:cNvPr>
          <p:cNvSpPr>
            <a:spLocks noGrp="1"/>
          </p:cNvSpPr>
          <p:nvPr>
            <p:ph type="ctrTitle"/>
          </p:nvPr>
        </p:nvSpPr>
        <p:spPr/>
        <p:txBody>
          <a:bodyPr>
            <a:normAutofit fontScale="90000"/>
          </a:bodyPr>
          <a:lstStyle/>
          <a:p>
            <a:br>
              <a:rPr lang="pl-PL" dirty="0">
                <a:solidFill>
                  <a:srgbClr val="002060"/>
                </a:solidFill>
              </a:rPr>
            </a:br>
            <a:r>
              <a:rPr lang="pl-PL" sz="4400" dirty="0">
                <a:solidFill>
                  <a:srgbClr val="002060"/>
                </a:solidFill>
                <a:effectLst>
                  <a:outerShdw blurRad="38100" dist="38100" dir="2700000" algn="tl">
                    <a:srgbClr val="000000">
                      <a:alpha val="43137"/>
                    </a:srgbClr>
                  </a:outerShdw>
                </a:effectLst>
              </a:rPr>
              <a:t>The </a:t>
            </a:r>
            <a:r>
              <a:rPr lang="pl-PL" sz="4400" dirty="0" err="1">
                <a:solidFill>
                  <a:srgbClr val="002060"/>
                </a:solidFill>
                <a:effectLst>
                  <a:outerShdw blurRad="38100" dist="38100" dir="2700000" algn="tl">
                    <a:srgbClr val="000000">
                      <a:alpha val="43137"/>
                    </a:srgbClr>
                  </a:outerShdw>
                </a:effectLst>
              </a:rPr>
              <a:t>case</a:t>
            </a:r>
            <a:r>
              <a:rPr lang="pl-PL" sz="4400" dirty="0">
                <a:solidFill>
                  <a:srgbClr val="002060"/>
                </a:solidFill>
                <a:effectLst>
                  <a:outerShdw blurRad="38100" dist="38100" dir="2700000" algn="tl">
                    <a:srgbClr val="000000">
                      <a:alpha val="43137"/>
                    </a:srgbClr>
                  </a:outerShdw>
                </a:effectLst>
              </a:rPr>
              <a:t> of Amazon.</a:t>
            </a:r>
            <a:br>
              <a:rPr lang="pl-PL" sz="4400" dirty="0">
                <a:solidFill>
                  <a:srgbClr val="002060"/>
                </a:solidFill>
                <a:effectLst>
                  <a:outerShdw blurRad="38100" dist="38100" dir="2700000" algn="tl">
                    <a:srgbClr val="000000">
                      <a:alpha val="43137"/>
                    </a:srgbClr>
                  </a:outerShdw>
                </a:effectLst>
              </a:rPr>
            </a:br>
            <a:r>
              <a:rPr lang="pl-PL" sz="4400" dirty="0">
                <a:solidFill>
                  <a:srgbClr val="002060"/>
                </a:solidFill>
                <a:effectLst>
                  <a:outerShdw blurRad="38100" dist="38100" dir="2700000" algn="tl">
                    <a:srgbClr val="000000">
                      <a:alpha val="43137"/>
                    </a:srgbClr>
                  </a:outerShdw>
                </a:effectLst>
              </a:rPr>
              <a:t>The Chicago School and its influence on the interpretation of competition law</a:t>
            </a:r>
            <a:endParaRPr lang="en-US" sz="4400" dirty="0">
              <a:solidFill>
                <a:srgbClr val="002060"/>
              </a:solidFill>
              <a:effectLst>
                <a:outerShdw blurRad="38100" dist="38100" dir="2700000" algn="tl">
                  <a:srgbClr val="000000">
                    <a:alpha val="43137"/>
                  </a:srgbClr>
                </a:outerShdw>
              </a:effectLst>
            </a:endParaRPr>
          </a:p>
        </p:txBody>
      </p:sp>
      <p:sp>
        <p:nvSpPr>
          <p:cNvPr id="3" name="Podtytuł 2">
            <a:extLst>
              <a:ext uri="{FF2B5EF4-FFF2-40B4-BE49-F238E27FC236}">
                <a16:creationId xmlns:a16="http://schemas.microsoft.com/office/drawing/2014/main" id="{17FFB740-F107-FDF2-D539-1ED7C48E6087}"/>
              </a:ext>
            </a:extLst>
          </p:cNvPr>
          <p:cNvSpPr>
            <a:spLocks noGrp="1"/>
          </p:cNvSpPr>
          <p:nvPr>
            <p:ph type="subTitle" idx="1"/>
          </p:nvPr>
        </p:nvSpPr>
        <p:spPr/>
        <p:txBody>
          <a:bodyPr/>
          <a:lstStyle/>
          <a:p>
            <a:endParaRPr lang="pl-PL" dirty="0"/>
          </a:p>
          <a:p>
            <a:r>
              <a:rPr lang="pl-PL" b="1" dirty="0">
                <a:solidFill>
                  <a:srgbClr val="002060"/>
                </a:solidFill>
                <a:effectLst>
                  <a:outerShdw blurRad="38100" dist="38100" dir="2700000" algn="tl">
                    <a:srgbClr val="000000">
                      <a:alpha val="43137"/>
                    </a:srgbClr>
                  </a:outerShdw>
                </a:effectLst>
              </a:rPr>
              <a:t>KU prof. Waldemar Hoff</a:t>
            </a:r>
            <a:endParaRPr lang="en-US"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56867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9B48CB6-ED55-F714-4A6F-6E646F807F2A}"/>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AMAZON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A4C1D418-63D6-75C8-D97C-B80D5C5D82D1}"/>
              </a:ext>
            </a:extLst>
          </p:cNvPr>
          <p:cNvSpPr>
            <a:spLocks noGrp="1"/>
          </p:cNvSpPr>
          <p:nvPr>
            <p:ph idx="1"/>
          </p:nvPr>
        </p:nvSpPr>
        <p:spPr/>
        <p:txBody>
          <a:bodyPr/>
          <a:lstStyle/>
          <a:p>
            <a:r>
              <a:rPr lang="en-US" dirty="0">
                <a:solidFill>
                  <a:srgbClr val="002060"/>
                </a:solidFill>
                <a:effectLst>
                  <a:outerShdw blurRad="38100" dist="38100" dir="2700000" algn="tl">
                    <a:srgbClr val="000000">
                      <a:alpha val="43137"/>
                    </a:srgbClr>
                  </a:outerShdw>
                </a:effectLst>
              </a:rPr>
              <a:t>CHAPTER 4 Amazon— An Infrastructure Service and Its Challenge to Current Antitrust Law LINA M. KHAN</a:t>
            </a:r>
            <a:r>
              <a:rPr lang="pl-PL" dirty="0">
                <a:solidFill>
                  <a:srgbClr val="002060"/>
                </a:solidFill>
                <a:effectLst>
                  <a:outerShdw blurRad="38100" dist="38100" dir="2700000" algn="tl">
                    <a:srgbClr val="000000">
                      <a:alpha val="43137"/>
                    </a:srgbClr>
                  </a:outerShdw>
                </a:effectLst>
              </a:rPr>
              <a:t>, Columbia Law School, 2018, https://scholarship.law.columbia.edu/faculty_scholarship/4433/</a:t>
            </a:r>
          </a:p>
          <a:p>
            <a:endParaRPr 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55672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C7C18FE-F5DE-2CA5-6BD4-EC7B9FF19BAB}"/>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Relevance</a:t>
            </a:r>
            <a:r>
              <a:rPr lang="pl-PL" dirty="0">
                <a:solidFill>
                  <a:srgbClr val="002060"/>
                </a:solidFill>
                <a:effectLst>
                  <a:outerShdw blurRad="38100" dist="38100" dir="2700000" algn="tl">
                    <a:srgbClr val="000000">
                      <a:alpha val="43137"/>
                    </a:srgbClr>
                  </a:outerShdw>
                </a:effectLst>
              </a:rPr>
              <a:t> of the </a:t>
            </a:r>
            <a:r>
              <a:rPr lang="pl-PL" dirty="0" err="1">
                <a:solidFill>
                  <a:srgbClr val="002060"/>
                </a:solidFill>
                <a:effectLst>
                  <a:outerShdw blurRad="38100" dist="38100" dir="2700000" algn="tl">
                    <a:srgbClr val="000000">
                      <a:alpha val="43137"/>
                    </a:srgbClr>
                  </a:outerShdw>
                </a:effectLst>
              </a:rPr>
              <a:t>research</a:t>
            </a:r>
            <a:r>
              <a:rPr lang="pl-PL" dirty="0">
                <a:solidFill>
                  <a:srgbClr val="002060"/>
                </a:solidFill>
                <a:effectLst>
                  <a:outerShdw blurRad="38100" dist="38100" dir="2700000" algn="tl">
                    <a:srgbClr val="000000">
                      <a:alpha val="43137"/>
                    </a:srgbClr>
                  </a:outerShdw>
                </a:effectLst>
              </a:rPr>
              <a:t> problem </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F081D70A-54BC-E564-A0FC-6D2E17ADC005}"/>
              </a:ext>
            </a:extLst>
          </p:cNvPr>
          <p:cNvSpPr>
            <a:spLocks noGrp="1"/>
          </p:cNvSpPr>
          <p:nvPr>
            <p:ph idx="1"/>
          </p:nvPr>
        </p:nvSpPr>
        <p:spPr>
          <a:xfrm>
            <a:off x="838200" y="1825625"/>
            <a:ext cx="10515600" cy="4667250"/>
          </a:xfrm>
        </p:spPr>
        <p:txBody>
          <a:bodyPr>
            <a:normAutofit/>
          </a:bodyPr>
          <a:lstStyle/>
          <a:p>
            <a:r>
              <a:rPr lang="en-US" noProof="0" dirty="0">
                <a:solidFill>
                  <a:srgbClr val="002060"/>
                </a:solidFill>
                <a:effectLst>
                  <a:outerShdw blurRad="38100" dist="38100" dir="2700000" algn="tl">
                    <a:srgbClr val="000000">
                      <a:alpha val="43137"/>
                    </a:srgbClr>
                  </a:outerShdw>
                </a:effectLst>
              </a:rPr>
              <a:t>The article on which this presentation is based advances the thesis that the Chicago method of </a:t>
            </a:r>
            <a:r>
              <a:rPr lang="en-US" b="1" noProof="0" dirty="0">
                <a:solidFill>
                  <a:srgbClr val="002060"/>
                </a:solidFill>
                <a:effectLst>
                  <a:outerShdw blurRad="38100" dist="38100" dir="2700000" algn="tl">
                    <a:srgbClr val="000000">
                      <a:alpha val="43137"/>
                    </a:srgbClr>
                  </a:outerShdw>
                </a:effectLst>
              </a:rPr>
              <a:t>interpretation of </a:t>
            </a:r>
            <a:r>
              <a:rPr lang="pl-PL" b="1" noProof="0" dirty="0">
                <a:solidFill>
                  <a:srgbClr val="002060"/>
                </a:solidFill>
                <a:effectLst>
                  <a:outerShdw blurRad="38100" dist="38100" dir="2700000" algn="tl">
                    <a:srgbClr val="000000">
                      <a:alpha val="43137"/>
                    </a:srgbClr>
                  </a:outerShdw>
                </a:effectLst>
              </a:rPr>
              <a:t>law (</a:t>
            </a:r>
            <a:r>
              <a:rPr lang="pl-PL" b="1" noProof="0" dirty="0" err="1">
                <a:solidFill>
                  <a:srgbClr val="002060"/>
                </a:solidFill>
                <a:effectLst>
                  <a:outerShdw blurRad="38100" dist="38100" dir="2700000" algn="tl">
                    <a:srgbClr val="000000">
                      <a:alpha val="43137"/>
                    </a:srgbClr>
                  </a:outerShdw>
                </a:effectLst>
              </a:rPr>
              <a:t>here</a:t>
            </a:r>
            <a:r>
              <a:rPr lang="pl-PL" b="1" noProof="0" dirty="0">
                <a:solidFill>
                  <a:srgbClr val="002060"/>
                </a:solidFill>
                <a:effectLst>
                  <a:outerShdw blurRad="38100" dist="38100" dir="2700000" algn="tl">
                    <a:srgbClr val="000000">
                      <a:alpha val="43137"/>
                    </a:srgbClr>
                  </a:outerShdw>
                </a:effectLst>
              </a:rPr>
              <a:t>, </a:t>
            </a:r>
            <a:r>
              <a:rPr lang="en-US" b="1" noProof="0" dirty="0">
                <a:solidFill>
                  <a:srgbClr val="002060"/>
                </a:solidFill>
                <a:effectLst>
                  <a:outerShdw blurRad="38100" dist="38100" dir="2700000" algn="tl">
                    <a:srgbClr val="000000">
                      <a:alpha val="43137"/>
                    </a:srgbClr>
                  </a:outerShdw>
                </a:effectLst>
              </a:rPr>
              <a:t>competition law</a:t>
            </a:r>
            <a:r>
              <a:rPr lang="pl-PL" b="1" dirty="0">
                <a:solidFill>
                  <a:srgbClr val="002060"/>
                </a:solidFill>
                <a:effectLst>
                  <a:outerShdw blurRad="38100" dist="38100" dir="2700000" algn="tl">
                    <a:srgbClr val="000000">
                      <a:alpha val="43137"/>
                    </a:srgbClr>
                  </a:outerShdw>
                </a:effectLst>
              </a:rPr>
              <a:t> with </a:t>
            </a:r>
            <a:r>
              <a:rPr lang="pl-PL" b="1" dirty="0" err="1">
                <a:solidFill>
                  <a:srgbClr val="002060"/>
                </a:solidFill>
                <a:effectLst>
                  <a:outerShdw blurRad="38100" dist="38100" dir="2700000" algn="tl">
                    <a:srgbClr val="000000">
                      <a:alpha val="43137"/>
                    </a:srgbClr>
                  </a:outerShdw>
                </a:effectLst>
              </a:rPr>
              <a:t>its</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concept</a:t>
            </a:r>
            <a:r>
              <a:rPr lang="pl-PL" b="1" dirty="0">
                <a:solidFill>
                  <a:srgbClr val="002060"/>
                </a:solidFill>
                <a:effectLst>
                  <a:outerShdw blurRad="38100" dist="38100" dir="2700000" algn="tl">
                    <a:srgbClr val="000000">
                      <a:alpha val="43137"/>
                    </a:srgbClr>
                  </a:outerShdw>
                </a:effectLst>
              </a:rPr>
              <a:t> of </a:t>
            </a:r>
            <a:r>
              <a:rPr lang="pl-PL" b="1" dirty="0" err="1">
                <a:solidFill>
                  <a:srgbClr val="002060"/>
                </a:solidFill>
                <a:effectLst>
                  <a:outerShdw blurRad="38100" dist="38100" dir="2700000" algn="tl">
                    <a:srgbClr val="000000">
                      <a:alpha val="43137"/>
                    </a:srgbClr>
                  </a:outerShdw>
                </a:effectLst>
              </a:rPr>
              <a:t>dominance</a:t>
            </a:r>
            <a:r>
              <a:rPr lang="pl-PL" b="1" dirty="0">
                <a:solidFill>
                  <a:srgbClr val="002060"/>
                </a:solidFill>
                <a:effectLst>
                  <a:outerShdw blurRad="38100" dist="38100" dir="2700000" algn="tl">
                    <a:srgbClr val="000000">
                      <a:alpha val="43137"/>
                    </a:srgbClr>
                  </a:outerShdw>
                </a:effectLst>
              </a:rPr>
              <a:t> of a dominant </a:t>
            </a:r>
            <a:r>
              <a:rPr lang="pl-PL" b="1" dirty="0" err="1">
                <a:solidFill>
                  <a:srgbClr val="002060"/>
                </a:solidFill>
                <a:effectLst>
                  <a:outerShdw blurRad="38100" dist="38100" dir="2700000" algn="tl">
                    <a:srgbClr val="000000">
                      <a:alpha val="43137"/>
                    </a:srgbClr>
                  </a:outerShdw>
                </a:effectLst>
              </a:rPr>
              <a:t>position</a:t>
            </a:r>
            <a:r>
              <a:rPr lang="pl-PL" b="1" dirty="0">
                <a:solidFill>
                  <a:srgbClr val="002060"/>
                </a:solidFill>
                <a:effectLst>
                  <a:outerShdw blurRad="38100" dist="38100" dir="2700000" algn="tl">
                    <a:srgbClr val="000000">
                      <a:alpha val="43137"/>
                    </a:srgbClr>
                  </a:outerShdw>
                </a:effectLst>
              </a:rPr>
              <a:t> on the market</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a:t>
            </a:r>
            <a:r>
              <a:rPr lang="en-US" b="1" noProof="0" dirty="0">
                <a:solidFill>
                  <a:srgbClr val="002060"/>
                </a:solidFill>
                <a:effectLst>
                  <a:outerShdw blurRad="38100" dist="38100" dir="2700000" algn="tl">
                    <a:srgbClr val="000000">
                      <a:alpha val="43137"/>
                    </a:srgbClr>
                  </a:outerShdw>
                </a:effectLst>
              </a:rPr>
              <a:t>is not in step with how the electronic platform companies</a:t>
            </a:r>
            <a:r>
              <a:rPr lang="en-US" noProof="0" dirty="0">
                <a:solidFill>
                  <a:srgbClr val="002060"/>
                </a:solidFill>
                <a:effectLst>
                  <a:outerShdw blurRad="38100" dist="38100" dir="2700000" algn="tl">
                    <a:srgbClr val="000000">
                      <a:alpha val="43137"/>
                    </a:srgbClr>
                  </a:outerShdw>
                </a:effectLst>
              </a:rPr>
              <a:t>, such as Amazon, gain and use dominance on the relevant market.</a:t>
            </a:r>
          </a:p>
          <a:p>
            <a:r>
              <a:rPr lang="en-US" noProof="0" dirty="0">
                <a:solidFill>
                  <a:srgbClr val="002060"/>
                </a:solidFill>
                <a:effectLst>
                  <a:outerShdw blurRad="38100" dist="38100" dir="2700000" algn="tl">
                    <a:srgbClr val="000000">
                      <a:alpha val="43137"/>
                    </a:srgbClr>
                  </a:outerShdw>
                </a:effectLst>
              </a:rPr>
              <a:t>The case of Amazon and its growth concerns </a:t>
            </a:r>
            <a:r>
              <a:rPr lang="en-US" b="1" noProof="0" dirty="0">
                <a:solidFill>
                  <a:srgbClr val="002060"/>
                </a:solidFill>
                <a:effectLst>
                  <a:outerShdw blurRad="38100" dist="38100" dir="2700000" algn="tl">
                    <a:srgbClr val="000000">
                      <a:alpha val="43137"/>
                    </a:srgbClr>
                  </a:outerShdw>
                </a:effectLst>
              </a:rPr>
              <a:t>AI students </a:t>
            </a:r>
            <a:r>
              <a:rPr lang="en-US" noProof="0" dirty="0">
                <a:solidFill>
                  <a:srgbClr val="002060"/>
                </a:solidFill>
                <a:effectLst>
                  <a:outerShdw blurRad="38100" dist="38100" dir="2700000" algn="tl">
                    <a:srgbClr val="000000">
                      <a:alpha val="43137"/>
                    </a:srgbClr>
                  </a:outerShdw>
                </a:effectLst>
              </a:rPr>
              <a:t>for platforms that use the latest technologies. It also concerns </a:t>
            </a:r>
            <a:r>
              <a:rPr lang="en-US" b="1" noProof="0" dirty="0">
                <a:solidFill>
                  <a:srgbClr val="002060"/>
                </a:solidFill>
                <a:effectLst>
                  <a:outerShdw blurRad="38100" dist="38100" dir="2700000" algn="tl">
                    <a:srgbClr val="000000">
                      <a:alpha val="43137"/>
                    </a:srgbClr>
                  </a:outerShdw>
                </a:effectLst>
              </a:rPr>
              <a:t>media students </a:t>
            </a:r>
            <a:r>
              <a:rPr lang="en-US" noProof="0" dirty="0">
                <a:solidFill>
                  <a:srgbClr val="002060"/>
                </a:solidFill>
                <a:effectLst>
                  <a:outerShdw blurRad="38100" dist="38100" dir="2700000" algn="tl">
                    <a:srgbClr val="000000">
                      <a:alpha val="43137"/>
                    </a:srgbClr>
                  </a:outerShdw>
                </a:effectLst>
              </a:rPr>
              <a:t>because Amazon itself is a media company, and it </a:t>
            </a:r>
            <a:r>
              <a:rPr lang="en-US" b="1" noProof="0" dirty="0">
                <a:solidFill>
                  <a:srgbClr val="002060"/>
                </a:solidFill>
                <a:effectLst>
                  <a:outerShdw blurRad="38100" dist="38100" dir="2700000" algn="tl">
                    <a:srgbClr val="000000">
                      <a:alpha val="43137"/>
                    </a:srgbClr>
                  </a:outerShdw>
                </a:effectLst>
              </a:rPr>
              <a:t>negatively affects competition </a:t>
            </a:r>
            <a:r>
              <a:rPr lang="en-US" noProof="0" dirty="0">
                <a:solidFill>
                  <a:srgbClr val="002060"/>
                </a:solidFill>
                <a:effectLst>
                  <a:outerShdw blurRad="38100" dist="38100" dir="2700000" algn="tl">
                    <a:srgbClr val="000000">
                      <a:alpha val="43137"/>
                    </a:srgbClr>
                  </a:outerShdw>
                </a:effectLst>
              </a:rPr>
              <a:t>in the e-book market</a:t>
            </a:r>
            <a:r>
              <a:rPr lang="pl-PL" noProof="0" dirty="0">
                <a:solidFill>
                  <a:srgbClr val="002060"/>
                </a:solidFill>
                <a:effectLst>
                  <a:outerShdw blurRad="38100" dist="38100" dir="2700000" algn="tl">
                    <a:srgbClr val="000000">
                      <a:alpha val="43137"/>
                    </a:srgbClr>
                  </a:outerShdw>
                </a:effectLst>
              </a:rPr>
              <a:t>, </a:t>
            </a:r>
            <a:r>
              <a:rPr lang="pl-PL" b="1" noProof="0" dirty="0" err="1">
                <a:solidFill>
                  <a:srgbClr val="002060"/>
                </a:solidFill>
                <a:effectLst>
                  <a:outerShdw blurRad="38100" dist="38100" dir="2700000" algn="tl">
                    <a:srgbClr val="000000">
                      <a:alpha val="43137"/>
                    </a:srgbClr>
                  </a:outerShdw>
                </a:effectLst>
              </a:rPr>
              <a:t>harming</a:t>
            </a:r>
            <a:r>
              <a:rPr lang="pl-PL" b="1" noProof="0" dirty="0">
                <a:solidFill>
                  <a:srgbClr val="002060"/>
                </a:solidFill>
                <a:effectLst>
                  <a:outerShdw blurRad="38100" dist="38100" dir="2700000" algn="tl">
                    <a:srgbClr val="000000">
                      <a:alpha val="43137"/>
                    </a:srgbClr>
                  </a:outerShdw>
                </a:effectLst>
              </a:rPr>
              <a:t> </a:t>
            </a:r>
            <a:r>
              <a:rPr lang="pl-PL" b="1" noProof="0" dirty="0" err="1">
                <a:solidFill>
                  <a:srgbClr val="002060"/>
                </a:solidFill>
                <a:effectLst>
                  <a:outerShdw blurRad="38100" dist="38100" dir="2700000" algn="tl">
                    <a:srgbClr val="000000">
                      <a:alpha val="43137"/>
                    </a:srgbClr>
                  </a:outerShdw>
                </a:effectLst>
              </a:rPr>
              <a:t>readers</a:t>
            </a:r>
            <a:r>
              <a:rPr lang="pl-PL" b="1" noProof="0" dirty="0">
                <a:solidFill>
                  <a:srgbClr val="002060"/>
                </a:solidFill>
                <a:effectLst>
                  <a:outerShdw blurRad="38100" dist="38100" dir="2700000" algn="tl">
                    <a:srgbClr val="000000">
                      <a:alpha val="43137"/>
                    </a:srgbClr>
                  </a:outerShdw>
                </a:effectLst>
              </a:rPr>
              <a:t> by </a:t>
            </a:r>
            <a:r>
              <a:rPr lang="pl-PL" b="1" noProof="0" dirty="0" err="1">
                <a:solidFill>
                  <a:srgbClr val="002060"/>
                </a:solidFill>
                <a:effectLst>
                  <a:outerShdw blurRad="38100" dist="38100" dir="2700000" algn="tl">
                    <a:srgbClr val="000000">
                      <a:alpha val="43137"/>
                    </a:srgbClr>
                  </a:outerShdw>
                </a:effectLst>
              </a:rPr>
              <a:t>limiting</a:t>
            </a:r>
            <a:r>
              <a:rPr lang="pl-PL" b="1" noProof="0" dirty="0">
                <a:solidFill>
                  <a:srgbClr val="002060"/>
                </a:solidFill>
                <a:effectLst>
                  <a:outerShdw blurRad="38100" dist="38100" dir="2700000" algn="tl">
                    <a:srgbClr val="000000">
                      <a:alpha val="43137"/>
                    </a:srgbClr>
                  </a:outerShdw>
                </a:effectLst>
              </a:rPr>
              <a:t> media </a:t>
            </a:r>
            <a:r>
              <a:rPr lang="pl-PL" b="1" noProof="0" dirty="0" err="1">
                <a:solidFill>
                  <a:srgbClr val="002060"/>
                </a:solidFill>
                <a:effectLst>
                  <a:outerShdw blurRad="38100" dist="38100" dir="2700000" algn="tl">
                    <a:srgbClr val="000000">
                      <a:alpha val="43137"/>
                    </a:srgbClr>
                  </a:outerShdw>
                </a:effectLst>
              </a:rPr>
              <a:t>diversity</a:t>
            </a:r>
            <a:r>
              <a:rPr lang="en-US" b="1" noProof="0" dirty="0">
                <a:solidFill>
                  <a:srgbClr val="002060"/>
                </a:solidFill>
              </a:rPr>
              <a:t>.</a:t>
            </a:r>
          </a:p>
        </p:txBody>
      </p:sp>
    </p:spTree>
    <p:extLst>
      <p:ext uri="{BB962C8B-B14F-4D97-AF65-F5344CB8AC3E}">
        <p14:creationId xmlns:p14="http://schemas.microsoft.com/office/powerpoint/2010/main" val="835157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AA1327-217D-58B1-36D9-AE6944F7AA47}"/>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Company profile</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1CD867A8-A089-A51E-BBD4-A9EB11ACFB75}"/>
              </a:ext>
            </a:extLst>
          </p:cNvPr>
          <p:cNvSpPr>
            <a:spLocks noGrp="1"/>
          </p:cNvSpPr>
          <p:nvPr>
            <p:ph idx="1"/>
          </p:nvPr>
        </p:nvSpPr>
        <p:spPr>
          <a:xfrm>
            <a:off x="838200" y="1825625"/>
            <a:ext cx="10515600" cy="4667250"/>
          </a:xfrm>
        </p:spPr>
        <p:txBody>
          <a:bodyPr>
            <a:normAutofit/>
          </a:bodyPr>
          <a:lstStyle/>
          <a:p>
            <a:r>
              <a:rPr lang="en-US" dirty="0">
                <a:solidFill>
                  <a:srgbClr val="002060"/>
                </a:solidFill>
                <a:effectLst>
                  <a:outerShdw blurRad="38100" dist="38100" dir="2700000" algn="tl">
                    <a:srgbClr val="000000">
                      <a:alpha val="43137"/>
                    </a:srgbClr>
                  </a:outerShdw>
                </a:effectLst>
              </a:rPr>
              <a:t>Entering its sixth year in 2000, the company had yet to </a:t>
            </a:r>
            <a:r>
              <a:rPr lang="pl-PL" dirty="0">
                <a:solidFill>
                  <a:srgbClr val="002060"/>
                </a:solidFill>
                <a:effectLst>
                  <a:outerShdw blurRad="38100" dist="38100" dir="2700000" algn="tl">
                    <a:srgbClr val="000000">
                      <a:alpha val="43137"/>
                    </a:srgbClr>
                  </a:outerShdw>
                </a:effectLst>
              </a:rPr>
              <a:t>achieve</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profit</a:t>
            </a:r>
            <a:r>
              <a:rPr lang="en-US" dirty="0">
                <a:solidFill>
                  <a:srgbClr val="002060"/>
                </a:solidFill>
                <a:effectLst>
                  <a:outerShdw blurRad="38100" dist="38100" dir="2700000" algn="tl">
                    <a:srgbClr val="000000">
                      <a:alpha val="43137"/>
                    </a:srgbClr>
                  </a:outerShdw>
                </a:effectLst>
              </a:rPr>
              <a:t> and was mounting millions of dollars in continuous losses, each quarter’s larger than the last.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Nevertheless, </a:t>
            </a:r>
            <a:r>
              <a:rPr lang="en-US" b="1" dirty="0">
                <a:solidFill>
                  <a:srgbClr val="FF0000"/>
                </a:solidFill>
                <a:effectLst>
                  <a:outerShdw blurRad="38100" dist="38100" dir="2700000" algn="tl">
                    <a:srgbClr val="000000">
                      <a:alpha val="43137"/>
                    </a:srgbClr>
                  </a:outerShdw>
                </a:effectLst>
              </a:rPr>
              <a:t>shareholders believed </a:t>
            </a:r>
            <a:r>
              <a:rPr lang="en-US" dirty="0">
                <a:solidFill>
                  <a:srgbClr val="002060"/>
                </a:solidFill>
                <a:effectLst>
                  <a:outerShdw blurRad="38100" dist="38100" dir="2700000" algn="tl">
                    <a:srgbClr val="000000">
                      <a:alpha val="43137"/>
                    </a:srgbClr>
                  </a:outerShdw>
                </a:effectLst>
              </a:rPr>
              <a:t>that by </a:t>
            </a:r>
            <a:r>
              <a:rPr lang="pl-PL" dirty="0" err="1">
                <a:solidFill>
                  <a:srgbClr val="002060"/>
                </a:solidFill>
                <a:effectLst>
                  <a:outerShdw blurRad="38100" dist="38100" dir="2700000" algn="tl">
                    <a:srgbClr val="000000">
                      <a:alpha val="43137"/>
                    </a:srgbClr>
                  </a:outerShdw>
                </a:effectLst>
              </a:rPr>
              <a:t>pumping</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money into advertising and steep discounts</a:t>
            </a:r>
            <a:r>
              <a:rPr lang="en-US" dirty="0">
                <a:solidFill>
                  <a:srgbClr val="002060"/>
                </a:solidFill>
                <a:effectLst>
                  <a:outerShdw blurRad="38100" dist="38100" dir="2700000" algn="tl">
                    <a:srgbClr val="000000">
                      <a:alpha val="43137"/>
                    </a:srgbClr>
                  </a:outerShdw>
                </a:effectLst>
              </a:rPr>
              <a:t>, Amazon was making a sound investment that would </a:t>
            </a:r>
            <a:r>
              <a:rPr lang="en-US" b="1" dirty="0">
                <a:solidFill>
                  <a:srgbClr val="FF0000"/>
                </a:solidFill>
                <a:effectLst>
                  <a:outerShdw blurRad="38100" dist="38100" dir="2700000" algn="tl">
                    <a:srgbClr val="000000">
                      <a:alpha val="43137"/>
                    </a:srgbClr>
                  </a:outerShdw>
                </a:effectLst>
              </a:rPr>
              <a:t>yield returns </a:t>
            </a:r>
            <a:r>
              <a:rPr lang="en-US" b="1" dirty="0">
                <a:solidFill>
                  <a:srgbClr val="002060"/>
                </a:solidFill>
                <a:effectLst>
                  <a:outerShdw blurRad="38100" dist="38100" dir="2700000" algn="tl">
                    <a:srgbClr val="000000">
                      <a:alpha val="43137"/>
                    </a:srgbClr>
                  </a:outerShdw>
                </a:effectLst>
              </a:rPr>
              <a:t>once </a:t>
            </a:r>
            <a:r>
              <a:rPr lang="pl-PL" b="1" dirty="0">
                <a:solidFill>
                  <a:srgbClr val="002060"/>
                </a:solidFill>
                <a:effectLst>
                  <a:outerShdw blurRad="38100" dist="38100" dir="2700000" algn="tl">
                    <a:srgbClr val="000000">
                      <a:alpha val="43137"/>
                    </a:srgbClr>
                  </a:outerShdw>
                </a:effectLst>
              </a:rPr>
              <a:t>e-commerce</a:t>
            </a:r>
            <a:r>
              <a:rPr lang="en-US" b="1" dirty="0">
                <a:solidFill>
                  <a:srgbClr val="002060"/>
                </a:solidFill>
                <a:effectLst>
                  <a:outerShdw blurRad="38100" dist="38100" dir="2700000" algn="tl">
                    <a:srgbClr val="000000">
                      <a:alpha val="43137"/>
                    </a:srgbClr>
                  </a:outerShdw>
                </a:effectLst>
              </a:rPr>
              <a:t> took of</a:t>
            </a:r>
            <a:r>
              <a:rPr lang="pl-PL" b="1" dirty="0">
                <a:solidFill>
                  <a:srgbClr val="002060"/>
                </a:solidFill>
                <a:effectLst>
                  <a:outerShdw blurRad="38100" dist="38100" dir="2700000" algn="tl">
                    <a:srgbClr val="000000">
                      <a:alpha val="43137"/>
                    </a:srgbClr>
                  </a:outerShdw>
                </a:effectLst>
              </a:rPr>
              <a:t>f</a:t>
            </a:r>
          </a:p>
          <a:p>
            <a:r>
              <a:rPr lang="en-US" dirty="0">
                <a:solidFill>
                  <a:srgbClr val="002060"/>
                </a:solidFill>
                <a:effectLst>
                  <a:outerShdw blurRad="38100" dist="38100" dir="2700000" algn="tl">
                    <a:srgbClr val="000000">
                      <a:alpha val="43137"/>
                    </a:srgbClr>
                  </a:outerShdw>
                </a:effectLst>
              </a:rPr>
              <a:t>The company listed </a:t>
            </a:r>
            <a:r>
              <a:rPr lang="en-US" b="1" dirty="0">
                <a:solidFill>
                  <a:srgbClr val="FF0000"/>
                </a:solidFill>
                <a:effectLst>
                  <a:outerShdw blurRad="38100" dist="38100" dir="2700000" algn="tl">
                    <a:srgbClr val="000000">
                      <a:alpha val="43137"/>
                    </a:srgbClr>
                  </a:outerShdw>
                </a:effectLst>
              </a:rPr>
              <a:t>consistent losses </a:t>
            </a:r>
            <a:r>
              <a:rPr lang="en-US" dirty="0">
                <a:solidFill>
                  <a:srgbClr val="002060"/>
                </a:solidFill>
                <a:effectLst>
                  <a:outerShdw blurRad="38100" dist="38100" dir="2700000" algn="tl">
                    <a:srgbClr val="000000">
                      <a:alpha val="43137"/>
                    </a:srgbClr>
                  </a:outerShdw>
                </a:effectLst>
              </a:rPr>
              <a:t>for the first </a:t>
            </a:r>
            <a:r>
              <a:rPr lang="en-US" b="1" dirty="0">
                <a:solidFill>
                  <a:srgbClr val="FF0000"/>
                </a:solidFill>
                <a:effectLst>
                  <a:outerShdw blurRad="38100" dist="38100" dir="2700000" algn="tl">
                    <a:srgbClr val="000000">
                      <a:alpha val="43137"/>
                    </a:srgbClr>
                  </a:outerShdw>
                </a:effectLst>
              </a:rPr>
              <a:t>seven years </a:t>
            </a:r>
            <a:r>
              <a:rPr lang="en-US" dirty="0">
                <a:solidFill>
                  <a:srgbClr val="002060"/>
                </a:solidFill>
                <a:effectLst>
                  <a:outerShdw blurRad="38100" dist="38100" dir="2700000" algn="tl">
                    <a:srgbClr val="000000">
                      <a:alpha val="43137"/>
                    </a:srgbClr>
                  </a:outerShdw>
                </a:effectLst>
              </a:rPr>
              <a:t>it was in business, with debts of $2 billion (CNN Money 2002)</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31603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7E2A23-2956-F603-58C0-1163D97E9AC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Company profile</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0D37BA37-3298-464C-F7B8-1389347E75F8}"/>
              </a:ext>
            </a:extLst>
          </p:cNvPr>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rPr>
              <a:t>Sixteen years on</a:t>
            </a:r>
            <a:r>
              <a:rPr lang="en-US" dirty="0">
                <a:solidFill>
                  <a:srgbClr val="002060"/>
                </a:solidFill>
                <a:effectLst>
                  <a:outerShdw blurRad="38100" dist="38100" dir="2700000" algn="tl">
                    <a:srgbClr val="000000">
                      <a:alpha val="43137"/>
                    </a:srgbClr>
                  </a:outerShdw>
                </a:effectLst>
              </a:rPr>
              <a:t>, nobody seriously doubts that Amazon is anything but the titan of </a:t>
            </a:r>
            <a:r>
              <a:rPr lang="pl-PL" dirty="0">
                <a:solidFill>
                  <a:srgbClr val="002060"/>
                </a:solidFill>
                <a:effectLst>
                  <a:outerShdw blurRad="38100" dist="38100" dir="2700000" algn="tl">
                    <a:srgbClr val="000000">
                      <a:alpha val="43137"/>
                    </a:srgbClr>
                  </a:outerShdw>
                </a:effectLst>
              </a:rPr>
              <a:t>21st-century</a:t>
            </a:r>
            <a:r>
              <a:rPr lang="en-US" dirty="0">
                <a:solidFill>
                  <a:srgbClr val="002060"/>
                </a:solidFill>
                <a:effectLst>
                  <a:outerShdw blurRad="38100" dist="38100" dir="2700000" algn="tl">
                    <a:srgbClr val="000000">
                      <a:alpha val="43137"/>
                    </a:srgbClr>
                  </a:outerShdw>
                </a:effectLst>
              </a:rPr>
              <a:t> commerce.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In 2015, it earned </a:t>
            </a:r>
            <a:r>
              <a:rPr lang="en-US" dirty="0">
                <a:solidFill>
                  <a:srgbClr val="FF0000"/>
                </a:solidFill>
                <a:effectLst>
                  <a:outerShdw blurRad="38100" dist="38100" dir="2700000" algn="tl">
                    <a:srgbClr val="000000">
                      <a:alpha val="43137"/>
                    </a:srgbClr>
                  </a:outerShdw>
                </a:effectLst>
                <a:highlight>
                  <a:srgbClr val="FFFF00"/>
                </a:highlight>
              </a:rPr>
              <a:t>$107 </a:t>
            </a:r>
            <a:r>
              <a:rPr lang="en-US" dirty="0">
                <a:solidFill>
                  <a:srgbClr val="002060"/>
                </a:solidFill>
                <a:effectLst>
                  <a:outerShdw blurRad="38100" dist="38100" dir="2700000" algn="tl">
                    <a:srgbClr val="000000">
                      <a:alpha val="43137"/>
                    </a:srgbClr>
                  </a:outerShdw>
                </a:effectLst>
              </a:rPr>
              <a:t>billion in revenue, and, as of 2013, </a:t>
            </a:r>
            <a:r>
              <a:rPr lang="en-US" b="1" dirty="0">
                <a:solidFill>
                  <a:srgbClr val="FF0000"/>
                </a:solidFill>
                <a:effectLst>
                  <a:outerShdw blurRad="38100" dist="38100" dir="2700000" algn="tl">
                    <a:srgbClr val="000000">
                      <a:alpha val="43137"/>
                    </a:srgbClr>
                  </a:outerShdw>
                </a:effectLst>
              </a:rPr>
              <a:t>it sold more than its </a:t>
            </a:r>
            <a:r>
              <a:rPr lang="en-US" b="1" dirty="0">
                <a:solidFill>
                  <a:srgbClr val="FF0000"/>
                </a:solidFill>
                <a:effectLst>
                  <a:outerShdw blurRad="38100" dist="38100" dir="2700000" algn="tl">
                    <a:srgbClr val="000000">
                      <a:alpha val="43137"/>
                    </a:srgbClr>
                  </a:outerShdw>
                </a:effectLst>
                <a:highlight>
                  <a:srgbClr val="FFFF00"/>
                </a:highlight>
              </a:rPr>
              <a:t>next 12 </a:t>
            </a:r>
            <a:r>
              <a:rPr lang="en-US" b="1" dirty="0">
                <a:solidFill>
                  <a:srgbClr val="FF0000"/>
                </a:solidFill>
                <a:effectLst>
                  <a:outerShdw blurRad="38100" dist="38100" dir="2700000" algn="tl">
                    <a:srgbClr val="000000">
                      <a:alpha val="43137"/>
                    </a:srgbClr>
                  </a:outerShdw>
                </a:effectLst>
              </a:rPr>
              <a:t>online competitors combined</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b="1" dirty="0">
                <a:solidFill>
                  <a:srgbClr val="FF0000"/>
                </a:solidFill>
                <a:effectLst>
                  <a:outerShdw blurRad="38100" dist="38100" dir="2700000" algn="tl">
                    <a:srgbClr val="000000">
                      <a:alpha val="43137"/>
                    </a:srgbClr>
                  </a:outerShdw>
                </a:effectLst>
              </a:rPr>
              <a:t>In 2025 - </a:t>
            </a:r>
            <a:r>
              <a:rPr lang="pl-PL" b="1" dirty="0">
                <a:solidFill>
                  <a:srgbClr val="FF0000"/>
                </a:solidFill>
                <a:effectLst>
                  <a:outerShdw blurRad="38100" dist="38100" dir="2700000" algn="tl">
                    <a:srgbClr val="000000">
                      <a:alpha val="43137"/>
                    </a:srgbClr>
                  </a:outerShdw>
                </a:effectLst>
                <a:highlight>
                  <a:srgbClr val="FFFF00"/>
                </a:highlight>
              </a:rPr>
              <a:t>$691.33 </a:t>
            </a:r>
            <a:r>
              <a:rPr lang="pl-PL" b="1" dirty="0" err="1">
                <a:solidFill>
                  <a:srgbClr val="FF0000"/>
                </a:solidFill>
                <a:effectLst>
                  <a:outerShdw blurRad="38100" dist="38100" dir="2700000" algn="tl">
                    <a:srgbClr val="000000">
                      <a:alpha val="43137"/>
                    </a:srgbClr>
                  </a:outerShdw>
                </a:effectLst>
                <a:highlight>
                  <a:srgbClr val="FFFF00"/>
                </a:highlight>
              </a:rPr>
              <a:t>Billion</a:t>
            </a:r>
            <a:r>
              <a:rPr lang="pl-PL" b="1" dirty="0">
                <a:solidFill>
                  <a:srgbClr val="FF0000"/>
                </a:solidFill>
                <a:effectLst>
                  <a:outerShdw blurRad="38100" dist="38100" dir="2700000" algn="tl">
                    <a:srgbClr val="000000">
                      <a:alpha val="43137"/>
                    </a:srgbClr>
                  </a:outerShdw>
                </a:effectLst>
              </a:rPr>
              <a:t>, 8.37% </a:t>
            </a:r>
            <a:r>
              <a:rPr lang="pl-PL" b="1" dirty="0" err="1">
                <a:solidFill>
                  <a:srgbClr val="FF0000"/>
                </a:solidFill>
                <a:effectLst>
                  <a:outerShdw blurRad="38100" dist="38100" dir="2700000" algn="tl">
                    <a:srgbClr val="000000">
                      <a:alpha val="43137"/>
                    </a:srgbClr>
                  </a:outerShdw>
                </a:effectLst>
              </a:rPr>
              <a:t>increase</a:t>
            </a:r>
            <a:r>
              <a:rPr lang="pl-PL" b="1" dirty="0">
                <a:solidFill>
                  <a:srgbClr val="FF0000"/>
                </a:solidFill>
                <a:effectLst>
                  <a:outerShdw blurRad="38100" dist="38100" dir="2700000" algn="tl">
                    <a:srgbClr val="000000">
                      <a:alpha val="43137"/>
                    </a:srgbClr>
                  </a:outerShdw>
                </a:effectLst>
              </a:rPr>
              <a:t> from the </a:t>
            </a:r>
            <a:r>
              <a:rPr lang="pl-PL" b="1" dirty="0" err="1">
                <a:solidFill>
                  <a:srgbClr val="FF0000"/>
                </a:solidFill>
                <a:effectLst>
                  <a:outerShdw blurRad="38100" dist="38100" dir="2700000" algn="tl">
                    <a:srgbClr val="000000">
                      <a:alpha val="43137"/>
                    </a:srgbClr>
                  </a:outerShdw>
                </a:effectLst>
              </a:rPr>
              <a:t>previous</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year</a:t>
            </a:r>
            <a:r>
              <a:rPr lang="pl-PL" b="1" dirty="0">
                <a:solidFill>
                  <a:srgbClr val="FF000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By some estimates, Amazon now captures </a:t>
            </a:r>
            <a:r>
              <a:rPr lang="en-US" b="1" dirty="0">
                <a:solidFill>
                  <a:srgbClr val="FF0000"/>
                </a:solidFill>
                <a:effectLst>
                  <a:outerShdw blurRad="38100" dist="38100" dir="2700000" algn="tl">
                    <a:srgbClr val="000000">
                      <a:alpha val="43137"/>
                    </a:srgbClr>
                  </a:outerShdw>
                </a:effectLst>
                <a:highlight>
                  <a:srgbClr val="FFFF00"/>
                </a:highlight>
              </a:rPr>
              <a:t>46% </a:t>
            </a:r>
            <a:r>
              <a:rPr lang="en-US" b="1" dirty="0">
                <a:solidFill>
                  <a:srgbClr val="FF0000"/>
                </a:solidFill>
                <a:effectLst>
                  <a:outerShdw blurRad="38100" dist="38100" dir="2700000" algn="tl">
                    <a:srgbClr val="000000">
                      <a:alpha val="43137"/>
                    </a:srgbClr>
                  </a:outerShdw>
                </a:effectLst>
              </a:rPr>
              <a:t>of online shopping</a:t>
            </a:r>
            <a:r>
              <a:rPr lang="en-US" dirty="0">
                <a:solidFill>
                  <a:srgbClr val="002060"/>
                </a:solidFill>
                <a:effectLst>
                  <a:outerShdw blurRad="38100" dist="38100" dir="2700000" algn="tl">
                    <a:srgbClr val="000000">
                      <a:alpha val="43137"/>
                    </a:srgbClr>
                  </a:outerShdw>
                </a:effectLst>
              </a:rPr>
              <a:t>, with its share </a:t>
            </a:r>
            <a:r>
              <a:rPr lang="en-US" b="1" dirty="0">
                <a:solidFill>
                  <a:srgbClr val="0070C0"/>
                </a:solidFill>
                <a:effectLst>
                  <a:outerShdw blurRad="38100" dist="38100" dir="2700000" algn="tl">
                    <a:srgbClr val="000000">
                      <a:alpha val="43137"/>
                    </a:srgbClr>
                  </a:outerShdw>
                </a:effectLst>
              </a:rPr>
              <a:t>growing faster than the sector as a whole</a:t>
            </a:r>
          </a:p>
          <a:p>
            <a:endParaRPr lang="en-US" dirty="0"/>
          </a:p>
        </p:txBody>
      </p:sp>
    </p:spTree>
    <p:extLst>
      <p:ext uri="{BB962C8B-B14F-4D97-AF65-F5344CB8AC3E}">
        <p14:creationId xmlns:p14="http://schemas.microsoft.com/office/powerpoint/2010/main" val="728571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3117D02-D89F-2179-1E58-391EADB11894}"/>
              </a:ext>
            </a:extLst>
          </p:cNvPr>
          <p:cNvSpPr>
            <a:spLocks noGrp="1"/>
          </p:cNvSpPr>
          <p:nvPr>
            <p:ph type="title"/>
          </p:nvPr>
        </p:nvSpPr>
        <p:spPr/>
        <p:txBody>
          <a:bodyPr>
            <a:normAutofit fontScale="90000"/>
          </a:bodyPr>
          <a:lstStyle/>
          <a:p>
            <a:r>
              <a:rPr lang="pl-PL" dirty="0">
                <a:solidFill>
                  <a:srgbClr val="002060"/>
                </a:solidFill>
                <a:effectLst>
                  <a:outerShdw blurRad="38100" dist="38100" dir="2700000" algn="tl">
                    <a:srgbClr val="000000">
                      <a:alpha val="43137"/>
                    </a:srgbClr>
                  </a:outerShdw>
                </a:effectLst>
              </a:rPr>
              <a:t>The Chicago school of competition and its impact on the interpretation of competition law</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365AB772-0D90-E924-9735-5A8603A679E5}"/>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rPr>
              <a:t>Due to the </a:t>
            </a:r>
            <a:r>
              <a:rPr lang="en-US" b="1" dirty="0">
                <a:solidFill>
                  <a:srgbClr val="FF0000"/>
                </a:solidFill>
                <a:effectLst>
                  <a:outerShdw blurRad="38100" dist="38100" dir="2700000" algn="tl">
                    <a:srgbClr val="000000">
                      <a:alpha val="43137"/>
                    </a:srgbClr>
                  </a:outerShdw>
                </a:effectLst>
              </a:rPr>
              <a:t>Chicago School’s </a:t>
            </a:r>
            <a:r>
              <a:rPr lang="en-US" dirty="0">
                <a:solidFill>
                  <a:srgbClr val="002060"/>
                </a:solidFill>
                <a:effectLst>
                  <a:outerShdw blurRad="38100" dist="38100" dir="2700000" algn="tl">
                    <a:srgbClr val="000000">
                      <a:alpha val="43137"/>
                    </a:srgbClr>
                  </a:outerShdw>
                </a:effectLst>
              </a:rPr>
              <a:t>influence on legal thinking and practice in the 1970s and 1980s, </a:t>
            </a:r>
            <a:r>
              <a:rPr lang="en-US" b="1" dirty="0">
                <a:solidFill>
                  <a:srgbClr val="0070C0"/>
                </a:solidFill>
                <a:effectLst>
                  <a:outerShdw blurRad="38100" dist="38100" dir="2700000" algn="tl">
                    <a:srgbClr val="000000">
                      <a:alpha val="43137"/>
                    </a:srgbClr>
                  </a:outerShdw>
                </a:effectLst>
              </a:rPr>
              <a:t>antitrust law now assesses competition largely with an eye to the </a:t>
            </a:r>
            <a:r>
              <a:rPr lang="en-US" b="1" dirty="0">
                <a:solidFill>
                  <a:srgbClr val="FF0000"/>
                </a:solidFill>
                <a:effectLst>
                  <a:outerShdw blurRad="38100" dist="38100" dir="2700000" algn="tl">
                    <a:srgbClr val="000000">
                      <a:alpha val="43137"/>
                    </a:srgbClr>
                  </a:outerShdw>
                </a:effectLst>
                <a:highlight>
                  <a:srgbClr val="FFFF00"/>
                </a:highlight>
              </a:rPr>
              <a:t>short- term interests </a:t>
            </a:r>
            <a:r>
              <a:rPr lang="en-US" b="1" dirty="0">
                <a:solidFill>
                  <a:srgbClr val="002060"/>
                </a:solidFill>
                <a:effectLst>
                  <a:outerShdw blurRad="38100" dist="38100" dir="2700000" algn="tl">
                    <a:srgbClr val="000000">
                      <a:alpha val="43137"/>
                    </a:srgbClr>
                  </a:outerShdw>
                </a:effectLst>
                <a:highlight>
                  <a:srgbClr val="00FFFF"/>
                </a:highlight>
              </a:rPr>
              <a:t>of consumers</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not producers or the health of the market as a whole</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A</a:t>
            </a:r>
            <a:r>
              <a:rPr lang="en-US" dirty="0">
                <a:solidFill>
                  <a:srgbClr val="002060"/>
                </a:solidFill>
                <a:effectLst>
                  <a:outerShdw blurRad="38100" dist="38100" dir="2700000" algn="tl">
                    <a:srgbClr val="000000">
                      <a:alpha val="43137"/>
                    </a:srgbClr>
                  </a:outerShdw>
                </a:effectLst>
              </a:rPr>
              <a:t>ntitrust doctrine </a:t>
            </a:r>
            <a:r>
              <a:rPr lang="en-US" b="1" dirty="0">
                <a:solidFill>
                  <a:srgbClr val="FF0000"/>
                </a:solidFill>
                <a:effectLst>
                  <a:outerShdw blurRad="38100" dist="38100" dir="2700000" algn="tl">
                    <a:srgbClr val="000000">
                      <a:alpha val="43137"/>
                    </a:srgbClr>
                  </a:outerShdw>
                </a:effectLst>
              </a:rPr>
              <a:t>views </a:t>
            </a:r>
            <a:r>
              <a:rPr lang="en-US" b="1" dirty="0">
                <a:solidFill>
                  <a:srgbClr val="FF0000"/>
                </a:solidFill>
                <a:effectLst>
                  <a:outerShdw blurRad="38100" dist="38100" dir="2700000" algn="tl">
                    <a:srgbClr val="000000">
                      <a:alpha val="43137"/>
                    </a:srgbClr>
                  </a:outerShdw>
                </a:effectLst>
                <a:highlight>
                  <a:srgbClr val="FFFF00"/>
                </a:highlight>
              </a:rPr>
              <a:t>low consumer prices</a:t>
            </a:r>
            <a:r>
              <a:rPr lang="pl-PL" b="1" dirty="0">
                <a:solidFill>
                  <a:srgbClr val="FF0000"/>
                </a:solidFill>
                <a:effectLst>
                  <a:outerShdw blurRad="38100" dist="38100" dir="2700000" algn="tl">
                    <a:srgbClr val="000000">
                      <a:alpha val="43137"/>
                    </a:srgbClr>
                  </a:outerShdw>
                </a:effectLst>
                <a:highlight>
                  <a:srgbClr val="FFFF00"/>
                </a:highlight>
              </a:rPr>
              <a:t> </a:t>
            </a:r>
            <a:r>
              <a:rPr lang="pl-PL" b="1" dirty="0">
                <a:solidFill>
                  <a:srgbClr val="FF0000"/>
                </a:solidFill>
                <a:effectLst>
                  <a:outerShdw blurRad="38100" dist="38100" dir="2700000" algn="tl">
                    <a:srgbClr val="000000">
                      <a:alpha val="43137"/>
                    </a:srgbClr>
                  </a:outerShdw>
                </a:effectLst>
              </a:rPr>
              <a:t>alone as</a:t>
            </a:r>
            <a:r>
              <a:rPr lang="en-US" b="1" dirty="0">
                <a:solidFill>
                  <a:srgbClr val="FF0000"/>
                </a:solidFill>
                <a:effectLst>
                  <a:outerShdw blurRad="38100" dist="38100" dir="2700000" algn="tl">
                    <a:srgbClr val="000000">
                      <a:alpha val="43137"/>
                    </a:srgbClr>
                  </a:outerShdw>
                </a:effectLst>
              </a:rPr>
              <a:t> evidence </a:t>
            </a:r>
            <a:r>
              <a:rPr lang="en-US" dirty="0">
                <a:solidFill>
                  <a:srgbClr val="002060"/>
                </a:solidFill>
                <a:effectLst>
                  <a:outerShdw blurRad="38100" dist="38100" dir="2700000" algn="tl">
                    <a:srgbClr val="000000">
                      <a:alpha val="43137"/>
                    </a:srgbClr>
                  </a:outerShdw>
                </a:effectLst>
              </a:rPr>
              <a:t>of </a:t>
            </a:r>
            <a:r>
              <a:rPr lang="en-US" b="1" dirty="0">
                <a:solidFill>
                  <a:srgbClr val="0070C0"/>
                </a:solidFill>
                <a:effectLst>
                  <a:outerShdw blurRad="38100" dist="38100" dir="2700000" algn="tl">
                    <a:srgbClr val="000000">
                      <a:alpha val="43137"/>
                    </a:srgbClr>
                  </a:outerShdw>
                </a:effectLst>
              </a:rPr>
              <a:t>sound competition</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5833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01CDAA1-9DA3-EFE9-13CE-018298F4F62B}"/>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65B9F848-7063-0C34-B55E-4EB8BE3C78C8}"/>
              </a:ext>
            </a:extLst>
          </p:cNvPr>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rPr>
              <a:t>By this measure</a:t>
            </a:r>
            <a:r>
              <a:rPr lang="pl-PL" b="1" dirty="0">
                <a:solidFill>
                  <a:srgbClr val="002060"/>
                </a:solidFill>
                <a:effectLst>
                  <a:outerShdw blurRad="38100" dist="38100" dir="2700000" algn="tl">
                    <a:srgbClr val="000000">
                      <a:alpha val="43137"/>
                    </a:srgbClr>
                  </a:outerShdw>
                </a:effectLst>
              </a:rPr>
              <a:t> [low prices]</a:t>
            </a:r>
            <a:r>
              <a:rPr lang="en-US" b="1" dirty="0">
                <a:solidFill>
                  <a:srgbClr val="002060"/>
                </a:solidFill>
                <a:effectLst>
                  <a:outerShdw blurRad="38100" dist="38100" dir="2700000" algn="tl">
                    <a:srgbClr val="000000">
                      <a:alpha val="43137"/>
                    </a:srgbClr>
                  </a:outerShdw>
                </a:effectLst>
              </a:rPr>
              <a:t>, Amazon has </a:t>
            </a:r>
            <a:r>
              <a:rPr lang="en-US" b="1" dirty="0">
                <a:solidFill>
                  <a:srgbClr val="FF0000"/>
                </a:solidFill>
                <a:effectLst>
                  <a:outerShdw blurRad="38100" dist="38100" dir="2700000" algn="tl">
                    <a:srgbClr val="000000">
                      <a:alpha val="43137"/>
                    </a:srgbClr>
                  </a:outerShdw>
                </a:effectLst>
              </a:rPr>
              <a:t>excelled</a:t>
            </a:r>
            <a:r>
              <a:rPr lang="en-US" dirty="0">
                <a:solidFill>
                  <a:srgbClr val="002060"/>
                </a:solidFill>
                <a:effectLst>
                  <a:outerShdw blurRad="38100" dist="38100" dir="2700000" algn="tl">
                    <a:srgbClr val="000000">
                      <a:alpha val="43137"/>
                    </a:srgbClr>
                  </a:outerShdw>
                </a:effectLst>
              </a:rPr>
              <a:t>; it has </a:t>
            </a:r>
            <a:r>
              <a:rPr lang="en-US" b="1" dirty="0">
                <a:solidFill>
                  <a:srgbClr val="FF0000"/>
                </a:solidFill>
                <a:effectLst>
                  <a:outerShdw blurRad="38100" dist="38100" dir="2700000" algn="tl">
                    <a:srgbClr val="000000">
                      <a:alpha val="43137"/>
                    </a:srgbClr>
                  </a:outerShdw>
                </a:effectLst>
              </a:rPr>
              <a:t>evaded government scrutiny </a:t>
            </a:r>
            <a:r>
              <a:rPr lang="en-US" dirty="0">
                <a:solidFill>
                  <a:srgbClr val="002060"/>
                </a:solidFill>
                <a:effectLst>
                  <a:outerShdw blurRad="38100" dist="38100" dir="2700000" algn="tl">
                    <a:srgbClr val="000000">
                      <a:alpha val="43137"/>
                    </a:srgbClr>
                  </a:outerShdw>
                </a:effectLst>
              </a:rPr>
              <a:t>in part through fervently devoting its </a:t>
            </a:r>
            <a:r>
              <a:rPr lang="pl-PL" dirty="0">
                <a:solidFill>
                  <a:srgbClr val="002060"/>
                </a:solidFill>
                <a:effectLst>
                  <a:outerShdw blurRad="38100" dist="38100" dir="2700000" algn="tl">
                    <a:srgbClr val="000000">
                      <a:alpha val="43137"/>
                    </a:srgbClr>
                  </a:outerShdw>
                </a:effectLst>
              </a:rPr>
              <a:t>business</a:t>
            </a:r>
            <a:r>
              <a:rPr lang="en-US" dirty="0">
                <a:solidFill>
                  <a:srgbClr val="002060"/>
                </a:solidFill>
                <a:effectLst>
                  <a:outerShdw blurRad="38100" dist="38100" dir="2700000" algn="tl">
                    <a:srgbClr val="000000">
                      <a:alpha val="43137"/>
                    </a:srgbClr>
                  </a:outerShdw>
                </a:effectLst>
              </a:rPr>
              <a:t> strategy and rhetoric to </a:t>
            </a:r>
            <a:r>
              <a:rPr lang="en-US" b="1" dirty="0">
                <a:solidFill>
                  <a:srgbClr val="FF0000"/>
                </a:solidFill>
                <a:effectLst>
                  <a:outerShdw blurRad="38100" dist="38100" dir="2700000" algn="tl">
                    <a:srgbClr val="000000">
                      <a:alpha val="43137"/>
                    </a:srgbClr>
                  </a:outerShdw>
                </a:effectLst>
              </a:rPr>
              <a:t>reducing prices </a:t>
            </a:r>
            <a:r>
              <a:rPr lang="en-US" dirty="0">
                <a:solidFill>
                  <a:srgbClr val="002060"/>
                </a:solidFill>
                <a:effectLst>
                  <a:outerShdw blurRad="38100" dist="38100" dir="2700000" algn="tl">
                    <a:srgbClr val="000000">
                      <a:alpha val="43137"/>
                    </a:srgbClr>
                  </a:outerShdw>
                </a:effectLst>
              </a:rPr>
              <a:t>for consumers.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It is as if </a:t>
            </a:r>
            <a:r>
              <a:rPr lang="pl-PL" dirty="0">
                <a:solidFill>
                  <a:srgbClr val="002060"/>
                </a:solidFill>
                <a:effectLst>
                  <a:outerShdw blurRad="38100" dist="38100" dir="2700000" algn="tl">
                    <a:srgbClr val="000000">
                      <a:alpha val="43137"/>
                    </a:srgbClr>
                  </a:outerShdw>
                </a:effectLst>
              </a:rPr>
              <a:t>Jeff </a:t>
            </a:r>
            <a:r>
              <a:rPr lang="en-US" b="1" dirty="0">
                <a:solidFill>
                  <a:srgbClr val="FF0000"/>
                </a:solidFill>
                <a:effectLst>
                  <a:outerShdw blurRad="38100" dist="38100" dir="2700000" algn="tl">
                    <a:srgbClr val="000000">
                      <a:alpha val="43137"/>
                    </a:srgbClr>
                  </a:outerShdw>
                </a:effectLst>
              </a:rPr>
              <a:t>Bezos charted the company’s growth </a:t>
            </a:r>
            <a:r>
              <a:rPr lang="en-US" b="1" dirty="0">
                <a:solidFill>
                  <a:srgbClr val="0070C0"/>
                </a:solidFill>
                <a:effectLst>
                  <a:outerShdw blurRad="38100" dist="38100" dir="2700000" algn="tl">
                    <a:srgbClr val="000000">
                      <a:alpha val="43137"/>
                    </a:srgbClr>
                  </a:outerShdw>
                </a:effectLst>
              </a:rPr>
              <a:t>by first drawing a map of antitrust laws</a:t>
            </a:r>
            <a:r>
              <a:rPr lang="en-US" dirty="0">
                <a:solidFill>
                  <a:srgbClr val="002060"/>
                </a:solidFill>
                <a:effectLst>
                  <a:outerShdw blurRad="38100" dist="38100" dir="2700000" algn="tl">
                    <a:srgbClr val="000000">
                      <a:alpha val="43137"/>
                    </a:srgbClr>
                  </a:outerShdw>
                </a:effectLst>
              </a:rPr>
              <a:t> and then devising routes to smoothly bypass them.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With its</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zeal for consumers</a:t>
            </a:r>
            <a:r>
              <a:rPr lang="en-US" dirty="0">
                <a:solidFill>
                  <a:srgbClr val="002060"/>
                </a:solidFill>
                <a:effectLst>
                  <a:outerShdw blurRad="38100" dist="38100" dir="2700000" algn="tl">
                    <a:srgbClr val="000000">
                      <a:alpha val="43137"/>
                    </a:srgbClr>
                  </a:outerShdw>
                </a:effectLst>
              </a:rPr>
              <a:t>, Amazon has </a:t>
            </a:r>
            <a:r>
              <a:rPr lang="en-US" dirty="0">
                <a:effectLst>
                  <a:outerShdw blurRad="38100" dist="38100" dir="2700000" algn="tl">
                    <a:srgbClr val="000000">
                      <a:alpha val="43137"/>
                    </a:srgbClr>
                  </a:outerShdw>
                </a:effectLst>
              </a:rPr>
              <a:t>marched toward </a:t>
            </a:r>
            <a:r>
              <a:rPr lang="pl-PL" dirty="0">
                <a:effectLst>
                  <a:outerShdw blurRad="38100" dist="38100" dir="2700000" algn="tl">
                    <a:srgbClr val="000000">
                      <a:alpha val="43137"/>
                    </a:srgbClr>
                  </a:outerShdw>
                </a:effectLst>
              </a:rPr>
              <a:t>a </a:t>
            </a:r>
            <a:r>
              <a:rPr lang="en-US" b="1" dirty="0">
                <a:solidFill>
                  <a:srgbClr val="FF0000"/>
                </a:solidFill>
                <a:effectLst>
                  <a:outerShdw blurRad="38100" dist="38100" dir="2700000" algn="tl">
                    <a:srgbClr val="000000">
                      <a:alpha val="43137"/>
                    </a:srgbClr>
                  </a:outerShdw>
                </a:effectLst>
                <a:highlight>
                  <a:srgbClr val="FFFF00"/>
                </a:highlight>
              </a:rPr>
              <a:t>monopoly</a:t>
            </a:r>
            <a:r>
              <a:rPr lang="en-US" b="1" dirty="0">
                <a:solidFill>
                  <a:srgbClr val="FF000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while acting (seemingly) in step with</a:t>
            </a:r>
            <a:r>
              <a:rPr lang="en-US" dirty="0">
                <a:effectLst>
                  <a:outerShdw blurRad="38100" dist="38100" dir="2700000" algn="tl">
                    <a:srgbClr val="000000">
                      <a:alpha val="43137"/>
                    </a:srgbClr>
                  </a:outerShdw>
                </a:effectLst>
              </a:rPr>
              <a:t> contemporary</a:t>
            </a:r>
            <a:r>
              <a:rPr lang="pl-PL" dirty="0">
                <a:effectLst>
                  <a:outerShdw blurRad="38100" dist="38100" dir="2700000" algn="tl">
                    <a:srgbClr val="000000">
                      <a:alpha val="43137"/>
                    </a:srgbClr>
                  </a:outerShdw>
                </a:effectLst>
              </a:rPr>
              <a:t> competition law</a:t>
            </a:r>
            <a:r>
              <a:rPr lang="en-US" dirty="0">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693199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9C4DE90-B332-5614-16F2-2DB6A6E4B8EB}"/>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a:t>
            </a:r>
            <a:endParaRPr lang="en-US" dirty="0"/>
          </a:p>
        </p:txBody>
      </p:sp>
      <p:sp>
        <p:nvSpPr>
          <p:cNvPr id="3" name="Symbol zastępczy zawartości 2">
            <a:extLst>
              <a:ext uri="{FF2B5EF4-FFF2-40B4-BE49-F238E27FC236}">
                <a16:creationId xmlns:a16="http://schemas.microsoft.com/office/drawing/2014/main" id="{FE62A49E-0BFA-6F27-F15E-CEE122BD28AE}"/>
              </a:ext>
            </a:extLst>
          </p:cNvPr>
          <p:cNvSpPr>
            <a:spLocks noGrp="1"/>
          </p:cNvSpPr>
          <p:nvPr>
            <p:ph idx="1"/>
          </p:nvPr>
        </p:nvSpPr>
        <p:spPr/>
        <p:txBody>
          <a:bodyPr>
            <a:normAutofit/>
          </a:bodyPr>
          <a:lstStyle/>
          <a:p>
            <a:r>
              <a:rPr lang="en-US" sz="3600" dirty="0">
                <a:solidFill>
                  <a:srgbClr val="002060"/>
                </a:solidFill>
                <a:effectLst>
                  <a:outerShdw blurRad="38100" dist="38100" dir="2700000" algn="tl">
                    <a:srgbClr val="000000">
                      <a:alpha val="43137"/>
                    </a:srgbClr>
                  </a:outerShdw>
                </a:effectLst>
              </a:rPr>
              <a:t>The</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following</a:t>
            </a:r>
            <a:r>
              <a:rPr lang="pl-PL" sz="3600" dirty="0">
                <a:solidFill>
                  <a:srgbClr val="002060"/>
                </a:solidFill>
                <a:effectLst>
                  <a:outerShdw blurRad="38100" dist="38100" dir="2700000" algn="tl">
                    <a:srgbClr val="000000">
                      <a:alpha val="43137"/>
                    </a:srgbClr>
                  </a:outerShdw>
                </a:effectLst>
              </a:rPr>
              <a:t> </a:t>
            </a:r>
            <a:r>
              <a:rPr lang="pl-PL" sz="3600" dirty="0">
                <a:solidFill>
                  <a:srgbClr val="FF0000"/>
                </a:solidFill>
                <a:effectLst>
                  <a:outerShdw blurRad="38100" dist="38100" dir="2700000" algn="tl">
                    <a:srgbClr val="000000">
                      <a:alpha val="43137"/>
                    </a:srgbClr>
                  </a:outerShdw>
                </a:effectLst>
                <a:highlight>
                  <a:srgbClr val="FFFF00"/>
                </a:highlight>
              </a:rPr>
              <a:t>THESIS</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is</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advanced</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here</a:t>
            </a:r>
            <a:r>
              <a:rPr lang="pl-PL" sz="3600" dirty="0">
                <a:solidFill>
                  <a:srgbClr val="00206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gauging real competition in the 21st-century </a:t>
            </a:r>
            <a:r>
              <a:rPr lang="en-US" sz="3600" dirty="0">
                <a:solidFill>
                  <a:srgbClr val="002060"/>
                </a:solidFill>
                <a:effectLst>
                  <a:outerShdw blurRad="38100" dist="38100" dir="2700000" algn="tl">
                    <a:srgbClr val="000000">
                      <a:alpha val="43137"/>
                    </a:srgbClr>
                  </a:outerShdw>
                </a:effectLst>
              </a:rPr>
              <a:t>marketplace— especially in the case of </a:t>
            </a:r>
            <a:r>
              <a:rPr lang="en-US" sz="3600" b="1" dirty="0">
                <a:solidFill>
                  <a:srgbClr val="FF0000"/>
                </a:solidFill>
                <a:effectLst>
                  <a:outerShdw blurRad="38100" dist="38100" dir="2700000" algn="tl">
                    <a:srgbClr val="000000">
                      <a:alpha val="43137"/>
                    </a:srgbClr>
                  </a:outerShdw>
                </a:effectLst>
              </a:rPr>
              <a:t>online platforms</a:t>
            </a:r>
            <a:r>
              <a:rPr lang="en-US" sz="3600" dirty="0">
                <a:solidFill>
                  <a:srgbClr val="002060"/>
                </a:solidFill>
                <a:effectLst>
                  <a:outerShdw blurRad="38100" dist="38100" dir="2700000" algn="tl">
                    <a:srgbClr val="000000">
                      <a:alpha val="43137"/>
                    </a:srgbClr>
                  </a:outerShdw>
                </a:effectLst>
              </a:rPr>
              <a:t>— </a:t>
            </a:r>
            <a:r>
              <a:rPr lang="en-US" sz="3600" b="1" dirty="0">
                <a:solidFill>
                  <a:srgbClr val="0070C0"/>
                </a:solidFill>
                <a:effectLst>
                  <a:outerShdw blurRad="38100" dist="38100" dir="2700000" algn="tl">
                    <a:srgbClr val="000000">
                      <a:alpha val="43137"/>
                    </a:srgbClr>
                  </a:outerShdw>
                </a:effectLst>
              </a:rPr>
              <a:t>requires analyzing </a:t>
            </a:r>
            <a:r>
              <a:rPr lang="en-US" sz="3600" b="1" dirty="0">
                <a:solidFill>
                  <a:srgbClr val="FF0000"/>
                </a:solidFill>
                <a:effectLst>
                  <a:outerShdw blurRad="38100" dist="38100" dir="2700000" algn="tl">
                    <a:srgbClr val="000000">
                      <a:alpha val="43137"/>
                    </a:srgbClr>
                  </a:outerShdw>
                </a:effectLst>
              </a:rPr>
              <a:t>the underlying structure and dynamics of markets</a:t>
            </a:r>
            <a:r>
              <a:rPr lang="en-US" sz="3600" dirty="0">
                <a:solidFill>
                  <a:srgbClr val="FF0000"/>
                </a:solidFill>
                <a:effectLst>
                  <a:outerShdw blurRad="38100" dist="38100" dir="2700000" algn="tl">
                    <a:srgbClr val="000000">
                      <a:alpha val="43137"/>
                    </a:srgbClr>
                  </a:outerShdw>
                </a:effectLst>
              </a:rPr>
              <a:t>.</a:t>
            </a:r>
            <a:endParaRPr lang="pl-PL" sz="3600" dirty="0">
              <a:solidFill>
                <a:srgbClr val="FF0000"/>
              </a:solidFill>
              <a:effectLst>
                <a:outerShdw blurRad="38100" dist="38100" dir="2700000" algn="tl">
                  <a:srgbClr val="000000">
                    <a:alpha val="43137"/>
                  </a:srgbClr>
                </a:outerShdw>
              </a:effectLst>
            </a:endParaRPr>
          </a:p>
          <a:p>
            <a:r>
              <a:rPr lang="en-US" sz="3600" dirty="0">
                <a:solidFill>
                  <a:srgbClr val="00206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Rather than pegging </a:t>
            </a:r>
            <a:r>
              <a:rPr lang="en-US" sz="3600" b="1" dirty="0">
                <a:solidFill>
                  <a:srgbClr val="002060"/>
                </a:solidFill>
                <a:effectLst>
                  <a:outerShdw blurRad="38100" dist="38100" dir="2700000" algn="tl">
                    <a:srgbClr val="000000">
                      <a:alpha val="43137"/>
                    </a:srgbClr>
                  </a:outerShdw>
                </a:effectLst>
              </a:rPr>
              <a:t>competition </a:t>
            </a:r>
            <a:r>
              <a:rPr lang="en-US" sz="3600" b="1" dirty="0">
                <a:solidFill>
                  <a:srgbClr val="FF0000"/>
                </a:solidFill>
                <a:effectLst>
                  <a:outerShdw blurRad="38100" dist="38100" dir="2700000" algn="tl">
                    <a:srgbClr val="000000">
                      <a:alpha val="43137"/>
                    </a:srgbClr>
                  </a:outerShdw>
                </a:effectLst>
              </a:rPr>
              <a:t>to</a:t>
            </a:r>
            <a:r>
              <a:rPr lang="en-US" sz="3600" b="1" dirty="0">
                <a:solidFill>
                  <a:srgbClr val="002060"/>
                </a:solidFill>
                <a:effectLst>
                  <a:outerShdw blurRad="38100" dist="38100" dir="2700000" algn="tl">
                    <a:srgbClr val="000000">
                      <a:alpha val="43137"/>
                    </a:srgbClr>
                  </a:outerShdw>
                </a:effectLst>
              </a:rPr>
              <a:t> a narrow set of outcomes</a:t>
            </a:r>
            <a:r>
              <a:rPr lang="en-US" sz="3600" dirty="0">
                <a:solidFill>
                  <a:srgbClr val="002060"/>
                </a:solidFill>
                <a:effectLst>
                  <a:outerShdw blurRad="38100" dist="38100" dir="2700000" algn="tl">
                    <a:srgbClr val="000000">
                      <a:alpha val="43137"/>
                    </a:srgbClr>
                  </a:outerShdw>
                </a:effectLst>
              </a:rPr>
              <a:t>, this approach would examine the </a:t>
            </a:r>
            <a:r>
              <a:rPr lang="en-US" sz="3600" b="1" dirty="0">
                <a:solidFill>
                  <a:srgbClr val="FF0000"/>
                </a:solidFill>
                <a:effectLst>
                  <a:outerShdw blurRad="38100" dist="38100" dir="2700000" algn="tl">
                    <a:srgbClr val="000000">
                      <a:alpha val="43137"/>
                    </a:srgbClr>
                  </a:outerShdw>
                </a:effectLst>
              </a:rPr>
              <a:t>competitive process </a:t>
            </a:r>
            <a:r>
              <a:rPr lang="en-US" sz="3600" dirty="0">
                <a:solidFill>
                  <a:srgbClr val="002060"/>
                </a:solidFill>
                <a:effectLst>
                  <a:outerShdw blurRad="38100" dist="38100" dir="2700000" algn="tl">
                    <a:srgbClr val="000000">
                      <a:alpha val="43137"/>
                    </a:srgbClr>
                  </a:outerShdw>
                </a:effectLst>
              </a:rPr>
              <a:t>itself. </a:t>
            </a:r>
          </a:p>
        </p:txBody>
      </p:sp>
    </p:spTree>
    <p:extLst>
      <p:ext uri="{BB962C8B-B14F-4D97-AF65-F5344CB8AC3E}">
        <p14:creationId xmlns:p14="http://schemas.microsoft.com/office/powerpoint/2010/main" val="138993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301D2D-B54C-B108-EAEF-D30478F71498}"/>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a:t>
            </a:r>
            <a:endParaRPr lang="en-US" dirty="0"/>
          </a:p>
        </p:txBody>
      </p:sp>
      <p:sp>
        <p:nvSpPr>
          <p:cNvPr id="3" name="Symbol zastępczy zawartości 2">
            <a:extLst>
              <a:ext uri="{FF2B5EF4-FFF2-40B4-BE49-F238E27FC236}">
                <a16:creationId xmlns:a16="http://schemas.microsoft.com/office/drawing/2014/main" id="{819272C7-7EBC-BBD9-6049-1ED7999833EF}"/>
              </a:ext>
            </a:extLst>
          </p:cNvPr>
          <p:cNvSpPr>
            <a:spLocks noGrp="1"/>
          </p:cNvSpPr>
          <p:nvPr>
            <p:ph idx="1"/>
          </p:nvPr>
        </p:nvSpPr>
        <p:spPr/>
        <p:txBody>
          <a:bodyPr>
            <a:normAutofit fontScale="85000" lnSpcReduction="10000"/>
          </a:bodyPr>
          <a:lstStyle/>
          <a:p>
            <a:r>
              <a:rPr lang="en-US" dirty="0">
                <a:solidFill>
                  <a:srgbClr val="002060"/>
                </a:solidFill>
                <a:effectLst>
                  <a:outerShdw blurRad="38100" dist="38100" dir="2700000" algn="tl">
                    <a:srgbClr val="000000">
                      <a:alpha val="43137"/>
                    </a:srgbClr>
                  </a:outerShdw>
                </a:effectLst>
              </a:rPr>
              <a:t>One of the most significant changes in antitrust law and interpretation over the last century has been </a:t>
            </a:r>
            <a:r>
              <a:rPr lang="en-US" b="1" dirty="0">
                <a:solidFill>
                  <a:srgbClr val="FF0000"/>
                </a:solidFill>
                <a:effectLst>
                  <a:outerShdw blurRad="38100" dist="38100" dir="2700000" algn="tl">
                    <a:srgbClr val="000000">
                      <a:alpha val="43137"/>
                    </a:srgbClr>
                  </a:outerShdw>
                </a:effectLst>
                <a:highlight>
                  <a:srgbClr val="00FF00"/>
                </a:highlight>
              </a:rPr>
              <a:t>the move away from </a:t>
            </a:r>
            <a:r>
              <a:rPr lang="pl-PL" b="1" dirty="0">
                <a:solidFill>
                  <a:srgbClr val="FF0000"/>
                </a:solidFill>
                <a:effectLst>
                  <a:outerShdw blurRad="38100" dist="38100" dir="2700000" algn="tl">
                    <a:srgbClr val="000000">
                      <a:alpha val="43137"/>
                    </a:srgbClr>
                  </a:outerShdw>
                </a:effectLst>
                <a:highlight>
                  <a:srgbClr val="00FF00"/>
                </a:highlight>
              </a:rPr>
              <a:t>ECONOMIC STRUCTURALISM</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Broadly, </a:t>
            </a:r>
            <a:r>
              <a:rPr lang="en-US" b="1" dirty="0">
                <a:solidFill>
                  <a:srgbClr val="002060"/>
                </a:solidFill>
                <a:effectLst>
                  <a:outerShdw blurRad="38100" dist="38100" dir="2700000" algn="tl">
                    <a:srgbClr val="000000">
                      <a:alpha val="43137"/>
                    </a:srgbClr>
                  </a:outerShdw>
                </a:effectLst>
              </a:rPr>
              <a:t>economic </a:t>
            </a:r>
            <a:r>
              <a:rPr lang="en-US" b="1" dirty="0">
                <a:solidFill>
                  <a:srgbClr val="FF0000"/>
                </a:solidFill>
                <a:effectLst>
                  <a:outerShdw blurRad="38100" dist="38100" dir="2700000" algn="tl">
                    <a:srgbClr val="000000">
                      <a:alpha val="43137"/>
                    </a:srgbClr>
                  </a:outerShdw>
                </a:effectLst>
              </a:rPr>
              <a:t>structuralism</a:t>
            </a:r>
            <a:r>
              <a:rPr lang="en-US" b="1" dirty="0">
                <a:solidFill>
                  <a:srgbClr val="002060"/>
                </a:solidFill>
                <a:effectLst>
                  <a:outerShdw blurRad="38100" dist="38100" dir="2700000" algn="tl">
                    <a:srgbClr val="000000">
                      <a:alpha val="43137"/>
                    </a:srgbClr>
                  </a:outerShdw>
                </a:effectLst>
              </a:rPr>
              <a:t> rests on the idea that concentrated </a:t>
            </a:r>
            <a:r>
              <a:rPr lang="en-US" b="1" dirty="0">
                <a:solidFill>
                  <a:srgbClr val="FF0000"/>
                </a:solidFill>
                <a:effectLst>
                  <a:outerShdw blurRad="38100" dist="38100" dir="2700000" algn="tl">
                    <a:srgbClr val="000000">
                      <a:alpha val="43137"/>
                    </a:srgbClr>
                  </a:outerShdw>
                </a:effectLst>
                <a:highlight>
                  <a:srgbClr val="FFFF00"/>
                </a:highlight>
              </a:rPr>
              <a:t>market structures </a:t>
            </a:r>
            <a:r>
              <a:rPr lang="en-US" b="1" dirty="0">
                <a:solidFill>
                  <a:srgbClr val="FF0000"/>
                </a:solidFill>
                <a:effectLst>
                  <a:outerShdw blurRad="38100" dist="38100" dir="2700000" algn="tl">
                    <a:srgbClr val="000000">
                      <a:alpha val="43137"/>
                    </a:srgbClr>
                  </a:outerShdw>
                </a:effectLst>
              </a:rPr>
              <a:t>promote anticompetitive forms of conduct </a:t>
            </a:r>
            <a:r>
              <a:rPr lang="pl-PL" dirty="0">
                <a:solidFill>
                  <a:srgbClr val="002060"/>
                </a:solidFill>
                <a:effectLst>
                  <a:outerShdw blurRad="38100" dist="38100" dir="2700000" algn="tl">
                    <a:srgbClr val="000000">
                      <a:alpha val="43137"/>
                    </a:srgbClr>
                  </a:outerShdw>
                </a:effectLst>
              </a:rPr>
              <a:t>….</a:t>
            </a:r>
          </a:p>
          <a:p>
            <a:r>
              <a:rPr lang="pl-PL" b="1" dirty="0">
                <a:solidFill>
                  <a:srgbClr val="002060"/>
                </a:solidFill>
                <a:effectLst>
                  <a:outerShdw blurRad="38100" dist="38100" dir="2700000" algn="tl">
                    <a:srgbClr val="000000">
                      <a:alpha val="43137"/>
                    </a:srgbClr>
                  </a:outerShdw>
                </a:effectLst>
              </a:rPr>
              <a:t>C</a:t>
            </a:r>
            <a:r>
              <a:rPr lang="en-US" b="1" dirty="0">
                <a:solidFill>
                  <a:srgbClr val="002060"/>
                </a:solidFill>
                <a:effectLst>
                  <a:outerShdw blurRad="38100" dist="38100" dir="2700000" algn="tl">
                    <a:srgbClr val="000000">
                      <a:alpha val="43137"/>
                    </a:srgbClr>
                  </a:outerShdw>
                </a:effectLst>
              </a:rPr>
              <a:t>ourts </a:t>
            </a:r>
            <a:r>
              <a:rPr lang="pl-PL" b="1" dirty="0">
                <a:solidFill>
                  <a:srgbClr val="002060"/>
                </a:solidFill>
                <a:effectLst>
                  <a:outerShdw blurRad="38100" dist="38100" dir="2700000" algn="tl">
                    <a:srgbClr val="000000">
                      <a:alpha val="43137"/>
                    </a:srgbClr>
                  </a:outerShdw>
                </a:effectLst>
              </a:rPr>
              <a:t>used to </a:t>
            </a:r>
            <a:r>
              <a:rPr lang="en-US" b="1" dirty="0">
                <a:solidFill>
                  <a:srgbClr val="FF0000"/>
                </a:solidFill>
                <a:effectLst>
                  <a:outerShdw blurRad="38100" dist="38100" dir="2700000" algn="tl">
                    <a:srgbClr val="000000">
                      <a:alpha val="43137"/>
                    </a:srgbClr>
                  </a:outerShdw>
                </a:effectLst>
              </a:rPr>
              <a:t>block mergers </a:t>
            </a:r>
            <a:r>
              <a:rPr lang="en-US" dirty="0">
                <a:solidFill>
                  <a:srgbClr val="002060"/>
                </a:solidFill>
                <a:effectLst>
                  <a:outerShdw blurRad="38100" dist="38100" dir="2700000" algn="tl">
                    <a:srgbClr val="000000">
                      <a:alpha val="43137"/>
                    </a:srgbClr>
                  </a:outerShdw>
                </a:effectLst>
              </a:rPr>
              <a:t>that would lead to anticompetitive market structures.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In some instances, this meant </a:t>
            </a:r>
            <a:r>
              <a:rPr lang="en-US" b="1" dirty="0">
                <a:solidFill>
                  <a:srgbClr val="FF0000"/>
                </a:solidFill>
                <a:effectLst>
                  <a:outerShdw blurRad="38100" dist="38100" dir="2700000" algn="tl">
                    <a:srgbClr val="000000">
                      <a:alpha val="43137"/>
                    </a:srgbClr>
                  </a:outerShdw>
                </a:effectLst>
              </a:rPr>
              <a:t>halting horizontal deals— mergers </a:t>
            </a:r>
            <a:r>
              <a:rPr lang="en-US" dirty="0">
                <a:solidFill>
                  <a:srgbClr val="002060"/>
                </a:solidFill>
                <a:effectLst>
                  <a:outerShdw blurRad="38100" dist="38100" dir="2700000" algn="tl">
                    <a:srgbClr val="000000">
                      <a:alpha val="43137"/>
                    </a:srgbClr>
                  </a:outerShdw>
                </a:effectLst>
              </a:rPr>
              <a:t>combining two direct competitors operating in the same market or product line— that would have handed the new entity a large share of the market. In others, it involved </a:t>
            </a:r>
            <a:r>
              <a:rPr lang="en-US" b="1" dirty="0">
                <a:solidFill>
                  <a:srgbClr val="FF0000"/>
                </a:solidFill>
                <a:effectLst>
                  <a:outerShdw blurRad="38100" dist="38100" dir="2700000" algn="tl">
                    <a:srgbClr val="000000">
                      <a:alpha val="43137"/>
                    </a:srgbClr>
                  </a:outerShdw>
                </a:effectLst>
              </a:rPr>
              <a:t>rejecting vertical mergers</a:t>
            </a:r>
            <a:r>
              <a:rPr lang="en-US" dirty="0">
                <a:solidFill>
                  <a:srgbClr val="002060"/>
                </a:solidFill>
                <a:effectLst>
                  <a:outerShdw blurRad="38100" dist="38100" dir="2700000" algn="tl">
                    <a:srgbClr val="000000">
                      <a:alpha val="43137"/>
                    </a:srgbClr>
                  </a:outerShdw>
                </a:effectLst>
              </a:rPr>
              <a:t>—deals joining companies that operated at different tiers of the same supply or production chain—that would foreclose</a:t>
            </a:r>
            <a:r>
              <a:rPr lang="pl-PL" dirty="0">
                <a:solidFill>
                  <a:srgbClr val="002060"/>
                </a:solidFill>
                <a:effectLst>
                  <a:outerShdw blurRad="38100" dist="38100" dir="2700000" algn="tl">
                    <a:srgbClr val="000000">
                      <a:alpha val="43137"/>
                    </a:srgbClr>
                  </a:outerShdw>
                </a:effectLst>
              </a:rPr>
              <a:t> (exclude)</a:t>
            </a:r>
            <a:r>
              <a:rPr lang="en-US" dirty="0">
                <a:solidFill>
                  <a:srgbClr val="002060"/>
                </a:solidFill>
                <a:effectLst>
                  <a:outerShdw blurRad="38100" dist="38100" dir="2700000" algn="tl">
                    <a:srgbClr val="000000">
                      <a:alpha val="43137"/>
                    </a:srgbClr>
                  </a:outerShdw>
                </a:effectLst>
              </a:rPr>
              <a:t> competition.</a:t>
            </a:r>
          </a:p>
        </p:txBody>
      </p:sp>
    </p:spTree>
    <p:extLst>
      <p:ext uri="{BB962C8B-B14F-4D97-AF65-F5344CB8AC3E}">
        <p14:creationId xmlns:p14="http://schemas.microsoft.com/office/powerpoint/2010/main" val="2907343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A572537-6620-D7EC-4B5C-3CD5CBF3AB97}"/>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 REVOLUTION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278BE3B0-A5C2-DE22-7A8B-FFBF1F5E3C55}"/>
              </a:ext>
            </a:extLst>
          </p:cNvPr>
          <p:cNvSpPr>
            <a:spLocks noGrp="1"/>
          </p:cNvSpPr>
          <p:nvPr>
            <p:ph idx="1"/>
          </p:nvPr>
        </p:nvSpPr>
        <p:spPr>
          <a:xfrm>
            <a:off x="838200" y="1825625"/>
            <a:ext cx="10515600" cy="4850478"/>
          </a:xfrm>
        </p:spPr>
        <p:txBody>
          <a:bodyPr>
            <a:normAutofit/>
          </a:bodyPr>
          <a:lstStyle/>
          <a:p>
            <a:r>
              <a:rPr lang="en-US" dirty="0"/>
              <a:t> </a:t>
            </a:r>
            <a:r>
              <a:rPr lang="en-US" dirty="0">
                <a:solidFill>
                  <a:srgbClr val="002060"/>
                </a:solidFill>
                <a:effectLst>
                  <a:outerShdw blurRad="38100" dist="38100" dir="2700000" algn="tl">
                    <a:srgbClr val="000000">
                      <a:alpha val="43137"/>
                    </a:srgbClr>
                  </a:outerShdw>
                </a:effectLst>
              </a:rPr>
              <a:t>The </a:t>
            </a:r>
            <a:r>
              <a:rPr lang="en-US" b="1" dirty="0">
                <a:solidFill>
                  <a:srgbClr val="FF0000"/>
                </a:solidFill>
                <a:effectLst>
                  <a:outerShdw blurRad="38100" dist="38100" dir="2700000" algn="tl">
                    <a:srgbClr val="000000">
                      <a:alpha val="43137"/>
                    </a:srgbClr>
                  </a:outerShdw>
                </a:effectLst>
                <a:highlight>
                  <a:srgbClr val="00FF00"/>
                </a:highlight>
              </a:rPr>
              <a:t>Chicago School </a:t>
            </a:r>
            <a:r>
              <a:rPr lang="en-US" b="1" dirty="0">
                <a:solidFill>
                  <a:srgbClr val="FF0000"/>
                </a:solidFill>
                <a:effectLst>
                  <a:outerShdw blurRad="38100" dist="38100" dir="2700000" algn="tl">
                    <a:srgbClr val="000000">
                      <a:alpha val="43137"/>
                    </a:srgbClr>
                  </a:outerShdw>
                </a:effectLst>
              </a:rPr>
              <a:t>approach to antitrust</a:t>
            </a:r>
            <a:r>
              <a:rPr lang="en-US" dirty="0">
                <a:solidFill>
                  <a:srgbClr val="002060"/>
                </a:solidFill>
                <a:effectLst>
                  <a:outerShdw blurRad="38100" dist="38100" dir="2700000" algn="tl">
                    <a:srgbClr val="000000">
                      <a:alpha val="43137"/>
                    </a:srgbClr>
                  </a:outerShdw>
                </a:effectLst>
              </a:rPr>
              <a:t>, which gained mainstream prominence and credibility in the </a:t>
            </a:r>
            <a:r>
              <a:rPr lang="en-US" b="1" dirty="0">
                <a:solidFill>
                  <a:srgbClr val="002060"/>
                </a:solidFill>
                <a:effectLst>
                  <a:outerShdw blurRad="38100" dist="38100" dir="2700000" algn="tl">
                    <a:srgbClr val="000000">
                      <a:alpha val="43137"/>
                    </a:srgbClr>
                  </a:outerShdw>
                </a:effectLst>
              </a:rPr>
              <a:t>1970s and 1980s</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FFFF00"/>
                </a:highlight>
              </a:rPr>
              <a:t>rejected this structuralist view</a:t>
            </a:r>
            <a:r>
              <a:rPr lang="pl-PL" b="1" dirty="0">
                <a:solidFill>
                  <a:srgbClr val="FF0000"/>
                </a:solidFill>
                <a:effectLst>
                  <a:outerShdw blurRad="38100" dist="38100" dir="2700000" algn="tl">
                    <a:srgbClr val="000000">
                      <a:alpha val="43137"/>
                    </a:srgbClr>
                  </a:outerShdw>
                </a:effectLst>
                <a:highlight>
                  <a:srgbClr val="FFFF00"/>
                </a:highlight>
              </a:rPr>
              <a:t> </a:t>
            </a:r>
            <a:r>
              <a:rPr lang="pl-PL" b="1" dirty="0">
                <a:solidFill>
                  <a:srgbClr val="FF0000"/>
                </a:solidFill>
                <a:effectLst>
                  <a:outerShdw blurRad="38100" dist="38100" dir="2700000" algn="tl">
                    <a:srgbClr val="000000">
                      <a:alpha val="43137"/>
                    </a:srgbClr>
                  </a:outerShdw>
                </a:effectLst>
              </a:rPr>
              <a:t>[</a:t>
            </a:r>
            <a:r>
              <a:rPr lang="pl-PL" b="1" dirty="0">
                <a:solidFill>
                  <a:srgbClr val="FF0000"/>
                </a:solidFill>
                <a:effectLst>
                  <a:outerShdw blurRad="38100" dist="38100" dir="2700000" algn="tl">
                    <a:srgbClr val="000000">
                      <a:alpha val="43137"/>
                    </a:srgbClr>
                  </a:outerShdw>
                </a:effectLst>
                <a:highlight>
                  <a:srgbClr val="00FFFF"/>
                </a:highlight>
              </a:rPr>
              <a:t>typical of the EU</a:t>
            </a:r>
            <a:r>
              <a:rPr lang="pl-PL" b="1" dirty="0">
                <a:solidFill>
                  <a:srgbClr val="FF000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a:t>
            </a:r>
            <a:r>
              <a:rPr lang="en-US" dirty="0">
                <a:solidFill>
                  <a:srgbClr val="002060"/>
                </a:solidFill>
                <a:effectLst>
                  <a:outerShdw blurRad="38100" dist="38100" dir="2700000" algn="tl">
                    <a:srgbClr val="000000">
                      <a:alpha val="43137"/>
                    </a:srgbClr>
                  </a:outerShdw>
                </a:effectLst>
              </a:rPr>
              <a:t>he essence of the Chicago School position is that “the proper lens for viewing antitrust problems is </a:t>
            </a:r>
            <a:r>
              <a:rPr lang="en-US" b="1" dirty="0">
                <a:solidFill>
                  <a:srgbClr val="FF0000"/>
                </a:solidFill>
                <a:effectLst>
                  <a:outerShdw blurRad="38100" dist="38100" dir="2700000" algn="tl">
                    <a:srgbClr val="000000">
                      <a:alpha val="43137"/>
                    </a:srgbClr>
                  </a:outerShdw>
                </a:effectLst>
                <a:highlight>
                  <a:srgbClr val="00FF00"/>
                </a:highlight>
              </a:rPr>
              <a:t>price theory</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Foundational to this view is </a:t>
            </a:r>
            <a:r>
              <a:rPr lang="en-US" b="1" dirty="0">
                <a:solidFill>
                  <a:srgbClr val="FF0000"/>
                </a:solidFill>
                <a:effectLst>
                  <a:outerShdw blurRad="38100" dist="38100" dir="2700000" algn="tl">
                    <a:srgbClr val="000000">
                      <a:alpha val="43137"/>
                    </a:srgbClr>
                  </a:outerShdw>
                </a:effectLst>
              </a:rPr>
              <a:t>a faith in the efficiency of markets</a:t>
            </a:r>
            <a:r>
              <a:rPr lang="pl-PL" b="1" dirty="0">
                <a:solidFill>
                  <a:srgbClr val="002060"/>
                </a:solidFill>
                <a:effectLst>
                  <a:outerShdw blurRad="38100" dist="38100" dir="2700000" algn="tl">
                    <a:srgbClr val="000000">
                      <a:alpha val="43137"/>
                    </a:srgbClr>
                  </a:outerShdw>
                </a:effectLst>
              </a:rPr>
              <a:t> (…). </a:t>
            </a:r>
            <a:r>
              <a:rPr lang="pl-PL" b="1" dirty="0">
                <a:solidFill>
                  <a:srgbClr val="FF0000"/>
                </a:solidFill>
                <a:effectLst>
                  <a:outerShdw blurRad="38100" dist="38100" dir="2700000" algn="tl">
                    <a:srgbClr val="000000">
                      <a:alpha val="43137"/>
                    </a:srgbClr>
                  </a:outerShdw>
                </a:effectLst>
              </a:rPr>
              <a:t>R</a:t>
            </a:r>
            <a:r>
              <a:rPr lang="en-US" b="1" dirty="0">
                <a:solidFill>
                  <a:srgbClr val="FF0000"/>
                </a:solidFill>
                <a:effectLst>
                  <a:outerShdw blurRad="38100" dist="38100" dir="2700000" algn="tl">
                    <a:srgbClr val="000000">
                      <a:alpha val="43137"/>
                    </a:srgbClr>
                  </a:outerShdw>
                </a:effectLst>
              </a:rPr>
              <a:t>ational </a:t>
            </a:r>
            <a:r>
              <a:rPr lang="en-US" dirty="0">
                <a:solidFill>
                  <a:srgbClr val="002060"/>
                </a:solidFill>
                <a:effectLst>
                  <a:outerShdw blurRad="38100" dist="38100" dir="2700000" algn="tl">
                    <a:srgbClr val="000000">
                      <a:alpha val="43137"/>
                    </a:srgbClr>
                  </a:outerShdw>
                </a:effectLst>
              </a:rPr>
              <a:t>economic actors working within the confines of the market seek to </a:t>
            </a:r>
            <a:r>
              <a:rPr lang="en-US" b="1" dirty="0">
                <a:solidFill>
                  <a:srgbClr val="FF0000"/>
                </a:solidFill>
                <a:effectLst>
                  <a:outerShdw blurRad="38100" dist="38100" dir="2700000" algn="tl">
                    <a:srgbClr val="000000">
                      <a:alpha val="43137"/>
                    </a:srgbClr>
                  </a:outerShdw>
                </a:effectLst>
              </a:rPr>
              <a:t>maximize profits </a:t>
            </a:r>
            <a:r>
              <a:rPr lang="en-US" dirty="0">
                <a:solidFill>
                  <a:srgbClr val="002060"/>
                </a:solidFill>
                <a:effectLst>
                  <a:outerShdw blurRad="38100" dist="38100" dir="2700000" algn="tl">
                    <a:srgbClr val="000000">
                      <a:alpha val="43137"/>
                    </a:srgbClr>
                  </a:outerShdw>
                </a:effectLst>
              </a:rPr>
              <a:t>by combining inputs </a:t>
            </a:r>
            <a:r>
              <a:rPr lang="pl-PL" dirty="0">
                <a:solidFill>
                  <a:srgbClr val="002060"/>
                </a:solidFill>
                <a:effectLst>
                  <a:outerShdw blurRad="38100" dist="38100" dir="2700000" algn="tl">
                    <a:srgbClr val="000000">
                      <a:alpha val="43137"/>
                    </a:srgbClr>
                  </a:outerShdw>
                </a:effectLst>
              </a:rPr>
              <a:t>most efficiently</a:t>
            </a:r>
            <a:r>
              <a:rPr lang="en-US" dirty="0">
                <a:solidFill>
                  <a:srgbClr val="00206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479332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C4C2A20-EF9C-3997-EDF5-E0646576C2D3}"/>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 REVOLUTION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FC0DA214-1717-07FE-00EA-1D0244871AEA}"/>
              </a:ext>
            </a:extLst>
          </p:cNvPr>
          <p:cNvSpPr>
            <a:spLocks noGrp="1"/>
          </p:cNvSpPr>
          <p:nvPr>
            <p:ph idx="1"/>
          </p:nvPr>
        </p:nvSpPr>
        <p:spPr/>
        <p:txBody>
          <a:bodyPr>
            <a:normAutofit fontScale="92500" lnSpcReduction="10000"/>
          </a:bodyPr>
          <a:lstStyle/>
          <a:p>
            <a:pPr marL="0" indent="0">
              <a:buNone/>
            </a:pPr>
            <a:r>
              <a:rPr lang="pl-PL" dirty="0">
                <a:solidFill>
                  <a:srgbClr val="002060"/>
                </a:solidFill>
                <a:effectLst>
                  <a:outerShdw blurRad="38100" dist="38100" dir="2700000" algn="tl">
                    <a:srgbClr val="000000">
                      <a:alpha val="43137"/>
                    </a:srgbClr>
                  </a:outerShdw>
                </a:effectLst>
              </a:rPr>
              <a:t>The</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shift from structuralism to price theory </a:t>
            </a:r>
            <a:r>
              <a:rPr lang="en-US" dirty="0">
                <a:solidFill>
                  <a:srgbClr val="002060"/>
                </a:solidFill>
                <a:effectLst>
                  <a:outerShdw blurRad="38100" dist="38100" dir="2700000" algn="tl">
                    <a:srgbClr val="000000">
                      <a:alpha val="43137"/>
                    </a:srgbClr>
                  </a:outerShdw>
                </a:effectLst>
              </a:rPr>
              <a:t>had </a:t>
            </a:r>
            <a:r>
              <a:rPr lang="en-US" b="1" dirty="0">
                <a:solidFill>
                  <a:srgbClr val="FF0000"/>
                </a:solidFill>
                <a:effectLst>
                  <a:outerShdw blurRad="38100" dist="38100" dir="2700000" algn="tl">
                    <a:srgbClr val="000000">
                      <a:alpha val="43137"/>
                    </a:srgbClr>
                  </a:outerShdw>
                </a:effectLst>
              </a:rPr>
              <a:t>two major ramifications for antitrust analysis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b="1" dirty="0">
                <a:solidFill>
                  <a:srgbClr val="00B050"/>
                </a:solidFill>
                <a:effectLst>
                  <a:outerShdw blurRad="38100" dist="38100" dir="2700000" algn="tl">
                    <a:srgbClr val="000000">
                      <a:alpha val="43137"/>
                    </a:srgbClr>
                  </a:outerShdw>
                </a:effectLst>
              </a:rPr>
              <a:t>First</a:t>
            </a:r>
            <a:r>
              <a:rPr lang="en-US" dirty="0">
                <a:solidFill>
                  <a:srgbClr val="002060"/>
                </a:solidFill>
                <a:effectLst>
                  <a:outerShdw blurRad="38100" dist="38100" dir="2700000" algn="tl">
                    <a:srgbClr val="000000">
                      <a:alpha val="43137"/>
                    </a:srgbClr>
                  </a:outerShdw>
                </a:effectLst>
              </a:rPr>
              <a:t>, it led to a significant </a:t>
            </a:r>
            <a:r>
              <a:rPr lang="en-US" b="1" dirty="0">
                <a:solidFill>
                  <a:srgbClr val="FF0000"/>
                </a:solidFill>
                <a:effectLst>
                  <a:outerShdw blurRad="38100" dist="38100" dir="2700000" algn="tl">
                    <a:srgbClr val="000000">
                      <a:alpha val="43137"/>
                    </a:srgbClr>
                  </a:outerShdw>
                </a:effectLst>
                <a:highlight>
                  <a:srgbClr val="FFFF00"/>
                </a:highlight>
              </a:rPr>
              <a:t>narrowing of the concept of entry barriers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Chicago School</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The </a:t>
            </a:r>
            <a:r>
              <a:rPr lang="en-US" b="1" dirty="0">
                <a:solidFill>
                  <a:srgbClr val="002060"/>
                </a:solidFill>
                <a:effectLst>
                  <a:outerShdw blurRad="38100" dist="38100" dir="2700000" algn="tl">
                    <a:srgbClr val="000000">
                      <a:alpha val="43137"/>
                    </a:srgbClr>
                  </a:outerShdw>
                </a:effectLst>
              </a:rPr>
              <a:t>advantages</a:t>
            </a:r>
            <a:r>
              <a:rPr lang="en-US" dirty="0">
                <a:solidFill>
                  <a:srgbClr val="002060"/>
                </a:solidFill>
                <a:effectLst>
                  <a:outerShdw blurRad="38100" dist="38100" dir="2700000" algn="tl">
                    <a:srgbClr val="000000">
                      <a:alpha val="43137"/>
                    </a:srgbClr>
                  </a:outerShdw>
                </a:effectLst>
              </a:rPr>
              <a:t> that </a:t>
            </a:r>
            <a:r>
              <a:rPr lang="en-US" b="1" dirty="0">
                <a:solidFill>
                  <a:srgbClr val="FF0000"/>
                </a:solidFill>
                <a:effectLst>
                  <a:outerShdw blurRad="38100" dist="38100" dir="2700000" algn="tl">
                    <a:srgbClr val="000000">
                      <a:alpha val="43137"/>
                    </a:srgbClr>
                  </a:outerShdw>
                </a:effectLst>
              </a:rPr>
              <a:t>incumbents</a:t>
            </a:r>
            <a:r>
              <a:rPr lang="en-US" dirty="0">
                <a:solidFill>
                  <a:srgbClr val="002060"/>
                </a:solidFill>
                <a:effectLst>
                  <a:outerShdw blurRad="38100" dist="38100" dir="2700000" algn="tl">
                    <a:srgbClr val="000000">
                      <a:alpha val="43137"/>
                    </a:srgbClr>
                  </a:outerShdw>
                </a:effectLst>
              </a:rPr>
              <a:t> enjoy from economies of scale, capital requirements, and product differentiation </a:t>
            </a:r>
            <a:r>
              <a:rPr lang="en-US" b="1" dirty="0">
                <a:solidFill>
                  <a:srgbClr val="FF0000"/>
                </a:solidFill>
                <a:effectLst>
                  <a:outerShdw blurRad="38100" dist="38100" dir="2700000" algn="tl">
                    <a:srgbClr val="000000">
                      <a:alpha val="43137"/>
                    </a:srgbClr>
                  </a:outerShdw>
                </a:effectLst>
              </a:rPr>
              <a:t>do not constitute entry barriers</a:t>
            </a:r>
            <a:r>
              <a:rPr lang="en-US" dirty="0">
                <a:solidFill>
                  <a:srgbClr val="002060"/>
                </a:solidFill>
                <a:effectLst>
                  <a:outerShdw blurRad="38100" dist="38100" dir="2700000" algn="tl">
                    <a:srgbClr val="000000">
                      <a:alpha val="43137"/>
                    </a:srgbClr>
                  </a:outerShdw>
                </a:effectLst>
              </a:rPr>
              <a:t>, as these factors are considered to reflect no more than the “</a:t>
            </a:r>
            <a:r>
              <a:rPr lang="en-US" b="1" dirty="0">
                <a:solidFill>
                  <a:srgbClr val="FF0000"/>
                </a:solidFill>
                <a:effectLst>
                  <a:outerShdw blurRad="38100" dist="38100" dir="2700000" algn="tl">
                    <a:srgbClr val="000000">
                      <a:alpha val="43137"/>
                    </a:srgbClr>
                  </a:outerShdw>
                </a:effectLst>
              </a:rPr>
              <a:t>objective technical demands </a:t>
            </a:r>
            <a:r>
              <a:rPr lang="en-US" b="1" dirty="0">
                <a:solidFill>
                  <a:srgbClr val="002060"/>
                </a:solidFill>
                <a:effectLst>
                  <a:outerShdw blurRad="38100" dist="38100" dir="2700000" algn="tl">
                    <a:srgbClr val="000000">
                      <a:alpha val="43137"/>
                    </a:srgbClr>
                  </a:outerShdw>
                </a:effectLst>
              </a:rPr>
              <a:t>of production and distribution</a:t>
            </a:r>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a:t>
            </a:r>
            <a:endParaRPr lang="pl-PL" b="1"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 </a:t>
            </a:r>
            <a:r>
              <a:rPr lang="pl-PL" b="1" dirty="0">
                <a:solidFill>
                  <a:srgbClr val="00B050"/>
                </a:solidFill>
                <a:effectLst>
                  <a:outerShdw blurRad="38100" dist="38100" dir="2700000" algn="tl">
                    <a:srgbClr val="000000">
                      <a:alpha val="43137"/>
                    </a:srgbClr>
                  </a:outerShdw>
                </a:effectLst>
              </a:rPr>
              <a:t>S</a:t>
            </a:r>
            <a:r>
              <a:rPr lang="en-US" b="1" dirty="0">
                <a:solidFill>
                  <a:srgbClr val="00B050"/>
                </a:solidFill>
                <a:effectLst>
                  <a:outerShdw blurRad="38100" dist="38100" dir="2700000" algn="tl">
                    <a:srgbClr val="000000">
                      <a:alpha val="43137"/>
                    </a:srgbClr>
                  </a:outerShdw>
                </a:effectLst>
              </a:rPr>
              <a:t>econd</a:t>
            </a:r>
            <a:r>
              <a:rPr lang="pl-PL" b="1" dirty="0">
                <a:solidFill>
                  <a:srgbClr val="00B05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a:t>
            </a:r>
            <a:r>
              <a:rPr lang="pl-PL" b="1" dirty="0">
                <a:solidFill>
                  <a:srgbClr val="002060"/>
                </a:solidFill>
                <a:effectLst>
                  <a:outerShdw blurRad="38100" dist="38100" dir="2700000" algn="tl">
                    <a:srgbClr val="000000">
                      <a:alpha val="43137"/>
                    </a:srgbClr>
                  </a:outerShdw>
                </a:effectLst>
              </a:rPr>
              <a:t>the </a:t>
            </a:r>
            <a:r>
              <a:rPr lang="en-US" dirty="0">
                <a:solidFill>
                  <a:srgbClr val="002060"/>
                </a:solidFill>
                <a:effectLst>
                  <a:outerShdw blurRad="38100" dist="38100" dir="2700000" algn="tl">
                    <a:srgbClr val="000000">
                      <a:alpha val="43137"/>
                    </a:srgbClr>
                  </a:outerShdw>
                </a:effectLst>
              </a:rPr>
              <a:t>consequence of the </a:t>
            </a:r>
            <a:r>
              <a:rPr lang="en-US" b="1" dirty="0">
                <a:solidFill>
                  <a:srgbClr val="FF0000"/>
                </a:solidFill>
                <a:effectLst>
                  <a:outerShdw blurRad="38100" dist="38100" dir="2700000" algn="tl">
                    <a:srgbClr val="000000">
                      <a:alpha val="43137"/>
                    </a:srgbClr>
                  </a:outerShdw>
                </a:effectLst>
              </a:rPr>
              <a:t>shift away from structuralism </a:t>
            </a:r>
            <a:r>
              <a:rPr lang="en-US" dirty="0">
                <a:solidFill>
                  <a:srgbClr val="002060"/>
                </a:solidFill>
                <a:effectLst>
                  <a:outerShdw blurRad="38100" dist="38100" dir="2700000" algn="tl">
                    <a:srgbClr val="000000">
                      <a:alpha val="43137"/>
                    </a:srgbClr>
                  </a:outerShdw>
                </a:effectLst>
              </a:rPr>
              <a:t>was that </a:t>
            </a:r>
            <a:r>
              <a:rPr lang="en-US" b="1" dirty="0">
                <a:solidFill>
                  <a:srgbClr val="FF0000"/>
                </a:solidFill>
                <a:effectLst>
                  <a:outerShdw blurRad="38100" dist="38100" dir="2700000" algn="tl">
                    <a:srgbClr val="000000">
                      <a:alpha val="43137"/>
                    </a:srgbClr>
                  </a:outerShdw>
                </a:effectLst>
              </a:rPr>
              <a:t>consumer prices </a:t>
            </a:r>
            <a:r>
              <a:rPr lang="en-US" dirty="0">
                <a:solidFill>
                  <a:srgbClr val="002060"/>
                </a:solidFill>
                <a:effectLst>
                  <a:outerShdw blurRad="38100" dist="38100" dir="2700000" algn="tl">
                    <a:srgbClr val="000000">
                      <a:alpha val="43137"/>
                    </a:srgbClr>
                  </a:outerShdw>
                </a:effectLst>
              </a:rPr>
              <a:t>became the </a:t>
            </a:r>
            <a:r>
              <a:rPr lang="en-US" b="1" dirty="0">
                <a:solidFill>
                  <a:srgbClr val="FF0000"/>
                </a:solidFill>
                <a:effectLst>
                  <a:outerShdw blurRad="38100" dist="38100" dir="2700000" algn="tl">
                    <a:srgbClr val="000000">
                      <a:alpha val="43137"/>
                    </a:srgbClr>
                  </a:outerShdw>
                </a:effectLst>
              </a:rPr>
              <a:t>dominant metric</a:t>
            </a:r>
            <a:r>
              <a:rPr lang="pl-PL" b="1" dirty="0">
                <a:solidFill>
                  <a:srgbClr val="FF0000"/>
                </a:solidFill>
                <a:effectLst>
                  <a:outerShdw blurRad="38100" dist="38100" dir="2700000" algn="tl">
                    <a:srgbClr val="000000">
                      <a:alpha val="43137"/>
                    </a:srgbClr>
                  </a:outerShdw>
                </a:effectLst>
              </a:rPr>
              <a:t> (criterion)</a:t>
            </a:r>
            <a:r>
              <a:rPr lang="en-US" b="1" dirty="0">
                <a:solidFill>
                  <a:srgbClr val="FF000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for assessing competition. </a:t>
            </a:r>
          </a:p>
        </p:txBody>
      </p:sp>
    </p:spTree>
    <p:extLst>
      <p:ext uri="{BB962C8B-B14F-4D97-AF65-F5344CB8AC3E}">
        <p14:creationId xmlns:p14="http://schemas.microsoft.com/office/powerpoint/2010/main" val="3906789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063BE8A-10A3-82A9-3D9E-BCAE3E3204D5}"/>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 REVOLUTION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365DE092-B910-115E-CD1F-4ECE11AD2D0D}"/>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rPr>
              <a:t>In 1979, in </a:t>
            </a:r>
            <a:r>
              <a:rPr lang="en-US" b="1" dirty="0">
                <a:solidFill>
                  <a:srgbClr val="002060"/>
                </a:solidFill>
                <a:effectLst>
                  <a:outerShdw blurRad="38100" dist="38100" dir="2700000" algn="tl">
                    <a:srgbClr val="000000">
                      <a:alpha val="43137"/>
                    </a:srgbClr>
                  </a:outerShdw>
                </a:effectLst>
              </a:rPr>
              <a:t>Reiter v. Sonotone </a:t>
            </a:r>
            <a:r>
              <a:rPr lang="en-US" dirty="0">
                <a:solidFill>
                  <a:srgbClr val="002060"/>
                </a:solidFill>
                <a:effectLst>
                  <a:outerShdw blurRad="38100" dist="38100" dir="2700000" algn="tl">
                    <a:srgbClr val="000000">
                      <a:alpha val="43137"/>
                    </a:srgbClr>
                  </a:outerShdw>
                </a:effectLst>
              </a:rPr>
              <a:t>Corp., the Supreme Court </a:t>
            </a:r>
            <a:r>
              <a:rPr lang="pl-PL" dirty="0">
                <a:solidFill>
                  <a:srgbClr val="002060"/>
                </a:solidFill>
                <a:effectLst>
                  <a:outerShdw blurRad="38100" dist="38100" dir="2700000" algn="tl">
                    <a:srgbClr val="000000">
                      <a:alpha val="43137"/>
                    </a:srgbClr>
                  </a:outerShdw>
                </a:effectLst>
              </a:rPr>
              <a:t>…declared</a:t>
            </a:r>
            <a:r>
              <a:rPr lang="en-US" dirty="0">
                <a:solidFill>
                  <a:srgbClr val="002060"/>
                </a:solidFill>
                <a:effectLst>
                  <a:outerShdw blurRad="38100" dist="38100" dir="2700000" algn="tl">
                    <a:srgbClr val="000000">
                      <a:alpha val="43137"/>
                    </a:srgbClr>
                  </a:outerShdw>
                </a:effectLst>
              </a:rPr>
              <a:t> that “Congress designed </a:t>
            </a:r>
            <a:r>
              <a:rPr lang="en-US" b="1" dirty="0">
                <a:solidFill>
                  <a:srgbClr val="FF0000"/>
                </a:solidFill>
                <a:effectLst>
                  <a:outerShdw blurRad="38100" dist="38100" dir="2700000" algn="tl">
                    <a:srgbClr val="000000">
                      <a:alpha val="43137"/>
                    </a:srgbClr>
                  </a:outerShdw>
                </a:effectLst>
                <a:highlight>
                  <a:srgbClr val="FFFF00"/>
                </a:highlight>
              </a:rPr>
              <a:t>the Sherman Act </a:t>
            </a:r>
            <a:r>
              <a:rPr lang="en-US" dirty="0">
                <a:solidFill>
                  <a:srgbClr val="002060"/>
                </a:solidFill>
                <a:effectLst>
                  <a:outerShdw blurRad="38100" dist="38100" dir="2700000" algn="tl">
                    <a:srgbClr val="000000">
                      <a:alpha val="43137"/>
                    </a:srgbClr>
                  </a:outerShdw>
                </a:effectLst>
              </a:rPr>
              <a:t>as a ‘</a:t>
            </a:r>
            <a:r>
              <a:rPr lang="en-US" b="1" dirty="0">
                <a:solidFill>
                  <a:srgbClr val="FF0000"/>
                </a:solidFill>
                <a:effectLst>
                  <a:outerShdw blurRad="38100" dist="38100" dir="2700000" algn="tl">
                    <a:srgbClr val="000000">
                      <a:alpha val="43137"/>
                    </a:srgbClr>
                  </a:outerShdw>
                </a:effectLst>
                <a:highlight>
                  <a:srgbClr val="FFFF00"/>
                </a:highlight>
              </a:rPr>
              <a:t>consumer welfare prescription</a:t>
            </a:r>
            <a:r>
              <a:rPr lang="en-US" dirty="0">
                <a:solidFill>
                  <a:srgbClr val="002060"/>
                </a:solidFill>
                <a:effectLst>
                  <a:outerShdw blurRad="38100" dist="38100" dir="2700000" algn="tl">
                    <a:srgbClr val="000000">
                      <a:alpha val="43137"/>
                    </a:srgbClr>
                  </a:outerShdw>
                </a:effectLst>
              </a:rPr>
              <a:t>’ ”— a statement that is widely </a:t>
            </a:r>
            <a:r>
              <a:rPr lang="en-US" b="1" dirty="0">
                <a:solidFill>
                  <a:srgbClr val="FF0000"/>
                </a:solidFill>
                <a:effectLst>
                  <a:outerShdw blurRad="38100" dist="38100" dir="2700000" algn="tl">
                    <a:srgbClr val="000000">
                      <a:alpha val="43137"/>
                    </a:srgbClr>
                  </a:outerShdw>
                </a:effectLst>
              </a:rPr>
              <a:t>viewed as erroneous</a:t>
            </a:r>
            <a:r>
              <a:rPr lang="pl-PL" b="1" dirty="0">
                <a:solidFill>
                  <a:srgbClr val="FF0000"/>
                </a:solidFill>
                <a:effectLst>
                  <a:outerShdw blurRad="38100" dist="38100" dir="2700000" algn="tl">
                    <a:srgbClr val="000000">
                      <a:alpha val="43137"/>
                    </a:srgbClr>
                  </a:outerShdw>
                </a:effectLst>
              </a:rPr>
              <a:t> [but </a:t>
            </a:r>
            <a:r>
              <a:rPr lang="pl-PL" b="1" dirty="0" err="1">
                <a:solidFill>
                  <a:srgbClr val="FF0000"/>
                </a:solidFill>
                <a:effectLst>
                  <a:outerShdw blurRad="38100" dist="38100" dir="2700000" algn="tl">
                    <a:srgbClr val="000000">
                      <a:alpha val="43137"/>
                    </a:srgbClr>
                  </a:outerShdw>
                </a:effectLst>
              </a:rPr>
              <a:t>still</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practiced</a:t>
            </a:r>
            <a:r>
              <a:rPr lang="pl-PL" b="1" dirty="0">
                <a:solidFill>
                  <a:srgbClr val="FF000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The Chicago School </a:t>
            </a:r>
            <a:r>
              <a:rPr lang="en-US" dirty="0">
                <a:solidFill>
                  <a:srgbClr val="002060"/>
                </a:solidFill>
                <a:effectLst>
                  <a:outerShdw blurRad="38100" dist="38100" dir="2700000" algn="tl">
                    <a:srgbClr val="000000">
                      <a:alpha val="43137"/>
                    </a:srgbClr>
                  </a:outerShdw>
                </a:effectLst>
              </a:rPr>
              <a:t>philosophy wound its way into policy and doctrine.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Today, </a:t>
            </a:r>
            <a:r>
              <a:rPr lang="en-US" b="1" dirty="0">
                <a:solidFill>
                  <a:srgbClr val="FF0000"/>
                </a:solidFill>
                <a:effectLst>
                  <a:outerShdw blurRad="38100" dist="38100" dir="2700000" algn="tl">
                    <a:srgbClr val="000000">
                      <a:alpha val="43137"/>
                    </a:srgbClr>
                  </a:outerShdw>
                </a:effectLst>
              </a:rPr>
              <a:t>showing </a:t>
            </a:r>
            <a:r>
              <a:rPr lang="pl-PL" b="1" dirty="0">
                <a:solidFill>
                  <a:srgbClr val="FF0000"/>
                </a:solidFill>
                <a:effectLst>
                  <a:outerShdw blurRad="38100" dist="38100" dir="2700000" algn="tl">
                    <a:srgbClr val="000000">
                      <a:alpha val="43137"/>
                    </a:srgbClr>
                  </a:outerShdw>
                </a:effectLst>
              </a:rPr>
              <a:t>antitrust</a:t>
            </a:r>
            <a:r>
              <a:rPr lang="en-US" b="1" dirty="0">
                <a:solidFill>
                  <a:srgbClr val="FF0000"/>
                </a:solidFill>
                <a:effectLst>
                  <a:outerShdw blurRad="38100" dist="38100" dir="2700000" algn="tl">
                    <a:srgbClr val="000000">
                      <a:alpha val="43137"/>
                    </a:srgbClr>
                  </a:outerShdw>
                </a:effectLst>
              </a:rPr>
              <a:t> injury </a:t>
            </a:r>
            <a:r>
              <a:rPr lang="en-US" b="1" dirty="0">
                <a:solidFill>
                  <a:srgbClr val="FF0000"/>
                </a:solidFill>
                <a:effectLst>
                  <a:outerShdw blurRad="38100" dist="38100" dir="2700000" algn="tl">
                    <a:srgbClr val="000000">
                      <a:alpha val="43137"/>
                    </a:srgbClr>
                  </a:outerShdw>
                </a:effectLst>
                <a:highlight>
                  <a:srgbClr val="FFFF00"/>
                </a:highlight>
              </a:rPr>
              <a:t>requires showing harm </a:t>
            </a:r>
            <a:r>
              <a:rPr lang="en-US" b="1" dirty="0">
                <a:solidFill>
                  <a:srgbClr val="FF0000"/>
                </a:solidFill>
                <a:effectLst>
                  <a:outerShdw blurRad="38100" dist="38100" dir="2700000" algn="tl">
                    <a:srgbClr val="000000">
                      <a:alpha val="43137"/>
                    </a:srgbClr>
                  </a:outerShdw>
                </a:effectLst>
              </a:rPr>
              <a:t>to </a:t>
            </a:r>
            <a:r>
              <a:rPr lang="en-US" b="1" dirty="0">
                <a:solidFill>
                  <a:srgbClr val="FF0000"/>
                </a:solidFill>
                <a:effectLst>
                  <a:outerShdw blurRad="38100" dist="38100" dir="2700000" algn="tl">
                    <a:srgbClr val="000000">
                      <a:alpha val="43137"/>
                    </a:srgbClr>
                  </a:outerShdw>
                </a:effectLst>
                <a:highlight>
                  <a:srgbClr val="FFFF00"/>
                </a:highlight>
              </a:rPr>
              <a:t>consumer welfare</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generally in the form of </a:t>
            </a:r>
            <a:r>
              <a:rPr lang="en-US" b="1" dirty="0">
                <a:solidFill>
                  <a:srgbClr val="0070C0"/>
                </a:solidFill>
                <a:effectLst>
                  <a:outerShdw blurRad="38100" dist="38100" dir="2700000" algn="tl">
                    <a:srgbClr val="000000">
                      <a:alpha val="43137"/>
                    </a:srgbClr>
                  </a:outerShdw>
                </a:effectLst>
              </a:rPr>
              <a:t>price increases </a:t>
            </a:r>
            <a:r>
              <a:rPr lang="en-US" b="1" dirty="0">
                <a:solidFill>
                  <a:srgbClr val="002060"/>
                </a:solidFill>
                <a:effectLst>
                  <a:outerShdw blurRad="38100" dist="38100" dir="2700000" algn="tl">
                    <a:srgbClr val="000000">
                      <a:alpha val="43137"/>
                    </a:srgbClr>
                  </a:outerShdw>
                </a:effectLst>
              </a:rPr>
              <a:t>and </a:t>
            </a:r>
            <a:r>
              <a:rPr lang="en-US" b="1" dirty="0">
                <a:solidFill>
                  <a:srgbClr val="0070C0"/>
                </a:solidFill>
                <a:effectLst>
                  <a:outerShdw blurRad="38100" dist="38100" dir="2700000" algn="tl">
                    <a:srgbClr val="000000">
                      <a:alpha val="43137"/>
                    </a:srgbClr>
                  </a:outerShdw>
                </a:effectLst>
              </a:rPr>
              <a:t>output restrictions</a:t>
            </a:r>
            <a:endParaRPr lang="pl-PL"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41995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BE028E-F738-6AA5-7BC3-ABA5547CD1D1}"/>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 REVOLUTION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45955774-F854-8286-700A-E994BE382C91}"/>
              </a:ext>
            </a:extLst>
          </p:cNvPr>
          <p:cNvSpPr>
            <a:spLocks noGrp="1"/>
          </p:cNvSpPr>
          <p:nvPr>
            <p:ph idx="1"/>
          </p:nvPr>
        </p:nvSpPr>
        <p:spPr/>
        <p:txBody>
          <a:bodyPr>
            <a:normAutofit fontScale="92500"/>
          </a:bodyPr>
          <a:lstStyle/>
          <a:p>
            <a:pPr marL="0" indent="0">
              <a:buNone/>
            </a:pPr>
            <a:r>
              <a:rPr lang="en-US" b="1" dirty="0">
                <a:solidFill>
                  <a:srgbClr val="002060"/>
                </a:solidFill>
                <a:effectLst>
                  <a:outerShdw blurRad="38100" dist="38100" dir="2700000" algn="tl">
                    <a:srgbClr val="000000">
                      <a:alpha val="43137"/>
                    </a:srgbClr>
                  </a:outerShdw>
                </a:effectLst>
              </a:rPr>
              <a:t>Two areas </a:t>
            </a:r>
            <a:r>
              <a:rPr lang="pl-PL" b="1" dirty="0">
                <a:solidFill>
                  <a:srgbClr val="FF0000"/>
                </a:solidFill>
                <a:effectLst>
                  <a:outerShdw blurRad="38100" dist="38100" dir="2700000" algn="tl">
                    <a:srgbClr val="000000">
                      <a:alpha val="43137"/>
                    </a:srgbClr>
                  </a:outerShdw>
                </a:effectLst>
              </a:rPr>
              <a:t>affected</a:t>
            </a:r>
            <a:r>
              <a:rPr lang="pl-PL" dirty="0">
                <a:solidFill>
                  <a:srgbClr val="002060"/>
                </a:solidFill>
                <a:effectLst>
                  <a:outerShdw blurRad="38100" dist="38100" dir="2700000" algn="tl">
                    <a:srgbClr val="000000">
                      <a:alpha val="43137"/>
                    </a:srgbClr>
                  </a:outerShdw>
                </a:effectLst>
              </a:rPr>
              <a:t> by this </a:t>
            </a:r>
            <a:r>
              <a:rPr lang="pl-PL" dirty="0" err="1">
                <a:solidFill>
                  <a:srgbClr val="002060"/>
                </a:solidFill>
                <a:effectLst>
                  <a:outerShdw blurRad="38100" dist="38100" dir="2700000" algn="tl">
                    <a:srgbClr val="000000">
                      <a:alpha val="43137"/>
                    </a:srgbClr>
                  </a:outerShdw>
                </a:effectLst>
              </a:rPr>
              <a:t>reorientation</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are</a:t>
            </a:r>
            <a:r>
              <a:rPr lang="pl-PL" dirty="0">
                <a:solidFill>
                  <a:srgbClr val="002060"/>
                </a:solidFill>
                <a:effectLst>
                  <a:outerShdw blurRad="38100" dist="38100" dir="2700000" algn="tl">
                    <a:srgbClr val="000000">
                      <a:alpha val="43137"/>
                    </a:srgbClr>
                  </a:outerShdw>
                </a:effectLst>
              </a:rPr>
              <a:t>:</a:t>
            </a:r>
          </a:p>
          <a:p>
            <a:pPr marL="0" indent="0">
              <a:buNone/>
            </a:pP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1) </a:t>
            </a:r>
            <a:r>
              <a:rPr lang="en-US" b="1" dirty="0">
                <a:solidFill>
                  <a:srgbClr val="FF0000"/>
                </a:solidFill>
                <a:effectLst>
                  <a:outerShdw blurRad="38100" dist="38100" dir="2700000" algn="tl">
                    <a:srgbClr val="000000">
                      <a:alpha val="43137"/>
                    </a:srgbClr>
                  </a:outerShdw>
                </a:effectLst>
                <a:highlight>
                  <a:srgbClr val="00FF00"/>
                </a:highlight>
              </a:rPr>
              <a:t>predatory pricing</a:t>
            </a:r>
            <a:r>
              <a:rPr lang="en-US" b="1" dirty="0">
                <a:solidFill>
                  <a:srgbClr val="FF000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and </a:t>
            </a:r>
            <a:r>
              <a:rPr lang="pl-PL" dirty="0">
                <a:solidFill>
                  <a:srgbClr val="002060"/>
                </a:solidFill>
                <a:effectLst>
                  <a:outerShdw blurRad="38100" dist="38100" dir="2700000" algn="tl">
                    <a:srgbClr val="000000">
                      <a:alpha val="43137"/>
                    </a:srgbClr>
                  </a:outerShdw>
                </a:effectLst>
              </a:rPr>
              <a:t>   2) </a:t>
            </a:r>
            <a:r>
              <a:rPr lang="en-US" b="1" dirty="0">
                <a:solidFill>
                  <a:srgbClr val="FF0000"/>
                </a:solidFill>
                <a:effectLst>
                  <a:outerShdw blurRad="38100" dist="38100" dir="2700000" algn="tl">
                    <a:srgbClr val="000000">
                      <a:alpha val="43137"/>
                    </a:srgbClr>
                  </a:outerShdw>
                </a:effectLst>
                <a:highlight>
                  <a:srgbClr val="00FF00"/>
                </a:highlight>
              </a:rPr>
              <a:t>vertical integration</a:t>
            </a:r>
            <a:r>
              <a:rPr lang="en-US" dirty="0">
                <a:solidFill>
                  <a:srgbClr val="002060"/>
                </a:solidFill>
                <a:effectLst>
                  <a:outerShdw blurRad="38100" dist="38100" dir="2700000" algn="tl">
                    <a:srgbClr val="000000">
                      <a:alpha val="43137"/>
                    </a:srgbClr>
                  </a:outerShdw>
                </a:effectLst>
              </a:rPr>
              <a:t>.</a:t>
            </a:r>
            <a:r>
              <a:rPr lang="pl-PL" dirty="0">
                <a:solidFill>
                  <a:srgbClr val="002060"/>
                </a:solidFill>
                <a:effectLst>
                  <a:outerShdw blurRad="38100" dist="38100" dir="2700000" algn="tl">
                    <a:srgbClr val="000000">
                      <a:alpha val="43137"/>
                    </a:srgbClr>
                  </a:outerShdw>
                </a:effectLst>
              </a:rPr>
              <a:t> </a:t>
            </a:r>
          </a:p>
          <a:p>
            <a:pPr marL="0" indent="0">
              <a:buNone/>
            </a:pPr>
            <a:r>
              <a:rPr lang="en-US" b="1" dirty="0">
                <a:solidFill>
                  <a:srgbClr val="002060"/>
                </a:solidFill>
                <a:effectLst>
                  <a:outerShdw blurRad="38100" dist="38100" dir="2700000" algn="tl">
                    <a:srgbClr val="000000">
                      <a:alpha val="43137"/>
                    </a:srgbClr>
                  </a:outerShdw>
                </a:effectLst>
              </a:rPr>
              <a:t>Both </a:t>
            </a:r>
            <a:r>
              <a:rPr lang="en-US" b="1" dirty="0">
                <a:solidFill>
                  <a:srgbClr val="FF0000"/>
                </a:solidFill>
                <a:effectLst>
                  <a:outerShdw blurRad="38100" dist="38100" dir="2700000" algn="tl">
                    <a:srgbClr val="000000">
                      <a:alpha val="43137"/>
                    </a:srgbClr>
                  </a:outerShdw>
                </a:effectLst>
              </a:rPr>
              <a:t>predatory pricing </a:t>
            </a:r>
            <a:r>
              <a:rPr lang="en-US" b="1" dirty="0">
                <a:solidFill>
                  <a:srgbClr val="002060"/>
                </a:solidFill>
                <a:effectLst>
                  <a:outerShdw blurRad="38100" dist="38100" dir="2700000" algn="tl">
                    <a:srgbClr val="000000">
                      <a:alpha val="43137"/>
                    </a:srgbClr>
                  </a:outerShdw>
                </a:effectLst>
              </a:rPr>
              <a:t>and </a:t>
            </a:r>
            <a:r>
              <a:rPr lang="en-US" b="1" dirty="0">
                <a:solidFill>
                  <a:srgbClr val="FF0000"/>
                </a:solidFill>
                <a:effectLst>
                  <a:outerShdw blurRad="38100" dist="38100" dir="2700000" algn="tl">
                    <a:srgbClr val="000000">
                      <a:alpha val="43137"/>
                    </a:srgbClr>
                  </a:outerShdw>
                </a:effectLst>
              </a:rPr>
              <a:t>vertical integration </a:t>
            </a:r>
            <a:r>
              <a:rPr lang="en-US" dirty="0">
                <a:solidFill>
                  <a:srgbClr val="002060"/>
                </a:solidFill>
                <a:effectLst>
                  <a:outerShdw blurRad="38100" dist="38100" dir="2700000" algn="tl">
                    <a:srgbClr val="000000">
                      <a:alpha val="43137"/>
                    </a:srgbClr>
                  </a:outerShdw>
                </a:effectLst>
              </a:rPr>
              <a:t>are highly </a:t>
            </a:r>
            <a:r>
              <a:rPr lang="en-US" b="1" dirty="0">
                <a:solidFill>
                  <a:srgbClr val="FF0000"/>
                </a:solidFill>
                <a:effectLst>
                  <a:outerShdw blurRad="38100" dist="38100" dir="2700000" algn="tl">
                    <a:srgbClr val="000000">
                      <a:alpha val="43137"/>
                    </a:srgbClr>
                  </a:outerShdw>
                </a:effectLst>
              </a:rPr>
              <a:t>relevant to analyzing Amazon’s path to dominance </a:t>
            </a:r>
            <a:r>
              <a:rPr lang="en-US" dirty="0">
                <a:solidFill>
                  <a:srgbClr val="002060"/>
                </a:solidFill>
                <a:effectLst>
                  <a:outerShdw blurRad="38100" dist="38100" dir="2700000" algn="tl">
                    <a:srgbClr val="000000">
                      <a:alpha val="43137"/>
                    </a:srgbClr>
                  </a:outerShdw>
                </a:effectLst>
              </a:rPr>
              <a:t>and the source of its power</a:t>
            </a:r>
            <a:r>
              <a:rPr lang="en-US" dirty="0"/>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In a series of cases in the 1980s and 1990s, the Supreme Court declared, “predatory pricing schemes are </a:t>
            </a:r>
            <a:r>
              <a:rPr lang="en-US" b="1" dirty="0">
                <a:solidFill>
                  <a:srgbClr val="FF0000"/>
                </a:solidFill>
                <a:effectLst>
                  <a:outerShdw blurRad="38100" dist="38100" dir="2700000" algn="tl">
                    <a:srgbClr val="000000">
                      <a:alpha val="43137"/>
                    </a:srgbClr>
                  </a:outerShdw>
                </a:effectLst>
              </a:rPr>
              <a:t>rarely tried</a:t>
            </a:r>
            <a:r>
              <a:rPr lang="en-US" dirty="0">
                <a:solidFill>
                  <a:srgbClr val="002060"/>
                </a:solidFill>
                <a:effectLst>
                  <a:outerShdw blurRad="38100" dist="38100" dir="2700000" algn="tl">
                    <a:srgbClr val="000000">
                      <a:alpha val="43137"/>
                    </a:srgbClr>
                  </a:outerShdw>
                </a:effectLst>
              </a:rPr>
              <a:t>, and even </a:t>
            </a:r>
            <a:r>
              <a:rPr lang="en-US" b="1" dirty="0">
                <a:solidFill>
                  <a:srgbClr val="FF0000"/>
                </a:solidFill>
                <a:effectLst>
                  <a:outerShdw blurRad="38100" dist="38100" dir="2700000" algn="tl">
                    <a:srgbClr val="000000">
                      <a:alpha val="43137"/>
                    </a:srgbClr>
                  </a:outerShdw>
                </a:effectLst>
              </a:rPr>
              <a:t>more rarely successful</a:t>
            </a:r>
            <a:r>
              <a:rPr lang="en-US" dirty="0"/>
              <a:t>. </a:t>
            </a:r>
            <a:r>
              <a:rPr lang="en-US" sz="1800" i="1" dirty="0">
                <a:solidFill>
                  <a:srgbClr val="002060"/>
                </a:solidFill>
                <a:effectLst>
                  <a:outerShdw blurRad="38100" dist="38100" dir="2700000" algn="tl">
                    <a:srgbClr val="000000">
                      <a:alpha val="43137"/>
                    </a:srgbClr>
                  </a:outerShdw>
                </a:effectLst>
              </a:rPr>
              <a:t>Matsushita Electric Indus. Co. v. Zenith Radio Corp., 475 U.S. 574, 589 (1986).</a:t>
            </a:r>
            <a:endParaRPr lang="pl-PL" sz="1800" i="1"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The Chicago School</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predatory pricing</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vertical integration</a:t>
            </a:r>
            <a:r>
              <a:rPr lang="en-US" dirty="0">
                <a:solidFill>
                  <a:srgbClr val="002060"/>
                </a:solidFill>
                <a:effectLst>
                  <a:outerShdw blurRad="38100" dist="38100" dir="2700000" algn="tl">
                    <a:srgbClr val="000000">
                      <a:alpha val="43137"/>
                    </a:srgbClr>
                  </a:outerShdw>
                </a:effectLst>
              </a:rPr>
              <a:t>, and </a:t>
            </a:r>
            <a:r>
              <a:rPr lang="en-US" b="1" dirty="0">
                <a:solidFill>
                  <a:srgbClr val="0070C0"/>
                </a:solidFill>
                <a:effectLst>
                  <a:outerShdw blurRad="38100" dist="38100" dir="2700000" algn="tl">
                    <a:srgbClr val="000000">
                      <a:alpha val="43137"/>
                    </a:srgbClr>
                  </a:outerShdw>
                </a:effectLst>
              </a:rPr>
              <a:t>tying arrangements </a:t>
            </a:r>
            <a:r>
              <a:rPr lang="en-US" b="1" u="sng" dirty="0">
                <a:solidFill>
                  <a:srgbClr val="FF0000"/>
                </a:solidFill>
                <a:effectLst>
                  <a:outerShdw blurRad="38100" dist="38100" dir="2700000" algn="tl">
                    <a:srgbClr val="000000">
                      <a:alpha val="43137"/>
                    </a:srgbClr>
                  </a:outerShdw>
                </a:effectLst>
              </a:rPr>
              <a:t>never or almost never red</a:t>
            </a:r>
            <a:r>
              <a:rPr lang="pl-PL" b="1" u="sng" dirty="0" err="1">
                <a:solidFill>
                  <a:srgbClr val="FF0000"/>
                </a:solidFill>
                <a:effectLst>
                  <a:outerShdw blurRad="38100" dist="38100" dir="2700000" algn="tl">
                    <a:srgbClr val="000000">
                      <a:alpha val="43137"/>
                    </a:srgbClr>
                  </a:outerShdw>
                </a:effectLst>
              </a:rPr>
              <a:t>uce</a:t>
            </a:r>
            <a:r>
              <a:rPr lang="pl-PL" b="1" u="sng" dirty="0">
                <a:solidFill>
                  <a:srgbClr val="FF0000"/>
                </a:solidFill>
                <a:effectLst>
                  <a:outerShdw blurRad="38100" dist="38100" dir="2700000" algn="tl">
                    <a:srgbClr val="000000">
                      <a:alpha val="43137"/>
                    </a:srgbClr>
                  </a:outerShdw>
                </a:effectLst>
              </a:rPr>
              <a:t> CONSUMER WELFARE</a:t>
            </a:r>
            <a:r>
              <a:rPr lang="en-US" b="1" u="sng" dirty="0">
                <a:solidFill>
                  <a:srgbClr val="FF0000"/>
                </a:solidFill>
                <a:effectLst>
                  <a:outerShdw blurRad="38100" dist="38100" dir="2700000" algn="tl">
                    <a:srgbClr val="000000">
                      <a:alpha val="43137"/>
                    </a:srgbClr>
                  </a:outerShdw>
                </a:effectLst>
              </a:rPr>
              <a:t>”. </a:t>
            </a:r>
            <a:endParaRPr lang="pl-PL" b="1" u="sng"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3807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F5575F-6359-780D-3176-3F23D090DF5C}"/>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 REVOLUTION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D819B694-E7BC-3E9D-CBAC-94E6E9BBE2D7}"/>
              </a:ext>
            </a:extLst>
          </p:cNvPr>
          <p:cNvSpPr>
            <a:spLocks noGrp="1"/>
          </p:cNvSpPr>
          <p:nvPr>
            <p:ph idx="1"/>
          </p:nvPr>
        </p:nvSpPr>
        <p:spPr>
          <a:xfrm>
            <a:off x="838200" y="1825624"/>
            <a:ext cx="10515600" cy="4820981"/>
          </a:xfrm>
        </p:spPr>
        <p:txBody>
          <a:bodyPr>
            <a:normAutofit fontScale="92500" lnSpcReduction="10000"/>
          </a:bodyPr>
          <a:lstStyle/>
          <a:p>
            <a:r>
              <a:rPr lang="en-US" dirty="0">
                <a:solidFill>
                  <a:srgbClr val="002060"/>
                </a:solidFill>
                <a:effectLst>
                  <a:outerShdw blurRad="38100" dist="38100" dir="2700000" algn="tl">
                    <a:srgbClr val="000000">
                      <a:alpha val="43137"/>
                    </a:srgbClr>
                  </a:outerShdw>
                </a:effectLst>
              </a:rPr>
              <a:t>In placing </a:t>
            </a:r>
            <a:r>
              <a:rPr lang="pl-PL" b="1" dirty="0">
                <a:solidFill>
                  <a:srgbClr val="FF0000"/>
                </a:solidFill>
                <a:effectLst>
                  <a:outerShdw blurRad="38100" dist="38100" dir="2700000" algn="tl">
                    <a:srgbClr val="000000">
                      <a:alpha val="43137"/>
                    </a:srgbClr>
                  </a:outerShdw>
                </a:effectLst>
              </a:rPr>
              <a:t>RECOUPMENT</a:t>
            </a: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[of a loss] </a:t>
            </a:r>
            <a:r>
              <a:rPr lang="en-US" b="1" dirty="0">
                <a:solidFill>
                  <a:srgbClr val="0070C0"/>
                </a:solidFill>
                <a:effectLst>
                  <a:outerShdw blurRad="38100" dist="38100" dir="2700000" algn="tl">
                    <a:srgbClr val="000000">
                      <a:alpha val="43137"/>
                    </a:srgbClr>
                  </a:outerShdw>
                </a:effectLst>
              </a:rPr>
              <a:t>at the center of </a:t>
            </a:r>
            <a:r>
              <a:rPr lang="en-US" b="1" dirty="0">
                <a:solidFill>
                  <a:srgbClr val="FF0000"/>
                </a:solidFill>
                <a:effectLst>
                  <a:outerShdw blurRad="38100" dist="38100" dir="2700000" algn="tl">
                    <a:srgbClr val="000000">
                      <a:alpha val="43137"/>
                    </a:srgbClr>
                  </a:outerShdw>
                </a:effectLst>
                <a:highlight>
                  <a:srgbClr val="00FF00"/>
                </a:highlight>
              </a:rPr>
              <a:t>predatory pricing </a:t>
            </a:r>
            <a:r>
              <a:rPr lang="en-US" b="1" dirty="0">
                <a:solidFill>
                  <a:srgbClr val="002060"/>
                </a:solidFill>
                <a:effectLst>
                  <a:outerShdw blurRad="38100" dist="38100" dir="2700000" algn="tl">
                    <a:srgbClr val="000000">
                      <a:alpha val="43137"/>
                    </a:srgbClr>
                  </a:outerShdw>
                </a:effectLst>
              </a:rPr>
              <a:t>analysis</a:t>
            </a:r>
            <a:r>
              <a:rPr lang="en-US" dirty="0">
                <a:solidFill>
                  <a:srgbClr val="002060"/>
                </a:solidFill>
                <a:effectLst>
                  <a:outerShdw blurRad="38100" dist="38100" dir="2700000" algn="tl">
                    <a:srgbClr val="000000">
                      <a:alpha val="43137"/>
                    </a:srgbClr>
                  </a:outerShdw>
                </a:effectLst>
              </a:rPr>
              <a:t>, the Court presumed that </a:t>
            </a:r>
            <a:r>
              <a:rPr lang="en-US" b="1" dirty="0">
                <a:solidFill>
                  <a:srgbClr val="FF0000"/>
                </a:solidFill>
                <a:effectLst>
                  <a:outerShdw blurRad="38100" dist="38100" dir="2700000" algn="tl">
                    <a:srgbClr val="000000">
                      <a:alpha val="43137"/>
                    </a:srgbClr>
                  </a:outerShdw>
                </a:effectLst>
                <a:highlight>
                  <a:srgbClr val="FFFF00"/>
                </a:highlight>
              </a:rPr>
              <a:t>direct profit </a:t>
            </a:r>
            <a:r>
              <a:rPr lang="en-US" b="1" dirty="0">
                <a:solidFill>
                  <a:srgbClr val="FF0000"/>
                </a:solidFill>
                <a:effectLst>
                  <a:outerShdw blurRad="38100" dist="38100" dir="2700000" algn="tl">
                    <a:srgbClr val="000000">
                      <a:alpha val="43137"/>
                    </a:srgbClr>
                  </a:outerShdw>
                </a:effectLst>
              </a:rPr>
              <a:t>maximization is the </a:t>
            </a:r>
            <a:r>
              <a:rPr lang="en-US" b="1" dirty="0">
                <a:solidFill>
                  <a:srgbClr val="FF0000"/>
                </a:solidFill>
                <a:effectLst>
                  <a:outerShdw blurRad="38100" dist="38100" dir="2700000" algn="tl">
                    <a:srgbClr val="000000">
                      <a:alpha val="43137"/>
                    </a:srgbClr>
                  </a:outerShdw>
                </a:effectLst>
                <a:highlight>
                  <a:srgbClr val="FFFF00"/>
                </a:highlight>
              </a:rPr>
              <a:t>singular goal </a:t>
            </a:r>
            <a:r>
              <a:rPr lang="en-US" b="1" dirty="0">
                <a:solidFill>
                  <a:srgbClr val="FF0000"/>
                </a:solidFill>
                <a:effectLst>
                  <a:outerShdw blurRad="38100" dist="38100" dir="2700000" algn="tl">
                    <a:srgbClr val="000000">
                      <a:alpha val="43137"/>
                    </a:srgbClr>
                  </a:outerShdw>
                </a:effectLst>
              </a:rPr>
              <a:t>of predatory pricing</a:t>
            </a:r>
            <a:endParaRPr lang="pl-PL" b="1" dirty="0">
              <a:solidFill>
                <a:srgbClr val="FF000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B</a:t>
            </a:r>
            <a:r>
              <a:rPr lang="en-US" dirty="0">
                <a:solidFill>
                  <a:srgbClr val="002060"/>
                </a:solidFill>
                <a:effectLst>
                  <a:outerShdw blurRad="38100" dist="38100" dir="2700000" algn="tl">
                    <a:srgbClr val="000000">
                      <a:alpha val="43137"/>
                    </a:srgbClr>
                  </a:outerShdw>
                </a:effectLst>
              </a:rPr>
              <a:t>y establishing that </a:t>
            </a:r>
            <a:r>
              <a:rPr lang="en-US" b="1" dirty="0">
                <a:solidFill>
                  <a:srgbClr val="FF0000"/>
                </a:solidFill>
                <a:effectLst>
                  <a:outerShdw blurRad="38100" dist="38100" dir="2700000" algn="tl">
                    <a:srgbClr val="000000">
                      <a:alpha val="43137"/>
                    </a:srgbClr>
                  </a:outerShdw>
                </a:effectLst>
              </a:rPr>
              <a:t>harm occurs only when </a:t>
            </a:r>
            <a:r>
              <a:rPr lang="pl-PL" b="1" dirty="0">
                <a:solidFill>
                  <a:srgbClr val="FF0000"/>
                </a:solidFill>
                <a:effectLst>
                  <a:outerShdw blurRad="38100" dist="38100" dir="2700000" algn="tl">
                    <a:srgbClr val="000000">
                      <a:alpha val="43137"/>
                    </a:srgbClr>
                  </a:outerShdw>
                </a:effectLst>
              </a:rPr>
              <a:t>PREDATORY</a:t>
            </a:r>
            <a:r>
              <a:rPr lang="en-US" b="1" dirty="0">
                <a:solidFill>
                  <a:srgbClr val="FF0000"/>
                </a:solidFill>
                <a:effectLst>
                  <a:outerShdw blurRad="38100" dist="38100" dir="2700000" algn="tl">
                    <a:srgbClr val="000000">
                      <a:alpha val="43137"/>
                    </a:srgbClr>
                  </a:outerShdw>
                </a:effectLst>
              </a:rPr>
              <a:t> pricing </a:t>
            </a:r>
            <a:r>
              <a:rPr lang="en-US" b="1" dirty="0">
                <a:solidFill>
                  <a:srgbClr val="002060"/>
                </a:solidFill>
                <a:effectLst>
                  <a:outerShdw blurRad="38100" dist="38100" dir="2700000" algn="tl">
                    <a:srgbClr val="000000">
                      <a:alpha val="43137"/>
                    </a:srgbClr>
                  </a:outerShdw>
                </a:effectLst>
              </a:rPr>
              <a:t>results in </a:t>
            </a:r>
            <a:r>
              <a:rPr lang="pl-PL" b="1" dirty="0">
                <a:solidFill>
                  <a:srgbClr val="FF0000"/>
                </a:solidFill>
                <a:effectLst>
                  <a:outerShdw blurRad="38100" dist="38100" dir="2700000" algn="tl">
                    <a:srgbClr val="000000">
                      <a:alpha val="43137"/>
                    </a:srgbClr>
                  </a:outerShdw>
                </a:effectLst>
              </a:rPr>
              <a:t>HIGHER</a:t>
            </a:r>
            <a:r>
              <a:rPr lang="en-US" b="1" dirty="0">
                <a:solidFill>
                  <a:srgbClr val="FF0000"/>
                </a:solidFill>
                <a:effectLst>
                  <a:outerShdw blurRad="38100" dist="38100" dir="2700000" algn="tl">
                    <a:srgbClr val="000000">
                      <a:alpha val="43137"/>
                    </a:srgbClr>
                  </a:outerShdw>
                </a:effectLst>
              </a:rPr>
              <a:t> prices</a:t>
            </a:r>
            <a:r>
              <a:rPr lang="en-US" dirty="0">
                <a:solidFill>
                  <a:srgbClr val="002060"/>
                </a:solidFill>
                <a:effectLst>
                  <a:outerShdw blurRad="38100" dist="38100" dir="2700000" algn="tl">
                    <a:srgbClr val="000000">
                      <a:alpha val="43137"/>
                    </a:srgbClr>
                  </a:outerShdw>
                </a:effectLst>
              </a:rPr>
              <a:t>, the Court collapsed the rich set of concerns that had animated earlier critics of predation, </a:t>
            </a:r>
            <a:r>
              <a:rPr lang="pl-PL" dirty="0">
                <a:solidFill>
                  <a:srgbClr val="002060"/>
                </a:solidFill>
                <a:effectLst>
                  <a:outerShdw blurRad="38100" dist="38100" dir="2700000" algn="tl">
                    <a:srgbClr val="000000">
                      <a:alpha val="43137"/>
                    </a:srgbClr>
                  </a:outerShdw>
                </a:effectLst>
              </a:rPr>
              <a:t>including</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an aversion to large firms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a:t>
            </a:r>
            <a:r>
              <a:rPr lang="en-US" dirty="0">
                <a:solidFill>
                  <a:srgbClr val="002060"/>
                </a:solidFill>
                <a:effectLst>
                  <a:outerShdw blurRad="38100" dist="38100" dir="2700000" algn="tl">
                    <a:srgbClr val="000000">
                      <a:alpha val="43137"/>
                    </a:srgbClr>
                  </a:outerShdw>
                </a:effectLst>
              </a:rPr>
              <a:t>he Court adopted the Chicago School’s </a:t>
            </a:r>
            <a:r>
              <a:rPr lang="en-US" b="1" dirty="0">
                <a:solidFill>
                  <a:srgbClr val="FF0000"/>
                </a:solidFill>
                <a:effectLst>
                  <a:outerShdw blurRad="38100" dist="38100" dir="2700000" algn="tl">
                    <a:srgbClr val="000000">
                      <a:alpha val="43137"/>
                    </a:srgbClr>
                  </a:outerShdw>
                </a:effectLst>
              </a:rPr>
              <a:t>narrow </a:t>
            </a:r>
            <a:r>
              <a:rPr lang="pl-PL" b="1" dirty="0">
                <a:solidFill>
                  <a:srgbClr val="FF0000"/>
                </a:solidFill>
                <a:effectLst>
                  <a:outerShdw blurRad="38100" dist="38100" dir="2700000" algn="tl">
                    <a:srgbClr val="000000">
                      <a:alpha val="43137"/>
                    </a:srgbClr>
                  </a:outerShdw>
                </a:effectLst>
              </a:rPr>
              <a:t>conception</a:t>
            </a:r>
            <a:r>
              <a:rPr lang="en-US" b="1" dirty="0">
                <a:solidFill>
                  <a:srgbClr val="FF0000"/>
                </a:solidFill>
                <a:effectLst>
                  <a:outerShdw blurRad="38100" dist="38100" dir="2700000" algn="tl">
                    <a:srgbClr val="000000">
                      <a:alpha val="43137"/>
                    </a:srgbClr>
                  </a:outerShdw>
                </a:effectLst>
              </a:rPr>
              <a:t> of what constitutes this </a:t>
            </a:r>
            <a:r>
              <a:rPr lang="en-US" b="1" dirty="0">
                <a:solidFill>
                  <a:srgbClr val="FF0000"/>
                </a:solidFill>
                <a:effectLst>
                  <a:outerShdw blurRad="38100" dist="38100" dir="2700000" algn="tl">
                    <a:srgbClr val="000000">
                      <a:alpha val="43137"/>
                    </a:srgbClr>
                  </a:outerShdw>
                </a:effectLst>
                <a:highlight>
                  <a:srgbClr val="FFFF00"/>
                </a:highlight>
              </a:rPr>
              <a:t>harm (higher prices</a:t>
            </a:r>
            <a:r>
              <a:rPr lang="en-US" b="1" dirty="0">
                <a:solidFill>
                  <a:srgbClr val="FF000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t>To </a:t>
            </a:r>
            <a:r>
              <a:rPr lang="pl-PL" dirty="0">
                <a:solidFill>
                  <a:srgbClr val="002060"/>
                </a:solidFill>
                <a:effectLst>
                  <a:outerShdw blurRad="38100" dist="38100" dir="2700000" algn="tl">
                    <a:srgbClr val="000000">
                      <a:alpha val="43137"/>
                    </a:srgbClr>
                  </a:outerShdw>
                </a:effectLst>
              </a:rPr>
              <a:t>succeed </a:t>
            </a:r>
            <a:r>
              <a:rPr lang="en-US" dirty="0">
                <a:solidFill>
                  <a:srgbClr val="002060"/>
                </a:solidFill>
                <a:effectLst>
                  <a:outerShdw blurRad="38100" dist="38100" dir="2700000" algn="tl">
                    <a:srgbClr val="000000">
                      <a:alpha val="43137"/>
                    </a:srgbClr>
                  </a:outerShdw>
                </a:effectLst>
              </a:rPr>
              <a:t>on a </a:t>
            </a:r>
            <a:r>
              <a:rPr lang="en-US" b="1" dirty="0">
                <a:solidFill>
                  <a:srgbClr val="FF0000"/>
                </a:solidFill>
                <a:effectLst>
                  <a:outerShdw blurRad="38100" dist="38100" dir="2700000" algn="tl">
                    <a:srgbClr val="000000">
                      <a:alpha val="43137"/>
                    </a:srgbClr>
                  </a:outerShdw>
                </a:effectLst>
              </a:rPr>
              <a:t>predatory pricing claim </a:t>
            </a:r>
            <a:r>
              <a:rPr lang="en-US" b="1" dirty="0">
                <a:solidFill>
                  <a:srgbClr val="002060"/>
                </a:solidFill>
                <a:effectLst>
                  <a:outerShdw blurRad="38100" dist="38100" dir="2700000" algn="tl">
                    <a:srgbClr val="000000">
                      <a:alpha val="43137"/>
                    </a:srgbClr>
                  </a:outerShdw>
                </a:effectLst>
              </a:rPr>
              <a:t>requires a </a:t>
            </a:r>
            <a:r>
              <a:rPr lang="pl-PL" b="1" dirty="0">
                <a:solidFill>
                  <a:srgbClr val="002060"/>
                </a:solidFill>
                <a:effectLst>
                  <a:outerShdw blurRad="38100" dist="38100" dir="2700000" algn="tl">
                    <a:srgbClr val="000000">
                      <a:alpha val="43137"/>
                    </a:srgbClr>
                  </a:outerShdw>
                </a:effectLst>
              </a:rPr>
              <a:t>PLAINTIFF (the </a:t>
            </a:r>
            <a:r>
              <a:rPr lang="pl-PL" b="1" dirty="0" err="1">
                <a:solidFill>
                  <a:srgbClr val="002060"/>
                </a:solidFill>
                <a:effectLst>
                  <a:outerShdw blurRad="38100" dist="38100" dir="2700000" algn="tl">
                    <a:srgbClr val="000000">
                      <a:alpha val="43137"/>
                    </a:srgbClr>
                  </a:outerShdw>
                </a:effectLst>
              </a:rPr>
              <a:t>competition</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protection</a:t>
            </a:r>
            <a:r>
              <a:rPr lang="pl-PL" b="1" dirty="0">
                <a:solidFill>
                  <a:srgbClr val="002060"/>
                </a:solidFill>
                <a:effectLst>
                  <a:outerShdw blurRad="38100" dist="38100" dir="2700000" algn="tl">
                    <a:srgbClr val="000000">
                      <a:alpha val="43137"/>
                    </a:srgbClr>
                  </a:outerShdw>
                </a:effectLst>
              </a:rPr>
              <a:t> authority)</a:t>
            </a:r>
            <a:r>
              <a:rPr lang="en-US"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to meet the </a:t>
            </a:r>
            <a:r>
              <a:rPr lang="en-US" b="1" dirty="0">
                <a:solidFill>
                  <a:srgbClr val="002060"/>
                </a:solidFill>
                <a:effectLst>
                  <a:outerShdw blurRad="38100" dist="38100" dir="2700000" algn="tl">
                    <a:srgbClr val="000000">
                      <a:alpha val="43137"/>
                    </a:srgbClr>
                  </a:outerShdw>
                </a:effectLst>
              </a:rPr>
              <a:t>recoupment test </a:t>
            </a:r>
            <a:r>
              <a:rPr lang="en-US" dirty="0">
                <a:solidFill>
                  <a:srgbClr val="002060"/>
                </a:solidFill>
                <a:effectLst>
                  <a:outerShdw blurRad="38100" dist="38100" dir="2700000" algn="tl">
                    <a:srgbClr val="000000">
                      <a:alpha val="43137"/>
                    </a:srgbClr>
                  </a:outerShdw>
                </a:effectLst>
              </a:rPr>
              <a:t>by </a:t>
            </a:r>
            <a:r>
              <a:rPr lang="en-US" b="1" dirty="0">
                <a:solidFill>
                  <a:srgbClr val="FF0000"/>
                </a:solidFill>
                <a:effectLst>
                  <a:outerShdw blurRad="38100" dist="38100" dir="2700000" algn="tl">
                    <a:srgbClr val="000000">
                      <a:alpha val="43137"/>
                    </a:srgbClr>
                  </a:outerShdw>
                </a:effectLst>
              </a:rPr>
              <a:t>showing that the defendant would be able to recoup</a:t>
            </a:r>
            <a:r>
              <a:rPr lang="pl-PL" b="1" dirty="0">
                <a:solidFill>
                  <a:srgbClr val="FF0000"/>
                </a:solidFill>
                <a:effectLst>
                  <a:outerShdw blurRad="38100" dist="38100" dir="2700000" algn="tl">
                    <a:srgbClr val="000000">
                      <a:alpha val="43137"/>
                    </a:srgbClr>
                  </a:outerShdw>
                </a:effectLst>
              </a:rPr>
              <a:t> (take back)</a:t>
            </a:r>
            <a:r>
              <a:rPr lang="en-US" b="1" dirty="0">
                <a:solidFill>
                  <a:srgbClr val="FF000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its losses through sustaining supracompetitive prices</a:t>
            </a:r>
            <a:r>
              <a:rPr lang="en-US" b="1" dirty="0"/>
              <a:t>.</a:t>
            </a:r>
            <a:endParaRPr lang="en-US"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21927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FD88492-9C05-A01A-FEC9-04188E9AE532}"/>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 REVOLUTION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1D947975-DCA8-6DAE-99BF-B17855BCF7A8}"/>
              </a:ext>
            </a:extLst>
          </p:cNvPr>
          <p:cNvSpPr>
            <a:spLocks noGrp="1"/>
          </p:cNvSpPr>
          <p:nvPr>
            <p:ph idx="1"/>
          </p:nvPr>
        </p:nvSpPr>
        <p:spPr>
          <a:xfrm>
            <a:off x="838200" y="1825624"/>
            <a:ext cx="10515600" cy="4506349"/>
          </a:xfrm>
        </p:spPr>
        <p:txBody>
          <a:bodyPr>
            <a:normAutofit/>
          </a:bodyPr>
          <a:lstStyle/>
          <a:p>
            <a:r>
              <a:rPr lang="en-US" dirty="0">
                <a:solidFill>
                  <a:srgbClr val="002060"/>
                </a:solidFill>
                <a:effectLst>
                  <a:outerShdw blurRad="38100" dist="38100" dir="2700000" algn="tl">
                    <a:srgbClr val="000000">
                      <a:alpha val="43137"/>
                    </a:srgbClr>
                  </a:outerShdw>
                </a:effectLst>
              </a:rPr>
              <a:t>Analysis of </a:t>
            </a:r>
            <a:r>
              <a:rPr lang="en-US" b="1"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vertical integration </a:t>
            </a:r>
            <a:r>
              <a:rPr lang="en-US" dirty="0">
                <a:solidFill>
                  <a:srgbClr val="002060"/>
                </a:solidFill>
                <a:effectLst>
                  <a:outerShdw blurRad="38100" dist="38100" dir="2700000" algn="tl">
                    <a:srgbClr val="000000">
                      <a:alpha val="43137"/>
                    </a:srgbClr>
                  </a:outerShdw>
                </a:effectLst>
              </a:rPr>
              <a:t>has similarly </a:t>
            </a:r>
            <a:r>
              <a:rPr lang="en-US" b="1" dirty="0">
                <a:solidFill>
                  <a:srgbClr val="0070C0"/>
                </a:solidFill>
                <a:effectLst>
                  <a:outerShdw blurRad="38100" dist="38100" dir="2700000" algn="tl">
                    <a:srgbClr val="000000">
                      <a:alpha val="43137"/>
                    </a:srgbClr>
                  </a:outerShdw>
                </a:effectLst>
              </a:rPr>
              <a:t>moved away from </a:t>
            </a:r>
            <a:r>
              <a:rPr lang="pl-PL" b="1" dirty="0">
                <a:solidFill>
                  <a:srgbClr val="0070C0"/>
                </a:solidFill>
                <a:effectLst>
                  <a:outerShdw blurRad="38100" dist="38100" dir="2700000" algn="tl">
                    <a:srgbClr val="000000">
                      <a:alpha val="43137"/>
                    </a:srgbClr>
                  </a:outerShdw>
                </a:effectLst>
              </a:rPr>
              <a:t>structural</a:t>
            </a:r>
            <a:r>
              <a:rPr lang="en-US" b="1" dirty="0">
                <a:solidFill>
                  <a:srgbClr val="0070C0"/>
                </a:solidFill>
                <a:effectLst>
                  <a:outerShdw blurRad="38100" dist="38100" dir="2700000" algn="tl">
                    <a:srgbClr val="000000">
                      <a:alpha val="43137"/>
                    </a:srgbClr>
                  </a:outerShdw>
                </a:effectLst>
              </a:rPr>
              <a:t> concerns.</a:t>
            </a:r>
            <a:endParaRPr lang="pl-PL" b="1" dirty="0">
              <a:solidFill>
                <a:srgbClr val="0070C0"/>
              </a:solidFill>
              <a:effectLst>
                <a:outerShdw blurRad="38100" dist="38100" dir="2700000" algn="tl">
                  <a:srgbClr val="000000">
                    <a:alpha val="43137"/>
                  </a:srgbClr>
                </a:outerShdw>
              </a:effectLst>
            </a:endParaRPr>
          </a:p>
          <a:p>
            <a:r>
              <a:rPr lang="en-US" b="1" dirty="0">
                <a:solidFill>
                  <a:srgbClr val="0070C0"/>
                </a:solidFill>
                <a:effectLst>
                  <a:outerShdw blurRad="38100" dist="38100" dir="2700000" algn="tl">
                    <a:srgbClr val="000000">
                      <a:alpha val="43137"/>
                    </a:srgbClr>
                  </a:outerShdw>
                </a:effectLst>
              </a:rPr>
              <a:t>Critics of vertical integration </a:t>
            </a:r>
            <a:r>
              <a:rPr lang="en-US" dirty="0">
                <a:solidFill>
                  <a:srgbClr val="002060"/>
                </a:solidFill>
                <a:effectLst>
                  <a:outerShdw blurRad="38100" dist="38100" dir="2700000" algn="tl">
                    <a:srgbClr val="000000">
                      <a:alpha val="43137"/>
                    </a:srgbClr>
                  </a:outerShdw>
                </a:effectLst>
              </a:rPr>
              <a:t>primarily focused on two theories of </a:t>
            </a:r>
            <a:r>
              <a:rPr lang="pl-PL" b="1" dirty="0">
                <a:solidFill>
                  <a:srgbClr val="FF0000"/>
                </a:solidFill>
                <a:effectLst>
                  <a:outerShdw blurRad="38100" dist="38100" dir="2700000" algn="tl">
                    <a:srgbClr val="000000">
                      <a:alpha val="43137"/>
                    </a:srgbClr>
                  </a:outerShdw>
                </a:effectLst>
              </a:rPr>
              <a:t>potential</a:t>
            </a:r>
            <a:r>
              <a:rPr lang="en-US" b="1" dirty="0">
                <a:solidFill>
                  <a:srgbClr val="FF0000"/>
                </a:solidFill>
                <a:effectLst>
                  <a:outerShdw blurRad="38100" dist="38100" dir="2700000" algn="tl">
                    <a:srgbClr val="000000">
                      <a:alpha val="43137"/>
                    </a:srgbClr>
                  </a:outerShdw>
                </a:effectLst>
              </a:rPr>
              <a:t> harm: leverage and foreclosure</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Leverage</a:t>
            </a:r>
            <a:r>
              <a:rPr lang="en-US" dirty="0">
                <a:solidFill>
                  <a:srgbClr val="002060"/>
                </a:solidFill>
                <a:effectLst>
                  <a:outerShdw blurRad="38100" dist="38100" dir="2700000" algn="tl">
                    <a:srgbClr val="000000">
                      <a:alpha val="43137"/>
                    </a:srgbClr>
                  </a:outerShdw>
                </a:effectLst>
              </a:rPr>
              <a:t> reflects the idea that </a:t>
            </a:r>
            <a:r>
              <a:rPr lang="en-US" b="1" dirty="0">
                <a:solidFill>
                  <a:srgbClr val="0070C0"/>
                </a:solidFill>
                <a:effectLst>
                  <a:outerShdw blurRad="38100" dist="38100" dir="2700000" algn="tl">
                    <a:srgbClr val="000000">
                      <a:alpha val="43137"/>
                    </a:srgbClr>
                  </a:outerShdw>
                </a:effectLst>
              </a:rPr>
              <a:t>a firm can use its dominance in one line of business to establish dominance in another</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Foreclosure</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occurs when a firm uses </a:t>
            </a:r>
            <a:r>
              <a:rPr lang="en-US" b="1" dirty="0">
                <a:solidFill>
                  <a:srgbClr val="002060"/>
                </a:solidFill>
                <a:effectLst>
                  <a:outerShdw blurRad="38100" dist="38100" dir="2700000" algn="tl">
                    <a:srgbClr val="000000">
                      <a:alpha val="43137"/>
                    </a:srgbClr>
                  </a:outerShdw>
                </a:effectLst>
              </a:rPr>
              <a:t>one line of </a:t>
            </a:r>
            <a:r>
              <a:rPr lang="pl-PL" b="1" dirty="0">
                <a:solidFill>
                  <a:srgbClr val="002060"/>
                </a:solidFill>
                <a:effectLst>
                  <a:outerShdw blurRad="38100" dist="38100" dir="2700000" algn="tl">
                    <a:srgbClr val="000000">
                      <a:alpha val="43137"/>
                    </a:srgbClr>
                  </a:outerShdw>
                </a:effectLst>
              </a:rPr>
              <a:t>business</a:t>
            </a:r>
            <a:r>
              <a:rPr lang="en-US"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to </a:t>
            </a:r>
            <a:r>
              <a:rPr lang="en-US" b="1" dirty="0">
                <a:solidFill>
                  <a:srgbClr val="002060"/>
                </a:solidFill>
                <a:effectLst>
                  <a:outerShdw blurRad="38100" dist="38100" dir="2700000" algn="tl">
                    <a:srgbClr val="000000">
                      <a:alpha val="43137"/>
                    </a:srgbClr>
                  </a:outerShdw>
                </a:effectLst>
              </a:rPr>
              <a:t>disadvantage rivals in another line</a:t>
            </a:r>
            <a:r>
              <a:rPr lang="en-US" dirty="0"/>
              <a:t>.</a:t>
            </a:r>
            <a:r>
              <a:rPr lang="en-US" b="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endParaRPr lang="en-US"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86997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95D5749-A97D-B385-E824-74A77F2DF96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CHICAGO SCHOOL REVOLUTION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EA30B398-90AD-5815-AE05-789EB9176915}"/>
              </a:ext>
            </a:extLst>
          </p:cNvPr>
          <p:cNvSpPr>
            <a:spLocks noGrp="1"/>
          </p:cNvSpPr>
          <p:nvPr>
            <p:ph idx="1"/>
          </p:nvPr>
        </p:nvSpPr>
        <p:spPr/>
        <p:txBody>
          <a:bodyPr/>
          <a:lstStyle/>
          <a:p>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 </a:t>
            </a:r>
            <a:endParaRPr lang="pl-PL"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r>
              <a:rPr lang="en-US" sz="3600" b="1" dirty="0">
                <a:solidFill>
                  <a:srgbClr val="FF0000"/>
                </a:solidFill>
                <a:effectLst>
                  <a:outerShdw blurRad="38100" dist="38100" dir="2700000" algn="tl">
                    <a:srgbClr val="000000">
                      <a:alpha val="43137"/>
                    </a:srgbClr>
                  </a:outerShdw>
                </a:effectLst>
              </a:rPr>
              <a:t>Chicago School </a:t>
            </a:r>
            <a:r>
              <a:rPr lang="en-US" sz="3600" b="1" dirty="0">
                <a:solidFill>
                  <a:srgbClr val="0070C0"/>
                </a:solidFill>
                <a:effectLst>
                  <a:outerShdw blurRad="38100" dist="38100" dir="2700000" algn="tl">
                    <a:srgbClr val="000000">
                      <a:alpha val="43137"/>
                    </a:srgbClr>
                  </a:outerShdw>
                </a:effectLst>
              </a:rPr>
              <a:t>theory holds that concerns about both </a:t>
            </a:r>
            <a:r>
              <a:rPr lang="en-US" sz="3600" b="1" dirty="0">
                <a:solidFill>
                  <a:srgbClr val="FF0000"/>
                </a:solidFill>
                <a:effectLst>
                  <a:outerShdw blurRad="38100" dist="38100" dir="2700000" algn="tl">
                    <a:srgbClr val="000000">
                      <a:alpha val="43137"/>
                    </a:srgbClr>
                  </a:outerShdw>
                </a:effectLst>
              </a:rPr>
              <a:t>leverage</a:t>
            </a:r>
            <a:r>
              <a:rPr lang="en-US" sz="3600" b="1" dirty="0">
                <a:solidFill>
                  <a:srgbClr val="0070C0"/>
                </a:solidFill>
                <a:effectLst>
                  <a:outerShdw blurRad="38100" dist="38100" dir="2700000" algn="tl">
                    <a:srgbClr val="000000">
                      <a:alpha val="43137"/>
                    </a:srgbClr>
                  </a:outerShdw>
                </a:effectLst>
              </a:rPr>
              <a:t> and </a:t>
            </a:r>
            <a:r>
              <a:rPr lang="en-US" sz="3600" b="1" dirty="0">
                <a:solidFill>
                  <a:srgbClr val="FF0000"/>
                </a:solidFill>
                <a:effectLst>
                  <a:outerShdw blurRad="38100" dist="38100" dir="2700000" algn="tl">
                    <a:srgbClr val="000000">
                      <a:alpha val="43137"/>
                    </a:srgbClr>
                  </a:outerShdw>
                </a:effectLst>
              </a:rPr>
              <a:t>foreclosure</a:t>
            </a:r>
            <a:r>
              <a:rPr lang="en-US" sz="3600" b="1" dirty="0">
                <a:solidFill>
                  <a:srgbClr val="0070C0"/>
                </a:solidFill>
                <a:effectLst>
                  <a:outerShdw blurRad="38100" dist="38100" dir="2700000" algn="tl">
                    <a:srgbClr val="000000">
                      <a:alpha val="43137"/>
                    </a:srgbClr>
                  </a:outerShdw>
                </a:effectLst>
              </a:rPr>
              <a:t> are </a:t>
            </a:r>
            <a:r>
              <a:rPr lang="en-US" sz="3600" b="1" dirty="0">
                <a:solidFill>
                  <a:srgbClr val="FF0000"/>
                </a:solidFill>
                <a:effectLst>
                  <a:outerShdw blurRad="38100" dist="38100" dir="2700000" algn="tl">
                    <a:srgbClr val="000000">
                      <a:alpha val="43137"/>
                    </a:srgbClr>
                  </a:outerShdw>
                </a:effectLst>
              </a:rPr>
              <a:t>misguided</a:t>
            </a:r>
            <a:r>
              <a:rPr lang="pl-PL" sz="3600" b="1" dirty="0">
                <a:solidFill>
                  <a:srgbClr val="0070C0"/>
                </a:solidFill>
                <a:effectLst>
                  <a:outerShdw blurRad="38100" dist="38100" dir="2700000" algn="tl">
                    <a:srgbClr val="000000">
                      <a:alpha val="43137"/>
                    </a:srgbClr>
                  </a:outerShdw>
                </a:effectLst>
              </a:rPr>
              <a:t>:</a:t>
            </a:r>
          </a:p>
          <a:p>
            <a:r>
              <a:rPr lang="en-US" sz="3600" dirty="0">
                <a:solidFill>
                  <a:srgbClr val="002060"/>
                </a:solidFill>
                <a:effectLst>
                  <a:outerShdw blurRad="38100" dist="38100" dir="2700000" algn="tl">
                    <a:srgbClr val="000000">
                      <a:alpha val="43137"/>
                    </a:srgbClr>
                  </a:outerShdw>
                </a:effectLst>
              </a:rPr>
              <a:t>Vertical mergers</a:t>
            </a:r>
            <a:r>
              <a:rPr lang="pl-PL" sz="3600" dirty="0">
                <a:solidFill>
                  <a:srgbClr val="00206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 antitrust law’s aversion to vertical arrangements</a:t>
            </a:r>
            <a:r>
              <a:rPr lang="pl-PL" sz="3600" dirty="0">
                <a:solidFill>
                  <a:srgbClr val="00206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 was irrational. “</a:t>
            </a:r>
            <a:r>
              <a:rPr lang="en-US" sz="3600" b="1" dirty="0">
                <a:solidFill>
                  <a:srgbClr val="002060"/>
                </a:solidFill>
                <a:effectLst>
                  <a:outerShdw blurRad="38100" dist="38100" dir="2700000" algn="tl">
                    <a:srgbClr val="000000">
                      <a:alpha val="43137"/>
                    </a:srgbClr>
                  </a:outerShdw>
                </a:effectLst>
              </a:rPr>
              <a:t>The law against </a:t>
            </a:r>
            <a:r>
              <a:rPr lang="pl-PL" sz="3600" b="1" dirty="0">
                <a:solidFill>
                  <a:srgbClr val="002060"/>
                </a:solidFill>
                <a:effectLst>
                  <a:outerShdw blurRad="38100" dist="38100" dir="2700000" algn="tl">
                    <a:srgbClr val="000000">
                      <a:alpha val="43137"/>
                    </a:srgbClr>
                  </a:outerShdw>
                </a:effectLst>
              </a:rPr>
              <a:t>vertical</a:t>
            </a:r>
            <a:r>
              <a:rPr lang="en-US" sz="3600" b="1" dirty="0">
                <a:solidFill>
                  <a:srgbClr val="002060"/>
                </a:solidFill>
                <a:effectLst>
                  <a:outerShdw blurRad="38100" dist="38100" dir="2700000" algn="tl">
                    <a:srgbClr val="000000">
                      <a:alpha val="43137"/>
                    </a:srgbClr>
                  </a:outerShdw>
                </a:effectLst>
              </a:rPr>
              <a:t> mergers </a:t>
            </a:r>
            <a:r>
              <a:rPr lang="en-US" sz="3600" dirty="0">
                <a:solidFill>
                  <a:srgbClr val="002060"/>
                </a:solidFill>
                <a:effectLst>
                  <a:outerShdw blurRad="38100" dist="38100" dir="2700000" algn="tl">
                    <a:srgbClr val="000000">
                      <a:alpha val="43137"/>
                    </a:srgbClr>
                  </a:outerShdw>
                </a:effectLst>
              </a:rPr>
              <a:t>is </a:t>
            </a:r>
            <a:r>
              <a:rPr lang="en-US" sz="3600" b="1" dirty="0">
                <a:solidFill>
                  <a:srgbClr val="FF0000"/>
                </a:solidFill>
                <a:effectLst>
                  <a:outerShdw blurRad="38100" dist="38100" dir="2700000" algn="tl">
                    <a:srgbClr val="000000">
                      <a:alpha val="43137"/>
                    </a:srgbClr>
                  </a:outerShdw>
                </a:effectLst>
              </a:rPr>
              <a:t>merely a law against the </a:t>
            </a:r>
            <a:r>
              <a:rPr lang="en-US" sz="3600" b="1" dirty="0">
                <a:solidFill>
                  <a:srgbClr val="FF0000"/>
                </a:solidFill>
                <a:effectLst>
                  <a:outerShdw blurRad="38100" dist="38100" dir="2700000" algn="tl">
                    <a:srgbClr val="000000">
                      <a:alpha val="43137"/>
                    </a:srgbClr>
                  </a:outerShdw>
                </a:effectLst>
                <a:highlight>
                  <a:srgbClr val="FFFF00"/>
                </a:highlight>
              </a:rPr>
              <a:t>creation of efficiency</a:t>
            </a:r>
          </a:p>
        </p:txBody>
      </p:sp>
    </p:spTree>
    <p:extLst>
      <p:ext uri="{BB962C8B-B14F-4D97-AF65-F5344CB8AC3E}">
        <p14:creationId xmlns:p14="http://schemas.microsoft.com/office/powerpoint/2010/main" val="4126501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43ABC75-0D0E-49D2-1871-8A62F480B5C0}"/>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AMAZON’S BUSINESS STRATEGY</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6A155FB9-702D-4877-CA22-38A79561B6C6}"/>
              </a:ext>
            </a:extLst>
          </p:cNvPr>
          <p:cNvSpPr>
            <a:spLocks noGrp="1"/>
          </p:cNvSpPr>
          <p:nvPr>
            <p:ph idx="1"/>
          </p:nvPr>
        </p:nvSpPr>
        <p:spPr>
          <a:xfrm>
            <a:off x="838200" y="1825624"/>
            <a:ext cx="10515600" cy="4811149"/>
          </a:xfrm>
        </p:spPr>
        <p:txBody>
          <a:bodyPr>
            <a:normAutofit/>
          </a:bodyPr>
          <a:lstStyle/>
          <a:p>
            <a:pPr marL="0" indent="0">
              <a:buNone/>
            </a:pPr>
            <a:r>
              <a:rPr lang="en-US" dirty="0">
                <a:solidFill>
                  <a:srgbClr val="002060"/>
                </a:solidFill>
                <a:effectLst>
                  <a:outerShdw blurRad="38100" dist="38100" dir="2700000" algn="tl">
                    <a:srgbClr val="000000">
                      <a:alpha val="43137"/>
                    </a:srgbClr>
                  </a:outerShdw>
                </a:effectLst>
              </a:rPr>
              <a:t>Amazon has </a:t>
            </a:r>
            <a:r>
              <a:rPr lang="en-US" b="1" dirty="0">
                <a:solidFill>
                  <a:srgbClr val="FF0000"/>
                </a:solidFill>
                <a:effectLst>
                  <a:outerShdw blurRad="38100" dist="38100" dir="2700000" algn="tl">
                    <a:srgbClr val="000000">
                      <a:alpha val="43137"/>
                    </a:srgbClr>
                  </a:outerShdw>
                </a:effectLst>
              </a:rPr>
              <a:t>established dominance </a:t>
            </a:r>
            <a:r>
              <a:rPr lang="en-US" dirty="0">
                <a:solidFill>
                  <a:srgbClr val="002060"/>
                </a:solidFill>
                <a:effectLst>
                  <a:outerShdw blurRad="38100" dist="38100" dir="2700000" algn="tl">
                    <a:srgbClr val="000000">
                      <a:alpha val="43137"/>
                    </a:srgbClr>
                  </a:outerShdw>
                </a:effectLst>
              </a:rPr>
              <a:t>as an online platform thanks to </a:t>
            </a:r>
            <a:r>
              <a:rPr lang="en-US" b="1" dirty="0">
                <a:solidFill>
                  <a:srgbClr val="FF0000"/>
                </a:solidFill>
                <a:effectLst>
                  <a:outerShdw blurRad="38100" dist="38100" dir="2700000" algn="tl">
                    <a:srgbClr val="000000">
                      <a:alpha val="43137"/>
                    </a:srgbClr>
                  </a:outerShdw>
                </a:effectLst>
                <a:latin typeface="Arial Black" panose="020B0A04020102020204" pitchFamily="34" charset="0"/>
              </a:rPr>
              <a:t>two elements </a:t>
            </a:r>
            <a:r>
              <a:rPr lang="en-US" b="1" dirty="0">
                <a:solidFill>
                  <a:srgbClr val="FF0000"/>
                </a:solidFill>
                <a:effectLst>
                  <a:outerShdw blurRad="38100" dist="38100" dir="2700000" algn="tl">
                    <a:srgbClr val="000000">
                      <a:alpha val="43137"/>
                    </a:srgbClr>
                  </a:outerShdw>
                </a:effectLst>
              </a:rPr>
              <a:t>of its </a:t>
            </a:r>
            <a:r>
              <a:rPr lang="en-US" b="1" dirty="0">
                <a:solidFill>
                  <a:srgbClr val="FF0000"/>
                </a:solidFill>
                <a:effectLst>
                  <a:outerShdw blurRad="38100" dist="38100" dir="2700000" algn="tl">
                    <a:srgbClr val="000000">
                      <a:alpha val="43137"/>
                    </a:srgbClr>
                  </a:outerShdw>
                </a:effectLst>
                <a:latin typeface="Arial Black" panose="020B0A04020102020204" pitchFamily="34" charset="0"/>
              </a:rPr>
              <a:t>business strategy</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pPr marL="0" indent="0">
              <a:buNone/>
            </a:pPr>
            <a:r>
              <a:rPr lang="pl-PL" b="1" dirty="0">
                <a:solidFill>
                  <a:srgbClr val="FF0000"/>
                </a:solidFill>
                <a:effectLst>
                  <a:outerShdw blurRad="38100" dist="38100" dir="2700000" algn="tl">
                    <a:srgbClr val="000000">
                      <a:alpha val="43137"/>
                    </a:srgbClr>
                  </a:outerShdw>
                </a:effectLst>
              </a:rPr>
              <a:t>1) A</a:t>
            </a:r>
            <a:r>
              <a:rPr lang="en-US" b="1" dirty="0">
                <a:solidFill>
                  <a:srgbClr val="FF0000"/>
                </a:solidFill>
                <a:effectLst>
                  <a:outerShdw blurRad="38100" dist="38100" dir="2700000" algn="tl">
                    <a:srgbClr val="000000">
                      <a:alpha val="43137"/>
                    </a:srgbClr>
                  </a:outerShdw>
                </a:effectLst>
              </a:rPr>
              <a:t> willingness to sustain </a:t>
            </a:r>
            <a:r>
              <a:rPr lang="en-US" b="1" u="sng" dirty="0">
                <a:solidFill>
                  <a:srgbClr val="FF0000"/>
                </a:solidFill>
                <a:effectLst>
                  <a:outerShdw blurRad="38100" dist="38100" dir="2700000" algn="tl">
                    <a:srgbClr val="000000">
                      <a:alpha val="43137"/>
                    </a:srgbClr>
                  </a:outerShdw>
                </a:effectLst>
              </a:rPr>
              <a:t>losses </a:t>
            </a:r>
            <a:r>
              <a:rPr lang="en-US" dirty="0">
                <a:solidFill>
                  <a:srgbClr val="002060"/>
                </a:solidFill>
                <a:effectLst>
                  <a:outerShdw blurRad="38100" dist="38100" dir="2700000" algn="tl">
                    <a:srgbClr val="000000">
                      <a:alpha val="43137"/>
                    </a:srgbClr>
                  </a:outerShdw>
                </a:effectLst>
              </a:rPr>
              <a:t>and </a:t>
            </a:r>
            <a:endParaRPr lang="pl-PL" dirty="0">
              <a:solidFill>
                <a:srgbClr val="002060"/>
              </a:solidFill>
              <a:effectLst>
                <a:outerShdw blurRad="38100" dist="38100" dir="2700000" algn="tl">
                  <a:srgbClr val="000000">
                    <a:alpha val="43137"/>
                  </a:srgbClr>
                </a:outerShdw>
              </a:effectLst>
            </a:endParaRPr>
          </a:p>
          <a:p>
            <a:pPr marL="0" indent="0">
              <a:buNone/>
            </a:pPr>
            <a:r>
              <a:rPr lang="pl-PL" b="1" dirty="0">
                <a:solidFill>
                  <a:srgbClr val="FF0000"/>
                </a:solidFill>
                <a:effectLst>
                  <a:outerShdw blurRad="38100" dist="38100" dir="2700000" algn="tl">
                    <a:srgbClr val="000000">
                      <a:alpha val="43137"/>
                    </a:srgbClr>
                  </a:outerShdw>
                </a:effectLst>
              </a:rPr>
              <a:t>2) I</a:t>
            </a:r>
            <a:r>
              <a:rPr lang="en-US" b="1" dirty="0">
                <a:solidFill>
                  <a:srgbClr val="FF0000"/>
                </a:solidFill>
                <a:effectLst>
                  <a:outerShdw blurRad="38100" dist="38100" dir="2700000" algn="tl">
                    <a:srgbClr val="000000">
                      <a:alpha val="43137"/>
                    </a:srgbClr>
                  </a:outerShdw>
                </a:effectLst>
              </a:rPr>
              <a:t>nvest</a:t>
            </a:r>
            <a:r>
              <a:rPr lang="pl-PL" b="1" dirty="0">
                <a:solidFill>
                  <a:srgbClr val="FF0000"/>
                </a:solidFill>
                <a:effectLst>
                  <a:outerShdw blurRad="38100" dist="38100" dir="2700000" algn="tl">
                    <a:srgbClr val="000000">
                      <a:alpha val="43137"/>
                    </a:srgbClr>
                  </a:outerShdw>
                </a:effectLst>
              </a:rPr>
              <a:t>ing</a:t>
            </a:r>
            <a:r>
              <a:rPr lang="en-US" b="1" dirty="0">
                <a:solidFill>
                  <a:srgbClr val="FF0000"/>
                </a:solidFill>
                <a:effectLst>
                  <a:outerShdw blurRad="38100" dist="38100" dir="2700000" algn="tl">
                    <a:srgbClr val="000000">
                      <a:alpha val="43137"/>
                    </a:srgbClr>
                  </a:outerShdw>
                </a:effectLst>
              </a:rPr>
              <a:t> aggressively at the expense of profits </a:t>
            </a:r>
            <a:r>
              <a:rPr lang="en-US" dirty="0">
                <a:solidFill>
                  <a:srgbClr val="002060"/>
                </a:solidFill>
                <a:effectLst>
                  <a:outerShdw blurRad="38100" dist="38100" dir="2700000" algn="tl">
                    <a:srgbClr val="000000">
                      <a:alpha val="43137"/>
                    </a:srgbClr>
                  </a:outerShdw>
                </a:effectLst>
              </a:rPr>
              <a:t>and integration across multiple </a:t>
            </a:r>
            <a:r>
              <a:rPr lang="pl-PL" dirty="0">
                <a:solidFill>
                  <a:srgbClr val="002060"/>
                </a:solidFill>
                <a:effectLst>
                  <a:outerShdw blurRad="38100" dist="38100" dir="2700000" algn="tl">
                    <a:srgbClr val="000000">
                      <a:alpha val="43137"/>
                    </a:srgbClr>
                  </a:outerShdw>
                </a:effectLst>
              </a:rPr>
              <a:t>business</a:t>
            </a:r>
            <a:r>
              <a:rPr lang="en-US" dirty="0">
                <a:solidFill>
                  <a:srgbClr val="002060"/>
                </a:solidFill>
                <a:effectLst>
                  <a:outerShdw blurRad="38100" dist="38100" dir="2700000" algn="tl">
                    <a:srgbClr val="000000">
                      <a:alpha val="43137"/>
                    </a:srgbClr>
                  </a:outerShdw>
                </a:effectLst>
              </a:rPr>
              <a:t> lines.</a:t>
            </a:r>
            <a:endParaRPr lang="pl-PL" dirty="0">
              <a:solidFill>
                <a:srgbClr val="002060"/>
              </a:solidFill>
              <a:effectLst>
                <a:outerShdw blurRad="38100" dist="38100" dir="2700000" algn="tl">
                  <a:srgbClr val="000000">
                    <a:alpha val="43137"/>
                  </a:srgbClr>
                </a:outerShdw>
              </a:effectLst>
            </a:endParaRPr>
          </a:p>
          <a:p>
            <a:r>
              <a:rPr lang="en-US" sz="3200" dirty="0">
                <a:solidFill>
                  <a:srgbClr val="002060"/>
                </a:solidFill>
                <a:effectLst>
                  <a:outerShdw blurRad="38100" dist="38100" dir="2700000" algn="tl">
                    <a:srgbClr val="000000">
                      <a:alpha val="43137"/>
                    </a:srgbClr>
                  </a:outerShdw>
                </a:effectLst>
              </a:rPr>
              <a:t>This strategy—</a:t>
            </a:r>
            <a:r>
              <a:rPr lang="en-US" sz="3200" b="1" dirty="0">
                <a:solidFill>
                  <a:srgbClr val="FF0000"/>
                </a:solidFill>
                <a:effectLst>
                  <a:outerShdw blurRad="38100" dist="38100" dir="2700000" algn="tl">
                    <a:srgbClr val="000000">
                      <a:alpha val="43137"/>
                    </a:srgbClr>
                  </a:outerShdw>
                </a:effectLst>
                <a:highlight>
                  <a:srgbClr val="FFFF00"/>
                </a:highlight>
              </a:rPr>
              <a:t>pursuing market share at the expense of short-term returns</a:t>
            </a:r>
            <a:r>
              <a:rPr lang="en-US" sz="3200" dirty="0">
                <a:solidFill>
                  <a:srgbClr val="002060"/>
                </a:solidFill>
                <a:effectLst>
                  <a:outerShdw blurRad="38100" dist="38100" dir="2700000" algn="tl">
                    <a:srgbClr val="000000">
                      <a:alpha val="43137"/>
                    </a:srgbClr>
                  </a:outerShdw>
                </a:effectLst>
              </a:rPr>
              <a:t>—</a:t>
            </a:r>
            <a:r>
              <a:rPr lang="en-US" sz="3200" b="1" dirty="0">
                <a:solidFill>
                  <a:srgbClr val="002060"/>
                </a:solidFill>
                <a:effectLst>
                  <a:outerShdw blurRad="38100" dist="38100" dir="2700000" algn="tl">
                    <a:srgbClr val="000000">
                      <a:alpha val="43137"/>
                    </a:srgbClr>
                  </a:outerShdw>
                </a:effectLst>
              </a:rPr>
              <a:t>defies the Chicago School’s assumption of </a:t>
            </a:r>
            <a:r>
              <a:rPr lang="en-US" sz="3200" b="1" dirty="0">
                <a:solidFill>
                  <a:srgbClr val="0070C0"/>
                </a:solidFill>
                <a:effectLst>
                  <a:outerShdw blurRad="38100" dist="38100" dir="2700000" algn="tl">
                    <a:srgbClr val="000000">
                      <a:alpha val="43137"/>
                    </a:srgbClr>
                  </a:outerShdw>
                </a:effectLst>
              </a:rPr>
              <a:t>rational, profit-seeking market actors</a:t>
            </a:r>
            <a:r>
              <a:rPr lang="en-US" sz="3200" dirty="0"/>
              <a:t>.</a:t>
            </a:r>
          </a:p>
        </p:txBody>
      </p:sp>
    </p:spTree>
    <p:extLst>
      <p:ext uri="{BB962C8B-B14F-4D97-AF65-F5344CB8AC3E}">
        <p14:creationId xmlns:p14="http://schemas.microsoft.com/office/powerpoint/2010/main" val="67287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1578F29-002A-30E9-68A9-756EB2B661C3}"/>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AMAZON’S BUSINESS STRATEGY</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8A7AD7DD-18C7-ACAF-38F8-3B74DA29DEAA}"/>
              </a:ext>
            </a:extLst>
          </p:cNvPr>
          <p:cNvSpPr>
            <a:spLocks noGrp="1"/>
          </p:cNvSpPr>
          <p:nvPr>
            <p:ph idx="1"/>
          </p:nvPr>
        </p:nvSpPr>
        <p:spPr>
          <a:xfrm>
            <a:off x="838200" y="1825625"/>
            <a:ext cx="10515600" cy="4667250"/>
          </a:xfrm>
        </p:spPr>
        <p:txBody>
          <a:bodyPr/>
          <a:lstStyle/>
          <a:p>
            <a:r>
              <a:rPr lang="en-US" dirty="0">
                <a:solidFill>
                  <a:srgbClr val="002060"/>
                </a:solidFill>
                <a:effectLst>
                  <a:outerShdw blurRad="38100" dist="38100" dir="2700000" algn="tl">
                    <a:srgbClr val="000000">
                      <a:alpha val="43137"/>
                    </a:srgbClr>
                  </a:outerShdw>
                </a:effectLst>
              </a:rPr>
              <a:t>Amazon’s choice to pursue </a:t>
            </a:r>
            <a:r>
              <a:rPr lang="en-US" b="1" dirty="0">
                <a:solidFill>
                  <a:srgbClr val="FF0000"/>
                </a:solidFill>
                <a:effectLst>
                  <a:outerShdw blurRad="38100" dist="38100" dir="2700000" algn="tl">
                    <a:srgbClr val="000000">
                      <a:alpha val="43137"/>
                    </a:srgbClr>
                  </a:outerShdw>
                </a:effectLst>
                <a:highlight>
                  <a:srgbClr val="FFFF00"/>
                </a:highlight>
              </a:rPr>
              <a:t>heavy losses </a:t>
            </a:r>
            <a:r>
              <a:rPr lang="en-US" b="1" dirty="0">
                <a:solidFill>
                  <a:srgbClr val="FF0000"/>
                </a:solidFill>
                <a:effectLst>
                  <a:outerShdw blurRad="38100" dist="38100" dir="2700000" algn="tl">
                    <a:srgbClr val="000000">
                      <a:alpha val="43137"/>
                    </a:srgbClr>
                  </a:outerShdw>
                </a:effectLst>
              </a:rPr>
              <a:t>while also </a:t>
            </a:r>
            <a:r>
              <a:rPr lang="en-US" b="1" dirty="0">
                <a:solidFill>
                  <a:srgbClr val="FF0000"/>
                </a:solidFill>
                <a:effectLst>
                  <a:outerShdw blurRad="38100" dist="38100" dir="2700000" algn="tl">
                    <a:srgbClr val="000000">
                      <a:alpha val="43137"/>
                    </a:srgbClr>
                  </a:outerShdw>
                </a:effectLst>
                <a:highlight>
                  <a:srgbClr val="FFFF00"/>
                </a:highlight>
              </a:rPr>
              <a:t>integrating across </a:t>
            </a:r>
            <a:r>
              <a:rPr lang="pl-PL" b="1" dirty="0">
                <a:solidFill>
                  <a:srgbClr val="FF0000"/>
                </a:solidFill>
                <a:effectLst>
                  <a:outerShdw blurRad="38100" dist="38100" dir="2700000" algn="tl">
                    <a:srgbClr val="000000">
                      <a:alpha val="43137"/>
                    </a:srgbClr>
                  </a:outerShdw>
                </a:effectLst>
                <a:highlight>
                  <a:srgbClr val="FFFF00"/>
                </a:highlight>
              </a:rPr>
              <a:t>sectors</a:t>
            </a:r>
            <a:r>
              <a:rPr lang="en-US" b="1" dirty="0">
                <a:solidFill>
                  <a:srgbClr val="FF0000"/>
                </a:solidFill>
                <a:effectLst>
                  <a:outerShdw blurRad="38100" dist="38100" dir="2700000" algn="tl">
                    <a:srgbClr val="000000">
                      <a:alpha val="43137"/>
                    </a:srgbClr>
                  </a:outerShdw>
                </a:effectLst>
                <a:highlight>
                  <a:srgbClr val="FFFF00"/>
                </a:highlight>
              </a:rPr>
              <a:t> </a:t>
            </a:r>
            <a:r>
              <a:rPr lang="en-US" dirty="0">
                <a:solidFill>
                  <a:srgbClr val="002060"/>
                </a:solidFill>
                <a:effectLst>
                  <a:outerShdw blurRad="38100" dist="38100" dir="2700000" algn="tl">
                    <a:srgbClr val="000000">
                      <a:alpha val="43137"/>
                    </a:srgbClr>
                  </a:outerShdw>
                </a:effectLst>
              </a:rPr>
              <a:t>suggests that </a:t>
            </a:r>
            <a:r>
              <a:rPr lang="pl-PL" dirty="0">
                <a:solidFill>
                  <a:srgbClr val="002060"/>
                </a:solidFill>
                <a:effectLst>
                  <a:outerShdw blurRad="38100" dist="38100" dir="2700000" algn="tl">
                    <a:srgbClr val="000000">
                      <a:alpha val="43137"/>
                    </a:srgbClr>
                  </a:outerShdw>
                </a:effectLst>
              </a:rPr>
              <a:t>to</a:t>
            </a:r>
            <a:r>
              <a:rPr lang="en-US" dirty="0">
                <a:solidFill>
                  <a:srgbClr val="002060"/>
                </a:solidFill>
                <a:effectLst>
                  <a:outerShdw blurRad="38100" dist="38100" dir="2700000" algn="tl">
                    <a:srgbClr val="000000">
                      <a:alpha val="43137"/>
                    </a:srgbClr>
                  </a:outerShdw>
                </a:effectLst>
              </a:rPr>
              <a:t> fully understand the company and the structural power it is amassing, we must </a:t>
            </a:r>
            <a:r>
              <a:rPr lang="en-US" b="1" dirty="0">
                <a:solidFill>
                  <a:srgbClr val="002060"/>
                </a:solidFill>
                <a:effectLst>
                  <a:outerShdw blurRad="38100" dist="38100" dir="2700000" algn="tl">
                    <a:srgbClr val="000000">
                      <a:alpha val="43137"/>
                    </a:srgbClr>
                  </a:outerShdw>
                </a:effectLst>
              </a:rPr>
              <a:t>view it as an </a:t>
            </a:r>
            <a:r>
              <a:rPr lang="en-US" b="1" dirty="0">
                <a:solidFill>
                  <a:srgbClr val="FF0000"/>
                </a:solidFill>
                <a:effectLst>
                  <a:outerShdw blurRad="38100" dist="38100" dir="2700000" algn="tl">
                    <a:srgbClr val="000000">
                      <a:alpha val="43137"/>
                    </a:srgbClr>
                  </a:outerShdw>
                </a:effectLst>
              </a:rPr>
              <a:t>integrated entity</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Seeking to gauge the firm’s market role by </a:t>
            </a:r>
            <a:r>
              <a:rPr lang="en-US" b="1" dirty="0">
                <a:solidFill>
                  <a:srgbClr val="FF0000"/>
                </a:solidFill>
                <a:effectLst>
                  <a:outerShdw blurRad="38100" dist="38100" dir="2700000" algn="tl">
                    <a:srgbClr val="000000">
                      <a:alpha val="43137"/>
                    </a:srgbClr>
                  </a:outerShdw>
                </a:effectLst>
              </a:rPr>
              <a:t>isolating a particular line of business </a:t>
            </a:r>
            <a:r>
              <a:rPr lang="en-US" b="1" dirty="0">
                <a:solidFill>
                  <a:srgbClr val="002060"/>
                </a:solidFill>
                <a:effectLst>
                  <a:outerShdw blurRad="38100" dist="38100" dir="2700000" algn="tl">
                    <a:srgbClr val="000000">
                      <a:alpha val="43137"/>
                    </a:srgbClr>
                  </a:outerShdw>
                </a:effectLst>
              </a:rPr>
              <a:t>and assessing prices in that segment </a:t>
            </a:r>
            <a:r>
              <a:rPr lang="en-US" b="1" dirty="0">
                <a:solidFill>
                  <a:srgbClr val="FF0000"/>
                </a:solidFill>
                <a:effectLst>
                  <a:outerShdw blurRad="38100" dist="38100" dir="2700000" algn="tl">
                    <a:srgbClr val="000000">
                      <a:alpha val="43137"/>
                    </a:srgbClr>
                  </a:outerShdw>
                </a:effectLst>
              </a:rPr>
              <a:t>fails</a:t>
            </a:r>
            <a:r>
              <a:rPr lang="en-US" b="1" dirty="0">
                <a:solidFill>
                  <a:srgbClr val="002060"/>
                </a:solidFill>
                <a:effectLst>
                  <a:outerShdw blurRad="38100" dist="38100" dir="2700000" algn="tl">
                    <a:srgbClr val="000000">
                      <a:alpha val="43137"/>
                    </a:srgbClr>
                  </a:outerShdw>
                </a:effectLst>
              </a:rPr>
              <a:t> to capture both</a:t>
            </a:r>
            <a:r>
              <a:rPr lang="pl-PL" b="1" dirty="0">
                <a:solidFill>
                  <a:srgbClr val="002060"/>
                </a:solidFill>
                <a:effectLst>
                  <a:outerShdw blurRad="38100" dist="38100" dir="2700000" algn="tl">
                    <a:srgbClr val="000000">
                      <a:alpha val="43137"/>
                    </a:srgbClr>
                  </a:outerShdw>
                </a:effectLst>
              </a:rPr>
              <a:t>. One has to take into account.</a:t>
            </a:r>
            <a:r>
              <a:rPr lang="en-US" b="1" dirty="0">
                <a:solidFill>
                  <a:srgbClr val="002060"/>
                </a:solidFill>
                <a:effectLst>
                  <a:outerShdw blurRad="38100" dist="38100" dir="2700000" algn="tl">
                    <a:srgbClr val="000000">
                      <a:alpha val="43137"/>
                    </a:srgbClr>
                  </a:outerShdw>
                </a:effectLst>
              </a:rPr>
              <a:t> </a:t>
            </a:r>
            <a:endParaRPr lang="pl-PL" b="1" dirty="0">
              <a:solidFill>
                <a:srgbClr val="002060"/>
              </a:solidFill>
              <a:effectLst>
                <a:outerShdw blurRad="38100" dist="38100" dir="2700000" algn="tl">
                  <a:srgbClr val="000000">
                    <a:alpha val="43137"/>
                  </a:srgbClr>
                </a:outerShdw>
              </a:effectLst>
            </a:endParaRPr>
          </a:p>
          <a:p>
            <a:pPr marL="0" indent="0">
              <a:buNone/>
            </a:pPr>
            <a:r>
              <a:rPr lang="en-US" dirty="0">
                <a:solidFill>
                  <a:srgbClr val="002060"/>
                </a:solidFill>
                <a:effectLst>
                  <a:outerShdw blurRad="38100" dist="38100" dir="2700000" algn="tl">
                    <a:srgbClr val="000000">
                      <a:alpha val="43137"/>
                    </a:srgbClr>
                  </a:outerShdw>
                </a:effectLst>
              </a:rPr>
              <a:t>(1) the </a:t>
            </a:r>
            <a:r>
              <a:rPr lang="pl-PL" b="1" dirty="0">
                <a:solidFill>
                  <a:srgbClr val="002060"/>
                </a:solidFill>
                <a:effectLst>
                  <a:outerShdw blurRad="38100" dist="38100" dir="2700000" algn="tl">
                    <a:srgbClr val="000000">
                      <a:alpha val="43137"/>
                    </a:srgbClr>
                  </a:outerShdw>
                </a:effectLst>
              </a:rPr>
              <a:t>actual</a:t>
            </a:r>
            <a:r>
              <a:rPr lang="en-US" b="1" dirty="0">
                <a:solidFill>
                  <a:srgbClr val="002060"/>
                </a:solidFill>
                <a:effectLst>
                  <a:outerShdw blurRad="38100" dist="38100" dir="2700000" algn="tl">
                    <a:srgbClr val="000000">
                      <a:alpha val="43137"/>
                    </a:srgbClr>
                  </a:outerShdw>
                </a:effectLst>
              </a:rPr>
              <a:t> shape of the company’s dominance </a:t>
            </a:r>
            <a:r>
              <a:rPr lang="en-US" dirty="0">
                <a:solidFill>
                  <a:srgbClr val="002060"/>
                </a:solidFill>
                <a:effectLst>
                  <a:outerShdw blurRad="38100" dist="38100" dir="2700000" algn="tl">
                    <a:srgbClr val="000000">
                      <a:alpha val="43137"/>
                    </a:srgbClr>
                  </a:outerShdw>
                </a:effectLst>
              </a:rPr>
              <a:t>and</a:t>
            </a:r>
            <a:endParaRPr lang="pl-PL" dirty="0">
              <a:solidFill>
                <a:srgbClr val="002060"/>
              </a:solidFill>
              <a:effectLst>
                <a:outerShdw blurRad="38100" dist="38100" dir="2700000" algn="tl">
                  <a:srgbClr val="000000">
                    <a:alpha val="43137"/>
                  </a:srgbClr>
                </a:outerShdw>
              </a:effectLst>
            </a:endParaRPr>
          </a:p>
          <a:p>
            <a:pPr marL="0" indent="0">
              <a:buNone/>
            </a:pPr>
            <a:r>
              <a:rPr lang="en-US" dirty="0">
                <a:solidFill>
                  <a:srgbClr val="002060"/>
                </a:solidFill>
                <a:effectLst>
                  <a:outerShdw blurRad="38100" dist="38100" dir="2700000" algn="tl">
                    <a:srgbClr val="000000">
                      <a:alpha val="43137"/>
                    </a:srgbClr>
                  </a:outerShdw>
                </a:effectLst>
              </a:rPr>
              <a:t>(2) the ways in which it is </a:t>
            </a:r>
            <a:r>
              <a:rPr lang="en-US" b="1" dirty="0">
                <a:solidFill>
                  <a:srgbClr val="002060"/>
                </a:solidFill>
                <a:effectLst>
                  <a:outerShdw blurRad="38100" dist="38100" dir="2700000" algn="tl">
                    <a:srgbClr val="000000">
                      <a:alpha val="43137"/>
                    </a:srgbClr>
                  </a:outerShdw>
                </a:effectLst>
              </a:rPr>
              <a:t>able to leverage advantages </a:t>
            </a:r>
            <a:r>
              <a:rPr lang="en-US" dirty="0">
                <a:solidFill>
                  <a:srgbClr val="002060"/>
                </a:solidFill>
                <a:effectLst>
                  <a:outerShdw blurRad="38100" dist="38100" dir="2700000" algn="tl">
                    <a:srgbClr val="000000">
                      <a:alpha val="43137"/>
                    </a:srgbClr>
                  </a:outerShdw>
                </a:effectLst>
              </a:rPr>
              <a:t>gained in one sector to boost its business in another</a:t>
            </a:r>
          </a:p>
        </p:txBody>
      </p:sp>
    </p:spTree>
    <p:extLst>
      <p:ext uri="{BB962C8B-B14F-4D97-AF65-F5344CB8AC3E}">
        <p14:creationId xmlns:p14="http://schemas.microsoft.com/office/powerpoint/2010/main" val="2258372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34BFE0B-A43A-8CD3-9655-5F9620B510F0}"/>
              </a:ext>
            </a:extLst>
          </p:cNvPr>
          <p:cNvSpPr>
            <a:spLocks noGrp="1"/>
          </p:cNvSpPr>
          <p:nvPr>
            <p:ph type="title"/>
          </p:nvPr>
        </p:nvSpPr>
        <p:spPr/>
        <p:txBody>
          <a:bodyPr>
            <a:normAutofit/>
          </a:bodyPr>
          <a:lstStyle/>
          <a:p>
            <a:r>
              <a:rPr lang="en-US" sz="2800" dirty="0">
                <a:solidFill>
                  <a:srgbClr val="002060"/>
                </a:solidFill>
                <a:effectLst>
                  <a:outerShdw blurRad="38100" dist="38100" dir="2700000" algn="tl">
                    <a:srgbClr val="000000">
                      <a:alpha val="43137"/>
                    </a:srgbClr>
                  </a:outerShdw>
                </a:effectLst>
              </a:rPr>
              <a:t>Foregoing Short- Term Returns for Long- Term Dominance</a:t>
            </a:r>
          </a:p>
        </p:txBody>
      </p:sp>
      <p:sp>
        <p:nvSpPr>
          <p:cNvPr id="3" name="Symbol zastępczy zawartości 2">
            <a:extLst>
              <a:ext uri="{FF2B5EF4-FFF2-40B4-BE49-F238E27FC236}">
                <a16:creationId xmlns:a16="http://schemas.microsoft.com/office/drawing/2014/main" id="{D06513AF-DD65-3EE5-DF74-7033AAE893DE}"/>
              </a:ext>
            </a:extLst>
          </p:cNvPr>
          <p:cNvSpPr>
            <a:spLocks noGrp="1"/>
          </p:cNvSpPr>
          <p:nvPr>
            <p:ph idx="1"/>
          </p:nvPr>
        </p:nvSpPr>
        <p:spPr/>
        <p:txBody>
          <a:bodyPr>
            <a:normAutofit fontScale="92500" lnSpcReduction="10000"/>
          </a:bodyPr>
          <a:lstStyle/>
          <a:p>
            <a:r>
              <a:rPr lang="en-US" dirty="0">
                <a:solidFill>
                  <a:srgbClr val="002060"/>
                </a:solidFill>
                <a:effectLst>
                  <a:outerShdw blurRad="38100" dist="38100" dir="2700000" algn="tl">
                    <a:srgbClr val="000000">
                      <a:alpha val="43137"/>
                    </a:srgbClr>
                  </a:outerShdw>
                </a:effectLst>
              </a:rPr>
              <a:t>Amazon has </a:t>
            </a:r>
            <a:r>
              <a:rPr lang="en-US" b="1" dirty="0">
                <a:solidFill>
                  <a:srgbClr val="002060"/>
                </a:solidFill>
                <a:effectLst>
                  <a:outerShdw blurRad="38100" dist="38100" dir="2700000" algn="tl">
                    <a:srgbClr val="000000">
                      <a:alpha val="43137"/>
                    </a:srgbClr>
                  </a:outerShdw>
                </a:effectLst>
              </a:rPr>
              <a:t>started reporting consistent profits</a:t>
            </a:r>
            <a:r>
              <a:rPr lang="en-US" dirty="0">
                <a:solidFill>
                  <a:srgbClr val="002060"/>
                </a:solidFill>
                <a:effectLst>
                  <a:outerShdw blurRad="38100" dist="38100" dir="2700000" algn="tl">
                    <a:srgbClr val="000000">
                      <a:alpha val="43137"/>
                    </a:srgbClr>
                  </a:outerShdw>
                </a:effectLst>
              </a:rPr>
              <a:t>, largely due to the success of Amazon </a:t>
            </a:r>
            <a:r>
              <a:rPr lang="en-US" b="1" dirty="0">
                <a:solidFill>
                  <a:srgbClr val="FF0000"/>
                </a:solidFill>
                <a:effectLst>
                  <a:outerShdw blurRad="38100" dist="38100" dir="2700000" algn="tl">
                    <a:srgbClr val="000000">
                      <a:alpha val="43137"/>
                    </a:srgbClr>
                  </a:outerShdw>
                </a:effectLst>
              </a:rPr>
              <a:t>Web Services, its cloud computing busines</a:t>
            </a:r>
            <a:r>
              <a:rPr lang="pl-PL" b="1" dirty="0">
                <a:solidFill>
                  <a:srgbClr val="FF0000"/>
                </a:solidFill>
                <a:effectLst>
                  <a:outerShdw blurRad="38100" dist="38100" dir="2700000" algn="tl">
                    <a:srgbClr val="000000">
                      <a:alpha val="43137"/>
                    </a:srgbClr>
                  </a:outerShdw>
                </a:effectLst>
              </a:rPr>
              <a:t>s</a:t>
            </a:r>
            <a:r>
              <a:rPr lang="en-US" b="1" dirty="0">
                <a:solidFill>
                  <a:srgbClr val="002060"/>
                </a:solidFill>
                <a:effectLst>
                  <a:outerShdw blurRad="38100" dist="38100" dir="2700000" algn="tl">
                    <a:srgbClr val="000000">
                      <a:alpha val="43137"/>
                    </a:srgbClr>
                  </a:outerShdw>
                </a:effectLst>
              </a:rPr>
              <a:t>. </a:t>
            </a:r>
            <a:endParaRPr lang="pl-PL" b="1"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Its North America</a:t>
            </a:r>
            <a:r>
              <a:rPr lang="pl-PL" dirty="0">
                <a:solidFill>
                  <a:srgbClr val="002060"/>
                </a:solidFill>
                <a:effectLst>
                  <a:outerShdw blurRad="38100" dist="38100" dir="2700000" algn="tl">
                    <a:srgbClr val="000000">
                      <a:alpha val="43137"/>
                    </a:srgbClr>
                  </a:outerShdw>
                </a:effectLst>
              </a:rPr>
              <a:t>n</a:t>
            </a:r>
            <a:r>
              <a:rPr lang="en-US" dirty="0">
                <a:solidFill>
                  <a:srgbClr val="002060"/>
                </a:solidFill>
                <a:effectLst>
                  <a:outerShdw blurRad="38100" dist="38100" dir="2700000" algn="tl">
                    <a:srgbClr val="000000">
                      <a:alpha val="43137"/>
                    </a:srgbClr>
                  </a:outerShdw>
                </a:effectLst>
              </a:rPr>
              <a:t> retail business runs on much </a:t>
            </a:r>
            <a:r>
              <a:rPr lang="en-US" b="1" dirty="0">
                <a:solidFill>
                  <a:srgbClr val="FF0000"/>
                </a:solidFill>
                <a:effectLst>
                  <a:outerShdw blurRad="38100" dist="38100" dir="2700000" algn="tl">
                    <a:srgbClr val="000000">
                      <a:alpha val="43137"/>
                    </a:srgbClr>
                  </a:outerShdw>
                </a:effectLst>
              </a:rPr>
              <a:t>thinner margins</a:t>
            </a:r>
            <a:r>
              <a:rPr lang="en-US" dirty="0">
                <a:solidFill>
                  <a:srgbClr val="002060"/>
                </a:solidFill>
                <a:effectLst>
                  <a:outerShdw blurRad="38100" dist="38100" dir="2700000" algn="tl">
                    <a:srgbClr val="000000">
                      <a:alpha val="43137"/>
                    </a:srgbClr>
                  </a:outerShdw>
                </a:effectLst>
              </a:rPr>
              <a:t>, and its international retail business still runs at a loss.</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But for the vast majority of its 20 years in business, </a:t>
            </a:r>
            <a:r>
              <a:rPr lang="en-US" b="1" dirty="0">
                <a:solidFill>
                  <a:srgbClr val="FF0000"/>
                </a:solidFill>
                <a:effectLst>
                  <a:outerShdw blurRad="38100" dist="38100" dir="2700000" algn="tl">
                    <a:srgbClr val="000000">
                      <a:alpha val="43137"/>
                    </a:srgbClr>
                  </a:outerShdw>
                </a:effectLst>
              </a:rPr>
              <a:t>losses</a:t>
            </a:r>
            <a:r>
              <a:rPr lang="en-US" dirty="0">
                <a:solidFill>
                  <a:srgbClr val="002060"/>
                </a:solidFill>
                <a:effectLst>
                  <a:outerShdw blurRad="38100" dist="38100" dir="2700000" algn="tl">
                    <a:srgbClr val="000000">
                      <a:alpha val="43137"/>
                    </a:srgbClr>
                  </a:outerShdw>
                </a:effectLst>
              </a:rPr>
              <a:t>— not profits— </a:t>
            </a:r>
            <a:r>
              <a:rPr lang="en-US" b="1" dirty="0">
                <a:solidFill>
                  <a:srgbClr val="FF0000"/>
                </a:solidFill>
                <a:effectLst>
                  <a:outerShdw blurRad="38100" dist="38100" dir="2700000" algn="tl">
                    <a:srgbClr val="000000">
                      <a:alpha val="43137"/>
                    </a:srgbClr>
                  </a:outerShdw>
                </a:effectLst>
              </a:rPr>
              <a:t>were the norm</a:t>
            </a:r>
            <a:endParaRPr lang="pl-PL" b="1" dirty="0">
              <a:solidFill>
                <a:srgbClr val="FF000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It is </a:t>
            </a:r>
            <a:r>
              <a:rPr lang="en-US" dirty="0">
                <a:solidFill>
                  <a:srgbClr val="002060"/>
                </a:solidFill>
                <a:effectLst>
                  <a:outerShdw blurRad="38100" dist="38100" dir="2700000" algn="tl">
                    <a:srgbClr val="000000">
                      <a:alpha val="43137"/>
                    </a:srgbClr>
                  </a:outerShdw>
                </a:effectLst>
              </a:rPr>
              <a:t>striking </a:t>
            </a:r>
            <a:r>
              <a:rPr lang="pl-PL" dirty="0">
                <a:solidFill>
                  <a:srgbClr val="002060"/>
                </a:solidFill>
                <a:effectLst>
                  <a:outerShdw blurRad="38100" dist="38100" dir="2700000" algn="tl">
                    <a:srgbClr val="000000">
                      <a:alpha val="43137"/>
                    </a:srgbClr>
                  </a:outerShdw>
                </a:effectLst>
              </a:rPr>
              <a:t>that</a:t>
            </a:r>
            <a:r>
              <a:rPr lang="en-US" dirty="0">
                <a:solidFill>
                  <a:srgbClr val="002060"/>
                </a:solidFill>
                <a:effectLst>
                  <a:outerShdw blurRad="38100" dist="38100" dir="2700000" algn="tl">
                    <a:srgbClr val="000000">
                      <a:alpha val="43137"/>
                    </a:srgbClr>
                  </a:outerShdw>
                </a:effectLst>
              </a:rPr>
              <a:t> Amazon’s lack of interest in generating profit has been </a:t>
            </a:r>
            <a:r>
              <a:rPr lang="en-US" b="1" dirty="0">
                <a:solidFill>
                  <a:srgbClr val="FF0000"/>
                </a:solidFill>
                <a:effectLst>
                  <a:outerShdw blurRad="38100" dist="38100" dir="2700000" algn="tl">
                    <a:srgbClr val="000000">
                      <a:alpha val="43137"/>
                    </a:srgbClr>
                  </a:outerShdw>
                </a:effectLst>
              </a:rPr>
              <a:t>investors’ willingness </a:t>
            </a:r>
            <a:r>
              <a:rPr lang="en-US" dirty="0">
                <a:solidFill>
                  <a:srgbClr val="002060"/>
                </a:solidFill>
                <a:effectLst>
                  <a:outerShdw blurRad="38100" dist="38100" dir="2700000" algn="tl">
                    <a:srgbClr val="000000">
                      <a:alpha val="43137"/>
                    </a:srgbClr>
                  </a:outerShdw>
                </a:effectLst>
              </a:rPr>
              <a:t>to back the company</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As one commentator joked in a widely circulated post, “Amazon, as best I can tell, is a </a:t>
            </a:r>
            <a:r>
              <a:rPr lang="en-US" b="1" dirty="0">
                <a:solidFill>
                  <a:srgbClr val="0070C0"/>
                </a:solidFill>
                <a:effectLst>
                  <a:outerShdw blurRad="38100" dist="38100" dir="2700000" algn="tl">
                    <a:srgbClr val="000000">
                      <a:alpha val="43137"/>
                    </a:srgbClr>
                  </a:outerShdw>
                </a:effectLst>
              </a:rPr>
              <a:t>charitable organization </a:t>
            </a:r>
            <a:r>
              <a:rPr lang="en-US" dirty="0">
                <a:solidFill>
                  <a:srgbClr val="002060"/>
                </a:solidFill>
                <a:effectLst>
                  <a:outerShdw blurRad="38100" dist="38100" dir="2700000" algn="tl">
                    <a:srgbClr val="000000">
                      <a:alpha val="43137"/>
                    </a:srgbClr>
                  </a:outerShdw>
                </a:effectLst>
              </a:rPr>
              <a:t>being run by elements of the investment community for the benefit of consumers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861020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EA1F9E4-5748-E3F0-61D2-9D57E520D276}"/>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Foregoing Short- Term Returns for Long- Term Dominance</a:t>
            </a:r>
          </a:p>
        </p:txBody>
      </p:sp>
      <p:sp>
        <p:nvSpPr>
          <p:cNvPr id="3" name="Symbol zastępczy zawartości 2">
            <a:extLst>
              <a:ext uri="{FF2B5EF4-FFF2-40B4-BE49-F238E27FC236}">
                <a16:creationId xmlns:a16="http://schemas.microsoft.com/office/drawing/2014/main" id="{525B36B2-116D-CC93-B2A7-30CA40731130}"/>
              </a:ext>
            </a:extLst>
          </p:cNvPr>
          <p:cNvSpPr>
            <a:spLocks noGrp="1"/>
          </p:cNvSpPr>
          <p:nvPr>
            <p:ph idx="1"/>
          </p:nvPr>
        </p:nvSpPr>
        <p:spPr/>
        <p:txBody>
          <a:bodyPr>
            <a:normAutofit fontScale="92500" lnSpcReduction="10000"/>
          </a:bodyPr>
          <a:lstStyle/>
          <a:p>
            <a:pPr marL="0" indent="0">
              <a:buNone/>
            </a:pPr>
            <a:r>
              <a:rPr lang="pl-PL" dirty="0">
                <a:solidFill>
                  <a:srgbClr val="002060"/>
                </a:solidFill>
                <a:effectLst>
                  <a:outerShdw blurRad="38100" dist="38100" dir="2700000" algn="tl">
                    <a:srgbClr val="000000">
                      <a:alpha val="43137"/>
                    </a:srgbClr>
                  </a:outerShdw>
                </a:effectLst>
              </a:rPr>
              <a:t>Jeff </a:t>
            </a:r>
            <a:r>
              <a:rPr lang="en-US" dirty="0">
                <a:solidFill>
                  <a:srgbClr val="002060"/>
                </a:solidFill>
                <a:effectLst>
                  <a:outerShdw blurRad="38100" dist="38100" dir="2700000" algn="tl">
                    <a:srgbClr val="000000">
                      <a:alpha val="43137"/>
                    </a:srgbClr>
                  </a:outerShdw>
                </a:effectLst>
              </a:rPr>
              <a:t>Bezos</a:t>
            </a:r>
            <a:r>
              <a:rPr lang="pl-PL" dirty="0">
                <a:solidFill>
                  <a:srgbClr val="002060"/>
                </a:solidFill>
                <a:effectLst>
                  <a:outerShdw blurRad="38100" dist="38100" dir="2700000" algn="tl">
                    <a:srgbClr val="000000">
                      <a:alpha val="43137"/>
                    </a:srgbClr>
                  </a:outerShdw>
                </a:effectLst>
              </a:rPr>
              <a:t> (1998)</a:t>
            </a:r>
            <a:r>
              <a:rPr lang="en-US" dirty="0">
                <a:solidFill>
                  <a:srgbClr val="002060"/>
                </a:solidFill>
                <a:effectLst>
                  <a:outerShdw blurRad="38100" dist="38100" dir="2700000" algn="tl">
                    <a:srgbClr val="000000">
                      <a:alpha val="43137"/>
                    </a:srgbClr>
                  </a:outerShdw>
                </a:effectLst>
              </a:rPr>
              <a:t>: We believe that a fundamental measure of our success will be </a:t>
            </a:r>
            <a:r>
              <a:rPr lang="en-US" b="1" dirty="0">
                <a:solidFill>
                  <a:srgbClr val="002060"/>
                </a:solidFill>
                <a:effectLst>
                  <a:outerShdw blurRad="38100" dist="38100" dir="2700000" algn="tl">
                    <a:srgbClr val="000000">
                      <a:alpha val="43137"/>
                    </a:srgbClr>
                  </a:outerShdw>
                </a:effectLst>
              </a:rPr>
              <a:t>the </a:t>
            </a:r>
            <a:r>
              <a:rPr lang="pl-PL" b="1" dirty="0">
                <a:solidFill>
                  <a:srgbClr val="002060"/>
                </a:solidFill>
                <a:effectLst>
                  <a:outerShdw blurRad="38100" dist="38100" dir="2700000" algn="tl">
                    <a:srgbClr val="000000">
                      <a:alpha val="43137"/>
                    </a:srgbClr>
                  </a:outerShdw>
                </a:effectLst>
              </a:rPr>
              <a:t>shareholder</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value we create </a:t>
            </a:r>
            <a:r>
              <a:rPr lang="en-US" b="1" dirty="0">
                <a:solidFill>
                  <a:srgbClr val="FF0000"/>
                </a:solidFill>
                <a:effectLst>
                  <a:outerShdw blurRad="38100" dist="38100" dir="2700000" algn="tl">
                    <a:srgbClr val="000000">
                      <a:alpha val="43137"/>
                    </a:srgbClr>
                  </a:outerShdw>
                </a:effectLst>
                <a:highlight>
                  <a:srgbClr val="FFFF00"/>
                </a:highlight>
              </a:rPr>
              <a:t>over the long term</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rPr>
              <a:t>This value will be a direct result </a:t>
            </a:r>
            <a:r>
              <a:rPr lang="en-US" dirty="0">
                <a:solidFill>
                  <a:srgbClr val="002060"/>
                </a:solidFill>
                <a:effectLst>
                  <a:outerShdw blurRad="38100" dist="38100" dir="2700000" algn="tl">
                    <a:srgbClr val="000000">
                      <a:alpha val="43137"/>
                    </a:srgbClr>
                  </a:outerShdw>
                </a:effectLst>
              </a:rPr>
              <a:t>of our </a:t>
            </a:r>
            <a:r>
              <a:rPr lang="pl-PL" dirty="0">
                <a:solidFill>
                  <a:srgbClr val="002060"/>
                </a:solidFill>
                <a:effectLst>
                  <a:outerShdw blurRad="38100" dist="38100" dir="2700000" algn="tl">
                    <a:srgbClr val="000000">
                      <a:alpha val="43137"/>
                    </a:srgbClr>
                  </a:outerShdw>
                </a:effectLst>
              </a:rPr>
              <a:t>ability</a:t>
            </a:r>
            <a:r>
              <a:rPr lang="en-US" dirty="0">
                <a:solidFill>
                  <a:srgbClr val="002060"/>
                </a:solidFill>
                <a:effectLst>
                  <a:outerShdw blurRad="38100" dist="38100" dir="2700000" algn="tl">
                    <a:srgbClr val="000000">
                      <a:alpha val="43137"/>
                    </a:srgbClr>
                  </a:outerShdw>
                </a:effectLst>
              </a:rPr>
              <a:t> to </a:t>
            </a:r>
            <a:r>
              <a:rPr lang="en-US" b="1" dirty="0">
                <a:solidFill>
                  <a:srgbClr val="FF0000"/>
                </a:solidFill>
                <a:effectLst>
                  <a:outerShdw blurRad="38100" dist="38100" dir="2700000" algn="tl">
                    <a:srgbClr val="000000">
                      <a:alpha val="43137"/>
                    </a:srgbClr>
                  </a:outerShdw>
                </a:effectLst>
              </a:rPr>
              <a:t>extend and solidify </a:t>
            </a:r>
            <a:r>
              <a:rPr lang="en-US" dirty="0">
                <a:solidFill>
                  <a:srgbClr val="002060"/>
                </a:solidFill>
                <a:effectLst>
                  <a:outerShdw blurRad="38100" dist="38100" dir="2700000" algn="tl">
                    <a:srgbClr val="000000">
                      <a:alpha val="43137"/>
                    </a:srgbClr>
                  </a:outerShdw>
                </a:effectLst>
              </a:rPr>
              <a:t>our current market leadership position. . . .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We first measure ourselves in terms of the metrics most indicative of our market </a:t>
            </a:r>
            <a:r>
              <a:rPr lang="pl-PL" dirty="0">
                <a:solidFill>
                  <a:srgbClr val="002060"/>
                </a:solidFill>
                <a:effectLst>
                  <a:outerShdw blurRad="38100" dist="38100" dir="2700000" algn="tl">
                    <a:srgbClr val="000000">
                      <a:alpha val="43137"/>
                    </a:srgbClr>
                  </a:outerShdw>
                </a:effectLst>
              </a:rPr>
              <a:t>leadership</a:t>
            </a: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the number of </a:t>
            </a:r>
            <a:r>
              <a:rPr lang="en-US" b="1" dirty="0">
                <a:solidFill>
                  <a:srgbClr val="FF0000"/>
                </a:solidFill>
                <a:effectLst>
                  <a:outerShdw blurRad="38100" dist="38100" dir="2700000" algn="tl">
                    <a:srgbClr val="000000">
                      <a:alpha val="43137"/>
                    </a:srgbClr>
                  </a:outerShdw>
                </a:effectLst>
              </a:rPr>
              <a:t>customer</a:t>
            </a:r>
            <a:r>
              <a:rPr lang="pl-PL" b="1" dirty="0">
                <a:solidFill>
                  <a:srgbClr val="FF0000"/>
                </a:solidFill>
                <a:effectLst>
                  <a:outerShdw blurRad="38100" dist="38100" dir="2700000" algn="tl">
                    <a:srgbClr val="000000">
                      <a:alpha val="43137"/>
                    </a:srgbClr>
                  </a:outerShdw>
                </a:effectLst>
              </a:rPr>
              <a:t>s</a:t>
            </a:r>
            <a:r>
              <a:rPr lang="en-US" b="1" dirty="0">
                <a:solidFill>
                  <a:srgbClr val="FF0000"/>
                </a:solidFill>
                <a:effectLst>
                  <a:outerShdw blurRad="38100" dist="38100" dir="2700000" algn="tl">
                    <a:srgbClr val="000000">
                      <a:alpha val="43137"/>
                    </a:srgbClr>
                  </a:outerShdw>
                </a:effectLst>
              </a:rPr>
              <a:t> and revenue growth</a:t>
            </a:r>
            <a:r>
              <a:rPr lang="en-US" dirty="0">
                <a:solidFill>
                  <a:srgbClr val="002060"/>
                </a:solidFill>
                <a:effectLst>
                  <a:outerShdw blurRad="38100" dist="38100" dir="2700000" algn="tl">
                    <a:srgbClr val="000000">
                      <a:alpha val="43137"/>
                    </a:srgbClr>
                  </a:outerShdw>
                </a:effectLst>
              </a:rPr>
              <a:t>, the degree to which our customers </a:t>
            </a:r>
            <a:r>
              <a:rPr lang="pl-PL" dirty="0">
                <a:solidFill>
                  <a:srgbClr val="002060"/>
                </a:solidFill>
                <a:effectLst>
                  <a:outerShdw blurRad="38100" dist="38100" dir="2700000" algn="tl">
                    <a:srgbClr val="000000">
                      <a:alpha val="43137"/>
                    </a:srgbClr>
                  </a:outerShdw>
                </a:effectLst>
              </a:rPr>
              <a:t>continue to</a:t>
            </a:r>
            <a:r>
              <a:rPr lang="en-US" dirty="0">
                <a:solidFill>
                  <a:srgbClr val="002060"/>
                </a:solidFill>
                <a:effectLst>
                  <a:outerShdw blurRad="38100" dist="38100" dir="2700000" algn="tl">
                    <a:srgbClr val="000000">
                      <a:alpha val="43137"/>
                    </a:srgbClr>
                  </a:outerShdw>
                </a:effectLst>
              </a:rPr>
              <a:t> purchase from us on a repeat basis, and the strength of our brand.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We will continue to </a:t>
            </a:r>
            <a:r>
              <a:rPr lang="en-US" b="1" dirty="0">
                <a:solidFill>
                  <a:srgbClr val="FF0000"/>
                </a:solidFill>
                <a:effectLst>
                  <a:outerShdw blurRad="38100" dist="38100" dir="2700000" algn="tl">
                    <a:srgbClr val="000000">
                      <a:alpha val="43137"/>
                    </a:srgbClr>
                  </a:outerShdw>
                </a:effectLst>
              </a:rPr>
              <a:t>invest aggressively to expand and leverage </a:t>
            </a:r>
            <a:r>
              <a:rPr lang="en-US" b="1" dirty="0">
                <a:solidFill>
                  <a:srgbClr val="002060"/>
                </a:solidFill>
                <a:effectLst>
                  <a:outerShdw blurRad="38100" dist="38100" dir="2700000" algn="tl">
                    <a:srgbClr val="000000">
                      <a:alpha val="43137"/>
                    </a:srgbClr>
                  </a:outerShdw>
                </a:effectLst>
              </a:rPr>
              <a:t>our customer base, brand, and infrastructure as we move to establish an enduring franchise. </a:t>
            </a:r>
          </a:p>
        </p:txBody>
      </p:sp>
    </p:spTree>
    <p:extLst>
      <p:ext uri="{BB962C8B-B14F-4D97-AF65-F5344CB8AC3E}">
        <p14:creationId xmlns:p14="http://schemas.microsoft.com/office/powerpoint/2010/main" val="78332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7130DD-4AC1-A102-69FA-F1F9CAD00E12}"/>
              </a:ext>
            </a:extLst>
          </p:cNvPr>
          <p:cNvSpPr>
            <a:spLocks noGrp="1"/>
          </p:cNvSpPr>
          <p:nvPr>
            <p:ph type="title"/>
          </p:nvPr>
        </p:nvSpPr>
        <p:spPr/>
        <p:txBody>
          <a:bodyPr>
            <a:normAutofit/>
          </a:bodyPr>
          <a:lstStyle/>
          <a:p>
            <a:r>
              <a:rPr lang="en-US" sz="2800" dirty="0">
                <a:solidFill>
                  <a:srgbClr val="002060"/>
                </a:solidFill>
                <a:effectLst>
                  <a:outerShdw blurRad="38100" dist="38100" dir="2700000" algn="tl">
                    <a:srgbClr val="000000">
                      <a:alpha val="43137"/>
                    </a:srgbClr>
                  </a:outerShdw>
                </a:effectLst>
              </a:rPr>
              <a:t>Foregoing Short- Term Returns for Long- Term Dominance</a:t>
            </a:r>
          </a:p>
        </p:txBody>
      </p:sp>
      <p:sp>
        <p:nvSpPr>
          <p:cNvPr id="3" name="Symbol zastępczy zawartości 2">
            <a:extLst>
              <a:ext uri="{FF2B5EF4-FFF2-40B4-BE49-F238E27FC236}">
                <a16:creationId xmlns:a16="http://schemas.microsoft.com/office/drawing/2014/main" id="{70FFA9E4-D6E8-D3A0-6387-3564F004CD51}"/>
              </a:ext>
            </a:extLst>
          </p:cNvPr>
          <p:cNvSpPr>
            <a:spLocks noGrp="1"/>
          </p:cNvSpPr>
          <p:nvPr>
            <p:ph idx="1"/>
          </p:nvPr>
        </p:nvSpPr>
        <p:spPr/>
        <p:txBody>
          <a:bodyPr/>
          <a:lstStyle/>
          <a:p>
            <a:r>
              <a:rPr lang="en-US" dirty="0"/>
              <a:t> </a:t>
            </a:r>
            <a:r>
              <a:rPr lang="en-US" dirty="0">
                <a:solidFill>
                  <a:srgbClr val="002060"/>
                </a:solidFill>
                <a:effectLst>
                  <a:outerShdw blurRad="38100" dist="38100" dir="2700000" algn="tl">
                    <a:srgbClr val="000000">
                      <a:alpha val="43137"/>
                    </a:srgbClr>
                  </a:outerShdw>
                </a:effectLst>
              </a:rPr>
              <a:t>The premise of Amazon’s business model was to </a:t>
            </a:r>
            <a:r>
              <a:rPr lang="en-US" b="1" dirty="0">
                <a:solidFill>
                  <a:srgbClr val="FF0000"/>
                </a:solidFill>
                <a:effectLst>
                  <a:outerShdw blurRad="38100" dist="38100" dir="2700000" algn="tl">
                    <a:srgbClr val="000000">
                      <a:alpha val="43137"/>
                    </a:srgbClr>
                  </a:outerShdw>
                </a:effectLst>
                <a:highlight>
                  <a:srgbClr val="FFFF00"/>
                </a:highlight>
              </a:rPr>
              <a:t>establish scale</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To achieve </a:t>
            </a:r>
            <a:r>
              <a:rPr lang="pl-PL" b="1" dirty="0" err="1">
                <a:solidFill>
                  <a:srgbClr val="0070C0"/>
                </a:solidFill>
                <a:effectLst>
                  <a:outerShdw blurRad="38100" dist="38100" dir="2700000" algn="tl">
                    <a:srgbClr val="000000">
                      <a:alpha val="43137"/>
                    </a:srgbClr>
                  </a:outerShdw>
                </a:effectLst>
              </a:rPr>
              <a:t>it</a:t>
            </a:r>
            <a:r>
              <a:rPr lang="en-US" dirty="0">
                <a:solidFill>
                  <a:srgbClr val="002060"/>
                </a:solidFill>
                <a:effectLst>
                  <a:outerShdw blurRad="38100" dist="38100" dir="2700000" algn="tl">
                    <a:srgbClr val="000000">
                      <a:alpha val="43137"/>
                    </a:srgbClr>
                  </a:outerShdw>
                </a:effectLst>
              </a:rPr>
              <a:t>, the company </a:t>
            </a:r>
            <a:r>
              <a:rPr lang="en-US" b="1" dirty="0">
                <a:solidFill>
                  <a:srgbClr val="0070C0"/>
                </a:solidFill>
                <a:effectLst>
                  <a:outerShdw blurRad="38100" dist="38100" dir="2700000" algn="tl">
                    <a:srgbClr val="000000">
                      <a:alpha val="43137"/>
                    </a:srgbClr>
                  </a:outerShdw>
                </a:effectLst>
              </a:rPr>
              <a:t>prioritized growth</a:t>
            </a:r>
            <a:r>
              <a:rPr lang="pl-PL" b="1" dirty="0">
                <a:solidFill>
                  <a:srgbClr val="0070C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“At this stage, we choose to prioritize growth because we believe that </a:t>
            </a:r>
            <a:r>
              <a:rPr lang="en-US" b="1" dirty="0">
                <a:solidFill>
                  <a:srgbClr val="FF0000"/>
                </a:solidFill>
                <a:effectLst>
                  <a:outerShdw blurRad="38100" dist="38100" dir="2700000" algn="tl">
                    <a:srgbClr val="000000">
                      <a:alpha val="43137"/>
                    </a:srgbClr>
                  </a:outerShdw>
                </a:effectLst>
                <a:highlight>
                  <a:srgbClr val="FFFF00"/>
                </a:highlight>
              </a:rPr>
              <a:t>scale is central to achieving the potential </a:t>
            </a:r>
            <a:r>
              <a:rPr lang="en-US" dirty="0">
                <a:solidFill>
                  <a:srgbClr val="002060"/>
                </a:solidFill>
                <a:effectLst>
                  <a:outerShdw blurRad="38100" dist="38100" dir="2700000" algn="tl">
                    <a:srgbClr val="000000">
                      <a:alpha val="43137"/>
                    </a:srgbClr>
                  </a:outerShdw>
                </a:effectLst>
              </a:rPr>
              <a:t>of our business model” (Bezos 1998).</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 The</a:t>
            </a:r>
            <a:r>
              <a:rPr lang="en-US" dirty="0">
                <a:solidFill>
                  <a:srgbClr val="002060"/>
                </a:solidFill>
                <a:effectLst>
                  <a:outerShdw blurRad="38100" dist="38100" dir="2700000" algn="tl">
                    <a:srgbClr val="000000">
                      <a:alpha val="43137"/>
                    </a:srgbClr>
                  </a:outerShdw>
                </a:effectLst>
              </a:rPr>
              <a:t> insistent emphasis on “</a:t>
            </a:r>
            <a:r>
              <a:rPr lang="en-US" b="1" dirty="0">
                <a:solidFill>
                  <a:srgbClr val="FF0000"/>
                </a:solidFill>
                <a:effectLst>
                  <a:outerShdw blurRad="38100" dist="38100" dir="2700000" algn="tl">
                    <a:srgbClr val="000000">
                      <a:alpha val="43137"/>
                    </a:srgbClr>
                  </a:outerShdw>
                </a:effectLst>
              </a:rPr>
              <a:t>market leadership</a:t>
            </a:r>
            <a:r>
              <a:rPr lang="en-US" dirty="0">
                <a:solidFill>
                  <a:srgbClr val="002060"/>
                </a:solidFill>
                <a:effectLst>
                  <a:outerShdw blurRad="38100" dist="38100" dir="2700000" algn="tl">
                    <a:srgbClr val="000000">
                      <a:alpha val="43137"/>
                    </a:srgbClr>
                  </a:outerShdw>
                </a:effectLst>
              </a:rPr>
              <a:t>” (Bezos relies on the term six times in the short letter) signaled that Amazon </a:t>
            </a:r>
            <a:r>
              <a:rPr lang="en-US" b="1" dirty="0">
                <a:solidFill>
                  <a:srgbClr val="FF0000"/>
                </a:solidFill>
                <a:effectLst>
                  <a:outerShdw blurRad="38100" dist="38100" dir="2700000" algn="tl">
                    <a:srgbClr val="000000">
                      <a:alpha val="43137"/>
                    </a:srgbClr>
                  </a:outerShdw>
                </a:effectLst>
              </a:rPr>
              <a:t>intended to dominate</a:t>
            </a:r>
            <a:r>
              <a:rPr lang="pl-PL" b="1" dirty="0">
                <a:solidFill>
                  <a:srgbClr val="FF0000"/>
                </a:solidFill>
                <a:effectLst>
                  <a:outerShdw blurRad="38100" dist="38100" dir="2700000" algn="tl">
                    <a:srgbClr val="000000">
                      <a:alpha val="43137"/>
                    </a:srgbClr>
                  </a:outerShdw>
                </a:effectLst>
              </a:rPr>
              <a:t> the market</a:t>
            </a:r>
            <a:endParaRPr lang="en-US"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55264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EDFD82C-0542-747A-C1ED-36754D869C04}"/>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Foregoing Short- Term Returns for Long- Term Dominance</a:t>
            </a:r>
            <a:endParaRPr lang="en-US" sz="3200" dirty="0"/>
          </a:p>
        </p:txBody>
      </p:sp>
      <p:sp>
        <p:nvSpPr>
          <p:cNvPr id="3" name="Symbol zastępczy zawartości 2">
            <a:extLst>
              <a:ext uri="{FF2B5EF4-FFF2-40B4-BE49-F238E27FC236}">
                <a16:creationId xmlns:a16="http://schemas.microsoft.com/office/drawing/2014/main" id="{0004B7F5-5987-DD23-6ED3-6808EB8D3533}"/>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rPr>
              <a:t>One of the </a:t>
            </a:r>
            <a:r>
              <a:rPr lang="en-US" b="1" dirty="0">
                <a:solidFill>
                  <a:srgbClr val="002060"/>
                </a:solidFill>
                <a:effectLst>
                  <a:outerShdw blurRad="38100" dist="38100" dir="2700000" algn="tl">
                    <a:srgbClr val="000000">
                      <a:alpha val="43137"/>
                    </a:srgbClr>
                  </a:outerShdw>
                </a:effectLst>
              </a:rPr>
              <a:t>primary ways Amazon has built </a:t>
            </a:r>
            <a:r>
              <a:rPr lang="pl-PL" b="1" dirty="0">
                <a:solidFill>
                  <a:srgbClr val="002060"/>
                </a:solidFill>
                <a:effectLst>
                  <a:outerShdw blurRad="38100" dist="38100" dir="2700000" algn="tl">
                    <a:srgbClr val="000000">
                      <a:alpha val="43137"/>
                    </a:srgbClr>
                  </a:outerShdw>
                </a:effectLst>
              </a:rPr>
              <a:t>an enormous</a:t>
            </a:r>
            <a:r>
              <a:rPr lang="en-US" b="1" dirty="0">
                <a:solidFill>
                  <a:srgbClr val="002060"/>
                </a:solidFill>
                <a:effectLst>
                  <a:outerShdw blurRad="38100" dist="38100" dir="2700000" algn="tl">
                    <a:srgbClr val="000000">
                      <a:alpha val="43137"/>
                    </a:srgbClr>
                  </a:outerShdw>
                </a:effectLst>
              </a:rPr>
              <a:t> edge </a:t>
            </a:r>
            <a:r>
              <a:rPr lang="en-US" dirty="0">
                <a:solidFill>
                  <a:srgbClr val="002060"/>
                </a:solidFill>
                <a:effectLst>
                  <a:outerShdw blurRad="38100" dist="38100" dir="2700000" algn="tl">
                    <a:srgbClr val="000000">
                      <a:alpha val="43137"/>
                    </a:srgbClr>
                  </a:outerShdw>
                </a:effectLst>
              </a:rPr>
              <a:t>is through </a:t>
            </a:r>
            <a:r>
              <a:rPr lang="en-US" b="1" dirty="0">
                <a:solidFill>
                  <a:srgbClr val="FF0000"/>
                </a:solidFill>
                <a:effectLst>
                  <a:outerShdw blurRad="38100" dist="38100" dir="2700000" algn="tl">
                    <a:srgbClr val="000000">
                      <a:alpha val="43137"/>
                    </a:srgbClr>
                  </a:outerShdw>
                </a:effectLst>
              </a:rPr>
              <a:t>A</a:t>
            </a:r>
            <a:r>
              <a:rPr lang="pl-PL" b="1" dirty="0">
                <a:solidFill>
                  <a:srgbClr val="FF0000"/>
                </a:solidFill>
                <a:effectLst>
                  <a:outerShdw blurRad="38100" dist="38100" dir="2700000" algn="tl">
                    <a:srgbClr val="000000">
                      <a:alpha val="43137"/>
                    </a:srgbClr>
                  </a:outerShdw>
                </a:effectLst>
              </a:rPr>
              <a:t>MAZON PRIME</a:t>
            </a:r>
            <a:r>
              <a:rPr lang="en-US" dirty="0">
                <a:solidFill>
                  <a:srgbClr val="002060"/>
                </a:solidFill>
                <a:effectLst>
                  <a:outerShdw blurRad="38100" dist="38100" dir="2700000" algn="tl">
                    <a:srgbClr val="000000">
                      <a:alpha val="43137"/>
                    </a:srgbClr>
                  </a:outerShdw>
                </a:effectLst>
              </a:rPr>
              <a:t>, the company’s loyalty program, in which Amazon has invested aggressively.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Initiated in 2005, Amazon Prime began by offering US consumers unlimited </a:t>
            </a:r>
            <a:r>
              <a:rPr lang="pl-PL" b="1" dirty="0">
                <a:solidFill>
                  <a:srgbClr val="002060"/>
                </a:solidFill>
                <a:effectLst>
                  <a:outerShdw blurRad="38100" dist="38100" dir="2700000" algn="tl">
                    <a:srgbClr val="000000">
                      <a:alpha val="43137"/>
                    </a:srgbClr>
                  </a:outerShdw>
                </a:effectLst>
              </a:rPr>
              <a:t>two-day</a:t>
            </a:r>
            <a:r>
              <a:rPr lang="en-US" b="1" dirty="0">
                <a:solidFill>
                  <a:srgbClr val="002060"/>
                </a:solidFill>
                <a:effectLst>
                  <a:outerShdw blurRad="38100" dist="38100" dir="2700000" algn="tl">
                    <a:srgbClr val="000000">
                      <a:alpha val="43137"/>
                    </a:srgbClr>
                  </a:outerShdw>
                </a:effectLst>
              </a:rPr>
              <a:t> shipping for $79 </a:t>
            </a:r>
            <a:endParaRPr lang="pl-PL" b="1"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a:t>
            </a:r>
            <a:r>
              <a:rPr lang="en-US" b="1" dirty="0">
                <a:solidFill>
                  <a:srgbClr val="002060"/>
                </a:solidFill>
                <a:effectLst>
                  <a:outerShdw blurRad="38100" dist="38100" dir="2700000" algn="tl">
                    <a:srgbClr val="000000">
                      <a:alpha val="43137"/>
                    </a:srgbClr>
                  </a:outerShdw>
                </a:effectLst>
              </a:rPr>
              <a:t>full cost </a:t>
            </a:r>
            <a:r>
              <a:rPr lang="en-US" dirty="0">
                <a:solidFill>
                  <a:srgbClr val="002060"/>
                </a:solidFill>
                <a:effectLst>
                  <a:outerShdw blurRad="38100" dist="38100" dir="2700000" algn="tl">
                    <a:srgbClr val="000000">
                      <a:alpha val="43137"/>
                    </a:srgbClr>
                  </a:outerShdw>
                </a:effectLst>
              </a:rPr>
              <a:t>of Amazon Prime </a:t>
            </a:r>
            <a:r>
              <a:rPr lang="en-US" b="1" dirty="0">
                <a:solidFill>
                  <a:srgbClr val="002060"/>
                </a:solidFill>
                <a:effectLst>
                  <a:outerShdw blurRad="38100" dist="38100" dir="2700000" algn="tl">
                    <a:srgbClr val="000000">
                      <a:alpha val="43137"/>
                    </a:srgbClr>
                  </a:outerShdw>
                </a:effectLst>
              </a:rPr>
              <a:t>is </a:t>
            </a:r>
            <a:r>
              <a:rPr lang="pl-PL" b="1" dirty="0" err="1">
                <a:solidFill>
                  <a:srgbClr val="002060"/>
                </a:solidFill>
                <a:effectLst>
                  <a:outerShdw blurRad="38100" dist="38100" dir="2700000" algn="tl">
                    <a:srgbClr val="000000">
                      <a:alpha val="43137"/>
                    </a:srgbClr>
                  </a:outerShdw>
                </a:effectLst>
              </a:rPr>
              <a:t>higher</a:t>
            </a:r>
            <a:r>
              <a:rPr lang="en-US" dirty="0">
                <a:solidFill>
                  <a:srgbClr val="002060"/>
                </a:solidFill>
                <a:effectLst>
                  <a:outerShdw blurRad="38100" dist="38100" dir="2700000" algn="tl">
                    <a:srgbClr val="000000">
                      <a:alpha val="43137"/>
                    </a:srgbClr>
                  </a:outerShdw>
                </a:effectLst>
              </a:rPr>
              <a:t>, given that the company has been </a:t>
            </a:r>
            <a:r>
              <a:rPr lang="en-US" b="1" dirty="0">
                <a:solidFill>
                  <a:srgbClr val="002060"/>
                </a:solidFill>
                <a:effectLst>
                  <a:outerShdw blurRad="38100" dist="38100" dir="2700000" algn="tl">
                    <a:srgbClr val="000000">
                      <a:alpha val="43137"/>
                    </a:srgbClr>
                  </a:outerShdw>
                </a:effectLst>
              </a:rPr>
              <a:t>investing heavily in warehouses, delivery facilities, and trucks</a:t>
            </a:r>
            <a:r>
              <a:rPr lang="en-US" dirty="0">
                <a:solidFill>
                  <a:srgbClr val="002060"/>
                </a:solidFill>
                <a:effectLst>
                  <a:outerShdw blurRad="38100" dist="38100" dir="2700000" algn="tl">
                    <a:srgbClr val="000000">
                      <a:alpha val="43137"/>
                    </a:srgbClr>
                  </a:outerShdw>
                </a:effectLst>
              </a:rPr>
              <a:t>, as part of its plan to </a:t>
            </a:r>
            <a:r>
              <a:rPr lang="en-US" b="1" dirty="0">
                <a:solidFill>
                  <a:srgbClr val="002060"/>
                </a:solidFill>
                <a:effectLst>
                  <a:outerShdw blurRad="38100" dist="38100" dir="2700000" algn="tl">
                    <a:srgbClr val="000000">
                      <a:alpha val="43137"/>
                    </a:srgbClr>
                  </a:outerShdw>
                </a:effectLst>
              </a:rPr>
              <a:t>speed up delivery </a:t>
            </a:r>
            <a:r>
              <a:rPr lang="en-US" dirty="0">
                <a:solidFill>
                  <a:srgbClr val="002060"/>
                </a:solidFill>
                <a:effectLst>
                  <a:outerShdw blurRad="38100" dist="38100" dir="2700000" algn="tl">
                    <a:srgbClr val="000000">
                      <a:alpha val="43137"/>
                    </a:srgbClr>
                  </a:outerShdw>
                </a:effectLst>
              </a:rPr>
              <a:t>for Prime customers— expenditures that regularly </a:t>
            </a:r>
            <a:r>
              <a:rPr lang="en-US" b="1" dirty="0">
                <a:solidFill>
                  <a:srgbClr val="002060"/>
                </a:solidFill>
                <a:effectLst>
                  <a:outerShdw blurRad="38100" dist="38100" dir="2700000" algn="tl">
                    <a:srgbClr val="000000">
                      <a:alpha val="43137"/>
                    </a:srgbClr>
                  </a:outerShdw>
                </a:effectLst>
              </a:rPr>
              <a:t>push it into the red</a:t>
            </a:r>
            <a:r>
              <a:rPr lang="en-US" b="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44767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54FAF91-4263-BF6D-636E-64D16B7F9F1C}"/>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Foregoing Short- Term Returns for Long- Term Dominance</a:t>
            </a:r>
            <a:endParaRPr lang="en-US" sz="3200" dirty="0"/>
          </a:p>
        </p:txBody>
      </p:sp>
      <p:sp>
        <p:nvSpPr>
          <p:cNvPr id="3" name="Symbol zastępczy zawartości 2">
            <a:extLst>
              <a:ext uri="{FF2B5EF4-FFF2-40B4-BE49-F238E27FC236}">
                <a16:creationId xmlns:a16="http://schemas.microsoft.com/office/drawing/2014/main" id="{019E9DCF-A015-110E-B9ED-215EF2C735E3}"/>
              </a:ext>
            </a:extLst>
          </p:cNvPr>
          <p:cNvSpPr>
            <a:spLocks noGrp="1"/>
          </p:cNvSpPr>
          <p:nvPr>
            <p:ph idx="1"/>
          </p:nvPr>
        </p:nvSpPr>
        <p:spPr/>
        <p:txBody>
          <a:bodyPr>
            <a:normAutofit fontScale="92500" lnSpcReduction="10000"/>
          </a:bodyPr>
          <a:lstStyle/>
          <a:p>
            <a:pPr marL="0" indent="0">
              <a:buNone/>
            </a:pPr>
            <a:r>
              <a:rPr lang="en-US" b="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lang="pl-PL" b="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r>
              <a:rPr lang="en-US" dirty="0">
                <a:solidFill>
                  <a:srgbClr val="002060"/>
                </a:solidFill>
                <a:effectLst>
                  <a:outerShdw blurRad="38100" dist="38100" dir="2700000" algn="tl">
                    <a:srgbClr val="000000">
                      <a:alpha val="43137"/>
                    </a:srgbClr>
                  </a:outerShdw>
                </a:effectLst>
              </a:rPr>
              <a:t>Prime is considered crucial to Amazon’s growth as an online retailer. According to analysts, </a:t>
            </a:r>
            <a:r>
              <a:rPr lang="pl-PL" b="1" dirty="0">
                <a:solidFill>
                  <a:srgbClr val="FF0000"/>
                </a:solidFill>
                <a:effectLst>
                  <a:outerShdw blurRad="38100" dist="38100" dir="2700000" algn="tl">
                    <a:srgbClr val="000000">
                      <a:alpha val="43137"/>
                    </a:srgbClr>
                  </a:outerShdw>
                </a:effectLst>
              </a:rPr>
              <a:t>customers</a:t>
            </a:r>
            <a:r>
              <a:rPr lang="en-US" b="1" dirty="0">
                <a:solidFill>
                  <a:srgbClr val="FF0000"/>
                </a:solidFill>
                <a:effectLst>
                  <a:outerShdw blurRad="38100" dist="38100" dir="2700000" algn="tl">
                    <a:srgbClr val="000000">
                      <a:alpha val="43137"/>
                    </a:srgbClr>
                  </a:outerShdw>
                </a:effectLst>
              </a:rPr>
              <a:t> increase their purchases </a:t>
            </a:r>
            <a:r>
              <a:rPr lang="en-US" dirty="0">
                <a:solidFill>
                  <a:srgbClr val="002060"/>
                </a:solidFill>
                <a:effectLst>
                  <a:outerShdw blurRad="38100" dist="38100" dir="2700000" algn="tl">
                    <a:srgbClr val="000000">
                      <a:alpha val="43137"/>
                    </a:srgbClr>
                  </a:outerShdw>
                </a:effectLst>
              </a:rPr>
              <a:t>from Amazon by about </a:t>
            </a:r>
            <a:r>
              <a:rPr lang="en-US" b="1" dirty="0">
                <a:solidFill>
                  <a:srgbClr val="FF0000"/>
                </a:solidFill>
                <a:effectLst>
                  <a:outerShdw blurRad="38100" dist="38100" dir="2700000" algn="tl">
                    <a:srgbClr val="000000">
                      <a:alpha val="43137"/>
                    </a:srgbClr>
                  </a:outerShdw>
                </a:effectLst>
              </a:rPr>
              <a:t>150%</a:t>
            </a:r>
            <a:r>
              <a:rPr lang="en-US" dirty="0">
                <a:solidFill>
                  <a:srgbClr val="002060"/>
                </a:solidFill>
                <a:effectLst>
                  <a:outerShdw blurRad="38100" dist="38100" dir="2700000" algn="tl">
                    <a:srgbClr val="000000">
                      <a:alpha val="43137"/>
                    </a:srgbClr>
                  </a:outerShdw>
                </a:effectLst>
              </a:rPr>
              <a:t> after becom</a:t>
            </a:r>
            <a:r>
              <a:rPr lang="pl-PL" dirty="0">
                <a:solidFill>
                  <a:srgbClr val="002060"/>
                </a:solidFill>
                <a:effectLst>
                  <a:outerShdw blurRad="38100" dist="38100" dir="2700000" algn="tl">
                    <a:srgbClr val="000000">
                      <a:alpha val="43137"/>
                    </a:srgbClr>
                  </a:outerShdw>
                </a:effectLst>
              </a:rPr>
              <a:t>ing</a:t>
            </a:r>
            <a:r>
              <a:rPr lang="en-US" dirty="0">
                <a:solidFill>
                  <a:srgbClr val="002060"/>
                </a:solidFill>
                <a:effectLst>
                  <a:outerShdw blurRad="38100" dist="38100" dir="2700000" algn="tl">
                    <a:srgbClr val="000000">
                      <a:alpha val="43137"/>
                    </a:srgbClr>
                  </a:outerShdw>
                </a:effectLst>
              </a:rPr>
              <a:t> Prime members (Stone 2010). P</a:t>
            </a:r>
            <a:r>
              <a:rPr lang="pl-PL" dirty="0">
                <a:solidFill>
                  <a:srgbClr val="002060"/>
                </a:solidFill>
                <a:effectLst>
                  <a:outerShdw blurRad="38100" dist="38100" dir="2700000" algn="tl">
                    <a:srgbClr val="000000">
                      <a:alpha val="43137"/>
                    </a:srgbClr>
                  </a:outerShdw>
                </a:effectLst>
              </a:rPr>
              <a:t>RIME</a:t>
            </a:r>
            <a:r>
              <a:rPr lang="en-US" dirty="0">
                <a:solidFill>
                  <a:srgbClr val="002060"/>
                </a:solidFill>
                <a:effectLst>
                  <a:outerShdw blurRad="38100" dist="38100" dir="2700000" algn="tl">
                    <a:srgbClr val="000000">
                      <a:alpha val="43137"/>
                    </a:srgbClr>
                  </a:outerShdw>
                </a:effectLst>
              </a:rPr>
              <a:t> members constitute </a:t>
            </a:r>
            <a:r>
              <a:rPr lang="en-US" b="1" dirty="0">
                <a:solidFill>
                  <a:srgbClr val="FF0000"/>
                </a:solidFill>
                <a:effectLst>
                  <a:outerShdw blurRad="38100" dist="38100" dir="2700000" algn="tl">
                    <a:srgbClr val="000000">
                      <a:alpha val="43137"/>
                    </a:srgbClr>
                  </a:outerShdw>
                </a:effectLst>
              </a:rPr>
              <a:t>47%</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of Amazon’s US shoppers </a:t>
            </a:r>
            <a:endParaRPr lang="pl-PL" b="1" dirty="0">
              <a:solidFill>
                <a:srgbClr val="002060"/>
              </a:solidFill>
              <a:effectLst>
                <a:outerShdw blurRad="38100" dist="38100" dir="2700000" algn="tl">
                  <a:srgbClr val="000000">
                    <a:alpha val="43137"/>
                  </a:srgbClr>
                </a:outerShdw>
              </a:effectLst>
            </a:endParaRPr>
          </a:p>
          <a:p>
            <a:r>
              <a:rPr lang="pl-PL" b="1" dirty="0">
                <a:solidFill>
                  <a:srgbClr val="FF0000"/>
                </a:solidFill>
                <a:effectLst>
                  <a:outerShdw blurRad="38100" dist="38100" dir="2700000" algn="tl">
                    <a:srgbClr val="000000">
                      <a:alpha val="43137"/>
                    </a:srgbClr>
                  </a:outerShdw>
                </a:effectLst>
              </a:rPr>
              <a:t>Non-Prime</a:t>
            </a:r>
            <a:r>
              <a:rPr lang="en-US" b="1" dirty="0">
                <a:solidFill>
                  <a:srgbClr val="FF0000"/>
                </a:solidFill>
                <a:effectLst>
                  <a:outerShdw blurRad="38100" dist="38100" dir="2700000" algn="tl">
                    <a:srgbClr val="000000">
                      <a:alpha val="43137"/>
                    </a:srgbClr>
                  </a:outerShdw>
                </a:effectLst>
              </a:rPr>
              <a:t> members</a:t>
            </a:r>
            <a:r>
              <a:rPr lang="en-US" dirty="0">
                <a:solidFill>
                  <a:srgbClr val="002060"/>
                </a:solidFill>
                <a:effectLst>
                  <a:outerShdw blurRad="38100" dist="38100" dir="2700000" algn="tl">
                    <a:srgbClr val="000000">
                      <a:alpha val="43137"/>
                    </a:srgbClr>
                  </a:outerShdw>
                </a:effectLst>
              </a:rPr>
              <a:t>, meanwhile, are </a:t>
            </a:r>
            <a:r>
              <a:rPr lang="en-US" b="1" dirty="0">
                <a:solidFill>
                  <a:srgbClr val="FF0000"/>
                </a:solidFill>
                <a:effectLst>
                  <a:outerShdw blurRad="38100" dist="38100" dir="2700000" algn="tl">
                    <a:srgbClr val="000000">
                      <a:alpha val="43137"/>
                    </a:srgbClr>
                  </a:outerShdw>
                </a:effectLst>
              </a:rPr>
              <a:t>eight times </a:t>
            </a:r>
            <a:r>
              <a:rPr lang="en-US" dirty="0">
                <a:solidFill>
                  <a:srgbClr val="002060"/>
                </a:solidFill>
                <a:effectLst>
                  <a:outerShdw blurRad="38100" dist="38100" dir="2700000" algn="tl">
                    <a:srgbClr val="000000">
                      <a:alpha val="43137"/>
                    </a:srgbClr>
                  </a:outerShdw>
                </a:effectLst>
              </a:rPr>
              <a:t>more likely than Prime members to </a:t>
            </a:r>
            <a:r>
              <a:rPr lang="en-US" b="1" dirty="0">
                <a:solidFill>
                  <a:srgbClr val="0070C0"/>
                </a:solidFill>
                <a:effectLst>
                  <a:outerShdw blurRad="38100" dist="38100" dir="2700000" algn="tl">
                    <a:srgbClr val="000000">
                      <a:alpha val="43137"/>
                    </a:srgbClr>
                  </a:outerShdw>
                </a:effectLst>
              </a:rPr>
              <a:t>shop between both Amazon and Target </a:t>
            </a:r>
            <a:r>
              <a:rPr lang="en-US" dirty="0">
                <a:solidFill>
                  <a:srgbClr val="002060"/>
                </a:solidFill>
                <a:effectLst>
                  <a:outerShdw blurRad="38100" dist="38100" dir="2700000" algn="tl">
                    <a:srgbClr val="000000">
                      <a:alpha val="43137"/>
                    </a:srgbClr>
                  </a:outerShdw>
                </a:effectLst>
              </a:rPr>
              <a:t>in the same sessio</a:t>
            </a:r>
            <a:r>
              <a:rPr lang="pl-PL" dirty="0">
                <a:solidFill>
                  <a:srgbClr val="002060"/>
                </a:solidFill>
                <a:effectLst>
                  <a:outerShdw blurRad="38100" dist="38100" dir="2700000" algn="tl">
                    <a:srgbClr val="000000">
                      <a:alpha val="43137"/>
                    </a:srgbClr>
                  </a:outerShdw>
                </a:effectLst>
              </a:rPr>
              <a:t>n.</a:t>
            </a:r>
            <a:r>
              <a:rPr lang="en-US" dirty="0"/>
              <a:t> </a:t>
            </a:r>
            <a:endParaRPr lang="pl-PL" dirty="0"/>
          </a:p>
          <a:p>
            <a:r>
              <a:rPr lang="en-US" dirty="0">
                <a:solidFill>
                  <a:srgbClr val="002060"/>
                </a:solidFill>
                <a:effectLst>
                  <a:outerShdw blurRad="38100" dist="38100" dir="2700000" algn="tl">
                    <a:srgbClr val="000000">
                      <a:alpha val="43137"/>
                    </a:srgbClr>
                  </a:outerShdw>
                </a:effectLst>
              </a:rPr>
              <a:t>Although competition for online services may seem to be “</a:t>
            </a:r>
            <a:r>
              <a:rPr lang="en-US" b="1" dirty="0">
                <a:solidFill>
                  <a:srgbClr val="FF0000"/>
                </a:solidFill>
                <a:effectLst>
                  <a:outerShdw blurRad="38100" dist="38100" dir="2700000" algn="tl">
                    <a:srgbClr val="000000">
                      <a:alpha val="43137"/>
                    </a:srgbClr>
                  </a:outerShdw>
                </a:effectLst>
              </a:rPr>
              <a:t>just one click away,”</a:t>
            </a:r>
            <a:r>
              <a:rPr lang="en-US" dirty="0">
                <a:solidFill>
                  <a:srgbClr val="002060"/>
                </a:solidFill>
                <a:effectLst>
                  <a:outerShdw blurRad="38100" dist="38100" dir="2700000" algn="tl">
                    <a:srgbClr val="000000">
                      <a:alpha val="43137"/>
                    </a:srgbClr>
                  </a:outerShdw>
                </a:effectLst>
              </a:rPr>
              <a:t> research drawing on </a:t>
            </a:r>
            <a:r>
              <a:rPr lang="pl-PL" b="1" dirty="0">
                <a:solidFill>
                  <a:srgbClr val="FF0000"/>
                </a:solidFill>
                <a:effectLst>
                  <a:outerShdw blurRad="38100" dist="38100" dir="2700000" algn="tl">
                    <a:srgbClr val="000000">
                      <a:alpha val="43137"/>
                    </a:srgbClr>
                  </a:outerShdw>
                </a:effectLst>
              </a:rPr>
              <a:t>behavioral</a:t>
            </a:r>
            <a:r>
              <a:rPr lang="en-US" b="1" dirty="0">
                <a:solidFill>
                  <a:srgbClr val="FF0000"/>
                </a:solidFill>
                <a:effectLst>
                  <a:outerShdw blurRad="38100" dist="38100" dir="2700000" algn="tl">
                    <a:srgbClr val="000000">
                      <a:alpha val="43137"/>
                    </a:srgbClr>
                  </a:outerShdw>
                </a:effectLst>
              </a:rPr>
              <a:t> tendencies </a:t>
            </a:r>
            <a:r>
              <a:rPr lang="en-US" dirty="0">
                <a:solidFill>
                  <a:srgbClr val="002060"/>
                </a:solidFill>
                <a:effectLst>
                  <a:outerShdw blurRad="38100" dist="38100" dir="2700000" algn="tl">
                    <a:srgbClr val="000000">
                      <a:alpha val="43137"/>
                    </a:srgbClr>
                  </a:outerShdw>
                </a:effectLst>
              </a:rPr>
              <a:t>shows that the “</a:t>
            </a:r>
            <a:r>
              <a:rPr lang="en-US" b="1" dirty="0">
                <a:solidFill>
                  <a:srgbClr val="FF0000"/>
                </a:solidFill>
                <a:effectLst>
                  <a:outerShdw blurRad="38100" dist="38100" dir="2700000" algn="tl">
                    <a:srgbClr val="000000">
                      <a:alpha val="43137"/>
                    </a:srgbClr>
                  </a:outerShdw>
                </a:effectLst>
              </a:rPr>
              <a:t>switching cost</a:t>
            </a:r>
            <a:r>
              <a:rPr lang="en-US" dirty="0">
                <a:solidFill>
                  <a:srgbClr val="002060"/>
                </a:solidFill>
                <a:effectLst>
                  <a:outerShdw blurRad="38100" dist="38100" dir="2700000" algn="tl">
                    <a:srgbClr val="000000">
                      <a:alpha val="43137"/>
                    </a:srgbClr>
                  </a:outerShdw>
                </a:effectLst>
              </a:rPr>
              <a:t>” of changing web services can, in fact, be </a:t>
            </a:r>
            <a:r>
              <a:rPr lang="pl-PL" dirty="0" err="1">
                <a:solidFill>
                  <a:srgbClr val="002060"/>
                </a:solidFill>
                <a:effectLst>
                  <a:outerShdw blurRad="38100" dist="38100" dir="2700000" algn="tl">
                    <a:srgbClr val="000000">
                      <a:alpha val="43137"/>
                    </a:srgbClr>
                  </a:outerShdw>
                </a:effectLst>
              </a:rPr>
              <a:t>relatively</a:t>
            </a:r>
            <a:r>
              <a:rPr lang="en-US" dirty="0">
                <a:solidFill>
                  <a:srgbClr val="002060"/>
                </a:solidFill>
                <a:effectLst>
                  <a:outerShdw blurRad="38100" dist="38100" dir="2700000" algn="tl">
                    <a:srgbClr val="000000">
                      <a:alpha val="43137"/>
                    </a:srgbClr>
                  </a:outerShdw>
                </a:effectLst>
              </a:rPr>
              <a:t> high</a:t>
            </a:r>
            <a:r>
              <a:rPr lang="pl-PL" dirty="0">
                <a:solidFill>
                  <a:srgbClr val="002060"/>
                </a:solidFill>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739698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1F40567-996C-D38B-B8C8-DA2EF9BF5E6D}"/>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Foregoing Short- Term Returns for Long- Term Dominance</a:t>
            </a:r>
            <a:endParaRPr lang="en-US" sz="3200" dirty="0"/>
          </a:p>
        </p:txBody>
      </p:sp>
      <p:sp>
        <p:nvSpPr>
          <p:cNvPr id="3" name="Symbol zastępczy zawartości 2">
            <a:extLst>
              <a:ext uri="{FF2B5EF4-FFF2-40B4-BE49-F238E27FC236}">
                <a16:creationId xmlns:a16="http://schemas.microsoft.com/office/drawing/2014/main" id="{738E19A8-558D-7190-93BB-CDAFFADB215C}"/>
              </a:ext>
            </a:extLst>
          </p:cNvPr>
          <p:cNvSpPr>
            <a:spLocks noGrp="1"/>
          </p:cNvSpPr>
          <p:nvPr>
            <p:ph idx="1"/>
          </p:nvPr>
        </p:nvSpPr>
        <p:spPr/>
        <p:txBody>
          <a:bodyPr>
            <a:normAutofit/>
          </a:bodyPr>
          <a:lstStyle/>
          <a:p>
            <a:r>
              <a:rPr lang="en-US" sz="3600" dirty="0">
                <a:solidFill>
                  <a:srgbClr val="002060"/>
                </a:solidFill>
                <a:effectLst>
                  <a:outerShdw blurRad="38100" dist="38100" dir="2700000" algn="tl">
                    <a:srgbClr val="000000">
                      <a:alpha val="43137"/>
                    </a:srgbClr>
                  </a:outerShdw>
                </a:effectLst>
              </a:rPr>
              <a:t>Amazon’s dominance stems in part from its </a:t>
            </a:r>
            <a:r>
              <a:rPr lang="en-US" sz="3600" b="1" dirty="0">
                <a:solidFill>
                  <a:srgbClr val="FF0000"/>
                </a:solidFill>
                <a:effectLst>
                  <a:outerShdw blurRad="38100" dist="38100" dir="2700000" algn="tl">
                    <a:srgbClr val="000000">
                      <a:alpha val="43137"/>
                    </a:srgbClr>
                  </a:outerShdw>
                </a:effectLst>
              </a:rPr>
              <a:t>first- mover advantage </a:t>
            </a:r>
            <a:r>
              <a:rPr lang="en-US" sz="3600" dirty="0">
                <a:solidFill>
                  <a:srgbClr val="002060"/>
                </a:solidFill>
                <a:effectLst>
                  <a:outerShdw blurRad="38100" dist="38100" dir="2700000" algn="tl">
                    <a:srgbClr val="000000">
                      <a:alpha val="43137"/>
                    </a:srgbClr>
                  </a:outerShdw>
                </a:effectLst>
              </a:rPr>
              <a:t>as a </a:t>
            </a:r>
            <a:r>
              <a:rPr lang="en-US" sz="3600" b="1" dirty="0">
                <a:solidFill>
                  <a:srgbClr val="FF0000"/>
                </a:solidFill>
                <a:effectLst>
                  <a:outerShdw blurRad="38100" dist="38100" dir="2700000" algn="tl">
                    <a:srgbClr val="000000">
                      <a:alpha val="43137"/>
                    </a:srgbClr>
                  </a:outerShdw>
                </a:effectLst>
                <a:highlight>
                  <a:srgbClr val="00FF00"/>
                </a:highlight>
              </a:rPr>
              <a:t>pioneer </a:t>
            </a:r>
            <a:r>
              <a:rPr lang="en-US" sz="3600" dirty="0">
                <a:solidFill>
                  <a:srgbClr val="002060"/>
                </a:solidFill>
                <a:effectLst>
                  <a:outerShdw blurRad="38100" dist="38100" dir="2700000" algn="tl">
                    <a:srgbClr val="000000">
                      <a:alpha val="43137"/>
                    </a:srgbClr>
                  </a:outerShdw>
                </a:effectLst>
              </a:rPr>
              <a:t>of large- scale online commerce. </a:t>
            </a:r>
            <a:endParaRPr lang="pl-PL" sz="3600" dirty="0">
              <a:solidFill>
                <a:srgbClr val="002060"/>
              </a:solidFill>
              <a:effectLst>
                <a:outerShdw blurRad="38100" dist="38100" dir="2700000" algn="tl">
                  <a:srgbClr val="000000">
                    <a:alpha val="43137"/>
                  </a:srgbClr>
                </a:outerShdw>
              </a:effectLst>
            </a:endParaRPr>
          </a:p>
          <a:p>
            <a:r>
              <a:rPr lang="en-US" sz="3600" dirty="0">
                <a:solidFill>
                  <a:srgbClr val="002060"/>
                </a:solidFill>
                <a:effectLst>
                  <a:outerShdw blurRad="38100" dist="38100" dir="2700000" algn="tl">
                    <a:srgbClr val="000000">
                      <a:alpha val="43137"/>
                    </a:srgbClr>
                  </a:outerShdw>
                </a:effectLst>
              </a:rPr>
              <a:t>But in several ways,</a:t>
            </a:r>
            <a:r>
              <a:rPr lang="pl-PL" sz="3600" dirty="0">
                <a:solidFill>
                  <a:srgbClr val="00206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Amazon has achieved its position through </a:t>
            </a:r>
            <a:r>
              <a:rPr lang="en-US" sz="3600" b="1" dirty="0">
                <a:solidFill>
                  <a:srgbClr val="FF0000"/>
                </a:solidFill>
                <a:effectLst>
                  <a:outerShdw blurRad="38100" dist="38100" dir="2700000" algn="tl">
                    <a:srgbClr val="000000">
                      <a:alpha val="43137"/>
                    </a:srgbClr>
                  </a:outerShdw>
                </a:effectLst>
              </a:rPr>
              <a:t>deeply </a:t>
            </a:r>
            <a:r>
              <a:rPr lang="en-US" sz="3600" b="1" dirty="0">
                <a:solidFill>
                  <a:srgbClr val="FF0000"/>
                </a:solidFill>
                <a:effectLst>
                  <a:outerShdw blurRad="38100" dist="38100" dir="2700000" algn="tl">
                    <a:srgbClr val="000000">
                      <a:alpha val="43137"/>
                    </a:srgbClr>
                  </a:outerShdw>
                </a:effectLst>
                <a:highlight>
                  <a:srgbClr val="FFFF00"/>
                </a:highlight>
              </a:rPr>
              <a:t>cutting prices </a:t>
            </a:r>
            <a:r>
              <a:rPr lang="en-US" sz="3600" b="1" dirty="0">
                <a:solidFill>
                  <a:srgbClr val="FF0000"/>
                </a:solidFill>
                <a:effectLst>
                  <a:outerShdw blurRad="38100" dist="38100" dir="2700000" algn="tl">
                    <a:srgbClr val="000000">
                      <a:alpha val="43137"/>
                    </a:srgbClr>
                  </a:outerShdw>
                </a:effectLst>
              </a:rPr>
              <a:t>and investing heavily in </a:t>
            </a:r>
            <a:r>
              <a:rPr lang="en-US" sz="3600" b="1" dirty="0">
                <a:solidFill>
                  <a:srgbClr val="FF0000"/>
                </a:solidFill>
                <a:effectLst>
                  <a:outerShdw blurRad="38100" dist="38100" dir="2700000" algn="tl">
                    <a:srgbClr val="000000">
                      <a:alpha val="43137"/>
                    </a:srgbClr>
                  </a:outerShdw>
                </a:effectLst>
                <a:highlight>
                  <a:srgbClr val="FFFF00"/>
                </a:highlight>
              </a:rPr>
              <a:t>growing</a:t>
            </a:r>
            <a:r>
              <a:rPr lang="en-US" sz="3600" b="1" dirty="0">
                <a:solidFill>
                  <a:srgbClr val="FF000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its operations— </a:t>
            </a:r>
            <a:r>
              <a:rPr lang="en-US" sz="3600" b="1" dirty="0">
                <a:solidFill>
                  <a:srgbClr val="002060"/>
                </a:solidFill>
                <a:effectLst>
                  <a:outerShdw blurRad="38100" dist="38100" dir="2700000" algn="tl">
                    <a:srgbClr val="000000">
                      <a:alpha val="43137"/>
                    </a:srgbClr>
                  </a:outerShdw>
                </a:effectLst>
              </a:rPr>
              <a:t>both at the expense of profits</a:t>
            </a:r>
            <a:r>
              <a:rPr lang="en-US" sz="3600" dirty="0">
                <a:solidFill>
                  <a:srgbClr val="002060"/>
                </a:solidFill>
                <a:effectLst>
                  <a:outerShdw blurRad="38100" dist="38100" dir="2700000" algn="tl">
                    <a:srgbClr val="000000">
                      <a:alpha val="43137"/>
                    </a:srgbClr>
                  </a:outerShdw>
                </a:effectLst>
              </a:rPr>
              <a:t>.</a:t>
            </a:r>
            <a:endParaRPr lang="pl-PL" sz="3600" dirty="0">
              <a:solidFill>
                <a:srgbClr val="002060"/>
              </a:solidFill>
              <a:effectLst>
                <a:outerShdw blurRad="38100" dist="38100" dir="2700000" algn="tl">
                  <a:srgbClr val="000000">
                    <a:alpha val="43137"/>
                  </a:srgbClr>
                </a:outerShdw>
              </a:effectLst>
            </a:endParaRPr>
          </a:p>
          <a:p>
            <a:r>
              <a:rPr lang="en-US" sz="3600" dirty="0">
                <a:solidFill>
                  <a:srgbClr val="002060"/>
                </a:solidFill>
                <a:effectLst>
                  <a:outerShdw blurRad="38100" dist="38100" dir="2700000" algn="tl">
                    <a:srgbClr val="000000">
                      <a:alpha val="43137"/>
                    </a:srgbClr>
                  </a:outerShdw>
                </a:effectLst>
              </a:rPr>
              <a:t> </a:t>
            </a:r>
            <a:endParaRPr lang="en-US" sz="3600" dirty="0"/>
          </a:p>
        </p:txBody>
      </p:sp>
    </p:spTree>
    <p:extLst>
      <p:ext uri="{BB962C8B-B14F-4D97-AF65-F5344CB8AC3E}">
        <p14:creationId xmlns:p14="http://schemas.microsoft.com/office/powerpoint/2010/main" val="4041450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B848AA2-0D94-1936-15CC-892F79B6D440}"/>
              </a:ext>
            </a:extLst>
          </p:cNvPr>
          <p:cNvSpPr>
            <a:spLocks noGrp="1"/>
          </p:cNvSpPr>
          <p:nvPr>
            <p:ph type="title"/>
          </p:nvPr>
        </p:nvSpPr>
        <p:spPr/>
        <p:txBody>
          <a:bodyPr/>
          <a:lstStyle/>
          <a:p>
            <a:r>
              <a:rPr lang="en-US" dirty="0">
                <a:solidFill>
                  <a:srgbClr val="002060"/>
                </a:solidFill>
                <a:effectLst>
                  <a:outerShdw blurRad="38100" dist="38100" dir="2700000" algn="tl">
                    <a:srgbClr val="000000">
                      <a:alpha val="43137"/>
                    </a:srgbClr>
                  </a:outerShdw>
                </a:effectLst>
              </a:rPr>
              <a:t>Foregoing Short- Term Returns for Long- Term Dominance</a:t>
            </a:r>
            <a:endParaRPr lang="en-US" dirty="0"/>
          </a:p>
        </p:txBody>
      </p:sp>
      <p:sp>
        <p:nvSpPr>
          <p:cNvPr id="3" name="Symbol zastępczy zawartości 2">
            <a:extLst>
              <a:ext uri="{FF2B5EF4-FFF2-40B4-BE49-F238E27FC236}">
                <a16:creationId xmlns:a16="http://schemas.microsoft.com/office/drawing/2014/main" id="{40D6A6EE-3EA6-655A-2DB0-319A29F84871}"/>
              </a:ext>
            </a:extLst>
          </p:cNvPr>
          <p:cNvSpPr>
            <a:spLocks noGrp="1"/>
          </p:cNvSpPr>
          <p:nvPr>
            <p:ph idx="1"/>
          </p:nvPr>
        </p:nvSpPr>
        <p:spPr/>
        <p:txBody>
          <a:bodyPr/>
          <a:lstStyle/>
          <a:p>
            <a:r>
              <a:rPr lang="en-US" sz="3600" b="1" dirty="0">
                <a:solidFill>
                  <a:srgbClr val="002060"/>
                </a:solidFill>
                <a:effectLst>
                  <a:outerShdw blurRad="38100" dist="38100" dir="2700000" algn="tl">
                    <a:srgbClr val="000000">
                      <a:alpha val="43137"/>
                    </a:srgbClr>
                  </a:outerShdw>
                </a:effectLst>
              </a:rPr>
              <a:t>The fact that Amazon has been willing to </a:t>
            </a:r>
            <a:r>
              <a:rPr lang="en-US" sz="3600" b="1" dirty="0">
                <a:solidFill>
                  <a:srgbClr val="FF0000"/>
                </a:solidFill>
                <a:effectLst>
                  <a:outerShdw blurRad="38100" dist="38100" dir="2700000" algn="tl">
                    <a:srgbClr val="000000">
                      <a:alpha val="43137"/>
                    </a:srgbClr>
                  </a:outerShdw>
                </a:effectLst>
              </a:rPr>
              <a:t>forego profits </a:t>
            </a:r>
            <a:r>
              <a:rPr lang="en-US" sz="3600" b="1" dirty="0">
                <a:solidFill>
                  <a:srgbClr val="002060"/>
                </a:solidFill>
                <a:effectLst>
                  <a:outerShdw blurRad="38100" dist="38100" dir="2700000" algn="tl">
                    <a:srgbClr val="000000">
                      <a:alpha val="43137"/>
                    </a:srgbClr>
                  </a:outerShdw>
                </a:effectLst>
              </a:rPr>
              <a:t>for growth </a:t>
            </a:r>
            <a:r>
              <a:rPr lang="en-US" sz="3600" b="1" dirty="0">
                <a:solidFill>
                  <a:srgbClr val="FF0000"/>
                </a:solidFill>
                <a:effectLst>
                  <a:outerShdw blurRad="38100" dist="38100" dir="2700000" algn="tl">
                    <a:srgbClr val="000000">
                      <a:alpha val="43137"/>
                    </a:srgbClr>
                  </a:outerShdw>
                </a:effectLst>
                <a:highlight>
                  <a:srgbClr val="FFFF00"/>
                </a:highlight>
              </a:rPr>
              <a:t>undercuts </a:t>
            </a:r>
            <a:r>
              <a:rPr lang="pl-PL" sz="3600" b="1" dirty="0">
                <a:solidFill>
                  <a:srgbClr val="FF0000"/>
                </a:solidFill>
                <a:effectLst>
                  <a:outerShdw blurRad="38100" dist="38100" dir="2700000" algn="tl">
                    <a:srgbClr val="000000">
                      <a:alpha val="43137"/>
                    </a:srgbClr>
                  </a:outerShdw>
                </a:effectLst>
                <a:highlight>
                  <a:srgbClr val="FFFF00"/>
                </a:highlight>
              </a:rPr>
              <a:t>the</a:t>
            </a:r>
            <a:r>
              <a:rPr lang="en-US" sz="3600" b="1" dirty="0">
                <a:solidFill>
                  <a:srgbClr val="FF0000"/>
                </a:solidFill>
                <a:effectLst>
                  <a:outerShdw blurRad="38100" dist="38100" dir="2700000" algn="tl">
                    <a:srgbClr val="000000">
                      <a:alpha val="43137"/>
                    </a:srgbClr>
                  </a:outerShdw>
                </a:effectLst>
                <a:highlight>
                  <a:srgbClr val="FFFF00"/>
                </a:highlight>
              </a:rPr>
              <a:t> central premise of contemporary predatory pricing doctrine</a:t>
            </a:r>
            <a:r>
              <a:rPr lang="pl-PL" sz="3600" b="1" dirty="0">
                <a:solidFill>
                  <a:srgbClr val="00206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 that </a:t>
            </a:r>
            <a:r>
              <a:rPr lang="en-US" sz="3600" b="1" dirty="0">
                <a:solidFill>
                  <a:srgbClr val="0070C0"/>
                </a:solidFill>
                <a:effectLst>
                  <a:outerShdw blurRad="38100" dist="38100" dir="2700000" algn="tl">
                    <a:srgbClr val="000000">
                      <a:alpha val="43137"/>
                    </a:srgbClr>
                  </a:outerShdw>
                </a:effectLst>
              </a:rPr>
              <a:t>predation is </a:t>
            </a:r>
            <a:r>
              <a:rPr lang="en-US" sz="3600" b="1" dirty="0">
                <a:solidFill>
                  <a:srgbClr val="FF0000"/>
                </a:solidFill>
                <a:effectLst>
                  <a:outerShdw blurRad="38100" dist="38100" dir="2700000" algn="tl">
                    <a:srgbClr val="000000">
                      <a:alpha val="43137"/>
                    </a:srgbClr>
                  </a:outerShdw>
                </a:effectLst>
              </a:rPr>
              <a:t>irrational</a:t>
            </a:r>
            <a:r>
              <a:rPr lang="en-US" sz="3600" b="1" dirty="0">
                <a:solidFill>
                  <a:srgbClr val="0070C0"/>
                </a:solidFill>
                <a:effectLst>
                  <a:outerShdw blurRad="38100" dist="38100" dir="2700000" algn="tl">
                    <a:srgbClr val="000000">
                      <a:alpha val="43137"/>
                    </a:srgbClr>
                  </a:outerShdw>
                </a:effectLst>
              </a:rPr>
              <a:t> precisely because firms </a:t>
            </a:r>
            <a:r>
              <a:rPr lang="pl-PL" sz="3600" b="1" dirty="0">
                <a:solidFill>
                  <a:srgbClr val="0070C0"/>
                </a:solidFill>
                <a:effectLst>
                  <a:outerShdw blurRad="38100" dist="38100" dir="2700000" algn="tl">
                    <a:srgbClr val="000000">
                      <a:alpha val="43137"/>
                    </a:srgbClr>
                  </a:outerShdw>
                </a:effectLst>
              </a:rPr>
              <a:t>prioritize</a:t>
            </a:r>
            <a:r>
              <a:rPr lang="en-US" sz="3600" b="1" dirty="0">
                <a:solidFill>
                  <a:srgbClr val="0070C0"/>
                </a:solidFill>
                <a:effectLst>
                  <a:outerShdw blurRad="38100" dist="38100" dir="2700000" algn="tl">
                    <a:srgbClr val="000000">
                      <a:alpha val="43137"/>
                    </a:srgbClr>
                  </a:outerShdw>
                </a:effectLst>
              </a:rPr>
              <a:t> profits over growth</a:t>
            </a:r>
            <a:r>
              <a:rPr lang="pl-PL" sz="3600" b="1" dirty="0">
                <a:solidFill>
                  <a:srgbClr val="0070C0"/>
                </a:solidFill>
                <a:effectLst>
                  <a:outerShdw blurRad="38100" dist="38100" dir="2700000" algn="tl">
                    <a:srgbClr val="000000">
                      <a:alpha val="43137"/>
                    </a:srgbClr>
                  </a:outerShdw>
                </a:effectLst>
              </a:rPr>
              <a:t>.</a:t>
            </a:r>
          </a:p>
          <a:p>
            <a:r>
              <a:rPr lang="en-US" sz="3600" dirty="0">
                <a:solidFill>
                  <a:srgbClr val="002060"/>
                </a:solidFill>
                <a:effectLst>
                  <a:outerShdw blurRad="38100" dist="38100" dir="2700000" algn="tl">
                    <a:srgbClr val="000000">
                      <a:alpha val="43137"/>
                    </a:srgbClr>
                  </a:outerShdw>
                </a:effectLst>
              </a:rPr>
              <a:t>Amazon’s strategy has enabled it to </a:t>
            </a:r>
            <a:r>
              <a:rPr lang="en-US" sz="3600" b="1" dirty="0">
                <a:solidFill>
                  <a:srgbClr val="FF0000"/>
                </a:solidFill>
                <a:effectLst>
                  <a:outerShdw blurRad="38100" dist="38100" dir="2700000" algn="tl">
                    <a:srgbClr val="000000">
                      <a:alpha val="43137"/>
                    </a:srgbClr>
                  </a:outerShdw>
                </a:effectLst>
              </a:rPr>
              <a:t>use predatory pricing tactics </a:t>
            </a:r>
            <a:r>
              <a:rPr lang="en-US" sz="3600" b="1" dirty="0">
                <a:solidFill>
                  <a:srgbClr val="0070C0"/>
                </a:solidFill>
                <a:effectLst>
                  <a:outerShdw blurRad="38100" dist="38100" dir="2700000" algn="tl">
                    <a:srgbClr val="000000">
                      <a:alpha val="43137"/>
                    </a:srgbClr>
                  </a:outerShdw>
                </a:effectLst>
                <a:highlight>
                  <a:srgbClr val="FFFF00"/>
                </a:highlight>
              </a:rPr>
              <a:t>without triggering the scrutiny </a:t>
            </a:r>
            <a:r>
              <a:rPr lang="en-US" sz="3600" b="1" dirty="0">
                <a:solidFill>
                  <a:srgbClr val="FF0000"/>
                </a:solidFill>
                <a:effectLst>
                  <a:outerShdw blurRad="38100" dist="38100" dir="2700000" algn="tl">
                    <a:srgbClr val="000000">
                      <a:alpha val="43137"/>
                    </a:srgbClr>
                  </a:outerShdw>
                </a:effectLst>
              </a:rPr>
              <a:t>of predatory pricing laws</a:t>
            </a:r>
            <a:r>
              <a:rPr lang="en-US" sz="3600" dirty="0"/>
              <a:t>.</a:t>
            </a:r>
          </a:p>
          <a:p>
            <a:endParaRPr lang="en-US" dirty="0"/>
          </a:p>
        </p:txBody>
      </p:sp>
    </p:spTree>
    <p:extLst>
      <p:ext uri="{BB962C8B-B14F-4D97-AF65-F5344CB8AC3E}">
        <p14:creationId xmlns:p14="http://schemas.microsoft.com/office/powerpoint/2010/main" val="2892366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2F060F5-E957-5C1B-52AD-38709FCDA932}"/>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Foregoing Short- Term Returns for Long- Term Dominance</a:t>
            </a:r>
            <a:endParaRPr lang="en-US" sz="3200" dirty="0"/>
          </a:p>
        </p:txBody>
      </p:sp>
      <p:sp>
        <p:nvSpPr>
          <p:cNvPr id="3" name="Symbol zastępczy zawartości 2">
            <a:extLst>
              <a:ext uri="{FF2B5EF4-FFF2-40B4-BE49-F238E27FC236}">
                <a16:creationId xmlns:a16="http://schemas.microsoft.com/office/drawing/2014/main" id="{9B402B06-9A8E-2D42-49B6-1A81F9B4A85E}"/>
              </a:ext>
            </a:extLst>
          </p:cNvPr>
          <p:cNvSpPr>
            <a:spLocks noGrp="1"/>
          </p:cNvSpPr>
          <p:nvPr>
            <p:ph idx="1"/>
          </p:nvPr>
        </p:nvSpPr>
        <p:spPr/>
        <p:txBody>
          <a:bodyPr/>
          <a:lstStyle/>
          <a:p>
            <a:r>
              <a:rPr lang="pl-PL" dirty="0">
                <a:solidFill>
                  <a:srgbClr val="002060"/>
                </a:solidFill>
                <a:effectLst>
                  <a:outerShdw blurRad="38100" dist="38100" dir="2700000" algn="tl">
                    <a:srgbClr val="000000">
                      <a:alpha val="43137"/>
                    </a:srgbClr>
                  </a:outerShdw>
                </a:effectLst>
              </a:rPr>
              <a:t>A </a:t>
            </a:r>
            <a:r>
              <a:rPr lang="en-US" dirty="0">
                <a:solidFill>
                  <a:srgbClr val="002060"/>
                </a:solidFill>
                <a:effectLst>
                  <a:outerShdw blurRad="38100" dist="38100" dir="2700000" algn="tl">
                    <a:srgbClr val="000000">
                      <a:alpha val="43137"/>
                    </a:srgbClr>
                  </a:outerShdw>
                </a:effectLst>
              </a:rPr>
              <a:t>key element of </a:t>
            </a:r>
            <a:r>
              <a:rPr lang="en-US" b="1" dirty="0">
                <a:solidFill>
                  <a:srgbClr val="FF0000"/>
                </a:solidFill>
                <a:effectLst>
                  <a:outerShdw blurRad="38100" dist="38100" dir="2700000" algn="tl">
                    <a:srgbClr val="000000">
                      <a:alpha val="43137"/>
                    </a:srgbClr>
                  </a:outerShdw>
                </a:effectLst>
              </a:rPr>
              <a:t>Amazon’s strategy </a:t>
            </a:r>
            <a:r>
              <a:rPr lang="en-US" dirty="0">
                <a:solidFill>
                  <a:srgbClr val="002060"/>
                </a:solidFill>
                <a:effectLst>
                  <a:outerShdw blurRad="38100" dist="38100" dir="2700000" algn="tl">
                    <a:srgbClr val="000000">
                      <a:alpha val="43137"/>
                    </a:srgbClr>
                  </a:outerShdw>
                </a:effectLst>
              </a:rPr>
              <a:t>has been </a:t>
            </a:r>
            <a:r>
              <a:rPr lang="en-US" b="1" dirty="0">
                <a:solidFill>
                  <a:srgbClr val="002060"/>
                </a:solidFill>
                <a:effectLst>
                  <a:outerShdw blurRad="38100" dist="38100" dir="2700000" algn="tl">
                    <a:srgbClr val="000000">
                      <a:alpha val="43137"/>
                    </a:srgbClr>
                  </a:outerShdw>
                </a:effectLst>
              </a:rPr>
              <a:t>to expand </a:t>
            </a:r>
            <a:r>
              <a:rPr lang="pl-PL" b="1" dirty="0">
                <a:solidFill>
                  <a:srgbClr val="002060"/>
                </a:solidFill>
                <a:effectLst>
                  <a:outerShdw blurRad="38100" dist="38100" dir="2700000" algn="tl">
                    <a:srgbClr val="000000">
                      <a:alpha val="43137"/>
                    </a:srgbClr>
                  </a:outerShdw>
                </a:effectLst>
              </a:rPr>
              <a:t>aggressiv</a:t>
            </a:r>
            <a:r>
              <a:rPr lang="pl-PL" dirty="0">
                <a:solidFill>
                  <a:srgbClr val="002060"/>
                </a:solidFill>
                <a:effectLst>
                  <a:outerShdw blurRad="38100" dist="38100" dir="2700000" algn="tl">
                    <a:srgbClr val="000000">
                      <a:alpha val="43137"/>
                    </a:srgbClr>
                  </a:outerShdw>
                </a:effectLst>
              </a:rPr>
              <a:t>ely</a:t>
            </a:r>
            <a:r>
              <a:rPr lang="en-US" dirty="0">
                <a:solidFill>
                  <a:srgbClr val="002060"/>
                </a:solidFill>
                <a:effectLst>
                  <a:outerShdw blurRad="38100" dist="38100" dir="2700000" algn="tl">
                    <a:srgbClr val="000000">
                      <a:alpha val="43137"/>
                    </a:srgbClr>
                  </a:outerShdw>
                </a:effectLst>
              </a:rPr>
              <a:t> into </a:t>
            </a:r>
            <a:r>
              <a:rPr lang="en-US" b="1" dirty="0">
                <a:solidFill>
                  <a:srgbClr val="FF0000"/>
                </a:solidFill>
                <a:effectLst>
                  <a:outerShdw blurRad="38100" dist="38100" dir="2700000" algn="tl">
                    <a:srgbClr val="000000">
                      <a:alpha val="43137"/>
                    </a:srgbClr>
                  </a:outerShdw>
                </a:effectLst>
              </a:rPr>
              <a:t>multiple business lines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b="1" dirty="0">
                <a:solidFill>
                  <a:srgbClr val="0070C0"/>
                </a:solidFill>
                <a:effectLst>
                  <a:outerShdw blurRad="38100" dist="38100" dir="2700000" algn="tl">
                    <a:srgbClr val="000000">
                      <a:alpha val="43137"/>
                    </a:srgbClr>
                  </a:outerShdw>
                </a:effectLst>
              </a:rPr>
              <a:t>In addition to being </a:t>
            </a:r>
            <a:r>
              <a:rPr lang="en-US" b="1" dirty="0">
                <a:solidFill>
                  <a:srgbClr val="FF0000"/>
                </a:solidFill>
                <a:effectLst>
                  <a:outerShdw blurRad="38100" dist="38100" dir="2700000" algn="tl">
                    <a:srgbClr val="000000">
                      <a:alpha val="43137"/>
                    </a:srgbClr>
                  </a:outerShdw>
                </a:effectLst>
                <a:highlight>
                  <a:srgbClr val="00FF00"/>
                </a:highlight>
              </a:rPr>
              <a:t>a retailer</a:t>
            </a:r>
            <a:r>
              <a:rPr lang="en-US" dirty="0">
                <a:solidFill>
                  <a:srgbClr val="002060"/>
                </a:solidFill>
                <a:effectLst>
                  <a:outerShdw blurRad="38100" dist="38100" dir="2700000" algn="tl">
                    <a:srgbClr val="000000">
                      <a:alpha val="43137"/>
                    </a:srgbClr>
                  </a:outerShdw>
                </a:effectLst>
              </a:rPr>
              <a:t>, Amazon </a:t>
            </a:r>
            <a:r>
              <a:rPr lang="en-US" b="1" dirty="0">
                <a:solidFill>
                  <a:srgbClr val="FF0000"/>
                </a:solidFill>
                <a:effectLst>
                  <a:outerShdw blurRad="38100" dist="38100" dir="2700000" algn="tl">
                    <a:srgbClr val="000000">
                      <a:alpha val="43137"/>
                    </a:srgbClr>
                  </a:outerShdw>
                </a:effectLst>
                <a:highlight>
                  <a:srgbClr val="00FF00"/>
                </a:highlight>
              </a:rPr>
              <a:t>is a</a:t>
            </a:r>
            <a:r>
              <a:rPr lang="en-US" dirty="0">
                <a:solidFill>
                  <a:srgbClr val="002060"/>
                </a:solidFill>
                <a:effectLst>
                  <a:outerShdw blurRad="38100" dist="38100" dir="2700000" algn="tl">
                    <a:srgbClr val="000000">
                      <a:alpha val="43137"/>
                    </a:srgbClr>
                  </a:outerShdw>
                </a:effectLst>
                <a:highlight>
                  <a:srgbClr val="FFFF00"/>
                </a:highlight>
              </a:rPr>
              <a:t> </a:t>
            </a:r>
            <a:r>
              <a:rPr lang="en-US" b="1" dirty="0">
                <a:solidFill>
                  <a:srgbClr val="FF0000"/>
                </a:solidFill>
                <a:effectLst>
                  <a:outerShdw blurRad="38100" dist="38100" dir="2700000" algn="tl">
                    <a:srgbClr val="000000">
                      <a:alpha val="43137"/>
                    </a:srgbClr>
                  </a:outerShdw>
                </a:effectLst>
                <a:highlight>
                  <a:srgbClr val="FFFF00"/>
                </a:highlight>
              </a:rPr>
              <a:t>marketing platform</a:t>
            </a:r>
            <a:r>
              <a:rPr lang="en-US" dirty="0">
                <a:solidFill>
                  <a:srgbClr val="002060"/>
                </a:solidFill>
                <a:effectLst>
                  <a:outerShdw blurRad="38100" dist="38100" dir="2700000" algn="tl">
                    <a:srgbClr val="000000">
                      <a:alpha val="43137"/>
                    </a:srgbClr>
                  </a:outerShdw>
                </a:effectLst>
              </a:rPr>
              <a:t>, a </a:t>
            </a:r>
            <a:r>
              <a:rPr lang="en-US" b="1" dirty="0">
                <a:solidFill>
                  <a:srgbClr val="FF0000"/>
                </a:solidFill>
                <a:effectLst>
                  <a:outerShdw blurRad="38100" dist="38100" dir="2700000" algn="tl">
                    <a:srgbClr val="000000">
                      <a:alpha val="43137"/>
                    </a:srgbClr>
                  </a:outerShdw>
                </a:effectLst>
                <a:highlight>
                  <a:srgbClr val="FFFF00"/>
                </a:highlight>
              </a:rPr>
              <a:t>delivery</a:t>
            </a:r>
            <a:r>
              <a:rPr lang="en-US" dirty="0">
                <a:solidFill>
                  <a:srgbClr val="002060"/>
                </a:solidFill>
                <a:effectLst>
                  <a:outerShdw blurRad="38100" dist="38100" dir="2700000" algn="tl">
                    <a:srgbClr val="000000">
                      <a:alpha val="43137"/>
                    </a:srgbClr>
                  </a:outerShdw>
                </a:effectLst>
              </a:rPr>
              <a:t> and </a:t>
            </a:r>
            <a:r>
              <a:rPr lang="en-US" b="1" dirty="0">
                <a:solidFill>
                  <a:srgbClr val="FF0000"/>
                </a:solidFill>
                <a:effectLst>
                  <a:outerShdw blurRad="38100" dist="38100" dir="2700000" algn="tl">
                    <a:srgbClr val="000000">
                      <a:alpha val="43137"/>
                    </a:srgbClr>
                  </a:outerShdw>
                </a:effectLst>
              </a:rPr>
              <a:t>logistics network</a:t>
            </a:r>
            <a:r>
              <a:rPr lang="en-US" dirty="0">
                <a:solidFill>
                  <a:srgbClr val="002060"/>
                </a:solidFill>
                <a:effectLst>
                  <a:outerShdw blurRad="38100" dist="38100" dir="2700000" algn="tl">
                    <a:srgbClr val="000000">
                      <a:alpha val="43137"/>
                    </a:srgbClr>
                  </a:outerShdw>
                </a:effectLst>
              </a:rPr>
              <a:t>, a </a:t>
            </a:r>
            <a:r>
              <a:rPr lang="en-US" b="1" dirty="0">
                <a:solidFill>
                  <a:srgbClr val="FF0000"/>
                </a:solidFill>
                <a:effectLst>
                  <a:outerShdw blurRad="38100" dist="38100" dir="2700000" algn="tl">
                    <a:srgbClr val="000000">
                      <a:alpha val="43137"/>
                    </a:srgbClr>
                  </a:outerShdw>
                </a:effectLst>
                <a:highlight>
                  <a:srgbClr val="FFFF00"/>
                </a:highlight>
              </a:rPr>
              <a:t>payment service</a:t>
            </a:r>
            <a:r>
              <a:rPr lang="en-US" dirty="0">
                <a:solidFill>
                  <a:srgbClr val="002060"/>
                </a:solidFill>
                <a:effectLst>
                  <a:outerShdw blurRad="38100" dist="38100" dir="2700000" algn="tl">
                    <a:srgbClr val="000000">
                      <a:alpha val="43137"/>
                    </a:srgbClr>
                  </a:outerShdw>
                </a:effectLst>
              </a:rPr>
              <a:t>, a </a:t>
            </a:r>
            <a:r>
              <a:rPr lang="en-US" b="1" dirty="0">
                <a:solidFill>
                  <a:srgbClr val="FF0000"/>
                </a:solidFill>
                <a:effectLst>
                  <a:outerShdw blurRad="38100" dist="38100" dir="2700000" algn="tl">
                    <a:srgbClr val="000000">
                      <a:alpha val="43137"/>
                    </a:srgbClr>
                  </a:outerShdw>
                </a:effectLst>
              </a:rPr>
              <a:t>credit lender</a:t>
            </a:r>
            <a:r>
              <a:rPr lang="en-US" dirty="0">
                <a:solidFill>
                  <a:srgbClr val="002060"/>
                </a:solidFill>
                <a:effectLst>
                  <a:outerShdw blurRad="38100" dist="38100" dir="2700000" algn="tl">
                    <a:srgbClr val="000000">
                      <a:alpha val="43137"/>
                    </a:srgbClr>
                  </a:outerShdw>
                </a:effectLst>
              </a:rPr>
              <a:t>, an </a:t>
            </a:r>
            <a:r>
              <a:rPr lang="en-US" b="1" dirty="0">
                <a:solidFill>
                  <a:srgbClr val="FF0000"/>
                </a:solidFill>
                <a:effectLst>
                  <a:outerShdw blurRad="38100" dist="38100" dir="2700000" algn="tl">
                    <a:srgbClr val="000000">
                      <a:alpha val="43137"/>
                    </a:srgbClr>
                  </a:outerShdw>
                </a:effectLst>
              </a:rPr>
              <a:t>auction house</a:t>
            </a:r>
            <a:r>
              <a:rPr lang="en-US" dirty="0">
                <a:solidFill>
                  <a:srgbClr val="002060"/>
                </a:solidFill>
                <a:effectLst>
                  <a:outerShdw blurRad="38100" dist="38100" dir="2700000" algn="tl">
                    <a:srgbClr val="000000">
                      <a:alpha val="43137"/>
                    </a:srgbClr>
                  </a:outerShdw>
                </a:effectLst>
              </a:rPr>
              <a:t>, a </a:t>
            </a:r>
            <a:r>
              <a:rPr lang="en-US" b="1" dirty="0">
                <a:solidFill>
                  <a:srgbClr val="FF0000"/>
                </a:solidFill>
                <a:effectLst>
                  <a:outerShdw blurRad="38100" dist="38100" dir="2700000" algn="tl">
                    <a:srgbClr val="000000">
                      <a:alpha val="43137"/>
                    </a:srgbClr>
                  </a:outerShdw>
                </a:effectLst>
                <a:highlight>
                  <a:srgbClr val="FFFF00"/>
                </a:highlight>
              </a:rPr>
              <a:t>book publisher</a:t>
            </a:r>
            <a:r>
              <a:rPr lang="en-US" dirty="0">
                <a:solidFill>
                  <a:srgbClr val="002060"/>
                </a:solidFill>
                <a:effectLst>
                  <a:outerShdw blurRad="38100" dist="38100" dir="2700000" algn="tl">
                    <a:srgbClr val="000000">
                      <a:alpha val="43137"/>
                    </a:srgbClr>
                  </a:outerShdw>
                </a:effectLst>
              </a:rPr>
              <a:t>, a </a:t>
            </a:r>
            <a:r>
              <a:rPr lang="en-US" b="1" dirty="0">
                <a:solidFill>
                  <a:srgbClr val="FF0000"/>
                </a:solidFill>
                <a:effectLst>
                  <a:outerShdw blurRad="38100" dist="38100" dir="2700000" algn="tl">
                    <a:srgbClr val="000000">
                      <a:alpha val="43137"/>
                    </a:srgbClr>
                  </a:outerShdw>
                </a:effectLst>
              </a:rPr>
              <a:t>producer of </a:t>
            </a:r>
            <a:r>
              <a:rPr lang="en-US" b="1" dirty="0">
                <a:solidFill>
                  <a:srgbClr val="FF0000"/>
                </a:solidFill>
                <a:effectLst>
                  <a:outerShdw blurRad="38100" dist="38100" dir="2700000" algn="tl">
                    <a:srgbClr val="000000">
                      <a:alpha val="43137"/>
                    </a:srgbClr>
                  </a:outerShdw>
                </a:effectLst>
                <a:highlight>
                  <a:srgbClr val="FFFF00"/>
                </a:highlight>
              </a:rPr>
              <a:t>television and films</a:t>
            </a:r>
            <a:r>
              <a:rPr lang="en-US" dirty="0">
                <a:solidFill>
                  <a:srgbClr val="002060"/>
                </a:solidFill>
                <a:effectLst>
                  <a:outerShdw blurRad="38100" dist="38100" dir="2700000" algn="tl">
                    <a:srgbClr val="000000">
                      <a:alpha val="43137"/>
                    </a:srgbClr>
                  </a:outerShdw>
                </a:effectLst>
              </a:rPr>
              <a:t>, a </a:t>
            </a:r>
            <a:r>
              <a:rPr lang="en-US" b="1" dirty="0">
                <a:solidFill>
                  <a:srgbClr val="FF0000"/>
                </a:solidFill>
                <a:effectLst>
                  <a:outerShdw blurRad="38100" dist="38100" dir="2700000" algn="tl">
                    <a:srgbClr val="000000">
                      <a:alpha val="43137"/>
                    </a:srgbClr>
                  </a:outerShdw>
                </a:effectLst>
                <a:highlight>
                  <a:srgbClr val="FFFF00"/>
                </a:highlight>
              </a:rPr>
              <a:t>fashion designer</a:t>
            </a:r>
            <a:r>
              <a:rPr lang="en-US" dirty="0">
                <a:solidFill>
                  <a:srgbClr val="002060"/>
                </a:solidFill>
                <a:effectLst>
                  <a:outerShdw blurRad="38100" dist="38100" dir="2700000" algn="tl">
                    <a:srgbClr val="000000">
                      <a:alpha val="43137"/>
                    </a:srgbClr>
                  </a:outerShdw>
                </a:effectLst>
              </a:rPr>
              <a:t>, a </a:t>
            </a:r>
            <a:r>
              <a:rPr lang="en-US" b="1" dirty="0">
                <a:solidFill>
                  <a:srgbClr val="FF0000"/>
                </a:solidFill>
                <a:effectLst>
                  <a:outerShdw blurRad="38100" dist="38100" dir="2700000" algn="tl">
                    <a:srgbClr val="000000">
                      <a:alpha val="43137"/>
                    </a:srgbClr>
                  </a:outerShdw>
                </a:effectLst>
              </a:rPr>
              <a:t>hardware </a:t>
            </a:r>
            <a:r>
              <a:rPr lang="en-US" dirty="0">
                <a:solidFill>
                  <a:srgbClr val="002060"/>
                </a:solidFill>
                <a:effectLst>
                  <a:outerShdw blurRad="38100" dist="38100" dir="2700000" algn="tl">
                    <a:srgbClr val="000000">
                      <a:alpha val="43137"/>
                    </a:srgbClr>
                  </a:outerShdw>
                </a:effectLst>
              </a:rPr>
              <a:t>manufacturer, and a leading provider of </a:t>
            </a:r>
            <a:r>
              <a:rPr lang="en-US" b="1" dirty="0">
                <a:solidFill>
                  <a:srgbClr val="FF0000"/>
                </a:solidFill>
                <a:effectLst>
                  <a:outerShdw blurRad="38100" dist="38100" dir="2700000" algn="tl">
                    <a:srgbClr val="000000">
                      <a:alpha val="43137"/>
                    </a:srgbClr>
                  </a:outerShdw>
                </a:effectLst>
                <a:highlight>
                  <a:srgbClr val="FFFF00"/>
                </a:highlight>
              </a:rPr>
              <a:t>cloud server space</a:t>
            </a:r>
            <a:r>
              <a:rPr lang="en-US" dirty="0">
                <a:solidFill>
                  <a:srgbClr val="002060"/>
                </a:solidFill>
                <a:effectLst>
                  <a:outerShdw blurRad="38100" dist="38100" dir="2700000" algn="tl">
                    <a:srgbClr val="000000">
                      <a:alpha val="43137"/>
                    </a:srgbClr>
                  </a:outerShdw>
                </a:effectLst>
                <a:highlight>
                  <a:srgbClr val="FFFF00"/>
                </a:highlight>
              </a:rPr>
              <a:t> </a:t>
            </a:r>
            <a:r>
              <a:rPr lang="en-US" dirty="0">
                <a:solidFill>
                  <a:srgbClr val="002060"/>
                </a:solidFill>
                <a:effectLst>
                  <a:outerShdw blurRad="38100" dist="38100" dir="2700000" algn="tl">
                    <a:srgbClr val="000000">
                      <a:alpha val="43137"/>
                    </a:srgbClr>
                  </a:outerShdw>
                </a:effectLst>
              </a:rPr>
              <a:t>and </a:t>
            </a:r>
            <a:r>
              <a:rPr lang="en-US" b="1" dirty="0">
                <a:solidFill>
                  <a:srgbClr val="FF0000"/>
                </a:solidFill>
                <a:effectLst>
                  <a:outerShdw blurRad="38100" dist="38100" dir="2700000" algn="tl">
                    <a:srgbClr val="000000">
                      <a:alpha val="43137"/>
                    </a:srgbClr>
                  </a:outerShdw>
                </a:effectLst>
              </a:rPr>
              <a:t>computing power</a:t>
            </a:r>
            <a:r>
              <a:rPr lang="pl-PL" b="1"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expanded into these areas by </a:t>
            </a:r>
            <a:r>
              <a:rPr lang="en-US" b="1" dirty="0">
                <a:solidFill>
                  <a:srgbClr val="002060"/>
                </a:solidFill>
                <a:effectLst>
                  <a:outerShdw blurRad="38100" dist="38100" dir="2700000" algn="tl">
                    <a:srgbClr val="000000">
                      <a:alpha val="43137"/>
                    </a:srgbClr>
                  </a:outerShdw>
                </a:effectLst>
              </a:rPr>
              <a:t>acquiring existing firms</a:t>
            </a:r>
            <a:r>
              <a:rPr lang="en-US" dirty="0"/>
              <a:t>.</a:t>
            </a:r>
          </a:p>
        </p:txBody>
      </p:sp>
    </p:spTree>
    <p:extLst>
      <p:ext uri="{BB962C8B-B14F-4D97-AF65-F5344CB8AC3E}">
        <p14:creationId xmlns:p14="http://schemas.microsoft.com/office/powerpoint/2010/main" val="283687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C478005-3DCE-4ECE-A1E9-7C13511EF0C1}"/>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Foregoing Short- Term Returns for Long- Term Dominance</a:t>
            </a:r>
            <a:endParaRPr lang="en-US" sz="3200" dirty="0"/>
          </a:p>
        </p:txBody>
      </p:sp>
      <p:sp>
        <p:nvSpPr>
          <p:cNvPr id="3" name="Symbol zastępczy zawartości 2">
            <a:extLst>
              <a:ext uri="{FF2B5EF4-FFF2-40B4-BE49-F238E27FC236}">
                <a16:creationId xmlns:a16="http://schemas.microsoft.com/office/drawing/2014/main" id="{718ECB72-EFEF-8A8B-477E-7D566031BAF0}"/>
              </a:ext>
            </a:extLst>
          </p:cNvPr>
          <p:cNvSpPr>
            <a:spLocks noGrp="1"/>
          </p:cNvSpPr>
          <p:nvPr>
            <p:ph idx="1"/>
          </p:nvPr>
        </p:nvSpPr>
        <p:spPr/>
        <p:txBody>
          <a:bodyPr>
            <a:normAutofit fontScale="77500" lnSpcReduction="20000"/>
          </a:bodyPr>
          <a:lstStyle/>
          <a:p>
            <a:r>
              <a:rPr lang="en-US" b="1" dirty="0">
                <a:solidFill>
                  <a:srgbClr val="002060"/>
                </a:solidFill>
                <a:effectLst>
                  <a:outerShdw blurRad="38100" dist="38100" dir="2700000" algn="tl">
                    <a:srgbClr val="000000">
                      <a:alpha val="43137"/>
                    </a:srgbClr>
                  </a:outerShdw>
                </a:effectLst>
              </a:rPr>
              <a:t>Involvement in multiple, related business lines </a:t>
            </a:r>
            <a:r>
              <a:rPr lang="en-US" dirty="0">
                <a:solidFill>
                  <a:srgbClr val="002060"/>
                </a:solidFill>
                <a:effectLst>
                  <a:outerShdw blurRad="38100" dist="38100" dir="2700000" algn="tl">
                    <a:srgbClr val="000000">
                      <a:alpha val="43137"/>
                    </a:srgbClr>
                  </a:outerShdw>
                </a:effectLst>
              </a:rPr>
              <a:t>means that, in many instances, </a:t>
            </a:r>
            <a:r>
              <a:rPr lang="en-US" b="1" dirty="0">
                <a:solidFill>
                  <a:srgbClr val="FF0000"/>
                </a:solidFill>
                <a:effectLst>
                  <a:outerShdw blurRad="38100" dist="38100" dir="2700000" algn="tl">
                    <a:srgbClr val="000000">
                      <a:alpha val="43137"/>
                    </a:srgbClr>
                  </a:outerShdw>
                </a:effectLst>
              </a:rPr>
              <a:t>Amazon’s </a:t>
            </a:r>
            <a:r>
              <a:rPr lang="en-US" b="1" dirty="0">
                <a:solidFill>
                  <a:srgbClr val="FF0000"/>
                </a:solidFill>
                <a:effectLst>
                  <a:outerShdw blurRad="38100" dist="38100" dir="2700000" algn="tl">
                    <a:srgbClr val="000000">
                      <a:alpha val="43137"/>
                    </a:srgbClr>
                  </a:outerShdw>
                </a:effectLst>
                <a:highlight>
                  <a:srgbClr val="00FF00"/>
                </a:highlight>
              </a:rPr>
              <a:t>rivals are also its customers</a:t>
            </a:r>
            <a:r>
              <a:rPr lang="en-US" dirty="0">
                <a:solidFill>
                  <a:srgbClr val="002060"/>
                </a:solidFill>
                <a:effectLst>
                  <a:outerShdw blurRad="38100" dist="38100" dir="2700000" algn="tl">
                    <a:srgbClr val="000000">
                      <a:alpha val="43137"/>
                    </a:srgbClr>
                  </a:outerShdw>
                </a:effectLst>
                <a:highlight>
                  <a:srgbClr val="00FF00"/>
                </a:highlight>
              </a:rPr>
              <a:t>. </a:t>
            </a:r>
            <a:endParaRPr lang="pl-PL" dirty="0">
              <a:solidFill>
                <a:srgbClr val="002060"/>
              </a:solidFill>
              <a:effectLst>
                <a:outerShdw blurRad="38100" dist="38100" dir="2700000" algn="tl">
                  <a:srgbClr val="000000">
                    <a:alpha val="43137"/>
                  </a:srgbClr>
                </a:outerShdw>
              </a:effectLst>
              <a:highlight>
                <a:srgbClr val="00FF00"/>
              </a:highlight>
            </a:endParaRPr>
          </a:p>
          <a:p>
            <a:r>
              <a:rPr lang="en-US" dirty="0">
                <a:solidFill>
                  <a:srgbClr val="002060"/>
                </a:solidFill>
                <a:effectLst>
                  <a:outerShdw blurRad="38100" dist="38100" dir="2700000" algn="tl">
                    <a:srgbClr val="000000">
                      <a:alpha val="43137"/>
                    </a:srgbClr>
                  </a:outerShdw>
                </a:effectLst>
              </a:rPr>
              <a:t>The retailers that </a:t>
            </a:r>
            <a:r>
              <a:rPr lang="pl-PL" dirty="0">
                <a:solidFill>
                  <a:srgbClr val="002060"/>
                </a:solidFill>
                <a:effectLst>
                  <a:outerShdw blurRad="38100" dist="38100" dir="2700000" algn="tl">
                    <a:srgbClr val="000000">
                      <a:alpha val="43137"/>
                    </a:srgbClr>
                  </a:outerShdw>
                </a:effectLst>
              </a:rPr>
              <a:t>compete</a:t>
            </a:r>
            <a:r>
              <a:rPr lang="en-US" dirty="0">
                <a:solidFill>
                  <a:srgbClr val="002060"/>
                </a:solidFill>
                <a:effectLst>
                  <a:outerShdw blurRad="38100" dist="38100" dir="2700000" algn="tl">
                    <a:srgbClr val="000000">
                      <a:alpha val="43137"/>
                    </a:srgbClr>
                  </a:outerShdw>
                </a:effectLst>
              </a:rPr>
              <a:t> with it to sell goods </a:t>
            </a:r>
            <a:r>
              <a:rPr lang="en-US" b="1" dirty="0">
                <a:solidFill>
                  <a:srgbClr val="002060"/>
                </a:solidFill>
                <a:effectLst>
                  <a:outerShdw blurRad="38100" dist="38100" dir="2700000" algn="tl">
                    <a:srgbClr val="000000">
                      <a:alpha val="43137"/>
                    </a:srgbClr>
                  </a:outerShdw>
                </a:effectLst>
              </a:rPr>
              <a:t>may also use its delivery services</a:t>
            </a:r>
            <a:r>
              <a:rPr lang="en-US" dirty="0">
                <a:solidFill>
                  <a:srgbClr val="002060"/>
                </a:solidFill>
                <a:effectLst>
                  <a:outerShdw blurRad="38100" dist="38100" dir="2700000" algn="tl">
                    <a:srgbClr val="000000">
                      <a:alpha val="43137"/>
                    </a:srgbClr>
                  </a:outerShdw>
                </a:effectLst>
              </a:rPr>
              <a:t>, and the media companies that compete with it to produce or market content may also use its platform or cloud infrastructure.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a:t>
            </a:r>
            <a:r>
              <a:rPr lang="en-US" dirty="0">
                <a:solidFill>
                  <a:srgbClr val="002060"/>
                </a:solidFill>
                <a:effectLst>
                  <a:outerShdw blurRad="38100" dist="38100" dir="2700000" algn="tl">
                    <a:srgbClr val="000000">
                      <a:alpha val="43137"/>
                    </a:srgbClr>
                  </a:outerShdw>
                </a:effectLst>
              </a:rPr>
              <a:t>his arrangement </a:t>
            </a:r>
            <a:r>
              <a:rPr lang="en-US" b="1" dirty="0">
                <a:solidFill>
                  <a:srgbClr val="FF0000"/>
                </a:solidFill>
                <a:effectLst>
                  <a:outerShdw blurRad="38100" dist="38100" dir="2700000" algn="tl">
                    <a:srgbClr val="000000">
                      <a:alpha val="43137"/>
                    </a:srgbClr>
                  </a:outerShdw>
                </a:effectLst>
              </a:rPr>
              <a:t>creates </a:t>
            </a:r>
            <a:r>
              <a:rPr lang="en-US" b="1" dirty="0">
                <a:solidFill>
                  <a:srgbClr val="FF0000"/>
                </a:solidFill>
                <a:effectLst>
                  <a:outerShdw blurRad="38100" dist="38100" dir="2700000" algn="tl">
                    <a:srgbClr val="000000">
                      <a:alpha val="43137"/>
                    </a:srgbClr>
                  </a:outerShdw>
                </a:effectLst>
                <a:highlight>
                  <a:srgbClr val="FFFF00"/>
                </a:highlight>
              </a:rPr>
              <a:t>conflicts of interest</a:t>
            </a:r>
            <a:r>
              <a:rPr lang="pl-PL"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Amazon is </a:t>
            </a:r>
            <a:r>
              <a:rPr lang="en-US" b="1" dirty="0">
                <a:solidFill>
                  <a:srgbClr val="FF0000"/>
                </a:solidFill>
                <a:effectLst>
                  <a:outerShdw blurRad="38100" dist="38100" dir="2700000" algn="tl">
                    <a:srgbClr val="000000">
                      <a:alpha val="43137"/>
                    </a:srgbClr>
                  </a:outerShdw>
                </a:effectLst>
              </a:rPr>
              <a:t>positioned to favor its own products over competitors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Critically, </a:t>
            </a:r>
            <a:r>
              <a:rPr lang="en-US" b="1" dirty="0">
                <a:solidFill>
                  <a:srgbClr val="002060"/>
                </a:solidFill>
                <a:effectLst>
                  <a:outerShdw blurRad="38100" dist="38100" dir="2700000" algn="tl">
                    <a:srgbClr val="000000">
                      <a:alpha val="43137"/>
                    </a:srgbClr>
                  </a:outerShdw>
                </a:effectLst>
              </a:rPr>
              <a:t>not only </a:t>
            </a:r>
            <a:r>
              <a:rPr lang="en-US" dirty="0">
                <a:solidFill>
                  <a:srgbClr val="002060"/>
                </a:solidFill>
                <a:effectLst>
                  <a:outerShdw blurRad="38100" dist="38100" dir="2700000" algn="tl">
                    <a:srgbClr val="000000">
                      <a:alpha val="43137"/>
                    </a:srgbClr>
                  </a:outerShdw>
                </a:effectLst>
              </a:rPr>
              <a:t>has Amazon </a:t>
            </a:r>
            <a:r>
              <a:rPr lang="en-US" b="1" dirty="0">
                <a:solidFill>
                  <a:srgbClr val="0070C0"/>
                </a:solidFill>
                <a:effectLst>
                  <a:outerShdw blurRad="38100" dist="38100" dir="2700000" algn="tl">
                    <a:srgbClr val="000000">
                      <a:alpha val="43137"/>
                    </a:srgbClr>
                  </a:outerShdw>
                </a:effectLst>
              </a:rPr>
              <a:t>integrated across select lines of business</a:t>
            </a:r>
            <a:r>
              <a:rPr lang="pl-PL" dirty="0">
                <a:solidFill>
                  <a:srgbClr val="002060"/>
                </a:solidFill>
                <a:effectLst>
                  <a:outerShdw blurRad="38100" dist="38100" dir="2700000" algn="tl">
                    <a:srgbClr val="000000">
                      <a:alpha val="43137"/>
                    </a:srgbClr>
                  </a:outerShdw>
                </a:effectLst>
              </a:rPr>
              <a:t>, but it has also </a:t>
            </a:r>
            <a:r>
              <a:rPr lang="pl-PL" b="1" dirty="0">
                <a:solidFill>
                  <a:srgbClr val="FF0000"/>
                </a:solidFill>
                <a:effectLst>
                  <a:outerShdw blurRad="38100" dist="38100" dir="2700000" algn="tl">
                    <a:srgbClr val="000000">
                      <a:alpha val="43137"/>
                    </a:srgbClr>
                  </a:outerShdw>
                </a:effectLst>
              </a:rPr>
              <a:t>emerged as a </a:t>
            </a:r>
            <a:r>
              <a:rPr lang="en-US" b="1" dirty="0">
                <a:solidFill>
                  <a:srgbClr val="FF0000"/>
                </a:solidFill>
                <a:effectLst>
                  <a:outerShdw blurRad="38100" dist="38100" dir="2700000" algn="tl">
                    <a:srgbClr val="000000">
                      <a:alpha val="43137"/>
                    </a:srgbClr>
                  </a:outerShdw>
                </a:effectLst>
                <a:highlight>
                  <a:srgbClr val="FFFF00"/>
                </a:highlight>
              </a:rPr>
              <a:t>central infrastructure </a:t>
            </a:r>
            <a:r>
              <a:rPr lang="en-US" dirty="0">
                <a:solidFill>
                  <a:srgbClr val="002060"/>
                </a:solidFill>
                <a:effectLst>
                  <a:outerShdw blurRad="38100" dist="38100" dir="2700000" algn="tl">
                    <a:srgbClr val="000000">
                      <a:alpha val="43137"/>
                    </a:srgbClr>
                  </a:outerShdw>
                </a:effectLst>
              </a:rPr>
              <a:t>for the Internet economy.</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P</a:t>
            </a:r>
            <a:r>
              <a:rPr lang="en-US" dirty="0">
                <a:solidFill>
                  <a:srgbClr val="002060"/>
                </a:solidFill>
                <a:effectLst>
                  <a:outerShdw blurRad="38100" dist="38100" dir="2700000" algn="tl">
                    <a:srgbClr val="000000">
                      <a:alpha val="43137"/>
                    </a:srgbClr>
                  </a:outerShdw>
                </a:effectLst>
              </a:rPr>
              <a:t>art of Bezos’s vision from the start. According to early Amazon employees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“his </a:t>
            </a:r>
            <a:r>
              <a:rPr lang="pl-PL" dirty="0">
                <a:solidFill>
                  <a:srgbClr val="002060"/>
                </a:solidFill>
                <a:effectLst>
                  <a:outerShdw blurRad="38100" dist="38100" dir="2700000" algn="tl">
                    <a:srgbClr val="000000">
                      <a:alpha val="43137"/>
                    </a:srgbClr>
                  </a:outerShdw>
                </a:effectLst>
              </a:rPr>
              <a:t>underlying</a:t>
            </a:r>
            <a:r>
              <a:rPr lang="en-US" dirty="0">
                <a:solidFill>
                  <a:srgbClr val="002060"/>
                </a:solidFill>
                <a:effectLst>
                  <a:outerShdw blurRad="38100" dist="38100" dir="2700000" algn="tl">
                    <a:srgbClr val="000000">
                      <a:alpha val="43137"/>
                    </a:srgbClr>
                  </a:outerShdw>
                </a:effectLst>
              </a:rPr>
              <a:t> goals were </a:t>
            </a:r>
            <a:r>
              <a:rPr lang="en-US" b="1" dirty="0">
                <a:solidFill>
                  <a:srgbClr val="002060"/>
                </a:solidFill>
                <a:effectLst>
                  <a:outerShdw blurRad="38100" dist="38100" dir="2700000" algn="tl">
                    <a:srgbClr val="000000">
                      <a:alpha val="43137"/>
                    </a:srgbClr>
                  </a:outerShdw>
                </a:effectLst>
              </a:rPr>
              <a:t>not to build an online bookstore </a:t>
            </a:r>
            <a:r>
              <a:rPr lang="en-US" dirty="0">
                <a:solidFill>
                  <a:srgbClr val="002060"/>
                </a:solidFill>
                <a:effectLst>
                  <a:outerShdw blurRad="38100" dist="38100" dir="2700000" algn="tl">
                    <a:srgbClr val="000000">
                      <a:alpha val="43137"/>
                    </a:srgbClr>
                  </a:outerShdw>
                </a:effectLst>
              </a:rPr>
              <a:t>or an online retailer, but </a:t>
            </a:r>
            <a:r>
              <a:rPr lang="en-US" b="1" dirty="0">
                <a:solidFill>
                  <a:srgbClr val="FF0000"/>
                </a:solidFill>
                <a:effectLst>
                  <a:outerShdw blurRad="38100" dist="38100" dir="2700000" algn="tl">
                    <a:srgbClr val="000000">
                      <a:alpha val="43137"/>
                    </a:srgbClr>
                  </a:outerShdw>
                </a:effectLst>
              </a:rPr>
              <a:t>rather </a:t>
            </a:r>
            <a:r>
              <a:rPr lang="en-US" b="1" dirty="0">
                <a:solidFill>
                  <a:srgbClr val="FF0000"/>
                </a:solidFill>
                <a:effectLst>
                  <a:outerShdw blurRad="38100" dist="38100" dir="2700000" algn="tl">
                    <a:srgbClr val="000000">
                      <a:alpha val="43137"/>
                    </a:srgbClr>
                  </a:outerShdw>
                </a:effectLst>
                <a:highlight>
                  <a:srgbClr val="FFFF00"/>
                </a:highlight>
              </a:rPr>
              <a:t>a ‘utility</a:t>
            </a:r>
            <a:r>
              <a:rPr lang="en-US" b="1" dirty="0">
                <a:solidFill>
                  <a:srgbClr val="FF0000"/>
                </a:solidFill>
                <a:effectLst>
                  <a:outerShdw blurRad="38100" dist="38100" dir="2700000" algn="tl">
                    <a:srgbClr val="000000">
                      <a:alpha val="43137"/>
                    </a:srgbClr>
                  </a:outerShdw>
                </a:effectLst>
              </a:rPr>
              <a:t>’ that would become essential to commerce</a:t>
            </a: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His</a:t>
            </a:r>
            <a:r>
              <a:rPr lang="en-US" dirty="0">
                <a:solidFill>
                  <a:srgbClr val="002060"/>
                </a:solidFill>
                <a:effectLst>
                  <a:outerShdw blurRad="38100" dist="38100" dir="2700000" algn="tl">
                    <a:srgbClr val="000000">
                      <a:alpha val="43137"/>
                    </a:srgbClr>
                  </a:outerShdw>
                </a:effectLst>
              </a:rPr>
              <a:t> target </a:t>
            </a:r>
            <a:r>
              <a:rPr lang="pl-PL" dirty="0">
                <a:solidFill>
                  <a:srgbClr val="002060"/>
                </a:solidFill>
                <a:effectLst>
                  <a:outerShdw blurRad="38100" dist="38100" dir="2700000" algn="tl">
                    <a:srgbClr val="000000">
                      <a:alpha val="43137"/>
                    </a:srgbClr>
                  </a:outerShdw>
                </a:effectLst>
              </a:rPr>
              <a:t>customers were not only end consumers</a:t>
            </a:r>
            <a:r>
              <a:rPr lang="en-US" b="1" dirty="0">
                <a:solidFill>
                  <a:srgbClr val="002060"/>
                </a:solidFill>
                <a:effectLst>
                  <a:outerShdw blurRad="38100" dist="38100" dir="2700000" algn="tl">
                    <a:srgbClr val="000000">
                      <a:alpha val="43137"/>
                    </a:srgbClr>
                  </a:outerShdw>
                </a:effectLst>
              </a:rPr>
              <a:t> but also other businesses</a:t>
            </a:r>
            <a:r>
              <a:rPr lang="en-US" dirty="0">
                <a:solidFill>
                  <a:srgbClr val="00206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624604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60E9B81-845F-59F5-0883-B59BAAF80851}"/>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Foregoing Short- Term Returns for Long- Term Dominance</a:t>
            </a:r>
            <a:endParaRPr lang="en-US" sz="3200" dirty="0"/>
          </a:p>
        </p:txBody>
      </p:sp>
      <p:sp>
        <p:nvSpPr>
          <p:cNvPr id="3" name="Symbol zastępczy zawartości 2">
            <a:extLst>
              <a:ext uri="{FF2B5EF4-FFF2-40B4-BE49-F238E27FC236}">
                <a16:creationId xmlns:a16="http://schemas.microsoft.com/office/drawing/2014/main" id="{294191C7-A68F-5B92-CA1C-C78CE2615F8F}"/>
              </a:ext>
            </a:extLst>
          </p:cNvPr>
          <p:cNvSpPr>
            <a:spLocks noGrp="1"/>
          </p:cNvSpPr>
          <p:nvPr>
            <p:ph idx="1"/>
          </p:nvPr>
        </p:nvSpPr>
        <p:spPr/>
        <p:txBody>
          <a:bodyPr>
            <a:normAutofit fontScale="92500" lnSpcReduction="20000"/>
          </a:bodyPr>
          <a:lstStyle/>
          <a:p>
            <a:r>
              <a:rPr lang="pl-PL" dirty="0">
                <a:solidFill>
                  <a:srgbClr val="00206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difficult for new entrants </a:t>
            </a:r>
            <a:r>
              <a:rPr lang="en-US" dirty="0">
                <a:solidFill>
                  <a:srgbClr val="002060"/>
                </a:solidFill>
                <a:effectLst>
                  <a:outerShdw blurRad="38100" dist="38100" dir="2700000" algn="tl">
                    <a:srgbClr val="000000">
                      <a:alpha val="43137"/>
                    </a:srgbClr>
                  </a:outerShdw>
                </a:effectLst>
              </a:rPr>
              <a:t>to </a:t>
            </a:r>
            <a:r>
              <a:rPr lang="en-US" b="1" dirty="0">
                <a:solidFill>
                  <a:srgbClr val="002060"/>
                </a:solidFill>
                <a:effectLst>
                  <a:outerShdw blurRad="38100" dist="38100" dir="2700000" algn="tl">
                    <a:srgbClr val="000000">
                      <a:alpha val="43137"/>
                    </a:srgbClr>
                  </a:outerShdw>
                </a:effectLst>
              </a:rPr>
              <a:t>replicate or compete </a:t>
            </a:r>
            <a:r>
              <a:rPr lang="en-US" dirty="0">
                <a:solidFill>
                  <a:srgbClr val="002060"/>
                </a:solidFill>
                <a:effectLst>
                  <a:outerShdw blurRad="38100" dist="38100" dir="2700000" algn="tl">
                    <a:srgbClr val="000000">
                      <a:alpha val="43137"/>
                    </a:srgbClr>
                  </a:outerShdw>
                </a:effectLst>
              </a:rPr>
              <a:t>against.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This</a:t>
            </a:r>
            <a:r>
              <a:rPr lang="en-US" dirty="0">
                <a:solidFill>
                  <a:srgbClr val="002060"/>
                </a:solidFill>
                <a:effectLst>
                  <a:outerShdw blurRad="38100" dist="38100" dir="2700000" algn="tl">
                    <a:srgbClr val="000000">
                      <a:alpha val="43137"/>
                    </a:srgbClr>
                  </a:outerShdw>
                </a:effectLst>
              </a:rPr>
              <a:t> gives the company a </a:t>
            </a:r>
            <a:r>
              <a:rPr lang="en-US" b="1" dirty="0">
                <a:solidFill>
                  <a:srgbClr val="FF0000"/>
                </a:solidFill>
                <a:effectLst>
                  <a:outerShdw blurRad="38100" dist="38100" dir="2700000" algn="tl">
                    <a:srgbClr val="000000">
                      <a:alpha val="43137"/>
                    </a:srgbClr>
                  </a:outerShdw>
                </a:effectLst>
                <a:highlight>
                  <a:srgbClr val="FFFF00"/>
                </a:highlight>
              </a:rPr>
              <a:t>key advantage over its rivals</a:t>
            </a:r>
            <a:r>
              <a:rPr lang="en-US" dirty="0">
                <a:solidFill>
                  <a:srgbClr val="002060"/>
                </a:solidFill>
                <a:effectLst>
                  <a:outerShdw blurRad="38100" dist="38100" dir="2700000" algn="tl">
                    <a:srgbClr val="000000">
                      <a:alpha val="43137"/>
                    </a:srgbClr>
                  </a:outerShdw>
                </a:effectLst>
              </a:rPr>
              <a:t>: Amazon’s </a:t>
            </a:r>
            <a:r>
              <a:rPr lang="en-US" b="1" dirty="0">
                <a:solidFill>
                  <a:srgbClr val="FF0000"/>
                </a:solidFill>
                <a:effectLst>
                  <a:outerShdw blurRad="38100" dist="38100" dir="2700000" algn="tl">
                    <a:srgbClr val="000000">
                      <a:alpha val="43137"/>
                    </a:srgbClr>
                  </a:outerShdw>
                </a:effectLst>
              </a:rPr>
              <a:t>competitors have come to </a:t>
            </a:r>
            <a:r>
              <a:rPr lang="en-US" b="1" dirty="0">
                <a:solidFill>
                  <a:srgbClr val="FF0000"/>
                </a:solidFill>
                <a:effectLst>
                  <a:outerShdw blurRad="38100" dist="38100" dir="2700000" algn="tl">
                    <a:srgbClr val="000000">
                      <a:alpha val="43137"/>
                    </a:srgbClr>
                  </a:outerShdw>
                </a:effectLst>
                <a:highlight>
                  <a:srgbClr val="FFFF00"/>
                </a:highlight>
              </a:rPr>
              <a:t>depend on it</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a:t>
            </a:r>
            <a:r>
              <a:rPr lang="en-US" dirty="0">
                <a:solidFill>
                  <a:srgbClr val="002060"/>
                </a:solidFill>
                <a:effectLst>
                  <a:outerShdw blurRad="38100" dist="38100" dir="2700000" algn="tl">
                    <a:srgbClr val="000000">
                      <a:alpha val="43137"/>
                    </a:srgbClr>
                  </a:outerShdw>
                </a:effectLst>
              </a:rPr>
              <a:t>his feature of Amazon’s power </a:t>
            </a:r>
            <a:r>
              <a:rPr lang="en-US" b="1" dirty="0">
                <a:solidFill>
                  <a:srgbClr val="FF0000"/>
                </a:solidFill>
                <a:effectLst>
                  <a:outerShdw blurRad="38100" dist="38100" dir="2700000" algn="tl">
                    <a:srgbClr val="000000">
                      <a:alpha val="43137"/>
                    </a:srgbClr>
                  </a:outerShdw>
                </a:effectLst>
              </a:rPr>
              <a:t>confounds contemporary antitrust analysis</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FFFF00"/>
                </a:highlight>
              </a:rPr>
              <a:t>which assumes that rational firms seek to drive their rivals out of business</a:t>
            </a:r>
            <a:r>
              <a:rPr lang="en-US" dirty="0">
                <a:solidFill>
                  <a:srgbClr val="002060"/>
                </a:solidFill>
                <a:effectLst>
                  <a:outerShdw blurRad="38100" dist="38100" dir="2700000" algn="tl">
                    <a:srgbClr val="000000">
                      <a:alpha val="43137"/>
                    </a:srgbClr>
                  </a:outerShdw>
                </a:effectLst>
              </a:rPr>
              <a:t>. Amazon’s game is more sophisticated. By making itself indispensable</a:t>
            </a:r>
            <a:r>
              <a:rPr lang="pl-PL" dirty="0">
                <a:solidFill>
                  <a:srgbClr val="002060"/>
                </a:solidFill>
                <a:effectLst>
                  <a:outerShdw blurRad="38100" dist="38100" dir="2700000" algn="tl">
                    <a:srgbClr val="000000">
                      <a:alpha val="43137"/>
                    </a:srgbClr>
                  </a:outerShdw>
                </a:effectLst>
              </a:rPr>
              <a:t> </a:t>
            </a:r>
            <a:r>
              <a:rPr lang="en-US" dirty="0"/>
              <a:t>to </a:t>
            </a:r>
            <a:r>
              <a:rPr lang="pl-PL" dirty="0"/>
              <a:t>e-commerce.</a:t>
            </a:r>
          </a:p>
          <a:p>
            <a:r>
              <a:rPr lang="en-US" dirty="0">
                <a:solidFill>
                  <a:srgbClr val="002060"/>
                </a:solidFill>
                <a:effectLst>
                  <a:outerShdw blurRad="38100" dist="38100" dir="2700000" algn="tl">
                    <a:srgbClr val="000000">
                      <a:alpha val="43137"/>
                    </a:srgbClr>
                  </a:outerShdw>
                </a:effectLst>
              </a:rPr>
              <a:t>Amazon enjoys </a:t>
            </a:r>
            <a:r>
              <a:rPr lang="en-US" b="1" dirty="0">
                <a:solidFill>
                  <a:srgbClr val="FF0000"/>
                </a:solidFill>
                <a:effectLst>
                  <a:outerShdw blurRad="38100" dist="38100" dir="2700000" algn="tl">
                    <a:srgbClr val="000000">
                      <a:alpha val="43137"/>
                    </a:srgbClr>
                  </a:outerShdw>
                </a:effectLst>
              </a:rPr>
              <a:t>receiving business from its rivals</a:t>
            </a:r>
            <a:r>
              <a:rPr lang="en-US" dirty="0">
                <a:solidFill>
                  <a:srgbClr val="002060"/>
                </a:solidFill>
                <a:effectLst>
                  <a:outerShdw blurRad="38100" dist="38100" dir="2700000" algn="tl">
                    <a:srgbClr val="000000">
                      <a:alpha val="43137"/>
                    </a:srgbClr>
                  </a:outerShdw>
                </a:effectLst>
              </a:rPr>
              <a:t>, even as it </a:t>
            </a:r>
            <a:r>
              <a:rPr lang="en-US" b="1" dirty="0">
                <a:solidFill>
                  <a:srgbClr val="002060"/>
                </a:solidFill>
                <a:effectLst>
                  <a:outerShdw blurRad="38100" dist="38100" dir="2700000" algn="tl">
                    <a:srgbClr val="000000">
                      <a:alpha val="43137"/>
                    </a:srgbClr>
                  </a:outerShdw>
                </a:effectLst>
              </a:rPr>
              <a:t>competes with them</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Moreover, Amazon </a:t>
            </a:r>
            <a:r>
              <a:rPr lang="en-US" b="1" dirty="0">
                <a:solidFill>
                  <a:srgbClr val="FF0000"/>
                </a:solidFill>
                <a:effectLst>
                  <a:outerShdw blurRad="38100" dist="38100" dir="2700000" algn="tl">
                    <a:srgbClr val="000000">
                      <a:alpha val="43137"/>
                    </a:srgbClr>
                  </a:outerShdw>
                </a:effectLst>
              </a:rPr>
              <a:t>g</a:t>
            </a:r>
            <a:r>
              <a:rPr lang="pl-PL" b="1" dirty="0">
                <a:solidFill>
                  <a:srgbClr val="FF0000"/>
                </a:solidFill>
                <a:effectLst>
                  <a:outerShdw blurRad="38100" dist="38100" dir="2700000" algn="tl">
                    <a:srgbClr val="000000">
                      <a:alpha val="43137"/>
                    </a:srgbClr>
                  </a:outerShdw>
                </a:effectLst>
              </a:rPr>
              <a:t>ets</a:t>
            </a:r>
            <a:r>
              <a:rPr lang="en-US" b="1" dirty="0">
                <a:solidFill>
                  <a:srgbClr val="FF0000"/>
                </a:solidFill>
                <a:effectLst>
                  <a:outerShdw blurRad="38100" dist="38100" dir="2700000" algn="tl">
                    <a:srgbClr val="000000">
                      <a:alpha val="43137"/>
                    </a:srgbClr>
                  </a:outerShdw>
                </a:effectLst>
              </a:rPr>
              <a:t> information from these competitors </a:t>
            </a:r>
            <a:r>
              <a:rPr lang="en-US" dirty="0">
                <a:solidFill>
                  <a:srgbClr val="002060"/>
                </a:solidFill>
                <a:effectLst>
                  <a:outerShdw blurRad="38100" dist="38100" dir="2700000" algn="tl">
                    <a:srgbClr val="000000">
                      <a:alpha val="43137"/>
                    </a:srgbClr>
                  </a:outerShdw>
                </a:effectLst>
              </a:rPr>
              <a:t>as a service provider that it may use to gain a further </a:t>
            </a:r>
            <a:r>
              <a:rPr lang="pl-PL" dirty="0">
                <a:solidFill>
                  <a:srgbClr val="002060"/>
                </a:solidFill>
                <a:effectLst>
                  <a:outerShdw blurRad="38100" dist="38100" dir="2700000" algn="tl">
                    <a:srgbClr val="000000">
                      <a:alpha val="43137"/>
                    </a:srgbClr>
                  </a:outerShdw>
                </a:effectLst>
              </a:rPr>
              <a:t>advantage</a:t>
            </a:r>
            <a:r>
              <a:rPr lang="en-US" dirty="0">
                <a:solidFill>
                  <a:srgbClr val="002060"/>
                </a:solidFill>
                <a:effectLst>
                  <a:outerShdw blurRad="38100" dist="38100" dir="2700000" algn="tl">
                    <a:srgbClr val="000000">
                      <a:alpha val="43137"/>
                    </a:srgbClr>
                  </a:outerShdw>
                </a:effectLst>
              </a:rPr>
              <a:t> over them as rivals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enabling it to </a:t>
            </a:r>
            <a:r>
              <a:rPr lang="en-US" b="1" dirty="0">
                <a:solidFill>
                  <a:srgbClr val="002060"/>
                </a:solidFill>
                <a:effectLst>
                  <a:outerShdw blurRad="38100" dist="38100" dir="2700000" algn="tl">
                    <a:srgbClr val="000000">
                      <a:alpha val="43137"/>
                    </a:srgbClr>
                  </a:outerShdw>
                </a:effectLst>
              </a:rPr>
              <a:t>entrench its dominant position </a:t>
            </a:r>
            <a:r>
              <a:rPr lang="en-US" dirty="0">
                <a:solidFill>
                  <a:srgbClr val="002060"/>
                </a:solidFill>
                <a:effectLst>
                  <a:outerShdw blurRad="38100" dist="38100" dir="2700000" algn="tl">
                    <a:srgbClr val="000000">
                      <a:alpha val="43137"/>
                    </a:srgbClr>
                  </a:outerShdw>
                </a:effectLst>
              </a:rPr>
              <a:t>further</a:t>
            </a:r>
          </a:p>
        </p:txBody>
      </p:sp>
    </p:spTree>
    <p:extLst>
      <p:ext uri="{BB962C8B-B14F-4D97-AF65-F5344CB8AC3E}">
        <p14:creationId xmlns:p14="http://schemas.microsoft.com/office/powerpoint/2010/main" val="1855339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D1BFACA-EB2B-C54E-FEA6-44B955471B04}"/>
              </a:ext>
            </a:extLst>
          </p:cNvPr>
          <p:cNvSpPr>
            <a:spLocks noGrp="1"/>
          </p:cNvSpPr>
          <p:nvPr>
            <p:ph type="title"/>
          </p:nvPr>
        </p:nvSpPr>
        <p:spPr/>
        <p:txBody>
          <a:bodyPr>
            <a:normAutofit fontScale="90000"/>
          </a:bodyPr>
          <a:lstStyle/>
          <a:p>
            <a:br>
              <a:rPr lang="pl-PL" dirty="0">
                <a:solidFill>
                  <a:srgbClr val="002060"/>
                </a:solidFill>
                <a:effectLst>
                  <a:outerShdw blurRad="38100" dist="38100" dir="2700000" algn="tl">
                    <a:srgbClr val="000000">
                      <a:alpha val="43137"/>
                    </a:srgbClr>
                  </a:outerShdw>
                </a:effectLst>
              </a:rPr>
            </a:br>
            <a:r>
              <a:rPr lang="pl-PL" dirty="0">
                <a:solidFill>
                  <a:srgbClr val="002060"/>
                </a:solidFill>
                <a:effectLst>
                  <a:outerShdw blurRad="38100" dist="38100" dir="2700000" algn="tl">
                    <a:srgbClr val="000000">
                      <a:alpha val="43137"/>
                    </a:srgbClr>
                  </a:outerShdw>
                </a:effectLst>
              </a:rPr>
              <a:t>ESTABLISHING STRUCTURAL DOMINANCE</a:t>
            </a:r>
            <a:br>
              <a:rPr lang="pl-PL" dirty="0">
                <a:solidFill>
                  <a:srgbClr val="002060"/>
                </a:solidFill>
                <a:effectLst>
                  <a:outerShdw blurRad="38100" dist="38100" dir="2700000" algn="tl">
                    <a:srgbClr val="000000">
                      <a:alpha val="43137"/>
                    </a:srgbClr>
                  </a:outerShdw>
                </a:effectLst>
              </a:rPr>
            </a:br>
            <a:endParaRPr lang="en-US" sz="3600" b="1" dirty="0">
              <a:solidFill>
                <a:srgbClr val="FF0000"/>
              </a:solidFill>
              <a:effectLst>
                <a:outerShdw blurRad="38100" dist="38100" dir="2700000" algn="tl">
                  <a:srgbClr val="000000">
                    <a:alpha val="43137"/>
                  </a:srgbClr>
                </a:outerShdw>
              </a:effectLst>
              <a:highlight>
                <a:srgbClr val="00FF00"/>
              </a:highlight>
            </a:endParaRPr>
          </a:p>
        </p:txBody>
      </p:sp>
      <p:sp>
        <p:nvSpPr>
          <p:cNvPr id="3" name="Symbol zastępczy zawartości 2">
            <a:extLst>
              <a:ext uri="{FF2B5EF4-FFF2-40B4-BE49-F238E27FC236}">
                <a16:creationId xmlns:a16="http://schemas.microsoft.com/office/drawing/2014/main" id="{97EED388-D230-8B53-60F8-0653C52BFF6A}"/>
              </a:ext>
            </a:extLst>
          </p:cNvPr>
          <p:cNvSpPr>
            <a:spLocks noGrp="1"/>
          </p:cNvSpPr>
          <p:nvPr>
            <p:ph idx="1"/>
          </p:nvPr>
        </p:nvSpPr>
        <p:spPr>
          <a:xfrm>
            <a:off x="838200" y="1825625"/>
            <a:ext cx="10515600" cy="4840646"/>
          </a:xfrm>
        </p:spPr>
        <p:txBody>
          <a:bodyPr>
            <a:normAutofit/>
          </a:bodyPr>
          <a:lstStyle/>
          <a:p>
            <a:r>
              <a:rPr lang="en-US" dirty="0">
                <a:solidFill>
                  <a:srgbClr val="002060"/>
                </a:solidFill>
                <a:effectLst>
                  <a:outerShdw blurRad="38100" dist="38100" dir="2700000" algn="tl">
                    <a:srgbClr val="000000">
                      <a:alpha val="43137"/>
                    </a:srgbClr>
                  </a:outerShdw>
                </a:effectLst>
              </a:rPr>
              <a:t>Amazon now controls </a:t>
            </a:r>
            <a:r>
              <a:rPr lang="en-US" b="1" dirty="0">
                <a:solidFill>
                  <a:srgbClr val="FF0000"/>
                </a:solidFill>
                <a:effectLst>
                  <a:outerShdw blurRad="38100" dist="38100" dir="2700000" algn="tl">
                    <a:srgbClr val="000000">
                      <a:alpha val="43137"/>
                    </a:srgbClr>
                  </a:outerShdw>
                </a:effectLst>
              </a:rPr>
              <a:t>46% of all </a:t>
            </a:r>
            <a:r>
              <a:rPr lang="pl-PL" b="1" dirty="0">
                <a:solidFill>
                  <a:srgbClr val="FF0000"/>
                </a:solidFill>
                <a:effectLst>
                  <a:outerShdw blurRad="38100" dist="38100" dir="2700000" algn="tl">
                    <a:srgbClr val="000000">
                      <a:alpha val="43137"/>
                    </a:srgbClr>
                  </a:outerShdw>
                </a:effectLst>
              </a:rPr>
              <a:t>e-commerce</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in the United States. Not only is it the </a:t>
            </a:r>
            <a:r>
              <a:rPr lang="pl-PL" dirty="0">
                <a:solidFill>
                  <a:srgbClr val="002060"/>
                </a:solidFill>
                <a:effectLst>
                  <a:outerShdw blurRad="38100" dist="38100" dir="2700000" algn="tl">
                    <a:srgbClr val="000000">
                      <a:alpha val="43137"/>
                    </a:srgbClr>
                  </a:outerShdw>
                </a:effectLst>
              </a:rPr>
              <a:t>fastest-growing</a:t>
            </a:r>
            <a:r>
              <a:rPr lang="en-US" dirty="0">
                <a:solidFill>
                  <a:srgbClr val="002060"/>
                </a:solidFill>
                <a:effectLst>
                  <a:outerShdw blurRad="38100" dist="38100" dir="2700000" algn="tl">
                    <a:srgbClr val="000000">
                      <a:alpha val="43137"/>
                    </a:srgbClr>
                  </a:outerShdw>
                </a:effectLst>
              </a:rPr>
              <a:t> major retailer, but it is also </a:t>
            </a:r>
            <a:r>
              <a:rPr lang="en-US" b="1" dirty="0">
                <a:solidFill>
                  <a:srgbClr val="FF0000"/>
                </a:solidFill>
                <a:effectLst>
                  <a:outerShdw blurRad="38100" dist="38100" dir="2700000" algn="tl">
                    <a:srgbClr val="000000">
                      <a:alpha val="43137"/>
                    </a:srgbClr>
                  </a:outerShdw>
                </a:effectLst>
              </a:rPr>
              <a:t>growing faster </a:t>
            </a:r>
            <a:r>
              <a:rPr lang="en-US" dirty="0">
                <a:solidFill>
                  <a:srgbClr val="002060"/>
                </a:solidFill>
                <a:effectLst>
                  <a:outerShdw blurRad="38100" dist="38100" dir="2700000" algn="tl">
                    <a:srgbClr val="000000">
                      <a:alpha val="43137"/>
                    </a:srgbClr>
                  </a:outerShdw>
                </a:effectLst>
              </a:rPr>
              <a:t>than </a:t>
            </a:r>
            <a:r>
              <a:rPr lang="pl-PL" dirty="0">
                <a:solidFill>
                  <a:srgbClr val="002060"/>
                </a:solidFill>
                <a:effectLst>
                  <a:outerShdw blurRad="38100" dist="38100" dir="2700000" algn="tl">
                    <a:srgbClr val="000000">
                      <a:alpha val="43137"/>
                    </a:srgbClr>
                  </a:outerShdw>
                </a:effectLst>
              </a:rPr>
              <a:t>e-commerce</a:t>
            </a:r>
            <a:r>
              <a:rPr lang="en-US" dirty="0">
                <a:solidFill>
                  <a:srgbClr val="002060"/>
                </a:solidFill>
                <a:effectLst>
                  <a:outerShdw blurRad="38100" dist="38100" dir="2700000" algn="tl">
                    <a:srgbClr val="000000">
                      <a:alpha val="43137"/>
                    </a:srgbClr>
                  </a:outerShdw>
                </a:effectLst>
              </a:rPr>
              <a:t> as a whole</a:t>
            </a:r>
            <a:endParaRPr lang="pl-PL" dirty="0">
              <a:solidFill>
                <a:srgbClr val="002060"/>
              </a:solidFill>
              <a:effectLst>
                <a:outerShdw blurRad="38100" dist="38100" dir="2700000" algn="tl">
                  <a:srgbClr val="000000">
                    <a:alpha val="43137"/>
                  </a:srgbClr>
                </a:outerShdw>
              </a:effectLst>
            </a:endParaRPr>
          </a:p>
          <a:p>
            <a:r>
              <a:rPr lang="pl-PL" b="1" dirty="0">
                <a:solidFill>
                  <a:srgbClr val="002060"/>
                </a:solidFill>
                <a:effectLst>
                  <a:outerShdw blurRad="38100" dist="38100" dir="2700000" algn="tl">
                    <a:srgbClr val="000000">
                      <a:alpha val="43137"/>
                    </a:srgbClr>
                  </a:outerShdw>
                </a:effectLst>
              </a:rPr>
              <a:t>S</a:t>
            </a:r>
            <a:r>
              <a:rPr lang="en-US" b="1" dirty="0">
                <a:solidFill>
                  <a:srgbClr val="002060"/>
                </a:solidFill>
                <a:effectLst>
                  <a:outerShdw blurRad="38100" dist="38100" dir="2700000" algn="tl">
                    <a:srgbClr val="000000">
                      <a:alpha val="43137"/>
                    </a:srgbClr>
                  </a:outerShdw>
                </a:effectLst>
              </a:rPr>
              <a:t>everal examples </a:t>
            </a:r>
            <a:r>
              <a:rPr lang="en-US" dirty="0">
                <a:solidFill>
                  <a:srgbClr val="002060"/>
                </a:solidFill>
                <a:effectLst>
                  <a:outerShdw blurRad="38100" dist="38100" dir="2700000" algn="tl">
                    <a:srgbClr val="000000">
                      <a:alpha val="43137"/>
                    </a:srgbClr>
                  </a:outerShdw>
                </a:effectLst>
              </a:rPr>
              <a:t>of Amazon’s conduct </a:t>
            </a:r>
            <a:r>
              <a:rPr lang="en-US" b="1" dirty="0">
                <a:solidFill>
                  <a:srgbClr val="FF0000"/>
                </a:solidFill>
                <a:effectLst>
                  <a:outerShdw blurRad="38100" dist="38100" dir="2700000" algn="tl">
                    <a:srgbClr val="000000">
                      <a:alpha val="43137"/>
                    </a:srgbClr>
                  </a:outerShdw>
                </a:effectLst>
              </a:rPr>
              <a:t>illustrate how the firm has established </a:t>
            </a:r>
            <a:r>
              <a:rPr lang="en-US" b="1" dirty="0">
                <a:solidFill>
                  <a:srgbClr val="FF0000"/>
                </a:solidFill>
                <a:effectLst>
                  <a:outerShdw blurRad="38100" dist="38100" dir="2700000" algn="tl">
                    <a:srgbClr val="000000">
                      <a:alpha val="43137"/>
                    </a:srgbClr>
                  </a:outerShdw>
                </a:effectLst>
                <a:highlight>
                  <a:srgbClr val="FFFF00"/>
                </a:highlight>
              </a:rPr>
              <a:t>structural dominance</a:t>
            </a:r>
            <a:r>
              <a:rPr lang="en-US" b="1" dirty="0">
                <a:solidFill>
                  <a:srgbClr val="FF0000"/>
                </a:solidFill>
                <a:effectLst>
                  <a:outerShdw blurRad="38100" dist="38100" dir="2700000" algn="tl">
                    <a:srgbClr val="000000">
                      <a:alpha val="43137"/>
                    </a:srgbClr>
                  </a:outerShdw>
                </a:effectLst>
              </a:rPr>
              <a:t>. </a:t>
            </a:r>
            <a:endParaRPr lang="pl-PL" b="1" dirty="0">
              <a:solidFill>
                <a:srgbClr val="FF000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Example 1: </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00FF00"/>
                </a:highlight>
              </a:rPr>
              <a:t>predatory pricing</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Example 2: </a:t>
            </a:r>
            <a:r>
              <a:rPr lang="en-US" b="1" dirty="0">
                <a:solidFill>
                  <a:srgbClr val="0070C0"/>
                </a:solidFill>
                <a:effectLst>
                  <a:outerShdw blurRad="38100" dist="38100" dir="2700000" algn="tl">
                    <a:srgbClr val="000000">
                      <a:alpha val="43137"/>
                    </a:srgbClr>
                  </a:outerShdw>
                </a:effectLst>
              </a:rPr>
              <a:t>Fulfillment-by-Amazon </a:t>
            </a:r>
            <a:r>
              <a:rPr lang="en-US" b="1" dirty="0">
                <a:solidFill>
                  <a:srgbClr val="FF0000"/>
                </a:solidFill>
                <a:effectLst>
                  <a:outerShdw blurRad="38100" dist="38100" dir="2700000" algn="tl">
                    <a:srgbClr val="000000">
                      <a:alpha val="43137"/>
                    </a:srgbClr>
                  </a:outerShdw>
                </a:effectLst>
              </a:rPr>
              <a:t>and </a:t>
            </a:r>
            <a:r>
              <a:rPr lang="en-US" b="1" dirty="0">
                <a:solidFill>
                  <a:srgbClr val="0070C0"/>
                </a:solidFill>
                <a:effectLst>
                  <a:outerShdw blurRad="38100" dist="38100" dir="2700000" algn="tl">
                    <a:srgbClr val="000000">
                      <a:alpha val="43137"/>
                    </a:srgbClr>
                  </a:outerShdw>
                </a:effectLst>
              </a:rPr>
              <a:t>Amazon Marketplace </a:t>
            </a:r>
            <a:r>
              <a:rPr lang="en-US" b="1" dirty="0">
                <a:solidFill>
                  <a:srgbClr val="FF0000"/>
                </a:solidFill>
                <a:effectLst>
                  <a:outerShdw blurRad="38100" dist="38100" dir="2700000" algn="tl">
                    <a:srgbClr val="000000">
                      <a:alpha val="43137"/>
                    </a:srgbClr>
                  </a:outerShdw>
                </a:effectLst>
              </a:rPr>
              <a:t>demonstrate how Amazon has become an infrastructure company, both for physical delivery and e-commerce</a:t>
            </a:r>
            <a:r>
              <a:rPr lang="en-US" dirty="0">
                <a:solidFill>
                  <a:srgbClr val="002060"/>
                </a:solidFill>
                <a:effectLst>
                  <a:outerShdw blurRad="38100" dist="38100" dir="2700000" algn="tl">
                    <a:srgbClr val="000000">
                      <a:alpha val="43137"/>
                    </a:srgbClr>
                  </a:outerShdw>
                </a:effectLst>
              </a:rPr>
              <a:t>, and how this </a:t>
            </a:r>
            <a:r>
              <a:rPr lang="en-US" b="1" dirty="0">
                <a:solidFill>
                  <a:srgbClr val="002060"/>
                </a:solidFill>
                <a:effectLst>
                  <a:outerShdw blurRad="38100" dist="38100" dir="2700000" algn="tl">
                    <a:srgbClr val="000000">
                      <a:alpha val="43137"/>
                    </a:srgbClr>
                  </a:outerShdw>
                </a:effectLst>
              </a:rPr>
              <a:t>vertical integration </a:t>
            </a:r>
            <a:r>
              <a:rPr lang="en-US" b="1" dirty="0">
                <a:solidFill>
                  <a:srgbClr val="0070C0"/>
                </a:solidFill>
                <a:effectLst>
                  <a:outerShdw blurRad="38100" dist="38100" dir="2700000" algn="tl">
                    <a:srgbClr val="000000">
                      <a:alpha val="43137"/>
                    </a:srgbClr>
                  </a:outerShdw>
                </a:effectLst>
              </a:rPr>
              <a:t>implicates market competition</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14970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4EB150-A474-20C6-EE5C-5F7CE8A70FD5}"/>
              </a:ext>
            </a:extLst>
          </p:cNvPr>
          <p:cNvSpPr>
            <a:spLocks noGrp="1"/>
          </p:cNvSpPr>
          <p:nvPr>
            <p:ph type="title"/>
          </p:nvPr>
        </p:nvSpPr>
        <p:spPr/>
        <p:txBody>
          <a:bodyPr>
            <a:normAutofit fontScale="90000"/>
          </a:bodyPr>
          <a:lstStyle/>
          <a:p>
            <a:br>
              <a:rPr lang="pl-PL" dirty="0">
                <a:solidFill>
                  <a:srgbClr val="002060"/>
                </a:solidFill>
                <a:effectLst>
                  <a:outerShdw blurRad="38100" dist="38100" dir="2700000" algn="tl">
                    <a:srgbClr val="000000">
                      <a:alpha val="43137"/>
                    </a:srgbClr>
                  </a:outerShdw>
                </a:effectLst>
              </a:rPr>
            </a:br>
            <a:r>
              <a:rPr lang="pl-PL" dirty="0">
                <a:solidFill>
                  <a:srgbClr val="002060"/>
                </a:solidFill>
                <a:effectLst>
                  <a:outerShdw blurRad="38100" dist="38100" dir="2700000" algn="tl">
                    <a:srgbClr val="000000">
                      <a:alpha val="43137"/>
                    </a:srgbClr>
                  </a:outerShdw>
                </a:effectLst>
              </a:rPr>
              <a:t>ESTABLISHING STRUCTURAL DOMINANCE</a:t>
            </a:r>
            <a:br>
              <a:rPr lang="pl-PL" dirty="0">
                <a:solidFill>
                  <a:srgbClr val="002060"/>
                </a:solidFill>
                <a:effectLst>
                  <a:outerShdw blurRad="38100" dist="38100" dir="2700000" algn="tl">
                    <a:srgbClr val="000000">
                      <a:alpha val="43137"/>
                    </a:srgbClr>
                  </a:outerShdw>
                </a:effectLst>
              </a:rPr>
            </a:br>
            <a:endParaRPr lang="en-US" dirty="0"/>
          </a:p>
        </p:txBody>
      </p:sp>
      <p:sp>
        <p:nvSpPr>
          <p:cNvPr id="3" name="Symbol zastępczy zawartości 2">
            <a:extLst>
              <a:ext uri="{FF2B5EF4-FFF2-40B4-BE49-F238E27FC236}">
                <a16:creationId xmlns:a16="http://schemas.microsoft.com/office/drawing/2014/main" id="{1D045655-CCA0-B23A-E91A-7E23462C05CB}"/>
              </a:ext>
            </a:extLst>
          </p:cNvPr>
          <p:cNvSpPr>
            <a:spLocks noGrp="1"/>
          </p:cNvSpPr>
          <p:nvPr>
            <p:ph idx="1"/>
          </p:nvPr>
        </p:nvSpPr>
        <p:spPr/>
        <p:txBody>
          <a:bodyPr/>
          <a:lstStyle/>
          <a:p>
            <a:r>
              <a:rPr lang="en-US" sz="3600" dirty="0">
                <a:solidFill>
                  <a:srgbClr val="002060"/>
                </a:solidFill>
                <a:effectLst>
                  <a:outerShdw blurRad="38100" dist="38100" dir="2700000" algn="tl">
                    <a:srgbClr val="000000">
                      <a:alpha val="43137"/>
                    </a:srgbClr>
                  </a:outerShdw>
                </a:effectLst>
              </a:rPr>
              <a:t>These cases highlight how Amazon can </a:t>
            </a:r>
            <a:r>
              <a:rPr lang="en-US" sz="3600" b="1" dirty="0">
                <a:solidFill>
                  <a:srgbClr val="FF0000"/>
                </a:solidFill>
                <a:effectLst>
                  <a:outerShdw blurRad="38100" dist="38100" dir="2700000" algn="tl">
                    <a:srgbClr val="000000">
                      <a:alpha val="43137"/>
                    </a:srgbClr>
                  </a:outerShdw>
                </a:effectLst>
                <a:highlight>
                  <a:srgbClr val="FFFF00"/>
                </a:highlight>
              </a:rPr>
              <a:t>use its role as an infrastructure provider </a:t>
            </a:r>
            <a:r>
              <a:rPr lang="en-US" sz="3600" dirty="0">
                <a:solidFill>
                  <a:srgbClr val="FF0000"/>
                </a:solidFill>
                <a:effectLst>
                  <a:outerShdw blurRad="38100" dist="38100" dir="2700000" algn="tl">
                    <a:srgbClr val="000000">
                      <a:alpha val="43137"/>
                    </a:srgbClr>
                  </a:outerShdw>
                </a:effectLst>
                <a:highlight>
                  <a:srgbClr val="FFFF00"/>
                </a:highlight>
              </a:rPr>
              <a:t>to benefit its </a:t>
            </a:r>
            <a:r>
              <a:rPr lang="en-US" sz="3600" b="1" dirty="0">
                <a:solidFill>
                  <a:srgbClr val="FF0000"/>
                </a:solidFill>
                <a:effectLst>
                  <a:outerShdw blurRad="38100" dist="38100" dir="2700000" algn="tl">
                    <a:srgbClr val="000000">
                      <a:alpha val="43137"/>
                    </a:srgbClr>
                  </a:outerShdw>
                </a:effectLst>
                <a:highlight>
                  <a:srgbClr val="FFFF00"/>
                </a:highlight>
              </a:rPr>
              <a:t>other lines of business</a:t>
            </a:r>
            <a:r>
              <a:rPr lang="en-US" sz="3600" dirty="0">
                <a:solidFill>
                  <a:srgbClr val="002060"/>
                </a:solidFill>
                <a:effectLst>
                  <a:outerShdw blurRad="38100" dist="38100" dir="2700000" algn="tl">
                    <a:srgbClr val="000000">
                      <a:alpha val="43137"/>
                    </a:srgbClr>
                  </a:outerShdw>
                </a:effectLst>
              </a:rPr>
              <a:t>…</a:t>
            </a:r>
            <a:endParaRPr lang="pl-PL" sz="3600" dirty="0">
              <a:solidFill>
                <a:srgbClr val="002060"/>
              </a:solidFill>
              <a:effectLst>
                <a:outerShdw blurRad="38100" dist="38100" dir="2700000" algn="tl">
                  <a:srgbClr val="000000">
                    <a:alpha val="43137"/>
                  </a:srgbClr>
                </a:outerShdw>
              </a:effectLst>
            </a:endParaRPr>
          </a:p>
          <a:p>
            <a:r>
              <a:rPr lang="pl-PL" sz="3600" dirty="0">
                <a:solidFill>
                  <a:srgbClr val="002060"/>
                </a:solidFill>
                <a:effectLst>
                  <a:outerShdw blurRad="38100" dist="38100" dir="2700000" algn="tl">
                    <a:srgbClr val="000000">
                      <a:alpha val="43137"/>
                    </a:srgbClr>
                  </a:outerShdw>
                </a:effectLst>
              </a:rPr>
              <a:t>and</a:t>
            </a:r>
            <a:r>
              <a:rPr lang="en-US" sz="3600" dirty="0">
                <a:solidFill>
                  <a:srgbClr val="002060"/>
                </a:solidFill>
                <a:effectLst>
                  <a:outerShdw blurRad="38100" dist="38100" dir="2700000" algn="tl">
                    <a:srgbClr val="000000">
                      <a:alpha val="43137"/>
                    </a:srgbClr>
                  </a:outerShdw>
                </a:effectLst>
              </a:rPr>
              <a:t> how </a:t>
            </a:r>
            <a:r>
              <a:rPr lang="en-US" sz="3600" b="1" dirty="0">
                <a:solidFill>
                  <a:srgbClr val="FF0000"/>
                </a:solidFill>
                <a:effectLst>
                  <a:outerShdw blurRad="38100" dist="38100" dir="2700000" algn="tl">
                    <a:srgbClr val="000000">
                      <a:alpha val="43137"/>
                    </a:srgbClr>
                  </a:outerShdw>
                </a:effectLst>
              </a:rPr>
              <a:t>high </a:t>
            </a:r>
            <a:r>
              <a:rPr lang="pl-PL" sz="3600" b="1" dirty="0">
                <a:solidFill>
                  <a:srgbClr val="FF0000"/>
                </a:solidFill>
                <a:effectLst>
                  <a:outerShdw blurRad="38100" dist="38100" dir="2700000" algn="tl">
                    <a:srgbClr val="000000">
                      <a:alpha val="43137"/>
                    </a:srgbClr>
                  </a:outerShdw>
                </a:effectLst>
              </a:rPr>
              <a:t>barriers</a:t>
            </a:r>
            <a:r>
              <a:rPr lang="en-US" sz="3600" b="1" dirty="0">
                <a:solidFill>
                  <a:srgbClr val="FF0000"/>
                </a:solidFill>
                <a:effectLst>
                  <a:outerShdw blurRad="38100" dist="38100" dir="2700000" algn="tl">
                    <a:srgbClr val="000000">
                      <a:alpha val="43137"/>
                    </a:srgbClr>
                  </a:outerShdw>
                </a:effectLst>
              </a:rPr>
              <a:t> to entry </a:t>
            </a:r>
            <a:r>
              <a:rPr lang="en-US" sz="3600" dirty="0">
                <a:solidFill>
                  <a:srgbClr val="002060"/>
                </a:solidFill>
                <a:effectLst>
                  <a:outerShdw blurRad="38100" dist="38100" dir="2700000" algn="tl">
                    <a:srgbClr val="000000">
                      <a:alpha val="43137"/>
                    </a:srgbClr>
                  </a:outerShdw>
                </a:effectLst>
              </a:rPr>
              <a:t>may make it difficult for potential competitors to enter these spheres, </a:t>
            </a:r>
            <a:r>
              <a:rPr lang="en-US" sz="3600" b="1" dirty="0">
                <a:solidFill>
                  <a:srgbClr val="002060"/>
                </a:solidFill>
                <a:effectLst>
                  <a:outerShdw blurRad="38100" dist="38100" dir="2700000" algn="tl">
                    <a:srgbClr val="000000">
                      <a:alpha val="43137"/>
                    </a:srgbClr>
                  </a:outerShdw>
                </a:effectLst>
              </a:rPr>
              <a:t>locking in Amazon’s dominance for the foreseeable future</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492312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EEA2712-DCC7-45E8-D123-0C8BE9B71ADB}"/>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09F90A78-2EC7-DD13-F7EF-9E01DAC52BB9}"/>
              </a:ext>
            </a:extLst>
          </p:cNvPr>
          <p:cNvSpPr>
            <a:spLocks noGrp="1"/>
          </p:cNvSpPr>
          <p:nvPr>
            <p:ph idx="1"/>
          </p:nvPr>
        </p:nvSpPr>
        <p:spPr>
          <a:xfrm>
            <a:off x="838200" y="1825624"/>
            <a:ext cx="10515600" cy="4938969"/>
          </a:xfrm>
        </p:spPr>
        <p:txBody>
          <a:bodyPr>
            <a:normAutofit fontScale="92500"/>
          </a:bodyPr>
          <a:lstStyle/>
          <a:p>
            <a:r>
              <a:rPr lang="en-US" dirty="0">
                <a:solidFill>
                  <a:srgbClr val="002060"/>
                </a:solidFill>
                <a:effectLst>
                  <a:outerShdw blurRad="38100" dist="38100" dir="2700000" algn="tl">
                    <a:srgbClr val="000000">
                      <a:alpha val="43137"/>
                    </a:srgbClr>
                  </a:outerShdw>
                </a:effectLst>
              </a:rPr>
              <a:t>Under </a:t>
            </a:r>
            <a:r>
              <a:rPr lang="pl-PL" dirty="0">
                <a:solidFill>
                  <a:srgbClr val="002060"/>
                </a:solidFill>
                <a:effectLst>
                  <a:outerShdw blurRad="38100" dist="38100" dir="2700000" algn="tl">
                    <a:srgbClr val="000000">
                      <a:alpha val="43137"/>
                    </a:srgbClr>
                  </a:outerShdw>
                </a:effectLst>
              </a:rPr>
              <a:t>the </a:t>
            </a:r>
            <a:r>
              <a:rPr lang="en-US" b="1" dirty="0">
                <a:solidFill>
                  <a:srgbClr val="FF0000"/>
                </a:solidFill>
                <a:effectLst>
                  <a:outerShdw blurRad="38100" dist="38100" dir="2700000" algn="tl">
                    <a:srgbClr val="000000">
                      <a:alpha val="43137"/>
                    </a:srgbClr>
                  </a:outerShdw>
                </a:effectLst>
              </a:rPr>
              <a:t>current </a:t>
            </a:r>
            <a:r>
              <a:rPr lang="pl-PL" b="1" dirty="0">
                <a:solidFill>
                  <a:srgbClr val="FF0000"/>
                </a:solidFill>
                <a:effectLst>
                  <a:outerShdw blurRad="38100" dist="38100" dir="2700000" algn="tl">
                    <a:srgbClr val="000000">
                      <a:alpha val="43137"/>
                    </a:srgbClr>
                  </a:outerShdw>
                </a:effectLst>
              </a:rPr>
              <a:t>(Chicago) </a:t>
            </a:r>
            <a:r>
              <a:rPr lang="en-US" b="1" dirty="0">
                <a:solidFill>
                  <a:srgbClr val="FF0000"/>
                </a:solidFill>
                <a:effectLst>
                  <a:outerShdw blurRad="38100" dist="38100" dir="2700000" algn="tl">
                    <a:srgbClr val="000000">
                      <a:alpha val="43137"/>
                    </a:srgbClr>
                  </a:outerShdw>
                </a:effectLst>
              </a:rPr>
              <a:t>doctrine</a:t>
            </a:r>
            <a:r>
              <a:rPr lang="en-US" dirty="0">
                <a:solidFill>
                  <a:srgbClr val="002060"/>
                </a:solidFill>
                <a:effectLst>
                  <a:outerShdw blurRad="38100" dist="38100" dir="2700000" algn="tl">
                    <a:srgbClr val="000000">
                      <a:alpha val="43137"/>
                    </a:srgbClr>
                  </a:outerShdw>
                </a:effectLst>
              </a:rPr>
              <a:t>, whether </a:t>
            </a:r>
            <a:r>
              <a:rPr lang="pl-PL" dirty="0">
                <a:solidFill>
                  <a:srgbClr val="002060"/>
                </a:solidFill>
                <a:effectLst>
                  <a:outerShdw blurRad="38100" dist="38100" dir="2700000" algn="tl">
                    <a:srgbClr val="000000">
                      <a:alpha val="43137"/>
                    </a:srgbClr>
                  </a:outerShdw>
                </a:effectLst>
              </a:rPr>
              <a:t>below-cost</a:t>
            </a:r>
            <a:r>
              <a:rPr lang="en-US" dirty="0">
                <a:solidFill>
                  <a:srgbClr val="002060"/>
                </a:solidFill>
                <a:effectLst>
                  <a:outerShdw blurRad="38100" dist="38100" dir="2700000" algn="tl">
                    <a:srgbClr val="000000">
                      <a:alpha val="43137"/>
                    </a:srgbClr>
                  </a:outerShdw>
                </a:effectLst>
              </a:rPr>
              <a:t> pricing is </a:t>
            </a:r>
            <a:r>
              <a:rPr lang="en-US" b="1" dirty="0">
                <a:solidFill>
                  <a:srgbClr val="FF0000"/>
                </a:solidFill>
                <a:effectLst>
                  <a:outerShdw blurRad="38100" dist="38100" dir="2700000" algn="tl">
                    <a:srgbClr val="000000">
                      <a:alpha val="43137"/>
                    </a:srgbClr>
                  </a:outerShdw>
                </a:effectLst>
              </a:rPr>
              <a:t>predatory</a:t>
            </a:r>
            <a:r>
              <a:rPr lang="en-US" dirty="0">
                <a:solidFill>
                  <a:srgbClr val="002060"/>
                </a:solidFill>
                <a:effectLst>
                  <a:outerShdw blurRad="38100" dist="38100" dir="2700000" algn="tl">
                    <a:srgbClr val="000000">
                      <a:alpha val="43137"/>
                    </a:srgbClr>
                  </a:outerShdw>
                </a:effectLst>
              </a:rPr>
              <a:t> or not turns on whether a firm </a:t>
            </a:r>
            <a:r>
              <a:rPr lang="en-US" b="1" dirty="0">
                <a:solidFill>
                  <a:srgbClr val="FF0000"/>
                </a:solidFill>
                <a:effectLst>
                  <a:outerShdw blurRad="38100" dist="38100" dir="2700000" algn="tl">
                    <a:srgbClr val="000000">
                      <a:alpha val="43137"/>
                    </a:srgbClr>
                  </a:outerShdw>
                </a:effectLst>
              </a:rPr>
              <a:t>recoups its losses</a:t>
            </a:r>
            <a:endParaRPr lang="pl-PL" b="1" dirty="0">
              <a:solidFill>
                <a:srgbClr val="FF000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Online commerce enables Amazon to </a:t>
            </a:r>
            <a:r>
              <a:rPr lang="en-US" b="1" dirty="0">
                <a:solidFill>
                  <a:srgbClr val="FF0000"/>
                </a:solidFill>
                <a:effectLst>
                  <a:outerShdw blurRad="38100" dist="38100" dir="2700000" algn="tl">
                    <a:srgbClr val="000000">
                      <a:alpha val="43137"/>
                    </a:srgbClr>
                  </a:outerShdw>
                </a:effectLst>
                <a:highlight>
                  <a:srgbClr val="FFFF00"/>
                </a:highlight>
              </a:rPr>
              <a:t>obscure price hikes </a:t>
            </a:r>
            <a:r>
              <a:rPr lang="en-US" dirty="0">
                <a:solidFill>
                  <a:srgbClr val="002060"/>
                </a:solidFill>
                <a:effectLst>
                  <a:outerShdw blurRad="38100" dist="38100" dir="2700000" algn="tl">
                    <a:srgbClr val="000000">
                      <a:alpha val="43137"/>
                    </a:srgbClr>
                  </a:outerShdw>
                </a:effectLst>
              </a:rPr>
              <a:t>in at least two ways: </a:t>
            </a:r>
            <a:endParaRPr lang="pl-PL" dirty="0">
              <a:solidFill>
                <a:srgbClr val="002060"/>
              </a:solidFill>
              <a:effectLst>
                <a:outerShdw blurRad="38100" dist="38100" dir="2700000" algn="tl">
                  <a:srgbClr val="000000">
                    <a:alpha val="43137"/>
                  </a:srgbClr>
                </a:outerShdw>
              </a:effectLst>
            </a:endParaRPr>
          </a:p>
          <a:p>
            <a:r>
              <a:rPr lang="pl-PL" b="1" dirty="0">
                <a:solidFill>
                  <a:srgbClr val="FF0000"/>
                </a:solidFill>
                <a:effectLst>
                  <a:outerShdw blurRad="38100" dist="38100" dir="2700000" algn="tl">
                    <a:srgbClr val="000000">
                      <a:alpha val="43137"/>
                    </a:srgbClr>
                  </a:outerShdw>
                </a:effectLst>
              </a:rPr>
              <a:t>R</a:t>
            </a:r>
            <a:r>
              <a:rPr lang="en-US" b="1" dirty="0">
                <a:solidFill>
                  <a:srgbClr val="FF0000"/>
                </a:solidFill>
                <a:effectLst>
                  <a:outerShdw blurRad="38100" dist="38100" dir="2700000" algn="tl">
                    <a:srgbClr val="000000">
                      <a:alpha val="43137"/>
                    </a:srgbClr>
                  </a:outerShdw>
                </a:effectLst>
              </a:rPr>
              <a:t>apid, </a:t>
            </a:r>
            <a:r>
              <a:rPr lang="en-US" b="1" dirty="0">
                <a:solidFill>
                  <a:srgbClr val="FF0000"/>
                </a:solidFill>
                <a:effectLst>
                  <a:outerShdw blurRad="38100" dist="38100" dir="2700000" algn="tl">
                    <a:srgbClr val="000000">
                      <a:alpha val="43137"/>
                    </a:srgbClr>
                  </a:outerShdw>
                </a:effectLst>
                <a:highlight>
                  <a:srgbClr val="FFFF00"/>
                </a:highlight>
              </a:rPr>
              <a:t>constant price fluctuations </a:t>
            </a:r>
            <a:r>
              <a:rPr lang="en-US" dirty="0">
                <a:solidFill>
                  <a:srgbClr val="002060"/>
                </a:solidFill>
                <a:effectLst>
                  <a:outerShdw blurRad="38100" dist="38100" dir="2700000" algn="tl">
                    <a:srgbClr val="000000">
                      <a:alpha val="43137"/>
                    </a:srgbClr>
                  </a:outerShdw>
                </a:effectLst>
              </a:rPr>
              <a:t>and </a:t>
            </a:r>
            <a:r>
              <a:rPr lang="en-US" b="1" dirty="0">
                <a:solidFill>
                  <a:srgbClr val="002060"/>
                </a:solidFill>
                <a:effectLst>
                  <a:outerShdw blurRad="38100" dist="38100" dir="2700000" algn="tl">
                    <a:srgbClr val="000000">
                      <a:alpha val="43137"/>
                    </a:srgbClr>
                  </a:outerShdw>
                </a:effectLst>
              </a:rPr>
              <a:t>personalized pricing</a:t>
            </a:r>
            <a:r>
              <a:rPr lang="en-US" dirty="0">
                <a:solidFill>
                  <a:srgbClr val="002060"/>
                </a:solidFill>
                <a:effectLst>
                  <a:outerShdw blurRad="38100" dist="38100" dir="2700000" algn="tl">
                    <a:srgbClr val="000000">
                      <a:alpha val="43137"/>
                    </a:srgbClr>
                  </a:outerShdw>
                </a:effectLst>
              </a:rPr>
              <a:t> diminish our </a:t>
            </a:r>
            <a:r>
              <a:rPr lang="en-US" b="1" dirty="0">
                <a:solidFill>
                  <a:srgbClr val="002060"/>
                </a:solidFill>
                <a:effectLst>
                  <a:outerShdw blurRad="38100" dist="38100" dir="2700000" algn="tl">
                    <a:srgbClr val="000000">
                      <a:alpha val="43137"/>
                    </a:srgbClr>
                  </a:outerShdw>
                </a:effectLst>
              </a:rPr>
              <a:t>ability to discern pricing </a:t>
            </a:r>
            <a:r>
              <a:rPr lang="en-US" dirty="0">
                <a:solidFill>
                  <a:srgbClr val="002060"/>
                </a:solidFill>
                <a:effectLst>
                  <a:outerShdw blurRad="38100" dist="38100" dir="2700000" algn="tl">
                    <a:srgbClr val="000000">
                      <a:alpha val="43137"/>
                    </a:srgbClr>
                  </a:outerShdw>
                </a:effectLst>
              </a:rPr>
              <a:t>trends.</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By one account, Amazon changes prices more than </a:t>
            </a:r>
            <a:r>
              <a:rPr lang="en-US" b="1" dirty="0">
                <a:solidFill>
                  <a:srgbClr val="FF0000"/>
                </a:solidFill>
                <a:effectLst>
                  <a:outerShdw blurRad="38100" dist="38100" dir="2700000" algn="tl">
                    <a:srgbClr val="000000">
                      <a:alpha val="43137"/>
                    </a:srgbClr>
                  </a:outerShdw>
                </a:effectLst>
              </a:rPr>
              <a:t>2.5 million times each day</a:t>
            </a:r>
            <a:r>
              <a:rPr lang="en-US" dirty="0">
                <a:solidFill>
                  <a:srgbClr val="FF0000"/>
                </a:solidFill>
                <a:effectLst>
                  <a:outerShdw blurRad="38100" dist="38100" dir="2700000" algn="tl">
                    <a:srgbClr val="000000">
                      <a:alpha val="43137"/>
                    </a:srgbClr>
                  </a:outerShdw>
                </a:effectLst>
              </a:rPr>
              <a:t>. </a:t>
            </a:r>
            <a:endParaRPr lang="pl-PL" dirty="0">
              <a:solidFill>
                <a:srgbClr val="FF000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Amazon is also able to </a:t>
            </a:r>
            <a:r>
              <a:rPr lang="en-US" b="1" dirty="0">
                <a:solidFill>
                  <a:srgbClr val="FF0000"/>
                </a:solidFill>
                <a:effectLst>
                  <a:outerShdw blurRad="38100" dist="38100" dir="2700000" algn="tl">
                    <a:srgbClr val="000000">
                      <a:alpha val="43137"/>
                    </a:srgbClr>
                  </a:outerShdw>
                </a:effectLst>
              </a:rPr>
              <a:t>tailor prices </a:t>
            </a:r>
            <a:r>
              <a:rPr lang="en-US" dirty="0">
                <a:solidFill>
                  <a:srgbClr val="002060"/>
                </a:solidFill>
                <a:effectLst>
                  <a:outerShdw blurRad="38100" dist="38100" dir="2700000" algn="tl">
                    <a:srgbClr val="000000">
                      <a:alpha val="43137"/>
                    </a:srgbClr>
                  </a:outerShdw>
                </a:effectLst>
              </a:rPr>
              <a:t>to individual consumers, known as </a:t>
            </a:r>
            <a:r>
              <a:rPr lang="pl-PL" b="1" dirty="0">
                <a:solidFill>
                  <a:srgbClr val="FF0000"/>
                </a:solidFill>
                <a:effectLst>
                  <a:outerShdw blurRad="38100" dist="38100" dir="2700000" algn="tl">
                    <a:srgbClr val="000000">
                      <a:alpha val="43137"/>
                    </a:srgbClr>
                  </a:outerShdw>
                </a:effectLst>
              </a:rPr>
              <a:t>first-degree</a:t>
            </a:r>
            <a:r>
              <a:rPr lang="en-US" b="1" dirty="0">
                <a:solidFill>
                  <a:srgbClr val="FF0000"/>
                </a:solidFill>
                <a:effectLst>
                  <a:outerShdw blurRad="38100" dist="38100" dir="2700000" algn="tl">
                    <a:srgbClr val="000000">
                      <a:alpha val="43137"/>
                    </a:srgbClr>
                  </a:outerShdw>
                </a:effectLst>
              </a:rPr>
              <a:t> price discrimination</a:t>
            </a:r>
            <a:r>
              <a:rPr lang="en-US" dirty="0">
                <a:solidFill>
                  <a:srgbClr val="002060"/>
                </a:solidFill>
                <a:effectLst>
                  <a:outerShdw blurRad="38100" dist="38100" dir="2700000" algn="tl">
                    <a:srgbClr val="000000">
                      <a:alpha val="43137"/>
                    </a:srgbClr>
                  </a:outerShdw>
                </a:effectLst>
              </a:rPr>
              <a:t>. There is </a:t>
            </a:r>
            <a:r>
              <a:rPr lang="en-US" b="1" dirty="0">
                <a:solidFill>
                  <a:srgbClr val="0070C0"/>
                </a:solidFill>
                <a:effectLst>
                  <a:outerShdw blurRad="38100" dist="38100" dir="2700000" algn="tl">
                    <a:srgbClr val="000000">
                      <a:alpha val="43137"/>
                    </a:srgbClr>
                  </a:outerShdw>
                </a:effectLst>
              </a:rPr>
              <a:t>no </a:t>
            </a:r>
            <a:r>
              <a:rPr lang="pl-PL" b="1" dirty="0">
                <a:solidFill>
                  <a:srgbClr val="0070C0"/>
                </a:solidFill>
                <a:effectLst>
                  <a:outerShdw blurRad="38100" dist="38100" dir="2700000" algn="tl">
                    <a:srgbClr val="000000">
                      <a:alpha val="43137"/>
                    </a:srgbClr>
                  </a:outerShdw>
                </a:effectLst>
              </a:rPr>
              <a:t>public</a:t>
            </a:r>
            <a:r>
              <a:rPr lang="en-US" b="1" dirty="0">
                <a:solidFill>
                  <a:srgbClr val="0070C0"/>
                </a:solidFill>
                <a:effectLst>
                  <a:outerShdw blurRad="38100" dist="38100" dir="2700000" algn="tl">
                    <a:srgbClr val="000000">
                      <a:alpha val="43137"/>
                    </a:srgbClr>
                  </a:outerShdw>
                </a:effectLst>
              </a:rPr>
              <a:t> evidence </a:t>
            </a:r>
            <a:r>
              <a:rPr lang="en-US" dirty="0">
                <a:solidFill>
                  <a:srgbClr val="002060"/>
                </a:solidFill>
                <a:effectLst>
                  <a:outerShdw blurRad="38100" dist="38100" dir="2700000" algn="tl">
                    <a:srgbClr val="000000">
                      <a:alpha val="43137"/>
                    </a:srgbClr>
                  </a:outerShdw>
                </a:effectLst>
              </a:rPr>
              <a:t>that Amazon is currently engaging in personalized pricing</a:t>
            </a:r>
          </a:p>
        </p:txBody>
      </p:sp>
    </p:spTree>
    <p:extLst>
      <p:ext uri="{BB962C8B-B14F-4D97-AF65-F5344CB8AC3E}">
        <p14:creationId xmlns:p14="http://schemas.microsoft.com/office/powerpoint/2010/main" val="2836892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90EE386-5313-0D29-4AAD-771BC10D7A95}"/>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0DDD38DB-F5F4-F450-7374-AAB6201AC264}"/>
              </a:ext>
            </a:extLst>
          </p:cNvPr>
          <p:cNvSpPr>
            <a:spLocks noGrp="1"/>
          </p:cNvSpPr>
          <p:nvPr>
            <p:ph idx="1"/>
          </p:nvPr>
        </p:nvSpPr>
        <p:spPr>
          <a:xfrm>
            <a:off x="838200" y="1825625"/>
            <a:ext cx="10515600" cy="4850478"/>
          </a:xfrm>
        </p:spPr>
        <p:txBody>
          <a:bodyPr>
            <a:normAutofit/>
          </a:bodyPr>
          <a:lstStyle/>
          <a:p>
            <a:r>
              <a:rPr lang="pl-PL" b="1" dirty="0">
                <a:solidFill>
                  <a:srgbClr val="002060"/>
                </a:solidFill>
                <a:effectLst>
                  <a:outerShdw blurRad="38100" dist="38100" dir="2700000" algn="tl">
                    <a:srgbClr val="000000">
                      <a:alpha val="43137"/>
                    </a:srgbClr>
                  </a:outerShdw>
                </a:effectLst>
              </a:rPr>
              <a:t>Business question</a:t>
            </a:r>
            <a:r>
              <a:rPr lang="pl-PL" dirty="0">
                <a:solidFill>
                  <a:srgbClr val="00206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h</a:t>
            </a:r>
            <a:r>
              <a:rPr lang="en-US" b="1" dirty="0">
                <a:solidFill>
                  <a:srgbClr val="FF0000"/>
                </a:solidFill>
                <a:effectLst>
                  <a:outerShdw blurRad="38100" dist="38100" dir="2700000" algn="tl">
                    <a:srgbClr val="000000">
                      <a:alpha val="43137"/>
                    </a:srgbClr>
                  </a:outerShdw>
                </a:effectLst>
              </a:rPr>
              <a:t>ow to introduce discriminatory pricing without triggering consumer backlash</a:t>
            </a:r>
            <a:r>
              <a:rPr lang="en-US" dirty="0">
                <a:solidFill>
                  <a:srgbClr val="002060"/>
                </a:solidFill>
                <a:effectLst>
                  <a:outerShdw blurRad="38100" dist="38100" dir="2700000" algn="tl">
                    <a:srgbClr val="000000">
                      <a:alpha val="43137"/>
                    </a:srgbClr>
                  </a:outerShdw>
                </a:effectLst>
              </a:rPr>
              <a:t>. One mechanism </a:t>
            </a:r>
            <a:r>
              <a:rPr lang="pl-PL" dirty="0">
                <a:solidFill>
                  <a:srgbClr val="002060"/>
                </a:solidFill>
                <a:effectLst>
                  <a:outerShdw blurRad="38100" dist="38100" dir="2700000" algn="tl">
                    <a:srgbClr val="000000">
                      <a:alpha val="43137"/>
                    </a:srgbClr>
                  </a:outerShdw>
                </a:effectLst>
              </a:rPr>
              <a:t>is</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highly </a:t>
            </a:r>
            <a:r>
              <a:rPr lang="en-US" b="1" dirty="0">
                <a:solidFill>
                  <a:srgbClr val="FF0000"/>
                </a:solidFill>
                <a:effectLst>
                  <a:outerShdw blurRad="38100" dist="38100" dir="2700000" algn="tl">
                    <a:srgbClr val="000000">
                      <a:alpha val="43137"/>
                    </a:srgbClr>
                  </a:outerShdw>
                </a:effectLst>
              </a:rPr>
              <a:t>personalized coupons </a:t>
            </a:r>
            <a:r>
              <a:rPr lang="en-US" dirty="0">
                <a:solidFill>
                  <a:srgbClr val="002060"/>
                </a:solidFill>
                <a:effectLst>
                  <a:outerShdw blurRad="38100" dist="38100" dir="2700000" algn="tl">
                    <a:srgbClr val="000000">
                      <a:alpha val="43137"/>
                    </a:srgbClr>
                  </a:outerShdw>
                </a:effectLst>
              </a:rPr>
              <a:t>sent at the point of sale, which would </a:t>
            </a:r>
            <a:r>
              <a:rPr lang="en-US" b="1" dirty="0">
                <a:solidFill>
                  <a:srgbClr val="FF0000"/>
                </a:solidFill>
                <a:effectLst>
                  <a:outerShdw blurRad="38100" dist="38100" dir="2700000" algn="tl">
                    <a:srgbClr val="000000">
                      <a:alpha val="43137"/>
                    </a:srgbClr>
                  </a:outerShdw>
                </a:effectLst>
              </a:rPr>
              <a:t>avoid the need to show </a:t>
            </a:r>
            <a:r>
              <a:rPr lang="en-US" b="1" dirty="0">
                <a:solidFill>
                  <a:srgbClr val="002060"/>
                </a:solidFill>
                <a:effectLst>
                  <a:outerShdw blurRad="38100" dist="38100" dir="2700000" algn="tl">
                    <a:srgbClr val="000000">
                      <a:alpha val="43137"/>
                    </a:srgbClr>
                  </a:outerShdw>
                </a:effectLst>
              </a:rPr>
              <a:t>consumers different prices</a:t>
            </a:r>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but would still achieve discriminatory pricing</a:t>
            </a:r>
            <a:endParaRPr lang="pl-PL" dirty="0">
              <a:solidFill>
                <a:srgbClr val="002060"/>
              </a:solidFill>
              <a:effectLst>
                <a:outerShdw blurRad="38100" dist="38100" dir="2700000" algn="tl">
                  <a:srgbClr val="000000">
                    <a:alpha val="43137"/>
                  </a:srgbClr>
                </a:outerShdw>
              </a:effectLst>
            </a:endParaRPr>
          </a:p>
          <a:p>
            <a:r>
              <a:rPr lang="pl-PL" b="1" dirty="0">
                <a:solidFill>
                  <a:srgbClr val="002060"/>
                </a:solidFill>
                <a:effectLst>
                  <a:outerShdw blurRad="38100" dist="38100" dir="2700000" algn="tl">
                    <a:srgbClr val="000000">
                      <a:alpha val="43137"/>
                    </a:srgbClr>
                  </a:outerShdw>
                </a:effectLst>
              </a:rPr>
              <a:t>Brick-and-mortar</a:t>
            </a:r>
            <a:r>
              <a:rPr lang="en-US" b="1" dirty="0">
                <a:solidFill>
                  <a:srgbClr val="002060"/>
                </a:solidFill>
                <a:effectLst>
                  <a:outerShdw blurRad="38100" dist="38100" dir="2700000" algn="tl">
                    <a:srgbClr val="000000">
                      <a:alpha val="43137"/>
                    </a:srgbClr>
                  </a:outerShdw>
                </a:effectLst>
              </a:rPr>
              <a:t> stores also collect data on customer purchasing habits and send personalized coupons</a:t>
            </a:r>
            <a:r>
              <a:rPr lang="en-US" dirty="0">
                <a:solidFill>
                  <a:srgbClr val="002060"/>
                </a:solidFill>
                <a:effectLst>
                  <a:outerShdw blurRad="38100" dist="38100" dir="2700000" algn="tl">
                    <a:srgbClr val="000000">
                      <a:alpha val="43137"/>
                    </a:srgbClr>
                  </a:outerShdw>
                </a:effectLst>
              </a:rPr>
              <a:t>.</a:t>
            </a:r>
            <a:r>
              <a:rPr lang="pl-PL"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sym typeface="Wingdings" panose="05000000000000000000" pitchFamily="2" charset="2"/>
              </a:rPr>
              <a:t></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16587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AD5F9E-18D6-2E69-3219-73244A6D5648}"/>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err="1">
                <a:solidFill>
                  <a:srgbClr val="FF0000"/>
                </a:solidFill>
                <a:effectLst>
                  <a:outerShdw blurRad="38100" dist="38100" dir="2700000" algn="tl">
                    <a:srgbClr val="000000">
                      <a:alpha val="43137"/>
                    </a:srgbClr>
                  </a:outerShdw>
                </a:effectLst>
                <a:highlight>
                  <a:srgbClr val="00FF00"/>
                </a:highlight>
              </a:rPr>
              <a:t>Discriminatory</a:t>
            </a:r>
            <a:r>
              <a:rPr lang="pl-PL" sz="3600" b="1" dirty="0">
                <a:solidFill>
                  <a:srgbClr val="FF0000"/>
                </a:solidFill>
                <a:effectLst>
                  <a:outerShdw blurRad="38100" dist="38100" dir="2700000" algn="tl">
                    <a:srgbClr val="000000">
                      <a:alpha val="43137"/>
                    </a:srgbClr>
                  </a:outerShdw>
                </a:effectLst>
                <a:highlight>
                  <a:srgbClr val="00FF00"/>
                </a:highlight>
              </a:rPr>
              <a:t> </a:t>
            </a:r>
            <a:r>
              <a:rPr lang="pl-PL" sz="3600" b="1" dirty="0" err="1">
                <a:solidFill>
                  <a:srgbClr val="FF0000"/>
                </a:solidFill>
                <a:effectLst>
                  <a:outerShdw blurRad="38100" dist="38100" dir="2700000" algn="tl">
                    <a:srgbClr val="000000">
                      <a:alpha val="43137"/>
                    </a:srgbClr>
                  </a:outerShdw>
                </a:effectLst>
                <a:highlight>
                  <a:srgbClr val="00FF00"/>
                </a:highlight>
              </a:rPr>
              <a:t>Pricing</a:t>
            </a:r>
            <a:r>
              <a:rPr lang="pl-PL" sz="3600" b="1" dirty="0">
                <a:solidFill>
                  <a:srgbClr val="FF0000"/>
                </a:solidFill>
                <a:effectLst>
                  <a:outerShdw blurRad="38100" dist="38100" dir="2700000" algn="tl">
                    <a:srgbClr val="000000">
                      <a:alpha val="43137"/>
                    </a:srgbClr>
                  </a:outerShdw>
                </a:effectLst>
                <a:highlight>
                  <a:srgbClr val="00FF00"/>
                </a:highlight>
              </a:rPr>
              <a:t> and </a:t>
            </a:r>
            <a:r>
              <a:rPr lang="pl-PL" sz="3600" b="1" dirty="0" err="1">
                <a:solidFill>
                  <a:srgbClr val="FF0000"/>
                </a:solidFill>
                <a:effectLst>
                  <a:outerShdw blurRad="38100" dist="38100" dir="2700000" algn="tl">
                    <a:srgbClr val="000000">
                      <a:alpha val="43137"/>
                    </a:srgbClr>
                  </a:outerShdw>
                </a:effectLst>
                <a:highlight>
                  <a:srgbClr val="00FF00"/>
                </a:highlight>
              </a:rPr>
              <a:t>Fees</a:t>
            </a:r>
            <a:endParaRPr lang="en-US" sz="3600" dirty="0"/>
          </a:p>
        </p:txBody>
      </p:sp>
      <p:sp>
        <p:nvSpPr>
          <p:cNvPr id="3" name="Symbol zastępczy zawartości 2">
            <a:extLst>
              <a:ext uri="{FF2B5EF4-FFF2-40B4-BE49-F238E27FC236}">
                <a16:creationId xmlns:a16="http://schemas.microsoft.com/office/drawing/2014/main" id="{3FE59ECC-5929-8908-B1DE-5B00FC20A57C}"/>
              </a:ext>
            </a:extLst>
          </p:cNvPr>
          <p:cNvSpPr>
            <a:spLocks noGrp="1"/>
          </p:cNvSpPr>
          <p:nvPr>
            <p:ph idx="1"/>
          </p:nvPr>
        </p:nvSpPr>
        <p:spPr/>
        <p:txBody>
          <a:bodyPr/>
          <a:lstStyle/>
          <a:p>
            <a:r>
              <a:rPr lang="pl-PL" dirty="0">
                <a:solidFill>
                  <a:srgbClr val="002060"/>
                </a:solidFill>
                <a:effectLst>
                  <a:outerShdw blurRad="38100" dist="38100" dir="2700000" algn="tl">
                    <a:srgbClr val="000000">
                      <a:alpha val="43137"/>
                    </a:srgbClr>
                  </a:outerShdw>
                </a:effectLst>
              </a:rPr>
              <a:t>=</a:t>
            </a:r>
            <a:r>
              <a:rPr lang="pl-PL" dirty="0">
                <a:solidFill>
                  <a:srgbClr val="002060"/>
                </a:solidFill>
                <a:effectLst>
                  <a:outerShdw blurRad="38100" dist="38100" dir="2700000" algn="tl">
                    <a:srgbClr val="000000">
                      <a:alpha val="43137"/>
                    </a:srgbClr>
                  </a:outerShdw>
                </a:effectLst>
                <a:sym typeface="Wingdings" panose="05000000000000000000" pitchFamily="2" charset="2"/>
              </a:rPr>
              <a:t> </a:t>
            </a:r>
            <a:r>
              <a:rPr lang="en-US" dirty="0">
                <a:solidFill>
                  <a:srgbClr val="002060"/>
                </a:solidFill>
                <a:effectLst>
                  <a:outerShdw blurRad="38100" dist="38100" dir="2700000" algn="tl">
                    <a:srgbClr val="000000">
                      <a:alpha val="43137"/>
                    </a:srgbClr>
                  </a:outerShdw>
                </a:effectLst>
              </a:rPr>
              <a:t>But </a:t>
            </a:r>
            <a:r>
              <a:rPr lang="en-US" b="1" dirty="0">
                <a:solidFill>
                  <a:srgbClr val="FF0000"/>
                </a:solidFill>
                <a:effectLst>
                  <a:outerShdw blurRad="38100" dist="38100" dir="2700000" algn="tl">
                    <a:srgbClr val="000000">
                      <a:alpha val="43137"/>
                    </a:srgbClr>
                  </a:outerShdw>
                </a:effectLst>
              </a:rPr>
              <a:t>the types of consumer behavior </a:t>
            </a:r>
            <a:r>
              <a:rPr lang="en-US" dirty="0">
                <a:solidFill>
                  <a:srgbClr val="002060"/>
                </a:solidFill>
                <a:effectLst>
                  <a:outerShdw blurRad="38100" dist="38100" dir="2700000" algn="tl">
                    <a:srgbClr val="000000">
                      <a:alpha val="43137"/>
                    </a:srgbClr>
                  </a:outerShdw>
                </a:effectLst>
              </a:rPr>
              <a:t>that </a:t>
            </a:r>
            <a:r>
              <a:rPr lang="en-US" b="1" dirty="0">
                <a:solidFill>
                  <a:srgbClr val="002060"/>
                </a:solidFill>
                <a:effectLst>
                  <a:outerShdw blurRad="38100" dist="38100" dir="2700000" algn="tl">
                    <a:srgbClr val="000000">
                      <a:alpha val="43137"/>
                    </a:srgbClr>
                  </a:outerShdw>
                </a:effectLst>
              </a:rPr>
              <a:t>Internet firms </a:t>
            </a:r>
            <a:r>
              <a:rPr lang="en-US" dirty="0">
                <a:solidFill>
                  <a:srgbClr val="002060"/>
                </a:solidFill>
                <a:effectLst>
                  <a:outerShdw blurRad="38100" dist="38100" dir="2700000" algn="tl">
                    <a:srgbClr val="000000">
                      <a:alpha val="43137"/>
                    </a:srgbClr>
                  </a:outerShdw>
                </a:effectLst>
              </a:rPr>
              <a:t>can access— </a:t>
            </a:r>
            <a:r>
              <a:rPr lang="en-US" i="1" dirty="0">
                <a:solidFill>
                  <a:srgbClr val="002060"/>
                </a:solidFill>
                <a:effectLst>
                  <a:outerShdw blurRad="38100" dist="38100" dir="2700000" algn="tl">
                    <a:srgbClr val="000000">
                      <a:alpha val="43137"/>
                    </a:srgbClr>
                  </a:outerShdw>
                </a:effectLst>
              </a:rPr>
              <a:t>how long you hover your mouse</a:t>
            </a:r>
            <a:r>
              <a:rPr lang="pl-PL" i="1" dirty="0">
                <a:solidFill>
                  <a:srgbClr val="002060"/>
                </a:solidFill>
                <a:effectLst>
                  <a:outerShdw blurRad="38100" dist="38100" dir="2700000" algn="tl">
                    <a:srgbClr val="000000">
                      <a:alpha val="43137"/>
                    </a:srgbClr>
                  </a:outerShdw>
                </a:effectLst>
              </a:rPr>
              <a:t> </a:t>
            </a:r>
            <a:r>
              <a:rPr lang="en-US" i="1" dirty="0">
                <a:solidFill>
                  <a:srgbClr val="002060"/>
                </a:solidFill>
                <a:effectLst>
                  <a:outerShdw blurRad="38100" dist="38100" dir="2700000" algn="tl">
                    <a:srgbClr val="000000">
                      <a:alpha val="43137"/>
                    </a:srgbClr>
                  </a:outerShdw>
                </a:effectLst>
              </a:rPr>
              <a:t>on a particular item, how many days an item sits in your shopping basket before you purchase it, or the fashion blogs you visit before looking for those same items through a search engine</a:t>
            </a:r>
            <a:r>
              <a:rPr lang="en-US" dirty="0">
                <a:solidFill>
                  <a:srgbClr val="002060"/>
                </a:solidFill>
                <a:effectLst>
                  <a:outerShdw blurRad="38100" dist="38100" dir="2700000" algn="tl">
                    <a:srgbClr val="000000">
                      <a:alpha val="43137"/>
                    </a:srgbClr>
                  </a:outerShdw>
                </a:effectLst>
              </a:rPr>
              <a:t>— is uncharted ground…</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unlike brick- and- mortar stores— where everyone at least sees a </a:t>
            </a:r>
            <a:r>
              <a:rPr lang="pl-PL" b="1" dirty="0">
                <a:solidFill>
                  <a:srgbClr val="FF0000"/>
                </a:solidFill>
                <a:effectLst>
                  <a:outerShdw blurRad="38100" dist="38100" dir="2700000" algn="tl">
                    <a:srgbClr val="000000">
                      <a:alpha val="43137"/>
                    </a:srgbClr>
                  </a:outerShdw>
                </a:effectLst>
              </a:rPr>
              <a:t>standard</a:t>
            </a:r>
            <a:r>
              <a:rPr lang="en-US" b="1" dirty="0">
                <a:solidFill>
                  <a:srgbClr val="FF0000"/>
                </a:solidFill>
                <a:effectLst>
                  <a:outerShdw blurRad="38100" dist="38100" dir="2700000" algn="tl">
                    <a:srgbClr val="000000">
                      <a:alpha val="43137"/>
                    </a:srgbClr>
                  </a:outerShdw>
                </a:effectLst>
              </a:rPr>
              <a:t> price </a:t>
            </a:r>
            <a:endParaRPr lang="pl-PL" b="1" dirty="0">
              <a:solidFill>
                <a:srgbClr val="FF0000"/>
              </a:solidFill>
              <a:effectLst>
                <a:outerShdw blurRad="38100" dist="38100" dir="2700000" algn="tl">
                  <a:srgbClr val="000000">
                    <a:alpha val="43137"/>
                  </a:srgbClr>
                </a:outerShdw>
              </a:effectLst>
            </a:endParaRPr>
          </a:p>
          <a:p>
            <a:r>
              <a:rPr lang="en-US" b="1" dirty="0">
                <a:solidFill>
                  <a:srgbClr val="0070C0"/>
                </a:solidFill>
                <a:effectLst>
                  <a:outerShdw blurRad="38100" dist="38100" dir="2700000" algn="tl">
                    <a:srgbClr val="000000">
                      <a:alpha val="43137"/>
                    </a:srgbClr>
                  </a:outerShdw>
                </a:effectLst>
              </a:rPr>
              <a:t>Internet retail enables firms </a:t>
            </a:r>
            <a:r>
              <a:rPr lang="en-US" dirty="0">
                <a:solidFill>
                  <a:srgbClr val="002060"/>
                </a:solidFill>
                <a:effectLst>
                  <a:outerShdw blurRad="38100" dist="38100" dir="2700000" algn="tl">
                    <a:srgbClr val="000000">
                      <a:alpha val="43137"/>
                    </a:srgbClr>
                  </a:outerShdw>
                </a:effectLst>
              </a:rPr>
              <a:t>to entirely personalize consumer experiences, which </a:t>
            </a:r>
            <a:r>
              <a:rPr lang="en-US" b="1" dirty="0">
                <a:solidFill>
                  <a:srgbClr val="FF0000"/>
                </a:solidFill>
                <a:effectLst>
                  <a:outerShdw blurRad="38100" dist="38100" dir="2700000" algn="tl">
                    <a:srgbClr val="000000">
                      <a:alpha val="43137"/>
                    </a:srgbClr>
                  </a:outerShdw>
                </a:effectLst>
              </a:rPr>
              <a:t>eliminates any collective baseline </a:t>
            </a:r>
            <a:r>
              <a:rPr lang="en-US" b="1" dirty="0">
                <a:solidFill>
                  <a:srgbClr val="0070C0"/>
                </a:solidFill>
                <a:effectLst>
                  <a:outerShdw blurRad="38100" dist="38100" dir="2700000" algn="tl">
                    <a:srgbClr val="000000">
                      <a:alpha val="43137"/>
                    </a:srgbClr>
                  </a:outerShdw>
                </a:effectLst>
              </a:rPr>
              <a:t>from which to gauge price increases or decreases</a:t>
            </a:r>
          </a:p>
          <a:p>
            <a:endParaRPr lang="en-US" dirty="0"/>
          </a:p>
        </p:txBody>
      </p:sp>
    </p:spTree>
    <p:extLst>
      <p:ext uri="{BB962C8B-B14F-4D97-AF65-F5344CB8AC3E}">
        <p14:creationId xmlns:p14="http://schemas.microsoft.com/office/powerpoint/2010/main" val="23011541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8127280-4BFB-C02E-3645-1B4798888598}"/>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33AEBF66-E626-4322-B53B-0BFF5D389FB7}"/>
              </a:ext>
            </a:extLst>
          </p:cNvPr>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rPr>
              <a:t>Courts generally </a:t>
            </a:r>
            <a:r>
              <a:rPr lang="en-US" b="1" dirty="0">
                <a:solidFill>
                  <a:srgbClr val="FF0000"/>
                </a:solidFill>
                <a:effectLst>
                  <a:outerShdw blurRad="38100" dist="38100" dir="2700000" algn="tl">
                    <a:srgbClr val="000000">
                      <a:alpha val="43137"/>
                    </a:srgbClr>
                  </a:outerShdw>
                </a:effectLst>
              </a:rPr>
              <a:t>assume that a firm will recoup by increasing prices </a:t>
            </a:r>
            <a:r>
              <a:rPr lang="en-US" b="1" dirty="0">
                <a:solidFill>
                  <a:srgbClr val="FF0000"/>
                </a:solidFill>
                <a:effectLst>
                  <a:outerShdw blurRad="38100" dist="38100" dir="2700000" algn="tl">
                    <a:srgbClr val="000000">
                      <a:alpha val="43137"/>
                    </a:srgbClr>
                  </a:outerShdw>
                </a:effectLst>
                <a:highlight>
                  <a:srgbClr val="FFFF00"/>
                </a:highlight>
              </a:rPr>
              <a:t>on the same goods </a:t>
            </a:r>
            <a:r>
              <a:rPr lang="en-US" b="1" dirty="0">
                <a:solidFill>
                  <a:srgbClr val="002060"/>
                </a:solidFill>
                <a:effectLst>
                  <a:outerShdw blurRad="38100" dist="38100" dir="2700000" algn="tl">
                    <a:srgbClr val="000000">
                      <a:alpha val="43137"/>
                    </a:srgbClr>
                  </a:outerShdw>
                </a:effectLst>
              </a:rPr>
              <a:t>on which it previously lost money</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But </a:t>
            </a:r>
            <a:r>
              <a:rPr lang="pl-PL" b="1" dirty="0">
                <a:solidFill>
                  <a:srgbClr val="FF0000"/>
                </a:solidFill>
                <a:effectLst>
                  <a:outerShdw blurRad="38100" dist="38100" dir="2700000" algn="tl">
                    <a:srgbClr val="000000">
                      <a:alpha val="43137"/>
                    </a:srgbClr>
                  </a:outerShdw>
                </a:effectLst>
                <a:highlight>
                  <a:srgbClr val="FFFF00"/>
                </a:highlight>
              </a:rPr>
              <a:t>recoupment</a:t>
            </a:r>
            <a:r>
              <a:rPr lang="en-US" b="1" dirty="0">
                <a:solidFill>
                  <a:srgbClr val="FF0000"/>
                </a:solidFill>
                <a:effectLst>
                  <a:outerShdw blurRad="38100" dist="38100" dir="2700000" algn="tl">
                    <a:srgbClr val="000000">
                      <a:alpha val="43137"/>
                    </a:srgbClr>
                  </a:outerShdw>
                </a:effectLst>
                <a:highlight>
                  <a:srgbClr val="FFFF00"/>
                </a:highlight>
              </a:rPr>
              <a:t> across markets </a:t>
            </a:r>
            <a:r>
              <a:rPr lang="en-US" dirty="0">
                <a:solidFill>
                  <a:srgbClr val="002060"/>
                </a:solidFill>
                <a:effectLst>
                  <a:outerShdw blurRad="38100" dist="38100" dir="2700000" algn="tl">
                    <a:srgbClr val="000000">
                      <a:alpha val="43137"/>
                    </a:srgbClr>
                  </a:outerShdw>
                </a:effectLst>
              </a:rPr>
              <a:t>is also available as a strategy, especially for firms as </a:t>
            </a:r>
            <a:r>
              <a:rPr lang="en-US" b="1" dirty="0">
                <a:solidFill>
                  <a:srgbClr val="002060"/>
                </a:solidFill>
                <a:effectLst>
                  <a:outerShdw blurRad="38100" dist="38100" dir="2700000" algn="tl">
                    <a:srgbClr val="000000">
                      <a:alpha val="43137"/>
                    </a:srgbClr>
                  </a:outerShdw>
                </a:effectLst>
              </a:rPr>
              <a:t>diversified across products </a:t>
            </a:r>
            <a:r>
              <a:rPr lang="en-US" dirty="0">
                <a:solidFill>
                  <a:srgbClr val="002060"/>
                </a:solidFill>
                <a:effectLst>
                  <a:outerShdw blurRad="38100" dist="38100" dir="2700000" algn="tl">
                    <a:srgbClr val="000000">
                      <a:alpha val="43137"/>
                    </a:srgbClr>
                  </a:outerShdw>
                </a:effectLst>
              </a:rPr>
              <a:t>and services as Amazon</a:t>
            </a:r>
            <a:endParaRPr lang="pl-PL"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Chicago School</a:t>
            </a:r>
            <a:r>
              <a:rPr lang="en-US" dirty="0">
                <a:solidFill>
                  <a:srgbClr val="002060"/>
                </a:solidFill>
                <a:effectLst>
                  <a:outerShdw blurRad="38100" dist="38100" dir="2700000" algn="tl">
                    <a:srgbClr val="000000">
                      <a:alpha val="43137"/>
                    </a:srgbClr>
                  </a:outerShdw>
                </a:effectLst>
              </a:rPr>
              <a:t>, which assumes </a:t>
            </a:r>
            <a:r>
              <a:rPr lang="en-US" b="1" dirty="0">
                <a:solidFill>
                  <a:srgbClr val="002060"/>
                </a:solidFill>
                <a:effectLst>
                  <a:outerShdw blurRad="38100" dist="38100" dir="2700000" algn="tl">
                    <a:srgbClr val="000000">
                      <a:alpha val="43137"/>
                    </a:srgbClr>
                  </a:outerShdw>
                </a:effectLst>
                <a:highlight>
                  <a:srgbClr val="FFFF00"/>
                </a:highlight>
              </a:rPr>
              <a:t>recoupment in </a:t>
            </a:r>
            <a:r>
              <a:rPr lang="pl-PL" b="1" dirty="0">
                <a:solidFill>
                  <a:srgbClr val="002060"/>
                </a:solidFill>
                <a:effectLst>
                  <a:outerShdw blurRad="38100" dist="38100" dir="2700000" algn="tl">
                    <a:srgbClr val="000000">
                      <a:alpha val="43137"/>
                    </a:srgbClr>
                  </a:outerShdw>
                </a:effectLst>
                <a:highlight>
                  <a:srgbClr val="FFFF00"/>
                </a:highlight>
              </a:rPr>
              <a:t>single-product</a:t>
            </a:r>
            <a:r>
              <a:rPr lang="en-US" b="1" dirty="0">
                <a:solidFill>
                  <a:srgbClr val="002060"/>
                </a:solidFill>
                <a:effectLst>
                  <a:outerShdw blurRad="38100" dist="38100" dir="2700000" algn="tl">
                    <a:srgbClr val="000000">
                      <a:alpha val="43137"/>
                    </a:srgbClr>
                  </a:outerShdw>
                </a:effectLst>
                <a:highlight>
                  <a:srgbClr val="FFFF00"/>
                </a:highlight>
              </a:rPr>
              <a:t> </a:t>
            </a:r>
            <a:r>
              <a:rPr lang="en-US" dirty="0">
                <a:solidFill>
                  <a:srgbClr val="002060"/>
                </a:solidFill>
                <a:effectLst>
                  <a:outerShdw blurRad="38100" dist="38100" dir="2700000" algn="tl">
                    <a:srgbClr val="000000">
                      <a:alpha val="43137"/>
                    </a:srgbClr>
                  </a:outerShdw>
                </a:effectLst>
              </a:rPr>
              <a:t>markets is </a:t>
            </a:r>
            <a:r>
              <a:rPr lang="en-US" b="1" dirty="0">
                <a:solidFill>
                  <a:srgbClr val="002060"/>
                </a:solidFill>
                <a:effectLst>
                  <a:outerShdw blurRad="38100" dist="38100" dir="2700000" algn="tl">
                    <a:srgbClr val="000000">
                      <a:alpha val="43137"/>
                    </a:srgbClr>
                  </a:outerShdw>
                </a:effectLst>
              </a:rPr>
              <a:t>unlikely</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also holds recoupment in </a:t>
            </a:r>
            <a:r>
              <a:rPr lang="en-US" b="1" dirty="0">
                <a:solidFill>
                  <a:srgbClr val="002060"/>
                </a:solidFill>
                <a:effectLst>
                  <a:outerShdw blurRad="38100" dist="38100" dir="2700000" algn="tl">
                    <a:srgbClr val="000000">
                      <a:alpha val="43137"/>
                    </a:srgbClr>
                  </a:outerShdw>
                </a:effectLst>
              </a:rPr>
              <a:t>multiproduct </a:t>
            </a:r>
            <a:r>
              <a:rPr lang="en-US" b="1" dirty="0">
                <a:solidFill>
                  <a:srgbClr val="0070C0"/>
                </a:solidFill>
                <a:effectLst>
                  <a:outerShdw blurRad="38100" dist="38100" dir="2700000" algn="tl">
                    <a:srgbClr val="000000">
                      <a:alpha val="43137"/>
                    </a:srgbClr>
                  </a:outerShdw>
                </a:effectLst>
              </a:rPr>
              <a:t>scenarios to be </a:t>
            </a:r>
            <a:r>
              <a:rPr lang="pl-PL" b="1" dirty="0">
                <a:solidFill>
                  <a:srgbClr val="002060"/>
                </a:solidFill>
                <a:effectLst>
                  <a:outerShdw blurRad="38100" dist="38100" dir="2700000" algn="tl">
                    <a:srgbClr val="000000">
                      <a:alpha val="43137"/>
                    </a:srgbClr>
                  </a:outerShdw>
                </a:effectLst>
              </a:rPr>
              <a:t>impossible</a:t>
            </a:r>
            <a:endParaRPr lang="en-US"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24163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B0513EA-B2BF-2299-1C9D-A46125663A23}"/>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51581ED0-9B50-9400-663B-8CCE16321BF5}"/>
              </a:ext>
            </a:extLst>
          </p:cNvPr>
          <p:cNvSpPr>
            <a:spLocks noGrp="1"/>
          </p:cNvSpPr>
          <p:nvPr>
            <p:ph idx="1"/>
          </p:nvPr>
        </p:nvSpPr>
        <p:spPr>
          <a:xfrm>
            <a:off x="838200" y="1825624"/>
            <a:ext cx="10515600" cy="4958633"/>
          </a:xfrm>
        </p:spPr>
        <p:txBody>
          <a:bodyPr>
            <a:normAutofit/>
          </a:bodyPr>
          <a:lstStyle/>
          <a:p>
            <a:r>
              <a:rPr lang="en-US" b="1" dirty="0">
                <a:solidFill>
                  <a:srgbClr val="002060"/>
                </a:solidFill>
                <a:effectLst>
                  <a:outerShdw blurRad="38100" dist="38100" dir="2700000" algn="tl">
                    <a:srgbClr val="000000">
                      <a:alpha val="43137"/>
                    </a:srgbClr>
                  </a:outerShdw>
                </a:effectLst>
              </a:rPr>
              <a:t>Although </a:t>
            </a:r>
            <a:r>
              <a:rPr lang="pl-PL" b="1" dirty="0">
                <a:solidFill>
                  <a:srgbClr val="002060"/>
                </a:solidFill>
                <a:effectLst>
                  <a:outerShdw blurRad="38100" dist="38100" dir="2700000" algn="tl">
                    <a:srgbClr val="000000">
                      <a:alpha val="43137"/>
                    </a:srgbClr>
                  </a:outerShdw>
                </a:effectLst>
              </a:rPr>
              <a:t>the </a:t>
            </a:r>
            <a:r>
              <a:rPr lang="en-US" b="1" dirty="0">
                <a:solidFill>
                  <a:srgbClr val="002060"/>
                </a:solidFill>
                <a:effectLst>
                  <a:outerShdw blurRad="38100" dist="38100" dir="2700000" algn="tl">
                    <a:srgbClr val="000000">
                      <a:alpha val="43137"/>
                    </a:srgbClr>
                  </a:outerShdw>
                </a:effectLst>
              </a:rPr>
              <a:t>current predatory pricing doctrine focuses </a:t>
            </a:r>
            <a:r>
              <a:rPr lang="en-US" b="1" dirty="0">
                <a:solidFill>
                  <a:srgbClr val="FF0000"/>
                </a:solidFill>
                <a:effectLst>
                  <a:outerShdw blurRad="38100" dist="38100" dir="2700000" algn="tl">
                    <a:srgbClr val="000000">
                      <a:alpha val="43137"/>
                    </a:srgbClr>
                  </a:outerShdw>
                </a:effectLst>
              </a:rPr>
              <a:t>only</a:t>
            </a:r>
            <a:r>
              <a:rPr lang="en-US" b="1" dirty="0">
                <a:solidFill>
                  <a:srgbClr val="002060"/>
                </a:solidFill>
                <a:effectLst>
                  <a:outerShdw blurRad="38100" dist="38100" dir="2700000" algn="tl">
                    <a:srgbClr val="000000">
                      <a:alpha val="43137"/>
                    </a:srgbClr>
                  </a:outerShdw>
                </a:effectLst>
              </a:rPr>
              <a:t> on </a:t>
            </a:r>
            <a:r>
              <a:rPr lang="pl-PL" b="1" dirty="0">
                <a:solidFill>
                  <a:srgbClr val="FF0000"/>
                </a:solidFill>
                <a:effectLst>
                  <a:outerShdw blurRad="38100" dist="38100" dir="2700000" algn="tl">
                    <a:srgbClr val="000000">
                      <a:alpha val="43137"/>
                    </a:srgbClr>
                  </a:outerShdw>
                </a:effectLst>
              </a:rPr>
              <a:t>recoupment</a:t>
            </a:r>
            <a:r>
              <a:rPr lang="en-US" b="1" dirty="0">
                <a:solidFill>
                  <a:srgbClr val="0070C0"/>
                </a:solidFill>
                <a:effectLst>
                  <a:outerShdw blurRad="38100" dist="38100" dir="2700000" algn="tl">
                    <a:srgbClr val="000000">
                      <a:alpha val="43137"/>
                    </a:srgbClr>
                  </a:outerShdw>
                </a:effectLst>
              </a:rPr>
              <a:t> through raising prices </a:t>
            </a:r>
            <a:r>
              <a:rPr lang="en-US" b="1" dirty="0">
                <a:solidFill>
                  <a:srgbClr val="FF0000"/>
                </a:solidFill>
                <a:effectLst>
                  <a:outerShdw blurRad="38100" dist="38100" dir="2700000" algn="tl">
                    <a:srgbClr val="000000">
                      <a:alpha val="43137"/>
                    </a:srgbClr>
                  </a:outerShdw>
                </a:effectLst>
              </a:rPr>
              <a:t>for consumers</a:t>
            </a:r>
            <a:r>
              <a:rPr lang="en-US" b="1" dirty="0">
                <a:solidFill>
                  <a:srgbClr val="002060"/>
                </a:solidFill>
                <a:effectLst>
                  <a:outerShdw blurRad="38100" dist="38100" dir="2700000" algn="tl">
                    <a:srgbClr val="000000">
                      <a:alpha val="43137"/>
                    </a:srgbClr>
                  </a:outerShdw>
                </a:effectLst>
              </a:rPr>
              <a:t>,</a:t>
            </a:r>
            <a:endParaRPr lang="pl-PL" b="1" dirty="0">
              <a:solidFill>
                <a:srgbClr val="002060"/>
              </a:solidFill>
              <a:effectLst>
                <a:outerShdw blurRad="38100" dist="38100" dir="2700000" algn="tl">
                  <a:srgbClr val="000000">
                    <a:alpha val="43137"/>
                  </a:srgbClr>
                </a:outerShdw>
              </a:effectLst>
            </a:endParaRPr>
          </a:p>
          <a:p>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Amazon could also </a:t>
            </a:r>
            <a:r>
              <a:rPr lang="en-US" b="1" dirty="0">
                <a:solidFill>
                  <a:srgbClr val="FF0000"/>
                </a:solidFill>
                <a:effectLst>
                  <a:outerShdw blurRad="38100" dist="38100" dir="2700000" algn="tl">
                    <a:srgbClr val="000000">
                      <a:alpha val="43137"/>
                    </a:srgbClr>
                  </a:outerShdw>
                </a:effectLst>
                <a:highlight>
                  <a:srgbClr val="FFFF00"/>
                </a:highlight>
              </a:rPr>
              <a:t>recoup</a:t>
            </a:r>
            <a:r>
              <a:rPr lang="en-US" b="1" dirty="0">
                <a:solidFill>
                  <a:srgbClr val="FF0000"/>
                </a:solidFill>
                <a:effectLst>
                  <a:outerShdw blurRad="38100" dist="38100" dir="2700000" algn="tl">
                    <a:srgbClr val="000000">
                      <a:alpha val="43137"/>
                    </a:srgbClr>
                  </a:outerShdw>
                </a:effectLst>
              </a:rPr>
              <a:t> its losses by </a:t>
            </a:r>
            <a:r>
              <a:rPr lang="en-US" b="1" dirty="0">
                <a:solidFill>
                  <a:srgbClr val="FF0000"/>
                </a:solidFill>
                <a:effectLst>
                  <a:outerShdw blurRad="38100" dist="38100" dir="2700000" algn="tl">
                    <a:srgbClr val="000000">
                      <a:alpha val="43137"/>
                    </a:srgbClr>
                  </a:outerShdw>
                </a:effectLst>
                <a:highlight>
                  <a:srgbClr val="FFFF00"/>
                </a:highlight>
              </a:rPr>
              <a:t>imposing higher fees on publishers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R</a:t>
            </a:r>
            <a:r>
              <a:rPr lang="en-US" dirty="0">
                <a:solidFill>
                  <a:srgbClr val="002060"/>
                </a:solidFill>
                <a:effectLst>
                  <a:outerShdw blurRad="38100" dist="38100" dir="2700000" algn="tl">
                    <a:srgbClr val="000000">
                      <a:alpha val="43137"/>
                    </a:srgbClr>
                  </a:outerShdw>
                </a:effectLst>
              </a:rPr>
              <a:t>etailer chains like </a:t>
            </a:r>
            <a:r>
              <a:rPr lang="en-US" b="1" dirty="0">
                <a:solidFill>
                  <a:srgbClr val="FF0000"/>
                </a:solidFill>
                <a:effectLst>
                  <a:outerShdw blurRad="38100" dist="38100" dir="2700000" algn="tl">
                    <a:srgbClr val="000000">
                      <a:alpha val="43137"/>
                    </a:srgbClr>
                  </a:outerShdw>
                </a:effectLst>
              </a:rPr>
              <a:t>Barnes &amp; Noble </a:t>
            </a:r>
            <a:r>
              <a:rPr lang="en-US" b="1" dirty="0">
                <a:solidFill>
                  <a:srgbClr val="0070C0"/>
                </a:solidFill>
                <a:effectLst>
                  <a:outerShdw blurRad="38100" dist="38100" dir="2700000" algn="tl">
                    <a:srgbClr val="000000">
                      <a:alpha val="43137"/>
                    </a:srgbClr>
                  </a:outerShdw>
                </a:effectLst>
              </a:rPr>
              <a:t>have long used their market dominance to charge publishers for favorable product placement</a:t>
            </a:r>
            <a:r>
              <a:rPr lang="en-US" dirty="0">
                <a:solidFill>
                  <a:srgbClr val="002060"/>
                </a:solidFill>
                <a:effectLst>
                  <a:outerShdw blurRad="38100" dist="38100" dir="2700000" algn="tl">
                    <a:srgbClr val="000000">
                      <a:alpha val="43137"/>
                    </a:srgbClr>
                  </a:outerShdw>
                </a:effectLst>
              </a:rPr>
              <a:t>, such as displays in a storefront window or on a prominent table.</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5416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16E7A44-4488-A49D-70FB-C581069E79A0}"/>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ESTABLISHING STRUCTURAL DOMINANCE </a:t>
            </a:r>
            <a:r>
              <a:rPr lang="pl-PL"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dirty="0"/>
          </a:p>
        </p:txBody>
      </p:sp>
      <p:sp>
        <p:nvSpPr>
          <p:cNvPr id="3" name="Symbol zastępczy zawartości 2">
            <a:extLst>
              <a:ext uri="{FF2B5EF4-FFF2-40B4-BE49-F238E27FC236}">
                <a16:creationId xmlns:a16="http://schemas.microsoft.com/office/drawing/2014/main" id="{6C8AACEF-16A2-9989-B4CE-D6632BCDAD94}"/>
              </a:ext>
            </a:extLst>
          </p:cNvPr>
          <p:cNvSpPr>
            <a:spLocks noGrp="1"/>
          </p:cNvSpPr>
          <p:nvPr>
            <p:ph idx="1"/>
          </p:nvPr>
        </p:nvSpPr>
        <p:spPr/>
        <p:txBody>
          <a:bodyPr/>
          <a:lstStyle/>
          <a:p>
            <a:r>
              <a:rPr lang="en-US" dirty="0">
                <a:solidFill>
                  <a:srgbClr val="002060"/>
                </a:solidFill>
                <a:effectLst>
                  <a:outerShdw blurRad="38100" dist="38100" dir="2700000" algn="tl">
                    <a:srgbClr val="000000">
                      <a:alpha val="43137"/>
                    </a:srgbClr>
                  </a:outerShdw>
                </a:effectLst>
              </a:rPr>
              <a:t>Amazon’s </a:t>
            </a:r>
            <a:r>
              <a:rPr lang="en-US" b="1" dirty="0">
                <a:solidFill>
                  <a:srgbClr val="FF0000"/>
                </a:solidFill>
                <a:effectLst>
                  <a:outerShdw blurRad="38100" dist="38100" dir="2700000" algn="tl">
                    <a:srgbClr val="000000">
                      <a:alpha val="43137"/>
                    </a:srgbClr>
                  </a:outerShdw>
                </a:effectLst>
              </a:rPr>
              <a:t>dominance in the </a:t>
            </a:r>
            <a:r>
              <a:rPr lang="pl-PL" b="1" dirty="0">
                <a:solidFill>
                  <a:srgbClr val="FF0000"/>
                </a:solidFill>
                <a:effectLst>
                  <a:outerShdw blurRad="38100" dist="38100" dir="2700000" algn="tl">
                    <a:srgbClr val="000000">
                      <a:alpha val="43137"/>
                    </a:srgbClr>
                  </a:outerShdw>
                </a:effectLst>
              </a:rPr>
              <a:t>e-book</a:t>
            </a:r>
            <a:r>
              <a:rPr lang="en-US" b="1" dirty="0">
                <a:solidFill>
                  <a:srgbClr val="FF0000"/>
                </a:solidFill>
                <a:effectLst>
                  <a:outerShdw blurRad="38100" dist="38100" dir="2700000" algn="tl">
                    <a:srgbClr val="000000">
                      <a:alpha val="43137"/>
                    </a:srgbClr>
                  </a:outerShdw>
                </a:effectLst>
              </a:rPr>
              <a:t> market </a:t>
            </a:r>
            <a:r>
              <a:rPr lang="en-US" dirty="0">
                <a:solidFill>
                  <a:srgbClr val="002060"/>
                </a:solidFill>
                <a:effectLst>
                  <a:outerShdw blurRad="38100" dist="38100" dir="2700000" algn="tl">
                    <a:srgbClr val="000000">
                      <a:alpha val="43137"/>
                    </a:srgbClr>
                  </a:outerShdw>
                </a:effectLst>
              </a:rPr>
              <a:t>has enabled it to </a:t>
            </a:r>
            <a:r>
              <a:rPr lang="en-US" b="1" dirty="0">
                <a:solidFill>
                  <a:srgbClr val="FF0000"/>
                </a:solidFill>
                <a:effectLst>
                  <a:outerShdw blurRad="38100" dist="38100" dir="2700000" algn="tl">
                    <a:srgbClr val="000000">
                      <a:alpha val="43137"/>
                    </a:srgbClr>
                  </a:outerShdw>
                </a:effectLst>
              </a:rPr>
              <a:t>demand similar fees </a:t>
            </a:r>
            <a:r>
              <a:rPr lang="en-US" b="1" dirty="0">
                <a:solidFill>
                  <a:srgbClr val="FF0000"/>
                </a:solidFill>
                <a:effectLst>
                  <a:outerShdw blurRad="38100" dist="38100" dir="2700000" algn="tl">
                    <a:srgbClr val="000000">
                      <a:alpha val="43137"/>
                    </a:srgbClr>
                  </a:outerShdw>
                </a:effectLst>
                <a:highlight>
                  <a:srgbClr val="FFFF00"/>
                </a:highlight>
              </a:rPr>
              <a:t>for even the most basic </a:t>
            </a:r>
            <a:r>
              <a:rPr lang="en-US" b="1" dirty="0">
                <a:solidFill>
                  <a:srgbClr val="FF0000"/>
                </a:solidFill>
                <a:effectLst>
                  <a:outerShdw blurRad="38100" dist="38100" dir="2700000" algn="tl">
                    <a:srgbClr val="000000">
                      <a:alpha val="43137"/>
                    </a:srgbClr>
                  </a:outerShdw>
                </a:effectLst>
              </a:rPr>
              <a:t>of services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For example, when renewing its contract with </a:t>
            </a:r>
            <a:r>
              <a:rPr lang="en-US" b="1" dirty="0">
                <a:solidFill>
                  <a:srgbClr val="FF0000"/>
                </a:solidFill>
                <a:effectLst>
                  <a:outerShdw blurRad="38100" dist="38100" dir="2700000" algn="tl">
                    <a:srgbClr val="000000">
                      <a:alpha val="43137"/>
                    </a:srgbClr>
                  </a:outerShdw>
                </a:effectLst>
              </a:rPr>
              <a:t>Hachette</a:t>
            </a:r>
            <a:r>
              <a:rPr lang="en-US" dirty="0">
                <a:solidFill>
                  <a:srgbClr val="002060"/>
                </a:solidFill>
                <a:effectLst>
                  <a:outerShdw blurRad="38100" dist="38100" dir="2700000" algn="tl">
                    <a:srgbClr val="000000">
                      <a:alpha val="43137"/>
                    </a:srgbClr>
                  </a:outerShdw>
                </a:effectLst>
              </a:rPr>
              <a:t> in 2014, Amazon demanded payments for services including </a:t>
            </a:r>
            <a:r>
              <a:rPr lang="en-US" b="1" dirty="0">
                <a:solidFill>
                  <a:srgbClr val="0070C0"/>
                </a:solidFill>
                <a:effectLst>
                  <a:outerShdw blurRad="38100" dist="38100" dir="2700000" algn="tl">
                    <a:srgbClr val="000000">
                      <a:alpha val="43137"/>
                    </a:srgbClr>
                  </a:outerShdw>
                </a:effectLst>
              </a:rPr>
              <a:t>the </a:t>
            </a:r>
            <a:r>
              <a:rPr lang="en-US" b="1" dirty="0">
                <a:solidFill>
                  <a:srgbClr val="FF0000"/>
                </a:solidFill>
                <a:effectLst>
                  <a:outerShdw blurRad="38100" dist="38100" dir="2700000" algn="tl">
                    <a:srgbClr val="000000">
                      <a:alpha val="43137"/>
                    </a:srgbClr>
                  </a:outerShdw>
                </a:effectLst>
              </a:rPr>
              <a:t>preorder button</a:t>
            </a:r>
            <a:r>
              <a:rPr lang="en-US"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personalized recommendations</a:t>
            </a:r>
            <a:r>
              <a:rPr lang="en-US" dirty="0">
                <a:solidFill>
                  <a:srgbClr val="002060"/>
                </a:solidFill>
                <a:effectLst>
                  <a:outerShdw blurRad="38100" dist="38100" dir="2700000" algn="tl">
                    <a:srgbClr val="000000">
                      <a:alpha val="43137"/>
                    </a:srgbClr>
                  </a:outerShdw>
                </a:effectLst>
              </a:rPr>
              <a:t>, and an Amazon employee assigned to the publisher.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Amazon “is </a:t>
            </a:r>
            <a:r>
              <a:rPr lang="en-US" b="1" dirty="0">
                <a:solidFill>
                  <a:srgbClr val="002060"/>
                </a:solidFill>
                <a:effectLst>
                  <a:outerShdw blurRad="38100" dist="38100" dir="2700000" algn="tl">
                    <a:srgbClr val="000000">
                      <a:alpha val="43137"/>
                    </a:srgbClr>
                  </a:outerShdw>
                </a:effectLst>
              </a:rPr>
              <a:t>very inventive about what we’d call standard service</a:t>
            </a:r>
            <a:r>
              <a:rPr lang="en-US" dirty="0">
                <a:solidFill>
                  <a:srgbClr val="002060"/>
                </a:solidFill>
                <a:effectLst>
                  <a:outerShdw blurRad="38100" dist="38100" dir="2700000" algn="tl">
                    <a:srgbClr val="000000">
                      <a:alpha val="43137"/>
                    </a:srgbClr>
                  </a:outerShdw>
                </a:effectLst>
              </a:rPr>
              <a:t>. . . . </a:t>
            </a:r>
            <a:r>
              <a:rPr lang="pl-PL" dirty="0">
                <a:solidFill>
                  <a:srgbClr val="002060"/>
                </a:solidFill>
                <a:effectLst>
                  <a:outerShdw blurRad="38100" dist="38100" dir="2700000" algn="tl">
                    <a:srgbClr val="000000">
                      <a:alpha val="43137"/>
                    </a:srgbClr>
                  </a:outerShdw>
                </a:effectLst>
              </a:rPr>
              <a:t>They are</a:t>
            </a:r>
            <a:r>
              <a:rPr lang="en-US" dirty="0">
                <a:solidFill>
                  <a:srgbClr val="002060"/>
                </a:solidFill>
                <a:effectLst>
                  <a:outerShdw blurRad="38100" dist="38100" dir="2700000" algn="tl">
                    <a:srgbClr val="000000">
                      <a:alpha val="43137"/>
                    </a:srgbClr>
                  </a:outerShdw>
                </a:effectLst>
              </a:rPr>
              <a:t> teasing out all these layers and saying, ‘If you want that service, you’ll have to pay for it</a:t>
            </a:r>
            <a:r>
              <a:rPr lang="pl-PL"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that it previously offered for free</a:t>
            </a:r>
          </a:p>
          <a:p>
            <a:endParaRPr lang="en-US" dirty="0"/>
          </a:p>
        </p:txBody>
      </p:sp>
    </p:spTree>
    <p:extLst>
      <p:ext uri="{BB962C8B-B14F-4D97-AF65-F5344CB8AC3E}">
        <p14:creationId xmlns:p14="http://schemas.microsoft.com/office/powerpoint/2010/main" val="3786603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C36E7A1-B92D-D723-DA6E-3BE168039DF7}"/>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424C270F-59D6-0447-99C5-B383F229E51D}"/>
              </a:ext>
            </a:extLst>
          </p:cNvPr>
          <p:cNvSpPr>
            <a:spLocks noGrp="1"/>
          </p:cNvSpPr>
          <p:nvPr>
            <p:ph idx="1"/>
          </p:nvPr>
        </p:nvSpPr>
        <p:spPr/>
        <p:txBody>
          <a:bodyPr/>
          <a:lstStyle/>
          <a:p>
            <a:r>
              <a:rPr lang="en-US" dirty="0">
                <a:solidFill>
                  <a:srgbClr val="002060"/>
                </a:solidFill>
                <a:effectLst>
                  <a:outerShdw blurRad="38100" dist="38100" dir="2700000" algn="tl">
                    <a:srgbClr val="000000">
                      <a:alpha val="43137"/>
                    </a:srgbClr>
                  </a:outerShdw>
                </a:effectLst>
              </a:rPr>
              <a:t>Amazon has itself </a:t>
            </a:r>
            <a:r>
              <a:rPr lang="en-US" b="1" dirty="0">
                <a:solidFill>
                  <a:srgbClr val="FF0000"/>
                </a:solidFill>
                <a:effectLst>
                  <a:outerShdw blurRad="38100" dist="38100" dir="2700000" algn="tl">
                    <a:srgbClr val="000000">
                      <a:alpha val="43137"/>
                    </a:srgbClr>
                  </a:outerShdw>
                </a:effectLst>
              </a:rPr>
              <a:t>vertically integrated into book publishing</a:t>
            </a:r>
            <a:r>
              <a:rPr lang="en-US" dirty="0">
                <a:solidFill>
                  <a:srgbClr val="002060"/>
                </a:solidFill>
                <a:effectLst>
                  <a:outerShdw blurRad="38100" dist="38100" dir="2700000" algn="tl">
                    <a:srgbClr val="000000">
                      <a:alpha val="43137"/>
                    </a:srgbClr>
                  </a:outerShdw>
                </a:effectLst>
              </a:rPr>
              <a:t>— and hence can </a:t>
            </a:r>
            <a:r>
              <a:rPr lang="en-US" b="1" dirty="0">
                <a:solidFill>
                  <a:srgbClr val="FF0000"/>
                </a:solidFill>
                <a:effectLst>
                  <a:outerShdw blurRad="38100" dist="38100" dir="2700000" algn="tl">
                    <a:srgbClr val="000000">
                      <a:alpha val="43137"/>
                    </a:srgbClr>
                  </a:outerShdw>
                </a:effectLst>
              </a:rPr>
              <a:t>promote its own content</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which </a:t>
            </a:r>
            <a:r>
              <a:rPr lang="en-US" dirty="0">
                <a:solidFill>
                  <a:srgbClr val="002060"/>
                </a:solidFill>
                <a:effectLst>
                  <a:outerShdw blurRad="38100" dist="38100" dir="2700000" algn="tl">
                    <a:srgbClr val="000000">
                      <a:alpha val="43137"/>
                    </a:srgbClr>
                  </a:outerShdw>
                </a:effectLst>
              </a:rPr>
              <a:t>may give it </a:t>
            </a:r>
            <a:r>
              <a:rPr lang="en-US" b="1" dirty="0">
                <a:solidFill>
                  <a:srgbClr val="002060"/>
                </a:solidFill>
                <a:effectLst>
                  <a:outerShdw blurRad="38100" dist="38100" dir="2700000" algn="tl">
                    <a:srgbClr val="000000">
                      <a:alpha val="43137"/>
                    </a:srgbClr>
                  </a:outerShdw>
                </a:effectLst>
              </a:rPr>
              <a:t>additional leverage to hike fees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Any publisher </a:t>
            </a:r>
            <a:r>
              <a:rPr lang="en-US" b="1" dirty="0">
                <a:solidFill>
                  <a:srgbClr val="002060"/>
                </a:solidFill>
                <a:effectLst>
                  <a:outerShdw blurRad="38100" dist="38100" dir="2700000" algn="tl">
                    <a:srgbClr val="000000">
                      <a:alpha val="43137"/>
                    </a:srgbClr>
                  </a:outerShdw>
                </a:effectLst>
              </a:rPr>
              <a:t>that refuses</a:t>
            </a:r>
            <a:r>
              <a:rPr lang="pl-PL" b="1"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to </a:t>
            </a:r>
            <a:r>
              <a:rPr lang="pl-PL" dirty="0" err="1">
                <a:solidFill>
                  <a:srgbClr val="002060"/>
                </a:solidFill>
                <a:effectLst>
                  <a:outerShdw blurRad="38100" dist="38100" dir="2700000" algn="tl">
                    <a:srgbClr val="000000">
                      <a:alpha val="43137"/>
                    </a:srgbClr>
                  </a:outerShdw>
                </a:effectLst>
              </a:rPr>
              <a:t>abide</a:t>
            </a:r>
            <a:r>
              <a:rPr lang="pl-PL" dirty="0">
                <a:solidFill>
                  <a:srgbClr val="002060"/>
                </a:solidFill>
                <a:effectLst>
                  <a:outerShdw blurRad="38100" dist="38100" dir="2700000" algn="tl">
                    <a:srgbClr val="000000">
                      <a:alpha val="43137"/>
                    </a:srgbClr>
                  </a:outerShdw>
                </a:effectLst>
              </a:rPr>
              <a:t> by </a:t>
            </a:r>
            <a:r>
              <a:rPr lang="pl-PL" dirty="0" err="1">
                <a:solidFill>
                  <a:srgbClr val="002060"/>
                </a:solidFill>
                <a:effectLst>
                  <a:outerShdw blurRad="38100" dist="38100" dir="2700000" algn="tl">
                    <a:srgbClr val="000000">
                      <a:alpha val="43137"/>
                    </a:srgbClr>
                  </a:outerShdw>
                </a:effectLst>
              </a:rPr>
              <a:t>Amazon’s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exploitative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rules</a:t>
            </a:r>
            <a:r>
              <a:rPr lang="en-US" dirty="0">
                <a:solidFill>
                  <a:srgbClr val="002060"/>
                </a:solidFill>
                <a:effectLst>
                  <a:outerShdw blurRad="38100" dist="38100" dir="2700000" algn="tl">
                    <a:srgbClr val="000000">
                      <a:alpha val="43137"/>
                    </a:srgbClr>
                  </a:outerShdw>
                </a:effectLst>
              </a:rPr>
              <a:t> could see Amazon </a:t>
            </a:r>
            <a:r>
              <a:rPr lang="en-US" b="1" dirty="0">
                <a:solidFill>
                  <a:srgbClr val="FF0000"/>
                </a:solidFill>
                <a:effectLst>
                  <a:outerShdw blurRad="38100" dist="38100" dir="2700000" algn="tl">
                    <a:srgbClr val="000000">
                      <a:alpha val="43137"/>
                    </a:srgbClr>
                  </a:outerShdw>
                </a:effectLst>
              </a:rPr>
              <a:t>favor its own </a:t>
            </a:r>
            <a:r>
              <a:rPr lang="en-US" b="1" dirty="0">
                <a:solidFill>
                  <a:srgbClr val="002060"/>
                </a:solidFill>
                <a:effectLst>
                  <a:outerShdw blurRad="38100" dist="38100" dir="2700000" algn="tl">
                    <a:srgbClr val="000000">
                      <a:alpha val="43137"/>
                    </a:srgbClr>
                  </a:outerShdw>
                </a:effectLst>
              </a:rPr>
              <a:t>books </a:t>
            </a:r>
            <a:r>
              <a:rPr lang="en-US" dirty="0">
                <a:solidFill>
                  <a:srgbClr val="002060"/>
                </a:solidFill>
                <a:effectLst>
                  <a:outerShdw blurRad="38100" dist="38100" dir="2700000" algn="tl">
                    <a:srgbClr val="000000">
                      <a:alpha val="43137"/>
                    </a:srgbClr>
                  </a:outerShdw>
                </a:effectLst>
              </a:rPr>
              <a:t>over the publisher’s.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It is not uncommon </a:t>
            </a:r>
            <a:r>
              <a:rPr lang="en-US" b="1" dirty="0">
                <a:solidFill>
                  <a:srgbClr val="002060"/>
                </a:solidFill>
                <a:effectLst>
                  <a:outerShdw blurRad="38100" dist="38100" dir="2700000" algn="tl">
                    <a:srgbClr val="000000">
                      <a:alpha val="43137"/>
                    </a:srgbClr>
                  </a:outerShdw>
                </a:effectLst>
              </a:rPr>
              <a:t>for </a:t>
            </a:r>
            <a:r>
              <a:rPr lang="en-US" b="1" dirty="0">
                <a:solidFill>
                  <a:srgbClr val="FF0000"/>
                </a:solidFill>
                <a:effectLst>
                  <a:outerShdw blurRad="38100" dist="38100" dir="2700000" algn="tl">
                    <a:srgbClr val="000000">
                      <a:alpha val="43137"/>
                    </a:srgbClr>
                  </a:outerShdw>
                </a:effectLst>
              </a:rPr>
              <a:t>half of the titles </a:t>
            </a:r>
            <a:r>
              <a:rPr lang="en-US" dirty="0">
                <a:solidFill>
                  <a:srgbClr val="002060"/>
                </a:solidFill>
                <a:effectLst>
                  <a:outerShdw blurRad="38100" dist="38100" dir="2700000" algn="tl">
                    <a:srgbClr val="000000">
                      <a:alpha val="43137"/>
                    </a:srgbClr>
                  </a:outerShdw>
                </a:effectLst>
              </a:rPr>
              <a:t>on Amazon’s Kindle </a:t>
            </a:r>
            <a:r>
              <a:rPr lang="en-US" b="1" dirty="0">
                <a:solidFill>
                  <a:srgbClr val="FF0000"/>
                </a:solidFill>
                <a:effectLst>
                  <a:outerShdw blurRad="38100" dist="38100" dir="2700000" algn="tl">
                    <a:srgbClr val="000000">
                      <a:alpha val="43137"/>
                    </a:srgbClr>
                  </a:outerShdw>
                </a:effectLst>
              </a:rPr>
              <a:t>bestseller list </a:t>
            </a:r>
            <a:r>
              <a:rPr lang="en-US" dirty="0">
                <a:solidFill>
                  <a:srgbClr val="002060"/>
                </a:solidFill>
                <a:effectLst>
                  <a:outerShdw blurRad="38100" dist="38100" dir="2700000" algn="tl">
                    <a:srgbClr val="000000">
                      <a:alpha val="43137"/>
                    </a:srgbClr>
                  </a:outerShdw>
                </a:effectLst>
              </a:rPr>
              <a:t>to be its own</a:t>
            </a:r>
          </a:p>
        </p:txBody>
      </p:sp>
    </p:spTree>
    <p:extLst>
      <p:ext uri="{BB962C8B-B14F-4D97-AF65-F5344CB8AC3E}">
        <p14:creationId xmlns:p14="http://schemas.microsoft.com/office/powerpoint/2010/main" val="1515722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676FECE-B579-E443-8725-4B017DE4FE6A}"/>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EB61B2D9-669B-F1E2-1F88-5F65F928475C}"/>
              </a:ext>
            </a:extLst>
          </p:cNvPr>
          <p:cNvSpPr>
            <a:spLocks noGrp="1"/>
          </p:cNvSpPr>
          <p:nvPr>
            <p:ph idx="1"/>
          </p:nvPr>
        </p:nvSpPr>
        <p:spPr>
          <a:xfrm>
            <a:off x="838200" y="1825625"/>
            <a:ext cx="10515600" cy="4667250"/>
          </a:xfrm>
        </p:spPr>
        <p:txBody>
          <a:bodyPr>
            <a:normAutofit fontScale="92500" lnSpcReduction="10000"/>
          </a:bodyPr>
          <a:lstStyle/>
          <a:p>
            <a:pPr marL="0" indent="0">
              <a:buNone/>
            </a:pPr>
            <a:r>
              <a:rPr lang="en-US" dirty="0">
                <a:solidFill>
                  <a:srgbClr val="002060"/>
                </a:solidFill>
                <a:effectLst>
                  <a:outerShdw blurRad="38100" dist="38100" dir="2700000" algn="tl">
                    <a:srgbClr val="000000">
                      <a:alpha val="43137"/>
                    </a:srgbClr>
                  </a:outerShdw>
                </a:effectLst>
              </a:rPr>
              <a:t>While </a:t>
            </a:r>
            <a:r>
              <a:rPr lang="en-US" b="1" dirty="0">
                <a:solidFill>
                  <a:srgbClr val="FF0000"/>
                </a:solidFill>
                <a:effectLst>
                  <a:outerShdw blurRad="38100" dist="38100" dir="2700000" algn="tl">
                    <a:srgbClr val="000000">
                      <a:alpha val="43137"/>
                    </a:srgbClr>
                  </a:outerShdw>
                </a:effectLst>
              </a:rPr>
              <a:t>not captured by current antitrust doctrine</a:t>
            </a:r>
            <a:r>
              <a:rPr lang="en-US" dirty="0">
                <a:solidFill>
                  <a:srgbClr val="002060"/>
                </a:solidFill>
                <a:effectLst>
                  <a:outerShdw blurRad="38100" dist="38100" dir="2700000" algn="tl">
                    <a:srgbClr val="000000">
                      <a:alpha val="43137"/>
                    </a:srgbClr>
                  </a:outerShdw>
                </a:effectLst>
              </a:rPr>
              <a:t>, </a:t>
            </a:r>
            <a:r>
              <a:rPr lang="en-US" b="1" u="sng" dirty="0">
                <a:solidFill>
                  <a:srgbClr val="002060"/>
                </a:solidFill>
                <a:effectLst>
                  <a:outerShdw blurRad="38100" dist="38100" dir="2700000" algn="tl">
                    <a:srgbClr val="000000">
                      <a:alpha val="43137"/>
                    </a:srgbClr>
                  </a:outerShdw>
                </a:effectLst>
              </a:rPr>
              <a:t>the pressure Amazon puts on publishers </a:t>
            </a:r>
            <a:r>
              <a:rPr lang="en-US" dirty="0">
                <a:solidFill>
                  <a:srgbClr val="002060"/>
                </a:solidFill>
                <a:effectLst>
                  <a:outerShdw blurRad="38100" dist="38100" dir="2700000" algn="tl">
                    <a:srgbClr val="000000">
                      <a:alpha val="43137"/>
                    </a:srgbClr>
                  </a:outerShdw>
                </a:effectLst>
              </a:rPr>
              <a:t>merits concern.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For one, </a:t>
            </a:r>
            <a:r>
              <a:rPr lang="en-US" b="1" dirty="0">
                <a:solidFill>
                  <a:srgbClr val="002060"/>
                </a:solidFill>
                <a:effectLst>
                  <a:outerShdw blurRad="38100" dist="38100" dir="2700000" algn="tl">
                    <a:srgbClr val="000000">
                      <a:alpha val="43137"/>
                    </a:srgbClr>
                  </a:outerShdw>
                </a:effectLst>
              </a:rPr>
              <a:t>consolidation among book sellers</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partly spurred by Amazon’s pricing tactics and </a:t>
            </a:r>
            <a:r>
              <a:rPr lang="en-US" dirty="0">
                <a:solidFill>
                  <a:srgbClr val="002060"/>
                </a:solidFill>
                <a:effectLst>
                  <a:outerShdw blurRad="38100" dist="38100" dir="2700000" algn="tl">
                    <a:srgbClr val="000000">
                      <a:alpha val="43137"/>
                    </a:srgbClr>
                  </a:outerShdw>
                </a:effectLst>
              </a:rPr>
              <a:t>demands for better terms from publishers— has also </a:t>
            </a:r>
            <a:r>
              <a:rPr lang="en-US" b="1" dirty="0">
                <a:solidFill>
                  <a:srgbClr val="002060"/>
                </a:solidFill>
                <a:effectLst>
                  <a:outerShdw blurRad="38100" dist="38100" dir="2700000" algn="tl">
                    <a:srgbClr val="000000">
                      <a:alpha val="43137"/>
                    </a:srgbClr>
                  </a:outerShdw>
                </a:effectLst>
              </a:rPr>
              <a:t>spurred consolidation among publishers</a:t>
            </a:r>
            <a:r>
              <a:rPr lang="pl-PL"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as publishing houses sought to </a:t>
            </a:r>
            <a:r>
              <a:rPr lang="en-US" b="1" dirty="0">
                <a:solidFill>
                  <a:srgbClr val="FF0000"/>
                </a:solidFill>
                <a:effectLst>
                  <a:outerShdw blurRad="38100" dist="38100" dir="2700000" algn="tl">
                    <a:srgbClr val="000000">
                      <a:alpha val="43137"/>
                    </a:srgbClr>
                  </a:outerShdw>
                </a:effectLst>
              </a:rPr>
              <a:t>bulk up in response </a:t>
            </a:r>
            <a:r>
              <a:rPr lang="en-US" b="1" dirty="0">
                <a:solidFill>
                  <a:srgbClr val="002060"/>
                </a:solidFill>
                <a:effectLst>
                  <a:outerShdw blurRad="38100" dist="38100" dir="2700000" algn="tl">
                    <a:srgbClr val="000000">
                      <a:alpha val="43137"/>
                    </a:srgbClr>
                  </a:outerShdw>
                </a:effectLst>
              </a:rPr>
              <a:t>to the growing clout of Borders and Barnes &amp; Noble</a:t>
            </a:r>
            <a:r>
              <a:rPr lang="en-US" dirty="0">
                <a:solidFill>
                  <a:srgbClr val="002060"/>
                </a:solidFill>
                <a:effectLst>
                  <a:outerShdw blurRad="38100" dist="38100" dir="2700000" algn="tl">
                    <a:srgbClr val="000000">
                      <a:alpha val="43137"/>
                    </a:srgbClr>
                  </a:outerShdw>
                </a:effectLst>
              </a:rPr>
              <a:t>— and by the early 2000s, the industry had settled into the “</a:t>
            </a:r>
            <a:r>
              <a:rPr lang="en-US" b="1" dirty="0">
                <a:solidFill>
                  <a:srgbClr val="002060"/>
                </a:solidFill>
                <a:effectLst>
                  <a:outerShdw blurRad="38100" dist="38100" dir="2700000" algn="tl">
                    <a:srgbClr val="000000">
                      <a:alpha val="43137"/>
                    </a:srgbClr>
                  </a:outerShdw>
                </a:effectLst>
              </a:rPr>
              <a:t>Big Six” </a:t>
            </a:r>
            <a:r>
              <a:rPr lang="en-US" dirty="0">
                <a:solidFill>
                  <a:srgbClr val="002060"/>
                </a:solidFill>
                <a:effectLst>
                  <a:outerShdw blurRad="38100" dist="38100" dir="2700000" algn="tl">
                    <a:srgbClr val="000000">
                      <a:alpha val="43137"/>
                    </a:srgbClr>
                  </a:outerShdw>
                </a:effectLst>
              </a:rPr>
              <a:t>in the United States.</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This trend has </a:t>
            </a:r>
            <a:r>
              <a:rPr lang="en-US" b="1" dirty="0">
                <a:solidFill>
                  <a:srgbClr val="FF0000"/>
                </a:solidFill>
                <a:effectLst>
                  <a:outerShdw blurRad="38100" dist="38100" dir="2700000" algn="tl">
                    <a:srgbClr val="000000">
                      <a:alpha val="43137"/>
                    </a:srgbClr>
                  </a:outerShdw>
                </a:effectLst>
              </a:rPr>
              <a:t>cost authors and readers alike</a:t>
            </a:r>
            <a:r>
              <a:rPr lang="en-US" dirty="0">
                <a:solidFill>
                  <a:srgbClr val="002060"/>
                </a:solidFill>
                <a:effectLst>
                  <a:outerShdw blurRad="38100" dist="38100" dir="2700000" algn="tl">
                    <a:srgbClr val="000000">
                      <a:alpha val="43137"/>
                    </a:srgbClr>
                  </a:outerShdw>
                </a:effectLst>
              </a:rPr>
              <a:t>, leaving writers with fewer paths to market and </a:t>
            </a:r>
            <a:r>
              <a:rPr lang="en-US" b="1" dirty="0">
                <a:solidFill>
                  <a:srgbClr val="FF0000"/>
                </a:solidFill>
                <a:effectLst>
                  <a:outerShdw blurRad="38100" dist="38100" dir="2700000" algn="tl">
                    <a:srgbClr val="000000">
                      <a:alpha val="43137"/>
                    </a:srgbClr>
                  </a:outerShdw>
                </a:effectLst>
              </a:rPr>
              <a:t>readers with a less diverse marketplace</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Since </a:t>
            </a:r>
            <a:r>
              <a:rPr lang="en-US" b="1" dirty="0">
                <a:solidFill>
                  <a:srgbClr val="002060"/>
                </a:solidFill>
                <a:effectLst>
                  <a:outerShdw blurRad="38100" dist="38100" dir="2700000" algn="tl">
                    <a:srgbClr val="000000">
                      <a:alpha val="43137"/>
                    </a:srgbClr>
                  </a:outerShdw>
                </a:effectLst>
              </a:rPr>
              <a:t>Amazon’s rise, the major publishers have merged further</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thinning down </a:t>
            </a:r>
            <a:r>
              <a:rPr lang="en-US" b="1" dirty="0">
                <a:solidFill>
                  <a:srgbClr val="002060"/>
                </a:solidFill>
                <a:effectLst>
                  <a:outerShdw blurRad="38100" dist="38100" dir="2700000" algn="tl">
                    <a:srgbClr val="000000">
                      <a:alpha val="43137"/>
                    </a:srgbClr>
                  </a:outerShdw>
                </a:effectLst>
              </a:rPr>
              <a:t>to five</a:t>
            </a:r>
            <a:r>
              <a:rPr lang="en-US" dirty="0">
                <a:solidFill>
                  <a:srgbClr val="002060"/>
                </a:solidFill>
                <a:effectLst>
                  <a:outerShdw blurRad="38100" dist="38100" dir="2700000" algn="tl">
                    <a:srgbClr val="000000">
                      <a:alpha val="43137"/>
                    </a:srgbClr>
                  </a:outerShdw>
                </a:effectLst>
              </a:rPr>
              <a:t>, with rumors of more consolidation to come</a:t>
            </a:r>
          </a:p>
        </p:txBody>
      </p:sp>
    </p:spTree>
    <p:extLst>
      <p:ext uri="{BB962C8B-B14F-4D97-AF65-F5344CB8AC3E}">
        <p14:creationId xmlns:p14="http://schemas.microsoft.com/office/powerpoint/2010/main" val="42827268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A7423EC-1760-3122-A34A-EE1D9B310A25}"/>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6C292512-32B6-6AAA-FB17-BF0ABD9F0F67}"/>
              </a:ext>
            </a:extLst>
          </p:cNvPr>
          <p:cNvSpPr>
            <a:spLocks noGrp="1"/>
          </p:cNvSpPr>
          <p:nvPr>
            <p:ph idx="1"/>
          </p:nvPr>
        </p:nvSpPr>
        <p:spPr/>
        <p:txBody>
          <a:bodyPr>
            <a:normAutofit fontScale="92500" lnSpcReduction="20000"/>
          </a:bodyPr>
          <a:lstStyle/>
          <a:p>
            <a:r>
              <a:rPr lang="pl-PL" dirty="0">
                <a:solidFill>
                  <a:srgbClr val="002060"/>
                </a:solidFill>
                <a:effectLst>
                  <a:outerShdw blurRad="38100" dist="38100" dir="2700000" algn="tl">
                    <a:srgbClr val="000000">
                      <a:alpha val="43137"/>
                    </a:srgbClr>
                  </a:outerShdw>
                </a:effectLst>
              </a:rPr>
              <a:t>T</a:t>
            </a:r>
            <a:r>
              <a:rPr lang="en-US" dirty="0">
                <a:solidFill>
                  <a:srgbClr val="002060"/>
                </a:solidFill>
                <a:effectLst>
                  <a:outerShdw blurRad="38100" dist="38100" dir="2700000" algn="tl">
                    <a:srgbClr val="000000">
                      <a:alpha val="43137"/>
                    </a:srgbClr>
                  </a:outerShdw>
                </a:effectLst>
              </a:rPr>
              <a:t>he </a:t>
            </a:r>
            <a:r>
              <a:rPr lang="en-US" b="1" dirty="0">
                <a:solidFill>
                  <a:srgbClr val="002060"/>
                </a:solidFill>
                <a:effectLst>
                  <a:outerShdw blurRad="38100" dist="38100" dir="2700000" algn="tl">
                    <a:srgbClr val="000000">
                      <a:alpha val="43137"/>
                    </a:srgbClr>
                  </a:outerShdw>
                </a:effectLst>
              </a:rPr>
              <a:t>increasing cost of doing business </a:t>
            </a:r>
            <a:r>
              <a:rPr lang="en-US" b="1" dirty="0">
                <a:solidFill>
                  <a:srgbClr val="FF0000"/>
                </a:solidFill>
                <a:effectLst>
                  <a:outerShdw blurRad="38100" dist="38100" dir="2700000" algn="tl">
                    <a:srgbClr val="000000">
                      <a:alpha val="43137"/>
                    </a:srgbClr>
                  </a:outerShdw>
                </a:effectLst>
              </a:rPr>
              <a:t>with </a:t>
            </a:r>
            <a:r>
              <a:rPr lang="en-US" b="1" dirty="0">
                <a:solidFill>
                  <a:srgbClr val="002060"/>
                </a:solidFill>
                <a:effectLst>
                  <a:outerShdw blurRad="38100" dist="38100" dir="2700000" algn="tl">
                    <a:srgbClr val="000000">
                      <a:alpha val="43137"/>
                    </a:srgbClr>
                  </a:outerShdw>
                </a:effectLst>
              </a:rPr>
              <a:t>Amazon </a:t>
            </a:r>
            <a:r>
              <a:rPr lang="en-US" dirty="0">
                <a:solidFill>
                  <a:srgbClr val="002060"/>
                </a:solidFill>
                <a:effectLst>
                  <a:outerShdw blurRad="38100" dist="38100" dir="2700000" algn="tl">
                    <a:srgbClr val="000000">
                      <a:alpha val="43137"/>
                    </a:srgbClr>
                  </a:outerShdw>
                </a:effectLst>
              </a:rPr>
              <a:t>is </a:t>
            </a:r>
            <a:r>
              <a:rPr lang="en-US" b="1" dirty="0">
                <a:solidFill>
                  <a:srgbClr val="FF0000"/>
                </a:solidFill>
                <a:effectLst>
                  <a:outerShdw blurRad="38100" dist="38100" dir="2700000" algn="tl">
                    <a:srgbClr val="000000">
                      <a:alpha val="43137"/>
                    </a:srgbClr>
                  </a:outerShdw>
                </a:effectLst>
              </a:rPr>
              <a:t>upending the publishers’ </a:t>
            </a:r>
            <a:r>
              <a:rPr lang="en-US" b="1" dirty="0">
                <a:solidFill>
                  <a:srgbClr val="FF0000"/>
                </a:solidFill>
                <a:effectLst>
                  <a:outerShdw blurRad="38100" dist="38100" dir="2700000" algn="tl">
                    <a:srgbClr val="000000">
                      <a:alpha val="43137"/>
                    </a:srgbClr>
                  </a:outerShdw>
                </a:effectLst>
                <a:highlight>
                  <a:srgbClr val="FFFF00"/>
                </a:highlight>
              </a:rPr>
              <a:t>business model </a:t>
            </a:r>
            <a:r>
              <a:rPr lang="en-US" dirty="0">
                <a:solidFill>
                  <a:srgbClr val="002060"/>
                </a:solidFill>
                <a:effectLst>
                  <a:outerShdw blurRad="38100" dist="38100" dir="2700000" algn="tl">
                    <a:srgbClr val="000000">
                      <a:alpha val="43137"/>
                    </a:srgbClr>
                  </a:outerShdw>
                </a:effectLst>
              </a:rPr>
              <a:t>in ways </a:t>
            </a:r>
            <a:r>
              <a:rPr lang="pl-PL" dirty="0" err="1">
                <a:solidFill>
                  <a:srgbClr val="002060"/>
                </a:solidFill>
                <a:effectLst>
                  <a:outerShdw blurRad="38100" dist="38100" dir="2700000" algn="tl">
                    <a:srgbClr val="000000">
                      <a:alpha val="43137"/>
                    </a:srgbClr>
                  </a:outerShdw>
                </a:effectLst>
              </a:rPr>
              <a:t>that</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damage</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diversity</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rPr>
              <a:t>Traditionally, publishing houses used a </a:t>
            </a:r>
            <a:r>
              <a:rPr lang="en-US" b="1" dirty="0">
                <a:solidFill>
                  <a:srgbClr val="FF0000"/>
                </a:solidFill>
                <a:effectLst>
                  <a:outerShdw blurRad="38100" dist="38100" dir="2700000" algn="tl">
                    <a:srgbClr val="000000">
                      <a:alpha val="43137"/>
                    </a:srgbClr>
                  </a:outerShdw>
                </a:effectLst>
                <a:highlight>
                  <a:srgbClr val="FFFF00"/>
                </a:highlight>
              </a:rPr>
              <a:t>cross-subsidization model </a:t>
            </a:r>
            <a:r>
              <a:rPr lang="en-US" b="1" dirty="0">
                <a:solidFill>
                  <a:srgbClr val="002060"/>
                </a:solidFill>
                <a:effectLst>
                  <a:outerShdw blurRad="38100" dist="38100" dir="2700000" algn="tl">
                    <a:srgbClr val="000000">
                      <a:alpha val="43137"/>
                    </a:srgbClr>
                  </a:outerShdw>
                </a:effectLst>
              </a:rPr>
              <a:t>whereby they would use their bestsellers to subsidize weightier and riskier books </a:t>
            </a:r>
            <a:r>
              <a:rPr lang="en-US" dirty="0">
                <a:solidFill>
                  <a:srgbClr val="002060"/>
                </a:solidFill>
                <a:effectLst>
                  <a:outerShdw blurRad="38100" dist="38100" dir="2700000" algn="tl">
                    <a:srgbClr val="000000">
                      <a:alpha val="43137"/>
                    </a:srgbClr>
                  </a:outerShdw>
                </a:effectLst>
              </a:rPr>
              <a:t>requiring greater upfront investment.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In the face of </a:t>
            </a:r>
            <a:r>
              <a:rPr lang="en-US" b="1" dirty="0">
                <a:solidFill>
                  <a:srgbClr val="002060"/>
                </a:solidFill>
                <a:effectLst>
                  <a:outerShdw blurRad="38100" dist="38100" dir="2700000" algn="tl">
                    <a:srgbClr val="000000">
                      <a:alpha val="43137"/>
                    </a:srgbClr>
                  </a:outerShdw>
                </a:effectLst>
              </a:rPr>
              <a:t>higher fees imposed by Amazon</a:t>
            </a:r>
            <a:r>
              <a:rPr lang="en-US" dirty="0">
                <a:solidFill>
                  <a:srgbClr val="002060"/>
                </a:solidFill>
                <a:effectLst>
                  <a:outerShdw blurRad="38100" dist="38100" dir="2700000" algn="tl">
                    <a:srgbClr val="000000">
                      <a:alpha val="43137"/>
                    </a:srgbClr>
                  </a:outerShdw>
                </a:effectLst>
              </a:rPr>
              <a:t>, publishers say they are </a:t>
            </a:r>
            <a:r>
              <a:rPr lang="en-US" b="1" dirty="0">
                <a:solidFill>
                  <a:srgbClr val="002060"/>
                </a:solidFill>
                <a:effectLst>
                  <a:outerShdw blurRad="38100" dist="38100" dir="2700000" algn="tl">
                    <a:srgbClr val="000000">
                      <a:alpha val="43137"/>
                    </a:srgbClr>
                  </a:outerShdw>
                </a:effectLst>
              </a:rPr>
              <a:t>less able </a:t>
            </a:r>
            <a:r>
              <a:rPr lang="en-US" dirty="0">
                <a:solidFill>
                  <a:srgbClr val="002060"/>
                </a:solidFill>
                <a:effectLst>
                  <a:outerShdw blurRad="38100" dist="38100" dir="2700000" algn="tl">
                    <a:srgbClr val="000000">
                      <a:alpha val="43137"/>
                    </a:srgbClr>
                  </a:outerShdw>
                </a:effectLst>
              </a:rPr>
              <a:t>to invest in a range of books.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P</a:t>
            </a:r>
            <a:r>
              <a:rPr lang="en-US" dirty="0">
                <a:solidFill>
                  <a:srgbClr val="002060"/>
                </a:solidFill>
                <a:effectLst>
                  <a:outerShdw blurRad="38100" dist="38100" dir="2700000" algn="tl">
                    <a:srgbClr val="000000">
                      <a:alpha val="43137"/>
                    </a:srgbClr>
                  </a:outerShdw>
                </a:effectLst>
              </a:rPr>
              <a:t>ublishers have responded to Amazon’s fees by both </a:t>
            </a:r>
            <a:r>
              <a:rPr lang="en-US" b="1" dirty="0">
                <a:solidFill>
                  <a:srgbClr val="002060"/>
                </a:solidFill>
                <a:effectLst>
                  <a:outerShdw blurRad="38100" dist="38100" dir="2700000" algn="tl">
                    <a:srgbClr val="000000">
                      <a:alpha val="43137"/>
                    </a:srgbClr>
                  </a:outerShdw>
                </a:effectLst>
              </a:rPr>
              <a:t>publishing </a:t>
            </a:r>
            <a:r>
              <a:rPr lang="en-US" b="1" dirty="0">
                <a:solidFill>
                  <a:srgbClr val="FF0000"/>
                </a:solidFill>
                <a:effectLst>
                  <a:outerShdw blurRad="38100" dist="38100" dir="2700000" algn="tl">
                    <a:srgbClr val="000000">
                      <a:alpha val="43137"/>
                    </a:srgbClr>
                  </a:outerShdw>
                </a:effectLst>
              </a:rPr>
              <a:t>fewer titles </a:t>
            </a:r>
            <a:r>
              <a:rPr lang="en-US" b="1" dirty="0">
                <a:solidFill>
                  <a:srgbClr val="002060"/>
                </a:solidFill>
                <a:effectLst>
                  <a:outerShdw blurRad="38100" dist="38100" dir="2700000" algn="tl">
                    <a:srgbClr val="000000">
                      <a:alpha val="43137"/>
                    </a:srgbClr>
                  </a:outerShdw>
                </a:effectLst>
              </a:rPr>
              <a:t>and focusing </a:t>
            </a:r>
            <a:r>
              <a:rPr lang="pl-PL" b="1" dirty="0">
                <a:solidFill>
                  <a:srgbClr val="002060"/>
                </a:solidFill>
                <a:effectLst>
                  <a:outerShdw blurRad="38100" dist="38100" dir="2700000" algn="tl">
                    <a:srgbClr val="000000">
                      <a:alpha val="43137"/>
                    </a:srgbClr>
                  </a:outerShdw>
                </a:effectLst>
              </a:rPr>
              <a:t>mainly</a:t>
            </a:r>
            <a:r>
              <a:rPr lang="en-US" b="1" dirty="0">
                <a:solidFill>
                  <a:srgbClr val="002060"/>
                </a:solidFill>
                <a:effectLst>
                  <a:outerShdw blurRad="38100" dist="38100" dir="2700000" algn="tl">
                    <a:srgbClr val="000000">
                      <a:alpha val="43137"/>
                    </a:srgbClr>
                  </a:outerShdw>
                </a:effectLst>
              </a:rPr>
              <a:t> on books by </a:t>
            </a:r>
            <a:r>
              <a:rPr lang="pl-PL" b="1" dirty="0">
                <a:solidFill>
                  <a:srgbClr val="FF0000"/>
                </a:solidFill>
                <a:effectLst>
                  <a:outerShdw blurRad="38100" dist="38100" dir="2700000" algn="tl">
                    <a:srgbClr val="000000">
                      <a:alpha val="43137"/>
                    </a:srgbClr>
                  </a:outerShdw>
                </a:effectLst>
              </a:rPr>
              <a:t>celebrities</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and </a:t>
            </a:r>
            <a:r>
              <a:rPr lang="en-US" b="1" dirty="0">
                <a:solidFill>
                  <a:srgbClr val="FF0000"/>
                </a:solidFill>
                <a:effectLst>
                  <a:outerShdw blurRad="38100" dist="38100" dir="2700000" algn="tl">
                    <a:srgbClr val="000000">
                      <a:alpha val="43137"/>
                    </a:srgbClr>
                  </a:outerShdw>
                </a:effectLst>
              </a:rPr>
              <a:t>bestselling authors. </a:t>
            </a:r>
            <a:endParaRPr lang="pl-PL" b="1" dirty="0">
              <a:solidFill>
                <a:srgbClr val="FF000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t>
            </a:r>
            <a:r>
              <a:rPr lang="en-US" i="1" dirty="0">
                <a:solidFill>
                  <a:srgbClr val="002060"/>
                </a:solidFill>
                <a:effectLst>
                  <a:outerShdw blurRad="38100" dist="38100" dir="2700000" algn="tl">
                    <a:srgbClr val="000000">
                      <a:alpha val="43137"/>
                    </a:srgbClr>
                  </a:outerShdw>
                </a:effectLst>
              </a:rPr>
              <a:t>Readers are presented with fewer books that espouse unusual, quirky, </a:t>
            </a:r>
            <a:r>
              <a:rPr lang="pl-PL" b="1" i="1" dirty="0">
                <a:solidFill>
                  <a:srgbClr val="002060"/>
                </a:solidFill>
                <a:effectLst>
                  <a:outerShdw blurRad="38100" dist="38100" dir="2700000" algn="tl">
                    <a:srgbClr val="000000">
                      <a:alpha val="43137"/>
                    </a:srgbClr>
                  </a:outerShdw>
                </a:effectLst>
              </a:rPr>
              <a:t>offbeat</a:t>
            </a:r>
            <a:r>
              <a:rPr lang="en-US" b="1" i="1" dirty="0">
                <a:solidFill>
                  <a:srgbClr val="002060"/>
                </a:solidFill>
                <a:effectLst>
                  <a:outerShdw blurRad="38100" dist="38100" dir="2700000" algn="tl">
                    <a:srgbClr val="000000">
                      <a:alpha val="43137"/>
                    </a:srgbClr>
                  </a:outerShdw>
                </a:effectLst>
              </a:rPr>
              <a:t>, or politically risky ideas</a:t>
            </a:r>
            <a:r>
              <a:rPr lang="en-US" i="1" dirty="0">
                <a:solidFill>
                  <a:srgbClr val="002060"/>
                </a:solidFill>
                <a:effectLst>
                  <a:outerShdw blurRad="38100" dist="38100" dir="2700000" algn="tl">
                    <a:srgbClr val="000000">
                      <a:alpha val="43137"/>
                    </a:srgbClr>
                  </a:outerShdw>
                </a:effectLst>
              </a:rPr>
              <a:t>, as well as books from new and unproven authors. This impoverishes America’s marketplace of ideas</a:t>
            </a:r>
            <a:r>
              <a:rPr lang="pl-PL" i="1" dirty="0">
                <a:solidFill>
                  <a:srgbClr val="002060"/>
                </a:solidFill>
                <a:effectLst>
                  <a:outerShdw blurRad="38100" dist="38100" dir="2700000" algn="tl">
                    <a:srgbClr val="000000">
                      <a:alpha val="43137"/>
                    </a:srgbClr>
                  </a:outerShdw>
                </a:effectLst>
              </a:rPr>
              <a:t>.</a:t>
            </a:r>
            <a:r>
              <a:rPr lang="en-US" i="1" dirty="0"/>
              <a:t>”</a:t>
            </a:r>
          </a:p>
        </p:txBody>
      </p:sp>
    </p:spTree>
    <p:extLst>
      <p:ext uri="{BB962C8B-B14F-4D97-AF65-F5344CB8AC3E}">
        <p14:creationId xmlns:p14="http://schemas.microsoft.com/office/powerpoint/2010/main" val="7127462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13DB3A1-9A1A-25D5-8127-F9D67FFBFDDD}"/>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759CBB38-48E6-EEC5-7E38-DCF11CC0C0EF}"/>
              </a:ext>
            </a:extLst>
          </p:cNvPr>
          <p:cNvSpPr>
            <a:spLocks noGrp="1"/>
          </p:cNvSpPr>
          <p:nvPr>
            <p:ph idx="1"/>
          </p:nvPr>
        </p:nvSpPr>
        <p:spPr/>
        <p:txBody>
          <a:bodyPr>
            <a:normAutofit fontScale="85000" lnSpcReduction="20000"/>
          </a:bodyPr>
          <a:lstStyle/>
          <a:p>
            <a:r>
              <a:rPr lang="en-US" b="1" dirty="0">
                <a:solidFill>
                  <a:srgbClr val="002060"/>
                </a:solidFill>
                <a:effectLst>
                  <a:outerShdw blurRad="38100" dist="38100" dir="2700000" algn="tl">
                    <a:srgbClr val="000000">
                      <a:alpha val="43137"/>
                    </a:srgbClr>
                  </a:outerShdw>
                </a:effectLst>
                <a:highlight>
                  <a:srgbClr val="FFFF00"/>
                </a:highlight>
              </a:rPr>
              <a:t>Amazon’s conduct would be readily cognizable as a threat under the </a:t>
            </a:r>
            <a:r>
              <a:rPr lang="en-US" b="1" dirty="0">
                <a:solidFill>
                  <a:srgbClr val="FF0000"/>
                </a:solidFill>
                <a:effectLst>
                  <a:outerShdw blurRad="38100" dist="38100" dir="2700000" algn="tl">
                    <a:srgbClr val="000000">
                      <a:alpha val="43137"/>
                    </a:srgbClr>
                  </a:outerShdw>
                </a:effectLst>
                <a:highlight>
                  <a:srgbClr val="00FF00"/>
                </a:highlight>
              </a:rPr>
              <a:t>pre–Chicago School view </a:t>
            </a:r>
            <a:r>
              <a:rPr lang="en-US" b="1" dirty="0">
                <a:solidFill>
                  <a:srgbClr val="FF0000"/>
                </a:solidFill>
                <a:effectLst>
                  <a:outerShdw blurRad="38100" dist="38100" dir="2700000" algn="tl">
                    <a:srgbClr val="000000">
                      <a:alpha val="43137"/>
                    </a:srgbClr>
                  </a:outerShdw>
                </a:effectLst>
              </a:rPr>
              <a:t>that predatory pricing laws specifically and antitrust</a:t>
            </a:r>
            <a:r>
              <a:rPr lang="en-US" dirty="0">
                <a:solidFill>
                  <a:srgbClr val="002060"/>
                </a:solidFill>
                <a:effectLst>
                  <a:outerShdw blurRad="38100" dist="38100" dir="2700000" algn="tl">
                    <a:srgbClr val="000000">
                      <a:alpha val="43137"/>
                    </a:srgbClr>
                  </a:outerShdw>
                </a:effectLst>
              </a:rPr>
              <a:t> generally </a:t>
            </a:r>
            <a:r>
              <a:rPr lang="en-US" b="1" dirty="0">
                <a:solidFill>
                  <a:srgbClr val="002060"/>
                </a:solidFill>
                <a:effectLst>
                  <a:outerShdw blurRad="38100" dist="38100" dir="2700000" algn="tl">
                    <a:srgbClr val="000000">
                      <a:alpha val="43137"/>
                    </a:srgbClr>
                  </a:outerShdw>
                </a:effectLst>
              </a:rPr>
              <a:t>promoted a broad set of values. </a:t>
            </a:r>
            <a:endParaRPr lang="pl-PL" b="1"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Under the predatory pricing jurisprudence of the early and </a:t>
            </a:r>
            <a:r>
              <a:rPr lang="pl-PL" dirty="0">
                <a:solidFill>
                  <a:srgbClr val="002060"/>
                </a:solidFill>
                <a:effectLst>
                  <a:outerShdw blurRad="38100" dist="38100" dir="2700000" algn="tl">
                    <a:srgbClr val="000000">
                      <a:alpha val="43137"/>
                    </a:srgbClr>
                  </a:outerShdw>
                </a:effectLst>
              </a:rPr>
              <a:t>mid-20th</a:t>
            </a:r>
            <a:r>
              <a:rPr lang="en-US" dirty="0">
                <a:solidFill>
                  <a:srgbClr val="002060"/>
                </a:solidFill>
                <a:effectLst>
                  <a:outerShdw blurRad="38100" dist="38100" dir="2700000" algn="tl">
                    <a:srgbClr val="000000">
                      <a:alpha val="43137"/>
                    </a:srgbClr>
                  </a:outerShdw>
                </a:effectLst>
              </a:rPr>
              <a:t> century, </a:t>
            </a:r>
            <a:r>
              <a:rPr lang="en-US" b="1" dirty="0">
                <a:solidFill>
                  <a:srgbClr val="FF0000"/>
                </a:solidFill>
                <a:effectLst>
                  <a:outerShdw blurRad="38100" dist="38100" dir="2700000" algn="tl">
                    <a:srgbClr val="000000">
                      <a:alpha val="43137"/>
                    </a:srgbClr>
                  </a:outerShdw>
                </a:effectLst>
              </a:rPr>
              <a:t>harm to the diversity and vibrancy of ideas </a:t>
            </a:r>
            <a:r>
              <a:rPr lang="en-US" dirty="0">
                <a:solidFill>
                  <a:srgbClr val="002060"/>
                </a:solidFill>
                <a:effectLst>
                  <a:outerShdw blurRad="38100" dist="38100" dir="2700000" algn="tl">
                    <a:srgbClr val="000000">
                      <a:alpha val="43137"/>
                    </a:srgbClr>
                  </a:outerShdw>
                </a:effectLst>
              </a:rPr>
              <a:t>in the book market may have been a primary basis for government intervention.</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political risks associated with Amazon’s market dominance also implicate some of the major concerns that animate antitrust laws. For instance, </a:t>
            </a:r>
            <a:r>
              <a:rPr lang="en-US" b="1" dirty="0">
                <a:solidFill>
                  <a:srgbClr val="002060"/>
                </a:solidFill>
                <a:effectLst>
                  <a:outerShdw blurRad="38100" dist="38100" dir="2700000" algn="tl">
                    <a:srgbClr val="000000">
                      <a:alpha val="43137"/>
                    </a:srgbClr>
                  </a:outerShdw>
                </a:effectLst>
              </a:rPr>
              <a:t>the risk that Amazon may retaliate against books that it disfavors</a:t>
            </a:r>
            <a:r>
              <a:rPr lang="en-US" dirty="0">
                <a:solidFill>
                  <a:srgbClr val="002060"/>
                </a:solidFill>
                <a:effectLst>
                  <a:outerShdw blurRad="38100" dist="38100" dir="2700000" algn="tl">
                    <a:srgbClr val="000000">
                      <a:alpha val="43137"/>
                    </a:srgbClr>
                  </a:outerShdw>
                </a:effectLst>
              </a:rPr>
              <a:t>— either to </a:t>
            </a:r>
            <a:r>
              <a:rPr lang="en-US" b="1" dirty="0">
                <a:solidFill>
                  <a:srgbClr val="002060"/>
                </a:solidFill>
                <a:effectLst>
                  <a:outerShdw blurRad="38100" dist="38100" dir="2700000" algn="tl">
                    <a:srgbClr val="000000">
                      <a:alpha val="43137"/>
                    </a:srgbClr>
                  </a:outerShdw>
                </a:effectLst>
              </a:rPr>
              <a:t>impose greater pressure </a:t>
            </a:r>
            <a:r>
              <a:rPr lang="en-US" dirty="0">
                <a:solidFill>
                  <a:srgbClr val="002060"/>
                </a:solidFill>
                <a:effectLst>
                  <a:outerShdw blurRad="38100" dist="38100" dir="2700000" algn="tl">
                    <a:srgbClr val="000000">
                      <a:alpha val="43137"/>
                    </a:srgbClr>
                  </a:outerShdw>
                </a:effectLst>
              </a:rPr>
              <a:t>on publishers or for other political reasons— raises concerns about </a:t>
            </a:r>
            <a:r>
              <a:rPr lang="en-US" b="1" dirty="0">
                <a:solidFill>
                  <a:srgbClr val="FF0000"/>
                </a:solidFill>
                <a:effectLst>
                  <a:outerShdw blurRad="38100" dist="38100" dir="2700000" algn="tl">
                    <a:srgbClr val="000000">
                      <a:alpha val="43137"/>
                    </a:srgbClr>
                  </a:outerShdw>
                </a:effectLst>
              </a:rPr>
              <a:t>media freedom</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b="1" dirty="0">
                <a:solidFill>
                  <a:srgbClr val="002060"/>
                </a:solidFill>
                <a:effectLst>
                  <a:outerShdw blurRad="38100" dist="38100" dir="2700000" algn="tl">
                    <a:srgbClr val="000000">
                      <a:alpha val="43137"/>
                    </a:srgbClr>
                  </a:outerShdw>
                </a:effectLst>
              </a:rPr>
              <a:t>A</a:t>
            </a:r>
            <a:r>
              <a:rPr lang="en-US" b="1" dirty="0">
                <a:solidFill>
                  <a:srgbClr val="002060"/>
                </a:solidFill>
                <a:effectLst>
                  <a:outerShdw blurRad="38100" dist="38100" dir="2700000" algn="tl">
                    <a:srgbClr val="000000">
                      <a:alpha val="43137"/>
                    </a:srgbClr>
                  </a:outerShdw>
                </a:effectLst>
              </a:rPr>
              <a:t>ntitrust authorities </a:t>
            </a:r>
            <a:r>
              <a:rPr lang="en-US" b="1" dirty="0">
                <a:solidFill>
                  <a:srgbClr val="FF0000"/>
                </a:solidFill>
                <a:effectLst>
                  <a:outerShdw blurRad="38100" dist="38100" dir="2700000" algn="tl">
                    <a:srgbClr val="000000">
                      <a:alpha val="43137"/>
                    </a:srgbClr>
                  </a:outerShdw>
                </a:effectLst>
              </a:rPr>
              <a:t>previously considered diversity of speech and ideas a factor </a:t>
            </a:r>
            <a:r>
              <a:rPr lang="en-US" dirty="0">
                <a:solidFill>
                  <a:srgbClr val="002060"/>
                </a:solidFill>
                <a:effectLst>
                  <a:outerShdw blurRad="38100" dist="38100" dir="2700000" algn="tl">
                    <a:srgbClr val="000000">
                      <a:alpha val="43137"/>
                    </a:srgbClr>
                  </a:outerShdw>
                </a:effectLst>
              </a:rPr>
              <a:t>in their analysis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Amazon’s degree of control, too, should </a:t>
            </a:r>
            <a:r>
              <a:rPr lang="pl-PL" dirty="0">
                <a:solidFill>
                  <a:srgbClr val="002060"/>
                </a:solidFill>
                <a:effectLst>
                  <a:outerShdw blurRad="38100" dist="38100" dir="2700000" algn="tl">
                    <a:srgbClr val="000000">
                      <a:alpha val="43137"/>
                    </a:srgbClr>
                  </a:outerShdw>
                </a:effectLst>
              </a:rPr>
              <a:t>warrant</a:t>
            </a:r>
            <a:r>
              <a:rPr lang="en-US" dirty="0">
                <a:solidFill>
                  <a:srgbClr val="002060"/>
                </a:solidFill>
                <a:effectLst>
                  <a:outerShdw blurRad="38100" dist="38100" dir="2700000" algn="tl">
                    <a:srgbClr val="000000">
                      <a:alpha val="43137"/>
                    </a:srgbClr>
                  </a:outerShdw>
                </a:effectLst>
              </a:rPr>
              <a:t> concern</a:t>
            </a:r>
            <a:r>
              <a:rPr lang="en-US" dirty="0"/>
              <a:t>.</a:t>
            </a:r>
          </a:p>
        </p:txBody>
      </p:sp>
    </p:spTree>
    <p:extLst>
      <p:ext uri="{BB962C8B-B14F-4D97-AF65-F5344CB8AC3E}">
        <p14:creationId xmlns:p14="http://schemas.microsoft.com/office/powerpoint/2010/main" val="3529904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49A4E65-63FA-E579-2233-AE33715DADFA}"/>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32B6FF0A-24A0-25B8-12D9-14402B4EF443}"/>
              </a:ext>
            </a:extLst>
          </p:cNvPr>
          <p:cNvSpPr>
            <a:spLocks noGrp="1"/>
          </p:cNvSpPr>
          <p:nvPr>
            <p:ph idx="1"/>
          </p:nvPr>
        </p:nvSpPr>
        <p:spPr/>
        <p:txBody>
          <a:bodyPr>
            <a:normAutofit lnSpcReduction="10000"/>
          </a:bodyPr>
          <a:lstStyle/>
          <a:p>
            <a:pPr marL="0" indent="0">
              <a:buNone/>
            </a:pPr>
            <a:r>
              <a:rPr lang="en-US" sz="3200" dirty="0">
                <a:solidFill>
                  <a:srgbClr val="002060"/>
                </a:solidFill>
                <a:effectLst>
                  <a:outerShdw blurRad="38100" dist="38100" dir="2700000" algn="tl">
                    <a:srgbClr val="000000">
                      <a:alpha val="43137"/>
                    </a:srgbClr>
                  </a:outerShdw>
                </a:effectLst>
              </a:rPr>
              <a:t>Amazon’s </a:t>
            </a:r>
            <a:r>
              <a:rPr lang="en-US" sz="3200" b="1" dirty="0">
                <a:solidFill>
                  <a:srgbClr val="FF0000"/>
                </a:solidFill>
                <a:effectLst>
                  <a:outerShdw blurRad="38100" dist="38100" dir="2700000" algn="tl">
                    <a:srgbClr val="000000">
                      <a:alpha val="43137"/>
                    </a:srgbClr>
                  </a:outerShdw>
                </a:effectLst>
                <a:highlight>
                  <a:srgbClr val="FFFF00"/>
                </a:highlight>
              </a:rPr>
              <a:t>below-cost pricing </a:t>
            </a:r>
            <a:r>
              <a:rPr lang="en-US" sz="3200" b="1" dirty="0">
                <a:solidFill>
                  <a:srgbClr val="FF0000"/>
                </a:solidFill>
                <a:effectLst>
                  <a:outerShdw blurRad="38100" dist="38100" dir="2700000" algn="tl">
                    <a:srgbClr val="000000">
                      <a:alpha val="43137"/>
                    </a:srgbClr>
                  </a:outerShdw>
                </a:effectLst>
              </a:rPr>
              <a:t>in the </a:t>
            </a:r>
            <a:r>
              <a:rPr lang="en-US" sz="3200" b="1" dirty="0">
                <a:solidFill>
                  <a:srgbClr val="0070C0"/>
                </a:solidFill>
                <a:effectLst>
                  <a:outerShdw blurRad="38100" dist="38100" dir="2700000" algn="tl">
                    <a:srgbClr val="000000">
                      <a:alpha val="43137"/>
                    </a:srgbClr>
                  </a:outerShdw>
                </a:effectLst>
                <a:highlight>
                  <a:srgbClr val="00FF00"/>
                </a:highlight>
              </a:rPr>
              <a:t>e-book market</a:t>
            </a:r>
            <a:r>
              <a:rPr lang="en-US" sz="3200" b="1" dirty="0">
                <a:solidFill>
                  <a:srgbClr val="FF0000"/>
                </a:solidFill>
                <a:effectLst>
                  <a:outerShdw blurRad="38100" dist="38100" dir="2700000" algn="tl">
                    <a:srgbClr val="000000">
                      <a:alpha val="43137"/>
                    </a:srgbClr>
                  </a:outerShdw>
                </a:effectLst>
              </a:rPr>
              <a:t>, which enabled it to capture </a:t>
            </a:r>
            <a:r>
              <a:rPr lang="en-US" sz="3200" b="1" dirty="0">
                <a:solidFill>
                  <a:srgbClr val="0070C0"/>
                </a:solidFill>
                <a:effectLst>
                  <a:outerShdw blurRad="38100" dist="38100" dir="2700000" algn="tl">
                    <a:srgbClr val="000000">
                      <a:alpha val="43137"/>
                    </a:srgbClr>
                  </a:outerShdw>
                </a:effectLst>
                <a:highlight>
                  <a:srgbClr val="FFFF00"/>
                </a:highlight>
              </a:rPr>
              <a:t>65%</a:t>
            </a:r>
            <a:r>
              <a:rPr lang="en-US" sz="3200" b="1" dirty="0">
                <a:solidFill>
                  <a:srgbClr val="FF0000"/>
                </a:solidFill>
                <a:effectLst>
                  <a:outerShdw blurRad="38100" dist="38100" dir="2700000" algn="tl">
                    <a:srgbClr val="000000">
                      <a:alpha val="43137"/>
                    </a:srgbClr>
                  </a:outerShdw>
                </a:effectLst>
              </a:rPr>
              <a:t> of that market, strains the </a:t>
            </a:r>
            <a:r>
              <a:rPr lang="en-US" sz="3200" dirty="0">
                <a:solidFill>
                  <a:srgbClr val="002060"/>
                </a:solidFill>
                <a:effectLst>
                  <a:outerShdw blurRad="38100" dist="38100" dir="2700000" algn="tl">
                    <a:srgbClr val="000000">
                      <a:alpha val="43137"/>
                    </a:srgbClr>
                  </a:outerShdw>
                </a:effectLst>
              </a:rPr>
              <a:t>predatory pricing doctrine in several ways. </a:t>
            </a:r>
            <a:endParaRPr lang="pl-PL" sz="3200" dirty="0">
              <a:solidFill>
                <a:srgbClr val="002060"/>
              </a:solidFill>
              <a:effectLst>
                <a:outerShdw blurRad="38100" dist="38100" dir="2700000" algn="tl">
                  <a:srgbClr val="000000">
                    <a:alpha val="43137"/>
                  </a:srgbClr>
                </a:outerShdw>
              </a:effectLst>
            </a:endParaRPr>
          </a:p>
          <a:p>
            <a:r>
              <a:rPr lang="en-US" sz="3200" dirty="0">
                <a:solidFill>
                  <a:srgbClr val="002060"/>
                </a:solidFill>
                <a:effectLst>
                  <a:outerShdw blurRad="38100" dist="38100" dir="2700000" algn="tl">
                    <a:srgbClr val="000000">
                      <a:alpha val="43137"/>
                    </a:srgbClr>
                  </a:outerShdw>
                </a:effectLst>
              </a:rPr>
              <a:t>First, </a:t>
            </a:r>
            <a:r>
              <a:rPr lang="en-US" sz="3200" b="1" dirty="0">
                <a:solidFill>
                  <a:srgbClr val="002060"/>
                </a:solidFill>
                <a:effectLst>
                  <a:outerShdw blurRad="38100" dist="38100" dir="2700000" algn="tl">
                    <a:srgbClr val="000000">
                      <a:alpha val="43137"/>
                    </a:srgbClr>
                  </a:outerShdw>
                </a:effectLst>
                <a:highlight>
                  <a:srgbClr val="FFFF00"/>
                </a:highlight>
              </a:rPr>
              <a:t>Amazon </a:t>
            </a:r>
            <a:r>
              <a:rPr lang="pl-PL" sz="3200" b="1" dirty="0">
                <a:solidFill>
                  <a:srgbClr val="002060"/>
                </a:solidFill>
                <a:effectLst>
                  <a:outerShdw blurRad="38100" dist="38100" dir="2700000" algn="tl">
                    <a:srgbClr val="000000">
                      <a:alpha val="43137"/>
                    </a:srgbClr>
                  </a:outerShdw>
                </a:effectLst>
                <a:highlight>
                  <a:srgbClr val="FFFF00"/>
                </a:highlight>
              </a:rPr>
              <a:t>can</a:t>
            </a:r>
            <a:r>
              <a:rPr lang="en-US" sz="3200" b="1" dirty="0">
                <a:solidFill>
                  <a:srgbClr val="002060"/>
                </a:solidFill>
                <a:effectLst>
                  <a:outerShdw blurRad="38100" dist="38100" dir="2700000" algn="tl">
                    <a:srgbClr val="000000">
                      <a:alpha val="43137"/>
                    </a:srgbClr>
                  </a:outerShdw>
                </a:effectLst>
                <a:highlight>
                  <a:srgbClr val="FFFF00"/>
                </a:highlight>
              </a:rPr>
              <a:t> recoup its losses by </a:t>
            </a:r>
            <a:r>
              <a:rPr lang="en-US" sz="3200" b="1" dirty="0">
                <a:solidFill>
                  <a:srgbClr val="002060"/>
                </a:solidFill>
                <a:effectLst>
                  <a:outerShdw blurRad="38100" dist="38100" dir="2700000" algn="tl">
                    <a:srgbClr val="000000">
                      <a:alpha val="43137"/>
                    </a:srgbClr>
                  </a:outerShdw>
                </a:effectLst>
              </a:rPr>
              <a:t>raising prices on </a:t>
            </a:r>
            <a:r>
              <a:rPr lang="en-US" sz="3200" b="1" dirty="0">
                <a:solidFill>
                  <a:srgbClr val="FF0000"/>
                </a:solidFill>
                <a:effectLst>
                  <a:outerShdw blurRad="38100" dist="38100" dir="2700000" algn="tl">
                    <a:srgbClr val="000000">
                      <a:alpha val="43137"/>
                    </a:srgbClr>
                  </a:outerShdw>
                </a:effectLst>
              </a:rPr>
              <a:t>less popular or obscure </a:t>
            </a:r>
            <a:r>
              <a:rPr lang="pl-PL" sz="3200" b="1" dirty="0">
                <a:solidFill>
                  <a:srgbClr val="FF0000"/>
                </a:solidFill>
                <a:effectLst>
                  <a:outerShdw blurRad="38100" dist="38100" dir="2700000" algn="tl">
                    <a:srgbClr val="000000">
                      <a:alpha val="43137"/>
                    </a:srgbClr>
                  </a:outerShdw>
                </a:effectLst>
              </a:rPr>
              <a:t>e-books</a:t>
            </a:r>
            <a:r>
              <a:rPr lang="en-US" sz="3200" dirty="0">
                <a:solidFill>
                  <a:srgbClr val="002060"/>
                </a:solidFill>
                <a:effectLst>
                  <a:outerShdw blurRad="38100" dist="38100" dir="2700000" algn="tl">
                    <a:srgbClr val="000000">
                      <a:alpha val="43137"/>
                    </a:srgbClr>
                  </a:outerShdw>
                </a:effectLst>
              </a:rPr>
              <a:t>, or by </a:t>
            </a:r>
            <a:r>
              <a:rPr lang="en-US" sz="3200" b="1" dirty="0">
                <a:solidFill>
                  <a:srgbClr val="002060"/>
                </a:solidFill>
                <a:effectLst>
                  <a:outerShdw blurRad="38100" dist="38100" dir="2700000" algn="tl">
                    <a:srgbClr val="000000">
                      <a:alpha val="43137"/>
                    </a:srgbClr>
                  </a:outerShdw>
                </a:effectLst>
              </a:rPr>
              <a:t>raising prices on </a:t>
            </a:r>
            <a:r>
              <a:rPr lang="en-US" sz="3200" b="1" dirty="0">
                <a:solidFill>
                  <a:srgbClr val="FF0000"/>
                </a:solidFill>
                <a:effectLst>
                  <a:outerShdw blurRad="38100" dist="38100" dir="2700000" algn="tl">
                    <a:srgbClr val="000000">
                      <a:alpha val="43137"/>
                    </a:srgbClr>
                  </a:outerShdw>
                </a:effectLst>
              </a:rPr>
              <a:t>print books</a:t>
            </a:r>
            <a:r>
              <a:rPr lang="en-US" sz="3200" dirty="0">
                <a:solidFill>
                  <a:srgbClr val="002060"/>
                </a:solidFill>
                <a:effectLst>
                  <a:outerShdw blurRad="38100" dist="38100" dir="2700000" algn="tl">
                    <a:srgbClr val="000000">
                      <a:alpha val="43137"/>
                    </a:srgbClr>
                  </a:outerShdw>
                </a:effectLst>
              </a:rPr>
              <a:t>. </a:t>
            </a:r>
            <a:endParaRPr lang="pl-PL" sz="3200" dirty="0">
              <a:solidFill>
                <a:srgbClr val="002060"/>
              </a:solidFill>
              <a:effectLst>
                <a:outerShdw blurRad="38100" dist="38100" dir="2700000" algn="tl">
                  <a:srgbClr val="000000">
                    <a:alpha val="43137"/>
                  </a:srgbClr>
                </a:outerShdw>
              </a:effectLst>
            </a:endParaRPr>
          </a:p>
          <a:p>
            <a:r>
              <a:rPr lang="en-US" sz="3200" dirty="0">
                <a:solidFill>
                  <a:srgbClr val="002060"/>
                </a:solidFill>
                <a:effectLst>
                  <a:outerShdw blurRad="38100" dist="38100" dir="2700000" algn="tl">
                    <a:srgbClr val="000000">
                      <a:alpha val="43137"/>
                    </a:srgbClr>
                  </a:outerShdw>
                </a:effectLst>
              </a:rPr>
              <a:t>In either case, Amazon would be </a:t>
            </a:r>
            <a:r>
              <a:rPr lang="en-US" sz="3200" b="1" dirty="0">
                <a:solidFill>
                  <a:srgbClr val="FF0000"/>
                </a:solidFill>
                <a:effectLst>
                  <a:outerShdw blurRad="38100" dist="38100" dir="2700000" algn="tl">
                    <a:srgbClr val="000000">
                      <a:alpha val="43137"/>
                    </a:srgbClr>
                  </a:outerShdw>
                </a:effectLst>
              </a:rPr>
              <a:t>recouping </a:t>
            </a:r>
            <a:r>
              <a:rPr lang="en-US" sz="3200" b="1" dirty="0">
                <a:solidFill>
                  <a:srgbClr val="FF0000"/>
                </a:solidFill>
                <a:effectLst>
                  <a:outerShdw blurRad="38100" dist="38100" dir="2700000" algn="tl">
                    <a:srgbClr val="000000">
                      <a:alpha val="43137"/>
                    </a:srgbClr>
                  </a:outerShdw>
                </a:effectLst>
                <a:highlight>
                  <a:srgbClr val="FFFF00"/>
                </a:highlight>
              </a:rPr>
              <a:t>outside</a:t>
            </a:r>
            <a:r>
              <a:rPr lang="en-US" sz="3200" b="1" dirty="0">
                <a:solidFill>
                  <a:srgbClr val="FF0000"/>
                </a:solidFill>
                <a:effectLst>
                  <a:outerShdw blurRad="38100" dist="38100" dir="2700000" algn="tl">
                    <a:srgbClr val="000000">
                      <a:alpha val="43137"/>
                    </a:srgbClr>
                  </a:outerShdw>
                </a:effectLst>
              </a:rPr>
              <a:t> the original market </a:t>
            </a:r>
            <a:r>
              <a:rPr lang="en-US" sz="3200" b="1" dirty="0">
                <a:solidFill>
                  <a:srgbClr val="002060"/>
                </a:solidFill>
                <a:effectLst>
                  <a:outerShdw blurRad="38100" dist="38100" dir="2700000" algn="tl">
                    <a:srgbClr val="000000">
                      <a:alpha val="43137"/>
                    </a:srgbClr>
                  </a:outerShdw>
                </a:effectLst>
              </a:rPr>
              <a:t>where it sustained losses </a:t>
            </a:r>
            <a:r>
              <a:rPr lang="en-US" sz="3200" dirty="0">
                <a:solidFill>
                  <a:srgbClr val="002060"/>
                </a:solidFill>
                <a:effectLst>
                  <a:outerShdw blurRad="38100" dist="38100" dir="2700000" algn="tl">
                    <a:srgbClr val="000000">
                      <a:alpha val="43137"/>
                    </a:srgbClr>
                  </a:outerShdw>
                </a:effectLst>
              </a:rPr>
              <a:t>(bestseller </a:t>
            </a:r>
            <a:r>
              <a:rPr lang="pl-PL" sz="3200" dirty="0">
                <a:solidFill>
                  <a:srgbClr val="002060"/>
                </a:solidFill>
                <a:effectLst>
                  <a:outerShdw blurRad="38100" dist="38100" dir="2700000" algn="tl">
                    <a:srgbClr val="000000">
                      <a:alpha val="43137"/>
                    </a:srgbClr>
                  </a:outerShdw>
                </a:effectLst>
              </a:rPr>
              <a:t>e-books</a:t>
            </a:r>
            <a:r>
              <a:rPr lang="en-US" sz="3200" dirty="0">
                <a:solidFill>
                  <a:srgbClr val="002060"/>
                </a:solidFill>
                <a:effectLst>
                  <a:outerShdw blurRad="38100" dist="38100" dir="2700000" algn="tl">
                    <a:srgbClr val="000000">
                      <a:alpha val="43137"/>
                    </a:srgbClr>
                  </a:outerShdw>
                </a:effectLst>
              </a:rPr>
              <a:t>), </a:t>
            </a:r>
            <a:r>
              <a:rPr lang="en-US" sz="3200" b="1" dirty="0">
                <a:solidFill>
                  <a:srgbClr val="002060"/>
                </a:solidFill>
                <a:effectLst>
                  <a:outerShdw blurRad="38100" dist="38100" dir="2700000" algn="tl">
                    <a:srgbClr val="000000">
                      <a:alpha val="43137"/>
                    </a:srgbClr>
                  </a:outerShdw>
                </a:effectLst>
              </a:rPr>
              <a:t>so </a:t>
            </a:r>
            <a:r>
              <a:rPr lang="en-US" sz="3200" b="1" dirty="0">
                <a:solidFill>
                  <a:srgbClr val="FF0000"/>
                </a:solidFill>
                <a:effectLst>
                  <a:outerShdw blurRad="38100" dist="38100" dir="2700000" algn="tl">
                    <a:srgbClr val="000000">
                      <a:alpha val="43137"/>
                    </a:srgbClr>
                  </a:outerShdw>
                </a:effectLst>
              </a:rPr>
              <a:t>courts</a:t>
            </a:r>
            <a:r>
              <a:rPr lang="en-US" sz="3200" b="1" dirty="0">
                <a:solidFill>
                  <a:srgbClr val="002060"/>
                </a:solidFill>
                <a:effectLst>
                  <a:outerShdw blurRad="38100" dist="38100" dir="2700000" algn="tl">
                    <a:srgbClr val="000000">
                      <a:alpha val="43137"/>
                    </a:srgbClr>
                  </a:outerShdw>
                </a:effectLst>
              </a:rPr>
              <a:t> are unlikely to </a:t>
            </a:r>
            <a:r>
              <a:rPr lang="pl-PL" sz="3200" b="1" dirty="0">
                <a:solidFill>
                  <a:srgbClr val="002060"/>
                </a:solidFill>
                <a:effectLst>
                  <a:outerShdw blurRad="38100" dist="38100" dir="2700000" algn="tl">
                    <a:srgbClr val="000000">
                      <a:alpha val="43137"/>
                    </a:srgbClr>
                  </a:outerShdw>
                </a:effectLst>
              </a:rPr>
              <a:t>consider such</a:t>
            </a:r>
            <a:r>
              <a:rPr lang="en-US" sz="3200" b="1" dirty="0">
                <a:solidFill>
                  <a:srgbClr val="002060"/>
                </a:solidFill>
                <a:effectLst>
                  <a:outerShdw blurRad="38100" dist="38100" dir="2700000" algn="tl">
                    <a:srgbClr val="000000">
                      <a:alpha val="43137"/>
                    </a:srgbClr>
                  </a:outerShdw>
                </a:effectLst>
              </a:rPr>
              <a:t> scenarios</a:t>
            </a:r>
            <a:r>
              <a:rPr lang="en-US" sz="3200" dirty="0">
                <a:solidFill>
                  <a:srgbClr val="002060"/>
                </a:solidFill>
                <a:effectLst>
                  <a:outerShdw blurRad="38100" dist="38100" dir="2700000" algn="tl">
                    <a:srgbClr val="000000">
                      <a:alpha val="43137"/>
                    </a:srgbClr>
                  </a:outerShdw>
                </a:effectLst>
              </a:rPr>
              <a:t>.</a:t>
            </a:r>
            <a:endParaRPr lang="pl-PL" sz="32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546287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AFEA8E6-967D-821E-F43A-91C54FD9ECA5}"/>
              </a:ext>
            </a:extLst>
          </p:cNvPr>
          <p:cNvSpPr>
            <a:spLocks noGrp="1"/>
          </p:cNvSpPr>
          <p:nvPr>
            <p:ph type="title"/>
          </p:nvPr>
        </p:nvSpPr>
        <p:spPr/>
        <p:txBody>
          <a:bodyPr>
            <a:normAutofit/>
          </a:bodyPr>
          <a:lstStyle/>
          <a:p>
            <a:r>
              <a:rPr lang="pl-PL" sz="3600" dirty="0">
                <a:solidFill>
                  <a:srgbClr val="002060"/>
                </a:solidFill>
                <a:effectLst>
                  <a:outerShdw blurRad="38100" dist="38100" dir="2700000" algn="tl">
                    <a:srgbClr val="000000">
                      <a:alpha val="43137"/>
                    </a:srgbClr>
                  </a:outerShdw>
                </a:effectLst>
              </a:rPr>
              <a:t>ESTABLISHING STRUCTURAL DOMINANCE </a:t>
            </a:r>
            <a:r>
              <a:rPr lang="pl-PL" sz="3600" b="1" dirty="0">
                <a:solidFill>
                  <a:srgbClr val="FF0000"/>
                </a:solidFill>
                <a:effectLst>
                  <a:outerShdw blurRad="38100" dist="38100" dir="2700000" algn="tl">
                    <a:srgbClr val="000000">
                      <a:alpha val="43137"/>
                    </a:srgbClr>
                  </a:outerShdw>
                </a:effectLst>
                <a:highlight>
                  <a:srgbClr val="00FF00"/>
                </a:highlight>
              </a:rPr>
              <a:t>Discriminatory Pricing and Fees</a:t>
            </a:r>
            <a:endParaRPr lang="en-US" sz="3600" dirty="0"/>
          </a:p>
        </p:txBody>
      </p:sp>
      <p:sp>
        <p:nvSpPr>
          <p:cNvPr id="3" name="Symbol zastępczy zawartości 2">
            <a:extLst>
              <a:ext uri="{FF2B5EF4-FFF2-40B4-BE49-F238E27FC236}">
                <a16:creationId xmlns:a16="http://schemas.microsoft.com/office/drawing/2014/main" id="{B01D26B9-8F44-0F23-30C0-E4CFEB4B7B3D}"/>
              </a:ext>
            </a:extLst>
          </p:cNvPr>
          <p:cNvSpPr>
            <a:spLocks noGrp="1"/>
          </p:cNvSpPr>
          <p:nvPr>
            <p:ph idx="1"/>
          </p:nvPr>
        </p:nvSpPr>
        <p:spPr>
          <a:xfrm>
            <a:off x="838200" y="1825625"/>
            <a:ext cx="10515600" cy="4761988"/>
          </a:xfrm>
        </p:spPr>
        <p:txBody>
          <a:bodyPr>
            <a:normAutofit/>
          </a:bodyPr>
          <a:lstStyle/>
          <a:p>
            <a:r>
              <a:rPr lang="en-US" sz="3600" dirty="0">
                <a:solidFill>
                  <a:srgbClr val="002060"/>
                </a:solidFill>
                <a:effectLst>
                  <a:outerShdw blurRad="38100" dist="38100" dir="2700000" algn="tl">
                    <a:srgbClr val="000000">
                      <a:alpha val="43137"/>
                    </a:srgbClr>
                  </a:outerShdw>
                </a:effectLst>
              </a:rPr>
              <a:t>A</a:t>
            </a:r>
            <a:r>
              <a:rPr lang="pl-PL" sz="3600" dirty="0">
                <a:solidFill>
                  <a:srgbClr val="002060"/>
                </a:solidFill>
                <a:effectLst>
                  <a:outerShdw blurRad="38100" dist="38100" dir="2700000" algn="tl">
                    <a:srgbClr val="000000">
                      <a:alpha val="43137"/>
                    </a:srgbClr>
                  </a:outerShdw>
                </a:effectLst>
              </a:rPr>
              <a:t>lso, A</a:t>
            </a:r>
            <a:r>
              <a:rPr lang="en-US" sz="3600" dirty="0">
                <a:solidFill>
                  <a:srgbClr val="002060"/>
                </a:solidFill>
                <a:effectLst>
                  <a:outerShdw blurRad="38100" dist="38100" dir="2700000" algn="tl">
                    <a:srgbClr val="000000">
                      <a:alpha val="43137"/>
                    </a:srgbClr>
                  </a:outerShdw>
                </a:effectLst>
              </a:rPr>
              <a:t>mazon could </a:t>
            </a:r>
            <a:r>
              <a:rPr lang="en-US" sz="3600" b="1" dirty="0">
                <a:solidFill>
                  <a:srgbClr val="FF0000"/>
                </a:solidFill>
                <a:effectLst>
                  <a:outerShdw blurRad="38100" dist="38100" dir="2700000" algn="tl">
                    <a:srgbClr val="000000">
                      <a:alpha val="43137"/>
                    </a:srgbClr>
                  </a:outerShdw>
                </a:effectLst>
                <a:highlight>
                  <a:srgbClr val="FFFF00"/>
                </a:highlight>
              </a:rPr>
              <a:t>recoup</a:t>
            </a:r>
            <a:r>
              <a:rPr lang="en-US" sz="3600" b="1" dirty="0">
                <a:solidFill>
                  <a:srgbClr val="FF0000"/>
                </a:solidFill>
                <a:effectLst>
                  <a:outerShdw blurRad="38100" dist="38100" dir="2700000" algn="tl">
                    <a:srgbClr val="000000">
                      <a:alpha val="43137"/>
                    </a:srgbClr>
                  </a:outerShdw>
                </a:effectLst>
              </a:rPr>
              <a:t> its losses by extracting more </a:t>
            </a:r>
            <a:r>
              <a:rPr lang="en-US" sz="3600" b="1" dirty="0">
                <a:solidFill>
                  <a:srgbClr val="FF0000"/>
                </a:solidFill>
                <a:effectLst>
                  <a:outerShdw blurRad="38100" dist="38100" dir="2700000" algn="tl">
                    <a:srgbClr val="000000">
                      <a:alpha val="43137"/>
                    </a:srgbClr>
                  </a:outerShdw>
                </a:effectLst>
                <a:highlight>
                  <a:srgbClr val="FFFF00"/>
                </a:highlight>
              </a:rPr>
              <a:t>from publishers</a:t>
            </a:r>
            <a:r>
              <a:rPr lang="en-US" sz="3600" dirty="0">
                <a:solidFill>
                  <a:srgbClr val="002060"/>
                </a:solidFill>
                <a:effectLst>
                  <a:outerShdw blurRad="38100" dist="38100" dir="2700000" algn="tl">
                    <a:srgbClr val="000000">
                      <a:alpha val="43137"/>
                    </a:srgbClr>
                  </a:outerShdw>
                </a:effectLst>
              </a:rPr>
              <a:t>, who are </a:t>
            </a:r>
            <a:r>
              <a:rPr lang="en-US" sz="3600" b="1" dirty="0">
                <a:solidFill>
                  <a:srgbClr val="FF0000"/>
                </a:solidFill>
                <a:effectLst>
                  <a:outerShdw blurRad="38100" dist="38100" dir="2700000" algn="tl">
                    <a:srgbClr val="000000">
                      <a:alpha val="43137"/>
                    </a:srgbClr>
                  </a:outerShdw>
                </a:effectLst>
              </a:rPr>
              <a:t>dependent on its platform to market </a:t>
            </a:r>
            <a:r>
              <a:rPr lang="en-US" sz="3600" dirty="0">
                <a:solidFill>
                  <a:srgbClr val="002060"/>
                </a:solidFill>
                <a:effectLst>
                  <a:outerShdw blurRad="38100" dist="38100" dir="2700000" algn="tl">
                    <a:srgbClr val="000000">
                      <a:alpha val="43137"/>
                    </a:srgbClr>
                  </a:outerShdw>
                </a:effectLst>
              </a:rPr>
              <a:t>both </a:t>
            </a:r>
            <a:r>
              <a:rPr lang="pl-PL" sz="3600" dirty="0">
                <a:solidFill>
                  <a:srgbClr val="002060"/>
                </a:solidFill>
                <a:effectLst>
                  <a:outerShdw blurRad="38100" dist="38100" dir="2700000" algn="tl">
                    <a:srgbClr val="000000">
                      <a:alpha val="43137"/>
                    </a:srgbClr>
                  </a:outerShdw>
                </a:effectLst>
              </a:rPr>
              <a:t>e-books</a:t>
            </a:r>
            <a:r>
              <a:rPr lang="en-US" sz="3600" dirty="0">
                <a:solidFill>
                  <a:srgbClr val="002060"/>
                </a:solidFill>
                <a:effectLst>
                  <a:outerShdw blurRad="38100" dist="38100" dir="2700000" algn="tl">
                    <a:srgbClr val="000000">
                      <a:alpha val="43137"/>
                    </a:srgbClr>
                  </a:outerShdw>
                </a:effectLst>
              </a:rPr>
              <a:t> and print books. </a:t>
            </a:r>
            <a:endParaRPr lang="pl-PL" sz="3600" dirty="0">
              <a:solidFill>
                <a:srgbClr val="002060"/>
              </a:solidFill>
              <a:effectLst>
                <a:outerShdw blurRad="38100" dist="38100" dir="2700000" algn="tl">
                  <a:srgbClr val="000000">
                    <a:alpha val="43137"/>
                  </a:srgbClr>
                </a:outerShdw>
              </a:effectLst>
            </a:endParaRPr>
          </a:p>
          <a:p>
            <a:r>
              <a:rPr lang="en-US" sz="3600" dirty="0">
                <a:solidFill>
                  <a:srgbClr val="002060"/>
                </a:solidFill>
                <a:effectLst>
                  <a:outerShdw blurRad="38100" dist="38100" dir="2700000" algn="tl">
                    <a:srgbClr val="000000">
                      <a:alpha val="43137"/>
                    </a:srgbClr>
                  </a:outerShdw>
                </a:effectLst>
              </a:rPr>
              <a:t>This may diminish the </a:t>
            </a:r>
            <a:r>
              <a:rPr lang="en-US" sz="3600" b="1" dirty="0">
                <a:solidFill>
                  <a:srgbClr val="0070C0"/>
                </a:solidFill>
                <a:effectLst>
                  <a:outerShdw blurRad="38100" dist="38100" dir="2700000" algn="tl">
                    <a:srgbClr val="000000">
                      <a:alpha val="43137"/>
                    </a:srgbClr>
                  </a:outerShdw>
                </a:effectLst>
              </a:rPr>
              <a:t>quality and breadth of the works </a:t>
            </a:r>
            <a:r>
              <a:rPr lang="en-US" sz="3600" dirty="0">
                <a:solidFill>
                  <a:srgbClr val="002060"/>
                </a:solidFill>
                <a:effectLst>
                  <a:outerShdw blurRad="38100" dist="38100" dir="2700000" algn="tl">
                    <a:srgbClr val="000000">
                      <a:alpha val="43137"/>
                    </a:srgbClr>
                  </a:outerShdw>
                </a:effectLst>
              </a:rPr>
              <a:t>that are published</a:t>
            </a:r>
            <a:r>
              <a:rPr lang="en-US" sz="3600" b="1" dirty="0">
                <a:solidFill>
                  <a:srgbClr val="0070C0"/>
                </a:solidFill>
                <a:effectLst>
                  <a:outerShdw blurRad="38100" dist="38100" dir="2700000" algn="tl">
                    <a:srgbClr val="000000">
                      <a:alpha val="43137"/>
                    </a:srgbClr>
                  </a:outerShdw>
                </a:effectLst>
              </a:rPr>
              <a:t>, but </a:t>
            </a:r>
            <a:r>
              <a:rPr lang="en-US" sz="3600" dirty="0">
                <a:solidFill>
                  <a:srgbClr val="002060"/>
                </a:solidFill>
                <a:effectLst>
                  <a:outerShdw blurRad="38100" dist="38100" dir="2700000" algn="tl">
                    <a:srgbClr val="000000">
                      <a:alpha val="43137"/>
                    </a:srgbClr>
                  </a:outerShdw>
                </a:effectLst>
              </a:rPr>
              <a:t>since this is </a:t>
            </a:r>
            <a:r>
              <a:rPr lang="en-US" sz="3600" b="1" dirty="0">
                <a:solidFill>
                  <a:srgbClr val="0070C0"/>
                </a:solidFill>
                <a:effectLst>
                  <a:outerShdw blurRad="38100" dist="38100" dir="2700000" algn="tl">
                    <a:srgbClr val="000000">
                      <a:alpha val="43137"/>
                    </a:srgbClr>
                  </a:outerShdw>
                </a:effectLst>
              </a:rPr>
              <a:t>most directly </a:t>
            </a:r>
            <a:r>
              <a:rPr lang="en-US" sz="3600" b="1" dirty="0">
                <a:solidFill>
                  <a:srgbClr val="002060"/>
                </a:solidFill>
                <a:effectLst>
                  <a:outerShdw blurRad="38100" dist="38100" dir="2700000" algn="tl">
                    <a:srgbClr val="000000">
                      <a:alpha val="43137"/>
                    </a:srgbClr>
                  </a:outerShdw>
                </a:effectLst>
              </a:rPr>
              <a:t>a </a:t>
            </a:r>
            <a:r>
              <a:rPr lang="pl-PL" sz="3600" b="1" dirty="0">
                <a:solidFill>
                  <a:srgbClr val="002060"/>
                </a:solidFill>
                <a:effectLst>
                  <a:outerShdw blurRad="38100" dist="38100" dir="2700000" algn="tl">
                    <a:srgbClr val="000000">
                      <a:alpha val="43137"/>
                    </a:srgbClr>
                  </a:outerShdw>
                </a:effectLst>
              </a:rPr>
              <a:t>supplier-side rather than buyer-side</a:t>
            </a:r>
            <a:r>
              <a:rPr lang="en-US" sz="3600" b="1" dirty="0">
                <a:solidFill>
                  <a:srgbClr val="002060"/>
                </a:solidFill>
                <a:effectLst>
                  <a:outerShdw blurRad="38100" dist="38100" dir="2700000" algn="tl">
                    <a:srgbClr val="000000">
                      <a:alpha val="43137"/>
                    </a:srgbClr>
                  </a:outerShdw>
                </a:effectLst>
              </a:rPr>
              <a:t> harm</a:t>
            </a:r>
            <a:r>
              <a:rPr lang="en-US" sz="3600" dirty="0">
                <a:solidFill>
                  <a:srgbClr val="002060"/>
                </a:solidFill>
                <a:effectLst>
                  <a:outerShdw blurRad="38100" dist="38100" dir="2700000" algn="tl">
                    <a:srgbClr val="000000">
                      <a:alpha val="43137"/>
                    </a:srgbClr>
                  </a:outerShdw>
                </a:effectLst>
              </a:rPr>
              <a:t>, it is </a:t>
            </a:r>
            <a:r>
              <a:rPr lang="en-US" sz="3600" b="1" dirty="0">
                <a:solidFill>
                  <a:srgbClr val="002060"/>
                </a:solidFill>
                <a:effectLst>
                  <a:outerShdw blurRad="38100" dist="38100" dir="2700000" algn="tl">
                    <a:srgbClr val="000000">
                      <a:alpha val="43137"/>
                    </a:srgbClr>
                  </a:outerShdw>
                </a:effectLst>
              </a:rPr>
              <a:t>less likely that a modern court would </a:t>
            </a:r>
            <a:r>
              <a:rPr lang="en-US" sz="3600" dirty="0">
                <a:solidFill>
                  <a:srgbClr val="002060"/>
                </a:solidFill>
                <a:effectLst>
                  <a:outerShdw blurRad="38100" dist="38100" dir="2700000" algn="tl">
                    <a:srgbClr val="000000">
                      <a:alpha val="43137"/>
                    </a:srgbClr>
                  </a:outerShdw>
                </a:effectLst>
              </a:rPr>
              <a:t>consider it closely. </a:t>
            </a:r>
            <a:endParaRPr lang="pl-PL" sz="36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204900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1D49FFF-F168-E5C3-619B-2A7E64B83833}"/>
              </a:ext>
            </a:extLst>
          </p:cNvPr>
          <p:cNvSpPr>
            <a:spLocks noGrp="1"/>
          </p:cNvSpPr>
          <p:nvPr>
            <p:ph type="title"/>
          </p:nvPr>
        </p:nvSpPr>
        <p:spPr/>
        <p:txBody>
          <a:bodyPr>
            <a:normAutofit/>
          </a:bodyPr>
          <a:lstStyle/>
          <a:p>
            <a:r>
              <a:rPr lang="pl-PL" sz="2800" b="1" dirty="0">
                <a:solidFill>
                  <a:srgbClr val="002060"/>
                </a:solidFill>
                <a:effectLst>
                  <a:outerShdw blurRad="38100" dist="38100" dir="2700000" algn="tl">
                    <a:srgbClr val="000000">
                      <a:alpha val="43137"/>
                    </a:srgbClr>
                  </a:outerShdw>
                </a:effectLst>
              </a:rPr>
              <a:t>ESTABLISHING STRUCTURAL DOMINANCE</a:t>
            </a:r>
            <a:br>
              <a:rPr lang="pl-PL" sz="2800" b="1" dirty="0">
                <a:solidFill>
                  <a:srgbClr val="002060"/>
                </a:solidFill>
                <a:effectLst>
                  <a:outerShdw blurRad="38100" dist="38100" dir="2700000" algn="tl">
                    <a:srgbClr val="000000">
                      <a:alpha val="43137"/>
                    </a:srgbClr>
                  </a:outerShdw>
                </a:effectLst>
              </a:rPr>
            </a:br>
            <a:r>
              <a:rPr lang="en-US" sz="2800" b="1" dirty="0">
                <a:solidFill>
                  <a:srgbClr val="FF0000"/>
                </a:solidFill>
                <a:effectLst>
                  <a:outerShdw blurRad="38100" dist="38100" dir="2700000" algn="tl">
                    <a:srgbClr val="000000">
                      <a:alpha val="43137"/>
                    </a:srgbClr>
                  </a:outerShdw>
                </a:effectLst>
              </a:rPr>
              <a:t>Delivery and Leveraging Dominance </a:t>
            </a:r>
            <a:r>
              <a:rPr lang="en-US" sz="2800" b="1" dirty="0">
                <a:solidFill>
                  <a:srgbClr val="002060"/>
                </a:solidFill>
                <a:effectLst>
                  <a:outerShdw blurRad="38100" dist="38100" dir="2700000" algn="tl">
                    <a:srgbClr val="000000">
                      <a:alpha val="43137"/>
                    </a:srgbClr>
                  </a:outerShdw>
                </a:effectLst>
              </a:rPr>
              <a:t>across Sectors</a:t>
            </a:r>
          </a:p>
        </p:txBody>
      </p:sp>
      <p:sp>
        <p:nvSpPr>
          <p:cNvPr id="3" name="Symbol zastępczy zawartości 2">
            <a:extLst>
              <a:ext uri="{FF2B5EF4-FFF2-40B4-BE49-F238E27FC236}">
                <a16:creationId xmlns:a16="http://schemas.microsoft.com/office/drawing/2014/main" id="{1D147EA2-5765-9C3E-A49A-25061C6E9D56}"/>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rPr>
              <a:t>Amazon</a:t>
            </a:r>
            <a:r>
              <a:rPr lang="pl-PL"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translated its dominance as an online retailer into</a:t>
            </a:r>
            <a:r>
              <a:rPr lang="en-US" dirty="0">
                <a:solidFill>
                  <a:srgbClr val="002060"/>
                </a:solidFill>
                <a:effectLst>
                  <a:outerShdw blurRad="38100" dist="38100" dir="2700000" algn="tl">
                    <a:srgbClr val="000000">
                      <a:alpha val="43137"/>
                    </a:srgbClr>
                  </a:outerShdw>
                </a:effectLst>
              </a:rPr>
              <a:t> significant </a:t>
            </a:r>
            <a:r>
              <a:rPr lang="en-US" b="1" dirty="0">
                <a:solidFill>
                  <a:srgbClr val="002060"/>
                </a:solidFill>
                <a:effectLst>
                  <a:outerShdw blurRad="38100" dist="38100" dir="2700000" algn="tl">
                    <a:srgbClr val="000000">
                      <a:alpha val="43137"/>
                    </a:srgbClr>
                  </a:outerShdw>
                </a:effectLst>
              </a:rPr>
              <a:t>bargaining power </a:t>
            </a:r>
            <a:r>
              <a:rPr lang="en-US" dirty="0">
                <a:solidFill>
                  <a:srgbClr val="002060"/>
                </a:solidFill>
                <a:effectLst>
                  <a:outerShdw blurRad="38100" dist="38100" dir="2700000" algn="tl">
                    <a:srgbClr val="000000">
                      <a:alpha val="43137"/>
                    </a:srgbClr>
                  </a:outerShdw>
                </a:effectLst>
              </a:rPr>
              <a:t>in the </a:t>
            </a:r>
            <a:r>
              <a:rPr lang="en-US" b="1" dirty="0">
                <a:solidFill>
                  <a:srgbClr val="FF0000"/>
                </a:solidFill>
                <a:effectLst>
                  <a:outerShdw blurRad="38100" dist="38100" dir="2700000" algn="tl">
                    <a:srgbClr val="000000">
                      <a:alpha val="43137"/>
                    </a:srgbClr>
                  </a:outerShdw>
                </a:effectLst>
              </a:rPr>
              <a:t>delivery sector</a:t>
            </a:r>
            <a:r>
              <a:rPr lang="en-US" dirty="0">
                <a:solidFill>
                  <a:srgbClr val="002060"/>
                </a:solidFill>
                <a:effectLst>
                  <a:outerShdw blurRad="38100" dist="38100" dir="2700000" algn="tl">
                    <a:srgbClr val="000000">
                      <a:alpha val="43137"/>
                    </a:srgbClr>
                  </a:outerShdw>
                </a:effectLst>
              </a:rPr>
              <a:t>, using it to secure favorable conditions from third-party delivery companies.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This, in turn, enabled Amazon to </a:t>
            </a:r>
            <a:r>
              <a:rPr lang="en-US" b="1" dirty="0">
                <a:solidFill>
                  <a:srgbClr val="002060"/>
                </a:solidFill>
                <a:effectLst>
                  <a:outerShdw blurRad="38100" dist="38100" dir="2700000" algn="tl">
                    <a:srgbClr val="000000">
                      <a:alpha val="43137"/>
                    </a:srgbClr>
                  </a:outerShdw>
                </a:effectLst>
              </a:rPr>
              <a:t>extend its dominance over other retailers </a:t>
            </a:r>
            <a:r>
              <a:rPr lang="en-US" dirty="0">
                <a:solidFill>
                  <a:srgbClr val="002060"/>
                </a:solidFill>
                <a:effectLst>
                  <a:outerShdw blurRad="38100" dist="38100" dir="2700000" algn="tl">
                    <a:srgbClr val="000000">
                      <a:alpha val="43137"/>
                    </a:srgbClr>
                  </a:outerShdw>
                </a:effectLst>
              </a:rPr>
              <a:t>by creating the </a:t>
            </a:r>
            <a:r>
              <a:rPr lang="en-US" b="1" dirty="0">
                <a:solidFill>
                  <a:srgbClr val="FF0000"/>
                </a:solidFill>
                <a:effectLst>
                  <a:outerShdw blurRad="38100" dist="38100" dir="2700000" algn="tl">
                    <a:srgbClr val="000000">
                      <a:alpha val="43137"/>
                    </a:srgbClr>
                  </a:outerShdw>
                </a:effectLst>
              </a:rPr>
              <a:t>Fulfillment-by-Amazon service</a:t>
            </a:r>
            <a:r>
              <a:rPr lang="pl-PL" b="1" dirty="0">
                <a:solidFill>
                  <a:srgbClr val="FF0000"/>
                </a:solidFill>
                <a:effectLst>
                  <a:outerShdw blurRad="38100" dist="38100" dir="2700000" algn="tl">
                    <a:srgbClr val="000000">
                      <a:alpha val="43137"/>
                    </a:srgbClr>
                  </a:outerShdw>
                </a:effectLst>
              </a:rPr>
              <a:t> (FBA)</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and establishing </a:t>
            </a:r>
            <a:r>
              <a:rPr lang="en-US" b="1" dirty="0">
                <a:solidFill>
                  <a:srgbClr val="FF0000"/>
                </a:solidFill>
                <a:effectLst>
                  <a:outerShdw blurRad="38100" dist="38100" dir="2700000" algn="tl">
                    <a:srgbClr val="000000">
                      <a:alpha val="43137"/>
                    </a:srgbClr>
                  </a:outerShdw>
                </a:effectLst>
                <a:highlight>
                  <a:srgbClr val="FFFF00"/>
                </a:highlight>
              </a:rPr>
              <a:t>its own physical delivery capacity</a:t>
            </a:r>
            <a:r>
              <a:rPr lang="en-US" dirty="0">
                <a:solidFill>
                  <a:srgbClr val="002060"/>
                </a:solidFill>
                <a:effectLst>
                  <a:outerShdw blurRad="38100" dist="38100" dir="2700000" algn="tl">
                    <a:srgbClr val="000000">
                      <a:alpha val="43137"/>
                    </a:srgbClr>
                  </a:outerShdw>
                </a:effectLst>
                <a:highlight>
                  <a:srgbClr val="FFFF00"/>
                </a:highlight>
              </a:rPr>
              <a:t>. </a:t>
            </a:r>
            <a:endParaRPr lang="pl-PL" dirty="0">
              <a:solidFill>
                <a:srgbClr val="002060"/>
              </a:solidFill>
              <a:effectLst>
                <a:outerShdw blurRad="38100" dist="38100" dir="2700000" algn="tl">
                  <a:srgbClr val="000000">
                    <a:alpha val="43137"/>
                  </a:srgbClr>
                </a:outerShdw>
              </a:effectLst>
              <a:highlight>
                <a:srgbClr val="FFFF00"/>
              </a:highlight>
            </a:endParaRPr>
          </a:p>
          <a:p>
            <a:r>
              <a:rPr lang="pl-PL" dirty="0">
                <a:solidFill>
                  <a:srgbClr val="002060"/>
                </a:solidFill>
                <a:effectLst>
                  <a:outerShdw blurRad="38100" dist="38100" dir="2700000" algn="tl">
                    <a:srgbClr val="000000">
                      <a:alpha val="43137"/>
                    </a:srgbClr>
                  </a:outerShdw>
                </a:effectLst>
              </a:rPr>
              <a:t>It</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leverage</a:t>
            </a:r>
            <a:r>
              <a:rPr lang="pl-PL" b="1" dirty="0">
                <a:solidFill>
                  <a:srgbClr val="002060"/>
                </a:solidFill>
                <a:effectLst>
                  <a:outerShdw blurRad="38100" dist="38100" dir="2700000" algn="tl">
                    <a:srgbClr val="000000">
                      <a:alpha val="43137"/>
                    </a:srgbClr>
                  </a:outerShdw>
                </a:effectLst>
              </a:rPr>
              <a:t>d</a:t>
            </a:r>
            <a:r>
              <a:rPr lang="en-US" b="1" dirty="0">
                <a:solidFill>
                  <a:srgbClr val="002060"/>
                </a:solidFill>
                <a:effectLst>
                  <a:outerShdw blurRad="38100" dist="38100" dir="2700000" algn="tl">
                    <a:srgbClr val="000000">
                      <a:alpha val="43137"/>
                    </a:srgbClr>
                  </a:outerShdw>
                </a:effectLst>
              </a:rPr>
              <a:t> its dominant platform </a:t>
            </a:r>
            <a:r>
              <a:rPr lang="en-US" dirty="0">
                <a:solidFill>
                  <a:srgbClr val="002060"/>
                </a:solidFill>
                <a:effectLst>
                  <a:outerShdw blurRad="38100" dist="38100" dir="2700000" algn="tl">
                    <a:srgbClr val="000000">
                      <a:alpha val="43137"/>
                    </a:srgbClr>
                  </a:outerShdw>
                </a:effectLst>
              </a:rPr>
              <a:t>to expand into different sectors, successfully </a:t>
            </a:r>
            <a:r>
              <a:rPr lang="en-US" b="1" dirty="0">
                <a:solidFill>
                  <a:srgbClr val="002060"/>
                </a:solidFill>
                <a:effectLst>
                  <a:outerShdw blurRad="38100" dist="38100" dir="2700000" algn="tl">
                    <a:srgbClr val="000000">
                      <a:alpha val="43137"/>
                    </a:srgbClr>
                  </a:outerShdw>
                </a:effectLst>
              </a:rPr>
              <a:t>creating </a:t>
            </a:r>
            <a:r>
              <a:rPr lang="en-US" b="1" dirty="0">
                <a:solidFill>
                  <a:srgbClr val="FF0000"/>
                </a:solidFill>
                <a:effectLst>
                  <a:outerShdw blurRad="38100" dist="38100" dir="2700000" algn="tl">
                    <a:srgbClr val="000000">
                      <a:alpha val="43137"/>
                    </a:srgbClr>
                  </a:outerShdw>
                </a:effectLst>
              </a:rPr>
              <a:t>anticompetitive dynamics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18501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959FF1-511C-FA66-2308-644E89B25BFB}"/>
              </a:ext>
            </a:extLst>
          </p:cNvPr>
          <p:cNvSpPr>
            <a:spLocks noGrp="1"/>
          </p:cNvSpPr>
          <p:nvPr>
            <p:ph type="title"/>
          </p:nvPr>
        </p:nvSpPr>
        <p:spPr/>
        <p:txBody>
          <a:bodyPr>
            <a:normAutofit/>
          </a:bodyPr>
          <a:lstStyle/>
          <a:p>
            <a:r>
              <a:rPr lang="pl-PL" sz="2800" b="1" dirty="0">
                <a:solidFill>
                  <a:srgbClr val="002060"/>
                </a:solidFill>
                <a:effectLst>
                  <a:outerShdw blurRad="38100" dist="38100" dir="2700000" algn="tl">
                    <a:srgbClr val="000000">
                      <a:alpha val="43137"/>
                    </a:srgbClr>
                  </a:outerShdw>
                </a:effectLst>
              </a:rPr>
              <a:t>ESTABLISHING STRUCTURAL DOMINANCE</a:t>
            </a:r>
            <a:br>
              <a:rPr lang="pl-PL" sz="2800" b="1" dirty="0">
                <a:solidFill>
                  <a:srgbClr val="002060"/>
                </a:solidFill>
                <a:effectLst>
                  <a:outerShdw blurRad="38100" dist="38100" dir="2700000" algn="tl">
                    <a:srgbClr val="000000">
                      <a:alpha val="43137"/>
                    </a:srgbClr>
                  </a:outerShdw>
                </a:effectLst>
              </a:rPr>
            </a:br>
            <a:r>
              <a:rPr lang="en-US" sz="2800" b="1" dirty="0">
                <a:solidFill>
                  <a:srgbClr val="FF0000"/>
                </a:solidFill>
                <a:effectLst>
                  <a:outerShdw blurRad="38100" dist="38100" dir="2700000" algn="tl">
                    <a:srgbClr val="000000">
                      <a:alpha val="43137"/>
                    </a:srgbClr>
                  </a:outerShdw>
                </a:effectLst>
              </a:rPr>
              <a:t>Delivery and Leveraging Dominance </a:t>
            </a:r>
            <a:r>
              <a:rPr lang="en-US" sz="2800" b="1" dirty="0">
                <a:solidFill>
                  <a:srgbClr val="002060"/>
                </a:solidFill>
                <a:effectLst>
                  <a:outerShdw blurRad="38100" dist="38100" dir="2700000" algn="tl">
                    <a:srgbClr val="000000">
                      <a:alpha val="43137"/>
                    </a:srgbClr>
                  </a:outerShdw>
                </a:effectLst>
              </a:rPr>
              <a:t>across Sectors</a:t>
            </a:r>
            <a:endParaRPr lang="en-US" sz="2800" dirty="0"/>
          </a:p>
        </p:txBody>
      </p:sp>
      <p:sp>
        <p:nvSpPr>
          <p:cNvPr id="3" name="Symbol zastępczy zawartości 2">
            <a:extLst>
              <a:ext uri="{FF2B5EF4-FFF2-40B4-BE49-F238E27FC236}">
                <a16:creationId xmlns:a16="http://schemas.microsoft.com/office/drawing/2014/main" id="{FEFC898E-4617-B8A2-B028-E837D7A73A42}"/>
              </a:ext>
            </a:extLst>
          </p:cNvPr>
          <p:cNvSpPr>
            <a:spLocks noGrp="1"/>
          </p:cNvSpPr>
          <p:nvPr>
            <p:ph idx="1"/>
          </p:nvPr>
        </p:nvSpPr>
        <p:spPr/>
        <p:txBody>
          <a:bodyPr/>
          <a:lstStyle/>
          <a:p>
            <a:r>
              <a:rPr lang="en-US" sz="3200" b="1" dirty="0">
                <a:solidFill>
                  <a:srgbClr val="FF0000"/>
                </a:solidFill>
                <a:effectLst>
                  <a:outerShdw blurRad="38100" dist="38100" dir="2700000" algn="tl">
                    <a:srgbClr val="000000">
                      <a:alpha val="43137"/>
                    </a:srgbClr>
                  </a:outerShdw>
                </a:effectLst>
              </a:rPr>
              <a:t>Retail competitors </a:t>
            </a:r>
            <a:r>
              <a:rPr lang="en-US" sz="3200" dirty="0">
                <a:solidFill>
                  <a:srgbClr val="002060"/>
                </a:solidFill>
                <a:effectLst>
                  <a:outerShdw blurRad="38100" dist="38100" dir="2700000" algn="tl">
                    <a:srgbClr val="000000">
                      <a:alpha val="43137"/>
                    </a:srgbClr>
                  </a:outerShdw>
                </a:effectLst>
              </a:rPr>
              <a:t>are </a:t>
            </a:r>
            <a:r>
              <a:rPr lang="en-US" sz="3200" b="1" dirty="0">
                <a:solidFill>
                  <a:srgbClr val="002060"/>
                </a:solidFill>
                <a:effectLst>
                  <a:outerShdw blurRad="38100" dist="38100" dir="2700000" algn="tl">
                    <a:srgbClr val="000000">
                      <a:alpha val="43137"/>
                    </a:srgbClr>
                  </a:outerShdw>
                </a:effectLst>
              </a:rPr>
              <a:t>left with </a:t>
            </a:r>
            <a:r>
              <a:rPr lang="en-US" sz="3200" b="1" dirty="0">
                <a:solidFill>
                  <a:srgbClr val="FF0000"/>
                </a:solidFill>
                <a:effectLst>
                  <a:outerShdw blurRad="38100" dist="38100" dir="2700000" algn="tl">
                    <a:srgbClr val="000000">
                      <a:alpha val="43137"/>
                    </a:srgbClr>
                  </a:outerShdw>
                </a:effectLst>
              </a:rPr>
              <a:t>two undesirable choices</a:t>
            </a:r>
            <a:r>
              <a:rPr lang="en-US" sz="3200" dirty="0">
                <a:solidFill>
                  <a:srgbClr val="002060"/>
                </a:solidFill>
                <a:effectLst>
                  <a:outerShdw blurRad="38100" dist="38100" dir="2700000" algn="tl">
                    <a:srgbClr val="000000">
                      <a:alpha val="43137"/>
                    </a:srgbClr>
                  </a:outerShdw>
                </a:effectLst>
              </a:rPr>
              <a:t>: either </a:t>
            </a:r>
            <a:r>
              <a:rPr lang="en-US" sz="3200" b="1" dirty="0">
                <a:solidFill>
                  <a:srgbClr val="0070C0"/>
                </a:solidFill>
                <a:effectLst>
                  <a:outerShdw blurRad="38100" dist="38100" dir="2700000" algn="tl">
                    <a:srgbClr val="000000">
                      <a:alpha val="43137"/>
                    </a:srgbClr>
                  </a:outerShdw>
                </a:effectLst>
              </a:rPr>
              <a:t>try to </a:t>
            </a:r>
            <a:r>
              <a:rPr lang="pl-PL" sz="3200" b="1" dirty="0" err="1">
                <a:solidFill>
                  <a:srgbClr val="0070C0"/>
                </a:solidFill>
                <a:effectLst>
                  <a:outerShdw blurRad="38100" dist="38100" dir="2700000" algn="tl">
                    <a:srgbClr val="000000">
                      <a:alpha val="43137"/>
                    </a:srgbClr>
                  </a:outerShdw>
                </a:effectLst>
              </a:rPr>
              <a:t>compete</a:t>
            </a:r>
            <a:r>
              <a:rPr lang="en-US" sz="3200" b="1" dirty="0">
                <a:solidFill>
                  <a:srgbClr val="0070C0"/>
                </a:solidFill>
                <a:effectLst>
                  <a:outerShdw blurRad="38100" dist="38100" dir="2700000" algn="tl">
                    <a:srgbClr val="000000">
                      <a:alpha val="43137"/>
                    </a:srgbClr>
                  </a:outerShdw>
                </a:effectLst>
              </a:rPr>
              <a:t> with Amazon at a disadvantage</a:t>
            </a:r>
            <a:r>
              <a:rPr lang="en-US" sz="3200" b="1" dirty="0">
                <a:solidFill>
                  <a:srgbClr val="002060"/>
                </a:solidFill>
                <a:effectLst>
                  <a:outerShdw blurRad="38100" dist="38100" dir="2700000" algn="tl">
                    <a:srgbClr val="000000">
                      <a:alpha val="43137"/>
                    </a:srgbClr>
                  </a:outerShdw>
                </a:effectLst>
              </a:rPr>
              <a:t> </a:t>
            </a:r>
            <a:r>
              <a:rPr lang="en-US" sz="3200" dirty="0">
                <a:solidFill>
                  <a:srgbClr val="002060"/>
                </a:solidFill>
                <a:effectLst>
                  <a:outerShdw blurRad="38100" dist="38100" dir="2700000" algn="tl">
                    <a:srgbClr val="000000">
                      <a:alpha val="43137"/>
                    </a:srgbClr>
                  </a:outerShdw>
                </a:effectLst>
              </a:rPr>
              <a:t>or </a:t>
            </a:r>
            <a:r>
              <a:rPr lang="en-US" sz="3200" b="1" dirty="0">
                <a:solidFill>
                  <a:srgbClr val="0070C0"/>
                </a:solidFill>
                <a:effectLst>
                  <a:outerShdw blurRad="38100" dist="38100" dir="2700000" algn="tl">
                    <a:srgbClr val="000000">
                      <a:alpha val="43137"/>
                    </a:srgbClr>
                  </a:outerShdw>
                </a:effectLst>
              </a:rPr>
              <a:t>become reliant on a competitor </a:t>
            </a:r>
            <a:r>
              <a:rPr lang="en-US" sz="3200" dirty="0">
                <a:solidFill>
                  <a:srgbClr val="002060"/>
                </a:solidFill>
                <a:effectLst>
                  <a:outerShdw blurRad="38100" dist="38100" dir="2700000" algn="tl">
                    <a:srgbClr val="000000">
                      <a:alpha val="43137"/>
                    </a:srgbClr>
                  </a:outerShdw>
                </a:effectLst>
              </a:rPr>
              <a:t>to handle delivery and Logistics</a:t>
            </a:r>
            <a:endParaRPr lang="pl-PL" sz="3200" dirty="0">
              <a:solidFill>
                <a:srgbClr val="002060"/>
              </a:solidFill>
              <a:effectLst>
                <a:outerShdw blurRad="38100" dist="38100" dir="2700000" algn="tl">
                  <a:srgbClr val="000000">
                    <a:alpha val="43137"/>
                  </a:srgbClr>
                </a:outerShdw>
              </a:effectLst>
            </a:endParaRPr>
          </a:p>
          <a:p>
            <a:r>
              <a:rPr lang="en-US" sz="3200" b="1" dirty="0">
                <a:solidFill>
                  <a:srgbClr val="FF0000"/>
                </a:solidFill>
                <a:effectLst>
                  <a:outerShdw blurRad="38100" dist="38100" dir="2700000" algn="tl">
                    <a:srgbClr val="000000">
                      <a:alpha val="43137"/>
                    </a:srgbClr>
                  </a:outerShdw>
                </a:effectLst>
              </a:rPr>
              <a:t>Delivery companies </a:t>
            </a:r>
            <a:r>
              <a:rPr lang="en-US" sz="3200" dirty="0">
                <a:solidFill>
                  <a:srgbClr val="002060"/>
                </a:solidFill>
                <a:effectLst>
                  <a:outerShdw blurRad="38100" dist="38100" dir="2700000" algn="tl">
                    <a:srgbClr val="000000">
                      <a:alpha val="43137"/>
                    </a:srgbClr>
                  </a:outerShdw>
                </a:effectLst>
              </a:rPr>
              <a:t>sought to </a:t>
            </a:r>
            <a:r>
              <a:rPr lang="en-US" sz="3200" b="1" dirty="0">
                <a:solidFill>
                  <a:srgbClr val="002060"/>
                </a:solidFill>
                <a:effectLst>
                  <a:outerShdw blurRad="38100" dist="38100" dir="2700000" algn="tl">
                    <a:srgbClr val="000000">
                      <a:alpha val="43137"/>
                    </a:srgbClr>
                  </a:outerShdw>
                </a:effectLst>
              </a:rPr>
              <a:t>make up for the discounts they gave to Amazon </a:t>
            </a:r>
            <a:r>
              <a:rPr lang="en-US" sz="3200" dirty="0">
                <a:solidFill>
                  <a:srgbClr val="002060"/>
                </a:solidFill>
                <a:effectLst>
                  <a:outerShdw blurRad="38100" dist="38100" dir="2700000" algn="tl">
                    <a:srgbClr val="000000">
                      <a:alpha val="43137"/>
                    </a:srgbClr>
                  </a:outerShdw>
                </a:effectLst>
              </a:rPr>
              <a:t>by </a:t>
            </a:r>
            <a:r>
              <a:rPr lang="en-US" sz="3200" b="1" dirty="0">
                <a:solidFill>
                  <a:srgbClr val="002060"/>
                </a:solidFill>
                <a:effectLst>
                  <a:outerShdw blurRad="38100" dist="38100" dir="2700000" algn="tl">
                    <a:srgbClr val="000000">
                      <a:alpha val="43137"/>
                    </a:srgbClr>
                  </a:outerShdw>
                </a:effectLst>
              </a:rPr>
              <a:t>raising the prices they charged to independent seller</a:t>
            </a:r>
            <a:r>
              <a:rPr lang="pl-PL" sz="3200" b="1" dirty="0">
                <a:solidFill>
                  <a:srgbClr val="002060"/>
                </a:solidFill>
                <a:effectLst>
                  <a:outerShdw blurRad="38100" dist="38100" dir="2700000" algn="tl">
                    <a:srgbClr val="000000">
                      <a:alpha val="43137"/>
                    </a:srgbClr>
                  </a:outerShdw>
                </a:effectLst>
              </a:rPr>
              <a:t>s </a:t>
            </a:r>
            <a:r>
              <a:rPr lang="pl-PL" sz="3200" dirty="0">
                <a:solidFill>
                  <a:srgbClr val="002060"/>
                </a:solidFill>
                <a:effectLst>
                  <a:outerShdw blurRad="38100" dist="38100" dir="2700000" algn="tl">
                    <a:srgbClr val="000000">
                      <a:alpha val="43137"/>
                    </a:srgbClr>
                  </a:outerShdw>
                </a:effectLst>
              </a:rPr>
              <a:t>(</a:t>
            </a:r>
            <a:r>
              <a:rPr lang="en-US" sz="3200" dirty="0">
                <a:solidFill>
                  <a:srgbClr val="002060"/>
                </a:solidFill>
                <a:effectLst>
                  <a:outerShdw blurRad="38100" dist="38100" dir="2700000" algn="tl">
                    <a:srgbClr val="000000">
                      <a:alpha val="43137"/>
                    </a:srgbClr>
                  </a:outerShdw>
                </a:effectLst>
              </a:rPr>
              <a:t>the “</a:t>
            </a:r>
            <a:r>
              <a:rPr lang="en-US" sz="3200" b="1" dirty="0">
                <a:solidFill>
                  <a:srgbClr val="FF0000"/>
                </a:solidFill>
                <a:effectLst>
                  <a:outerShdw blurRad="38100" dist="38100" dir="2700000" algn="tl">
                    <a:srgbClr val="000000">
                      <a:alpha val="43137"/>
                    </a:srgbClr>
                  </a:outerShdw>
                </a:effectLst>
              </a:rPr>
              <a:t>waterbed effect</a:t>
            </a:r>
            <a:r>
              <a:rPr lang="en-US" sz="3200" dirty="0">
                <a:solidFill>
                  <a:srgbClr val="002060"/>
                </a:solidFill>
                <a:effectLst>
                  <a:outerShdw blurRad="38100" dist="38100" dir="2700000" algn="tl">
                    <a:srgbClr val="000000">
                      <a:alpha val="43137"/>
                    </a:srgbClr>
                  </a:outerShdw>
                </a:effectLst>
              </a:rPr>
              <a:t>”</a:t>
            </a:r>
            <a:r>
              <a:rPr lang="pl-PL" sz="3200" dirty="0">
                <a:solidFill>
                  <a:srgbClr val="002060"/>
                </a:solidFill>
                <a:effectLst>
                  <a:outerShdw blurRad="38100" dist="38100" dir="2700000" algn="tl">
                    <a:srgbClr val="000000">
                      <a:alpha val="43137"/>
                    </a:srgbClr>
                  </a:outerShdw>
                </a:effectLst>
              </a:rPr>
              <a:t>).</a:t>
            </a:r>
            <a:endParaRPr lang="en-US" sz="3200"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7615996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8C553C7-D25B-23D1-5105-C927B25903F8}"/>
              </a:ext>
            </a:extLst>
          </p:cNvPr>
          <p:cNvSpPr>
            <a:spLocks noGrp="1"/>
          </p:cNvSpPr>
          <p:nvPr>
            <p:ph type="title"/>
          </p:nvPr>
        </p:nvSpPr>
        <p:spPr/>
        <p:txBody>
          <a:bodyPr>
            <a:normAutofit/>
          </a:bodyPr>
          <a:lstStyle/>
          <a:p>
            <a:r>
              <a:rPr lang="pl-PL" sz="3200" b="1" dirty="0">
                <a:solidFill>
                  <a:srgbClr val="002060"/>
                </a:solidFill>
                <a:effectLst>
                  <a:outerShdw blurRad="38100" dist="38100" dir="2700000" algn="tl">
                    <a:srgbClr val="000000">
                      <a:alpha val="43137"/>
                    </a:srgbClr>
                  </a:outerShdw>
                </a:effectLst>
              </a:rPr>
              <a:t>ESTABLISHING STRUCTURAL DOMINANCE</a:t>
            </a:r>
            <a:br>
              <a:rPr lang="pl-PL" sz="3200" b="1" dirty="0">
                <a:solidFill>
                  <a:srgbClr val="00206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Delivery and Leveraging Dominance </a:t>
            </a:r>
            <a:r>
              <a:rPr lang="en-US" sz="3200" b="1" dirty="0">
                <a:solidFill>
                  <a:srgbClr val="002060"/>
                </a:solidFill>
                <a:effectLst>
                  <a:outerShdw blurRad="38100" dist="38100" dir="2700000" algn="tl">
                    <a:srgbClr val="000000">
                      <a:alpha val="43137"/>
                    </a:srgbClr>
                  </a:outerShdw>
                </a:effectLst>
              </a:rPr>
              <a:t>across Sectors</a:t>
            </a:r>
            <a:endParaRPr lang="en-US" sz="3200" dirty="0"/>
          </a:p>
        </p:txBody>
      </p:sp>
      <p:sp>
        <p:nvSpPr>
          <p:cNvPr id="3" name="Symbol zastępczy zawartości 2">
            <a:extLst>
              <a:ext uri="{FF2B5EF4-FFF2-40B4-BE49-F238E27FC236}">
                <a16:creationId xmlns:a16="http://schemas.microsoft.com/office/drawing/2014/main" id="{F47E68F1-F865-8CE6-AA3A-B0558B78B83C}"/>
              </a:ext>
            </a:extLst>
          </p:cNvPr>
          <p:cNvSpPr>
            <a:spLocks noGrp="1"/>
          </p:cNvSpPr>
          <p:nvPr>
            <p:ph idx="1"/>
          </p:nvPr>
        </p:nvSpPr>
        <p:spPr>
          <a:xfrm>
            <a:off x="838200" y="1825625"/>
            <a:ext cx="10515600" cy="4850478"/>
          </a:xfrm>
        </p:spPr>
        <p:txBody>
          <a:bodyPr>
            <a:normAutofit/>
          </a:bodyPr>
          <a:lstStyle/>
          <a:p>
            <a:r>
              <a:rPr lang="en-US" dirty="0">
                <a:solidFill>
                  <a:srgbClr val="002060"/>
                </a:solidFill>
                <a:effectLst>
                  <a:outerShdw blurRad="38100" dist="38100" dir="2700000" algn="tl">
                    <a:srgbClr val="000000">
                      <a:alpha val="43137"/>
                    </a:srgbClr>
                  </a:outerShdw>
                </a:effectLst>
              </a:rPr>
              <a:t>In 2006, Amazon introduced </a:t>
            </a:r>
            <a:r>
              <a:rPr lang="pl-PL" b="1" dirty="0">
                <a:solidFill>
                  <a:srgbClr val="FF0000"/>
                </a:solidFill>
                <a:effectLst>
                  <a:outerShdw blurRad="38100" dist="38100" dir="2700000" algn="tl">
                    <a:srgbClr val="000000">
                      <a:alpha val="43137"/>
                    </a:srgbClr>
                  </a:outerShdw>
                </a:effectLst>
                <a:highlight>
                  <a:srgbClr val="00FF00"/>
                </a:highlight>
              </a:rPr>
              <a:t>Fulfillment-by-Amazon</a:t>
            </a:r>
            <a:r>
              <a:rPr lang="en-US" b="1" dirty="0">
                <a:solidFill>
                  <a:srgbClr val="FF0000"/>
                </a:solidFill>
                <a:effectLst>
                  <a:outerShdw blurRad="38100" dist="38100" dir="2700000" algn="tl">
                    <a:srgbClr val="000000">
                      <a:alpha val="43137"/>
                    </a:srgbClr>
                  </a:outerShdw>
                </a:effectLst>
                <a:highlight>
                  <a:srgbClr val="00FF00"/>
                </a:highlight>
              </a:rPr>
              <a:t> (FBA)</a:t>
            </a:r>
            <a:r>
              <a:rPr lang="en-US" dirty="0">
                <a:solidFill>
                  <a:srgbClr val="002060"/>
                </a:solidFill>
                <a:effectLst>
                  <a:outerShdw blurRad="38100" dist="38100" dir="2700000" algn="tl">
                    <a:srgbClr val="000000">
                      <a:alpha val="43137"/>
                    </a:srgbClr>
                  </a:outerShdw>
                </a:effectLst>
                <a:highlight>
                  <a:srgbClr val="00FF00"/>
                </a:highlight>
              </a:rPr>
              <a:t>, </a:t>
            </a:r>
            <a:r>
              <a:rPr lang="en-US" dirty="0">
                <a:solidFill>
                  <a:srgbClr val="002060"/>
                </a:solidFill>
                <a:effectLst>
                  <a:outerShdw blurRad="38100" dist="38100" dir="2700000" algn="tl">
                    <a:srgbClr val="000000">
                      <a:alpha val="43137"/>
                    </a:srgbClr>
                  </a:outerShdw>
                </a:effectLst>
              </a:rPr>
              <a:t>a </a:t>
            </a:r>
            <a:r>
              <a:rPr lang="en-US" b="1" dirty="0">
                <a:solidFill>
                  <a:srgbClr val="002060"/>
                </a:solidFill>
                <a:effectLst>
                  <a:outerShdw blurRad="38100" dist="38100" dir="2700000" algn="tl">
                    <a:srgbClr val="000000">
                      <a:alpha val="43137"/>
                    </a:srgbClr>
                  </a:outerShdw>
                </a:effectLst>
              </a:rPr>
              <a:t>logistics and delivery service </a:t>
            </a:r>
            <a:r>
              <a:rPr lang="en-US" b="1" dirty="0">
                <a:solidFill>
                  <a:srgbClr val="FF0000"/>
                </a:solidFill>
                <a:effectLst>
                  <a:outerShdw blurRad="38100" dist="38100" dir="2700000" algn="tl">
                    <a:srgbClr val="000000">
                      <a:alpha val="43137"/>
                    </a:srgbClr>
                  </a:outerShdw>
                </a:effectLst>
              </a:rPr>
              <a:t>for independent sellers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Merchants who sign up for FBA </a:t>
            </a:r>
            <a:r>
              <a:rPr lang="en-US" b="1" dirty="0">
                <a:solidFill>
                  <a:srgbClr val="002060"/>
                </a:solidFill>
                <a:effectLst>
                  <a:outerShdw blurRad="38100" dist="38100" dir="2700000" algn="tl">
                    <a:srgbClr val="000000">
                      <a:alpha val="43137"/>
                    </a:srgbClr>
                  </a:outerShdw>
                </a:effectLst>
              </a:rPr>
              <a:t>store their products </a:t>
            </a:r>
            <a:r>
              <a:rPr lang="en-US" dirty="0">
                <a:solidFill>
                  <a:srgbClr val="002060"/>
                </a:solidFill>
                <a:effectLst>
                  <a:outerShdw blurRad="38100" dist="38100" dir="2700000" algn="tl">
                    <a:srgbClr val="000000">
                      <a:alpha val="43137"/>
                    </a:srgbClr>
                  </a:outerShdw>
                </a:effectLst>
              </a:rPr>
              <a:t>in Amazon’s </a:t>
            </a:r>
            <a:r>
              <a:rPr lang="en-US" b="1" dirty="0">
                <a:solidFill>
                  <a:srgbClr val="002060"/>
                </a:solidFill>
                <a:effectLst>
                  <a:outerShdw blurRad="38100" dist="38100" dir="2700000" algn="tl">
                    <a:srgbClr val="000000">
                      <a:alpha val="43137"/>
                    </a:srgbClr>
                  </a:outerShdw>
                </a:effectLst>
              </a:rPr>
              <a:t>warehouses</a:t>
            </a:r>
            <a:r>
              <a:rPr lang="en-US" dirty="0">
                <a:solidFill>
                  <a:srgbClr val="002060"/>
                </a:solidFill>
                <a:effectLst>
                  <a:outerShdw blurRad="38100" dist="38100" dir="2700000" algn="tl">
                    <a:srgbClr val="000000">
                      <a:alpha val="43137"/>
                    </a:srgbClr>
                  </a:outerShdw>
                </a:effectLst>
              </a:rPr>
              <a:t>, and </a:t>
            </a:r>
            <a:r>
              <a:rPr lang="en-US" b="1" dirty="0">
                <a:solidFill>
                  <a:srgbClr val="002060"/>
                </a:solidFill>
                <a:effectLst>
                  <a:outerShdw blurRad="38100" dist="38100" dir="2700000" algn="tl">
                    <a:srgbClr val="000000">
                      <a:alpha val="43137"/>
                    </a:srgbClr>
                  </a:outerShdw>
                </a:effectLst>
              </a:rPr>
              <a:t>Amazon packs, ships,</a:t>
            </a:r>
            <a:r>
              <a:rPr lang="en-US" dirty="0">
                <a:solidFill>
                  <a:srgbClr val="002060"/>
                </a:solidFill>
                <a:effectLst>
                  <a:outerShdw blurRad="38100" dist="38100" dir="2700000" algn="tl">
                    <a:srgbClr val="000000">
                      <a:alpha val="43137"/>
                    </a:srgbClr>
                  </a:outerShdw>
                </a:effectLst>
              </a:rPr>
              <a:t> and provides customer service. Amazon also expanded into </a:t>
            </a:r>
            <a:r>
              <a:rPr lang="en-US" b="1" dirty="0">
                <a:solidFill>
                  <a:srgbClr val="002060"/>
                </a:solidFill>
                <a:effectLst>
                  <a:outerShdw blurRad="38100" dist="38100" dir="2700000" algn="tl">
                    <a:srgbClr val="000000">
                      <a:alpha val="43137"/>
                    </a:srgbClr>
                  </a:outerShdw>
                </a:effectLst>
              </a:rPr>
              <a:t>trucking</a:t>
            </a:r>
            <a:r>
              <a:rPr lang="pl-PL" b="1" dirty="0">
                <a:solidFill>
                  <a:srgbClr val="002060"/>
                </a:solidFill>
                <a:effectLst>
                  <a:outerShdw blurRad="38100" dist="38100" dir="2700000" algn="tl">
                    <a:srgbClr val="000000">
                      <a:alpha val="43137"/>
                    </a:srgbClr>
                  </a:outerShdw>
                </a:effectLst>
              </a:rPr>
              <a:t> (semitrucks)</a:t>
            </a:r>
          </a:p>
          <a:p>
            <a:r>
              <a:rPr lang="en-US" dirty="0">
                <a:solidFill>
                  <a:srgbClr val="002060"/>
                </a:solidFill>
                <a:effectLst>
                  <a:outerShdw blurRad="38100" dist="38100" dir="2700000" algn="tl">
                    <a:srgbClr val="000000">
                      <a:alpha val="43137"/>
                    </a:srgbClr>
                  </a:outerShdw>
                </a:effectLst>
              </a:rPr>
              <a:t>Products sold through </a:t>
            </a:r>
            <a:r>
              <a:rPr lang="en-US" b="1" dirty="0">
                <a:solidFill>
                  <a:srgbClr val="FF0000"/>
                </a:solidFill>
                <a:effectLst>
                  <a:outerShdw blurRad="38100" dist="38100" dir="2700000" algn="tl">
                    <a:srgbClr val="000000">
                      <a:alpha val="43137"/>
                    </a:srgbClr>
                  </a:outerShdw>
                </a:effectLst>
              </a:rPr>
              <a:t>FBA</a:t>
            </a:r>
            <a:r>
              <a:rPr lang="en-US" dirty="0">
                <a:solidFill>
                  <a:srgbClr val="002060"/>
                </a:solidFill>
                <a:effectLst>
                  <a:outerShdw blurRad="38100" dist="38100" dir="2700000" algn="tl">
                    <a:srgbClr val="000000">
                      <a:alpha val="43137"/>
                    </a:srgbClr>
                  </a:outerShdw>
                </a:effectLst>
              </a:rPr>
              <a:t> are eligible for service through Amazon </a:t>
            </a:r>
            <a:r>
              <a:rPr lang="en-US" b="1" dirty="0">
                <a:solidFill>
                  <a:srgbClr val="FF0000"/>
                </a:solidFill>
                <a:effectLst>
                  <a:outerShdw blurRad="38100" dist="38100" dir="2700000" algn="tl">
                    <a:srgbClr val="000000">
                      <a:alpha val="43137"/>
                    </a:srgbClr>
                  </a:outerShdw>
                </a:effectLst>
              </a:rPr>
              <a:t>Prime</a:t>
            </a:r>
            <a:r>
              <a:rPr lang="pl-PL"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namely, </a:t>
            </a:r>
            <a:r>
              <a:rPr lang="en-US" b="1" dirty="0">
                <a:solidFill>
                  <a:srgbClr val="0070C0"/>
                </a:solidFill>
                <a:effectLst>
                  <a:outerShdw blurRad="38100" dist="38100" dir="2700000" algn="tl">
                    <a:srgbClr val="000000">
                      <a:alpha val="43137"/>
                    </a:srgbClr>
                  </a:outerShdw>
                </a:effectLst>
              </a:rPr>
              <a:t>free two-day shipping </a:t>
            </a:r>
            <a:r>
              <a:rPr lang="en-US" dirty="0">
                <a:solidFill>
                  <a:srgbClr val="002060"/>
                </a:solidFill>
                <a:effectLst>
                  <a:outerShdw blurRad="38100" dist="38100" dir="2700000" algn="tl">
                    <a:srgbClr val="000000">
                      <a:alpha val="43137"/>
                    </a:srgbClr>
                  </a:outerShdw>
                </a:effectLst>
              </a:rPr>
              <a:t>and/ or free regular shipping.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455439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8218F61-C7F7-8A96-63EB-50502CBB4A82}"/>
              </a:ext>
            </a:extLst>
          </p:cNvPr>
          <p:cNvSpPr>
            <a:spLocks noGrp="1"/>
          </p:cNvSpPr>
          <p:nvPr>
            <p:ph type="title"/>
          </p:nvPr>
        </p:nvSpPr>
        <p:spPr/>
        <p:txBody>
          <a:bodyPr>
            <a:normAutofit/>
          </a:bodyPr>
          <a:lstStyle/>
          <a:p>
            <a:r>
              <a:rPr lang="pl-PL" sz="3200" b="1" dirty="0">
                <a:solidFill>
                  <a:srgbClr val="002060"/>
                </a:solidFill>
                <a:effectLst>
                  <a:outerShdw blurRad="38100" dist="38100" dir="2700000" algn="tl">
                    <a:srgbClr val="000000">
                      <a:alpha val="43137"/>
                    </a:srgbClr>
                  </a:outerShdw>
                </a:effectLst>
              </a:rPr>
              <a:t>ESTABLISHING STRUCTURAL DOMINANCE</a:t>
            </a:r>
            <a:br>
              <a:rPr lang="pl-PL" sz="3200" b="1" dirty="0">
                <a:solidFill>
                  <a:srgbClr val="00206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Delivery and Leveraging Dominance </a:t>
            </a:r>
            <a:r>
              <a:rPr lang="en-US" sz="3200" b="1" dirty="0">
                <a:solidFill>
                  <a:srgbClr val="002060"/>
                </a:solidFill>
                <a:effectLst>
                  <a:outerShdw blurRad="38100" dist="38100" dir="2700000" algn="tl">
                    <a:srgbClr val="000000">
                      <a:alpha val="43137"/>
                    </a:srgbClr>
                  </a:outerShdw>
                </a:effectLst>
              </a:rPr>
              <a:t>across Sectors</a:t>
            </a:r>
            <a:endParaRPr lang="en-US" sz="3200" dirty="0"/>
          </a:p>
        </p:txBody>
      </p:sp>
      <p:sp>
        <p:nvSpPr>
          <p:cNvPr id="3" name="Symbol zastępczy zawartości 2">
            <a:extLst>
              <a:ext uri="{FF2B5EF4-FFF2-40B4-BE49-F238E27FC236}">
                <a16:creationId xmlns:a16="http://schemas.microsoft.com/office/drawing/2014/main" id="{E163CB7F-C8D7-50A6-AE60-2D2989BD45EF}"/>
              </a:ext>
            </a:extLst>
          </p:cNvPr>
          <p:cNvSpPr>
            <a:spLocks noGrp="1"/>
          </p:cNvSpPr>
          <p:nvPr>
            <p:ph idx="1"/>
          </p:nvPr>
        </p:nvSpPr>
        <p:spPr/>
        <p:txBody>
          <a:bodyPr>
            <a:normAutofit fontScale="85000" lnSpcReduction="20000"/>
          </a:bodyPr>
          <a:lstStyle/>
          <a:p>
            <a:r>
              <a:rPr lang="en-US" dirty="0">
                <a:solidFill>
                  <a:srgbClr val="002060"/>
                </a:solidFill>
                <a:effectLst>
                  <a:outerShdw blurRad="38100" dist="38100" dir="2700000" algn="tl">
                    <a:srgbClr val="000000">
                      <a:alpha val="43137"/>
                    </a:srgbClr>
                  </a:outerShdw>
                </a:effectLst>
              </a:rPr>
              <a:t>Since many merchants </a:t>
            </a:r>
            <a:r>
              <a:rPr lang="en-US" b="1" dirty="0">
                <a:solidFill>
                  <a:srgbClr val="FF0000"/>
                </a:solidFill>
                <a:effectLst>
                  <a:outerShdw blurRad="38100" dist="38100" dir="2700000" algn="tl">
                    <a:srgbClr val="000000">
                      <a:alpha val="43137"/>
                    </a:srgbClr>
                  </a:outerShdw>
                </a:effectLst>
              </a:rPr>
              <a:t>selling on Amazon </a:t>
            </a:r>
            <a:r>
              <a:rPr lang="en-US" b="1" dirty="0">
                <a:solidFill>
                  <a:srgbClr val="FF0000"/>
                </a:solidFill>
                <a:effectLst>
                  <a:outerShdw blurRad="38100" dist="38100" dir="2700000" algn="tl">
                    <a:srgbClr val="000000">
                      <a:alpha val="43137"/>
                    </a:srgbClr>
                  </a:outerShdw>
                </a:effectLst>
                <a:highlight>
                  <a:srgbClr val="FFFF00"/>
                </a:highlight>
              </a:rPr>
              <a:t>compe</a:t>
            </a:r>
            <a:r>
              <a:rPr lang="pl-PL" b="1" dirty="0">
                <a:solidFill>
                  <a:srgbClr val="FF0000"/>
                </a:solidFill>
                <a:effectLst>
                  <a:outerShdw blurRad="38100" dist="38100" dir="2700000" algn="tl">
                    <a:srgbClr val="000000">
                      <a:alpha val="43137"/>
                    </a:srgbClr>
                  </a:outerShdw>
                </a:effectLst>
                <a:highlight>
                  <a:srgbClr val="FFFF00"/>
                </a:highlight>
              </a:rPr>
              <a:t>te</a:t>
            </a:r>
            <a:r>
              <a:rPr lang="en-US" b="1" dirty="0">
                <a:solidFill>
                  <a:srgbClr val="FF0000"/>
                </a:solidFill>
                <a:effectLst>
                  <a:outerShdw blurRad="38100" dist="38100" dir="2700000" algn="tl">
                    <a:srgbClr val="000000">
                      <a:alpha val="43137"/>
                    </a:srgbClr>
                  </a:outerShdw>
                </a:effectLst>
              </a:rPr>
              <a:t> with Amazon’s own retail</a:t>
            </a:r>
            <a:r>
              <a:rPr lang="en-US" dirty="0">
                <a:solidFill>
                  <a:srgbClr val="002060"/>
                </a:solidFill>
                <a:effectLst>
                  <a:outerShdw blurRad="38100" dist="38100" dir="2700000" algn="tl">
                    <a:srgbClr val="000000">
                      <a:alpha val="43137"/>
                    </a:srgbClr>
                  </a:outerShdw>
                </a:effectLst>
              </a:rPr>
              <a:t> operation and its Amazon </a:t>
            </a:r>
            <a:r>
              <a:rPr lang="en-US" b="1" dirty="0">
                <a:solidFill>
                  <a:srgbClr val="002060"/>
                </a:solidFill>
                <a:effectLst>
                  <a:outerShdw blurRad="38100" dist="38100" dir="2700000" algn="tl">
                    <a:srgbClr val="000000">
                      <a:alpha val="43137"/>
                    </a:srgbClr>
                  </a:outerShdw>
                </a:effectLst>
              </a:rPr>
              <a:t>Prime service</a:t>
            </a:r>
            <a:r>
              <a:rPr lang="en-US" dirty="0">
                <a:solidFill>
                  <a:srgbClr val="002060"/>
                </a:solidFill>
                <a:effectLst>
                  <a:outerShdw blurRad="38100" dist="38100" dir="2700000" algn="tl">
                    <a:srgbClr val="000000">
                      <a:alpha val="43137"/>
                    </a:srgbClr>
                  </a:outerShdw>
                </a:effectLst>
              </a:rPr>
              <a:t>, using </a:t>
            </a:r>
            <a:r>
              <a:rPr lang="en-US" b="1" dirty="0">
                <a:solidFill>
                  <a:srgbClr val="FF0000"/>
                </a:solidFill>
                <a:effectLst>
                  <a:outerShdw blurRad="38100" dist="38100" dir="2700000" algn="tl">
                    <a:srgbClr val="000000">
                      <a:alpha val="43137"/>
                    </a:srgbClr>
                  </a:outerShdw>
                </a:effectLst>
              </a:rPr>
              <a:t>FBA</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offers sellers the opportunity </a:t>
            </a:r>
            <a:r>
              <a:rPr lang="en-US" dirty="0">
                <a:solidFill>
                  <a:srgbClr val="002060"/>
                </a:solidFill>
                <a:effectLst>
                  <a:outerShdw blurRad="38100" dist="38100" dir="2700000" algn="tl">
                    <a:srgbClr val="000000">
                      <a:alpha val="43137"/>
                    </a:srgbClr>
                  </a:outerShdw>
                </a:effectLst>
              </a:rPr>
              <a:t>to </a:t>
            </a:r>
            <a:r>
              <a:rPr lang="en-US" b="1" dirty="0">
                <a:solidFill>
                  <a:srgbClr val="FF0000"/>
                </a:solidFill>
                <a:effectLst>
                  <a:outerShdw blurRad="38100" dist="38100" dir="2700000" algn="tl">
                    <a:srgbClr val="000000">
                      <a:alpha val="43137"/>
                    </a:srgbClr>
                  </a:outerShdw>
                </a:effectLst>
                <a:highlight>
                  <a:srgbClr val="FFFF00"/>
                </a:highlight>
              </a:rPr>
              <a:t>compete at less of a disadvantage</a:t>
            </a:r>
            <a:r>
              <a:rPr lang="en-US" dirty="0"/>
              <a:t>.</a:t>
            </a:r>
          </a:p>
          <a:p>
            <a:r>
              <a:rPr lang="pl-PL" dirty="0">
                <a:solidFill>
                  <a:srgbClr val="002060"/>
                </a:solidFill>
                <a:effectLst>
                  <a:outerShdw blurRad="38100" dist="38100" dir="2700000" algn="tl">
                    <a:srgbClr val="000000">
                      <a:alpha val="43137"/>
                    </a:srgbClr>
                  </a:outerShdw>
                </a:effectLst>
              </a:rPr>
              <a:t>I</a:t>
            </a:r>
            <a:r>
              <a:rPr lang="en-US" dirty="0">
                <a:solidFill>
                  <a:srgbClr val="002060"/>
                </a:solidFill>
                <a:effectLst>
                  <a:outerShdw blurRad="38100" dist="38100" dir="2700000" algn="tl">
                    <a:srgbClr val="000000">
                      <a:alpha val="43137"/>
                    </a:srgbClr>
                  </a:outerShdw>
                </a:effectLst>
              </a:rPr>
              <a:t>t is partly because independent sellers </a:t>
            </a:r>
            <a:r>
              <a:rPr lang="en-US" b="1" dirty="0">
                <a:solidFill>
                  <a:srgbClr val="FF0000"/>
                </a:solidFill>
                <a:effectLst>
                  <a:outerShdw blurRad="38100" dist="38100" dir="2700000" algn="tl">
                    <a:srgbClr val="000000">
                      <a:alpha val="43137"/>
                    </a:srgbClr>
                  </a:outerShdw>
                </a:effectLst>
              </a:rPr>
              <a:t>faced higher rates from </a:t>
            </a:r>
            <a:r>
              <a:rPr lang="en-US" b="1" dirty="0">
                <a:solidFill>
                  <a:srgbClr val="FF0000"/>
                </a:solidFill>
                <a:effectLst>
                  <a:outerShdw blurRad="38100" dist="38100" dir="2700000" algn="tl">
                    <a:srgbClr val="000000">
                      <a:alpha val="43137"/>
                    </a:srgbClr>
                  </a:outerShdw>
                </a:effectLst>
                <a:highlight>
                  <a:srgbClr val="FFFF00"/>
                </a:highlight>
              </a:rPr>
              <a:t>UPS </a:t>
            </a:r>
            <a:r>
              <a:rPr lang="en-US" b="1" dirty="0">
                <a:solidFill>
                  <a:srgbClr val="FF0000"/>
                </a:solidFill>
                <a:effectLst>
                  <a:outerShdw blurRad="38100" dist="38100" dir="2700000" algn="tl">
                    <a:srgbClr val="000000">
                      <a:alpha val="43137"/>
                    </a:srgbClr>
                  </a:outerShdw>
                </a:effectLst>
              </a:rPr>
              <a:t>and FedEx</a:t>
            </a:r>
            <a:r>
              <a:rPr lang="en-US" dirty="0">
                <a:solidFill>
                  <a:srgbClr val="002060"/>
                </a:solidFill>
                <a:effectLst>
                  <a:outerShdw blurRad="38100" dist="38100" dir="2700000" algn="tl">
                    <a:srgbClr val="000000">
                      <a:alpha val="43137"/>
                    </a:srgbClr>
                  </a:outerShdw>
                </a:effectLst>
              </a:rPr>
              <a:t>— a result of Amazon’s dominance— that Amazon </a:t>
            </a:r>
            <a:r>
              <a:rPr lang="pl-PL" dirty="0">
                <a:solidFill>
                  <a:srgbClr val="002060"/>
                </a:solidFill>
                <a:effectLst>
                  <a:outerShdw blurRad="38100" dist="38100" dir="2700000" algn="tl">
                    <a:srgbClr val="000000">
                      <a:alpha val="43137"/>
                    </a:srgbClr>
                  </a:outerShdw>
                </a:effectLst>
              </a:rPr>
              <a:t>succeeded</a:t>
            </a:r>
            <a:r>
              <a:rPr lang="en-US" dirty="0">
                <a:solidFill>
                  <a:srgbClr val="002060"/>
                </a:solidFill>
                <a:effectLst>
                  <a:outerShdw blurRad="38100" dist="38100" dir="2700000" algn="tl">
                    <a:srgbClr val="000000">
                      <a:alpha val="43137"/>
                    </a:srgbClr>
                  </a:outerShdw>
                </a:effectLst>
              </a:rPr>
              <a:t> in </a:t>
            </a:r>
            <a:r>
              <a:rPr lang="en-US" b="1" dirty="0">
                <a:solidFill>
                  <a:srgbClr val="002060"/>
                </a:solidFill>
                <a:effectLst>
                  <a:outerShdw blurRad="38100" dist="38100" dir="2700000" algn="tl">
                    <a:srgbClr val="000000">
                      <a:alpha val="43137"/>
                    </a:srgbClr>
                  </a:outerShdw>
                </a:effectLst>
              </a:rPr>
              <a:t>directing sellers to its new business venture</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In many instances, orders routed through FBA were </a:t>
            </a:r>
            <a:r>
              <a:rPr lang="en-US" b="1" dirty="0">
                <a:solidFill>
                  <a:srgbClr val="002060"/>
                </a:solidFill>
                <a:effectLst>
                  <a:outerShdw blurRad="38100" dist="38100" dir="2700000" algn="tl">
                    <a:srgbClr val="000000">
                      <a:alpha val="43137"/>
                    </a:srgbClr>
                  </a:outerShdw>
                </a:effectLst>
              </a:rPr>
              <a:t>still being shipped and delivered by UPS and FedEx, since Amazon relied on these firms</a:t>
            </a:r>
            <a:r>
              <a:rPr lang="en-US" dirty="0">
                <a:solidFill>
                  <a:srgbClr val="002060"/>
                </a:solidFill>
                <a:effectLst>
                  <a:outerShdw blurRad="38100" dist="38100" dir="2700000" algn="tl">
                    <a:srgbClr val="000000">
                      <a:alpha val="43137"/>
                    </a:srgbClr>
                  </a:outerShdw>
                </a:effectLst>
              </a:rPr>
              <a:t>. But because </a:t>
            </a:r>
            <a:r>
              <a:rPr lang="en-US" b="1" dirty="0">
                <a:solidFill>
                  <a:srgbClr val="FF0000"/>
                </a:solidFill>
                <a:effectLst>
                  <a:outerShdw blurRad="38100" dist="38100" dir="2700000" algn="tl">
                    <a:srgbClr val="000000">
                      <a:alpha val="43137"/>
                    </a:srgbClr>
                  </a:outerShdw>
                </a:effectLst>
              </a:rPr>
              <a:t>Amazon had secured discounts unavailable to other sellers</a:t>
            </a:r>
            <a:r>
              <a:rPr lang="en-US" dirty="0">
                <a:solidFill>
                  <a:srgbClr val="002060"/>
                </a:solidFill>
                <a:effectLst>
                  <a:outerShdw blurRad="38100" dist="38100" dir="2700000" algn="tl">
                    <a:srgbClr val="000000">
                      <a:alpha val="43137"/>
                    </a:srgbClr>
                  </a:outerShdw>
                </a:effectLst>
              </a:rPr>
              <a:t>, it was </a:t>
            </a:r>
            <a:r>
              <a:rPr lang="en-US" b="1" dirty="0">
                <a:solidFill>
                  <a:srgbClr val="002060"/>
                </a:solidFill>
                <a:effectLst>
                  <a:outerShdw blurRad="38100" dist="38100" dir="2700000" algn="tl">
                    <a:srgbClr val="000000">
                      <a:alpha val="43137"/>
                    </a:srgbClr>
                  </a:outerShdw>
                </a:effectLst>
              </a:rPr>
              <a:t>cheaper</a:t>
            </a:r>
            <a:r>
              <a:rPr lang="en-US" dirty="0">
                <a:solidFill>
                  <a:srgbClr val="002060"/>
                </a:solidFill>
                <a:effectLst>
                  <a:outerShdw blurRad="38100" dist="38100" dir="2700000" algn="tl">
                    <a:srgbClr val="000000">
                      <a:alpha val="43137"/>
                    </a:srgbClr>
                  </a:outerShdw>
                </a:effectLst>
              </a:rPr>
              <a:t> for those sellers to go through Amazon than to use UPS and FedEx </a:t>
            </a:r>
            <a:r>
              <a:rPr lang="en-US" b="1" dirty="0">
                <a:solidFill>
                  <a:srgbClr val="002060"/>
                </a:solidFill>
                <a:effectLst>
                  <a:outerShdw blurRad="38100" dist="38100" dir="2700000" algn="tl">
                    <a:srgbClr val="000000">
                      <a:alpha val="43137"/>
                    </a:srgbClr>
                  </a:outerShdw>
                </a:effectLst>
              </a:rPr>
              <a:t>directly.</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Amazon had </a:t>
            </a:r>
            <a:r>
              <a:rPr lang="en-US" b="1" dirty="0">
                <a:solidFill>
                  <a:srgbClr val="FF0000"/>
                </a:solidFill>
                <a:effectLst>
                  <a:outerShdw blurRad="38100" dist="38100" dir="2700000" algn="tl">
                    <a:srgbClr val="000000">
                      <a:alpha val="43137"/>
                    </a:srgbClr>
                  </a:outerShdw>
                </a:effectLst>
              </a:rPr>
              <a:t>used its dominance in the retail</a:t>
            </a:r>
            <a:r>
              <a:rPr lang="pl-PL" b="1"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sector </a:t>
            </a:r>
            <a:r>
              <a:rPr lang="en-US" dirty="0">
                <a:solidFill>
                  <a:srgbClr val="002060"/>
                </a:solidFill>
                <a:effectLst>
                  <a:outerShdw blurRad="38100" dist="38100" dir="2700000" algn="tl">
                    <a:srgbClr val="000000">
                      <a:alpha val="43137"/>
                    </a:srgbClr>
                  </a:outerShdw>
                </a:effectLst>
              </a:rPr>
              <a:t>to create and boost a new venture </a:t>
            </a:r>
            <a:r>
              <a:rPr lang="en-US" b="1" dirty="0">
                <a:solidFill>
                  <a:srgbClr val="FF0000"/>
                </a:solidFill>
                <a:effectLst>
                  <a:outerShdw blurRad="38100" dist="38100" dir="2700000" algn="tl">
                    <a:srgbClr val="000000">
                      <a:alpha val="43137"/>
                    </a:srgbClr>
                  </a:outerShdw>
                </a:effectLst>
              </a:rPr>
              <a:t>in the delivery sector</a:t>
            </a:r>
            <a:r>
              <a:rPr lang="en-US" dirty="0">
                <a:solidFill>
                  <a:srgbClr val="002060"/>
                </a:solidFill>
                <a:effectLst>
                  <a:outerShdw blurRad="38100" dist="38100" dir="2700000" algn="tl">
                    <a:srgbClr val="000000">
                      <a:alpha val="43137"/>
                    </a:srgbClr>
                  </a:outerShdw>
                </a:effectLst>
              </a:rPr>
              <a:t>, inserting itself into the business of its competitors</a:t>
            </a:r>
          </a:p>
        </p:txBody>
      </p:sp>
    </p:spTree>
    <p:extLst>
      <p:ext uri="{BB962C8B-B14F-4D97-AF65-F5344CB8AC3E}">
        <p14:creationId xmlns:p14="http://schemas.microsoft.com/office/powerpoint/2010/main" val="3608375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DBA7065-7C5C-513B-CD0E-973F7D9D68A8}"/>
              </a:ext>
            </a:extLst>
          </p:cNvPr>
          <p:cNvSpPr>
            <a:spLocks noGrp="1"/>
          </p:cNvSpPr>
          <p:nvPr>
            <p:ph type="title"/>
          </p:nvPr>
        </p:nvSpPr>
        <p:spPr/>
        <p:txBody>
          <a:bodyPr>
            <a:normAutofit/>
          </a:bodyPr>
          <a:lstStyle/>
          <a:p>
            <a:r>
              <a:rPr lang="pl-PL" sz="3200" b="1" dirty="0">
                <a:solidFill>
                  <a:srgbClr val="002060"/>
                </a:solidFill>
                <a:effectLst>
                  <a:outerShdw blurRad="38100" dist="38100" dir="2700000" algn="tl">
                    <a:srgbClr val="000000">
                      <a:alpha val="43137"/>
                    </a:srgbClr>
                  </a:outerShdw>
                </a:effectLst>
              </a:rPr>
              <a:t>ESTABLISHING STRUCTURAL DOMINANCE</a:t>
            </a:r>
            <a:br>
              <a:rPr lang="pl-PL" sz="3200" b="1" dirty="0">
                <a:solidFill>
                  <a:srgbClr val="00206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Delivery and Leveraging Dominance </a:t>
            </a:r>
            <a:r>
              <a:rPr lang="en-US" sz="3200" b="1" dirty="0">
                <a:solidFill>
                  <a:srgbClr val="002060"/>
                </a:solidFill>
                <a:effectLst>
                  <a:outerShdw blurRad="38100" dist="38100" dir="2700000" algn="tl">
                    <a:srgbClr val="000000">
                      <a:alpha val="43137"/>
                    </a:srgbClr>
                  </a:outerShdw>
                </a:effectLst>
              </a:rPr>
              <a:t>across Sectors</a:t>
            </a:r>
            <a:endParaRPr lang="en-US" sz="3200" dirty="0"/>
          </a:p>
        </p:txBody>
      </p:sp>
      <p:sp>
        <p:nvSpPr>
          <p:cNvPr id="3" name="Symbol zastępczy zawartości 2">
            <a:extLst>
              <a:ext uri="{FF2B5EF4-FFF2-40B4-BE49-F238E27FC236}">
                <a16:creationId xmlns:a16="http://schemas.microsoft.com/office/drawing/2014/main" id="{A19EB6B5-7779-0226-50E6-459EC128756A}"/>
              </a:ext>
            </a:extLst>
          </p:cNvPr>
          <p:cNvSpPr>
            <a:spLocks noGrp="1"/>
          </p:cNvSpPr>
          <p:nvPr>
            <p:ph idx="1"/>
          </p:nvPr>
        </p:nvSpPr>
        <p:spPr/>
        <p:txBody>
          <a:bodyPr>
            <a:normAutofit fontScale="92500" lnSpcReduction="20000"/>
          </a:bodyPr>
          <a:lstStyle/>
          <a:p>
            <a:pPr marL="0" indent="0">
              <a:buNone/>
            </a:pPr>
            <a:r>
              <a:rPr lang="en-US" dirty="0">
                <a:solidFill>
                  <a:srgbClr val="002060"/>
                </a:solidFill>
                <a:effectLst>
                  <a:outerShdw blurRad="38100" dist="38100" dir="2700000" algn="tl">
                    <a:srgbClr val="000000">
                      <a:alpha val="43137"/>
                    </a:srgbClr>
                  </a:outerShdw>
                </a:effectLst>
              </a:rPr>
              <a:t>The way that Amazon has </a:t>
            </a:r>
            <a:r>
              <a:rPr lang="en-US" b="1" dirty="0">
                <a:solidFill>
                  <a:srgbClr val="FF0000"/>
                </a:solidFill>
                <a:effectLst>
                  <a:outerShdw blurRad="38100" dist="38100" dir="2700000" algn="tl">
                    <a:srgbClr val="000000">
                      <a:alpha val="43137"/>
                    </a:srgbClr>
                  </a:outerShdw>
                </a:effectLst>
              </a:rPr>
              <a:t>leveraged its dominance </a:t>
            </a:r>
            <a:r>
              <a:rPr lang="en-US" b="1" dirty="0">
                <a:solidFill>
                  <a:srgbClr val="0070C0"/>
                </a:solidFill>
                <a:effectLst>
                  <a:outerShdw blurRad="38100" dist="38100" dir="2700000" algn="tl">
                    <a:srgbClr val="000000">
                      <a:alpha val="43137"/>
                    </a:srgbClr>
                  </a:outerShdw>
                </a:effectLst>
              </a:rPr>
              <a:t>as an online retailer</a:t>
            </a:r>
            <a:r>
              <a:rPr lang="en-US" b="1" dirty="0">
                <a:solidFill>
                  <a:srgbClr val="FF0000"/>
                </a:solidFill>
                <a:effectLst>
                  <a:outerShdw blurRad="38100" dist="38100" dir="2700000" algn="tl">
                    <a:srgbClr val="000000">
                      <a:alpha val="43137"/>
                    </a:srgbClr>
                  </a:outerShdw>
                </a:effectLst>
              </a:rPr>
              <a:t> to vertically integrate into </a:t>
            </a:r>
            <a:r>
              <a:rPr lang="en-US" b="1" dirty="0">
                <a:solidFill>
                  <a:srgbClr val="0070C0"/>
                </a:solidFill>
                <a:effectLst>
                  <a:outerShdw blurRad="38100" dist="38100" dir="2700000" algn="tl">
                    <a:srgbClr val="000000">
                      <a:alpha val="43137"/>
                    </a:srgbClr>
                  </a:outerShdw>
                </a:effectLst>
              </a:rPr>
              <a:t>delivery</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is </a:t>
            </a:r>
            <a:r>
              <a:rPr lang="en-US" b="1" dirty="0">
                <a:solidFill>
                  <a:srgbClr val="FF0000"/>
                </a:solidFill>
                <a:effectLst>
                  <a:outerShdw blurRad="38100" dist="38100" dir="2700000" algn="tl">
                    <a:srgbClr val="000000">
                      <a:alpha val="43137"/>
                    </a:srgbClr>
                  </a:outerShdw>
                </a:effectLst>
              </a:rPr>
              <a:t>instructive</a:t>
            </a:r>
            <a:r>
              <a:rPr lang="en-US" dirty="0">
                <a:solidFill>
                  <a:srgbClr val="002060"/>
                </a:solidFill>
                <a:effectLst>
                  <a:outerShdw blurRad="38100" dist="38100" dir="2700000" algn="tl">
                    <a:srgbClr val="000000">
                      <a:alpha val="43137"/>
                    </a:srgbClr>
                  </a:outerShdw>
                </a:effectLst>
              </a:rPr>
              <a:t> on several fronts.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highlight>
                  <a:srgbClr val="FFFF00"/>
                </a:highlight>
              </a:rPr>
              <a:t>First</a:t>
            </a:r>
            <a:r>
              <a:rPr lang="en-US" dirty="0">
                <a:solidFill>
                  <a:srgbClr val="002060"/>
                </a:solidFill>
                <a:effectLst>
                  <a:outerShdw blurRad="38100" dist="38100" dir="2700000" algn="tl">
                    <a:srgbClr val="000000">
                      <a:alpha val="43137"/>
                    </a:srgbClr>
                  </a:outerShdw>
                </a:effectLst>
              </a:rPr>
              <a:t>, it is a textbook example of how a company can </a:t>
            </a:r>
            <a:r>
              <a:rPr lang="en-US" b="1" dirty="0">
                <a:solidFill>
                  <a:srgbClr val="002060"/>
                </a:solidFill>
                <a:effectLst>
                  <a:outerShdw blurRad="38100" dist="38100" dir="2700000" algn="tl">
                    <a:srgbClr val="000000">
                      <a:alpha val="43137"/>
                    </a:srgbClr>
                  </a:outerShdw>
                </a:effectLst>
              </a:rPr>
              <a:t>use its dominance in one sphere to advantage a separate line of business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What concerns </a:t>
            </a:r>
            <a:r>
              <a:rPr lang="en-US" dirty="0">
                <a:solidFill>
                  <a:srgbClr val="002060"/>
                </a:solidFill>
                <a:effectLst>
                  <a:outerShdw blurRad="38100" dist="38100" dir="2700000" algn="tl">
                    <a:srgbClr val="000000">
                      <a:alpha val="43137"/>
                    </a:srgbClr>
                  </a:outerShdw>
                </a:effectLst>
              </a:rPr>
              <a:t>is that </a:t>
            </a:r>
            <a:r>
              <a:rPr lang="pl-PL" b="1" dirty="0">
                <a:solidFill>
                  <a:srgbClr val="002060"/>
                </a:solidFill>
                <a:effectLst>
                  <a:outerShdw blurRad="38100" dist="38100" dir="2700000" algn="tl">
                    <a:srgbClr val="000000">
                      <a:alpha val="43137"/>
                    </a:srgbClr>
                  </a:outerShdw>
                </a:effectLst>
              </a:rPr>
              <a:t>it</a:t>
            </a:r>
            <a:r>
              <a:rPr lang="en-US" b="1" dirty="0">
                <a:solidFill>
                  <a:srgbClr val="002060"/>
                </a:solidFill>
                <a:effectLst>
                  <a:outerShdw blurRad="38100" dist="38100" dir="2700000" algn="tl">
                    <a:srgbClr val="000000">
                      <a:alpha val="43137"/>
                    </a:srgbClr>
                  </a:outerShdw>
                </a:effectLst>
              </a:rPr>
              <a:t> achieved these cross-sector advantages in part through its </a:t>
            </a:r>
            <a:r>
              <a:rPr lang="en-US" b="1" dirty="0">
                <a:solidFill>
                  <a:srgbClr val="FF0000"/>
                </a:solidFill>
                <a:effectLst>
                  <a:outerShdw blurRad="38100" dist="38100" dir="2700000" algn="tl">
                    <a:srgbClr val="000000">
                      <a:alpha val="43137"/>
                    </a:srgbClr>
                  </a:outerShdw>
                </a:effectLst>
              </a:rPr>
              <a:t>bargaining power</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Because Amazon was able to demand </a:t>
            </a:r>
            <a:r>
              <a:rPr lang="en-US" b="1" dirty="0">
                <a:solidFill>
                  <a:srgbClr val="FF0000"/>
                </a:solidFill>
                <a:effectLst>
                  <a:outerShdw blurRad="38100" dist="38100" dir="2700000" algn="tl">
                    <a:srgbClr val="000000">
                      <a:alpha val="43137"/>
                    </a:srgbClr>
                  </a:outerShdw>
                </a:effectLst>
              </a:rPr>
              <a:t>deep discounts from FedEx and UPS</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highlight>
                  <a:srgbClr val="FFFF00"/>
                </a:highlight>
              </a:rPr>
              <a:t>other sellers </a:t>
            </a:r>
            <a:r>
              <a:rPr lang="en-US" b="1" dirty="0">
                <a:solidFill>
                  <a:srgbClr val="002060"/>
                </a:solidFill>
                <a:effectLst>
                  <a:outerShdw blurRad="38100" dist="38100" dir="2700000" algn="tl">
                    <a:srgbClr val="000000">
                      <a:alpha val="43137"/>
                    </a:srgbClr>
                  </a:outerShdw>
                </a:effectLst>
                <a:highlight>
                  <a:srgbClr val="FFFF00"/>
                </a:highlight>
              </a:rPr>
              <a:t>faced </a:t>
            </a:r>
            <a:r>
              <a:rPr lang="en-US" b="1" dirty="0">
                <a:solidFill>
                  <a:srgbClr val="0070C0"/>
                </a:solidFill>
                <a:effectLst>
                  <a:outerShdw blurRad="38100" dist="38100" dir="2700000" algn="tl">
                    <a:srgbClr val="000000">
                      <a:alpha val="43137"/>
                    </a:srgbClr>
                  </a:outerShdw>
                </a:effectLst>
                <a:highlight>
                  <a:srgbClr val="FFFF00"/>
                </a:highlight>
              </a:rPr>
              <a:t>price hikes </a:t>
            </a:r>
            <a:r>
              <a:rPr lang="en-US" b="1" dirty="0">
                <a:solidFill>
                  <a:srgbClr val="002060"/>
                </a:solidFill>
                <a:effectLst>
                  <a:outerShdw blurRad="38100" dist="38100" dir="2700000" algn="tl">
                    <a:srgbClr val="000000">
                      <a:alpha val="43137"/>
                    </a:srgbClr>
                  </a:outerShdw>
                </a:effectLst>
                <a:highlight>
                  <a:srgbClr val="FFFF00"/>
                </a:highlight>
              </a:rPr>
              <a:t>from these companies</a:t>
            </a:r>
            <a:r>
              <a:rPr lang="en-US" dirty="0">
                <a:solidFill>
                  <a:srgbClr val="002060"/>
                </a:solidFill>
                <a:effectLst>
                  <a:outerShdw blurRad="38100" dist="38100" dir="2700000" algn="tl">
                    <a:srgbClr val="000000">
                      <a:alpha val="43137"/>
                    </a:srgbClr>
                  </a:outerShdw>
                </a:effectLst>
              </a:rPr>
              <a:t>, positioning Amazon to </a:t>
            </a:r>
            <a:r>
              <a:rPr lang="en-US" b="1" dirty="0">
                <a:solidFill>
                  <a:srgbClr val="FF0000"/>
                </a:solidFill>
                <a:effectLst>
                  <a:outerShdw blurRad="38100" dist="38100" dir="2700000" algn="tl">
                    <a:srgbClr val="000000">
                      <a:alpha val="43137"/>
                    </a:srgbClr>
                  </a:outerShdw>
                </a:effectLst>
              </a:rPr>
              <a:t>capture them as clients for its new business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highlight>
                  <a:srgbClr val="00FF00"/>
                </a:highlight>
              </a:rPr>
              <a:t>By overlooking structural factors </a:t>
            </a:r>
            <a:r>
              <a:rPr lang="en-US" dirty="0">
                <a:solidFill>
                  <a:srgbClr val="002060"/>
                </a:solidFill>
                <a:effectLst>
                  <a:outerShdw blurRad="38100" dist="38100" dir="2700000" algn="tl">
                    <a:srgbClr val="000000">
                      <a:alpha val="43137"/>
                    </a:srgbClr>
                  </a:outerShdw>
                </a:effectLst>
              </a:rPr>
              <a:t>such as </a:t>
            </a:r>
            <a:r>
              <a:rPr lang="en-US" b="1" dirty="0">
                <a:solidFill>
                  <a:srgbClr val="002060"/>
                </a:solidFill>
                <a:effectLst>
                  <a:outerShdw blurRad="38100" dist="38100" dir="2700000" algn="tl">
                    <a:srgbClr val="000000">
                      <a:alpha val="43137"/>
                    </a:srgbClr>
                  </a:outerShdw>
                </a:effectLst>
              </a:rPr>
              <a:t>bargaining power</a:t>
            </a: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the </a:t>
            </a:r>
            <a:r>
              <a:rPr lang="en-US" dirty="0">
                <a:solidFill>
                  <a:srgbClr val="002060"/>
                </a:solidFill>
                <a:effectLst>
                  <a:outerShdw blurRad="38100" dist="38100" dir="2700000" algn="tl">
                    <a:srgbClr val="000000">
                      <a:alpha val="43137"/>
                    </a:srgbClr>
                  </a:outerShdw>
                </a:effectLst>
              </a:rPr>
              <a:t>antitrust doctrine fails to address this threat to competitive markets.</a:t>
            </a:r>
          </a:p>
        </p:txBody>
      </p:sp>
    </p:spTree>
    <p:extLst>
      <p:ext uri="{BB962C8B-B14F-4D97-AF65-F5344CB8AC3E}">
        <p14:creationId xmlns:p14="http://schemas.microsoft.com/office/powerpoint/2010/main" val="2376047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29A681-FAD9-D7FE-8AE8-9BB70A38C720}"/>
              </a:ext>
            </a:extLst>
          </p:cNvPr>
          <p:cNvSpPr>
            <a:spLocks noGrp="1"/>
          </p:cNvSpPr>
          <p:nvPr>
            <p:ph type="title"/>
          </p:nvPr>
        </p:nvSpPr>
        <p:spPr/>
        <p:txBody>
          <a:bodyPr>
            <a:normAutofit/>
          </a:bodyPr>
          <a:lstStyle/>
          <a:p>
            <a:r>
              <a:rPr lang="pl-PL" sz="3200" b="1" dirty="0">
                <a:solidFill>
                  <a:srgbClr val="002060"/>
                </a:solidFill>
                <a:effectLst>
                  <a:outerShdw blurRad="38100" dist="38100" dir="2700000" algn="tl">
                    <a:srgbClr val="000000">
                      <a:alpha val="43137"/>
                    </a:srgbClr>
                  </a:outerShdw>
                </a:effectLst>
              </a:rPr>
              <a:t>ESTABLISHING STRUCTURAL DOMINANCE</a:t>
            </a:r>
            <a:br>
              <a:rPr lang="pl-PL" sz="3200" b="1" dirty="0">
                <a:solidFill>
                  <a:srgbClr val="00206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Delivery and Leveraging Dominance </a:t>
            </a:r>
            <a:r>
              <a:rPr lang="en-US" sz="3200" b="1" dirty="0">
                <a:solidFill>
                  <a:srgbClr val="002060"/>
                </a:solidFill>
                <a:effectLst>
                  <a:outerShdw blurRad="38100" dist="38100" dir="2700000" algn="tl">
                    <a:srgbClr val="000000">
                      <a:alpha val="43137"/>
                    </a:srgbClr>
                  </a:outerShdw>
                </a:effectLst>
              </a:rPr>
              <a:t>across Sectors</a:t>
            </a:r>
            <a:endParaRPr lang="en-US" sz="3200" dirty="0"/>
          </a:p>
        </p:txBody>
      </p:sp>
      <p:sp>
        <p:nvSpPr>
          <p:cNvPr id="3" name="Symbol zastępczy zawartości 2">
            <a:extLst>
              <a:ext uri="{FF2B5EF4-FFF2-40B4-BE49-F238E27FC236}">
                <a16:creationId xmlns:a16="http://schemas.microsoft.com/office/drawing/2014/main" id="{FAE0CEED-89E0-39E0-9D01-55E32F5D98C7}"/>
              </a:ext>
            </a:extLst>
          </p:cNvPr>
          <p:cNvSpPr>
            <a:spLocks noGrp="1"/>
          </p:cNvSpPr>
          <p:nvPr>
            <p:ph idx="1"/>
          </p:nvPr>
        </p:nvSpPr>
        <p:spPr>
          <a:xfrm>
            <a:off x="838200" y="1825625"/>
            <a:ext cx="10515600" cy="5145446"/>
          </a:xfrm>
        </p:spPr>
        <p:txBody>
          <a:bodyPr>
            <a:normAutofit/>
          </a:bodyPr>
          <a:lstStyle/>
          <a:p>
            <a:r>
              <a:rPr lang="en-US" b="1" dirty="0">
                <a:solidFill>
                  <a:srgbClr val="002060"/>
                </a:solidFill>
                <a:effectLst>
                  <a:outerShdw blurRad="38100" dist="38100" dir="2700000" algn="tl">
                    <a:srgbClr val="000000">
                      <a:alpha val="43137"/>
                    </a:srgbClr>
                  </a:outerShdw>
                </a:effectLst>
                <a:highlight>
                  <a:srgbClr val="FFFF00"/>
                </a:highlight>
              </a:rPr>
              <a:t>Second</a:t>
            </a:r>
            <a:r>
              <a:rPr lang="en-US" dirty="0">
                <a:solidFill>
                  <a:srgbClr val="002060"/>
                </a:solidFill>
                <a:effectLst>
                  <a:outerShdw blurRad="38100" dist="38100" dir="2700000" algn="tl">
                    <a:srgbClr val="000000">
                      <a:alpha val="43137"/>
                    </a:srgbClr>
                  </a:outerShdw>
                </a:effectLst>
              </a:rPr>
              <a:t>, Amazon is positioned to </a:t>
            </a:r>
            <a:r>
              <a:rPr lang="en-US" b="1" dirty="0">
                <a:solidFill>
                  <a:srgbClr val="002060"/>
                </a:solidFill>
                <a:effectLst>
                  <a:outerShdw blurRad="38100" dist="38100" dir="2700000" algn="tl">
                    <a:srgbClr val="000000">
                      <a:alpha val="43137"/>
                    </a:srgbClr>
                  </a:outerShdw>
                </a:effectLst>
              </a:rPr>
              <a:t>use its dominance </a:t>
            </a:r>
            <a:r>
              <a:rPr lang="en-US" b="1" dirty="0">
                <a:solidFill>
                  <a:srgbClr val="FF0000"/>
                </a:solidFill>
                <a:effectLst>
                  <a:outerShdw blurRad="38100" dist="38100" dir="2700000" algn="tl">
                    <a:srgbClr val="000000">
                      <a:alpha val="43137"/>
                    </a:srgbClr>
                  </a:outerShdw>
                </a:effectLst>
              </a:rPr>
              <a:t>across online retail and delivery</a:t>
            </a:r>
            <a:r>
              <a:rPr lang="en-US" dirty="0">
                <a:solidFill>
                  <a:srgbClr val="002060"/>
                </a:solidFill>
                <a:effectLst>
                  <a:outerShdw blurRad="38100" dist="38100" dir="2700000" algn="tl">
                    <a:srgbClr val="000000">
                      <a:alpha val="43137"/>
                    </a:srgbClr>
                  </a:outerShdw>
                </a:effectLst>
              </a:rPr>
              <a:t> in ways that involve </a:t>
            </a:r>
            <a:r>
              <a:rPr lang="en-US" b="1" dirty="0">
                <a:solidFill>
                  <a:srgbClr val="FF0000"/>
                </a:solidFill>
                <a:effectLst>
                  <a:outerShdw blurRad="38100" dist="38100" dir="2700000" algn="tl">
                    <a:srgbClr val="000000">
                      <a:alpha val="43137"/>
                    </a:srgbClr>
                  </a:outerShdw>
                </a:effectLst>
                <a:highlight>
                  <a:srgbClr val="FFFF00"/>
                </a:highlight>
              </a:rPr>
              <a:t>tying</a:t>
            </a:r>
            <a:r>
              <a:rPr lang="en-US" b="1" dirty="0">
                <a:solidFill>
                  <a:srgbClr val="FF000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are </a:t>
            </a:r>
            <a:r>
              <a:rPr lang="en-US" b="1" dirty="0">
                <a:solidFill>
                  <a:srgbClr val="FF0000"/>
                </a:solidFill>
                <a:effectLst>
                  <a:outerShdw blurRad="38100" dist="38100" dir="2700000" algn="tl">
                    <a:srgbClr val="000000">
                      <a:alpha val="43137"/>
                    </a:srgbClr>
                  </a:outerShdw>
                </a:effectLst>
              </a:rPr>
              <a:t>exclusionary</a:t>
            </a:r>
            <a:r>
              <a:rPr lang="en-US" dirty="0">
                <a:solidFill>
                  <a:srgbClr val="002060"/>
                </a:solidFill>
                <a:effectLst>
                  <a:outerShdw blurRad="38100" dist="38100" dir="2700000" algn="tl">
                    <a:srgbClr val="000000">
                      <a:alpha val="43137"/>
                    </a:srgbClr>
                  </a:outerShdw>
                </a:effectLst>
              </a:rPr>
              <a:t>, and </a:t>
            </a:r>
            <a:r>
              <a:rPr lang="en-US" b="1" dirty="0">
                <a:solidFill>
                  <a:srgbClr val="FF0000"/>
                </a:solidFill>
                <a:effectLst>
                  <a:outerShdw blurRad="38100" dist="38100" dir="2700000" algn="tl">
                    <a:srgbClr val="000000">
                      <a:alpha val="43137"/>
                    </a:srgbClr>
                  </a:outerShdw>
                </a:effectLst>
              </a:rPr>
              <a:t>create entry barriers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Amazon’s </a:t>
            </a:r>
            <a:r>
              <a:rPr lang="en-US" b="1" dirty="0">
                <a:solidFill>
                  <a:srgbClr val="002060"/>
                </a:solidFill>
                <a:effectLst>
                  <a:outerShdw blurRad="38100" dist="38100" dir="2700000" algn="tl">
                    <a:srgbClr val="000000">
                      <a:alpha val="43137"/>
                    </a:srgbClr>
                  </a:outerShdw>
                </a:effectLst>
              </a:rPr>
              <a:t>distortion of the delivery sector </a:t>
            </a:r>
            <a:r>
              <a:rPr lang="en-US" b="1" dirty="0">
                <a:solidFill>
                  <a:srgbClr val="FF0000"/>
                </a:solidFill>
                <a:effectLst>
                  <a:outerShdw blurRad="38100" dist="38100" dir="2700000" algn="tl">
                    <a:srgbClr val="000000">
                      <a:alpha val="43137"/>
                    </a:srgbClr>
                  </a:outerShdw>
                </a:effectLst>
              </a:rPr>
              <a:t>in turn creates anticompetitive challenges in the retail sector</a:t>
            </a:r>
            <a:r>
              <a:rPr lang="en-US"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pl-PL"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a:t>
            </a:r>
            <a:r>
              <a:rPr lang="en-US" dirty="0">
                <a:solidFill>
                  <a:srgbClr val="002060"/>
                </a:solidFill>
                <a:effectLst>
                  <a:outerShdw blurRad="38100" dist="38100" dir="2700000" algn="tl">
                    <a:srgbClr val="000000">
                      <a:alpha val="43137"/>
                    </a:srgbClr>
                  </a:outerShdw>
                </a:effectLst>
              </a:rPr>
              <a:t>ellers who use </a:t>
            </a:r>
            <a:r>
              <a:rPr lang="en-US" b="1" dirty="0">
                <a:solidFill>
                  <a:srgbClr val="FF0000"/>
                </a:solidFill>
                <a:effectLst>
                  <a:outerShdw blurRad="38100" dist="38100" dir="2700000" algn="tl">
                    <a:srgbClr val="000000">
                      <a:alpha val="43137"/>
                    </a:srgbClr>
                  </a:outerShdw>
                </a:effectLst>
              </a:rPr>
              <a:t>FBA</a:t>
            </a:r>
            <a:r>
              <a:rPr lang="en-US" dirty="0">
                <a:solidFill>
                  <a:srgbClr val="002060"/>
                </a:solidFill>
                <a:effectLst>
                  <a:outerShdw blurRad="38100" dist="38100" dir="2700000" algn="tl">
                    <a:srgbClr val="000000">
                      <a:alpha val="43137"/>
                    </a:srgbClr>
                  </a:outerShdw>
                </a:effectLst>
              </a:rPr>
              <a:t> have a better chance of being </a:t>
            </a:r>
            <a:r>
              <a:rPr lang="en-US" b="1" dirty="0">
                <a:solidFill>
                  <a:srgbClr val="FF0000"/>
                </a:solidFill>
                <a:effectLst>
                  <a:outerShdw blurRad="38100" dist="38100" dir="2700000" algn="tl">
                    <a:srgbClr val="000000">
                      <a:alpha val="43137"/>
                    </a:srgbClr>
                  </a:outerShdw>
                </a:effectLst>
                <a:highlight>
                  <a:srgbClr val="FFFF00"/>
                </a:highlight>
              </a:rPr>
              <a:t>listed higher in Amazon search result</a:t>
            </a:r>
            <a:r>
              <a:rPr lang="en-US" b="1" dirty="0">
                <a:solidFill>
                  <a:srgbClr val="FF0000"/>
                </a:solidFill>
                <a:effectLst>
                  <a:outerShdw blurRad="38100" dist="38100" dir="2700000" algn="tl">
                    <a:srgbClr val="000000">
                      <a:alpha val="43137"/>
                    </a:srgbClr>
                  </a:outerShdw>
                </a:effectLst>
              </a:rPr>
              <a:t>s </a:t>
            </a:r>
            <a:r>
              <a:rPr lang="en-US" dirty="0">
                <a:solidFill>
                  <a:srgbClr val="002060"/>
                </a:solidFill>
                <a:effectLst>
                  <a:outerShdw blurRad="38100" dist="38100" dir="2700000" algn="tl">
                    <a:srgbClr val="000000">
                      <a:alpha val="43137"/>
                    </a:srgbClr>
                  </a:outerShdw>
                </a:effectLst>
              </a:rPr>
              <a:t>than those who do not, which means Amazon is </a:t>
            </a:r>
            <a:r>
              <a:rPr lang="en-US" b="1" dirty="0">
                <a:solidFill>
                  <a:srgbClr val="FF0000"/>
                </a:solidFill>
                <a:effectLst>
                  <a:outerShdw blurRad="38100" dist="38100" dir="2700000" algn="tl">
                    <a:srgbClr val="000000">
                      <a:alpha val="43137"/>
                    </a:srgbClr>
                  </a:outerShdw>
                </a:effectLst>
              </a:rPr>
              <a:t>tying </a:t>
            </a:r>
            <a:r>
              <a:rPr lang="en-US" dirty="0">
                <a:solidFill>
                  <a:srgbClr val="002060"/>
                </a:solidFill>
                <a:effectLst>
                  <a:outerShdw blurRad="38100" dist="38100" dir="2700000" algn="tl">
                    <a:srgbClr val="000000">
                      <a:alpha val="43137"/>
                    </a:srgbClr>
                  </a:outerShdw>
                </a:effectLst>
              </a:rPr>
              <a:t>the outcomes it generates for sellers using its retail platform to whether they also use its delivery business.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39127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6041138-8D31-86DC-BF20-5140716EF9DE}"/>
              </a:ext>
            </a:extLst>
          </p:cNvPr>
          <p:cNvSpPr>
            <a:spLocks noGrp="1"/>
          </p:cNvSpPr>
          <p:nvPr>
            <p:ph type="title"/>
          </p:nvPr>
        </p:nvSpPr>
        <p:spPr/>
        <p:txBody>
          <a:bodyPr>
            <a:normAutofit/>
          </a:bodyPr>
          <a:lstStyle/>
          <a:p>
            <a:r>
              <a:rPr lang="pl-PL" sz="3200" b="1" dirty="0">
                <a:solidFill>
                  <a:srgbClr val="002060"/>
                </a:solidFill>
                <a:effectLst>
                  <a:outerShdw blurRad="38100" dist="38100" dir="2700000" algn="tl">
                    <a:srgbClr val="000000">
                      <a:alpha val="43137"/>
                    </a:srgbClr>
                  </a:outerShdw>
                </a:effectLst>
              </a:rPr>
              <a:t>ESTABLISHING STRUCTURAL DOMINANCE</a:t>
            </a:r>
            <a:br>
              <a:rPr lang="pl-PL" sz="3200" b="1" dirty="0">
                <a:solidFill>
                  <a:srgbClr val="00206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Delivery and Leveraging Dominance </a:t>
            </a:r>
            <a:r>
              <a:rPr lang="en-US" sz="3200" b="1" dirty="0">
                <a:solidFill>
                  <a:srgbClr val="002060"/>
                </a:solidFill>
                <a:effectLst>
                  <a:outerShdw blurRad="38100" dist="38100" dir="2700000" algn="tl">
                    <a:srgbClr val="000000">
                      <a:alpha val="43137"/>
                    </a:srgbClr>
                  </a:outerShdw>
                </a:effectLst>
              </a:rPr>
              <a:t>across Sectors</a:t>
            </a:r>
            <a:endParaRPr lang="en-US" sz="3200" dirty="0"/>
          </a:p>
        </p:txBody>
      </p:sp>
      <p:sp>
        <p:nvSpPr>
          <p:cNvPr id="3" name="Symbol zastępczy zawartości 2">
            <a:extLst>
              <a:ext uri="{FF2B5EF4-FFF2-40B4-BE49-F238E27FC236}">
                <a16:creationId xmlns:a16="http://schemas.microsoft.com/office/drawing/2014/main" id="{A9EEE695-1BF1-F470-B074-4A65E1FDF0A5}"/>
              </a:ext>
            </a:extLst>
          </p:cNvPr>
          <p:cNvSpPr>
            <a:spLocks noGrp="1"/>
          </p:cNvSpPr>
          <p:nvPr>
            <p:ph idx="1"/>
          </p:nvPr>
        </p:nvSpPr>
        <p:spPr/>
        <p:txBody>
          <a:bodyPr/>
          <a:lstStyle/>
          <a:p>
            <a:r>
              <a:rPr lang="en-US" dirty="0">
                <a:solidFill>
                  <a:srgbClr val="002060"/>
                </a:solidFill>
                <a:effectLst>
                  <a:outerShdw blurRad="38100" dist="38100" dir="2700000" algn="tl">
                    <a:srgbClr val="000000">
                      <a:alpha val="43137"/>
                    </a:srgbClr>
                  </a:outerShdw>
                </a:effectLst>
              </a:rPr>
              <a:t>Amazon is also positioned to use its </a:t>
            </a:r>
            <a:r>
              <a:rPr lang="en-US" b="1" dirty="0">
                <a:solidFill>
                  <a:srgbClr val="002060"/>
                </a:solidFill>
                <a:effectLst>
                  <a:outerShdw blurRad="38100" dist="38100" dir="2700000" algn="tl">
                    <a:srgbClr val="000000">
                      <a:alpha val="43137"/>
                    </a:srgbClr>
                  </a:outerShdw>
                </a:effectLst>
              </a:rPr>
              <a:t>logistics infrastructure </a:t>
            </a:r>
            <a:r>
              <a:rPr lang="en-US" dirty="0">
                <a:solidFill>
                  <a:srgbClr val="002060"/>
                </a:solidFill>
                <a:effectLst>
                  <a:outerShdw blurRad="38100" dist="38100" dir="2700000" algn="tl">
                    <a:srgbClr val="000000">
                      <a:alpha val="43137"/>
                    </a:srgbClr>
                  </a:outerShdw>
                </a:effectLst>
              </a:rPr>
              <a:t>to </a:t>
            </a:r>
            <a:r>
              <a:rPr lang="en-US" b="1" dirty="0">
                <a:solidFill>
                  <a:srgbClr val="FF0000"/>
                </a:solidFill>
                <a:effectLst>
                  <a:outerShdw blurRad="38100" dist="38100" dir="2700000" algn="tl">
                    <a:srgbClr val="000000">
                      <a:alpha val="43137"/>
                    </a:srgbClr>
                  </a:outerShdw>
                </a:effectLst>
              </a:rPr>
              <a:t>deliver its own retail goods </a:t>
            </a:r>
            <a:r>
              <a:rPr lang="en-US" b="1" dirty="0">
                <a:solidFill>
                  <a:srgbClr val="FF0000"/>
                </a:solidFill>
                <a:effectLst>
                  <a:outerShdw blurRad="38100" dist="38100" dir="2700000" algn="tl">
                    <a:srgbClr val="000000">
                      <a:alpha val="43137"/>
                    </a:srgbClr>
                  </a:outerShdw>
                </a:effectLst>
                <a:highlight>
                  <a:srgbClr val="FFFF00"/>
                </a:highlight>
              </a:rPr>
              <a:t>faster </a:t>
            </a:r>
            <a:r>
              <a:rPr lang="en-US" b="1" dirty="0">
                <a:solidFill>
                  <a:srgbClr val="FF0000"/>
                </a:solidFill>
                <a:effectLst>
                  <a:outerShdw blurRad="38100" dist="38100" dir="2700000" algn="tl">
                    <a:srgbClr val="000000">
                      <a:alpha val="43137"/>
                    </a:srgbClr>
                  </a:outerShdw>
                </a:effectLst>
              </a:rPr>
              <a:t>than those of independent sellers </a:t>
            </a:r>
            <a:r>
              <a:rPr lang="en-US" dirty="0">
                <a:solidFill>
                  <a:srgbClr val="002060"/>
                </a:solidFill>
                <a:effectLst>
                  <a:outerShdw blurRad="38100" dist="38100" dir="2700000" algn="tl">
                    <a:srgbClr val="000000">
                      <a:alpha val="43137"/>
                    </a:srgbClr>
                  </a:outerShdw>
                </a:effectLst>
              </a:rPr>
              <a:t>that use </a:t>
            </a:r>
            <a:r>
              <a:rPr lang="en-US" b="1" dirty="0">
                <a:solidFill>
                  <a:srgbClr val="002060"/>
                </a:solidFill>
                <a:effectLst>
                  <a:outerShdw blurRad="38100" dist="38100" dir="2700000" algn="tl">
                    <a:srgbClr val="000000">
                      <a:alpha val="43137"/>
                    </a:srgbClr>
                  </a:outerShdw>
                </a:effectLst>
              </a:rPr>
              <a:t>its platform and fulfillment service</a:t>
            </a:r>
            <a:r>
              <a:rPr lang="en-US" dirty="0">
                <a:solidFill>
                  <a:srgbClr val="002060"/>
                </a:solidFill>
                <a:effectLst>
                  <a:outerShdw blurRad="38100" dist="38100" dir="2700000" algn="tl">
                    <a:srgbClr val="000000">
                      <a:alpha val="43137"/>
                    </a:srgbClr>
                  </a:outerShdw>
                </a:effectLst>
              </a:rPr>
              <a:t>— a form of </a:t>
            </a:r>
            <a:r>
              <a:rPr lang="en-US" b="1" dirty="0">
                <a:solidFill>
                  <a:srgbClr val="FF0000"/>
                </a:solidFill>
                <a:effectLst>
                  <a:outerShdw blurRad="38100" dist="38100" dir="2700000" algn="tl">
                    <a:srgbClr val="000000">
                      <a:alpha val="43137"/>
                    </a:srgbClr>
                  </a:outerShdw>
                </a:effectLst>
              </a:rPr>
              <a:t>discrimination </a:t>
            </a:r>
            <a:r>
              <a:rPr lang="en-US" dirty="0">
                <a:solidFill>
                  <a:srgbClr val="002060"/>
                </a:solidFill>
                <a:effectLst>
                  <a:outerShdw blurRad="38100" dist="38100" dir="2700000" algn="tl">
                    <a:srgbClr val="000000">
                      <a:alpha val="43137"/>
                    </a:srgbClr>
                  </a:outerShdw>
                </a:effectLst>
              </a:rPr>
              <a:t>that exemplifies traditional concerns about </a:t>
            </a:r>
            <a:r>
              <a:rPr lang="pl-PL" b="1" dirty="0">
                <a:solidFill>
                  <a:srgbClr val="002060"/>
                </a:solidFill>
                <a:effectLst>
                  <a:outerShdw blurRad="38100" dist="38100" dir="2700000" algn="tl">
                    <a:srgbClr val="000000">
                      <a:alpha val="43137"/>
                    </a:srgbClr>
                  </a:outerShdw>
                </a:effectLst>
              </a:rPr>
              <a:t>vertical</a:t>
            </a:r>
            <a:r>
              <a:rPr lang="en-US" b="1" dirty="0">
                <a:solidFill>
                  <a:srgbClr val="002060"/>
                </a:solidFill>
                <a:effectLst>
                  <a:outerShdw blurRad="38100" dist="38100" dir="2700000" algn="tl">
                    <a:srgbClr val="000000">
                      <a:alpha val="43137"/>
                    </a:srgbClr>
                  </a:outerShdw>
                </a:effectLst>
              </a:rPr>
              <a:t> integration</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And Amazon’s </a:t>
            </a:r>
            <a:r>
              <a:rPr lang="en-US" b="1" dirty="0">
                <a:solidFill>
                  <a:srgbClr val="FF0000"/>
                </a:solidFill>
                <a:effectLst>
                  <a:outerShdw blurRad="38100" dist="38100" dir="2700000" algn="tl">
                    <a:srgbClr val="000000">
                      <a:alpha val="43137"/>
                    </a:srgbClr>
                  </a:outerShdw>
                </a:effectLst>
              </a:rPr>
              <a:t>capacity for losses </a:t>
            </a:r>
            <a:r>
              <a:rPr lang="en-US" dirty="0">
                <a:solidFill>
                  <a:srgbClr val="002060"/>
                </a:solidFill>
                <a:effectLst>
                  <a:outerShdw blurRad="38100" dist="38100" dir="2700000" algn="tl">
                    <a:srgbClr val="000000">
                      <a:alpha val="43137"/>
                    </a:srgbClr>
                  </a:outerShdw>
                </a:effectLst>
              </a:rPr>
              <a:t>and </a:t>
            </a:r>
            <a:r>
              <a:rPr lang="en-US" b="1" dirty="0">
                <a:solidFill>
                  <a:srgbClr val="FF0000"/>
                </a:solidFill>
                <a:effectLst>
                  <a:outerShdw blurRad="38100" dist="38100" dir="2700000" algn="tl">
                    <a:srgbClr val="000000">
                      <a:alpha val="43137"/>
                    </a:srgbClr>
                  </a:outerShdw>
                </a:effectLst>
              </a:rPr>
              <a:t>expansive logistics capacities </a:t>
            </a:r>
            <a:r>
              <a:rPr lang="en-US" dirty="0">
                <a:solidFill>
                  <a:srgbClr val="002060"/>
                </a:solidFill>
                <a:effectLst>
                  <a:outerShdw blurRad="38100" dist="38100" dir="2700000" algn="tl">
                    <a:srgbClr val="000000">
                      <a:alpha val="43137"/>
                    </a:srgbClr>
                  </a:outerShdw>
                </a:effectLst>
              </a:rPr>
              <a:t>mean that it could </a:t>
            </a:r>
            <a:r>
              <a:rPr lang="en-US" b="1" dirty="0">
                <a:solidFill>
                  <a:srgbClr val="FF0000"/>
                </a:solidFill>
                <a:effectLst>
                  <a:outerShdw blurRad="38100" dist="38100" dir="2700000" algn="tl">
                    <a:srgbClr val="000000">
                      <a:alpha val="43137"/>
                    </a:srgbClr>
                  </a:outerShdw>
                </a:effectLst>
                <a:highlight>
                  <a:srgbClr val="FFFF00"/>
                </a:highlight>
              </a:rPr>
              <a:t>privilege its own goods </a:t>
            </a:r>
            <a:r>
              <a:rPr lang="en-US" b="1" dirty="0">
                <a:solidFill>
                  <a:srgbClr val="0070C0"/>
                </a:solidFill>
                <a:effectLst>
                  <a:outerShdw blurRad="38100" dist="38100" dir="2700000" algn="tl">
                    <a:srgbClr val="000000">
                      <a:alpha val="43137"/>
                    </a:srgbClr>
                  </a:outerShdw>
                </a:effectLst>
              </a:rPr>
              <a:t>while still offering independent sellers the ability to ship goods more cheaply and quickly </a:t>
            </a:r>
            <a:r>
              <a:rPr lang="en-US" dirty="0">
                <a:solidFill>
                  <a:srgbClr val="002060"/>
                </a:solidFill>
                <a:effectLst>
                  <a:outerShdw blurRad="38100" dist="38100" dir="2700000" algn="tl">
                    <a:srgbClr val="000000">
                      <a:alpha val="43137"/>
                    </a:srgbClr>
                  </a:outerShdw>
                </a:effectLst>
              </a:rPr>
              <a:t>than they could by using </a:t>
            </a:r>
            <a:r>
              <a:rPr lang="en-US" b="1" dirty="0">
                <a:solidFill>
                  <a:srgbClr val="002060"/>
                </a:solidFill>
                <a:effectLst>
                  <a:outerShdw blurRad="38100" dist="38100" dir="2700000" algn="tl">
                    <a:srgbClr val="000000">
                      <a:alpha val="43137"/>
                    </a:srgbClr>
                  </a:outerShdw>
                </a:effectLst>
              </a:rPr>
              <a:t>UPS and FedEx directly</a:t>
            </a:r>
            <a:r>
              <a:rPr lang="pl-PL" b="1" dirty="0">
                <a:solidFill>
                  <a:srgbClr val="002060"/>
                </a:solidFill>
                <a:effectLst>
                  <a:outerShdw blurRad="38100" dist="38100" dir="2700000" algn="tl">
                    <a:srgbClr val="000000">
                      <a:alpha val="43137"/>
                    </a:srgbClr>
                  </a:outerShdw>
                </a:effectLst>
              </a:rPr>
              <a:t>.</a:t>
            </a:r>
            <a:endParaRPr lang="en-US" b="1"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810516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97366A4-58B8-6413-6584-5B042FF5C1D3}"/>
              </a:ext>
            </a:extLst>
          </p:cNvPr>
          <p:cNvSpPr>
            <a:spLocks noGrp="1"/>
          </p:cNvSpPr>
          <p:nvPr>
            <p:ph type="title"/>
          </p:nvPr>
        </p:nvSpPr>
        <p:spPr/>
        <p:txBody>
          <a:bodyPr>
            <a:normAutofit/>
          </a:bodyPr>
          <a:lstStyle/>
          <a:p>
            <a:r>
              <a:rPr lang="pl-PL" sz="3200" b="1" dirty="0">
                <a:solidFill>
                  <a:srgbClr val="002060"/>
                </a:solidFill>
                <a:effectLst>
                  <a:outerShdw blurRad="38100" dist="38100" dir="2700000" algn="tl">
                    <a:srgbClr val="000000">
                      <a:alpha val="43137"/>
                    </a:srgbClr>
                  </a:outerShdw>
                </a:effectLst>
              </a:rPr>
              <a:t>ESTABLISHING STRUCTURAL DOMINANCE</a:t>
            </a:r>
            <a:br>
              <a:rPr lang="pl-PL" sz="3200" b="1" dirty="0">
                <a:solidFill>
                  <a:srgbClr val="00206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Delivery and Leveraging Dominance </a:t>
            </a:r>
            <a:r>
              <a:rPr lang="en-US" sz="3200" b="1" dirty="0">
                <a:solidFill>
                  <a:srgbClr val="002060"/>
                </a:solidFill>
                <a:effectLst>
                  <a:outerShdw blurRad="38100" dist="38100" dir="2700000" algn="tl">
                    <a:srgbClr val="000000">
                      <a:alpha val="43137"/>
                    </a:srgbClr>
                  </a:outerShdw>
                </a:effectLst>
              </a:rPr>
              <a:t>across Sectors</a:t>
            </a:r>
            <a:endParaRPr lang="en-US" sz="3200" dirty="0"/>
          </a:p>
        </p:txBody>
      </p:sp>
      <p:sp>
        <p:nvSpPr>
          <p:cNvPr id="3" name="Symbol zastępczy zawartości 2">
            <a:extLst>
              <a:ext uri="{FF2B5EF4-FFF2-40B4-BE49-F238E27FC236}">
                <a16:creationId xmlns:a16="http://schemas.microsoft.com/office/drawing/2014/main" id="{C0C76552-4BAC-C210-B4FF-5C600FE01A8E}"/>
              </a:ext>
            </a:extLst>
          </p:cNvPr>
          <p:cNvSpPr>
            <a:spLocks noGrp="1"/>
          </p:cNvSpPr>
          <p:nvPr>
            <p:ph idx="1"/>
          </p:nvPr>
        </p:nvSpPr>
        <p:spPr>
          <a:xfrm>
            <a:off x="838200" y="1825624"/>
            <a:ext cx="10515600" cy="4938969"/>
          </a:xfrm>
        </p:spPr>
        <p:txBody>
          <a:bodyPr>
            <a:normAutofit/>
          </a:bodyPr>
          <a:lstStyle/>
          <a:p>
            <a:r>
              <a:rPr lang="en-US" dirty="0">
                <a:solidFill>
                  <a:srgbClr val="002060"/>
                </a:solidFill>
                <a:effectLst>
                  <a:outerShdw blurRad="38100" dist="38100" dir="2700000" algn="tl">
                    <a:srgbClr val="000000">
                      <a:alpha val="43137"/>
                    </a:srgbClr>
                  </a:outerShdw>
                </a:effectLst>
              </a:rPr>
              <a:t>Relatedly, Amazon’s </a:t>
            </a:r>
            <a:r>
              <a:rPr lang="en-US" b="1" dirty="0">
                <a:solidFill>
                  <a:srgbClr val="002060"/>
                </a:solidFill>
                <a:effectLst>
                  <a:outerShdw blurRad="38100" dist="38100" dir="2700000" algn="tl">
                    <a:srgbClr val="000000">
                      <a:alpha val="43137"/>
                    </a:srgbClr>
                  </a:outerShdw>
                </a:effectLst>
              </a:rPr>
              <a:t>expansion into the delivery sector</a:t>
            </a:r>
            <a:r>
              <a:rPr lang="en-US" dirty="0">
                <a:solidFill>
                  <a:srgbClr val="002060"/>
                </a:solidFill>
                <a:effectLst>
                  <a:outerShdw blurRad="38100" dist="38100" dir="2700000" algn="tl">
                    <a:srgbClr val="000000">
                      <a:alpha val="43137"/>
                    </a:srgbClr>
                  </a:outerShdw>
                </a:effectLst>
              </a:rPr>
              <a:t> raises </a:t>
            </a:r>
            <a:r>
              <a:rPr lang="pl-PL" dirty="0">
                <a:solidFill>
                  <a:srgbClr val="002060"/>
                </a:solidFill>
                <a:effectLst>
                  <a:outerShdw blurRad="38100" dist="38100" dir="2700000" algn="tl">
                    <a:srgbClr val="000000">
                      <a:alpha val="43137"/>
                    </a:srgbClr>
                  </a:outerShdw>
                </a:effectLst>
              </a:rPr>
              <a:t>questions</a:t>
            </a:r>
            <a:r>
              <a:rPr lang="en-US" dirty="0">
                <a:solidFill>
                  <a:srgbClr val="002060"/>
                </a:solidFill>
                <a:effectLst>
                  <a:outerShdw blurRad="38100" dist="38100" dir="2700000" algn="tl">
                    <a:srgbClr val="000000">
                      <a:alpha val="43137"/>
                    </a:srgbClr>
                  </a:outerShdw>
                </a:effectLst>
              </a:rPr>
              <a:t> about the </a:t>
            </a:r>
            <a:r>
              <a:rPr lang="en-US" b="1" dirty="0">
                <a:solidFill>
                  <a:srgbClr val="FF0000"/>
                </a:solidFill>
                <a:effectLst>
                  <a:outerShdw blurRad="38100" dist="38100" dir="2700000" algn="tl">
                    <a:srgbClr val="000000">
                      <a:alpha val="43137"/>
                    </a:srgbClr>
                  </a:outerShdw>
                </a:effectLst>
                <a:highlight>
                  <a:srgbClr val="FFFF00"/>
                </a:highlight>
              </a:rPr>
              <a:t>Chicago School’s limited conception </a:t>
            </a:r>
            <a:r>
              <a:rPr lang="en-US" b="1" dirty="0">
                <a:solidFill>
                  <a:srgbClr val="FF0000"/>
                </a:solidFill>
                <a:effectLst>
                  <a:outerShdw blurRad="38100" dist="38100" dir="2700000" algn="tl">
                    <a:srgbClr val="000000">
                      <a:alpha val="43137"/>
                    </a:srgbClr>
                  </a:outerShdw>
                </a:effectLst>
              </a:rPr>
              <a:t>of entry barriers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company’s </a:t>
            </a:r>
            <a:r>
              <a:rPr lang="en-US" b="1" dirty="0">
                <a:solidFill>
                  <a:srgbClr val="FF0000"/>
                </a:solidFill>
                <a:effectLst>
                  <a:outerShdw blurRad="38100" dist="38100" dir="2700000" algn="tl">
                    <a:srgbClr val="000000">
                      <a:alpha val="43137"/>
                    </a:srgbClr>
                  </a:outerShdw>
                </a:effectLst>
              </a:rPr>
              <a:t>capacity for losses</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the permission it has won from investors to show negative profits</a:t>
            </a:r>
            <a:r>
              <a:rPr lang="en-US" dirty="0">
                <a:solidFill>
                  <a:srgbClr val="002060"/>
                </a:solidFill>
                <a:effectLst>
                  <a:outerShdw blurRad="38100" dist="38100" dir="2700000" algn="tl">
                    <a:srgbClr val="000000">
                      <a:alpha val="43137"/>
                    </a:srgbClr>
                  </a:outerShdw>
                </a:effectLst>
              </a:rPr>
              <a:t>— has been key in enabling Amazon to achieve </a:t>
            </a:r>
            <a:r>
              <a:rPr lang="pl-PL" dirty="0">
                <a:solidFill>
                  <a:srgbClr val="002060"/>
                </a:solidFill>
                <a:effectLst>
                  <a:outerShdw blurRad="38100" dist="38100" dir="2700000" algn="tl">
                    <a:srgbClr val="000000">
                      <a:alpha val="43137"/>
                    </a:srgbClr>
                  </a:outerShdw>
                </a:effectLst>
              </a:rPr>
              <a:t>outsized</a:t>
            </a:r>
            <a:r>
              <a:rPr lang="en-US" dirty="0">
                <a:solidFill>
                  <a:srgbClr val="002060"/>
                </a:solidFill>
                <a:effectLst>
                  <a:outerShdw blurRad="38100" dist="38100" dir="2700000" algn="tl">
                    <a:srgbClr val="000000">
                      <a:alpha val="43137"/>
                    </a:srgbClr>
                  </a:outerShdw>
                </a:effectLst>
              </a:rPr>
              <a:t> growth in delivery and logistics. </a:t>
            </a:r>
            <a:endParaRPr lang="pl-PL"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Matching </a:t>
            </a:r>
            <a:r>
              <a:rPr lang="en-US" dirty="0">
                <a:solidFill>
                  <a:srgbClr val="002060"/>
                </a:solidFill>
                <a:effectLst>
                  <a:outerShdw blurRad="38100" dist="38100" dir="2700000" algn="tl">
                    <a:srgbClr val="000000">
                      <a:alpha val="43137"/>
                    </a:srgbClr>
                  </a:outerShdw>
                </a:effectLst>
              </a:rPr>
              <a:t>Amazon’s network </a:t>
            </a:r>
            <a:r>
              <a:rPr lang="en-US" b="1" dirty="0">
                <a:solidFill>
                  <a:srgbClr val="002060"/>
                </a:solidFill>
                <a:effectLst>
                  <a:outerShdw blurRad="38100" dist="38100" dir="2700000" algn="tl">
                    <a:srgbClr val="000000">
                      <a:alpha val="43137"/>
                    </a:srgbClr>
                  </a:outerShdw>
                </a:effectLst>
              </a:rPr>
              <a:t>would require a rival to invest heavily and</a:t>
            </a:r>
            <a:r>
              <a:rPr lang="en-US" dirty="0">
                <a:solidFill>
                  <a:srgbClr val="002060"/>
                </a:solidFill>
                <a:effectLst>
                  <a:outerShdw blurRad="38100" dist="38100" dir="2700000" algn="tl">
                    <a:srgbClr val="000000">
                      <a:alpha val="43137"/>
                    </a:srgbClr>
                  </a:outerShdw>
                </a:effectLst>
              </a:rPr>
              <a:t> offer </a:t>
            </a:r>
            <a:r>
              <a:rPr lang="en-US" b="1" dirty="0">
                <a:solidFill>
                  <a:srgbClr val="002060"/>
                </a:solidFill>
                <a:effectLst>
                  <a:outerShdw blurRad="38100" dist="38100" dir="2700000" algn="tl">
                    <a:srgbClr val="000000">
                      <a:alpha val="43137"/>
                    </a:srgbClr>
                  </a:outerShdw>
                </a:effectLst>
              </a:rPr>
              <a:t>free or otherwise </a:t>
            </a:r>
            <a:r>
              <a:rPr lang="pl-PL" b="1" dirty="0">
                <a:solidFill>
                  <a:srgbClr val="002060"/>
                </a:solidFill>
                <a:effectLst>
                  <a:outerShdw blurRad="38100" dist="38100" dir="2700000" algn="tl">
                    <a:srgbClr val="000000">
                      <a:alpha val="43137"/>
                    </a:srgbClr>
                  </a:outerShdw>
                </a:effectLst>
              </a:rPr>
              <a:t>below-cost</a:t>
            </a:r>
            <a:r>
              <a:rPr lang="en-US" b="1" dirty="0">
                <a:solidFill>
                  <a:srgbClr val="002060"/>
                </a:solidFill>
                <a:effectLst>
                  <a:outerShdw blurRad="38100" dist="38100" dir="2700000" algn="tl">
                    <a:srgbClr val="000000">
                      <a:alpha val="43137"/>
                    </a:srgbClr>
                  </a:outerShdw>
                </a:effectLst>
              </a:rPr>
              <a:t> shipping</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Amazon’s ability to </a:t>
            </a:r>
            <a:r>
              <a:rPr lang="en-US" b="1" dirty="0">
                <a:solidFill>
                  <a:srgbClr val="FF0000"/>
                </a:solidFill>
                <a:effectLst>
                  <a:outerShdw blurRad="38100" dist="38100" dir="2700000" algn="tl">
                    <a:srgbClr val="000000">
                      <a:alpha val="43137"/>
                    </a:srgbClr>
                  </a:outerShdw>
                </a:effectLst>
              </a:rPr>
              <a:t>sustain losses creates an entry barrier </a:t>
            </a:r>
            <a:r>
              <a:rPr lang="en-US" dirty="0">
                <a:solidFill>
                  <a:srgbClr val="002060"/>
                </a:solidFill>
                <a:effectLst>
                  <a:outerShdw blurRad="38100" dist="38100" dir="2700000" algn="tl">
                    <a:srgbClr val="000000">
                      <a:alpha val="43137"/>
                    </a:srgbClr>
                  </a:outerShdw>
                </a:effectLst>
              </a:rPr>
              <a:t>for any firm that does not enjoy the same privilege.</a:t>
            </a:r>
          </a:p>
        </p:txBody>
      </p:sp>
    </p:spTree>
    <p:extLst>
      <p:ext uri="{BB962C8B-B14F-4D97-AF65-F5344CB8AC3E}">
        <p14:creationId xmlns:p14="http://schemas.microsoft.com/office/powerpoint/2010/main" val="16691563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CAC344B-2E54-6D7A-3848-9CB0C89BCE69}"/>
              </a:ext>
            </a:extLst>
          </p:cNvPr>
          <p:cNvSpPr>
            <a:spLocks noGrp="1"/>
          </p:cNvSpPr>
          <p:nvPr>
            <p:ph type="title"/>
          </p:nvPr>
        </p:nvSpPr>
        <p:spPr/>
        <p:txBody>
          <a:bodyPr>
            <a:normAutofit/>
          </a:bodyPr>
          <a:lstStyle/>
          <a:p>
            <a:r>
              <a:rPr lang="pl-PL" sz="3200" b="1" dirty="0">
                <a:solidFill>
                  <a:srgbClr val="002060"/>
                </a:solidFill>
                <a:effectLst>
                  <a:outerShdw blurRad="38100" dist="38100" dir="2700000" algn="tl">
                    <a:srgbClr val="000000">
                      <a:alpha val="43137"/>
                    </a:srgbClr>
                  </a:outerShdw>
                </a:effectLst>
              </a:rPr>
              <a:t>ESTABLISHING STRUCTURAL DOMINANCE</a:t>
            </a:r>
            <a:br>
              <a:rPr lang="pl-PL" sz="3200" b="1" dirty="0">
                <a:solidFill>
                  <a:srgbClr val="00206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Delivery and Leveraging Dominance </a:t>
            </a:r>
            <a:r>
              <a:rPr lang="en-US" sz="3200" b="1" dirty="0">
                <a:solidFill>
                  <a:srgbClr val="002060"/>
                </a:solidFill>
                <a:effectLst>
                  <a:outerShdw blurRad="38100" dist="38100" dir="2700000" algn="tl">
                    <a:srgbClr val="000000">
                      <a:alpha val="43137"/>
                    </a:srgbClr>
                  </a:outerShdw>
                </a:effectLst>
              </a:rPr>
              <a:t>across Sectors</a:t>
            </a:r>
            <a:endParaRPr lang="en-US" sz="3200" dirty="0"/>
          </a:p>
        </p:txBody>
      </p:sp>
      <p:sp>
        <p:nvSpPr>
          <p:cNvPr id="3" name="Symbol zastępczy zawartości 2">
            <a:extLst>
              <a:ext uri="{FF2B5EF4-FFF2-40B4-BE49-F238E27FC236}">
                <a16:creationId xmlns:a16="http://schemas.microsoft.com/office/drawing/2014/main" id="{B90D7EAE-426C-9195-4F67-D9E40EA23869}"/>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highlight>
                  <a:srgbClr val="FFFF00"/>
                </a:highlight>
              </a:rPr>
              <a:t>Third</a:t>
            </a:r>
            <a:r>
              <a:rPr lang="en-US" dirty="0">
                <a:solidFill>
                  <a:srgbClr val="002060"/>
                </a:solidFill>
                <a:effectLst>
                  <a:outerShdw blurRad="38100" dist="38100" dir="2700000" algn="tl">
                    <a:srgbClr val="000000">
                      <a:alpha val="43137"/>
                    </a:srgbClr>
                  </a:outerShdw>
                </a:effectLst>
              </a:rPr>
              <a:t>, Amazon’s use of Prime and FBA exemplifies how the company has </a:t>
            </a:r>
            <a:r>
              <a:rPr lang="en-US" b="1" dirty="0">
                <a:solidFill>
                  <a:srgbClr val="002060"/>
                </a:solidFill>
                <a:effectLst>
                  <a:outerShdw blurRad="38100" dist="38100" dir="2700000" algn="tl">
                    <a:srgbClr val="000000">
                      <a:alpha val="43137"/>
                    </a:srgbClr>
                  </a:outerShdw>
                </a:effectLst>
              </a:rPr>
              <a:t>structurally placed itself at the center of e</a:t>
            </a:r>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commerce. </a:t>
            </a:r>
            <a:endParaRPr lang="pl-PL" b="1"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55% of American online shoppers begin their online shopping </a:t>
            </a:r>
            <a:r>
              <a:rPr lang="en-US" dirty="0">
                <a:solidFill>
                  <a:srgbClr val="002060"/>
                </a:solidFill>
                <a:effectLst>
                  <a:outerShdw blurRad="38100" dist="38100" dir="2700000" algn="tl">
                    <a:srgbClr val="000000">
                      <a:alpha val="43137"/>
                    </a:srgbClr>
                  </a:outerShdw>
                </a:effectLst>
              </a:rPr>
              <a:t>on Amazon’s </a:t>
            </a:r>
            <a:r>
              <a:rPr lang="pl-PL" dirty="0">
                <a:solidFill>
                  <a:srgbClr val="002060"/>
                </a:solidFill>
                <a:effectLst>
                  <a:outerShdw blurRad="38100" dist="38100" dir="2700000" algn="tl">
                    <a:srgbClr val="000000">
                      <a:alpha val="43137"/>
                    </a:srgbClr>
                  </a:outerShdw>
                </a:effectLst>
              </a:rPr>
              <a:t>platform</a:t>
            </a:r>
            <a:r>
              <a:rPr lang="en-US" dirty="0">
                <a:solidFill>
                  <a:srgbClr val="002060"/>
                </a:solidFill>
                <a:effectLst>
                  <a:outerShdw blurRad="38100" dist="38100" dir="2700000" algn="tl">
                    <a:srgbClr val="000000">
                      <a:alpha val="43137"/>
                    </a:srgbClr>
                  </a:outerShdw>
                </a:effectLst>
              </a:rPr>
              <a:t>. Given the traffic, it is </a:t>
            </a:r>
            <a:r>
              <a:rPr lang="pl-PL" dirty="0">
                <a:solidFill>
                  <a:srgbClr val="002060"/>
                </a:solidFill>
                <a:effectLst>
                  <a:outerShdw blurRad="38100" dist="38100" dir="2700000" algn="tl">
                    <a:srgbClr val="000000">
                      <a:alpha val="43137"/>
                    </a:srgbClr>
                  </a:outerShdw>
                </a:effectLst>
              </a:rPr>
              <a:t>increasingly clear that </a:t>
            </a:r>
            <a:r>
              <a:rPr lang="en-US" b="1" dirty="0">
                <a:solidFill>
                  <a:srgbClr val="0070C0"/>
                </a:solidFill>
                <a:effectLst>
                  <a:outerShdw blurRad="38100" dist="38100" dir="2700000" algn="tl">
                    <a:srgbClr val="000000">
                      <a:alpha val="43137"/>
                    </a:srgbClr>
                  </a:outerShdw>
                </a:effectLst>
                <a:highlight>
                  <a:srgbClr val="FFFF00"/>
                </a:highlight>
              </a:rPr>
              <a:t>to succeed in </a:t>
            </a:r>
            <a:r>
              <a:rPr lang="pl-PL" b="1" dirty="0">
                <a:solidFill>
                  <a:srgbClr val="0070C0"/>
                </a:solidFill>
                <a:effectLst>
                  <a:outerShdw blurRad="38100" dist="38100" dir="2700000" algn="tl">
                    <a:srgbClr val="000000">
                      <a:alpha val="43137"/>
                    </a:srgbClr>
                  </a:outerShdw>
                </a:effectLst>
                <a:highlight>
                  <a:srgbClr val="FFFF00"/>
                </a:highlight>
              </a:rPr>
              <a:t>e-commerce</a:t>
            </a:r>
            <a:r>
              <a:rPr lang="en-US" dirty="0">
                <a:solidFill>
                  <a:srgbClr val="002060"/>
                </a:solidFill>
                <a:effectLst>
                  <a:outerShdw blurRad="38100" dist="38100" dir="2700000" algn="tl">
                    <a:srgbClr val="000000">
                      <a:alpha val="43137"/>
                    </a:srgbClr>
                  </a:outerShdw>
                </a:effectLst>
              </a:rPr>
              <a:t>, an independent merchant </a:t>
            </a:r>
            <a:r>
              <a:rPr lang="en-US" b="1" dirty="0">
                <a:solidFill>
                  <a:srgbClr val="FF0000"/>
                </a:solidFill>
                <a:effectLst>
                  <a:outerShdw blurRad="38100" dist="38100" dir="2700000" algn="tl">
                    <a:srgbClr val="000000">
                      <a:alpha val="43137"/>
                    </a:srgbClr>
                  </a:outerShdw>
                </a:effectLst>
              </a:rPr>
              <a:t>will need </a:t>
            </a:r>
            <a:r>
              <a:rPr lang="en-US" b="1" dirty="0">
                <a:solidFill>
                  <a:srgbClr val="FF0000"/>
                </a:solidFill>
                <a:effectLst>
                  <a:outerShdw blurRad="38100" dist="38100" dir="2700000" algn="tl">
                    <a:srgbClr val="000000">
                      <a:alpha val="43137"/>
                    </a:srgbClr>
                  </a:outerShdw>
                </a:effectLst>
                <a:highlight>
                  <a:srgbClr val="FFFF00"/>
                </a:highlight>
              </a:rPr>
              <a:t>to use Amazon’s infrastructure</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fact that Amazon competes with many of the businesses that are coming to depend on it creates </a:t>
            </a:r>
            <a:r>
              <a:rPr lang="en-US" b="1" dirty="0">
                <a:solidFill>
                  <a:srgbClr val="FF0000"/>
                </a:solidFill>
                <a:effectLst>
                  <a:outerShdw blurRad="38100" dist="38100" dir="2700000" algn="tl">
                    <a:srgbClr val="000000">
                      <a:alpha val="43137"/>
                    </a:srgbClr>
                  </a:outerShdw>
                </a:effectLst>
              </a:rPr>
              <a:t>conflicts of interest </a:t>
            </a:r>
            <a:r>
              <a:rPr lang="en-US" dirty="0">
                <a:solidFill>
                  <a:srgbClr val="002060"/>
                </a:solidFill>
                <a:effectLst>
                  <a:outerShdw blurRad="38100" dist="38100" dir="2700000" algn="tl">
                    <a:srgbClr val="000000">
                      <a:alpha val="43137"/>
                    </a:srgbClr>
                  </a:outerShdw>
                </a:effectLst>
              </a:rPr>
              <a:t>that the company can exploit to </a:t>
            </a:r>
            <a:r>
              <a:rPr lang="en-US" b="1" dirty="0">
                <a:solidFill>
                  <a:srgbClr val="FF0000"/>
                </a:solidFill>
                <a:effectLst>
                  <a:outerShdw blurRad="38100" dist="38100" dir="2700000" algn="tl">
                    <a:srgbClr val="000000">
                      <a:alpha val="43137"/>
                    </a:srgbClr>
                  </a:outerShdw>
                </a:effectLst>
              </a:rPr>
              <a:t>privilege its own products</a:t>
            </a:r>
            <a:r>
              <a:rPr lang="en-US" dirty="0">
                <a:solidFill>
                  <a:srgbClr val="00206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21577894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B8BFC40-F75C-663F-2371-12277CFF7DFC}"/>
              </a:ext>
            </a:extLst>
          </p:cNvPr>
          <p:cNvSpPr>
            <a:spLocks noGrp="1"/>
          </p:cNvSpPr>
          <p:nvPr>
            <p:ph type="title"/>
          </p:nvPr>
        </p:nvSpPr>
        <p:spPr/>
        <p:txBody>
          <a:bodyPr/>
          <a:lstStyle/>
          <a:p>
            <a:r>
              <a:rPr lang="en-US" dirty="0">
                <a:solidFill>
                  <a:srgbClr val="FF0000"/>
                </a:solidFill>
                <a:effectLst>
                  <a:outerShdw blurRad="38100" dist="38100" dir="2700000" algn="tl">
                    <a:srgbClr val="000000">
                      <a:alpha val="43137"/>
                    </a:srgbClr>
                  </a:outerShdw>
                </a:effectLst>
              </a:rPr>
              <a:t>Marketplace and Exploiting Data</a:t>
            </a:r>
          </a:p>
        </p:txBody>
      </p:sp>
      <p:sp>
        <p:nvSpPr>
          <p:cNvPr id="3" name="Symbol zastępczy zawartości 2">
            <a:extLst>
              <a:ext uri="{FF2B5EF4-FFF2-40B4-BE49-F238E27FC236}">
                <a16:creationId xmlns:a16="http://schemas.microsoft.com/office/drawing/2014/main" id="{B9B8F1A6-BB3F-D6B1-E392-582231218154}"/>
              </a:ext>
            </a:extLst>
          </p:cNvPr>
          <p:cNvSpPr>
            <a:spLocks noGrp="1"/>
          </p:cNvSpPr>
          <p:nvPr>
            <p:ph idx="1"/>
          </p:nvPr>
        </p:nvSpPr>
        <p:spPr>
          <a:xfrm>
            <a:off x="838200" y="1825624"/>
            <a:ext cx="10515600" cy="4820981"/>
          </a:xfrm>
        </p:spPr>
        <p:txBody>
          <a:bodyPr>
            <a:normAutofit fontScale="92500"/>
          </a:bodyPr>
          <a:lstStyle/>
          <a:p>
            <a:r>
              <a:rPr lang="pl-PL" b="1" dirty="0">
                <a:solidFill>
                  <a:srgbClr val="FF0000"/>
                </a:solidFill>
                <a:effectLst>
                  <a:outerShdw blurRad="38100" dist="38100" dir="2700000" algn="tl">
                    <a:srgbClr val="000000">
                      <a:alpha val="43137"/>
                    </a:srgbClr>
                  </a:outerShdw>
                </a:effectLst>
              </a:rPr>
              <a:t>V</a:t>
            </a:r>
            <a:r>
              <a:rPr lang="en-US" b="1" dirty="0">
                <a:solidFill>
                  <a:srgbClr val="FF0000"/>
                </a:solidFill>
                <a:effectLst>
                  <a:outerShdw blurRad="38100" dist="38100" dir="2700000" algn="tl">
                    <a:srgbClr val="000000">
                      <a:alpha val="43137"/>
                    </a:srgbClr>
                  </a:outerShdw>
                </a:effectLst>
              </a:rPr>
              <a:t>ertical integration </a:t>
            </a:r>
            <a:r>
              <a:rPr lang="en-US" b="1" dirty="0">
                <a:solidFill>
                  <a:srgbClr val="002060"/>
                </a:solidFill>
                <a:effectLst>
                  <a:outerShdw blurRad="38100" dist="38100" dir="2700000" algn="tl">
                    <a:srgbClr val="000000">
                      <a:alpha val="43137"/>
                    </a:srgbClr>
                  </a:outerShdw>
                </a:effectLst>
              </a:rPr>
              <a:t>in </a:t>
            </a:r>
            <a:r>
              <a:rPr lang="en-US" b="1" dirty="0">
                <a:solidFill>
                  <a:srgbClr val="0070C0"/>
                </a:solidFill>
                <a:effectLst>
                  <a:outerShdw blurRad="38100" dist="38100" dir="2700000" algn="tl">
                    <a:srgbClr val="000000">
                      <a:alpha val="43137"/>
                    </a:srgbClr>
                  </a:outerShdw>
                </a:effectLst>
              </a:rPr>
              <a:t>retail </a:t>
            </a:r>
            <a:r>
              <a:rPr lang="en-US" b="1" dirty="0">
                <a:solidFill>
                  <a:srgbClr val="002060"/>
                </a:solidFill>
                <a:effectLst>
                  <a:outerShdw blurRad="38100" dist="38100" dir="2700000" algn="tl">
                    <a:srgbClr val="000000">
                      <a:alpha val="43137"/>
                    </a:srgbClr>
                  </a:outerShdw>
                </a:effectLst>
              </a:rPr>
              <a:t>and </a:t>
            </a:r>
            <a:r>
              <a:rPr lang="en-US" b="1" dirty="0">
                <a:solidFill>
                  <a:srgbClr val="0070C0"/>
                </a:solidFill>
                <a:effectLst>
                  <a:outerShdw blurRad="38100" dist="38100" dir="2700000" algn="tl">
                    <a:srgbClr val="000000">
                      <a:alpha val="43137"/>
                    </a:srgbClr>
                  </a:outerShdw>
                </a:effectLst>
              </a:rPr>
              <a:t>physical delivery </a:t>
            </a:r>
            <a:r>
              <a:rPr lang="en-US" dirty="0">
                <a:solidFill>
                  <a:srgbClr val="002060"/>
                </a:solidFill>
                <a:effectLst>
                  <a:outerShdw blurRad="38100" dist="38100" dir="2700000" algn="tl">
                    <a:srgbClr val="000000">
                      <a:alpha val="43137"/>
                    </a:srgbClr>
                  </a:outerShdw>
                </a:effectLst>
              </a:rPr>
              <a:t>may enable Amazon to </a:t>
            </a:r>
            <a:r>
              <a:rPr lang="en-US" b="1" dirty="0">
                <a:solidFill>
                  <a:srgbClr val="002060"/>
                </a:solidFill>
                <a:effectLst>
                  <a:outerShdw blurRad="38100" dist="38100" dir="2700000" algn="tl">
                    <a:srgbClr val="000000">
                      <a:alpha val="43137"/>
                    </a:srgbClr>
                  </a:outerShdw>
                </a:effectLst>
              </a:rPr>
              <a:t>leverage cross-sector advantages </a:t>
            </a:r>
            <a:r>
              <a:rPr lang="en-US" dirty="0">
                <a:solidFill>
                  <a:srgbClr val="002060"/>
                </a:solidFill>
                <a:effectLst>
                  <a:outerShdw blurRad="38100" dist="38100" dir="2700000" algn="tl">
                    <a:srgbClr val="000000">
                      <a:alpha val="43137"/>
                    </a:srgbClr>
                  </a:outerShdw>
                </a:effectLst>
              </a:rPr>
              <a:t>in ways that are potentially </a:t>
            </a:r>
            <a:r>
              <a:rPr lang="en-US" b="1" dirty="0">
                <a:solidFill>
                  <a:srgbClr val="002060"/>
                </a:solidFill>
                <a:effectLst>
                  <a:outerShdw blurRad="38100" dist="38100" dir="2700000" algn="tl">
                    <a:srgbClr val="000000">
                      <a:alpha val="43137"/>
                    </a:srgbClr>
                  </a:outerShdw>
                </a:effectLst>
              </a:rPr>
              <a:t>anticompetitive but not understood as such </a:t>
            </a:r>
            <a:r>
              <a:rPr lang="en-US" dirty="0">
                <a:solidFill>
                  <a:srgbClr val="002060"/>
                </a:solidFill>
                <a:effectLst>
                  <a:outerShdw blurRad="38100" dist="38100" dir="2700000" algn="tl">
                    <a:srgbClr val="000000">
                      <a:alpha val="43137"/>
                    </a:srgbClr>
                  </a:outerShdw>
                </a:effectLst>
              </a:rPr>
              <a:t>under current antitrust doctrine.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Analogous dynamics are at play with Amazon’s dominance in the provision of online infrastructure, in particular</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its Marketplace for </a:t>
            </a:r>
            <a:r>
              <a:rPr lang="pl-PL" b="1" dirty="0">
                <a:solidFill>
                  <a:srgbClr val="FF0000"/>
                </a:solidFill>
                <a:effectLst>
                  <a:outerShdw blurRad="38100" dist="38100" dir="2700000" algn="tl">
                    <a:srgbClr val="000000">
                      <a:alpha val="43137"/>
                    </a:srgbClr>
                  </a:outerShdw>
                </a:effectLst>
              </a:rPr>
              <a:t>third-party</a:t>
            </a:r>
            <a:r>
              <a:rPr lang="en-US" b="1" dirty="0">
                <a:solidFill>
                  <a:srgbClr val="FF0000"/>
                </a:solidFill>
                <a:effectLst>
                  <a:outerShdw blurRad="38100" dist="38100" dir="2700000" algn="tl">
                    <a:srgbClr val="000000">
                      <a:alpha val="43137"/>
                    </a:srgbClr>
                  </a:outerShdw>
                </a:effectLst>
              </a:rPr>
              <a:t> sellers</a:t>
            </a:r>
            <a:endParaRPr lang="pl-PL" b="1" dirty="0">
              <a:solidFill>
                <a:srgbClr val="FF000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The </a:t>
            </a:r>
            <a:r>
              <a:rPr lang="en-US" b="1" dirty="0">
                <a:solidFill>
                  <a:srgbClr val="002060"/>
                </a:solidFill>
                <a:effectLst>
                  <a:outerShdw blurRad="38100" dist="38100" dir="2700000" algn="tl">
                    <a:srgbClr val="000000">
                      <a:alpha val="43137"/>
                    </a:srgbClr>
                  </a:outerShdw>
                </a:effectLst>
              </a:rPr>
              <a:t>example of how the company leverages its power across online businesses </a:t>
            </a:r>
            <a:r>
              <a:rPr lang="en-US" dirty="0">
                <a:solidFill>
                  <a:srgbClr val="002060"/>
                </a:solidFill>
                <a:effectLst>
                  <a:outerShdw blurRad="38100" dist="38100" dir="2700000" algn="tl">
                    <a:srgbClr val="000000">
                      <a:alpha val="43137"/>
                    </a:srgbClr>
                  </a:outerShdw>
                </a:effectLst>
              </a:rPr>
              <a:t>is </a:t>
            </a:r>
            <a:r>
              <a:rPr lang="en-US" b="1" dirty="0">
                <a:solidFill>
                  <a:srgbClr val="0070C0"/>
                </a:solidFill>
                <a:effectLst>
                  <a:outerShdw blurRad="38100" dist="38100" dir="2700000" algn="tl">
                    <a:srgbClr val="000000">
                      <a:alpha val="43137"/>
                    </a:srgbClr>
                  </a:outerShdw>
                </a:effectLst>
              </a:rPr>
              <a:t>Amazon Marketplace</a:t>
            </a:r>
            <a:r>
              <a:rPr lang="en-US" dirty="0">
                <a:solidFill>
                  <a:srgbClr val="002060"/>
                </a:solidFill>
                <a:effectLst>
                  <a:outerShdw blurRad="38100" dist="38100" dir="2700000" algn="tl">
                    <a:srgbClr val="000000">
                      <a:alpha val="43137"/>
                    </a:srgbClr>
                  </a:outerShdw>
                </a:effectLst>
              </a:rPr>
              <a:t>, where third-party retailers sell their </a:t>
            </a:r>
            <a:r>
              <a:rPr lang="en-US" b="1" dirty="0">
                <a:solidFill>
                  <a:srgbClr val="FF0000"/>
                </a:solidFill>
                <a:effectLst>
                  <a:outerShdw blurRad="38100" dist="38100" dir="2700000" algn="tl">
                    <a:srgbClr val="000000">
                      <a:alpha val="43137"/>
                    </a:srgbClr>
                  </a:outerShdw>
                </a:effectLst>
              </a:rPr>
              <a:t>wares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These sellers list their goods on Amazon’s platform</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and the company collects fees ranging from </a:t>
            </a:r>
            <a:r>
              <a:rPr lang="en-US" b="1" dirty="0">
                <a:solidFill>
                  <a:srgbClr val="FF0000"/>
                </a:solidFill>
                <a:effectLst>
                  <a:outerShdw blurRad="38100" dist="38100" dir="2700000" algn="tl">
                    <a:srgbClr val="000000">
                      <a:alpha val="43137"/>
                    </a:srgbClr>
                  </a:outerShdw>
                </a:effectLst>
                <a:highlight>
                  <a:srgbClr val="FFFF00"/>
                </a:highlight>
              </a:rPr>
              <a:t>6% to 50% </a:t>
            </a:r>
            <a:r>
              <a:rPr lang="en-US" dirty="0">
                <a:solidFill>
                  <a:srgbClr val="002060"/>
                </a:solidFill>
                <a:effectLst>
                  <a:outerShdw blurRad="38100" dist="38100" dir="2700000" algn="tl">
                    <a:srgbClr val="000000">
                      <a:alpha val="43137"/>
                    </a:srgbClr>
                  </a:outerShdw>
                </a:effectLst>
              </a:rPr>
              <a:t>of their sales from them</a:t>
            </a:r>
          </a:p>
        </p:txBody>
      </p:sp>
    </p:spTree>
    <p:extLst>
      <p:ext uri="{BB962C8B-B14F-4D97-AF65-F5344CB8AC3E}">
        <p14:creationId xmlns:p14="http://schemas.microsoft.com/office/powerpoint/2010/main" val="23768209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2273F5-E42C-40CA-D0C3-F9C535D1F771}"/>
              </a:ext>
            </a:extLst>
          </p:cNvPr>
          <p:cNvSpPr>
            <a:spLocks noGrp="1"/>
          </p:cNvSpPr>
          <p:nvPr>
            <p:ph type="title"/>
          </p:nvPr>
        </p:nvSpPr>
        <p:spPr/>
        <p:txBody>
          <a:bodyPr/>
          <a:lstStyle/>
          <a:p>
            <a:r>
              <a:rPr lang="en-US" dirty="0">
                <a:solidFill>
                  <a:srgbClr val="002060"/>
                </a:solidFill>
                <a:effectLst>
                  <a:outerShdw blurRad="38100" dist="38100" dir="2700000" algn="tl">
                    <a:srgbClr val="000000">
                      <a:alpha val="43137"/>
                    </a:srgbClr>
                  </a:outerShdw>
                </a:effectLst>
              </a:rPr>
              <a:t>Marketplace and Exploiting Data</a:t>
            </a:r>
            <a:endParaRPr lang="en-US" dirty="0">
              <a:solidFill>
                <a:srgbClr val="002060"/>
              </a:solidFill>
            </a:endParaRPr>
          </a:p>
        </p:txBody>
      </p:sp>
      <p:sp>
        <p:nvSpPr>
          <p:cNvPr id="3" name="Symbol zastępczy zawartości 2">
            <a:extLst>
              <a:ext uri="{FF2B5EF4-FFF2-40B4-BE49-F238E27FC236}">
                <a16:creationId xmlns:a16="http://schemas.microsoft.com/office/drawing/2014/main" id="{DF6FB149-FEE7-592C-E490-41D5A7AB930F}"/>
              </a:ext>
            </a:extLst>
          </p:cNvPr>
          <p:cNvSpPr>
            <a:spLocks noGrp="1"/>
          </p:cNvSpPr>
          <p:nvPr>
            <p:ph idx="1"/>
          </p:nvPr>
        </p:nvSpPr>
        <p:spPr/>
        <p:txBody>
          <a:bodyPr/>
          <a:lstStyle/>
          <a:p>
            <a:r>
              <a:rPr lang="en-US" dirty="0">
                <a:solidFill>
                  <a:srgbClr val="002060"/>
                </a:solidFill>
                <a:effectLst>
                  <a:outerShdw blurRad="38100" dist="38100" dir="2700000" algn="tl">
                    <a:srgbClr val="000000">
                      <a:alpha val="43137"/>
                    </a:srgbClr>
                  </a:outerShdw>
                </a:effectLst>
              </a:rPr>
              <a:t>Amazon seems to </a:t>
            </a:r>
            <a:r>
              <a:rPr lang="en-US" b="1" dirty="0">
                <a:solidFill>
                  <a:srgbClr val="FF0000"/>
                </a:solidFill>
                <a:effectLst>
                  <a:outerShdw blurRad="38100" dist="38100" dir="2700000" algn="tl">
                    <a:srgbClr val="000000">
                      <a:alpha val="43137"/>
                    </a:srgbClr>
                  </a:outerShdw>
                </a:effectLst>
                <a:highlight>
                  <a:srgbClr val="00FF00"/>
                </a:highlight>
              </a:rPr>
              <a:t>use its Marketplace “as a vast laboratory to spot new products </a:t>
            </a:r>
            <a:r>
              <a:rPr lang="en-US" dirty="0">
                <a:solidFill>
                  <a:srgbClr val="002060"/>
                </a:solidFill>
                <a:effectLst>
                  <a:outerShdw blurRad="38100" dist="38100" dir="2700000" algn="tl">
                    <a:srgbClr val="000000">
                      <a:alpha val="43137"/>
                    </a:srgbClr>
                  </a:outerShdw>
                </a:effectLst>
              </a:rPr>
              <a:t>to sell, test sales of potential new goods, and exert more control over pricing”.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R</a:t>
            </a:r>
            <a:r>
              <a:rPr lang="en-US" dirty="0">
                <a:solidFill>
                  <a:srgbClr val="002060"/>
                </a:solidFill>
                <a:effectLst>
                  <a:outerShdw blurRad="38100" dist="38100" dir="2700000" algn="tl">
                    <a:srgbClr val="000000">
                      <a:alpha val="43137"/>
                    </a:srgbClr>
                  </a:outerShdw>
                </a:effectLst>
              </a:rPr>
              <a:t>eporting suggests that “Amazon </a:t>
            </a:r>
            <a:r>
              <a:rPr lang="en-US" b="1" dirty="0">
                <a:solidFill>
                  <a:srgbClr val="FF0000"/>
                </a:solidFill>
                <a:effectLst>
                  <a:outerShdw blurRad="38100" dist="38100" dir="2700000" algn="tl">
                    <a:srgbClr val="000000">
                      <a:alpha val="43137"/>
                    </a:srgbClr>
                  </a:outerShdw>
                </a:effectLst>
              </a:rPr>
              <a:t>uses sales data from outside merchants</a:t>
            </a:r>
            <a:r>
              <a:rPr lang="en-US" dirty="0">
                <a:solidFill>
                  <a:srgbClr val="002060"/>
                </a:solidFill>
                <a:effectLst>
                  <a:outerShdw blurRad="38100" dist="38100" dir="2700000" algn="tl">
                    <a:srgbClr val="000000">
                      <a:alpha val="43137"/>
                    </a:srgbClr>
                  </a:outerShdw>
                </a:effectLst>
              </a:rPr>
              <a:t> to make purchasing decisions </a:t>
            </a:r>
            <a:r>
              <a:rPr lang="pl-PL" b="1" dirty="0">
                <a:solidFill>
                  <a:srgbClr val="FF0000"/>
                </a:solidFill>
                <a:effectLst>
                  <a:outerShdw blurRad="38100" dist="38100" dir="2700000" algn="tl">
                    <a:srgbClr val="000000">
                      <a:alpha val="43137"/>
                    </a:srgbClr>
                  </a:outerShdw>
                </a:effectLst>
              </a:rPr>
              <a:t>to</a:t>
            </a:r>
            <a:r>
              <a:rPr lang="en-US" b="1" dirty="0">
                <a:solidFill>
                  <a:srgbClr val="FF0000"/>
                </a:solidFill>
                <a:effectLst>
                  <a:outerShdw blurRad="38100" dist="38100" dir="2700000" algn="tl">
                    <a:srgbClr val="000000">
                      <a:alpha val="43137"/>
                    </a:srgbClr>
                  </a:outerShdw>
                </a:effectLst>
              </a:rPr>
              <a:t> undercut them on price</a:t>
            </a:r>
            <a:r>
              <a:rPr lang="en-US" dirty="0">
                <a:solidFill>
                  <a:srgbClr val="002060"/>
                </a:solidFill>
                <a:effectLst>
                  <a:outerShdw blurRad="38100" dist="38100" dir="2700000" algn="tl">
                    <a:srgbClr val="000000">
                      <a:alpha val="43137"/>
                    </a:srgbClr>
                  </a:outerShdw>
                </a:effectLst>
              </a:rPr>
              <a:t>” and </a:t>
            </a:r>
            <a:r>
              <a:rPr lang="pl-PL" b="1" dirty="0">
                <a:solidFill>
                  <a:srgbClr val="002060"/>
                </a:solidFill>
                <a:effectLst>
                  <a:outerShdw blurRad="38100" dist="38100" dir="2700000" algn="tl">
                    <a:srgbClr val="000000">
                      <a:alpha val="43137"/>
                    </a:srgbClr>
                  </a:outerShdw>
                </a:effectLst>
              </a:rPr>
              <a:t>gives</a:t>
            </a:r>
            <a:r>
              <a:rPr lang="en-US" b="1" dirty="0">
                <a:solidFill>
                  <a:srgbClr val="002060"/>
                </a:solidFill>
                <a:effectLst>
                  <a:outerShdw blurRad="38100" dist="38100" dir="2700000" algn="tl">
                    <a:srgbClr val="000000">
                      <a:alpha val="43137"/>
                    </a:srgbClr>
                  </a:outerShdw>
                </a:effectLst>
              </a:rPr>
              <a:t> its own items </a:t>
            </a:r>
            <a:r>
              <a:rPr lang="en-US" dirty="0">
                <a:solidFill>
                  <a:srgbClr val="002060"/>
                </a:solidFill>
                <a:effectLst>
                  <a:outerShdw blurRad="38100" dist="38100" dir="2700000" algn="tl">
                    <a:srgbClr val="000000">
                      <a:alpha val="43137"/>
                    </a:srgbClr>
                  </a:outerShdw>
                </a:effectLst>
              </a:rPr>
              <a:t>“featured placement under a given search</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a:t>
            </a:r>
            <a:r>
              <a:rPr lang="pl-PL" dirty="0">
                <a:solidFill>
                  <a:srgbClr val="002060"/>
                </a:solidFill>
                <a:effectLst>
                  <a:outerShdw blurRad="38100" dist="38100" dir="2700000" algn="tl">
                    <a:srgbClr val="000000">
                      <a:alpha val="43137"/>
                    </a:srgbClr>
                  </a:outerShdw>
                </a:effectLst>
              </a:rPr>
              <a:t> (The case of </a:t>
            </a:r>
            <a:r>
              <a:rPr lang="pl-PL" b="1" dirty="0">
                <a:solidFill>
                  <a:srgbClr val="002060"/>
                </a:solidFill>
                <a:effectLst>
                  <a:outerShdw blurRad="38100" dist="38100" dir="2700000" algn="tl">
                    <a:srgbClr val="000000">
                      <a:alpha val="43137"/>
                    </a:srgbClr>
                  </a:outerShdw>
                </a:effectLst>
              </a:rPr>
              <a:t>Pillow Pets</a:t>
            </a:r>
            <a:r>
              <a:rPr lang="pl-PL" dirty="0">
                <a:solidFill>
                  <a:srgbClr val="002060"/>
                </a:solidFill>
                <a:effectLst>
                  <a:outerShdw blurRad="38100" dist="38100" dir="2700000" algn="tl">
                    <a:srgbClr val="000000">
                      <a:alpha val="43137"/>
                    </a:srgbClr>
                  </a:outerShdw>
                </a:effectLst>
              </a:rPr>
              <a:t>; sales dropped from 100/day to 20/day after Amazon launched a similar and cheaper product; similarly, the aluminium </a:t>
            </a:r>
            <a:r>
              <a:rPr lang="pl-PL" b="1" dirty="0">
                <a:solidFill>
                  <a:srgbClr val="002060"/>
                </a:solidFill>
                <a:effectLst>
                  <a:outerShdw blurRad="38100" dist="38100" dir="2700000" algn="tl">
                    <a:srgbClr val="000000">
                      <a:alpha val="43137"/>
                    </a:srgbClr>
                  </a:outerShdw>
                </a:effectLst>
              </a:rPr>
              <a:t>laptop stands</a:t>
            </a:r>
            <a:r>
              <a:rPr lang="pl-PL"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757554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1525107-0732-28FA-DE71-965ADA338834}"/>
              </a:ext>
            </a:extLst>
          </p:cNvPr>
          <p:cNvSpPr>
            <a:spLocks noGrp="1"/>
          </p:cNvSpPr>
          <p:nvPr>
            <p:ph type="title"/>
          </p:nvPr>
        </p:nvSpPr>
        <p:spPr/>
        <p:txBody>
          <a:bodyPr/>
          <a:lstStyle/>
          <a:p>
            <a:r>
              <a:rPr lang="en-US" dirty="0">
                <a:solidFill>
                  <a:srgbClr val="002060"/>
                </a:solidFill>
                <a:effectLst>
                  <a:outerShdw blurRad="38100" dist="38100" dir="2700000" algn="tl">
                    <a:srgbClr val="000000">
                      <a:alpha val="43137"/>
                    </a:srgbClr>
                  </a:outerShdw>
                </a:effectLst>
              </a:rPr>
              <a:t>Marketplace and Exploiting Data</a:t>
            </a:r>
            <a:endParaRPr lang="en-US" dirty="0">
              <a:solidFill>
                <a:srgbClr val="002060"/>
              </a:solidFill>
            </a:endParaRPr>
          </a:p>
        </p:txBody>
      </p:sp>
      <p:sp>
        <p:nvSpPr>
          <p:cNvPr id="3" name="Symbol zastępczy zawartości 2">
            <a:extLst>
              <a:ext uri="{FF2B5EF4-FFF2-40B4-BE49-F238E27FC236}">
                <a16:creationId xmlns:a16="http://schemas.microsoft.com/office/drawing/2014/main" id="{F6F61179-A1D2-C666-346F-2762E4EA36F1}"/>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rPr>
              <a:t>In using its Marketplace this way, Amazon </a:t>
            </a:r>
            <a:r>
              <a:rPr lang="en-US" b="1" dirty="0">
                <a:solidFill>
                  <a:srgbClr val="FF0000"/>
                </a:solidFill>
                <a:effectLst>
                  <a:outerShdw blurRad="38100" dist="38100" dir="2700000" algn="tl">
                    <a:srgbClr val="000000">
                      <a:alpha val="43137"/>
                    </a:srgbClr>
                  </a:outerShdw>
                </a:effectLst>
              </a:rPr>
              <a:t>increases sales while </a:t>
            </a:r>
            <a:r>
              <a:rPr lang="pl-PL" b="1" dirty="0">
                <a:solidFill>
                  <a:srgbClr val="FF0000"/>
                </a:solidFill>
                <a:effectLst>
                  <a:outerShdw blurRad="38100" dist="38100" dir="2700000" algn="tl">
                    <a:srgbClr val="000000">
                      <a:alpha val="43137"/>
                    </a:srgbClr>
                  </a:outerShdw>
                </a:effectLst>
                <a:highlight>
                  <a:srgbClr val="FFFF00"/>
                </a:highlight>
              </a:rPr>
              <a:t>shedding</a:t>
            </a:r>
            <a:r>
              <a:rPr lang="en-US" b="1" dirty="0">
                <a:solidFill>
                  <a:srgbClr val="FF0000"/>
                </a:solidFill>
                <a:effectLst>
                  <a:outerShdw blurRad="38100" dist="38100" dir="2700000" algn="tl">
                    <a:srgbClr val="000000">
                      <a:alpha val="43137"/>
                    </a:srgbClr>
                  </a:outerShdw>
                </a:effectLst>
                <a:highlight>
                  <a:srgbClr val="FFFF00"/>
                </a:highlight>
              </a:rPr>
              <a:t> risk</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Third-party sellers </a:t>
            </a:r>
            <a:r>
              <a:rPr lang="en-US" b="1" dirty="0">
                <a:solidFill>
                  <a:srgbClr val="FF0000"/>
                </a:solidFill>
                <a:effectLst>
                  <a:outerShdw blurRad="38100" dist="38100" dir="2700000" algn="tl">
                    <a:srgbClr val="000000">
                      <a:alpha val="43137"/>
                    </a:srgbClr>
                  </a:outerShdw>
                </a:effectLst>
              </a:rPr>
              <a:t>bear the initial costs </a:t>
            </a:r>
            <a:r>
              <a:rPr lang="en-US" b="1" dirty="0">
                <a:solidFill>
                  <a:srgbClr val="002060"/>
                </a:solidFill>
                <a:effectLst>
                  <a:outerShdw blurRad="38100" dist="38100" dir="2700000" algn="tl">
                    <a:srgbClr val="000000">
                      <a:alpha val="43137"/>
                    </a:srgbClr>
                  </a:outerShdw>
                </a:effectLst>
              </a:rPr>
              <a:t>and </a:t>
            </a:r>
            <a:r>
              <a:rPr lang="pl-PL" b="1" dirty="0">
                <a:solidFill>
                  <a:srgbClr val="FF0000"/>
                </a:solidFill>
                <a:effectLst>
                  <a:outerShdw blurRad="38100" dist="38100" dir="2700000" algn="tl">
                    <a:srgbClr val="000000">
                      <a:alpha val="43137"/>
                    </a:srgbClr>
                  </a:outerShdw>
                </a:effectLst>
              </a:rPr>
              <a:t>the risk </a:t>
            </a:r>
            <a:r>
              <a:rPr lang="en-US" dirty="0">
                <a:solidFill>
                  <a:srgbClr val="002060"/>
                </a:solidFill>
                <a:effectLst>
                  <a:outerShdw blurRad="38100" dist="38100" dir="2700000" algn="tl">
                    <a:srgbClr val="000000">
                      <a:alpha val="43137"/>
                    </a:srgbClr>
                  </a:outerShdw>
                </a:effectLst>
              </a:rPr>
              <a:t>when introducing </a:t>
            </a:r>
            <a:r>
              <a:rPr lang="en-US" b="1" dirty="0">
                <a:solidFill>
                  <a:srgbClr val="002060"/>
                </a:solidFill>
                <a:effectLst>
                  <a:outerShdw blurRad="38100" dist="38100" dir="2700000" algn="tl">
                    <a:srgbClr val="000000">
                      <a:alpha val="43137"/>
                    </a:srgbClr>
                  </a:outerShdw>
                </a:effectLst>
              </a:rPr>
              <a:t>new products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highlight>
                  <a:srgbClr val="FFFF00"/>
                </a:highlight>
              </a:rPr>
              <a:t>By</a:t>
            </a:r>
            <a:r>
              <a:rPr lang="en-US" b="1" dirty="0">
                <a:solidFill>
                  <a:srgbClr val="FF0000"/>
                </a:solidFill>
                <a:effectLst>
                  <a:outerShdw blurRad="38100" dist="38100" dir="2700000" algn="tl">
                    <a:srgbClr val="000000">
                      <a:alpha val="43137"/>
                    </a:srgbClr>
                  </a:outerShdw>
                </a:effectLst>
                <a:highlight>
                  <a:srgbClr val="FFFF00"/>
                </a:highlight>
              </a:rPr>
              <a:t> merely spotting them</a:t>
            </a:r>
            <a:r>
              <a:rPr lang="en-US" b="1" dirty="0">
                <a:solidFill>
                  <a:srgbClr val="FF0000"/>
                </a:solidFill>
                <a:effectLst>
                  <a:outerShdw blurRad="38100" dist="38100" dir="2700000" algn="tl">
                    <a:srgbClr val="000000">
                      <a:alpha val="43137"/>
                    </a:srgbClr>
                  </a:outerShdw>
                </a:effectLst>
              </a:rPr>
              <a:t>, Amazon gets to sell products only after their success has been tested</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560826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7AADD2B-549F-E9E1-1A35-9FBB460783B5}"/>
              </a:ext>
            </a:extLst>
          </p:cNvPr>
          <p:cNvSpPr>
            <a:spLocks noGrp="1"/>
          </p:cNvSpPr>
          <p:nvPr>
            <p:ph type="title"/>
          </p:nvPr>
        </p:nvSpPr>
        <p:spPr/>
        <p:txBody>
          <a:bodyPr/>
          <a:lstStyle/>
          <a:p>
            <a:r>
              <a:rPr lang="en-US" dirty="0">
                <a:solidFill>
                  <a:srgbClr val="002060"/>
                </a:solidFill>
                <a:effectLst>
                  <a:outerShdw blurRad="38100" dist="38100" dir="2700000" algn="tl">
                    <a:srgbClr val="000000">
                      <a:alpha val="43137"/>
                    </a:srgbClr>
                  </a:outerShdw>
                </a:effectLst>
              </a:rPr>
              <a:t>Marketplace and Exploiting Data</a:t>
            </a:r>
            <a:endParaRPr lang="en-US" dirty="0">
              <a:solidFill>
                <a:srgbClr val="002060"/>
              </a:solidFill>
            </a:endParaRPr>
          </a:p>
        </p:txBody>
      </p:sp>
      <p:sp>
        <p:nvSpPr>
          <p:cNvPr id="3" name="Symbol zastępczy zawartości 2">
            <a:extLst>
              <a:ext uri="{FF2B5EF4-FFF2-40B4-BE49-F238E27FC236}">
                <a16:creationId xmlns:a16="http://schemas.microsoft.com/office/drawing/2014/main" id="{C2330486-A2FC-5B0A-69D7-A6E1C3CBA313}"/>
              </a:ext>
            </a:extLst>
          </p:cNvPr>
          <p:cNvSpPr>
            <a:spLocks noGrp="1"/>
          </p:cNvSpPr>
          <p:nvPr>
            <p:ph idx="1"/>
          </p:nvPr>
        </p:nvSpPr>
        <p:spPr/>
        <p:txBody>
          <a:bodyPr>
            <a:normAutofit lnSpcReduction="10000"/>
          </a:bodyPr>
          <a:lstStyle/>
          <a:p>
            <a:r>
              <a:rPr lang="en-US" b="1" dirty="0">
                <a:solidFill>
                  <a:srgbClr val="002060"/>
                </a:solidFill>
                <a:effectLst>
                  <a:outerShdw blurRad="38100" dist="38100" dir="2700000" algn="tl">
                    <a:srgbClr val="000000">
                      <a:alpha val="43137"/>
                    </a:srgbClr>
                  </a:outerShdw>
                </a:effectLst>
              </a:rPr>
              <a:t>Amazon is</a:t>
            </a:r>
            <a:r>
              <a:rPr lang="pl-PL" b="1"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aware</a:t>
            </a:r>
            <a:r>
              <a:rPr lang="en-US" dirty="0">
                <a:solidFill>
                  <a:srgbClr val="002060"/>
                </a:solidFill>
                <a:effectLst>
                  <a:outerShdw blurRad="38100" dist="38100" dir="2700000" algn="tl">
                    <a:srgbClr val="000000">
                      <a:alpha val="43137"/>
                    </a:srgbClr>
                  </a:outerShdw>
                </a:effectLst>
              </a:rPr>
              <a:t> of and </a:t>
            </a:r>
            <a:r>
              <a:rPr lang="en-US" b="1" dirty="0">
                <a:solidFill>
                  <a:srgbClr val="002060"/>
                </a:solidFill>
                <a:effectLst>
                  <a:outerShdw blurRad="38100" dist="38100" dir="2700000" algn="tl">
                    <a:srgbClr val="000000">
                      <a:alpha val="43137"/>
                    </a:srgbClr>
                  </a:outerShdw>
                </a:effectLst>
              </a:rPr>
              <a:t>interested in exploiting </a:t>
            </a:r>
            <a:r>
              <a:rPr lang="en-US" dirty="0">
                <a:solidFill>
                  <a:srgbClr val="002060"/>
                </a:solidFill>
                <a:effectLst>
                  <a:outerShdw blurRad="38100" dist="38100" dir="2700000" algn="tl">
                    <a:srgbClr val="000000">
                      <a:alpha val="43137"/>
                    </a:srgbClr>
                  </a:outerShdw>
                </a:effectLst>
              </a:rPr>
              <a:t>these </a:t>
            </a:r>
            <a:r>
              <a:rPr lang="en-US" b="1" dirty="0">
                <a:solidFill>
                  <a:srgbClr val="002060"/>
                </a:solidFill>
                <a:effectLst>
                  <a:outerShdw blurRad="38100" dist="38100" dir="2700000" algn="tl">
                    <a:srgbClr val="000000">
                      <a:alpha val="43137"/>
                    </a:srgbClr>
                  </a:outerShdw>
                </a:effectLst>
              </a:rPr>
              <a:t>opportunities. </a:t>
            </a:r>
            <a:endParaRPr lang="pl-PL" b="1"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For example, the company has reportedly used </a:t>
            </a:r>
            <a:r>
              <a:rPr lang="en-US" b="1" dirty="0">
                <a:solidFill>
                  <a:srgbClr val="FF0000"/>
                </a:solidFill>
                <a:effectLst>
                  <a:outerShdw blurRad="38100" dist="38100" dir="2700000" algn="tl">
                    <a:srgbClr val="000000">
                      <a:alpha val="43137"/>
                    </a:srgbClr>
                  </a:outerShdw>
                </a:effectLst>
              </a:rPr>
              <a:t>insights gleaned from its </a:t>
            </a:r>
            <a:r>
              <a:rPr lang="en-US" b="1" dirty="0">
                <a:solidFill>
                  <a:srgbClr val="FF0000"/>
                </a:solidFill>
                <a:effectLst>
                  <a:outerShdw blurRad="38100" dist="38100" dir="2700000" algn="tl">
                    <a:srgbClr val="000000">
                      <a:alpha val="43137"/>
                    </a:srgbClr>
                  </a:outerShdw>
                </a:effectLst>
                <a:highlight>
                  <a:srgbClr val="00FF00"/>
                </a:highlight>
              </a:rPr>
              <a:t>cloud computing </a:t>
            </a:r>
            <a:r>
              <a:rPr lang="en-US" dirty="0">
                <a:solidFill>
                  <a:srgbClr val="002060"/>
                </a:solidFill>
                <a:effectLst>
                  <a:outerShdw blurRad="38100" dist="38100" dir="2700000" algn="tl">
                    <a:srgbClr val="000000">
                      <a:alpha val="43137"/>
                    </a:srgbClr>
                  </a:outerShdw>
                </a:effectLst>
              </a:rPr>
              <a:t>service </a:t>
            </a:r>
            <a:r>
              <a:rPr lang="en-US" b="1" dirty="0">
                <a:solidFill>
                  <a:srgbClr val="002060"/>
                </a:solidFill>
                <a:effectLst>
                  <a:outerShdw blurRad="38100" dist="38100" dir="2700000" algn="tl">
                    <a:srgbClr val="000000">
                      <a:alpha val="43137"/>
                    </a:srgbClr>
                  </a:outerShdw>
                </a:effectLst>
                <a:highlight>
                  <a:srgbClr val="FFFF00"/>
                </a:highlight>
              </a:rPr>
              <a:t>to inform its investment decisions</a:t>
            </a:r>
            <a:r>
              <a:rPr lang="en-US" b="1" dirty="0">
                <a:solidFill>
                  <a:srgbClr val="002060"/>
                </a:solidFill>
                <a:effectLst>
                  <a:outerShdw blurRad="38100" dist="38100" dir="2700000" algn="tl">
                    <a:srgbClr val="000000">
                      <a:alpha val="43137"/>
                    </a:srgbClr>
                  </a:outerShdw>
                </a:effectLst>
              </a:rPr>
              <a:t>. </a:t>
            </a:r>
            <a:endParaRPr lang="pl-PL" b="1"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By </a:t>
            </a:r>
            <a:r>
              <a:rPr lang="en-US" b="1" dirty="0">
                <a:solidFill>
                  <a:srgbClr val="FF0000"/>
                </a:solidFill>
                <a:effectLst>
                  <a:outerShdw blurRad="38100" dist="38100" dir="2700000" algn="tl">
                    <a:srgbClr val="000000">
                      <a:alpha val="43137"/>
                    </a:srgbClr>
                  </a:outerShdw>
                </a:effectLst>
              </a:rPr>
              <a:t>observing which </a:t>
            </a:r>
            <a:r>
              <a:rPr lang="en-US" b="1" dirty="0">
                <a:solidFill>
                  <a:srgbClr val="FF0000"/>
                </a:solidFill>
                <a:effectLst>
                  <a:outerShdw blurRad="38100" dist="38100" dir="2700000" algn="tl">
                    <a:srgbClr val="000000">
                      <a:alpha val="43137"/>
                    </a:srgbClr>
                  </a:outerShdw>
                </a:effectLst>
                <a:highlight>
                  <a:srgbClr val="FFFF00"/>
                </a:highlight>
              </a:rPr>
              <a:t>start-ups</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are expanding their usage of Amazon Web Services, Amazon can make </a:t>
            </a:r>
            <a:r>
              <a:rPr lang="en-US" b="1" dirty="0">
                <a:solidFill>
                  <a:srgbClr val="FF0000"/>
                </a:solidFill>
                <a:effectLst>
                  <a:outerShdw blurRad="38100" dist="38100" dir="2700000" algn="tl">
                    <a:srgbClr val="000000">
                      <a:alpha val="43137"/>
                    </a:srgbClr>
                  </a:outerShdw>
                </a:effectLst>
              </a:rPr>
              <a:t>early assessments of the potential success of upcoming firms</a:t>
            </a:r>
            <a:r>
              <a:rPr lang="en-US" dirty="0">
                <a:solidFill>
                  <a:srgbClr val="002060"/>
                </a:solidFill>
                <a:effectLst>
                  <a:outerShdw blurRad="38100" dist="38100" dir="2700000" algn="tl">
                    <a:srgbClr val="000000">
                      <a:alpha val="43137"/>
                    </a:srgbClr>
                  </a:outerShdw>
                </a:effectLst>
              </a:rPr>
              <a:t>. Amazon has used this “unique window into the technology startup world” </a:t>
            </a:r>
            <a:r>
              <a:rPr lang="en-US" b="1" dirty="0">
                <a:solidFill>
                  <a:srgbClr val="FF0000"/>
                </a:solidFill>
                <a:effectLst>
                  <a:outerShdw blurRad="38100" dist="38100" dir="2700000" algn="tl">
                    <a:srgbClr val="000000">
                      <a:alpha val="43137"/>
                    </a:srgbClr>
                  </a:outerShdw>
                </a:effectLst>
              </a:rPr>
              <a:t>to invest in several </a:t>
            </a:r>
            <a:r>
              <a:rPr lang="pl-PL" b="1" dirty="0">
                <a:solidFill>
                  <a:srgbClr val="FF0000"/>
                </a:solidFill>
                <a:effectLst>
                  <a:outerShdw blurRad="38100" dist="38100" dir="2700000" algn="tl">
                    <a:srgbClr val="000000">
                      <a:alpha val="43137"/>
                    </a:srgbClr>
                  </a:outerShdw>
                </a:effectLst>
              </a:rPr>
              <a:t>start-ups</a:t>
            </a:r>
            <a:r>
              <a:rPr lang="en-US" dirty="0">
                <a:solidFill>
                  <a:srgbClr val="002060"/>
                </a:solidFill>
                <a:effectLst>
                  <a:outerShdw blurRad="38100" dist="38100" dir="2700000" algn="tl">
                    <a:srgbClr val="000000">
                      <a:alpha val="43137"/>
                    </a:srgbClr>
                  </a:outerShdw>
                </a:effectLst>
              </a:rPr>
              <a:t> that were also customers of </a:t>
            </a:r>
            <a:r>
              <a:rPr lang="en-US" b="1" dirty="0">
                <a:solidFill>
                  <a:srgbClr val="002060"/>
                </a:solidFill>
                <a:effectLst>
                  <a:outerShdw blurRad="38100" dist="38100" dir="2700000" algn="tl">
                    <a:srgbClr val="000000">
                      <a:alpha val="43137"/>
                    </a:srgbClr>
                  </a:outerShdw>
                </a:effectLst>
              </a:rPr>
              <a:t>its cloud business</a:t>
            </a:r>
            <a:r>
              <a:rPr lang="pl-PL" b="1" dirty="0">
                <a:solidFill>
                  <a:srgbClr val="002060"/>
                </a:solidFill>
                <a:effectLst>
                  <a:outerShdw blurRad="38100" dist="38100" dir="2700000" algn="tl">
                    <a:srgbClr val="000000">
                      <a:alpha val="43137"/>
                    </a:srgbClr>
                  </a:outerShdw>
                </a:effectLst>
              </a:rPr>
              <a:t>.</a:t>
            </a:r>
            <a:endParaRPr lang="en-US"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29294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A81C8B-F238-8F9D-A542-EE751AE30725}"/>
              </a:ext>
            </a:extLst>
          </p:cNvPr>
          <p:cNvSpPr>
            <a:spLocks noGrp="1"/>
          </p:cNvSpPr>
          <p:nvPr>
            <p:ph type="title"/>
          </p:nvPr>
        </p:nvSpPr>
        <p:spPr/>
        <p:txBody>
          <a:bodyPr>
            <a:normAutofit/>
          </a:bodyPr>
          <a:lstStyle/>
          <a:p>
            <a:r>
              <a:rPr lang="en-US" sz="3600" dirty="0">
                <a:solidFill>
                  <a:srgbClr val="002060"/>
                </a:solidFill>
                <a:effectLst>
                  <a:outerShdw blurRad="38100" dist="38100" dir="2700000" algn="tl">
                    <a:srgbClr val="000000">
                      <a:alpha val="43137"/>
                    </a:srgbClr>
                  </a:outerShdw>
                </a:effectLst>
              </a:rPr>
              <a:t>TWO MODELS FOR ADDRESSING PLATFORM POWER</a:t>
            </a:r>
          </a:p>
        </p:txBody>
      </p:sp>
      <p:sp>
        <p:nvSpPr>
          <p:cNvPr id="3" name="Symbol zastępczy zawartości 2">
            <a:extLst>
              <a:ext uri="{FF2B5EF4-FFF2-40B4-BE49-F238E27FC236}">
                <a16:creationId xmlns:a16="http://schemas.microsoft.com/office/drawing/2014/main" id="{F48D4563-41B1-69EA-233D-275BF29AF48C}"/>
              </a:ext>
            </a:extLst>
          </p:cNvPr>
          <p:cNvSpPr>
            <a:spLocks noGrp="1"/>
          </p:cNvSpPr>
          <p:nvPr>
            <p:ph idx="1"/>
          </p:nvPr>
        </p:nvSpPr>
        <p:spPr/>
        <p:txBody>
          <a:bodyPr/>
          <a:lstStyle/>
          <a:p>
            <a:pPr marL="514350" indent="-514350">
              <a:buAutoNum type="arabicParenR"/>
            </a:pPr>
            <a:r>
              <a:rPr lang="pl-PL" dirty="0">
                <a:solidFill>
                  <a:srgbClr val="002060"/>
                </a:solidFill>
                <a:effectLst>
                  <a:outerShdw blurRad="38100" dist="38100" dir="2700000" algn="tl">
                    <a:srgbClr val="000000">
                      <a:alpha val="43137"/>
                    </a:srgbClr>
                  </a:outerShdw>
                </a:effectLst>
              </a:rPr>
              <a:t>ANTIMONOPOLY LAW</a:t>
            </a:r>
          </a:p>
          <a:p>
            <a:pPr marL="514350" indent="-514350">
              <a:buAutoNum type="arabicParenR"/>
            </a:pPr>
            <a:r>
              <a:rPr lang="pl-PL" dirty="0">
                <a:solidFill>
                  <a:srgbClr val="002060"/>
                </a:solidFill>
                <a:effectLst>
                  <a:outerShdw blurRad="38100" dist="38100" dir="2700000" algn="tl">
                    <a:srgbClr val="000000">
                      <a:alpha val="43137"/>
                    </a:srgbClr>
                  </a:outerShdw>
                </a:effectLst>
              </a:rPr>
              <a:t>REGULATION</a:t>
            </a:r>
            <a:endParaRPr 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209064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E82D5F9-8A51-1CB8-ADB1-D967E5AFDE43}"/>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TWO MODELS FOR ADDRESSING PLATFORM POWER</a:t>
            </a:r>
            <a:endParaRPr lang="en-US" sz="3200" dirty="0"/>
          </a:p>
        </p:txBody>
      </p:sp>
      <p:sp>
        <p:nvSpPr>
          <p:cNvPr id="3" name="Symbol zastępczy zawartości 2">
            <a:extLst>
              <a:ext uri="{FF2B5EF4-FFF2-40B4-BE49-F238E27FC236}">
                <a16:creationId xmlns:a16="http://schemas.microsoft.com/office/drawing/2014/main" id="{31D7BCB6-C139-DACD-B6B0-2B1574F89682}"/>
              </a:ext>
            </a:extLst>
          </p:cNvPr>
          <p:cNvSpPr>
            <a:spLocks noGrp="1"/>
          </p:cNvSpPr>
          <p:nvPr>
            <p:ph idx="1"/>
          </p:nvPr>
        </p:nvSpPr>
        <p:spPr>
          <a:xfrm>
            <a:off x="838200" y="1825624"/>
            <a:ext cx="10515600" cy="4408027"/>
          </a:xfrm>
        </p:spPr>
        <p:txBody>
          <a:bodyPr>
            <a:normAutofit lnSpcReduction="10000"/>
          </a:bodyPr>
          <a:lstStyle/>
          <a:p>
            <a:pPr marL="0" indent="0">
              <a:buNone/>
            </a:pPr>
            <a:r>
              <a:rPr lang="pl-PL" b="1" dirty="0">
                <a:solidFill>
                  <a:srgbClr val="002060"/>
                </a:solidFill>
                <a:effectLst>
                  <a:outerShdw blurRad="38100" dist="38100" dir="2700000" algn="tl">
                    <a:srgbClr val="000000">
                      <a:alpha val="43137"/>
                    </a:srgbClr>
                  </a:outerShdw>
                </a:effectLst>
              </a:rPr>
              <a:t>ANTIMONOPOLY RESPONSE</a:t>
            </a:r>
          </a:p>
          <a:p>
            <a:r>
              <a:rPr lang="en-US" b="1" dirty="0">
                <a:solidFill>
                  <a:srgbClr val="FF0000"/>
                </a:solidFill>
                <a:effectLst>
                  <a:outerShdw blurRad="38100" dist="38100" dir="2700000" algn="tl">
                    <a:srgbClr val="000000">
                      <a:alpha val="43137"/>
                    </a:srgbClr>
                  </a:outerShdw>
                </a:effectLst>
              </a:rPr>
              <a:t>Revising predatory pricing doctrine </a:t>
            </a:r>
            <a:r>
              <a:rPr lang="en-US" dirty="0">
                <a:solidFill>
                  <a:srgbClr val="002060"/>
                </a:solidFill>
                <a:effectLst>
                  <a:outerShdw blurRad="38100" dist="38100" dir="2700000" algn="tl">
                    <a:srgbClr val="000000">
                      <a:alpha val="43137"/>
                    </a:srgbClr>
                  </a:outerShdw>
                </a:effectLst>
              </a:rPr>
              <a:t>to reflect the economics of platform markets, where firms can </a:t>
            </a:r>
            <a:r>
              <a:rPr lang="en-US" b="1" dirty="0">
                <a:solidFill>
                  <a:srgbClr val="FF0000"/>
                </a:solidFill>
                <a:effectLst>
                  <a:outerShdw blurRad="38100" dist="38100" dir="2700000" algn="tl">
                    <a:srgbClr val="000000">
                      <a:alpha val="43137"/>
                    </a:srgbClr>
                  </a:outerShdw>
                </a:effectLst>
              </a:rPr>
              <a:t>sink money for years given unlimited investor backing</a:t>
            </a:r>
            <a:r>
              <a:rPr lang="en-US" dirty="0">
                <a:solidFill>
                  <a:srgbClr val="002060"/>
                </a:solidFill>
                <a:effectLst>
                  <a:outerShdw blurRad="38100" dist="38100" dir="2700000" algn="tl">
                    <a:srgbClr val="000000">
                      <a:alpha val="43137"/>
                    </a:srgbClr>
                  </a:outerShdw>
                </a:effectLst>
              </a:rPr>
              <a:t>, would require </a:t>
            </a:r>
            <a:r>
              <a:rPr lang="en-US" b="1" dirty="0">
                <a:solidFill>
                  <a:srgbClr val="FF0000"/>
                </a:solidFill>
                <a:effectLst>
                  <a:outerShdw blurRad="38100" dist="38100" dir="2700000" algn="tl">
                    <a:srgbClr val="000000">
                      <a:alpha val="43137"/>
                    </a:srgbClr>
                  </a:outerShdw>
                </a:effectLst>
              </a:rPr>
              <a:t>abandoning the recoupment requirement </a:t>
            </a:r>
            <a:r>
              <a:rPr lang="en-US" dirty="0">
                <a:solidFill>
                  <a:srgbClr val="002060"/>
                </a:solidFill>
                <a:effectLst>
                  <a:outerShdw blurRad="38100" dist="38100" dir="2700000" algn="tl">
                    <a:srgbClr val="000000">
                      <a:alpha val="43137"/>
                    </a:srgbClr>
                  </a:outerShdw>
                </a:effectLst>
              </a:rPr>
              <a:t>in cases of below- cost pricing by dominant platforms.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And given that </a:t>
            </a:r>
            <a:r>
              <a:rPr lang="en-US" b="1" dirty="0">
                <a:solidFill>
                  <a:srgbClr val="002060"/>
                </a:solidFill>
                <a:effectLst>
                  <a:outerShdw blurRad="38100" dist="38100" dir="2700000" algn="tl">
                    <a:srgbClr val="000000">
                      <a:alpha val="43137"/>
                    </a:srgbClr>
                  </a:outerShdw>
                </a:effectLst>
              </a:rPr>
              <a:t>platforms</a:t>
            </a:r>
            <a:r>
              <a:rPr lang="en-US" dirty="0">
                <a:solidFill>
                  <a:srgbClr val="002060"/>
                </a:solidFill>
                <a:effectLst>
                  <a:outerShdw blurRad="38100" dist="38100" dir="2700000" algn="tl">
                    <a:srgbClr val="000000">
                      <a:alpha val="43137"/>
                    </a:srgbClr>
                  </a:outerShdw>
                </a:effectLst>
              </a:rPr>
              <a:t> are uniquely positioned to </a:t>
            </a:r>
            <a:r>
              <a:rPr lang="en-US" b="1" dirty="0">
                <a:solidFill>
                  <a:srgbClr val="002060"/>
                </a:solidFill>
                <a:effectLst>
                  <a:outerShdw blurRad="38100" dist="38100" dir="2700000" algn="tl">
                    <a:srgbClr val="000000">
                      <a:alpha val="43137"/>
                    </a:srgbClr>
                  </a:outerShdw>
                </a:effectLst>
              </a:rPr>
              <a:t>fund predation</a:t>
            </a:r>
            <a:r>
              <a:rPr lang="en-US" dirty="0">
                <a:solidFill>
                  <a:srgbClr val="002060"/>
                </a:solidFill>
                <a:effectLst>
                  <a:outerShdw blurRad="38100" dist="38100" dir="2700000" algn="tl">
                    <a:srgbClr val="000000">
                      <a:alpha val="43137"/>
                    </a:srgbClr>
                  </a:outerShdw>
                </a:effectLst>
              </a:rPr>
              <a:t>, a </a:t>
            </a:r>
            <a:r>
              <a:rPr lang="pl-PL" dirty="0">
                <a:solidFill>
                  <a:srgbClr val="002060"/>
                </a:solidFill>
                <a:effectLst>
                  <a:outerShdw blurRad="38100" dist="38100" dir="2700000" algn="tl">
                    <a:srgbClr val="000000">
                      <a:alpha val="43137"/>
                    </a:srgbClr>
                  </a:outerShdw>
                </a:effectLst>
              </a:rPr>
              <a:t>competition-based</a:t>
            </a:r>
            <a:r>
              <a:rPr lang="en-US" dirty="0">
                <a:solidFill>
                  <a:srgbClr val="002060"/>
                </a:solidFill>
                <a:effectLst>
                  <a:outerShdw blurRad="38100" dist="38100" dir="2700000" algn="tl">
                    <a:srgbClr val="000000">
                      <a:alpha val="43137"/>
                    </a:srgbClr>
                  </a:outerShdw>
                </a:effectLst>
              </a:rPr>
              <a:t> approach might also consider introducing </a:t>
            </a:r>
            <a:r>
              <a:rPr lang="en-US" b="1" dirty="0">
                <a:solidFill>
                  <a:srgbClr val="FF0000"/>
                </a:solidFill>
                <a:effectLst>
                  <a:outerShdw blurRad="38100" dist="38100" dir="2700000" algn="tl">
                    <a:srgbClr val="000000">
                      <a:alpha val="43137"/>
                    </a:srgbClr>
                  </a:outerShdw>
                </a:effectLst>
              </a:rPr>
              <a:t>a presumption of predation </a:t>
            </a:r>
            <a:r>
              <a:rPr lang="en-US" dirty="0">
                <a:solidFill>
                  <a:srgbClr val="002060"/>
                </a:solidFill>
                <a:effectLst>
                  <a:outerShdw blurRad="38100" dist="38100" dir="2700000" algn="tl">
                    <a:srgbClr val="000000">
                      <a:alpha val="43137"/>
                    </a:srgbClr>
                  </a:outerShdw>
                </a:effectLst>
              </a:rPr>
              <a:t>for </a:t>
            </a:r>
            <a:r>
              <a:rPr lang="en-US" b="1" dirty="0">
                <a:solidFill>
                  <a:srgbClr val="002060"/>
                </a:solidFill>
                <a:effectLst>
                  <a:outerShdw blurRad="38100" dist="38100" dir="2700000" algn="tl">
                    <a:srgbClr val="000000">
                      <a:alpha val="43137"/>
                    </a:srgbClr>
                  </a:outerShdw>
                </a:effectLst>
              </a:rPr>
              <a:t>dominant platforms found to be pricing products below cost</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6983253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4615AB5-C42A-3AC1-3659-95C8684C3344}"/>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TWO MODELS FOR ADDRESSING PLATFORM POWER</a:t>
            </a:r>
            <a:endParaRPr lang="en-US" sz="3200" dirty="0"/>
          </a:p>
        </p:txBody>
      </p:sp>
      <p:sp>
        <p:nvSpPr>
          <p:cNvPr id="3" name="Symbol zastępczy zawartości 2">
            <a:extLst>
              <a:ext uri="{FF2B5EF4-FFF2-40B4-BE49-F238E27FC236}">
                <a16:creationId xmlns:a16="http://schemas.microsoft.com/office/drawing/2014/main" id="{E740AF81-36A9-AD5D-5461-322AE0E12D28}"/>
              </a:ext>
            </a:extLst>
          </p:cNvPr>
          <p:cNvSpPr>
            <a:spLocks noGrp="1"/>
          </p:cNvSpPr>
          <p:nvPr>
            <p:ph idx="1"/>
          </p:nvPr>
        </p:nvSpPr>
        <p:spPr/>
        <p:txBody>
          <a:bodyPr>
            <a:normAutofit fontScale="92500" lnSpcReduction="10000"/>
          </a:bodyPr>
          <a:lstStyle/>
          <a:p>
            <a:pPr marL="0" indent="0">
              <a:buNone/>
            </a:pPr>
            <a:r>
              <a:rPr lang="pl-PL" b="1" dirty="0">
                <a:solidFill>
                  <a:srgbClr val="002060"/>
                </a:solidFill>
                <a:effectLst>
                  <a:outerShdw blurRad="38100" dist="38100" dir="2700000" algn="tl">
                    <a:srgbClr val="000000">
                      <a:alpha val="43137"/>
                    </a:srgbClr>
                  </a:outerShdw>
                </a:effectLst>
              </a:rPr>
              <a:t>ANTIMONOPOLY RESPONSE</a:t>
            </a:r>
            <a:r>
              <a:rPr lang="pl-PL" dirty="0">
                <a:solidFill>
                  <a:srgbClr val="002060"/>
                </a:solidFill>
                <a:effectLst>
                  <a:outerShdw blurRad="38100" dist="38100" dir="2700000" algn="tl">
                    <a:srgbClr val="000000">
                      <a:alpha val="43137"/>
                    </a:srgbClr>
                  </a:outerShdw>
                </a:effectLst>
              </a:rPr>
              <a:t>, cont.</a:t>
            </a:r>
          </a:p>
          <a:p>
            <a:r>
              <a:rPr lang="en-US" dirty="0">
                <a:solidFill>
                  <a:srgbClr val="002060"/>
                </a:solidFill>
                <a:effectLst>
                  <a:outerShdw blurRad="38100" dist="38100" dir="2700000" algn="tl">
                    <a:srgbClr val="000000">
                      <a:alpha val="43137"/>
                    </a:srgbClr>
                  </a:outerShdw>
                </a:effectLst>
              </a:rPr>
              <a:t>Similarly, antitrust law should be reformed to address </a:t>
            </a:r>
            <a:r>
              <a:rPr lang="en-US" b="1" dirty="0">
                <a:solidFill>
                  <a:srgbClr val="FF0000"/>
                </a:solidFill>
                <a:effectLst>
                  <a:outerShdw blurRad="38100" dist="38100" dir="2700000" algn="tl">
                    <a:srgbClr val="000000">
                      <a:alpha val="43137"/>
                    </a:srgbClr>
                  </a:outerShdw>
                </a:effectLst>
              </a:rPr>
              <a:t>how vertical integration may give rise to anticompetitive conflicts of interest </a:t>
            </a:r>
            <a:r>
              <a:rPr lang="en-US" dirty="0">
                <a:solidFill>
                  <a:srgbClr val="002060"/>
                </a:solidFill>
                <a:effectLst>
                  <a:outerShdw blurRad="38100" dist="38100" dir="2700000" algn="tl">
                    <a:srgbClr val="000000">
                      <a:alpha val="43137"/>
                    </a:srgbClr>
                  </a:outerShdw>
                </a:effectLst>
              </a:rPr>
              <a:t>and the fact that a dominant firm may </a:t>
            </a:r>
            <a:r>
              <a:rPr lang="en-US" b="1" dirty="0">
                <a:solidFill>
                  <a:srgbClr val="002060"/>
                </a:solidFill>
                <a:effectLst>
                  <a:outerShdw blurRad="38100" dist="38100" dir="2700000" algn="tl">
                    <a:srgbClr val="000000">
                      <a:alpha val="43137"/>
                    </a:srgbClr>
                  </a:outerShdw>
                </a:effectLst>
              </a:rPr>
              <a:t>use its dominance in one sector to advance another line of business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One way to address the concern about a firm’s capacity to </a:t>
            </a:r>
            <a:r>
              <a:rPr lang="en-US" b="1" dirty="0">
                <a:solidFill>
                  <a:srgbClr val="FF0000"/>
                </a:solidFill>
                <a:effectLst>
                  <a:outerShdw blurRad="38100" dist="38100" dir="2700000" algn="tl">
                    <a:srgbClr val="000000">
                      <a:alpha val="43137"/>
                    </a:srgbClr>
                  </a:outerShdw>
                </a:effectLst>
              </a:rPr>
              <a:t>cross- leverage data </a:t>
            </a:r>
            <a:r>
              <a:rPr lang="en-US" dirty="0">
                <a:solidFill>
                  <a:srgbClr val="002060"/>
                </a:solidFill>
                <a:effectLst>
                  <a:outerShdw blurRad="38100" dist="38100" dir="2700000" algn="tl">
                    <a:srgbClr val="000000">
                      <a:alpha val="43137"/>
                    </a:srgbClr>
                  </a:outerShdw>
                </a:effectLst>
              </a:rPr>
              <a:t>is to </a:t>
            </a:r>
            <a:r>
              <a:rPr lang="en-US" b="1" dirty="0">
                <a:solidFill>
                  <a:srgbClr val="002060"/>
                </a:solidFill>
                <a:effectLst>
                  <a:outerShdw blurRad="38100" dist="38100" dir="2700000" algn="tl">
                    <a:srgbClr val="000000">
                      <a:alpha val="43137"/>
                    </a:srgbClr>
                  </a:outerShdw>
                </a:effectLst>
              </a:rPr>
              <a:t>expressly include it into merger review</a:t>
            </a:r>
            <a:r>
              <a:rPr lang="en-US" dirty="0">
                <a:solidFill>
                  <a:srgbClr val="002060"/>
                </a:solidFill>
                <a:effectLst>
                  <a:outerShdw blurRad="38100" dist="38100" dir="2700000" algn="tl">
                    <a:srgbClr val="000000">
                      <a:alpha val="43137"/>
                    </a:srgbClr>
                  </a:outerShdw>
                </a:effectLst>
              </a:rPr>
              <a:t>. It could make sense for the agencies to </a:t>
            </a:r>
            <a:r>
              <a:rPr lang="en-US" b="1" dirty="0">
                <a:solidFill>
                  <a:srgbClr val="002060"/>
                </a:solidFill>
                <a:effectLst>
                  <a:outerShdw blurRad="38100" dist="38100" dir="2700000" algn="tl">
                    <a:srgbClr val="000000">
                      <a:alpha val="43137"/>
                    </a:srgbClr>
                  </a:outerShdw>
                </a:effectLst>
              </a:rPr>
              <a:t>automatically review any deal that involves exchange of certain forms </a:t>
            </a:r>
            <a:r>
              <a:rPr lang="en-US" dirty="0">
                <a:solidFill>
                  <a:srgbClr val="002060"/>
                </a:solidFill>
                <a:effectLst>
                  <a:outerShdw blurRad="38100" dist="38100" dir="2700000" algn="tl">
                    <a:srgbClr val="000000">
                      <a:alpha val="43137"/>
                    </a:srgbClr>
                  </a:outerShdw>
                </a:effectLst>
              </a:rPr>
              <a:t>(or a certain quantity) </a:t>
            </a:r>
            <a:r>
              <a:rPr lang="en-US" b="1" dirty="0">
                <a:solidFill>
                  <a:srgbClr val="002060"/>
                </a:solidFill>
                <a:effectLst>
                  <a:outerShdw blurRad="38100" dist="38100" dir="2700000" algn="tl">
                    <a:srgbClr val="000000">
                      <a:alpha val="43137"/>
                    </a:srgbClr>
                  </a:outerShdw>
                </a:effectLst>
              </a:rPr>
              <a:t>of data</a:t>
            </a:r>
            <a:r>
              <a:rPr lang="en-US" dirty="0">
                <a:solidFill>
                  <a:srgbClr val="002060"/>
                </a:solidFill>
                <a:effectLst>
                  <a:outerShdw blurRad="38100" dist="38100" dir="2700000" algn="tl">
                    <a:srgbClr val="000000">
                      <a:alpha val="43137"/>
                    </a:srgbClr>
                  </a:outerShdw>
                </a:effectLst>
              </a:rPr>
              <a:t>. A stricter approach to vertical integration would place </a:t>
            </a:r>
            <a:r>
              <a:rPr lang="en-US" b="1" dirty="0">
                <a:solidFill>
                  <a:srgbClr val="FF0000"/>
                </a:solidFill>
                <a:effectLst>
                  <a:outerShdw blurRad="38100" dist="38100" dir="2700000" algn="tl">
                    <a:srgbClr val="000000">
                      <a:alpha val="43137"/>
                    </a:srgbClr>
                  </a:outerShdw>
                </a:effectLst>
              </a:rPr>
              <a:t>prophylactic limits on vertical mergers by platforms that have reached a certain level of dominance</a:t>
            </a:r>
            <a:endParaRPr lang="en-US" dirty="0"/>
          </a:p>
        </p:txBody>
      </p:sp>
    </p:spTree>
    <p:extLst>
      <p:ext uri="{BB962C8B-B14F-4D97-AF65-F5344CB8AC3E}">
        <p14:creationId xmlns:p14="http://schemas.microsoft.com/office/powerpoint/2010/main" val="22043438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D7518F8-9072-BD22-B149-823066235321}"/>
              </a:ext>
            </a:extLst>
          </p:cNvPr>
          <p:cNvSpPr>
            <a:spLocks noGrp="1"/>
          </p:cNvSpPr>
          <p:nvPr>
            <p:ph type="title"/>
          </p:nvPr>
        </p:nvSpPr>
        <p:spPr/>
        <p:txBody>
          <a:bodyPr>
            <a:normAutofit/>
          </a:bodyPr>
          <a:lstStyle/>
          <a:p>
            <a:r>
              <a:rPr lang="en-US" sz="3200" dirty="0">
                <a:solidFill>
                  <a:srgbClr val="002060"/>
                </a:solidFill>
                <a:effectLst>
                  <a:outerShdw blurRad="38100" dist="38100" dir="2700000" algn="tl">
                    <a:srgbClr val="000000">
                      <a:alpha val="43137"/>
                    </a:srgbClr>
                  </a:outerShdw>
                </a:effectLst>
              </a:rPr>
              <a:t>TWO MODELS FOR ADDRESSING PLATFORM POWER</a:t>
            </a:r>
            <a:endParaRPr lang="en-US" sz="3200" dirty="0"/>
          </a:p>
        </p:txBody>
      </p:sp>
      <p:sp>
        <p:nvSpPr>
          <p:cNvPr id="3" name="Symbol zastępczy zawartości 2">
            <a:extLst>
              <a:ext uri="{FF2B5EF4-FFF2-40B4-BE49-F238E27FC236}">
                <a16:creationId xmlns:a16="http://schemas.microsoft.com/office/drawing/2014/main" id="{9AA13B15-EA67-59A4-3D21-3570E80AC7AE}"/>
              </a:ext>
            </a:extLst>
          </p:cNvPr>
          <p:cNvSpPr>
            <a:spLocks noGrp="1"/>
          </p:cNvSpPr>
          <p:nvPr>
            <p:ph idx="1"/>
          </p:nvPr>
        </p:nvSpPr>
        <p:spPr/>
        <p:txBody>
          <a:bodyPr/>
          <a:lstStyle/>
          <a:p>
            <a:pPr marL="0" indent="0">
              <a:buNone/>
            </a:pPr>
            <a:r>
              <a:rPr lang="pl-PL" b="1" dirty="0">
                <a:solidFill>
                  <a:srgbClr val="002060"/>
                </a:solidFill>
                <a:effectLst>
                  <a:outerShdw blurRad="38100" dist="38100" dir="2700000" algn="tl">
                    <a:srgbClr val="000000">
                      <a:alpha val="43137"/>
                    </a:srgbClr>
                  </a:outerShdw>
                </a:effectLst>
              </a:rPr>
              <a:t>REGULATION</a:t>
            </a:r>
          </a:p>
          <a:p>
            <a:r>
              <a:rPr lang="en-US" dirty="0">
                <a:solidFill>
                  <a:srgbClr val="002060"/>
                </a:solidFill>
                <a:effectLst>
                  <a:outerShdw blurRad="38100" dist="38100" dir="2700000" algn="tl">
                    <a:srgbClr val="000000">
                      <a:alpha val="43137"/>
                    </a:srgbClr>
                  </a:outerShdw>
                </a:effectLst>
              </a:rPr>
              <a:t>The other </a:t>
            </a:r>
            <a:r>
              <a:rPr lang="pl-PL" dirty="0">
                <a:solidFill>
                  <a:srgbClr val="002060"/>
                </a:solidFill>
                <a:effectLst>
                  <a:outerShdw blurRad="38100" dist="38100" dir="2700000" algn="tl">
                    <a:srgbClr val="000000">
                      <a:alpha val="43137"/>
                    </a:srgbClr>
                  </a:outerShdw>
                </a:effectLst>
              </a:rPr>
              <a:t>way to confront platforms </a:t>
            </a:r>
            <a:r>
              <a:rPr lang="en-US" dirty="0">
                <a:solidFill>
                  <a:srgbClr val="002060"/>
                </a:solidFill>
                <a:effectLst>
                  <a:outerShdw blurRad="38100" dist="38100" dir="2700000" algn="tl">
                    <a:srgbClr val="000000">
                      <a:alpha val="43137"/>
                    </a:srgbClr>
                  </a:outerShdw>
                </a:effectLst>
              </a:rPr>
              <a:t>is to accept dominant online platforms as natural monopolies</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or oligopolies, seeking to regulate their power instead.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Traditionally</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states </a:t>
            </a:r>
            <a:r>
              <a:rPr lang="en-US" dirty="0">
                <a:solidFill>
                  <a:srgbClr val="002060"/>
                </a:solidFill>
                <a:effectLst>
                  <a:outerShdw blurRad="38100" dist="38100" dir="2700000" algn="tl">
                    <a:srgbClr val="000000">
                      <a:alpha val="43137"/>
                    </a:srgbClr>
                  </a:outerShdw>
                </a:effectLst>
              </a:rPr>
              <a:t>regulated natural monopolies through public utility regulations and common carrier duties. Industries that historically have been regulated as utilities include commodities (water, electric power, gas), transportation (railroads, ferries), and communications (telegraphy, telephones) </a:t>
            </a:r>
          </a:p>
        </p:txBody>
      </p:sp>
    </p:spTree>
    <p:extLst>
      <p:ext uri="{BB962C8B-B14F-4D97-AF65-F5344CB8AC3E}">
        <p14:creationId xmlns:p14="http://schemas.microsoft.com/office/powerpoint/2010/main" val="1539042682"/>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538</TotalTime>
  <Words>5545</Words>
  <Application>Microsoft Office PowerPoint</Application>
  <PresentationFormat>Panoramiczny</PresentationFormat>
  <Paragraphs>250</Paragraphs>
  <Slides>59</Slides>
  <Notes>0</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59</vt:i4>
      </vt:variant>
    </vt:vector>
  </HeadingPairs>
  <TitlesOfParts>
    <vt:vector size="66" baseType="lpstr">
      <vt:lpstr>Aptos</vt:lpstr>
      <vt:lpstr>Aptos Display</vt:lpstr>
      <vt:lpstr>Arial</vt:lpstr>
      <vt:lpstr>Arial Black</vt:lpstr>
      <vt:lpstr>Calibri</vt:lpstr>
      <vt:lpstr>Wingdings</vt:lpstr>
      <vt:lpstr>Motyw pakietu Office</vt:lpstr>
      <vt:lpstr> The case of Amazon. The Chicago School and its influence on the interpretation of competition law</vt:lpstr>
      <vt:lpstr>AMAZON</vt:lpstr>
      <vt:lpstr>Relevance of the research problem </vt:lpstr>
      <vt:lpstr>Company profile</vt:lpstr>
      <vt:lpstr>Company profile</vt:lpstr>
      <vt:lpstr>The Chicago school of competition and its impact on the interpretation of competition law</vt:lpstr>
      <vt:lpstr>The Chicago school…</vt:lpstr>
      <vt:lpstr>The Chicago school…</vt:lpstr>
      <vt:lpstr>The Chicago school…</vt:lpstr>
      <vt:lpstr>THE CHICAGO SCHOOL REVOLUTION</vt:lpstr>
      <vt:lpstr>THE CHICAGO SCHOOL REVOLUTION</vt:lpstr>
      <vt:lpstr>THE CHICAGO SCHOOL REVOLUTION</vt:lpstr>
      <vt:lpstr>THE CHICAGO SCHOOL REVOLUTION</vt:lpstr>
      <vt:lpstr>THE CHICAGO SCHOOL REVOLUTION</vt:lpstr>
      <vt:lpstr>THE CHICAGO SCHOOL REVOLUTION</vt:lpstr>
      <vt:lpstr>THE CHICAGO SCHOOL REVOLUTION</vt:lpstr>
      <vt:lpstr>AMAZON’S BUSINESS STRATEGY</vt:lpstr>
      <vt:lpstr>AMAZON’S BUSINESS STRATEGY</vt:lpstr>
      <vt:lpstr>Foregoing Short- Term Returns for Long- Term Dominance</vt:lpstr>
      <vt:lpstr>Foregoing Short- Term Returns for Long- Term Dominance</vt:lpstr>
      <vt:lpstr>Foregoing Short- Term Returns for Long- Term Dominance</vt:lpstr>
      <vt:lpstr>Foregoing Short- Term Returns for Long- Term Dominance</vt:lpstr>
      <vt:lpstr>Foregoing Short- Term Returns for Long- Term Dominance</vt:lpstr>
      <vt:lpstr>Foregoing Short- Term Returns for Long- Term Dominance</vt:lpstr>
      <vt:lpstr>Foregoing Short- Term Returns for Long- Term Dominance</vt:lpstr>
      <vt:lpstr>Foregoing Short- Term Returns for Long- Term Dominance</vt:lpstr>
      <vt:lpstr>Foregoing Short- Term Returns for Long- Term Dominance</vt:lpstr>
      <vt:lpstr>Foregoing Short- Term Returns for Long- Term Dominance</vt:lpstr>
      <vt:lpstr> ESTABLISHING STRUCTURAL DOMINANCE </vt:lpstr>
      <vt:lpstr> ESTABLISHING STRUCTURAL DOMINANCE </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Discriminatory Pricing and Fees</vt:lpstr>
      <vt:lpstr>ESTABLISHING STRUCTURAL DOMINANCE Delivery and Leveraging Dominance across Sectors</vt:lpstr>
      <vt:lpstr>ESTABLISHING STRUCTURAL DOMINANCE Delivery and Leveraging Dominance across Sectors</vt:lpstr>
      <vt:lpstr>ESTABLISHING STRUCTURAL DOMINANCE Delivery and Leveraging Dominance across Sectors</vt:lpstr>
      <vt:lpstr>ESTABLISHING STRUCTURAL DOMINANCE Delivery and Leveraging Dominance across Sectors</vt:lpstr>
      <vt:lpstr>ESTABLISHING STRUCTURAL DOMINANCE Delivery and Leveraging Dominance across Sectors</vt:lpstr>
      <vt:lpstr>ESTABLISHING STRUCTURAL DOMINANCE Delivery and Leveraging Dominance across Sectors</vt:lpstr>
      <vt:lpstr>ESTABLISHING STRUCTURAL DOMINANCE Delivery and Leveraging Dominance across Sectors</vt:lpstr>
      <vt:lpstr>ESTABLISHING STRUCTURAL DOMINANCE Delivery and Leveraging Dominance across Sectors</vt:lpstr>
      <vt:lpstr>ESTABLISHING STRUCTURAL DOMINANCE Delivery and Leveraging Dominance across Sectors</vt:lpstr>
      <vt:lpstr>Marketplace and Exploiting Data</vt:lpstr>
      <vt:lpstr>Marketplace and Exploiting Data</vt:lpstr>
      <vt:lpstr>Marketplace and Exploiting Data</vt:lpstr>
      <vt:lpstr>Marketplace and Exploiting Data</vt:lpstr>
      <vt:lpstr>TWO MODELS FOR ADDRESSING PLATFORM POWER</vt:lpstr>
      <vt:lpstr>TWO MODELS FOR ADDRESSING PLATFORM POWER</vt:lpstr>
      <vt:lpstr>TWO MODELS FOR ADDRESSING PLATFORM POWER</vt:lpstr>
      <vt:lpstr>TWO MODELS FOR ADDRESSING PLATFORM POWER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Waldemar Hoff</dc:creator>
  <cp:lastModifiedBy>Waldemar Hoff</cp:lastModifiedBy>
  <cp:revision>1</cp:revision>
  <dcterms:created xsi:type="dcterms:W3CDTF">2025-11-15T19:40:00Z</dcterms:created>
  <dcterms:modified xsi:type="dcterms:W3CDTF">2025-12-02T07:37:49Z</dcterms:modified>
</cp:coreProperties>
</file>