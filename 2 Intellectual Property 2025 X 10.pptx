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9" r:id="rId7"/>
    <p:sldId id="321" r:id="rId8"/>
    <p:sldId id="325" r:id="rId9"/>
    <p:sldId id="263" r:id="rId10"/>
    <p:sldId id="399" r:id="rId11"/>
    <p:sldId id="398" r:id="rId12"/>
    <p:sldId id="262" r:id="rId13"/>
    <p:sldId id="261" r:id="rId14"/>
    <p:sldId id="260" r:id="rId15"/>
    <p:sldId id="266" r:id="rId16"/>
    <p:sldId id="264" r:id="rId17"/>
    <p:sldId id="267" r:id="rId18"/>
    <p:sldId id="265" r:id="rId19"/>
    <p:sldId id="268" r:id="rId20"/>
    <p:sldId id="269" r:id="rId21"/>
    <p:sldId id="270" r:id="rId22"/>
    <p:sldId id="276" r:id="rId23"/>
    <p:sldId id="306" r:id="rId24"/>
    <p:sldId id="274" r:id="rId25"/>
    <p:sldId id="322" r:id="rId26"/>
    <p:sldId id="273" r:id="rId27"/>
    <p:sldId id="272" r:id="rId28"/>
    <p:sldId id="271" r:id="rId29"/>
    <p:sldId id="279" r:id="rId30"/>
    <p:sldId id="280" r:id="rId31"/>
    <p:sldId id="278" r:id="rId32"/>
    <p:sldId id="277" r:id="rId33"/>
    <p:sldId id="282" r:id="rId34"/>
    <p:sldId id="283" r:id="rId35"/>
    <p:sldId id="281" r:id="rId36"/>
    <p:sldId id="284" r:id="rId37"/>
    <p:sldId id="285" r:id="rId38"/>
    <p:sldId id="286" r:id="rId39"/>
    <p:sldId id="290" r:id="rId40"/>
    <p:sldId id="289" r:id="rId41"/>
    <p:sldId id="288" r:id="rId42"/>
    <p:sldId id="293" r:id="rId43"/>
    <p:sldId id="294" r:id="rId44"/>
    <p:sldId id="292" r:id="rId45"/>
    <p:sldId id="326" r:id="rId46"/>
    <p:sldId id="295" r:id="rId47"/>
    <p:sldId id="296" r:id="rId48"/>
    <p:sldId id="297" r:id="rId49"/>
    <p:sldId id="298" r:id="rId50"/>
    <p:sldId id="301" r:id="rId51"/>
    <p:sldId id="299" r:id="rId52"/>
    <p:sldId id="300" r:id="rId53"/>
    <p:sldId id="302" r:id="rId54"/>
    <p:sldId id="303" r:id="rId55"/>
    <p:sldId id="305" r:id="rId56"/>
    <p:sldId id="323" r:id="rId57"/>
    <p:sldId id="324" r:id="rId58"/>
    <p:sldId id="304" r:id="rId59"/>
    <p:sldId id="308" r:id="rId60"/>
    <p:sldId id="307" r:id="rId61"/>
    <p:sldId id="389" r:id="rId62"/>
    <p:sldId id="312" r:id="rId63"/>
    <p:sldId id="311" r:id="rId64"/>
    <p:sldId id="319" r:id="rId65"/>
    <p:sldId id="313" r:id="rId66"/>
    <p:sldId id="310" r:id="rId67"/>
    <p:sldId id="309" r:id="rId68"/>
    <p:sldId id="392" r:id="rId69"/>
    <p:sldId id="393" r:id="rId70"/>
    <p:sldId id="390" r:id="rId71"/>
    <p:sldId id="391" r:id="rId72"/>
    <p:sldId id="314" r:id="rId73"/>
    <p:sldId id="315" r:id="rId74"/>
    <p:sldId id="316" r:id="rId75"/>
    <p:sldId id="317" r:id="rId76"/>
    <p:sldId id="397" r:id="rId77"/>
    <p:sldId id="318" r:id="rId78"/>
    <p:sldId id="327" r:id="rId79"/>
    <p:sldId id="338" r:id="rId80"/>
    <p:sldId id="337" r:id="rId81"/>
    <p:sldId id="336" r:id="rId82"/>
    <p:sldId id="335" r:id="rId83"/>
    <p:sldId id="334" r:id="rId84"/>
    <p:sldId id="333" r:id="rId85"/>
    <p:sldId id="332" r:id="rId86"/>
    <p:sldId id="331" r:id="rId87"/>
    <p:sldId id="329" r:id="rId88"/>
    <p:sldId id="328" r:id="rId89"/>
    <p:sldId id="339" r:id="rId90"/>
    <p:sldId id="349" r:id="rId91"/>
    <p:sldId id="348" r:id="rId92"/>
    <p:sldId id="347" r:id="rId93"/>
    <p:sldId id="394" r:id="rId94"/>
    <p:sldId id="346" r:id="rId95"/>
    <p:sldId id="345" r:id="rId96"/>
    <p:sldId id="344" r:id="rId97"/>
    <p:sldId id="343" r:id="rId98"/>
    <p:sldId id="342" r:id="rId99"/>
    <p:sldId id="341" r:id="rId100"/>
    <p:sldId id="340" r:id="rId101"/>
    <p:sldId id="350" r:id="rId102"/>
    <p:sldId id="354" r:id="rId103"/>
    <p:sldId id="353" r:id="rId104"/>
    <p:sldId id="352" r:id="rId105"/>
    <p:sldId id="356" r:id="rId106"/>
    <p:sldId id="357" r:id="rId107"/>
    <p:sldId id="364" r:id="rId108"/>
    <p:sldId id="363" r:id="rId109"/>
    <p:sldId id="362" r:id="rId110"/>
    <p:sldId id="361" r:id="rId111"/>
    <p:sldId id="360" r:id="rId112"/>
    <p:sldId id="359" r:id="rId113"/>
    <p:sldId id="358" r:id="rId114"/>
    <p:sldId id="355" r:id="rId115"/>
    <p:sldId id="365" r:id="rId116"/>
    <p:sldId id="370" r:id="rId117"/>
    <p:sldId id="369" r:id="rId118"/>
    <p:sldId id="368" r:id="rId119"/>
    <p:sldId id="367" r:id="rId120"/>
    <p:sldId id="366" r:id="rId121"/>
    <p:sldId id="371" r:id="rId122"/>
    <p:sldId id="372" r:id="rId123"/>
    <p:sldId id="373" r:id="rId124"/>
    <p:sldId id="377" r:id="rId125"/>
    <p:sldId id="378" r:id="rId126"/>
    <p:sldId id="376" r:id="rId127"/>
    <p:sldId id="375" r:id="rId128"/>
    <p:sldId id="374" r:id="rId129"/>
    <p:sldId id="379" r:id="rId130"/>
    <p:sldId id="381" r:id="rId131"/>
    <p:sldId id="382" r:id="rId132"/>
    <p:sldId id="380" r:id="rId133"/>
    <p:sldId id="396" r:id="rId134"/>
    <p:sldId id="385" r:id="rId135"/>
    <p:sldId id="395" r:id="rId136"/>
    <p:sldId id="383" r:id="rId137"/>
    <p:sldId id="384" r:id="rId138"/>
    <p:sldId id="386" r:id="rId139"/>
    <p:sldId id="387" r:id="rId140"/>
    <p:sldId id="388" r:id="rId141"/>
  </p:sldIdLst>
  <p:sldSz cx="9144000" cy="6858000" type="screen4x3"/>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90E2F1-5FF0-41B9-8C5A-215DAA9C6375}" v="18" dt="2025-10-10T05:34:38.9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presProps" Target="presProp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 Lan Vu" userId="S::52547@kozminski.edu.pl::81a20242-7de9-476d-8093-5a689913bd6c" providerId="AD" clId="Web-{26CFFFDF-DCAA-45D5-8631-75544ADFA3C1}"/>
    <pc:docChg chg="modSld">
      <pc:chgData name="Mi Lan Vu" userId="S::52547@kozminski.edu.pl::81a20242-7de9-476d-8093-5a689913bd6c" providerId="AD" clId="Web-{26CFFFDF-DCAA-45D5-8631-75544ADFA3C1}" dt="2024-12-10T10:10:40.509" v="2" actId="20577"/>
      <pc:docMkLst>
        <pc:docMk/>
      </pc:docMkLst>
      <pc:sldChg chg="modSp">
        <pc:chgData name="Mi Lan Vu" userId="S::52547@kozminski.edu.pl::81a20242-7de9-476d-8093-5a689913bd6c" providerId="AD" clId="Web-{26CFFFDF-DCAA-45D5-8631-75544ADFA3C1}" dt="2024-12-10T09:42:47.348" v="0" actId="20577"/>
        <pc:sldMkLst>
          <pc:docMk/>
          <pc:sldMk cId="0" sldId="271"/>
        </pc:sldMkLst>
      </pc:sldChg>
      <pc:sldChg chg="modSp">
        <pc:chgData name="Mi Lan Vu" userId="S::52547@kozminski.edu.pl::81a20242-7de9-476d-8093-5a689913bd6c" providerId="AD" clId="Web-{26CFFFDF-DCAA-45D5-8631-75544ADFA3C1}" dt="2024-12-10T10:10:40.509" v="2" actId="20577"/>
        <pc:sldMkLst>
          <pc:docMk/>
          <pc:sldMk cId="0" sldId="285"/>
        </pc:sldMkLst>
      </pc:sldChg>
    </pc:docChg>
  </pc:docChgLst>
  <pc:docChgLst>
    <pc:chgData name="Mi Lan Vu" userId="S::52547@kozminski.edu.pl::81a20242-7de9-476d-8093-5a689913bd6c" providerId="AD" clId="Web-{CE01C085-91B0-4B5E-9007-7B9A4C448F05}"/>
    <pc:docChg chg="modSld">
      <pc:chgData name="Mi Lan Vu" userId="S::52547@kozminski.edu.pl::81a20242-7de9-476d-8093-5a689913bd6c" providerId="AD" clId="Web-{CE01C085-91B0-4B5E-9007-7B9A4C448F05}" dt="2024-12-11T09:46:46.974" v="0" actId="20577"/>
      <pc:docMkLst>
        <pc:docMk/>
      </pc:docMkLst>
      <pc:sldChg chg="modSp">
        <pc:chgData name="Mi Lan Vu" userId="S::52547@kozminski.edu.pl::81a20242-7de9-476d-8093-5a689913bd6c" providerId="AD" clId="Web-{CE01C085-91B0-4B5E-9007-7B9A4C448F05}" dt="2024-12-11T09:46:46.974" v="0" actId="20577"/>
        <pc:sldMkLst>
          <pc:docMk/>
          <pc:sldMk cId="465986851" sldId="392"/>
        </pc:sldMkLst>
      </pc:sldChg>
    </pc:docChg>
  </pc:docChgLst>
  <pc:docChgLst>
    <pc:chgData name="Waldemar Hoff" userId="bacb8968-6b42-45e3-b232-453b0d6bde59" providerId="ADAL" clId="{F8C1E58B-402C-4ED2-AD69-E062B24CC05A}"/>
    <pc:docChg chg="undo custSel delSld modSld">
      <pc:chgData name="Waldemar Hoff" userId="bacb8968-6b42-45e3-b232-453b0d6bde59" providerId="ADAL" clId="{F8C1E58B-402C-4ED2-AD69-E062B24CC05A}" dt="2025-10-10T05:39:10.158" v="1101" actId="20577"/>
      <pc:docMkLst>
        <pc:docMk/>
      </pc:docMkLst>
      <pc:sldChg chg="modSp mod">
        <pc:chgData name="Waldemar Hoff" userId="bacb8968-6b42-45e3-b232-453b0d6bde59" providerId="ADAL" clId="{F8C1E58B-402C-4ED2-AD69-E062B24CC05A}" dt="2025-10-10T04:46:41.020" v="31" actId="255"/>
        <pc:sldMkLst>
          <pc:docMk/>
          <pc:sldMk cId="0" sldId="260"/>
        </pc:sldMkLst>
        <pc:spChg chg="mod">
          <ac:chgData name="Waldemar Hoff" userId="bacb8968-6b42-45e3-b232-453b0d6bde59" providerId="ADAL" clId="{F8C1E58B-402C-4ED2-AD69-E062B24CC05A}" dt="2025-10-10T04:46:41.020" v="31" actId="255"/>
          <ac:spMkLst>
            <pc:docMk/>
            <pc:sldMk cId="0" sldId="260"/>
            <ac:spMk id="3" creationId="{00000000-0000-0000-0000-000000000000}"/>
          </ac:spMkLst>
        </pc:spChg>
      </pc:sldChg>
      <pc:sldChg chg="modSp mod">
        <pc:chgData name="Waldemar Hoff" userId="bacb8968-6b42-45e3-b232-453b0d6bde59" providerId="ADAL" clId="{F8C1E58B-402C-4ED2-AD69-E062B24CC05A}" dt="2025-10-10T04:48:08.159" v="43" actId="20577"/>
        <pc:sldMkLst>
          <pc:docMk/>
          <pc:sldMk cId="0" sldId="264"/>
        </pc:sldMkLst>
        <pc:spChg chg="mod">
          <ac:chgData name="Waldemar Hoff" userId="bacb8968-6b42-45e3-b232-453b0d6bde59" providerId="ADAL" clId="{F8C1E58B-402C-4ED2-AD69-E062B24CC05A}" dt="2025-10-10T04:48:08.159" v="43" actId="20577"/>
          <ac:spMkLst>
            <pc:docMk/>
            <pc:sldMk cId="0" sldId="264"/>
            <ac:spMk id="3" creationId="{00000000-0000-0000-0000-000000000000}"/>
          </ac:spMkLst>
        </pc:spChg>
      </pc:sldChg>
      <pc:sldChg chg="modSp mod">
        <pc:chgData name="Waldemar Hoff" userId="bacb8968-6b42-45e3-b232-453b0d6bde59" providerId="ADAL" clId="{F8C1E58B-402C-4ED2-AD69-E062B24CC05A}" dt="2025-10-10T04:52:07.511" v="113" actId="20577"/>
        <pc:sldMkLst>
          <pc:docMk/>
          <pc:sldMk cId="0" sldId="265"/>
        </pc:sldMkLst>
        <pc:spChg chg="mod">
          <ac:chgData name="Waldemar Hoff" userId="bacb8968-6b42-45e3-b232-453b0d6bde59" providerId="ADAL" clId="{F8C1E58B-402C-4ED2-AD69-E062B24CC05A}" dt="2025-10-10T04:52:07.511" v="113" actId="20577"/>
          <ac:spMkLst>
            <pc:docMk/>
            <pc:sldMk cId="0" sldId="265"/>
            <ac:spMk id="2" creationId="{00000000-0000-0000-0000-000000000000}"/>
          </ac:spMkLst>
        </pc:spChg>
        <pc:spChg chg="mod">
          <ac:chgData name="Waldemar Hoff" userId="bacb8968-6b42-45e3-b232-453b0d6bde59" providerId="ADAL" clId="{F8C1E58B-402C-4ED2-AD69-E062B24CC05A}" dt="2025-10-10T04:51:54.790" v="89" actId="207"/>
          <ac:spMkLst>
            <pc:docMk/>
            <pc:sldMk cId="0" sldId="265"/>
            <ac:spMk id="3" creationId="{00000000-0000-0000-0000-000000000000}"/>
          </ac:spMkLst>
        </pc:spChg>
      </pc:sldChg>
      <pc:sldChg chg="modSp mod">
        <pc:chgData name="Waldemar Hoff" userId="bacb8968-6b42-45e3-b232-453b0d6bde59" providerId="ADAL" clId="{F8C1E58B-402C-4ED2-AD69-E062B24CC05A}" dt="2025-10-10T04:47:43.681" v="42" actId="207"/>
        <pc:sldMkLst>
          <pc:docMk/>
          <pc:sldMk cId="0" sldId="266"/>
        </pc:sldMkLst>
        <pc:spChg chg="mod">
          <ac:chgData name="Waldemar Hoff" userId="bacb8968-6b42-45e3-b232-453b0d6bde59" providerId="ADAL" clId="{F8C1E58B-402C-4ED2-AD69-E062B24CC05A}" dt="2025-10-10T04:47:43.681" v="42" actId="207"/>
          <ac:spMkLst>
            <pc:docMk/>
            <pc:sldMk cId="0" sldId="266"/>
            <ac:spMk id="3" creationId="{00000000-0000-0000-0000-000000000000}"/>
          </ac:spMkLst>
        </pc:spChg>
      </pc:sldChg>
      <pc:sldChg chg="modSp mod">
        <pc:chgData name="Waldemar Hoff" userId="bacb8968-6b42-45e3-b232-453b0d6bde59" providerId="ADAL" clId="{F8C1E58B-402C-4ED2-AD69-E062B24CC05A}" dt="2025-10-10T04:49:57.349" v="57" actId="207"/>
        <pc:sldMkLst>
          <pc:docMk/>
          <pc:sldMk cId="0" sldId="267"/>
        </pc:sldMkLst>
        <pc:spChg chg="mod">
          <ac:chgData name="Waldemar Hoff" userId="bacb8968-6b42-45e3-b232-453b0d6bde59" providerId="ADAL" clId="{F8C1E58B-402C-4ED2-AD69-E062B24CC05A}" dt="2025-10-10T04:49:57.349" v="57" actId="207"/>
          <ac:spMkLst>
            <pc:docMk/>
            <pc:sldMk cId="0" sldId="267"/>
            <ac:spMk id="3" creationId="{00000000-0000-0000-0000-000000000000}"/>
          </ac:spMkLst>
        </pc:spChg>
      </pc:sldChg>
      <pc:sldChg chg="modSp mod">
        <pc:chgData name="Waldemar Hoff" userId="bacb8968-6b42-45e3-b232-453b0d6bde59" providerId="ADAL" clId="{F8C1E58B-402C-4ED2-AD69-E062B24CC05A}" dt="2025-10-10T04:53:47.981" v="181" actId="20577"/>
        <pc:sldMkLst>
          <pc:docMk/>
          <pc:sldMk cId="0" sldId="268"/>
        </pc:sldMkLst>
        <pc:spChg chg="mod">
          <ac:chgData name="Waldemar Hoff" userId="bacb8968-6b42-45e3-b232-453b0d6bde59" providerId="ADAL" clId="{F8C1E58B-402C-4ED2-AD69-E062B24CC05A}" dt="2025-10-10T04:52:25.087" v="114" actId="207"/>
          <ac:spMkLst>
            <pc:docMk/>
            <pc:sldMk cId="0" sldId="268"/>
            <ac:spMk id="2" creationId="{00000000-0000-0000-0000-000000000000}"/>
          </ac:spMkLst>
        </pc:spChg>
        <pc:spChg chg="mod">
          <ac:chgData name="Waldemar Hoff" userId="bacb8968-6b42-45e3-b232-453b0d6bde59" providerId="ADAL" clId="{F8C1E58B-402C-4ED2-AD69-E062B24CC05A}" dt="2025-10-10T04:53:47.981" v="181" actId="20577"/>
          <ac:spMkLst>
            <pc:docMk/>
            <pc:sldMk cId="0" sldId="268"/>
            <ac:spMk id="3" creationId="{00000000-0000-0000-0000-000000000000}"/>
          </ac:spMkLst>
        </pc:spChg>
      </pc:sldChg>
      <pc:sldChg chg="modSp mod">
        <pc:chgData name="Waldemar Hoff" userId="bacb8968-6b42-45e3-b232-453b0d6bde59" providerId="ADAL" clId="{F8C1E58B-402C-4ED2-AD69-E062B24CC05A}" dt="2025-10-10T04:54:20.947" v="209" actId="20577"/>
        <pc:sldMkLst>
          <pc:docMk/>
          <pc:sldMk cId="0" sldId="269"/>
        </pc:sldMkLst>
        <pc:spChg chg="mod">
          <ac:chgData name="Waldemar Hoff" userId="bacb8968-6b42-45e3-b232-453b0d6bde59" providerId="ADAL" clId="{F8C1E58B-402C-4ED2-AD69-E062B24CC05A}" dt="2025-10-10T04:54:20.947" v="209" actId="20577"/>
          <ac:spMkLst>
            <pc:docMk/>
            <pc:sldMk cId="0" sldId="269"/>
            <ac:spMk id="3" creationId="{00000000-0000-0000-0000-000000000000}"/>
          </ac:spMkLst>
        </pc:spChg>
      </pc:sldChg>
      <pc:sldChg chg="modSp mod">
        <pc:chgData name="Waldemar Hoff" userId="bacb8968-6b42-45e3-b232-453b0d6bde59" providerId="ADAL" clId="{F8C1E58B-402C-4ED2-AD69-E062B24CC05A}" dt="2025-10-10T05:08:47.141" v="459" actId="207"/>
        <pc:sldMkLst>
          <pc:docMk/>
          <pc:sldMk cId="0" sldId="271"/>
        </pc:sldMkLst>
        <pc:spChg chg="mod">
          <ac:chgData name="Waldemar Hoff" userId="bacb8968-6b42-45e3-b232-453b0d6bde59" providerId="ADAL" clId="{F8C1E58B-402C-4ED2-AD69-E062B24CC05A}" dt="2025-10-10T05:08:47.141" v="459" actId="207"/>
          <ac:spMkLst>
            <pc:docMk/>
            <pc:sldMk cId="0" sldId="271"/>
            <ac:spMk id="3" creationId="{00000000-0000-0000-0000-000000000000}"/>
          </ac:spMkLst>
        </pc:spChg>
      </pc:sldChg>
      <pc:sldChg chg="modSp mod">
        <pc:chgData name="Waldemar Hoff" userId="bacb8968-6b42-45e3-b232-453b0d6bde59" providerId="ADAL" clId="{F8C1E58B-402C-4ED2-AD69-E062B24CC05A}" dt="2025-10-10T05:05:45.844" v="384" actId="13926"/>
        <pc:sldMkLst>
          <pc:docMk/>
          <pc:sldMk cId="0" sldId="272"/>
        </pc:sldMkLst>
        <pc:spChg chg="mod">
          <ac:chgData name="Waldemar Hoff" userId="bacb8968-6b42-45e3-b232-453b0d6bde59" providerId="ADAL" clId="{F8C1E58B-402C-4ED2-AD69-E062B24CC05A}" dt="2025-10-10T05:05:01.331" v="382"/>
          <ac:spMkLst>
            <pc:docMk/>
            <pc:sldMk cId="0" sldId="272"/>
            <ac:spMk id="2" creationId="{00000000-0000-0000-0000-000000000000}"/>
          </ac:spMkLst>
        </pc:spChg>
        <pc:spChg chg="mod">
          <ac:chgData name="Waldemar Hoff" userId="bacb8968-6b42-45e3-b232-453b0d6bde59" providerId="ADAL" clId="{F8C1E58B-402C-4ED2-AD69-E062B24CC05A}" dt="2025-10-10T05:05:45.844" v="384" actId="13926"/>
          <ac:spMkLst>
            <pc:docMk/>
            <pc:sldMk cId="0" sldId="272"/>
            <ac:spMk id="3" creationId="{00000000-0000-0000-0000-000000000000}"/>
          </ac:spMkLst>
        </pc:spChg>
      </pc:sldChg>
      <pc:sldChg chg="modSp mod">
        <pc:chgData name="Waldemar Hoff" userId="bacb8968-6b42-45e3-b232-453b0d6bde59" providerId="ADAL" clId="{F8C1E58B-402C-4ED2-AD69-E062B24CC05A}" dt="2025-10-10T05:06:06.991" v="386" actId="207"/>
        <pc:sldMkLst>
          <pc:docMk/>
          <pc:sldMk cId="0" sldId="273"/>
        </pc:sldMkLst>
        <pc:spChg chg="mod">
          <ac:chgData name="Waldemar Hoff" userId="bacb8968-6b42-45e3-b232-453b0d6bde59" providerId="ADAL" clId="{F8C1E58B-402C-4ED2-AD69-E062B24CC05A}" dt="2025-10-10T05:01:20.224" v="292" actId="113"/>
          <ac:spMkLst>
            <pc:docMk/>
            <pc:sldMk cId="0" sldId="273"/>
            <ac:spMk id="2" creationId="{00000000-0000-0000-0000-000000000000}"/>
          </ac:spMkLst>
        </pc:spChg>
        <pc:spChg chg="mod">
          <ac:chgData name="Waldemar Hoff" userId="bacb8968-6b42-45e3-b232-453b0d6bde59" providerId="ADAL" clId="{F8C1E58B-402C-4ED2-AD69-E062B24CC05A}" dt="2025-10-10T05:06:06.991" v="386" actId="207"/>
          <ac:spMkLst>
            <pc:docMk/>
            <pc:sldMk cId="0" sldId="273"/>
            <ac:spMk id="3" creationId="{00000000-0000-0000-0000-000000000000}"/>
          </ac:spMkLst>
        </pc:spChg>
      </pc:sldChg>
      <pc:sldChg chg="modSp mod">
        <pc:chgData name="Waldemar Hoff" userId="bacb8968-6b42-45e3-b232-453b0d6bde59" providerId="ADAL" clId="{F8C1E58B-402C-4ED2-AD69-E062B24CC05A}" dt="2025-10-10T05:00:02.239" v="260" actId="13926"/>
        <pc:sldMkLst>
          <pc:docMk/>
          <pc:sldMk cId="0" sldId="274"/>
        </pc:sldMkLst>
        <pc:spChg chg="mod">
          <ac:chgData name="Waldemar Hoff" userId="bacb8968-6b42-45e3-b232-453b0d6bde59" providerId="ADAL" clId="{F8C1E58B-402C-4ED2-AD69-E062B24CC05A}" dt="2025-10-10T05:00:02.239" v="260" actId="13926"/>
          <ac:spMkLst>
            <pc:docMk/>
            <pc:sldMk cId="0" sldId="274"/>
            <ac:spMk id="2" creationId="{00000000-0000-0000-0000-000000000000}"/>
          </ac:spMkLst>
        </pc:spChg>
        <pc:spChg chg="mod">
          <ac:chgData name="Waldemar Hoff" userId="bacb8968-6b42-45e3-b232-453b0d6bde59" providerId="ADAL" clId="{F8C1E58B-402C-4ED2-AD69-E062B24CC05A}" dt="2025-10-10T04:59:53.418" v="259" actId="13926"/>
          <ac:spMkLst>
            <pc:docMk/>
            <pc:sldMk cId="0" sldId="274"/>
            <ac:spMk id="3" creationId="{00000000-0000-0000-0000-000000000000}"/>
          </ac:spMkLst>
        </pc:spChg>
      </pc:sldChg>
      <pc:sldChg chg="modSp del mod">
        <pc:chgData name="Waldemar Hoff" userId="bacb8968-6b42-45e3-b232-453b0d6bde59" providerId="ADAL" clId="{F8C1E58B-402C-4ED2-AD69-E062B24CC05A}" dt="2025-10-10T04:59:03.848" v="256" actId="2696"/>
        <pc:sldMkLst>
          <pc:docMk/>
          <pc:sldMk cId="0" sldId="275"/>
        </pc:sldMkLst>
        <pc:spChg chg="mod">
          <ac:chgData name="Waldemar Hoff" userId="bacb8968-6b42-45e3-b232-453b0d6bde59" providerId="ADAL" clId="{F8C1E58B-402C-4ED2-AD69-E062B24CC05A}" dt="2025-10-10T04:58:13.320" v="255" actId="207"/>
          <ac:spMkLst>
            <pc:docMk/>
            <pc:sldMk cId="0" sldId="275"/>
            <ac:spMk id="2" creationId="{00000000-0000-0000-0000-000000000000}"/>
          </ac:spMkLst>
        </pc:spChg>
      </pc:sldChg>
      <pc:sldChg chg="modSp mod">
        <pc:chgData name="Waldemar Hoff" userId="bacb8968-6b42-45e3-b232-453b0d6bde59" providerId="ADAL" clId="{F8C1E58B-402C-4ED2-AD69-E062B24CC05A}" dt="2025-10-10T04:57:56.624" v="254" actId="207"/>
        <pc:sldMkLst>
          <pc:docMk/>
          <pc:sldMk cId="0" sldId="276"/>
        </pc:sldMkLst>
        <pc:spChg chg="mod">
          <ac:chgData name="Waldemar Hoff" userId="bacb8968-6b42-45e3-b232-453b0d6bde59" providerId="ADAL" clId="{F8C1E58B-402C-4ED2-AD69-E062B24CC05A}" dt="2025-10-10T04:57:56.624" v="254" actId="207"/>
          <ac:spMkLst>
            <pc:docMk/>
            <pc:sldMk cId="0" sldId="276"/>
            <ac:spMk id="3" creationId="{00000000-0000-0000-0000-000000000000}"/>
          </ac:spMkLst>
        </pc:spChg>
      </pc:sldChg>
      <pc:sldChg chg="modSp mod">
        <pc:chgData name="Waldemar Hoff" userId="bacb8968-6b42-45e3-b232-453b0d6bde59" providerId="ADAL" clId="{F8C1E58B-402C-4ED2-AD69-E062B24CC05A}" dt="2025-10-10T05:14:59.856" v="616"/>
        <pc:sldMkLst>
          <pc:docMk/>
          <pc:sldMk cId="0" sldId="277"/>
        </pc:sldMkLst>
        <pc:spChg chg="mod">
          <ac:chgData name="Waldemar Hoff" userId="bacb8968-6b42-45e3-b232-453b0d6bde59" providerId="ADAL" clId="{F8C1E58B-402C-4ED2-AD69-E062B24CC05A}" dt="2025-10-10T05:12:22.895" v="547" actId="13926"/>
          <ac:spMkLst>
            <pc:docMk/>
            <pc:sldMk cId="0" sldId="277"/>
            <ac:spMk id="2" creationId="{00000000-0000-0000-0000-000000000000}"/>
          </ac:spMkLst>
        </pc:spChg>
        <pc:spChg chg="mod">
          <ac:chgData name="Waldemar Hoff" userId="bacb8968-6b42-45e3-b232-453b0d6bde59" providerId="ADAL" clId="{F8C1E58B-402C-4ED2-AD69-E062B24CC05A}" dt="2025-10-10T05:14:59.856" v="616"/>
          <ac:spMkLst>
            <pc:docMk/>
            <pc:sldMk cId="0" sldId="277"/>
            <ac:spMk id="3" creationId="{00000000-0000-0000-0000-000000000000}"/>
          </ac:spMkLst>
        </pc:spChg>
      </pc:sldChg>
      <pc:sldChg chg="modSp mod">
        <pc:chgData name="Waldemar Hoff" userId="bacb8968-6b42-45e3-b232-453b0d6bde59" providerId="ADAL" clId="{F8C1E58B-402C-4ED2-AD69-E062B24CC05A}" dt="2025-10-10T05:12:12.891" v="546" actId="207"/>
        <pc:sldMkLst>
          <pc:docMk/>
          <pc:sldMk cId="0" sldId="278"/>
        </pc:sldMkLst>
        <pc:spChg chg="mod">
          <ac:chgData name="Waldemar Hoff" userId="bacb8968-6b42-45e3-b232-453b0d6bde59" providerId="ADAL" clId="{F8C1E58B-402C-4ED2-AD69-E062B24CC05A}" dt="2025-10-10T05:12:12.891" v="546" actId="207"/>
          <ac:spMkLst>
            <pc:docMk/>
            <pc:sldMk cId="0" sldId="278"/>
            <ac:spMk id="3" creationId="{00000000-0000-0000-0000-000000000000}"/>
          </ac:spMkLst>
        </pc:spChg>
      </pc:sldChg>
      <pc:sldChg chg="modSp mod">
        <pc:chgData name="Waldemar Hoff" userId="bacb8968-6b42-45e3-b232-453b0d6bde59" providerId="ADAL" clId="{F8C1E58B-402C-4ED2-AD69-E062B24CC05A}" dt="2025-10-10T05:09:05.433" v="460" actId="207"/>
        <pc:sldMkLst>
          <pc:docMk/>
          <pc:sldMk cId="0" sldId="279"/>
        </pc:sldMkLst>
        <pc:spChg chg="mod">
          <ac:chgData name="Waldemar Hoff" userId="bacb8968-6b42-45e3-b232-453b0d6bde59" providerId="ADAL" clId="{F8C1E58B-402C-4ED2-AD69-E062B24CC05A}" dt="2025-10-10T05:09:05.433" v="460" actId="207"/>
          <ac:spMkLst>
            <pc:docMk/>
            <pc:sldMk cId="0" sldId="279"/>
            <ac:spMk id="3" creationId="{00000000-0000-0000-0000-000000000000}"/>
          </ac:spMkLst>
        </pc:spChg>
      </pc:sldChg>
      <pc:sldChg chg="modSp mod">
        <pc:chgData name="Waldemar Hoff" userId="bacb8968-6b42-45e3-b232-453b0d6bde59" providerId="ADAL" clId="{F8C1E58B-402C-4ED2-AD69-E062B24CC05A}" dt="2025-10-10T05:11:44.034" v="545" actId="20577"/>
        <pc:sldMkLst>
          <pc:docMk/>
          <pc:sldMk cId="0" sldId="280"/>
        </pc:sldMkLst>
        <pc:spChg chg="mod">
          <ac:chgData name="Waldemar Hoff" userId="bacb8968-6b42-45e3-b232-453b0d6bde59" providerId="ADAL" clId="{F8C1E58B-402C-4ED2-AD69-E062B24CC05A}" dt="2025-10-10T05:11:44.034" v="545" actId="20577"/>
          <ac:spMkLst>
            <pc:docMk/>
            <pc:sldMk cId="0" sldId="280"/>
            <ac:spMk id="3" creationId="{00000000-0000-0000-0000-000000000000}"/>
          </ac:spMkLst>
        </pc:spChg>
      </pc:sldChg>
      <pc:sldChg chg="modSp mod">
        <pc:chgData name="Waldemar Hoff" userId="bacb8968-6b42-45e3-b232-453b0d6bde59" providerId="ADAL" clId="{F8C1E58B-402C-4ED2-AD69-E062B24CC05A}" dt="2025-10-10T05:18:50.548" v="679" actId="207"/>
        <pc:sldMkLst>
          <pc:docMk/>
          <pc:sldMk cId="0" sldId="281"/>
        </pc:sldMkLst>
        <pc:spChg chg="mod">
          <ac:chgData name="Waldemar Hoff" userId="bacb8968-6b42-45e3-b232-453b0d6bde59" providerId="ADAL" clId="{F8C1E58B-402C-4ED2-AD69-E062B24CC05A}" dt="2025-10-10T05:18:50.548" v="679" actId="207"/>
          <ac:spMkLst>
            <pc:docMk/>
            <pc:sldMk cId="0" sldId="281"/>
            <ac:spMk id="3" creationId="{00000000-0000-0000-0000-000000000000}"/>
          </ac:spMkLst>
        </pc:spChg>
      </pc:sldChg>
      <pc:sldChg chg="modSp mod">
        <pc:chgData name="Waldemar Hoff" userId="bacb8968-6b42-45e3-b232-453b0d6bde59" providerId="ADAL" clId="{F8C1E58B-402C-4ED2-AD69-E062B24CC05A}" dt="2025-10-10T05:16:47.520" v="659" actId="20577"/>
        <pc:sldMkLst>
          <pc:docMk/>
          <pc:sldMk cId="0" sldId="282"/>
        </pc:sldMkLst>
        <pc:spChg chg="mod">
          <ac:chgData name="Waldemar Hoff" userId="bacb8968-6b42-45e3-b232-453b0d6bde59" providerId="ADAL" clId="{F8C1E58B-402C-4ED2-AD69-E062B24CC05A}" dt="2025-10-10T05:16:47.520" v="659" actId="20577"/>
          <ac:spMkLst>
            <pc:docMk/>
            <pc:sldMk cId="0" sldId="282"/>
            <ac:spMk id="3" creationId="{00000000-0000-0000-0000-000000000000}"/>
          </ac:spMkLst>
        </pc:spChg>
      </pc:sldChg>
      <pc:sldChg chg="modSp mod">
        <pc:chgData name="Waldemar Hoff" userId="bacb8968-6b42-45e3-b232-453b0d6bde59" providerId="ADAL" clId="{F8C1E58B-402C-4ED2-AD69-E062B24CC05A}" dt="2025-10-10T05:21:42.162" v="755" actId="20577"/>
        <pc:sldMkLst>
          <pc:docMk/>
          <pc:sldMk cId="0" sldId="284"/>
        </pc:sldMkLst>
        <pc:spChg chg="mod">
          <ac:chgData name="Waldemar Hoff" userId="bacb8968-6b42-45e3-b232-453b0d6bde59" providerId="ADAL" clId="{F8C1E58B-402C-4ED2-AD69-E062B24CC05A}" dt="2025-10-10T05:21:42.162" v="755" actId="20577"/>
          <ac:spMkLst>
            <pc:docMk/>
            <pc:sldMk cId="0" sldId="284"/>
            <ac:spMk id="3" creationId="{00000000-0000-0000-0000-000000000000}"/>
          </ac:spMkLst>
        </pc:spChg>
      </pc:sldChg>
      <pc:sldChg chg="modSp mod">
        <pc:chgData name="Waldemar Hoff" userId="bacb8968-6b42-45e3-b232-453b0d6bde59" providerId="ADAL" clId="{F8C1E58B-402C-4ED2-AD69-E062B24CC05A}" dt="2025-10-10T05:23:56.723" v="807" actId="20577"/>
        <pc:sldMkLst>
          <pc:docMk/>
          <pc:sldMk cId="0" sldId="285"/>
        </pc:sldMkLst>
        <pc:spChg chg="mod">
          <ac:chgData name="Waldemar Hoff" userId="bacb8968-6b42-45e3-b232-453b0d6bde59" providerId="ADAL" clId="{F8C1E58B-402C-4ED2-AD69-E062B24CC05A}" dt="2025-10-10T05:23:56.723" v="807" actId="20577"/>
          <ac:spMkLst>
            <pc:docMk/>
            <pc:sldMk cId="0" sldId="285"/>
            <ac:spMk id="3" creationId="{00000000-0000-0000-0000-000000000000}"/>
          </ac:spMkLst>
        </pc:spChg>
      </pc:sldChg>
      <pc:sldChg chg="modSp mod">
        <pc:chgData name="Waldemar Hoff" userId="bacb8968-6b42-45e3-b232-453b0d6bde59" providerId="ADAL" clId="{F8C1E58B-402C-4ED2-AD69-E062B24CC05A}" dt="2025-10-10T05:24:27.653" v="810" actId="13926"/>
        <pc:sldMkLst>
          <pc:docMk/>
          <pc:sldMk cId="0" sldId="286"/>
        </pc:sldMkLst>
        <pc:spChg chg="mod">
          <ac:chgData name="Waldemar Hoff" userId="bacb8968-6b42-45e3-b232-453b0d6bde59" providerId="ADAL" clId="{F8C1E58B-402C-4ED2-AD69-E062B24CC05A}" dt="2025-10-10T05:24:27.653" v="810" actId="13926"/>
          <ac:spMkLst>
            <pc:docMk/>
            <pc:sldMk cId="0" sldId="286"/>
            <ac:spMk id="3" creationId="{00000000-0000-0000-0000-000000000000}"/>
          </ac:spMkLst>
        </pc:spChg>
      </pc:sldChg>
      <pc:sldChg chg="modSp mod">
        <pc:chgData name="Waldemar Hoff" userId="bacb8968-6b42-45e3-b232-453b0d6bde59" providerId="ADAL" clId="{F8C1E58B-402C-4ED2-AD69-E062B24CC05A}" dt="2025-10-10T05:26:38.327" v="823" actId="20577"/>
        <pc:sldMkLst>
          <pc:docMk/>
          <pc:sldMk cId="0" sldId="288"/>
        </pc:sldMkLst>
        <pc:spChg chg="mod">
          <ac:chgData name="Waldemar Hoff" userId="bacb8968-6b42-45e3-b232-453b0d6bde59" providerId="ADAL" clId="{F8C1E58B-402C-4ED2-AD69-E062B24CC05A}" dt="2025-10-10T05:26:38.327" v="823" actId="20577"/>
          <ac:spMkLst>
            <pc:docMk/>
            <pc:sldMk cId="0" sldId="288"/>
            <ac:spMk id="3" creationId="{00000000-0000-0000-0000-000000000000}"/>
          </ac:spMkLst>
        </pc:spChg>
      </pc:sldChg>
      <pc:sldChg chg="modSp mod">
        <pc:chgData name="Waldemar Hoff" userId="bacb8968-6b42-45e3-b232-453b0d6bde59" providerId="ADAL" clId="{F8C1E58B-402C-4ED2-AD69-E062B24CC05A}" dt="2025-10-10T05:25:48.644" v="814" actId="20577"/>
        <pc:sldMkLst>
          <pc:docMk/>
          <pc:sldMk cId="0" sldId="289"/>
        </pc:sldMkLst>
        <pc:spChg chg="mod">
          <ac:chgData name="Waldemar Hoff" userId="bacb8968-6b42-45e3-b232-453b0d6bde59" providerId="ADAL" clId="{F8C1E58B-402C-4ED2-AD69-E062B24CC05A}" dt="2025-10-10T05:25:48.644" v="814" actId="20577"/>
          <ac:spMkLst>
            <pc:docMk/>
            <pc:sldMk cId="0" sldId="289"/>
            <ac:spMk id="3" creationId="{00000000-0000-0000-0000-000000000000}"/>
          </ac:spMkLst>
        </pc:spChg>
      </pc:sldChg>
      <pc:sldChg chg="modSp mod">
        <pc:chgData name="Waldemar Hoff" userId="bacb8968-6b42-45e3-b232-453b0d6bde59" providerId="ADAL" clId="{F8C1E58B-402C-4ED2-AD69-E062B24CC05A}" dt="2025-10-10T05:25:15.719" v="812" actId="20577"/>
        <pc:sldMkLst>
          <pc:docMk/>
          <pc:sldMk cId="0" sldId="290"/>
        </pc:sldMkLst>
        <pc:spChg chg="mod">
          <ac:chgData name="Waldemar Hoff" userId="bacb8968-6b42-45e3-b232-453b0d6bde59" providerId="ADAL" clId="{F8C1E58B-402C-4ED2-AD69-E062B24CC05A}" dt="2025-10-10T05:25:15.719" v="812" actId="20577"/>
          <ac:spMkLst>
            <pc:docMk/>
            <pc:sldMk cId="0" sldId="290"/>
            <ac:spMk id="3" creationId="{00000000-0000-0000-0000-000000000000}"/>
          </ac:spMkLst>
        </pc:spChg>
      </pc:sldChg>
      <pc:sldChg chg="modSp mod">
        <pc:chgData name="Waldemar Hoff" userId="bacb8968-6b42-45e3-b232-453b0d6bde59" providerId="ADAL" clId="{F8C1E58B-402C-4ED2-AD69-E062B24CC05A}" dt="2025-10-10T05:28:22.294" v="841" actId="20577"/>
        <pc:sldMkLst>
          <pc:docMk/>
          <pc:sldMk cId="0" sldId="292"/>
        </pc:sldMkLst>
        <pc:spChg chg="mod">
          <ac:chgData name="Waldemar Hoff" userId="bacb8968-6b42-45e3-b232-453b0d6bde59" providerId="ADAL" clId="{F8C1E58B-402C-4ED2-AD69-E062B24CC05A}" dt="2025-10-10T05:28:22.294" v="841" actId="20577"/>
          <ac:spMkLst>
            <pc:docMk/>
            <pc:sldMk cId="0" sldId="292"/>
            <ac:spMk id="3" creationId="{00000000-0000-0000-0000-000000000000}"/>
          </ac:spMkLst>
        </pc:spChg>
      </pc:sldChg>
      <pc:sldChg chg="modSp mod">
        <pc:chgData name="Waldemar Hoff" userId="bacb8968-6b42-45e3-b232-453b0d6bde59" providerId="ADAL" clId="{F8C1E58B-402C-4ED2-AD69-E062B24CC05A}" dt="2025-10-10T05:27:49.826" v="835" actId="13926"/>
        <pc:sldMkLst>
          <pc:docMk/>
          <pc:sldMk cId="0" sldId="293"/>
        </pc:sldMkLst>
        <pc:spChg chg="mod">
          <ac:chgData name="Waldemar Hoff" userId="bacb8968-6b42-45e3-b232-453b0d6bde59" providerId="ADAL" clId="{F8C1E58B-402C-4ED2-AD69-E062B24CC05A}" dt="2025-10-10T05:27:49.826" v="835" actId="13926"/>
          <ac:spMkLst>
            <pc:docMk/>
            <pc:sldMk cId="0" sldId="293"/>
            <ac:spMk id="3" creationId="{00000000-0000-0000-0000-000000000000}"/>
          </ac:spMkLst>
        </pc:spChg>
      </pc:sldChg>
      <pc:sldChg chg="modSp mod">
        <pc:chgData name="Waldemar Hoff" userId="bacb8968-6b42-45e3-b232-453b0d6bde59" providerId="ADAL" clId="{F8C1E58B-402C-4ED2-AD69-E062B24CC05A}" dt="2025-10-10T05:28:01.541" v="836" actId="13926"/>
        <pc:sldMkLst>
          <pc:docMk/>
          <pc:sldMk cId="0" sldId="294"/>
        </pc:sldMkLst>
        <pc:spChg chg="mod">
          <ac:chgData name="Waldemar Hoff" userId="bacb8968-6b42-45e3-b232-453b0d6bde59" providerId="ADAL" clId="{F8C1E58B-402C-4ED2-AD69-E062B24CC05A}" dt="2025-10-10T05:28:01.541" v="836" actId="13926"/>
          <ac:spMkLst>
            <pc:docMk/>
            <pc:sldMk cId="0" sldId="294"/>
            <ac:spMk id="3" creationId="{00000000-0000-0000-0000-000000000000}"/>
          </ac:spMkLst>
        </pc:spChg>
      </pc:sldChg>
      <pc:sldChg chg="modSp mod">
        <pc:chgData name="Waldemar Hoff" userId="bacb8968-6b42-45e3-b232-453b0d6bde59" providerId="ADAL" clId="{F8C1E58B-402C-4ED2-AD69-E062B24CC05A}" dt="2025-10-10T05:33:40.037" v="980" actId="13926"/>
        <pc:sldMkLst>
          <pc:docMk/>
          <pc:sldMk cId="0" sldId="295"/>
        </pc:sldMkLst>
        <pc:spChg chg="mod">
          <ac:chgData name="Waldemar Hoff" userId="bacb8968-6b42-45e3-b232-453b0d6bde59" providerId="ADAL" clId="{F8C1E58B-402C-4ED2-AD69-E062B24CC05A}" dt="2025-10-10T05:33:40.037" v="980" actId="13926"/>
          <ac:spMkLst>
            <pc:docMk/>
            <pc:sldMk cId="0" sldId="295"/>
            <ac:spMk id="2" creationId="{00000000-0000-0000-0000-000000000000}"/>
          </ac:spMkLst>
        </pc:spChg>
      </pc:sldChg>
      <pc:sldChg chg="modSp mod">
        <pc:chgData name="Waldemar Hoff" userId="bacb8968-6b42-45e3-b232-453b0d6bde59" providerId="ADAL" clId="{F8C1E58B-402C-4ED2-AD69-E062B24CC05A}" dt="2025-10-10T05:30:09.049" v="872" actId="20577"/>
        <pc:sldMkLst>
          <pc:docMk/>
          <pc:sldMk cId="0" sldId="296"/>
        </pc:sldMkLst>
        <pc:spChg chg="mod">
          <ac:chgData name="Waldemar Hoff" userId="bacb8968-6b42-45e3-b232-453b0d6bde59" providerId="ADAL" clId="{F8C1E58B-402C-4ED2-AD69-E062B24CC05A}" dt="2025-10-10T05:30:09.049" v="872" actId="20577"/>
          <ac:spMkLst>
            <pc:docMk/>
            <pc:sldMk cId="0" sldId="296"/>
            <ac:spMk id="3" creationId="{00000000-0000-0000-0000-000000000000}"/>
          </ac:spMkLst>
        </pc:spChg>
      </pc:sldChg>
      <pc:sldChg chg="modSp mod">
        <pc:chgData name="Waldemar Hoff" userId="bacb8968-6b42-45e3-b232-453b0d6bde59" providerId="ADAL" clId="{F8C1E58B-402C-4ED2-AD69-E062B24CC05A}" dt="2025-10-10T05:32:24.141" v="949" actId="20577"/>
        <pc:sldMkLst>
          <pc:docMk/>
          <pc:sldMk cId="0" sldId="297"/>
        </pc:sldMkLst>
        <pc:spChg chg="mod">
          <ac:chgData name="Waldemar Hoff" userId="bacb8968-6b42-45e3-b232-453b0d6bde59" providerId="ADAL" clId="{F8C1E58B-402C-4ED2-AD69-E062B24CC05A}" dt="2025-10-10T05:32:24.141" v="949" actId="20577"/>
          <ac:spMkLst>
            <pc:docMk/>
            <pc:sldMk cId="0" sldId="297"/>
            <ac:spMk id="3" creationId="{00000000-0000-0000-0000-000000000000}"/>
          </ac:spMkLst>
        </pc:spChg>
      </pc:sldChg>
      <pc:sldChg chg="modSp mod">
        <pc:chgData name="Waldemar Hoff" userId="bacb8968-6b42-45e3-b232-453b0d6bde59" providerId="ADAL" clId="{F8C1E58B-402C-4ED2-AD69-E062B24CC05A}" dt="2025-10-10T05:33:22.802" v="979" actId="13926"/>
        <pc:sldMkLst>
          <pc:docMk/>
          <pc:sldMk cId="0" sldId="298"/>
        </pc:sldMkLst>
        <pc:spChg chg="mod">
          <ac:chgData name="Waldemar Hoff" userId="bacb8968-6b42-45e3-b232-453b0d6bde59" providerId="ADAL" clId="{F8C1E58B-402C-4ED2-AD69-E062B24CC05A}" dt="2025-10-10T05:33:22.802" v="979" actId="13926"/>
          <ac:spMkLst>
            <pc:docMk/>
            <pc:sldMk cId="0" sldId="298"/>
            <ac:spMk id="3" creationId="{00000000-0000-0000-0000-000000000000}"/>
          </ac:spMkLst>
        </pc:spChg>
      </pc:sldChg>
      <pc:sldChg chg="modSp mod">
        <pc:chgData name="Waldemar Hoff" userId="bacb8968-6b42-45e3-b232-453b0d6bde59" providerId="ADAL" clId="{F8C1E58B-402C-4ED2-AD69-E062B24CC05A}" dt="2025-10-10T05:34:51.743" v="994" actId="20577"/>
        <pc:sldMkLst>
          <pc:docMk/>
          <pc:sldMk cId="0" sldId="299"/>
        </pc:sldMkLst>
        <pc:spChg chg="mod">
          <ac:chgData name="Waldemar Hoff" userId="bacb8968-6b42-45e3-b232-453b0d6bde59" providerId="ADAL" clId="{F8C1E58B-402C-4ED2-AD69-E062B24CC05A}" dt="2025-10-10T05:34:51.743" v="994" actId="20577"/>
          <ac:spMkLst>
            <pc:docMk/>
            <pc:sldMk cId="0" sldId="299"/>
            <ac:spMk id="3" creationId="{00000000-0000-0000-0000-000000000000}"/>
          </ac:spMkLst>
        </pc:spChg>
      </pc:sldChg>
      <pc:sldChg chg="modSp mod">
        <pc:chgData name="Waldemar Hoff" userId="bacb8968-6b42-45e3-b232-453b0d6bde59" providerId="ADAL" clId="{F8C1E58B-402C-4ED2-AD69-E062B24CC05A}" dt="2025-10-10T05:35:55.954" v="1001" actId="255"/>
        <pc:sldMkLst>
          <pc:docMk/>
          <pc:sldMk cId="0" sldId="300"/>
        </pc:sldMkLst>
        <pc:spChg chg="mod">
          <ac:chgData name="Waldemar Hoff" userId="bacb8968-6b42-45e3-b232-453b0d6bde59" providerId="ADAL" clId="{F8C1E58B-402C-4ED2-AD69-E062B24CC05A}" dt="2025-10-10T05:35:55.954" v="1001" actId="255"/>
          <ac:spMkLst>
            <pc:docMk/>
            <pc:sldMk cId="0" sldId="300"/>
            <ac:spMk id="3" creationId="{00000000-0000-0000-0000-000000000000}"/>
          </ac:spMkLst>
        </pc:spChg>
      </pc:sldChg>
      <pc:sldChg chg="modSp mod">
        <pc:chgData name="Waldemar Hoff" userId="bacb8968-6b42-45e3-b232-453b0d6bde59" providerId="ADAL" clId="{F8C1E58B-402C-4ED2-AD69-E062B24CC05A}" dt="2025-10-10T05:34:12.766" v="984" actId="20577"/>
        <pc:sldMkLst>
          <pc:docMk/>
          <pc:sldMk cId="0" sldId="301"/>
        </pc:sldMkLst>
        <pc:spChg chg="mod">
          <ac:chgData name="Waldemar Hoff" userId="bacb8968-6b42-45e3-b232-453b0d6bde59" providerId="ADAL" clId="{F8C1E58B-402C-4ED2-AD69-E062B24CC05A}" dt="2025-10-10T05:34:12.766" v="984" actId="20577"/>
          <ac:spMkLst>
            <pc:docMk/>
            <pc:sldMk cId="0" sldId="301"/>
            <ac:spMk id="3" creationId="{00000000-0000-0000-0000-000000000000}"/>
          </ac:spMkLst>
        </pc:spChg>
      </pc:sldChg>
      <pc:sldChg chg="modSp mod">
        <pc:chgData name="Waldemar Hoff" userId="bacb8968-6b42-45e3-b232-453b0d6bde59" providerId="ADAL" clId="{F8C1E58B-402C-4ED2-AD69-E062B24CC05A}" dt="2025-10-10T05:36:51.323" v="1013" actId="113"/>
        <pc:sldMkLst>
          <pc:docMk/>
          <pc:sldMk cId="0" sldId="302"/>
        </pc:sldMkLst>
        <pc:spChg chg="mod">
          <ac:chgData name="Waldemar Hoff" userId="bacb8968-6b42-45e3-b232-453b0d6bde59" providerId="ADAL" clId="{F8C1E58B-402C-4ED2-AD69-E062B24CC05A}" dt="2025-10-10T05:36:51.323" v="1013" actId="113"/>
          <ac:spMkLst>
            <pc:docMk/>
            <pc:sldMk cId="0" sldId="302"/>
            <ac:spMk id="3" creationId="{00000000-0000-0000-0000-000000000000}"/>
          </ac:spMkLst>
        </pc:spChg>
      </pc:sldChg>
      <pc:sldChg chg="modSp mod">
        <pc:chgData name="Waldemar Hoff" userId="bacb8968-6b42-45e3-b232-453b0d6bde59" providerId="ADAL" clId="{F8C1E58B-402C-4ED2-AD69-E062B24CC05A}" dt="2025-10-10T05:37:54.362" v="1063" actId="20577"/>
        <pc:sldMkLst>
          <pc:docMk/>
          <pc:sldMk cId="0" sldId="303"/>
        </pc:sldMkLst>
        <pc:spChg chg="mod">
          <ac:chgData name="Waldemar Hoff" userId="bacb8968-6b42-45e3-b232-453b0d6bde59" providerId="ADAL" clId="{F8C1E58B-402C-4ED2-AD69-E062B24CC05A}" dt="2025-10-10T05:37:54.362" v="1063" actId="20577"/>
          <ac:spMkLst>
            <pc:docMk/>
            <pc:sldMk cId="0" sldId="303"/>
            <ac:spMk id="3" creationId="{00000000-0000-0000-0000-000000000000}"/>
          </ac:spMkLst>
        </pc:spChg>
      </pc:sldChg>
      <pc:sldChg chg="modSp mod">
        <pc:chgData name="Waldemar Hoff" userId="bacb8968-6b42-45e3-b232-453b0d6bde59" providerId="ADAL" clId="{F8C1E58B-402C-4ED2-AD69-E062B24CC05A}" dt="2025-10-10T05:38:14.334" v="1066" actId="20577"/>
        <pc:sldMkLst>
          <pc:docMk/>
          <pc:sldMk cId="0" sldId="305"/>
        </pc:sldMkLst>
        <pc:spChg chg="mod">
          <ac:chgData name="Waldemar Hoff" userId="bacb8968-6b42-45e3-b232-453b0d6bde59" providerId="ADAL" clId="{F8C1E58B-402C-4ED2-AD69-E062B24CC05A}" dt="2025-10-10T05:38:14.334" v="1066" actId="20577"/>
          <ac:spMkLst>
            <pc:docMk/>
            <pc:sldMk cId="0" sldId="305"/>
            <ac:spMk id="3" creationId="{00000000-0000-0000-0000-000000000000}"/>
          </ac:spMkLst>
        </pc:spChg>
      </pc:sldChg>
      <pc:sldChg chg="modSp mod">
        <pc:chgData name="Waldemar Hoff" userId="bacb8968-6b42-45e3-b232-453b0d6bde59" providerId="ADAL" clId="{F8C1E58B-402C-4ED2-AD69-E062B24CC05A}" dt="2025-10-10T05:00:59.356" v="289" actId="20577"/>
        <pc:sldMkLst>
          <pc:docMk/>
          <pc:sldMk cId="0" sldId="322"/>
        </pc:sldMkLst>
        <pc:spChg chg="mod">
          <ac:chgData name="Waldemar Hoff" userId="bacb8968-6b42-45e3-b232-453b0d6bde59" providerId="ADAL" clId="{F8C1E58B-402C-4ED2-AD69-E062B24CC05A}" dt="2025-10-10T05:00:59.356" v="289" actId="20577"/>
          <ac:spMkLst>
            <pc:docMk/>
            <pc:sldMk cId="0" sldId="322"/>
            <ac:spMk id="3" creationId="{00000000-0000-0000-0000-000000000000}"/>
          </ac:spMkLst>
        </pc:spChg>
      </pc:sldChg>
      <pc:sldChg chg="modSp mod">
        <pc:chgData name="Waldemar Hoff" userId="bacb8968-6b42-45e3-b232-453b0d6bde59" providerId="ADAL" clId="{F8C1E58B-402C-4ED2-AD69-E062B24CC05A}" dt="2025-10-10T05:38:38.353" v="1092" actId="20577"/>
        <pc:sldMkLst>
          <pc:docMk/>
          <pc:sldMk cId="0" sldId="323"/>
        </pc:sldMkLst>
        <pc:spChg chg="mod">
          <ac:chgData name="Waldemar Hoff" userId="bacb8968-6b42-45e3-b232-453b0d6bde59" providerId="ADAL" clId="{F8C1E58B-402C-4ED2-AD69-E062B24CC05A}" dt="2025-10-10T05:38:38.353" v="1092" actId="20577"/>
          <ac:spMkLst>
            <pc:docMk/>
            <pc:sldMk cId="0" sldId="323"/>
            <ac:spMk id="3" creationId="{00000000-0000-0000-0000-000000000000}"/>
          </ac:spMkLst>
        </pc:spChg>
      </pc:sldChg>
      <pc:sldChg chg="modSp mod">
        <pc:chgData name="Waldemar Hoff" userId="bacb8968-6b42-45e3-b232-453b0d6bde59" providerId="ADAL" clId="{F8C1E58B-402C-4ED2-AD69-E062B24CC05A}" dt="2025-10-10T05:39:10.158" v="1101" actId="20577"/>
        <pc:sldMkLst>
          <pc:docMk/>
          <pc:sldMk cId="0" sldId="324"/>
        </pc:sldMkLst>
        <pc:spChg chg="mod">
          <ac:chgData name="Waldemar Hoff" userId="bacb8968-6b42-45e3-b232-453b0d6bde59" providerId="ADAL" clId="{F8C1E58B-402C-4ED2-AD69-E062B24CC05A}" dt="2025-10-10T05:39:10.158" v="1101" actId="20577"/>
          <ac:spMkLst>
            <pc:docMk/>
            <pc:sldMk cId="0" sldId="324"/>
            <ac:spMk id="3" creationId="{00000000-0000-0000-0000-000000000000}"/>
          </ac:spMkLst>
        </pc:spChg>
      </pc:sldChg>
      <pc:sldChg chg="modSp mod">
        <pc:chgData name="Waldemar Hoff" userId="bacb8968-6b42-45e3-b232-453b0d6bde59" providerId="ADAL" clId="{F8C1E58B-402C-4ED2-AD69-E062B24CC05A}" dt="2025-10-10T05:28:43.559" v="845" actId="20577"/>
        <pc:sldMkLst>
          <pc:docMk/>
          <pc:sldMk cId="1156324811" sldId="326"/>
        </pc:sldMkLst>
        <pc:spChg chg="mod">
          <ac:chgData name="Waldemar Hoff" userId="bacb8968-6b42-45e3-b232-453b0d6bde59" providerId="ADAL" clId="{F8C1E58B-402C-4ED2-AD69-E062B24CC05A}" dt="2025-10-10T05:28:43.559" v="845" actId="20577"/>
          <ac:spMkLst>
            <pc:docMk/>
            <pc:sldMk cId="1156324811" sldId="326"/>
            <ac:spMk id="3" creationId="{00000000-0000-0000-0000-000000000000}"/>
          </ac:spMkLst>
        </pc:spChg>
      </pc:sldChg>
    </pc:docChg>
  </pc:docChgLst>
  <pc:docChgLst>
    <pc:chgData name="Dmytro Kudryk" userId="S::52492@kozminski.edu.pl::0c72134e-124f-4db1-b648-99846d386102" providerId="AD" clId="Web-{096B0962-A980-9C3A-4B26-7B18BB16B4E4}"/>
    <pc:docChg chg="modSld">
      <pc:chgData name="Dmytro Kudryk" userId="S::52492@kozminski.edu.pl::0c72134e-124f-4db1-b648-99846d386102" providerId="AD" clId="Web-{096B0962-A980-9C3A-4B26-7B18BB16B4E4}" dt="2024-11-20T21:08:41.410" v="2" actId="20577"/>
      <pc:docMkLst>
        <pc:docMk/>
      </pc:docMkLst>
      <pc:sldChg chg="modSp">
        <pc:chgData name="Dmytro Kudryk" userId="S::52492@kozminski.edu.pl::0c72134e-124f-4db1-b648-99846d386102" providerId="AD" clId="Web-{096B0962-A980-9C3A-4B26-7B18BB16B4E4}" dt="2024-11-20T21:08:41.410" v="2" actId="20577"/>
        <pc:sldMkLst>
          <pc:docMk/>
          <pc:sldMk cId="0" sldId="275"/>
        </pc:sldMkLst>
      </pc:sldChg>
    </pc:docChg>
  </pc:docChgLst>
  <pc:docChgLst>
    <pc:chgData name="Mi Lan Vu" userId="S::52547@kozminski.edu.pl::81a20242-7de9-476d-8093-5a689913bd6c" providerId="AD" clId="Web-{209CD27F-8D1A-4690-92B8-DA4C89B7B6B9}"/>
    <pc:docChg chg="modSld">
      <pc:chgData name="Mi Lan Vu" userId="S::52547@kozminski.edu.pl::81a20242-7de9-476d-8093-5a689913bd6c" providerId="AD" clId="Web-{209CD27F-8D1A-4690-92B8-DA4C89B7B6B9}" dt="2024-12-10T20:20:47.084" v="1" actId="20577"/>
      <pc:docMkLst>
        <pc:docMk/>
      </pc:docMkLst>
      <pc:sldChg chg="modSp">
        <pc:chgData name="Mi Lan Vu" userId="S::52547@kozminski.edu.pl::81a20242-7de9-476d-8093-5a689913bd6c" providerId="AD" clId="Web-{209CD27F-8D1A-4690-92B8-DA4C89B7B6B9}" dt="2024-12-10T20:20:47.084" v="1" actId="20577"/>
        <pc:sldMkLst>
          <pc:docMk/>
          <pc:sldMk cId="0" sldId="323"/>
        </pc:sldMkLst>
      </pc:sldChg>
    </pc:docChg>
  </pc:docChgLst>
  <pc:docChgLst>
    <pc:chgData name="Oleksandra Shchukina" userId="S::52470@kozminski.edu.pl::5c6fa49f-2fef-4ea1-a1cf-2ec2ef3ae2b7" providerId="AD" clId="Web-{98EE401E-555A-07E6-6092-D03DC21729A7}"/>
    <pc:docChg chg="addSld delSld modSld">
      <pc:chgData name="Oleksandra Shchukina" userId="S::52470@kozminski.edu.pl::5c6fa49f-2fef-4ea1-a1cf-2ec2ef3ae2b7" providerId="AD" clId="Web-{98EE401E-555A-07E6-6092-D03DC21729A7}" dt="2024-10-22T18:01:31.439" v="10"/>
      <pc:docMkLst>
        <pc:docMk/>
      </pc:docMkLst>
      <pc:sldChg chg="modSp">
        <pc:chgData name="Oleksandra Shchukina" userId="S::52470@kozminski.edu.pl::5c6fa49f-2fef-4ea1-a1cf-2ec2ef3ae2b7" providerId="AD" clId="Web-{98EE401E-555A-07E6-6092-D03DC21729A7}" dt="2024-10-22T16:27:46.046" v="4" actId="20577"/>
        <pc:sldMkLst>
          <pc:docMk/>
          <pc:sldMk cId="0" sldId="264"/>
        </pc:sldMkLst>
      </pc:sldChg>
      <pc:sldChg chg="add del">
        <pc:chgData name="Oleksandra Shchukina" userId="S::52470@kozminski.edu.pl::5c6fa49f-2fef-4ea1-a1cf-2ec2ef3ae2b7" providerId="AD" clId="Web-{98EE401E-555A-07E6-6092-D03DC21729A7}" dt="2024-10-22T17:56:49.354" v="8"/>
        <pc:sldMkLst>
          <pc:docMk/>
          <pc:sldMk cId="0" sldId="306"/>
        </pc:sldMkLst>
      </pc:sldChg>
      <pc:sldChg chg="add del">
        <pc:chgData name="Oleksandra Shchukina" userId="S::52470@kozminski.edu.pl::5c6fa49f-2fef-4ea1-a1cf-2ec2ef3ae2b7" providerId="AD" clId="Web-{98EE401E-555A-07E6-6092-D03DC21729A7}" dt="2024-10-22T18:01:31.439" v="10"/>
        <pc:sldMkLst>
          <pc:docMk/>
          <pc:sldMk cId="0" sldId="322"/>
        </pc:sldMkLst>
      </pc:sldChg>
      <pc:sldChg chg="new del">
        <pc:chgData name="Oleksandra Shchukina" userId="S::52470@kozminski.edu.pl::5c6fa49f-2fef-4ea1-a1cf-2ec2ef3ae2b7" providerId="AD" clId="Web-{98EE401E-555A-07E6-6092-D03DC21729A7}" dt="2024-10-22T17:55:56.947" v="6"/>
        <pc:sldMkLst>
          <pc:docMk/>
          <pc:sldMk cId="2344784441" sldId="39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2130425"/>
            <a:ext cx="7772400" cy="1470025"/>
          </a:xfrm>
        </p:spPr>
        <p:txBody>
          <a:bodyPr/>
          <a:lstStyle/>
          <a:p>
            <a:r>
              <a:rPr lang="pl-PL"/>
              <a:t>Kliknij, aby edytować styl</a:t>
            </a:r>
          </a:p>
        </p:txBody>
      </p:sp>
      <p:sp>
        <p:nvSpPr>
          <p:cNvPr id="3" name="Podtytuł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lvl1pPr>
              <a:defRPr/>
            </a:lvl1pPr>
          </a:lstStyle>
          <a:p>
            <a:fld id="{66221E02-25CB-4963-84BC-0813985E7D90}" type="datetimeFigureOut">
              <a:rPr lang="pl-PL" smtClean="0"/>
              <a:pPr/>
              <a:t>10.10.2025</a:t>
            </a:fld>
            <a:endParaRPr lang="pl-PL" dirty="0"/>
          </a:p>
        </p:txBody>
      </p:sp>
      <p:sp>
        <p:nvSpPr>
          <p:cNvPr id="5" name="Symbol zastępczy stopki 4"/>
          <p:cNvSpPr>
            <a:spLocks noGrp="1"/>
          </p:cNvSpPr>
          <p:nvPr>
            <p:ph type="ftr" sz="quarter" idx="11"/>
          </p:nvPr>
        </p:nvSpPr>
        <p:spPr/>
        <p:txBody>
          <a:bodyPr/>
          <a:lstStyle>
            <a:lvl1pPr>
              <a:defRPr/>
            </a:lvl1pPr>
          </a:lstStyle>
          <a:p>
            <a:endParaRPr lang="pl-PL" dirty="0"/>
          </a:p>
        </p:txBody>
      </p:sp>
      <p:sp>
        <p:nvSpPr>
          <p:cNvPr id="6" name="Symbol zastępczy numeru slajdu 5"/>
          <p:cNvSpPr>
            <a:spLocks noGrp="1"/>
          </p:cNvSpPr>
          <p:nvPr>
            <p:ph type="sldNum" sz="quarter" idx="12"/>
          </p:nvPr>
        </p:nvSpPr>
        <p:spPr/>
        <p:txBody>
          <a:bodyPr/>
          <a:lstStyle>
            <a:lvl1pPr>
              <a:defRPr/>
            </a:lvl1pPr>
          </a:lstStyle>
          <a:p>
            <a:fld id="{589B7C76-EFF2-4CD8-A475-4750F11B4BC6}" type="slidenum">
              <a:rPr lang="pl-PL" smtClean="0"/>
              <a:pPr/>
              <a:t>‹#›</a:t>
            </a:fld>
            <a:endParaRPr lang="pl-P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a:defRPr/>
            </a:lvl1pPr>
          </a:lstStyle>
          <a:p>
            <a:fld id="{66221E02-25CB-4963-84BC-0813985E7D90}" type="datetimeFigureOut">
              <a:rPr lang="pl-PL" smtClean="0"/>
              <a:pPr/>
              <a:t>10.10.2025</a:t>
            </a:fld>
            <a:endParaRPr lang="pl-PL" dirty="0"/>
          </a:p>
        </p:txBody>
      </p:sp>
      <p:sp>
        <p:nvSpPr>
          <p:cNvPr id="5" name="Symbol zastępczy stopki 4"/>
          <p:cNvSpPr>
            <a:spLocks noGrp="1"/>
          </p:cNvSpPr>
          <p:nvPr>
            <p:ph type="ftr" sz="quarter" idx="11"/>
          </p:nvPr>
        </p:nvSpPr>
        <p:spPr/>
        <p:txBody>
          <a:bodyPr/>
          <a:lstStyle>
            <a:lvl1pPr>
              <a:defRPr/>
            </a:lvl1pPr>
          </a:lstStyle>
          <a:p>
            <a:endParaRPr lang="pl-PL" dirty="0"/>
          </a:p>
        </p:txBody>
      </p:sp>
      <p:sp>
        <p:nvSpPr>
          <p:cNvPr id="6" name="Symbol zastępczy numeru slajdu 5"/>
          <p:cNvSpPr>
            <a:spLocks noGrp="1"/>
          </p:cNvSpPr>
          <p:nvPr>
            <p:ph type="sldNum" sz="quarter" idx="12"/>
          </p:nvPr>
        </p:nvSpPr>
        <p:spPr/>
        <p:txBody>
          <a:bodyPr/>
          <a:lstStyle>
            <a:lvl1pPr>
              <a:defRPr/>
            </a:lvl1pPr>
          </a:lstStyle>
          <a:p>
            <a:fld id="{589B7C76-EFF2-4CD8-A475-4750F11B4BC6}" type="slidenum">
              <a:rPr lang="pl-PL" smtClean="0"/>
              <a:pPr/>
              <a:t>‹#›</a:t>
            </a:fld>
            <a:endParaRPr lang="pl-PL"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lvl1pPr>
              <a:defRPr/>
            </a:lvl1pPr>
          </a:lstStyle>
          <a:p>
            <a:fld id="{66221E02-25CB-4963-84BC-0813985E7D90}" type="datetimeFigureOut">
              <a:rPr lang="pl-PL" smtClean="0"/>
              <a:pPr/>
              <a:t>10.10.2025</a:t>
            </a:fld>
            <a:endParaRPr lang="pl-PL" dirty="0"/>
          </a:p>
        </p:txBody>
      </p:sp>
      <p:sp>
        <p:nvSpPr>
          <p:cNvPr id="5" name="Symbol zastępczy stopki 4"/>
          <p:cNvSpPr>
            <a:spLocks noGrp="1"/>
          </p:cNvSpPr>
          <p:nvPr>
            <p:ph type="ftr" sz="quarter" idx="11"/>
          </p:nvPr>
        </p:nvSpPr>
        <p:spPr/>
        <p:txBody>
          <a:bodyPr/>
          <a:lstStyle>
            <a:lvl1pPr>
              <a:defRPr/>
            </a:lvl1pPr>
          </a:lstStyle>
          <a:p>
            <a:endParaRPr lang="pl-PL" dirty="0"/>
          </a:p>
        </p:txBody>
      </p:sp>
      <p:sp>
        <p:nvSpPr>
          <p:cNvPr id="6" name="Symbol zastępczy numeru slajdu 5"/>
          <p:cNvSpPr>
            <a:spLocks noGrp="1"/>
          </p:cNvSpPr>
          <p:nvPr>
            <p:ph type="sldNum" sz="quarter" idx="12"/>
          </p:nvPr>
        </p:nvSpPr>
        <p:spPr/>
        <p:txBody>
          <a:bodyPr/>
          <a:lstStyle>
            <a:lvl1pPr>
              <a:defRPr/>
            </a:lvl1pPr>
          </a:lstStyle>
          <a:p>
            <a:fld id="{589B7C76-EFF2-4CD8-A475-4750F11B4BC6}" type="slidenum">
              <a:rPr lang="pl-PL" smtClean="0"/>
              <a:pPr/>
              <a:t>‹#›</a:t>
            </a:fld>
            <a:endParaRPr lang="pl-P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3"/>
          <p:cNvSpPr>
            <a:spLocks noGrp="1"/>
          </p:cNvSpPr>
          <p:nvPr>
            <p:ph type="dt" sz="half" idx="10"/>
          </p:nvPr>
        </p:nvSpPr>
        <p:spPr/>
        <p:txBody>
          <a:bodyPr/>
          <a:lstStyle>
            <a:lvl1pPr>
              <a:defRPr/>
            </a:lvl1pPr>
          </a:lstStyle>
          <a:p>
            <a:fld id="{66221E02-25CB-4963-84BC-0813985E7D90}" type="datetimeFigureOut">
              <a:rPr lang="pl-PL" smtClean="0"/>
              <a:pPr/>
              <a:t>10.10.2025</a:t>
            </a:fld>
            <a:endParaRPr lang="pl-PL" dirty="0"/>
          </a:p>
        </p:txBody>
      </p:sp>
      <p:sp>
        <p:nvSpPr>
          <p:cNvPr id="6" name="Symbol zastępczy stopki 4"/>
          <p:cNvSpPr>
            <a:spLocks noGrp="1"/>
          </p:cNvSpPr>
          <p:nvPr>
            <p:ph type="ftr" sz="quarter" idx="11"/>
          </p:nvPr>
        </p:nvSpPr>
        <p:spPr/>
        <p:txBody>
          <a:bodyPr/>
          <a:lstStyle>
            <a:lvl1pPr>
              <a:defRPr/>
            </a:lvl1pPr>
          </a:lstStyle>
          <a:p>
            <a:endParaRPr lang="pl-PL" dirty="0"/>
          </a:p>
        </p:txBody>
      </p:sp>
      <p:sp>
        <p:nvSpPr>
          <p:cNvPr id="7" name="Symbol zastępczy numeru slajdu 5"/>
          <p:cNvSpPr>
            <a:spLocks noGrp="1"/>
          </p:cNvSpPr>
          <p:nvPr>
            <p:ph type="sldNum" sz="quarter" idx="12"/>
          </p:nvPr>
        </p:nvSpPr>
        <p:spPr/>
        <p:txBody>
          <a:bodyPr/>
          <a:lstStyle>
            <a:lvl1pPr>
              <a:defRPr/>
            </a:lvl1pPr>
          </a:lstStyle>
          <a:p>
            <a:fld id="{589B7C76-EFF2-4CD8-A475-4750F11B4BC6}" type="slidenum">
              <a:rPr lang="pl-PL" smtClean="0"/>
              <a:pPr/>
              <a:t>‹#›</a:t>
            </a:fld>
            <a:endParaRPr lang="pl-P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3"/>
          <p:cNvSpPr>
            <a:spLocks noGrp="1"/>
          </p:cNvSpPr>
          <p:nvPr>
            <p:ph type="dt" sz="half" idx="10"/>
          </p:nvPr>
        </p:nvSpPr>
        <p:spPr/>
        <p:txBody>
          <a:bodyPr/>
          <a:lstStyle>
            <a:lvl1pPr>
              <a:defRPr/>
            </a:lvl1pPr>
          </a:lstStyle>
          <a:p>
            <a:fld id="{66221E02-25CB-4963-84BC-0813985E7D90}" type="datetimeFigureOut">
              <a:rPr lang="pl-PL" smtClean="0"/>
              <a:pPr/>
              <a:t>10.10.2025</a:t>
            </a:fld>
            <a:endParaRPr lang="pl-PL" dirty="0"/>
          </a:p>
        </p:txBody>
      </p:sp>
      <p:sp>
        <p:nvSpPr>
          <p:cNvPr id="8" name="Symbol zastępczy stopki 4"/>
          <p:cNvSpPr>
            <a:spLocks noGrp="1"/>
          </p:cNvSpPr>
          <p:nvPr>
            <p:ph type="ftr" sz="quarter" idx="11"/>
          </p:nvPr>
        </p:nvSpPr>
        <p:spPr/>
        <p:txBody>
          <a:bodyPr/>
          <a:lstStyle>
            <a:lvl1pPr>
              <a:defRPr/>
            </a:lvl1pPr>
          </a:lstStyle>
          <a:p>
            <a:endParaRPr lang="pl-PL" dirty="0"/>
          </a:p>
        </p:txBody>
      </p:sp>
      <p:sp>
        <p:nvSpPr>
          <p:cNvPr id="9" name="Symbol zastępczy numeru slajdu 5"/>
          <p:cNvSpPr>
            <a:spLocks noGrp="1"/>
          </p:cNvSpPr>
          <p:nvPr>
            <p:ph type="sldNum" sz="quarter" idx="12"/>
          </p:nvPr>
        </p:nvSpPr>
        <p:spPr/>
        <p:txBody>
          <a:bodyPr/>
          <a:lstStyle>
            <a:lvl1pPr>
              <a:defRPr/>
            </a:lvl1pPr>
          </a:lstStyle>
          <a:p>
            <a:fld id="{589B7C76-EFF2-4CD8-A475-4750F11B4BC6}" type="slidenum">
              <a:rPr lang="pl-PL" smtClean="0"/>
              <a:pPr/>
              <a:t>‹#›</a:t>
            </a:fld>
            <a:endParaRPr lang="pl-P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3"/>
          <p:cNvSpPr>
            <a:spLocks noGrp="1"/>
          </p:cNvSpPr>
          <p:nvPr>
            <p:ph type="dt" sz="half" idx="10"/>
          </p:nvPr>
        </p:nvSpPr>
        <p:spPr/>
        <p:txBody>
          <a:bodyPr/>
          <a:lstStyle>
            <a:lvl1pPr>
              <a:defRPr/>
            </a:lvl1pPr>
          </a:lstStyle>
          <a:p>
            <a:fld id="{66221E02-25CB-4963-84BC-0813985E7D90}" type="datetimeFigureOut">
              <a:rPr lang="pl-PL" smtClean="0"/>
              <a:pPr/>
              <a:t>10.10.2025</a:t>
            </a:fld>
            <a:endParaRPr lang="pl-PL" dirty="0"/>
          </a:p>
        </p:txBody>
      </p:sp>
      <p:sp>
        <p:nvSpPr>
          <p:cNvPr id="4" name="Symbol zastępczy stopki 4"/>
          <p:cNvSpPr>
            <a:spLocks noGrp="1"/>
          </p:cNvSpPr>
          <p:nvPr>
            <p:ph type="ftr" sz="quarter" idx="11"/>
          </p:nvPr>
        </p:nvSpPr>
        <p:spPr/>
        <p:txBody>
          <a:bodyPr/>
          <a:lstStyle>
            <a:lvl1pPr>
              <a:defRPr/>
            </a:lvl1pPr>
          </a:lstStyle>
          <a:p>
            <a:endParaRPr lang="pl-PL" dirty="0"/>
          </a:p>
        </p:txBody>
      </p:sp>
      <p:sp>
        <p:nvSpPr>
          <p:cNvPr id="5" name="Symbol zastępczy numeru slajdu 5"/>
          <p:cNvSpPr>
            <a:spLocks noGrp="1"/>
          </p:cNvSpPr>
          <p:nvPr>
            <p:ph type="sldNum" sz="quarter" idx="12"/>
          </p:nvPr>
        </p:nvSpPr>
        <p:spPr/>
        <p:txBody>
          <a:bodyPr/>
          <a:lstStyle>
            <a:lvl1pPr>
              <a:defRPr/>
            </a:lvl1pPr>
          </a:lstStyle>
          <a:p>
            <a:fld id="{589B7C76-EFF2-4CD8-A475-4750F11B4BC6}" type="slidenum">
              <a:rPr lang="pl-PL" smtClean="0"/>
              <a:pPr/>
              <a:t>‹#›</a:t>
            </a:fld>
            <a:endParaRPr lang="pl-PL"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3"/>
          <p:cNvSpPr>
            <a:spLocks noGrp="1"/>
          </p:cNvSpPr>
          <p:nvPr>
            <p:ph type="dt" sz="half" idx="10"/>
          </p:nvPr>
        </p:nvSpPr>
        <p:spPr/>
        <p:txBody>
          <a:bodyPr/>
          <a:lstStyle>
            <a:lvl1pPr>
              <a:defRPr/>
            </a:lvl1pPr>
          </a:lstStyle>
          <a:p>
            <a:fld id="{66221E02-25CB-4963-84BC-0813985E7D90}" type="datetimeFigureOut">
              <a:rPr lang="pl-PL" smtClean="0"/>
              <a:pPr/>
              <a:t>10.10.2025</a:t>
            </a:fld>
            <a:endParaRPr lang="pl-PL" dirty="0"/>
          </a:p>
        </p:txBody>
      </p:sp>
      <p:sp>
        <p:nvSpPr>
          <p:cNvPr id="3" name="Symbol zastępczy stopki 4"/>
          <p:cNvSpPr>
            <a:spLocks noGrp="1"/>
          </p:cNvSpPr>
          <p:nvPr>
            <p:ph type="ftr" sz="quarter" idx="11"/>
          </p:nvPr>
        </p:nvSpPr>
        <p:spPr/>
        <p:txBody>
          <a:bodyPr/>
          <a:lstStyle>
            <a:lvl1pPr>
              <a:defRPr/>
            </a:lvl1pPr>
          </a:lstStyle>
          <a:p>
            <a:endParaRPr lang="pl-PL" dirty="0"/>
          </a:p>
        </p:txBody>
      </p:sp>
      <p:sp>
        <p:nvSpPr>
          <p:cNvPr id="4" name="Symbol zastępczy numeru slajdu 5"/>
          <p:cNvSpPr>
            <a:spLocks noGrp="1"/>
          </p:cNvSpPr>
          <p:nvPr>
            <p:ph type="sldNum" sz="quarter" idx="12"/>
          </p:nvPr>
        </p:nvSpPr>
        <p:spPr/>
        <p:txBody>
          <a:bodyPr/>
          <a:lstStyle>
            <a:lvl1pPr>
              <a:defRPr/>
            </a:lvl1pPr>
          </a:lstStyle>
          <a:p>
            <a:fld id="{589B7C76-EFF2-4CD8-A475-4750F11B4BC6}" type="slidenum">
              <a:rPr lang="pl-PL" smtClean="0"/>
              <a:pPr/>
              <a:t>‹#›</a:t>
            </a:fld>
            <a:endParaRPr lang="pl-PL"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3"/>
          <p:cNvSpPr>
            <a:spLocks noGrp="1"/>
          </p:cNvSpPr>
          <p:nvPr>
            <p:ph type="dt" sz="half" idx="10"/>
          </p:nvPr>
        </p:nvSpPr>
        <p:spPr/>
        <p:txBody>
          <a:bodyPr/>
          <a:lstStyle>
            <a:lvl1pPr>
              <a:defRPr/>
            </a:lvl1pPr>
          </a:lstStyle>
          <a:p>
            <a:fld id="{66221E02-25CB-4963-84BC-0813985E7D90}" type="datetimeFigureOut">
              <a:rPr lang="pl-PL" smtClean="0"/>
              <a:pPr/>
              <a:t>10.10.2025</a:t>
            </a:fld>
            <a:endParaRPr lang="pl-PL" dirty="0"/>
          </a:p>
        </p:txBody>
      </p:sp>
      <p:sp>
        <p:nvSpPr>
          <p:cNvPr id="6" name="Symbol zastępczy stopki 4"/>
          <p:cNvSpPr>
            <a:spLocks noGrp="1"/>
          </p:cNvSpPr>
          <p:nvPr>
            <p:ph type="ftr" sz="quarter" idx="11"/>
          </p:nvPr>
        </p:nvSpPr>
        <p:spPr/>
        <p:txBody>
          <a:bodyPr/>
          <a:lstStyle>
            <a:lvl1pPr>
              <a:defRPr/>
            </a:lvl1pPr>
          </a:lstStyle>
          <a:p>
            <a:endParaRPr lang="pl-PL" dirty="0"/>
          </a:p>
        </p:txBody>
      </p:sp>
      <p:sp>
        <p:nvSpPr>
          <p:cNvPr id="7" name="Symbol zastępczy numeru slajdu 5"/>
          <p:cNvSpPr>
            <a:spLocks noGrp="1"/>
          </p:cNvSpPr>
          <p:nvPr>
            <p:ph type="sldNum" sz="quarter" idx="12"/>
          </p:nvPr>
        </p:nvSpPr>
        <p:spPr/>
        <p:txBody>
          <a:bodyPr/>
          <a:lstStyle>
            <a:lvl1pPr>
              <a:defRPr/>
            </a:lvl1pPr>
          </a:lstStyle>
          <a:p>
            <a:fld id="{589B7C76-EFF2-4CD8-A475-4750F11B4BC6}" type="slidenum">
              <a:rPr lang="pl-PL" smtClean="0"/>
              <a:pPr/>
              <a:t>‹#›</a:t>
            </a:fld>
            <a:endParaRPr lang="pl-PL"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pl-PL" noProof="0" dirty="0"/>
              <a:t>Kliknij ikonę, aby dodać obraz</a:t>
            </a:r>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3"/>
          <p:cNvSpPr>
            <a:spLocks noGrp="1"/>
          </p:cNvSpPr>
          <p:nvPr>
            <p:ph type="dt" sz="half" idx="10"/>
          </p:nvPr>
        </p:nvSpPr>
        <p:spPr/>
        <p:txBody>
          <a:bodyPr/>
          <a:lstStyle>
            <a:lvl1pPr>
              <a:defRPr/>
            </a:lvl1pPr>
          </a:lstStyle>
          <a:p>
            <a:fld id="{66221E02-25CB-4963-84BC-0813985E7D90}" type="datetimeFigureOut">
              <a:rPr lang="pl-PL" smtClean="0"/>
              <a:pPr/>
              <a:t>10.10.2025</a:t>
            </a:fld>
            <a:endParaRPr lang="pl-PL" dirty="0"/>
          </a:p>
        </p:txBody>
      </p:sp>
      <p:sp>
        <p:nvSpPr>
          <p:cNvPr id="6" name="Symbol zastępczy stopki 4"/>
          <p:cNvSpPr>
            <a:spLocks noGrp="1"/>
          </p:cNvSpPr>
          <p:nvPr>
            <p:ph type="ftr" sz="quarter" idx="11"/>
          </p:nvPr>
        </p:nvSpPr>
        <p:spPr/>
        <p:txBody>
          <a:bodyPr/>
          <a:lstStyle>
            <a:lvl1pPr>
              <a:defRPr/>
            </a:lvl1pPr>
          </a:lstStyle>
          <a:p>
            <a:endParaRPr lang="pl-PL" dirty="0"/>
          </a:p>
        </p:txBody>
      </p:sp>
      <p:sp>
        <p:nvSpPr>
          <p:cNvPr id="7" name="Symbol zastępczy numeru slajdu 5"/>
          <p:cNvSpPr>
            <a:spLocks noGrp="1"/>
          </p:cNvSpPr>
          <p:nvPr>
            <p:ph type="sldNum" sz="quarter" idx="12"/>
          </p:nvPr>
        </p:nvSpPr>
        <p:spPr/>
        <p:txBody>
          <a:bodyPr/>
          <a:lstStyle>
            <a:lvl1pPr>
              <a:defRPr/>
            </a:lvl1pPr>
          </a:lstStyle>
          <a:p>
            <a:fld id="{589B7C76-EFF2-4CD8-A475-4750F11B4BC6}" type="slidenum">
              <a:rPr lang="pl-PL" smtClean="0"/>
              <a:pPr/>
              <a:t>‹#›</a:t>
            </a:fld>
            <a:endParaRPr lang="pl-P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a:defRPr/>
            </a:lvl1pPr>
          </a:lstStyle>
          <a:p>
            <a:fld id="{66221E02-25CB-4963-84BC-0813985E7D90}" type="datetimeFigureOut">
              <a:rPr lang="pl-PL" smtClean="0"/>
              <a:pPr/>
              <a:t>10.10.2025</a:t>
            </a:fld>
            <a:endParaRPr lang="pl-PL" dirty="0"/>
          </a:p>
        </p:txBody>
      </p:sp>
      <p:sp>
        <p:nvSpPr>
          <p:cNvPr id="5" name="Symbol zastępczy stopki 4"/>
          <p:cNvSpPr>
            <a:spLocks noGrp="1"/>
          </p:cNvSpPr>
          <p:nvPr>
            <p:ph type="ftr" sz="quarter" idx="11"/>
          </p:nvPr>
        </p:nvSpPr>
        <p:spPr/>
        <p:txBody>
          <a:bodyPr/>
          <a:lstStyle>
            <a:lvl1pPr>
              <a:defRPr/>
            </a:lvl1pPr>
          </a:lstStyle>
          <a:p>
            <a:endParaRPr lang="pl-PL" dirty="0"/>
          </a:p>
        </p:txBody>
      </p:sp>
      <p:sp>
        <p:nvSpPr>
          <p:cNvPr id="6" name="Symbol zastępczy numeru slajdu 5"/>
          <p:cNvSpPr>
            <a:spLocks noGrp="1"/>
          </p:cNvSpPr>
          <p:nvPr>
            <p:ph type="sldNum" sz="quarter" idx="12"/>
          </p:nvPr>
        </p:nvSpPr>
        <p:spPr/>
        <p:txBody>
          <a:bodyPr/>
          <a:lstStyle>
            <a:lvl1pPr>
              <a:defRPr/>
            </a:lvl1pPr>
          </a:lstStyle>
          <a:p>
            <a:fld id="{589B7C76-EFF2-4CD8-A475-4750F11B4BC6}" type="slidenum">
              <a:rPr lang="pl-PL" smtClean="0"/>
              <a:pPr/>
              <a:t>‹#›</a:t>
            </a:fld>
            <a:endParaRPr lang="pl-P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4638"/>
            <a:ext cx="20574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4638"/>
            <a:ext cx="60198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a:defRPr/>
            </a:lvl1pPr>
          </a:lstStyle>
          <a:p>
            <a:fld id="{66221E02-25CB-4963-84BC-0813985E7D90}" type="datetimeFigureOut">
              <a:rPr lang="pl-PL" smtClean="0"/>
              <a:pPr/>
              <a:t>10.10.2025</a:t>
            </a:fld>
            <a:endParaRPr lang="pl-PL" dirty="0"/>
          </a:p>
        </p:txBody>
      </p:sp>
      <p:sp>
        <p:nvSpPr>
          <p:cNvPr id="5" name="Symbol zastępczy stopki 4"/>
          <p:cNvSpPr>
            <a:spLocks noGrp="1"/>
          </p:cNvSpPr>
          <p:nvPr>
            <p:ph type="ftr" sz="quarter" idx="11"/>
          </p:nvPr>
        </p:nvSpPr>
        <p:spPr/>
        <p:txBody>
          <a:bodyPr/>
          <a:lstStyle>
            <a:lvl1pPr>
              <a:defRPr/>
            </a:lvl1pPr>
          </a:lstStyle>
          <a:p>
            <a:endParaRPr lang="pl-PL" dirty="0"/>
          </a:p>
        </p:txBody>
      </p:sp>
      <p:sp>
        <p:nvSpPr>
          <p:cNvPr id="6" name="Symbol zastępczy numeru slajdu 5"/>
          <p:cNvSpPr>
            <a:spLocks noGrp="1"/>
          </p:cNvSpPr>
          <p:nvPr>
            <p:ph type="sldNum" sz="quarter" idx="12"/>
          </p:nvPr>
        </p:nvSpPr>
        <p:spPr/>
        <p:txBody>
          <a:bodyPr/>
          <a:lstStyle>
            <a:lvl1pPr>
              <a:defRPr/>
            </a:lvl1pPr>
          </a:lstStyle>
          <a:p>
            <a:fld id="{589B7C76-EFF2-4CD8-A475-4750F11B4BC6}" type="slidenum">
              <a:rPr lang="pl-PL" smtClean="0"/>
              <a:pPr/>
              <a:t>‹#›</a:t>
            </a:fld>
            <a:endParaRPr lang="pl-PL"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Symbol zastępczy tytułu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pl-PL"/>
              <a:t>Kliknij, aby edytować styl</a:t>
            </a:r>
          </a:p>
        </p:txBody>
      </p:sp>
      <p:sp>
        <p:nvSpPr>
          <p:cNvPr id="1027" name="Symbol zastępczy tekstu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fld id="{66221E02-25CB-4963-84BC-0813985E7D90}" type="datetimeFigureOut">
              <a:rPr lang="pl-PL" smtClean="0"/>
              <a:pPr/>
              <a:t>10.10.2025</a:t>
            </a:fld>
            <a:endParaRPr lang="pl-PL" dirty="0"/>
          </a:p>
        </p:txBody>
      </p:sp>
      <p:sp>
        <p:nvSpPr>
          <p:cNvPr id="5" name="Symbol zastępczy stop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endParaRPr lang="pl-PL" dirty="0"/>
          </a:p>
        </p:txBody>
      </p:sp>
      <p:sp>
        <p:nvSpPr>
          <p:cNvPr id="6" name="Symbol zastępczy numeru slajd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fld id="{589B7C76-EFF2-4CD8-A475-4750F11B4BC6}" type="slidenum">
              <a:rPr lang="pl-PL" smtClean="0"/>
              <a:pPr/>
              <a:t>‹#›</a:t>
            </a:fld>
            <a:endParaRPr lang="pl-PL"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fi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ctrTitle"/>
          </p:nvPr>
        </p:nvSpPr>
        <p:spPr/>
        <p:txBody>
          <a:bodyPr/>
          <a:lstStyle/>
          <a:p>
            <a:r>
              <a:rPr lang="pl-PL" dirty="0">
                <a:solidFill>
                  <a:srgbClr val="FF0000"/>
                </a:solidFill>
                <a:effectLst>
                  <a:outerShdw blurRad="38100" dist="38100" dir="2700000" algn="tl">
                    <a:srgbClr val="000000">
                      <a:alpha val="43137"/>
                    </a:srgbClr>
                  </a:outerShdw>
                </a:effectLst>
              </a:rPr>
              <a:t>Intellectual Property</a:t>
            </a:r>
          </a:p>
        </p:txBody>
      </p:sp>
      <p:sp>
        <p:nvSpPr>
          <p:cNvPr id="3" name="Podtytuł 2"/>
          <p:cNvSpPr>
            <a:spLocks noGrp="1"/>
          </p:cNvSpPr>
          <p:nvPr>
            <p:ph type="subTitle" idx="1"/>
          </p:nvPr>
        </p:nvSpPr>
        <p:spPr/>
        <p:txBody>
          <a:bodyPr/>
          <a:lstStyle/>
          <a:p>
            <a:r>
              <a:rPr lang="pl-PL" dirty="0">
                <a:solidFill>
                  <a:srgbClr val="002060"/>
                </a:solidFill>
                <a:effectLst>
                  <a:outerShdw blurRad="38100" dist="38100" dir="2700000" algn="tl">
                    <a:srgbClr val="000000">
                      <a:alpha val="43137"/>
                    </a:srgbClr>
                  </a:outerShdw>
                </a:effectLst>
              </a:rPr>
              <a:t>Prof. ALK Waldemar Hoff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Two types of IP</a:t>
            </a:r>
          </a:p>
        </p:txBody>
      </p:sp>
      <p:sp>
        <p:nvSpPr>
          <p:cNvPr id="3" name="Symbol zastępczy zawartości 2"/>
          <p:cNvSpPr>
            <a:spLocks noGrp="1"/>
          </p:cNvSpPr>
          <p:nvPr>
            <p:ph idx="1"/>
          </p:nvPr>
        </p:nvSpPr>
        <p:spPr/>
        <p:txBody>
          <a:bodyPr/>
          <a:lstStyle/>
          <a:p>
            <a:pPr>
              <a:buNone/>
            </a:pPr>
            <a:r>
              <a:rPr lang="en-US" dirty="0"/>
              <a:t>There are </a:t>
            </a:r>
            <a:r>
              <a:rPr lang="en-US" b="1" dirty="0">
                <a:solidFill>
                  <a:srgbClr val="FF0000"/>
                </a:solidFill>
                <a:effectLst>
                  <a:outerShdw blurRad="38100" dist="38100" dir="2700000" algn="tl">
                    <a:srgbClr val="000000">
                      <a:alpha val="43137"/>
                    </a:srgbClr>
                  </a:outerShdw>
                </a:effectLst>
                <a:highlight>
                  <a:srgbClr val="FFFF00"/>
                </a:highlight>
              </a:rPr>
              <a:t>two types </a:t>
            </a:r>
            <a:r>
              <a:rPr lang="en-US" b="1" dirty="0">
                <a:solidFill>
                  <a:srgbClr val="FF0000"/>
                </a:solidFill>
                <a:effectLst>
                  <a:outerShdw blurRad="38100" dist="38100" dir="2700000" algn="tl">
                    <a:srgbClr val="000000">
                      <a:alpha val="43137"/>
                    </a:srgbClr>
                  </a:outerShdw>
                </a:effectLst>
              </a:rPr>
              <a:t>of Intellectual Property</a:t>
            </a:r>
            <a:r>
              <a:rPr lang="en-US" dirty="0"/>
              <a:t>:</a:t>
            </a:r>
          </a:p>
          <a:p>
            <a:pPr marL="514350" indent="-514350">
              <a:buAutoNum type="arabicParenR"/>
            </a:pPr>
            <a:r>
              <a:rPr lang="en-US" b="1" dirty="0">
                <a:solidFill>
                  <a:srgbClr val="FF0000"/>
                </a:solidFill>
                <a:effectLst>
                  <a:outerShdw blurRad="38100" dist="38100" dir="2700000" algn="tl">
                    <a:srgbClr val="000000">
                      <a:alpha val="43137"/>
                    </a:srgbClr>
                  </a:outerShdw>
                </a:effectLst>
                <a:highlight>
                  <a:srgbClr val="FFFF00"/>
                </a:highlight>
              </a:rPr>
              <a:t>Copyright</a:t>
            </a:r>
            <a:r>
              <a:rPr lang="pl-PL" b="1" dirty="0">
                <a:solidFill>
                  <a:srgbClr val="FF0000"/>
                </a:solidFill>
                <a:effectLst>
                  <a:outerShdw blurRad="38100" dist="38100" dir="2700000" algn="tl">
                    <a:srgbClr val="000000">
                      <a:alpha val="43137"/>
                    </a:srgbClr>
                  </a:outerShdw>
                </a:effectLst>
                <a:highlight>
                  <a:srgbClr val="FFFF00"/>
                </a:highlight>
              </a:rPr>
              <a:t>s</a:t>
            </a:r>
            <a:r>
              <a:rPr lang="en-US" dirty="0"/>
              <a:t> (books, songs, software,visual arts)</a:t>
            </a:r>
          </a:p>
          <a:p>
            <a:pPr marL="514350" indent="-514350">
              <a:buAutoNum type="arabicParenR"/>
            </a:pPr>
            <a:r>
              <a:rPr lang="en-US" b="1" dirty="0">
                <a:solidFill>
                  <a:srgbClr val="FF0000"/>
                </a:solidFill>
                <a:effectLst>
                  <a:outerShdw blurRad="38100" dist="38100" dir="2700000" algn="tl">
                    <a:srgbClr val="000000">
                      <a:alpha val="43137"/>
                    </a:srgbClr>
                  </a:outerShdw>
                </a:effectLst>
                <a:highlight>
                  <a:srgbClr val="FFFF00"/>
                </a:highlight>
              </a:rPr>
              <a:t>Industrial property </a:t>
            </a:r>
            <a:r>
              <a:rPr lang="en-US" dirty="0"/>
              <a:t>(inventions – </a:t>
            </a:r>
            <a:r>
              <a:rPr lang="en-US" dirty="0">
                <a:highlight>
                  <a:srgbClr val="FFFF00"/>
                </a:highlight>
              </a:rPr>
              <a:t>patents</a:t>
            </a:r>
            <a:r>
              <a:rPr lang="en-US" dirty="0"/>
              <a:t>, trademarks, geographical origin)</a:t>
            </a:r>
          </a:p>
          <a:p>
            <a:pPr marL="514350" indent="-514350">
              <a:buAutoNum type="arabicParenR"/>
            </a:pPr>
            <a:endParaRPr lang="pl-PL" dirty="0"/>
          </a:p>
          <a:p>
            <a:pPr marL="514350" indent="-514350">
              <a:buNone/>
            </a:pPr>
            <a:r>
              <a:rPr lang="pl-PL" dirty="0"/>
              <a:t>      </a:t>
            </a:r>
          </a:p>
          <a:p>
            <a:pPr marL="514350" indent="-514350">
              <a:buNone/>
            </a:pPr>
            <a:endParaRPr lang="pl-PL"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Copyright Poland</a:t>
            </a:r>
          </a:p>
        </p:txBody>
      </p:sp>
      <p:sp>
        <p:nvSpPr>
          <p:cNvPr id="3" name="Symbol zastępczy zawartości 2"/>
          <p:cNvSpPr>
            <a:spLocks noGrp="1"/>
          </p:cNvSpPr>
          <p:nvPr>
            <p:ph idx="1"/>
          </p:nvPr>
        </p:nvSpPr>
        <p:spPr/>
        <p:txBody>
          <a:bodyPr/>
          <a:lstStyle/>
          <a:p>
            <a:pPr algn="ctr">
              <a:buNone/>
            </a:pPr>
            <a:r>
              <a:rPr lang="en-US" b="1" dirty="0">
                <a:solidFill>
                  <a:srgbClr val="FF0000"/>
                </a:solidFill>
                <a:effectLst>
                  <a:outerShdw blurRad="38100" dist="38100" dir="2700000" algn="tl">
                    <a:srgbClr val="000000">
                      <a:alpha val="43137"/>
                    </a:srgbClr>
                  </a:outerShdw>
                </a:effectLst>
              </a:rPr>
              <a:t>The  ACT of 4 February 1994  ON COPYRIGHT AND RELATED RIGHTS 1, as amended </a:t>
            </a:r>
          </a:p>
          <a:p>
            <a:pPr>
              <a:buNone/>
            </a:pPr>
            <a:r>
              <a:rPr lang="en-US" sz="2400" i="1" dirty="0">
                <a:solidFill>
                  <a:srgbClr val="002060"/>
                </a:solidFill>
                <a:effectLst>
                  <a:outerShdw blurRad="38100" dist="38100" dir="2700000" algn="tl">
                    <a:srgbClr val="000000">
                      <a:alpha val="43137"/>
                    </a:srgbClr>
                  </a:outerShdw>
                </a:effectLst>
              </a:rPr>
              <a:t>The Polish law is a reflection of”:</a:t>
            </a:r>
          </a:p>
          <a:p>
            <a:r>
              <a:rPr lang="en-US" sz="2400" i="1" dirty="0">
                <a:solidFill>
                  <a:srgbClr val="002060"/>
                </a:solidFill>
                <a:effectLst>
                  <a:outerShdw blurRad="38100" dist="38100" dir="2700000" algn="tl">
                    <a:srgbClr val="000000">
                      <a:alpha val="43137"/>
                    </a:srgbClr>
                  </a:outerShdw>
                </a:effectLst>
              </a:rPr>
              <a:t> international law including the Paris Convention for the Protection of Industrial Property of 1883 and </a:t>
            </a:r>
          </a:p>
          <a:p>
            <a:r>
              <a:rPr lang="en-US" sz="2400" i="1" dirty="0">
                <a:solidFill>
                  <a:srgbClr val="002060"/>
                </a:solidFill>
                <a:effectLst>
                  <a:outerShdw blurRad="38100" dist="38100" dir="2700000" algn="tl">
                    <a:srgbClr val="000000">
                      <a:alpha val="43137"/>
                    </a:srgbClr>
                  </a:outerShdw>
                </a:effectLst>
              </a:rPr>
              <a:t>Directive of the European Parliament and Council  2014/26/UE on collective management of copyright and related rights and multi-territorial licensing of rights in musical works for online use in the internal market, OJ L 84, 20.3.2014, p. 72–98</a:t>
            </a:r>
          </a:p>
          <a:p>
            <a:pPr algn="ctr">
              <a:buNone/>
            </a:pPr>
            <a:endParaRPr lang="pl-PL"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0070C0"/>
                </a:solidFill>
                <a:effectLst>
                  <a:outerShdw blurRad="38100" dist="38100" dir="2700000" algn="tl">
                    <a:srgbClr val="000000">
                      <a:alpha val="43137"/>
                    </a:srgbClr>
                  </a:outerShdw>
                </a:effectLst>
              </a:rPr>
              <a:t>General definition</a:t>
            </a:r>
          </a:p>
        </p:txBody>
      </p:sp>
      <p:sp>
        <p:nvSpPr>
          <p:cNvPr id="3" name="Symbol zastępczy zawartości 2"/>
          <p:cNvSpPr>
            <a:spLocks noGrp="1"/>
          </p:cNvSpPr>
          <p:nvPr>
            <p:ph idx="1"/>
          </p:nvPr>
        </p:nvSpPr>
        <p:spPr/>
        <p:txBody>
          <a:bodyPr/>
          <a:lstStyle/>
          <a:p>
            <a:pPr marL="0" indent="0">
              <a:buNone/>
            </a:pPr>
            <a:r>
              <a:rPr lang="en-US" sz="4400" dirty="0"/>
              <a:t>Every </a:t>
            </a:r>
            <a:r>
              <a:rPr lang="en-US" sz="4400" b="1" dirty="0">
                <a:solidFill>
                  <a:srgbClr val="FF0000"/>
                </a:solidFill>
                <a:effectLst>
                  <a:outerShdw blurRad="38100" dist="38100" dir="2700000" algn="tl">
                    <a:srgbClr val="000000">
                      <a:alpha val="43137"/>
                    </a:srgbClr>
                  </a:outerShdw>
                </a:effectLst>
              </a:rPr>
              <a:t>individua</a:t>
            </a:r>
            <a:r>
              <a:rPr lang="en-US" sz="4400" b="1" dirty="0">
                <a:solidFill>
                  <a:srgbClr val="FF0000"/>
                </a:solidFill>
              </a:rPr>
              <a:t>l</a:t>
            </a:r>
            <a:r>
              <a:rPr lang="en-US" sz="4400" dirty="0"/>
              <a:t> manifestation of </a:t>
            </a:r>
            <a:r>
              <a:rPr lang="en-US" sz="4400" b="1" dirty="0">
                <a:solidFill>
                  <a:srgbClr val="FF0000"/>
                </a:solidFill>
                <a:effectLst>
                  <a:outerShdw blurRad="38100" dist="38100" dir="2700000" algn="tl">
                    <a:srgbClr val="000000">
                      <a:alpha val="43137"/>
                    </a:srgbClr>
                  </a:outerShdw>
                </a:effectLst>
                <a:highlight>
                  <a:srgbClr val="FFFF00"/>
                </a:highlight>
              </a:rPr>
              <a:t>creativity</a:t>
            </a:r>
            <a:r>
              <a:rPr lang="en-US" sz="4400" dirty="0"/>
              <a:t> </a:t>
            </a:r>
            <a:r>
              <a:rPr lang="en-US" sz="4400" b="1" dirty="0">
                <a:solidFill>
                  <a:srgbClr val="7030A0"/>
                </a:solidFill>
              </a:rPr>
              <a:t>established</a:t>
            </a:r>
            <a:r>
              <a:rPr lang="en-US" sz="4400" dirty="0"/>
              <a:t>’ in any form </a:t>
            </a:r>
            <a:r>
              <a:rPr lang="en-US" sz="4400" b="1" dirty="0">
                <a:solidFill>
                  <a:srgbClr val="002060"/>
                </a:solidFill>
                <a:effectLst>
                  <a:outerShdw blurRad="38100" dist="38100" dir="2700000" algn="tl">
                    <a:srgbClr val="000000">
                      <a:alpha val="43137"/>
                    </a:srgbClr>
                  </a:outerShdw>
                </a:effectLst>
              </a:rPr>
              <a:t>regardless of its value, purpose </a:t>
            </a:r>
            <a:r>
              <a:rPr lang="pl-PL" sz="4400" b="1" dirty="0">
                <a:solidFill>
                  <a:srgbClr val="002060"/>
                </a:solidFill>
                <a:effectLst>
                  <a:outerShdw blurRad="38100" dist="38100" dir="2700000" algn="tl">
                    <a:srgbClr val="000000">
                      <a:alpha val="43137"/>
                    </a:srgbClr>
                  </a:outerShdw>
                </a:effectLst>
              </a:rPr>
              <a:t>or</a:t>
            </a:r>
            <a:r>
              <a:rPr lang="en-US" sz="4400" b="1" dirty="0">
                <a:solidFill>
                  <a:srgbClr val="002060"/>
                </a:solidFill>
                <a:effectLst>
                  <a:outerShdw blurRad="38100" dist="38100" dir="2700000" algn="tl">
                    <a:srgbClr val="000000">
                      <a:alpha val="43137"/>
                    </a:srgbClr>
                  </a:outerShdw>
                </a:effectLst>
              </a:rPr>
              <a:t> the way of expression</a:t>
            </a:r>
            <a:endParaRPr lang="pl-PL" sz="4400" b="1" dirty="0">
              <a:solidFill>
                <a:srgbClr val="002060"/>
              </a:solidFill>
              <a:effectLst>
                <a:outerShdw blurRad="38100" dist="38100" dir="2700000" algn="tl">
                  <a:srgbClr val="000000">
                    <a:alpha val="43137"/>
                  </a:srgbClr>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0070C0"/>
                </a:solidFill>
                <a:effectLst>
                  <a:outerShdw blurRad="38100" dist="38100" dir="2700000" algn="tl">
                    <a:srgbClr val="000000">
                      <a:alpha val="43137"/>
                    </a:srgbClr>
                  </a:outerShdw>
                </a:effectLst>
              </a:rPr>
              <a:t>General definition</a:t>
            </a:r>
            <a:endParaRPr lang="pl-PL" dirty="0"/>
          </a:p>
        </p:txBody>
      </p:sp>
      <p:sp>
        <p:nvSpPr>
          <p:cNvPr id="3" name="Symbol zastępczy zawartości 2"/>
          <p:cNvSpPr>
            <a:spLocks noGrp="1"/>
          </p:cNvSpPr>
          <p:nvPr>
            <p:ph idx="1"/>
          </p:nvPr>
        </p:nvSpPr>
        <p:spPr>
          <a:xfrm>
            <a:off x="457200" y="1600200"/>
            <a:ext cx="8229600" cy="4853136"/>
          </a:xfrm>
        </p:spPr>
        <p:txBody>
          <a:bodyPr/>
          <a:lstStyle/>
          <a:p>
            <a:r>
              <a:rPr lang="en-US" b="1" dirty="0">
                <a:solidFill>
                  <a:srgbClr val="FF0000"/>
                </a:solidFill>
                <a:effectLst>
                  <a:outerShdw blurRad="38100" dist="38100" dir="2700000" algn="tl">
                    <a:srgbClr val="000000">
                      <a:alpha val="43137"/>
                    </a:srgbClr>
                  </a:outerShdw>
                </a:effectLst>
                <a:highlight>
                  <a:srgbClr val="FFFF00"/>
                </a:highlight>
              </a:rPr>
              <a:t>Individual</a:t>
            </a:r>
            <a:r>
              <a:rPr lang="en-US" dirty="0">
                <a:highlight>
                  <a:srgbClr val="FFFF00"/>
                </a:highlight>
              </a:rPr>
              <a:t> </a:t>
            </a:r>
            <a:r>
              <a:rPr lang="en-US" dirty="0">
                <a:solidFill>
                  <a:srgbClr val="002060"/>
                </a:solidFill>
                <a:effectLst>
                  <a:outerShdw blurRad="38100" dist="38100" dir="2700000" algn="tl">
                    <a:srgbClr val="000000">
                      <a:alpha val="43137"/>
                    </a:srgbClr>
                  </a:outerShdw>
                </a:effectLst>
              </a:rPr>
              <a:t>= able to be attributed to one or more individuals</a:t>
            </a:r>
          </a:p>
          <a:p>
            <a:r>
              <a:rPr lang="en-US" b="1" dirty="0">
                <a:solidFill>
                  <a:srgbClr val="FF0000"/>
                </a:solidFill>
                <a:effectLst>
                  <a:outerShdw blurRad="38100" dist="38100" dir="2700000" algn="tl">
                    <a:srgbClr val="000000">
                      <a:alpha val="43137"/>
                    </a:srgbClr>
                  </a:outerShdw>
                </a:effectLst>
                <a:highlight>
                  <a:srgbClr val="FFFF00"/>
                </a:highlight>
              </a:rPr>
              <a:t>Creative</a:t>
            </a:r>
            <a:r>
              <a:rPr lang="en-US" dirty="0"/>
              <a:t> = </a:t>
            </a:r>
            <a:r>
              <a:rPr lang="en-US" dirty="0">
                <a:solidFill>
                  <a:srgbClr val="002060"/>
                </a:solidFill>
                <a:effectLst>
                  <a:outerShdw blurRad="38100" dist="38100" dir="2700000" algn="tl">
                    <a:srgbClr val="000000">
                      <a:alpha val="43137"/>
                    </a:srgbClr>
                  </a:outerShdw>
                </a:effectLst>
              </a:rPr>
              <a:t>new, inventive, not a copy of something that was made before</a:t>
            </a:r>
            <a:endParaRPr lang="pl-PL" dirty="0">
              <a:solidFill>
                <a:srgbClr val="002060"/>
              </a:solidFill>
              <a:effectLst>
                <a:outerShdw blurRad="38100" dist="38100" dir="2700000" algn="tl">
                  <a:srgbClr val="000000">
                    <a:alpha val="43137"/>
                  </a:srgbClr>
                </a:outerShdw>
              </a:effectLst>
            </a:endParaRPr>
          </a:p>
          <a:p>
            <a:r>
              <a:rPr lang="en-US" sz="2400" b="1" i="1" dirty="0">
                <a:solidFill>
                  <a:srgbClr val="002060"/>
                </a:solidFill>
                <a:effectLst>
                  <a:outerShdw blurRad="38100" dist="38100" dir="2700000" algn="tl">
                    <a:srgbClr val="000000">
                      <a:alpha val="43137"/>
                    </a:srgbClr>
                  </a:outerShdw>
                </a:effectLst>
              </a:rPr>
              <a:t>(the element of creativity is demanded in </a:t>
            </a:r>
            <a:r>
              <a:rPr lang="en-US" sz="2400" b="1" i="1" dirty="0">
                <a:solidFill>
                  <a:srgbClr val="002060"/>
                </a:solidFill>
                <a:effectLst>
                  <a:outerShdw blurRad="38100" dist="38100" dir="2700000" algn="tl">
                    <a:srgbClr val="000000">
                      <a:alpha val="43137"/>
                    </a:srgbClr>
                  </a:outerShdw>
                </a:effectLst>
                <a:highlight>
                  <a:srgbClr val="FFFF00"/>
                </a:highlight>
              </a:rPr>
              <a:t>bachelor</a:t>
            </a:r>
            <a:r>
              <a:rPr lang="en-US" sz="2400" b="1" i="1" dirty="0">
                <a:solidFill>
                  <a:srgbClr val="002060"/>
                </a:solidFill>
                <a:effectLst>
                  <a:outerShdw blurRad="38100" dist="38100" dir="2700000" algn="tl">
                    <a:srgbClr val="000000">
                      <a:alpha val="43137"/>
                    </a:srgbClr>
                  </a:outerShdw>
                </a:effectLst>
              </a:rPr>
              <a:t>, master and doctoral </a:t>
            </a:r>
            <a:r>
              <a:rPr lang="en-US" sz="2400" b="1" i="1" dirty="0">
                <a:solidFill>
                  <a:srgbClr val="002060"/>
                </a:solidFill>
                <a:effectLst>
                  <a:outerShdw blurRad="38100" dist="38100" dir="2700000" algn="tl">
                    <a:srgbClr val="000000">
                      <a:alpha val="43137"/>
                    </a:srgbClr>
                  </a:outerShdw>
                </a:effectLst>
                <a:highlight>
                  <a:srgbClr val="FFFF00"/>
                </a:highlight>
              </a:rPr>
              <a:t>thesis</a:t>
            </a:r>
            <a:r>
              <a:rPr lang="en-US" sz="2400" b="1" i="1" dirty="0">
                <a:solidFill>
                  <a:srgbClr val="002060"/>
                </a:solidFill>
                <a:effectLst>
                  <a:outerShdw blurRad="38100" dist="38100" dir="2700000" algn="tl">
                    <a:srgbClr val="000000">
                      <a:alpha val="43137"/>
                    </a:srgbClr>
                  </a:outerShdw>
                </a:effectLst>
              </a:rPr>
              <a:t>)</a:t>
            </a:r>
            <a:endParaRPr lang="en-US" sz="2400" dirty="0">
              <a:solidFill>
                <a:srgbClr val="002060"/>
              </a:solidFill>
              <a:effectLst>
                <a:outerShdw blurRad="38100" dist="38100" dir="2700000" algn="tl">
                  <a:srgbClr val="000000">
                    <a:alpha val="43137"/>
                  </a:srgbClr>
                </a:outerShdw>
              </a:effectLst>
            </a:endParaRPr>
          </a:p>
          <a:p>
            <a:r>
              <a:rPr lang="en-US" b="1" dirty="0">
                <a:solidFill>
                  <a:srgbClr val="FF0000"/>
                </a:solidFill>
                <a:effectLst>
                  <a:outerShdw blurRad="38100" dist="38100" dir="2700000" algn="tl">
                    <a:srgbClr val="000000">
                      <a:alpha val="43137"/>
                    </a:srgbClr>
                  </a:outerShdw>
                </a:effectLst>
                <a:highlight>
                  <a:srgbClr val="FFFF00"/>
                </a:highlight>
              </a:rPr>
              <a:t>Established</a:t>
            </a:r>
            <a:r>
              <a:rPr lang="en-US" dirty="0"/>
              <a:t> </a:t>
            </a:r>
            <a:r>
              <a:rPr lang="en-US" dirty="0">
                <a:solidFill>
                  <a:srgbClr val="002060"/>
                </a:solidFill>
                <a:effectLst>
                  <a:outerShdw blurRad="38100" dist="38100" dir="2700000" algn="tl">
                    <a:srgbClr val="000000">
                      <a:alpha val="43137"/>
                    </a:srgbClr>
                  </a:outerShdw>
                </a:effectLst>
              </a:rPr>
              <a:t>= having a distinguishable shape, fixed, for example a bachelor thesis that is not finished but already has findings attributable to a concrete student</a:t>
            </a:r>
          </a:p>
        </p:txBody>
      </p:sp>
    </p:spTree>
    <p:extLst>
      <p:ext uri="{BB962C8B-B14F-4D97-AF65-F5344CB8AC3E}">
        <p14:creationId xmlns:p14="http://schemas.microsoft.com/office/powerpoint/2010/main" val="3088361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70C0"/>
                </a:solidFill>
                <a:effectLst>
                  <a:outerShdw blurRad="38100" dist="38100" dir="2700000" algn="tl">
                    <a:srgbClr val="000000">
                      <a:alpha val="43137"/>
                    </a:srgbClr>
                  </a:outerShdw>
                </a:effectLst>
              </a:rPr>
              <a:t>Establishment</a:t>
            </a:r>
          </a:p>
        </p:txBody>
      </p:sp>
      <p:sp>
        <p:nvSpPr>
          <p:cNvPr id="3" name="Symbol zastępczy zawartości 2"/>
          <p:cNvSpPr>
            <a:spLocks noGrp="1"/>
          </p:cNvSpPr>
          <p:nvPr>
            <p:ph idx="1"/>
          </p:nvPr>
        </p:nvSpPr>
        <p:spPr/>
        <p:txBody>
          <a:bodyPr/>
          <a:lstStyle/>
          <a:p>
            <a:pPr>
              <a:buNone/>
            </a:pPr>
            <a:r>
              <a:rPr lang="en-US" dirty="0"/>
              <a:t>3. The work shall be in copyright </a:t>
            </a:r>
            <a:r>
              <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since </a:t>
            </a:r>
            <a:r>
              <a:rPr lang="en-US" b="1" dirty="0">
                <a:solidFill>
                  <a:srgbClr val="FF0000"/>
                </a:solidFill>
                <a:effectLst>
                  <a:outerShdw blurRad="38100" dist="38100" dir="2700000" algn="tl">
                    <a:srgbClr val="000000">
                      <a:alpha val="43137"/>
                    </a:srgbClr>
                  </a:outerShdw>
                </a:effectLst>
                <a:latin typeface="Arial Black" panose="020B0A04020102020204" pitchFamily="34" charset="0"/>
              </a:rPr>
              <a:t>being established</a:t>
            </a:r>
            <a:r>
              <a:rPr lang="en-US" dirty="0"/>
              <a:t>, even though its form is incomplete</a:t>
            </a:r>
            <a:r>
              <a:rPr lang="pl-PL" dirty="0"/>
              <a:t> (</a:t>
            </a:r>
            <a:r>
              <a:rPr lang="pl-PL" b="1" dirty="0">
                <a:solidFill>
                  <a:srgbClr val="FF0000"/>
                </a:solidFill>
                <a:effectLst>
                  <a:outerShdw blurRad="38100" dist="38100" dir="2700000" algn="tl">
                    <a:srgbClr val="000000">
                      <a:alpha val="43137"/>
                    </a:srgbClr>
                  </a:outerShdw>
                </a:effectLst>
                <a:highlight>
                  <a:srgbClr val="FFFF00"/>
                </a:highlight>
              </a:rPr>
              <a:t>established= when it takes a recognizable form</a:t>
            </a:r>
            <a:r>
              <a:rPr lang="pl-PL" dirty="0"/>
              <a:t>)</a:t>
            </a:r>
            <a:r>
              <a:rPr lang="en-US" dirty="0"/>
              <a:t> </a:t>
            </a:r>
          </a:p>
          <a:p>
            <a:pPr>
              <a:buNone/>
            </a:pPr>
            <a:r>
              <a:rPr lang="en-US" dirty="0"/>
              <a:t>     4. </a:t>
            </a:r>
            <a:r>
              <a:rPr lang="en-US" dirty="0">
                <a:effectLst>
                  <a:outerShdw blurRad="38100" dist="38100" dir="2700000" algn="tl">
                    <a:srgbClr val="000000">
                      <a:alpha val="43137"/>
                    </a:srgbClr>
                  </a:outerShdw>
                </a:effectLst>
              </a:rPr>
              <a:t>The author shall be granted copyright protection </a:t>
            </a:r>
            <a:r>
              <a:rPr lang="en-US" b="1" dirty="0">
                <a:solidFill>
                  <a:srgbClr val="FF0000"/>
                </a:solidFill>
                <a:effectLst>
                  <a:outerShdw blurRad="38100" dist="38100" dir="2700000" algn="tl">
                    <a:srgbClr val="000000">
                      <a:alpha val="43137"/>
                    </a:srgbClr>
                  </a:outerShdw>
                </a:effectLst>
              </a:rPr>
              <a:t>regardless of whether the </a:t>
            </a:r>
            <a:r>
              <a:rPr lang="en-US" b="1" dirty="0">
                <a:solidFill>
                  <a:srgbClr val="FF0000"/>
                </a:solidFill>
                <a:effectLst>
                  <a:outerShdw blurRad="38100" dist="38100" dir="2700000" algn="tl">
                    <a:srgbClr val="000000">
                      <a:alpha val="43137"/>
                    </a:srgbClr>
                  </a:outerShdw>
                </a:effectLst>
                <a:highlight>
                  <a:srgbClr val="FFFF00"/>
                </a:highlight>
              </a:rPr>
              <a:t>formalities</a:t>
            </a:r>
            <a:r>
              <a:rPr lang="en-US" b="1" dirty="0">
                <a:solidFill>
                  <a:srgbClr val="FF0000"/>
                </a:solidFill>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have been complied with or not</a:t>
            </a:r>
            <a:endParaRPr lang="pl-PL" dirty="0">
              <a:effectLst>
                <a:outerShdw blurRad="38100" dist="38100" dir="2700000" algn="tl">
                  <a:srgbClr val="000000">
                    <a:alpha val="43137"/>
                  </a:srgbClr>
                </a:outerShdw>
              </a:effectLs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5CA90E3-D15F-2F3D-754C-D589991662ED}"/>
              </a:ext>
            </a:extLst>
          </p:cNvPr>
          <p:cNvSpPr>
            <a:spLocks noGrp="1"/>
          </p:cNvSpPr>
          <p:nvPr>
            <p:ph type="title"/>
          </p:nvPr>
        </p:nvSpPr>
        <p:spPr/>
        <p:txBody>
          <a:bodyPr/>
          <a:lstStyle/>
          <a:p>
            <a:r>
              <a:rPr lang="pl-PL" dirty="0" err="1">
                <a:solidFill>
                  <a:srgbClr val="FF0000"/>
                </a:solidFill>
                <a:effectLst>
                  <a:outerShdw blurRad="38100" dist="38100" dir="2700000" algn="tl">
                    <a:srgbClr val="000000">
                      <a:alpha val="43137"/>
                    </a:srgbClr>
                  </a:outerShdw>
                </a:effectLst>
              </a:rPr>
              <a:t>Exhaustion</a:t>
            </a:r>
            <a:r>
              <a:rPr lang="pl-PL" dirty="0">
                <a:solidFill>
                  <a:srgbClr val="002060"/>
                </a:solidFill>
                <a:effectLst>
                  <a:outerShdw blurRad="38100" dist="38100" dir="2700000" algn="tl">
                    <a:srgbClr val="000000">
                      <a:alpha val="43137"/>
                    </a:srgbClr>
                  </a:outerShdw>
                </a:effectLst>
              </a:rPr>
              <a:t> of </a:t>
            </a:r>
            <a:r>
              <a:rPr lang="pl-PL" dirty="0" err="1">
                <a:solidFill>
                  <a:srgbClr val="002060"/>
                </a:solidFill>
                <a:effectLst>
                  <a:outerShdw blurRad="38100" dist="38100" dir="2700000" algn="tl">
                    <a:srgbClr val="000000">
                      <a:alpha val="43137"/>
                    </a:srgbClr>
                  </a:outerShdw>
                </a:effectLst>
              </a:rPr>
              <a:t>rights</a:t>
            </a:r>
            <a:r>
              <a:rPr lang="pl-PL" dirty="0">
                <a:solidFill>
                  <a:srgbClr val="002060"/>
                </a:solidFill>
                <a:effectLst>
                  <a:outerShdw blurRad="38100" dist="38100" dir="2700000" algn="tl">
                    <a:srgbClr val="000000">
                      <a:alpha val="43137"/>
                    </a:srgbClr>
                  </a:outerShdw>
                </a:effectLst>
              </a:rPr>
              <a:t> (copyright)</a:t>
            </a:r>
          </a:p>
        </p:txBody>
      </p:sp>
      <p:sp>
        <p:nvSpPr>
          <p:cNvPr id="3" name="Symbol zastępczy zawartości 2">
            <a:extLst>
              <a:ext uri="{FF2B5EF4-FFF2-40B4-BE49-F238E27FC236}">
                <a16:creationId xmlns:a16="http://schemas.microsoft.com/office/drawing/2014/main" id="{02788AEC-4699-B096-88AA-968317AB7C17}"/>
              </a:ext>
            </a:extLst>
          </p:cNvPr>
          <p:cNvSpPr>
            <a:spLocks noGrp="1"/>
          </p:cNvSpPr>
          <p:nvPr>
            <p:ph idx="1"/>
          </p:nvPr>
        </p:nvSpPr>
        <p:spPr/>
        <p:txBody>
          <a:bodyPr/>
          <a:lstStyle/>
          <a:p>
            <a:pPr marL="0" indent="0">
              <a:buNone/>
            </a:pPr>
            <a:r>
              <a:rPr lang="pl-PL" sz="2400" b="0" i="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sz="2400" b="0" i="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The principle of exhaustion </a:t>
            </a:r>
            <a:r>
              <a:rPr lang="pl-PL" sz="240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r>
              <a:rPr lang="en-US" sz="2400" b="0" i="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provides that a copyright owner’s right to control copies of their work “</a:t>
            </a:r>
            <a:r>
              <a:rPr lang="en-US" sz="2400" b="1" i="0"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exhausts” on its first sale by the copyright owner or with their consent</a:t>
            </a:r>
            <a:r>
              <a:rPr lang="en-US" sz="2400" b="0" i="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The principle prevents the copyright owner’s right to control copies of their work from extending beyond the point at which they receive reasonable remuneration for the copy. Further, it allows the purchaser to have control over their copy, including the right to resell it free from interference by the copyright owner</a:t>
            </a:r>
            <a:r>
              <a:rPr lang="pl-PL" sz="2400" b="0" i="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a:p>
            <a:pPr marL="0" indent="0">
              <a:buNone/>
            </a:pPr>
            <a:r>
              <a:rPr lang="pl-PL" sz="200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Source: https://www.lexology.com/library/detail.aspx?g=29f0d605-aae8-4163-966b-3d2acb0ba3a3</a:t>
            </a:r>
          </a:p>
        </p:txBody>
      </p:sp>
    </p:spTree>
    <p:extLst>
      <p:ext uri="{BB962C8B-B14F-4D97-AF65-F5344CB8AC3E}">
        <p14:creationId xmlns:p14="http://schemas.microsoft.com/office/powerpoint/2010/main" val="2451675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84CD252-DFA0-E2ED-1D36-2E08F79FC9C8}"/>
              </a:ext>
            </a:extLst>
          </p:cNvPr>
          <p:cNvSpPr>
            <a:spLocks noGrp="1"/>
          </p:cNvSpPr>
          <p:nvPr>
            <p:ph type="title"/>
          </p:nvPr>
        </p:nvSpPr>
        <p:spPr/>
        <p:txBody>
          <a:bodyPr/>
          <a:lstStyle/>
          <a:p>
            <a:r>
              <a:rPr lang="pl-PL" dirty="0" err="1">
                <a:solidFill>
                  <a:srgbClr val="FF0000"/>
                </a:solidFill>
                <a:effectLst>
                  <a:outerShdw blurRad="38100" dist="38100" dir="2700000" algn="tl">
                    <a:srgbClr val="000000">
                      <a:alpha val="43137"/>
                    </a:srgbClr>
                  </a:outerShdw>
                </a:effectLst>
              </a:rPr>
              <a:t>Exhaustion</a:t>
            </a:r>
            <a:r>
              <a:rPr lang="pl-PL" dirty="0">
                <a:solidFill>
                  <a:srgbClr val="FF000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of </a:t>
            </a:r>
            <a:r>
              <a:rPr lang="pl-PL" dirty="0" err="1">
                <a:solidFill>
                  <a:srgbClr val="002060"/>
                </a:solidFill>
                <a:effectLst>
                  <a:outerShdw blurRad="38100" dist="38100" dir="2700000" algn="tl">
                    <a:srgbClr val="000000">
                      <a:alpha val="43137"/>
                    </a:srgbClr>
                  </a:outerShdw>
                </a:effectLst>
              </a:rPr>
              <a:t>rights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patents</a:t>
            </a:r>
            <a:r>
              <a:rPr lang="pl-PL" dirty="0">
                <a:solidFill>
                  <a:srgbClr val="002060"/>
                </a:solidFill>
                <a:effectLst>
                  <a:outerShdw blurRad="38100" dist="38100" dir="2700000" algn="tl">
                    <a:srgbClr val="000000">
                      <a:alpha val="43137"/>
                    </a:srgbClr>
                  </a:outerShdw>
                </a:effectLst>
              </a:rPr>
              <a:t>)</a:t>
            </a:r>
          </a:p>
        </p:txBody>
      </p:sp>
      <p:sp>
        <p:nvSpPr>
          <p:cNvPr id="3" name="Symbol zastępczy zawartości 2">
            <a:extLst>
              <a:ext uri="{FF2B5EF4-FFF2-40B4-BE49-F238E27FC236}">
                <a16:creationId xmlns:a16="http://schemas.microsoft.com/office/drawing/2014/main" id="{0AF369DD-FFA0-8CA0-BBF4-D315A9CC5A87}"/>
              </a:ext>
            </a:extLst>
          </p:cNvPr>
          <p:cNvSpPr>
            <a:spLocks noGrp="1"/>
          </p:cNvSpPr>
          <p:nvPr>
            <p:ph idx="1"/>
          </p:nvPr>
        </p:nvSpPr>
        <p:spPr/>
        <p:txBody>
          <a:bodyPr/>
          <a:lstStyle/>
          <a:p>
            <a:pPr marL="0" indent="0">
              <a:buNone/>
            </a:pPr>
            <a:r>
              <a:rPr lang="en-US" i="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Due to the exhaustion of the right, </a:t>
            </a:r>
            <a:r>
              <a:rPr lang="en-US" b="1" i="0"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the right-holder cannot take actions aimed at opposing the use of their product that by their consent has already been placed on the market</a:t>
            </a:r>
            <a:r>
              <a:rPr lang="en-US" i="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in particular, </a:t>
            </a:r>
            <a:r>
              <a:rPr lang="en-US" b="1" i="0"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cannot prevent its resale</a:t>
            </a:r>
            <a:r>
              <a:rPr lang="en-US" i="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endParaRPr lang="pl-PL" i="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0" indent="0">
              <a:buNone/>
            </a:pPr>
            <a:r>
              <a:rPr lang="pl-PL" dirty="0" err="1">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Also</a:t>
            </a:r>
            <a:r>
              <a:rPr lang="pl-PL"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pl-PL" dirty="0" err="1">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known</a:t>
            </a:r>
            <a:r>
              <a:rPr lang="pl-PL"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as the </a:t>
            </a:r>
            <a:r>
              <a:rPr lang="pl-PL" b="1" dirty="0" err="1">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first</a:t>
            </a:r>
            <a:r>
              <a:rPr lang="pl-PL" b="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sale </a:t>
            </a:r>
            <a:r>
              <a:rPr lang="pl-PL" b="1" dirty="0" err="1">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doctrine</a:t>
            </a:r>
            <a:endParaRPr lang="pl-PL" b="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pl-PL" sz="240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p>
            <a:pPr marL="0" indent="0">
              <a:buNone/>
            </a:pPr>
            <a:r>
              <a:rPr lang="pl-PL" sz="2400"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SOURCE: https://wtspatent.pl/en/wyczerpanie-prawa-z-patentu</a:t>
            </a:r>
            <a:r>
              <a:rPr lang="pl-PL" dirty="0">
                <a:solidFill>
                  <a:srgbClr val="00206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434492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Copyrights</a:t>
            </a:r>
            <a:r>
              <a:rPr lang="pl-PL" dirty="0"/>
              <a:t> </a:t>
            </a:r>
            <a:r>
              <a:rPr lang="pl-PL" b="1" dirty="0">
                <a:solidFill>
                  <a:srgbClr val="0070C0"/>
                </a:solidFill>
                <a:effectLst>
                  <a:outerShdw blurRad="38100" dist="38100" dir="2700000" algn="tl">
                    <a:srgbClr val="000000">
                      <a:alpha val="43137"/>
                    </a:srgbClr>
                  </a:outerShdw>
                </a:effectLst>
              </a:rPr>
              <a:t>include</a:t>
            </a:r>
            <a:r>
              <a:rPr lang="pl-PL" dirty="0"/>
              <a:t>:</a:t>
            </a:r>
          </a:p>
        </p:txBody>
      </p:sp>
      <p:sp>
        <p:nvSpPr>
          <p:cNvPr id="3" name="Symbol zastępczy zawartości 2"/>
          <p:cNvSpPr>
            <a:spLocks noGrp="1"/>
          </p:cNvSpPr>
          <p:nvPr>
            <p:ph idx="1"/>
          </p:nvPr>
        </p:nvSpPr>
        <p:spPr/>
        <p:txBody>
          <a:bodyPr/>
          <a:lstStyle/>
          <a:p>
            <a:pPr>
              <a:buNone/>
            </a:pPr>
            <a:r>
              <a:rPr lang="en-US" dirty="0"/>
              <a:t>1)   works expressed in </a:t>
            </a:r>
            <a:r>
              <a:rPr lang="en-US" b="1" dirty="0">
                <a:solidFill>
                  <a:srgbClr val="002060"/>
                </a:solidFill>
                <a:effectLst>
                  <a:outerShdw blurRad="38100" dist="38100" dir="2700000" algn="tl">
                    <a:srgbClr val="000000">
                      <a:alpha val="43137"/>
                    </a:srgbClr>
                  </a:outerShdw>
                </a:effectLst>
              </a:rPr>
              <a:t>words, mathematical symbols, graphic signs</a:t>
            </a:r>
            <a:r>
              <a:rPr lang="en-US" dirty="0"/>
              <a:t> (literary, journalistic, scientific and </a:t>
            </a:r>
            <a:r>
              <a:rPr lang="en-US" b="1" dirty="0">
                <a:solidFill>
                  <a:srgbClr val="002060"/>
                </a:solidFill>
                <a:effectLst>
                  <a:outerShdw blurRad="38100" dist="38100" dir="2700000" algn="tl">
                    <a:srgbClr val="000000">
                      <a:alpha val="43137"/>
                    </a:srgbClr>
                  </a:outerShdw>
                </a:effectLst>
              </a:rPr>
              <a:t>cartographic works </a:t>
            </a:r>
            <a:r>
              <a:rPr lang="en-US" dirty="0"/>
              <a:t>and </a:t>
            </a:r>
            <a:r>
              <a:rPr lang="en-US" b="1" dirty="0">
                <a:solidFill>
                  <a:srgbClr val="002060"/>
                </a:solidFill>
                <a:effectLst>
                  <a:outerShdw blurRad="38100" dist="38100" dir="2700000" algn="tl">
                    <a:srgbClr val="000000">
                      <a:alpha val="43137"/>
                    </a:srgbClr>
                  </a:outerShdw>
                </a:effectLst>
              </a:rPr>
              <a:t>computer programs</a:t>
            </a:r>
            <a:r>
              <a:rPr lang="en-US" dirty="0"/>
              <a:t>); </a:t>
            </a:r>
          </a:p>
          <a:p>
            <a:pPr>
              <a:buNone/>
            </a:pPr>
            <a:r>
              <a:rPr lang="en-US" dirty="0"/>
              <a:t>2)   </a:t>
            </a:r>
            <a:r>
              <a:rPr lang="en-US" b="1" dirty="0">
                <a:solidFill>
                  <a:srgbClr val="002060"/>
                </a:solidFill>
                <a:effectLst>
                  <a:outerShdw blurRad="38100" dist="38100" dir="2700000" algn="tl">
                    <a:srgbClr val="000000">
                      <a:alpha val="43137"/>
                    </a:srgbClr>
                  </a:outerShdw>
                </a:effectLst>
              </a:rPr>
              <a:t>artistic works</a:t>
            </a:r>
            <a:r>
              <a:rPr lang="en-US" dirty="0"/>
              <a:t>; </a:t>
            </a:r>
          </a:p>
          <a:p>
            <a:pPr>
              <a:buNone/>
            </a:pPr>
            <a:r>
              <a:rPr lang="en-US" dirty="0"/>
              <a:t>3)   </a:t>
            </a:r>
            <a:r>
              <a:rPr lang="en-US" b="1" dirty="0">
                <a:solidFill>
                  <a:srgbClr val="002060"/>
                </a:solidFill>
                <a:effectLst>
                  <a:outerShdw blurRad="38100" dist="38100" dir="2700000" algn="tl">
                    <a:srgbClr val="000000">
                      <a:alpha val="43137"/>
                    </a:srgbClr>
                  </a:outerShdw>
                </a:effectLst>
              </a:rPr>
              <a:t>photographic </a:t>
            </a:r>
            <a:r>
              <a:rPr lang="en-US" dirty="0"/>
              <a:t>works; </a:t>
            </a:r>
          </a:p>
          <a:p>
            <a:pPr>
              <a:buNone/>
            </a:pPr>
            <a:r>
              <a:rPr lang="en-US" dirty="0"/>
              <a:t>4)   </a:t>
            </a:r>
            <a:r>
              <a:rPr lang="en-US" b="1" dirty="0">
                <a:solidFill>
                  <a:srgbClr val="002060"/>
                </a:solidFill>
                <a:effectLst>
                  <a:outerShdw blurRad="38100" dist="38100" dir="2700000" algn="tl">
                    <a:srgbClr val="000000">
                      <a:alpha val="43137"/>
                    </a:srgbClr>
                  </a:outerShdw>
                </a:effectLst>
              </a:rPr>
              <a:t>string </a:t>
            </a:r>
            <a:r>
              <a:rPr lang="en-US" dirty="0"/>
              <a:t>musical </a:t>
            </a:r>
            <a:r>
              <a:rPr lang="en-US" b="1" dirty="0">
                <a:solidFill>
                  <a:srgbClr val="002060"/>
                </a:solidFill>
                <a:effectLst>
                  <a:outerShdw blurRad="38100" dist="38100" dir="2700000" algn="tl">
                    <a:srgbClr val="000000">
                      <a:alpha val="43137"/>
                    </a:srgbClr>
                  </a:outerShdw>
                </a:effectLst>
              </a:rPr>
              <a:t>instruments</a:t>
            </a:r>
            <a:r>
              <a:rPr lang="en-US" dirty="0"/>
              <a:t>; </a:t>
            </a:r>
          </a:p>
          <a:p>
            <a:pPr>
              <a:buNone/>
            </a:pPr>
            <a:r>
              <a:rPr lang="en-US" dirty="0"/>
              <a:t>5)   </a:t>
            </a:r>
            <a:r>
              <a:rPr lang="en-US" b="1" dirty="0">
                <a:solidFill>
                  <a:srgbClr val="002060"/>
                </a:solidFill>
                <a:effectLst>
                  <a:outerShdw blurRad="38100" dist="38100" dir="2700000" algn="tl">
                    <a:srgbClr val="000000">
                      <a:alpha val="43137"/>
                    </a:srgbClr>
                  </a:outerShdw>
                </a:effectLst>
              </a:rPr>
              <a:t>industrial design works</a:t>
            </a:r>
            <a:r>
              <a:rPr lang="en-US"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Copyrights</a:t>
            </a:r>
            <a:r>
              <a:rPr lang="pl-PL" dirty="0"/>
              <a:t> include:</a:t>
            </a:r>
          </a:p>
        </p:txBody>
      </p:sp>
      <p:sp>
        <p:nvSpPr>
          <p:cNvPr id="3" name="Symbol zastępczy zawartości 2"/>
          <p:cNvSpPr>
            <a:spLocks noGrp="1"/>
          </p:cNvSpPr>
          <p:nvPr>
            <p:ph idx="1"/>
          </p:nvPr>
        </p:nvSpPr>
        <p:spPr>
          <a:xfrm>
            <a:off x="683568" y="1417638"/>
            <a:ext cx="8229600" cy="4525963"/>
          </a:xfrm>
        </p:spPr>
        <p:txBody>
          <a:bodyPr/>
          <a:lstStyle/>
          <a:p>
            <a:pPr>
              <a:buNone/>
            </a:pPr>
            <a:r>
              <a:rPr lang="en-US" dirty="0"/>
              <a:t>6)   </a:t>
            </a:r>
            <a:r>
              <a:rPr lang="en-US" b="1" dirty="0">
                <a:solidFill>
                  <a:srgbClr val="002060"/>
                </a:solidFill>
                <a:effectLst>
                  <a:outerShdw blurRad="38100" dist="38100" dir="2700000" algn="tl">
                    <a:srgbClr val="000000">
                      <a:alpha val="43137"/>
                    </a:srgbClr>
                  </a:outerShdw>
                </a:effectLst>
              </a:rPr>
              <a:t>architectural works, architectural </a:t>
            </a:r>
            <a:r>
              <a:rPr lang="en-US" dirty="0"/>
              <a:t>and urban planning works as well as urban planning works; </a:t>
            </a:r>
          </a:p>
          <a:p>
            <a:pPr>
              <a:buNone/>
            </a:pPr>
            <a:r>
              <a:rPr lang="en-US" dirty="0"/>
              <a:t>7)   </a:t>
            </a:r>
            <a:r>
              <a:rPr lang="en-US" b="1" dirty="0">
                <a:solidFill>
                  <a:srgbClr val="002060"/>
                </a:solidFill>
                <a:effectLst>
                  <a:outerShdw blurRad="38100" dist="38100" dir="2700000" algn="tl">
                    <a:srgbClr val="000000">
                      <a:alpha val="43137"/>
                    </a:srgbClr>
                  </a:outerShdw>
                </a:effectLst>
              </a:rPr>
              <a:t>musical works </a:t>
            </a:r>
            <a:r>
              <a:rPr lang="en-US" dirty="0"/>
              <a:t>as well as musical and lyrical works; </a:t>
            </a:r>
          </a:p>
          <a:p>
            <a:pPr>
              <a:buNone/>
            </a:pPr>
            <a:r>
              <a:rPr lang="en-US" dirty="0"/>
              <a:t>8</a:t>
            </a:r>
            <a:r>
              <a:rPr lang="en-US" b="1" dirty="0">
                <a:solidFill>
                  <a:srgbClr val="002060"/>
                </a:solidFill>
                <a:effectLst>
                  <a:outerShdw blurRad="38100" dist="38100" dir="2700000" algn="tl">
                    <a:srgbClr val="000000">
                      <a:alpha val="43137"/>
                    </a:srgbClr>
                  </a:outerShdw>
                </a:effectLst>
              </a:rPr>
              <a:t>)   theatrical works</a:t>
            </a:r>
            <a:r>
              <a:rPr lang="en-US" dirty="0"/>
              <a:t>, theatrical and musical works as well as </a:t>
            </a:r>
            <a:r>
              <a:rPr lang="en-US" b="1" dirty="0">
                <a:solidFill>
                  <a:srgbClr val="002060"/>
                </a:solidFill>
                <a:effectLst>
                  <a:outerShdw blurRad="38100" dist="38100" dir="2700000" algn="tl">
                    <a:srgbClr val="000000">
                      <a:alpha val="43137"/>
                    </a:srgbClr>
                  </a:outerShdw>
                </a:effectLst>
              </a:rPr>
              <a:t>choreographic</a:t>
            </a:r>
            <a:r>
              <a:rPr lang="en-US" dirty="0"/>
              <a:t> and </a:t>
            </a:r>
            <a:r>
              <a:rPr lang="en-US" b="1" dirty="0">
                <a:solidFill>
                  <a:srgbClr val="002060"/>
                </a:solidFill>
                <a:effectLst>
                  <a:outerShdw blurRad="38100" dist="38100" dir="2700000" algn="tl">
                    <a:srgbClr val="000000">
                      <a:alpha val="43137"/>
                    </a:srgbClr>
                  </a:outerShdw>
                </a:effectLst>
              </a:rPr>
              <a:t>pantomime works</a:t>
            </a:r>
            <a:r>
              <a:rPr lang="en-US" dirty="0"/>
              <a:t>; </a:t>
            </a:r>
          </a:p>
          <a:p>
            <a:pPr>
              <a:buNone/>
            </a:pPr>
            <a:r>
              <a:rPr lang="en-US" dirty="0"/>
              <a:t>9)  </a:t>
            </a:r>
            <a:r>
              <a:rPr lang="en-US" b="1" dirty="0">
                <a:solidFill>
                  <a:srgbClr val="002060"/>
                </a:solidFill>
                <a:effectLst>
                  <a:outerShdw blurRad="38100" dist="38100" dir="2700000" algn="tl">
                    <a:srgbClr val="000000">
                      <a:alpha val="43137"/>
                    </a:srgbClr>
                  </a:outerShdw>
                </a:effectLst>
              </a:rPr>
              <a:t> audiovisual </a:t>
            </a:r>
            <a:r>
              <a:rPr lang="en-US" dirty="0"/>
              <a:t>(including film) works.</a:t>
            </a:r>
            <a:endParaRPr lang="pl-PL" dirty="0"/>
          </a:p>
          <a:p>
            <a:pPr>
              <a:buNone/>
            </a:pPr>
            <a:endParaRPr lang="pl-PL"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70C0"/>
                </a:solidFill>
                <a:effectLst>
                  <a:outerShdw blurRad="38100" dist="38100" dir="2700000" algn="tl">
                    <a:srgbClr val="000000">
                      <a:alpha val="43137"/>
                    </a:srgbClr>
                  </a:outerShdw>
                </a:effectLst>
              </a:rPr>
              <a:t>Exclusions</a:t>
            </a:r>
          </a:p>
        </p:txBody>
      </p:sp>
      <p:sp>
        <p:nvSpPr>
          <p:cNvPr id="3" name="Symbol zastępczy zawartości 2"/>
          <p:cNvSpPr>
            <a:spLocks noGrp="1"/>
          </p:cNvSpPr>
          <p:nvPr>
            <p:ph idx="1"/>
          </p:nvPr>
        </p:nvSpPr>
        <p:spPr/>
        <p:txBody>
          <a:bodyPr/>
          <a:lstStyle/>
          <a:p>
            <a:r>
              <a:rPr lang="pl-PL" sz="3600" dirty="0"/>
              <a:t> </a:t>
            </a:r>
            <a:r>
              <a:rPr lang="en-US" sz="2800" dirty="0">
                <a:solidFill>
                  <a:srgbClr val="002060"/>
                </a:solidFill>
                <a:latin typeface="Arial Black" panose="020B0A04020102020204" pitchFamily="34" charset="0"/>
              </a:rPr>
              <a:t>Protection applies   </a:t>
            </a:r>
            <a:r>
              <a:rPr lang="pl-PL" sz="2800" dirty="0">
                <a:solidFill>
                  <a:srgbClr val="FF0000"/>
                </a:solidFill>
                <a:highlight>
                  <a:srgbClr val="FFFF00"/>
                </a:highlight>
                <a:latin typeface="Arial Black" panose="020B0A04020102020204" pitchFamily="34" charset="0"/>
              </a:rPr>
              <a:t>only</a:t>
            </a:r>
            <a:r>
              <a:rPr lang="pl-PL" sz="2800" dirty="0">
                <a:solidFill>
                  <a:srgbClr val="002060"/>
                </a:solidFill>
                <a:latin typeface="Arial Black" panose="020B0A04020102020204" pitchFamily="34" charset="0"/>
              </a:rPr>
              <a:t> </a:t>
            </a:r>
            <a:r>
              <a:rPr lang="en-US" sz="2800" dirty="0">
                <a:solidFill>
                  <a:srgbClr val="002060"/>
                </a:solidFill>
                <a:latin typeface="Arial Black" panose="020B0A04020102020204" pitchFamily="34" charset="0"/>
              </a:rPr>
              <a:t>to   </a:t>
            </a:r>
            <a:r>
              <a:rPr lang="en-US" sz="2800" b="1" dirty="0">
                <a:solidFill>
                  <a:srgbClr val="FF0000"/>
                </a:solidFill>
                <a:effectLst>
                  <a:outerShdw blurRad="38100" dist="38100" dir="2700000" algn="tl">
                    <a:srgbClr val="000000">
                      <a:alpha val="43137"/>
                    </a:srgbClr>
                  </a:outerShdw>
                </a:effectLst>
                <a:latin typeface="Arial Black" panose="020B0A04020102020204" pitchFamily="34" charset="0"/>
              </a:rPr>
              <a:t>the   </a:t>
            </a:r>
            <a:r>
              <a:rPr lang="en-US" sz="28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form</a:t>
            </a:r>
            <a:r>
              <a:rPr lang="en-US" sz="2800" b="1" dirty="0">
                <a:solidFill>
                  <a:srgbClr val="FF0000"/>
                </a:solidFill>
                <a:effectLst>
                  <a:outerShdw blurRad="38100" dist="38100" dir="2700000" algn="tl">
                    <a:srgbClr val="000000">
                      <a:alpha val="43137"/>
                    </a:srgbClr>
                  </a:outerShdw>
                </a:effectLst>
                <a:latin typeface="Arial Black" panose="020B0A04020102020204" pitchFamily="34" charset="0"/>
              </a:rPr>
              <a:t>   of   expression</a:t>
            </a:r>
            <a:r>
              <a:rPr lang="en-US" sz="2800" dirty="0">
                <a:solidFill>
                  <a:srgbClr val="FF0000"/>
                </a:solidFill>
                <a:effectLst>
                  <a:outerShdw blurRad="38100" dist="38100" dir="2700000" algn="tl">
                    <a:srgbClr val="000000">
                      <a:alpha val="43137"/>
                    </a:srgbClr>
                  </a:outerShdw>
                </a:effectLst>
                <a:latin typeface="Arial Black" panose="020B0A04020102020204" pitchFamily="34" charset="0"/>
              </a:rPr>
              <a:t>  </a:t>
            </a:r>
            <a:r>
              <a:rPr lang="en-US" sz="2800" dirty="0">
                <a:solidFill>
                  <a:srgbClr val="002060"/>
                </a:solidFill>
                <a:effectLst>
                  <a:outerShdw blurRad="38100" dist="38100" dir="2700000" algn="tl">
                    <a:srgbClr val="000000">
                      <a:alpha val="43137"/>
                    </a:srgbClr>
                  </a:outerShdw>
                </a:effectLst>
              </a:rPr>
              <a:t>(if you wrote a romance novel</a:t>
            </a:r>
            <a:r>
              <a:rPr lang="pl-PL" sz="2800" dirty="0">
                <a:solidFill>
                  <a:srgbClr val="002060"/>
                </a:solidFill>
                <a:effectLst>
                  <a:outerShdw blurRad="38100" dist="38100" dir="2700000" algn="tl">
                    <a:srgbClr val="000000">
                      <a:alpha val="43137"/>
                    </a:srgbClr>
                  </a:outerShdw>
                </a:effectLst>
              </a:rPr>
              <a:t>,</a:t>
            </a:r>
            <a:r>
              <a:rPr lang="en-US" sz="2800" dirty="0">
                <a:solidFill>
                  <a:srgbClr val="002060"/>
                </a:solidFill>
                <a:effectLst>
                  <a:outerShdw blurRad="38100" dist="38100" dir="2700000" algn="tl">
                    <a:srgbClr val="000000">
                      <a:alpha val="43137"/>
                    </a:srgbClr>
                  </a:outerShdw>
                </a:effectLst>
              </a:rPr>
              <a:t> that does not mean that other people may not write </a:t>
            </a:r>
            <a:r>
              <a:rPr lang="pl-PL" sz="2800" dirty="0">
                <a:solidFill>
                  <a:srgbClr val="002060"/>
                </a:solidFill>
                <a:effectLst>
                  <a:outerShdw blurRad="38100" dist="38100" dir="2700000" algn="tl">
                    <a:srgbClr val="000000">
                      <a:alpha val="43137"/>
                    </a:srgbClr>
                  </a:outerShdw>
                </a:effectLst>
              </a:rPr>
              <a:t>a romance</a:t>
            </a:r>
            <a:r>
              <a:rPr lang="en-US" sz="2800" dirty="0">
                <a:solidFill>
                  <a:srgbClr val="002060"/>
                </a:solidFill>
                <a:effectLst>
                  <a:outerShdw blurRad="38100" dist="38100" dir="2700000" algn="tl">
                    <a:srgbClr val="000000">
                      <a:alpha val="43137"/>
                    </a:srgbClr>
                  </a:outerShdw>
                </a:effectLst>
              </a:rPr>
              <a:t>)</a:t>
            </a:r>
          </a:p>
          <a:p>
            <a:r>
              <a:rPr lang="en-US" sz="2800" dirty="0"/>
              <a:t> </a:t>
            </a:r>
            <a:r>
              <a:rPr lang="pl-PL" sz="2800" b="1" dirty="0">
                <a:solidFill>
                  <a:srgbClr val="FF0000"/>
                </a:solidFill>
                <a:effectLst>
                  <a:outerShdw blurRad="38100" dist="38100" dir="2700000" algn="tl">
                    <a:srgbClr val="000000">
                      <a:alpha val="43137"/>
                    </a:srgbClr>
                  </a:outerShdw>
                </a:effectLst>
                <a:highlight>
                  <a:srgbClr val="FFFF00"/>
                </a:highlight>
              </a:rPr>
              <a:t>N</a:t>
            </a:r>
            <a:r>
              <a:rPr lang="en-US" sz="2800" b="1" dirty="0">
                <a:solidFill>
                  <a:srgbClr val="FF0000"/>
                </a:solidFill>
                <a:effectLst>
                  <a:outerShdw blurRad="38100" dist="38100" dir="2700000" algn="tl">
                    <a:srgbClr val="000000">
                      <a:alpha val="43137"/>
                    </a:srgbClr>
                  </a:outerShdw>
                </a:effectLst>
                <a:highlight>
                  <a:srgbClr val="FFFF00"/>
                </a:highlight>
              </a:rPr>
              <a:t>o   protection   </a:t>
            </a:r>
            <a:r>
              <a:rPr lang="pl-PL" sz="2800" b="1" dirty="0">
                <a:solidFill>
                  <a:srgbClr val="002060"/>
                </a:solidFill>
                <a:effectLst>
                  <a:outerShdw blurRad="38100" dist="38100" dir="2700000" algn="tl">
                    <a:srgbClr val="000000">
                      <a:alpha val="43137"/>
                    </a:srgbClr>
                  </a:outerShdw>
                </a:effectLst>
              </a:rPr>
              <a:t>is</a:t>
            </a:r>
            <a:r>
              <a:rPr lang="en-US" sz="2800" b="1" dirty="0">
                <a:solidFill>
                  <a:srgbClr val="002060"/>
                </a:solidFill>
                <a:effectLst>
                  <a:outerShdw blurRad="38100" dist="38100" dir="2700000" algn="tl">
                    <a:srgbClr val="000000">
                      <a:alpha val="43137"/>
                    </a:srgbClr>
                  </a:outerShdw>
                </a:effectLst>
              </a:rPr>
              <a:t>   granted   to</a:t>
            </a:r>
            <a:r>
              <a:rPr lang="pl-PL" sz="2800" b="1" dirty="0">
                <a:solidFill>
                  <a:srgbClr val="002060"/>
                </a:solidFill>
                <a:effectLst>
                  <a:outerShdw blurRad="38100" dist="38100" dir="2700000" algn="tl">
                    <a:srgbClr val="000000">
                      <a:alpha val="43137"/>
                    </a:srgbClr>
                  </a:outerShdw>
                </a:effectLst>
              </a:rPr>
              <a:t>:</a:t>
            </a:r>
          </a:p>
          <a:p>
            <a:pPr>
              <a:buNone/>
            </a:pPr>
            <a:r>
              <a:rPr lang="pl-PL" sz="2800" b="1" dirty="0">
                <a:solidFill>
                  <a:srgbClr val="002060"/>
                </a:solidFill>
                <a:effectLst>
                  <a:outerShdw blurRad="38100" dist="38100" dir="2700000" algn="tl">
                    <a:srgbClr val="000000">
                      <a:alpha val="43137"/>
                    </a:srgbClr>
                  </a:outerShdw>
                </a:effectLst>
              </a:rPr>
              <a:t>  </a:t>
            </a:r>
            <a:r>
              <a:rPr lang="en-US" sz="2800" b="1" dirty="0">
                <a:solidFill>
                  <a:srgbClr val="002060"/>
                </a:solidFill>
                <a:effectLst>
                  <a:outerShdw blurRad="38100" dist="38100" dir="2700000" algn="tl">
                    <a:srgbClr val="000000">
                      <a:alpha val="43137"/>
                    </a:srgbClr>
                  </a:outerShdw>
                </a:effectLst>
              </a:rPr>
              <a:t> </a:t>
            </a:r>
            <a:r>
              <a:rPr lang="pl-PL" sz="2800" b="1" dirty="0" err="1">
                <a:solidFill>
                  <a:srgbClr val="0070C0"/>
                </a:solidFill>
                <a:effectLst>
                  <a:outerShdw blurRad="38100" dist="38100" dir="2700000" algn="tl">
                    <a:srgbClr val="000000">
                      <a:alpha val="43137"/>
                    </a:srgbClr>
                  </a:outerShdw>
                </a:effectLst>
              </a:rPr>
              <a:t>Discoveries</a:t>
            </a:r>
            <a:r>
              <a:rPr lang="en-US" sz="2800" b="1" dirty="0">
                <a:solidFill>
                  <a:srgbClr val="0070C0"/>
                </a:solidFill>
                <a:effectLst>
                  <a:outerShdw blurRad="38100" dist="38100" dir="2700000" algn="tl">
                    <a:srgbClr val="000000">
                      <a:alpha val="43137"/>
                    </a:srgbClr>
                  </a:outerShdw>
                </a:effectLst>
              </a:rPr>
              <a:t>, ideas, procedures, methods</a:t>
            </a:r>
            <a:r>
              <a:rPr lang="pl-PL" sz="2800" b="1" dirty="0">
                <a:solidFill>
                  <a:srgbClr val="0070C0"/>
                </a:solidFill>
                <a:effectLst>
                  <a:outerShdw blurRad="38100" dist="38100" dir="2700000" algn="tl">
                    <a:srgbClr val="000000">
                      <a:alpha val="43137"/>
                    </a:srgbClr>
                  </a:outerShdw>
                </a:effectLst>
              </a:rPr>
              <a:t>,</a:t>
            </a:r>
            <a:r>
              <a:rPr lang="en-US" sz="2800" b="1" dirty="0">
                <a:solidFill>
                  <a:srgbClr val="0070C0"/>
                </a:solidFill>
                <a:effectLst>
                  <a:outerShdw blurRad="38100" dist="38100" dir="2700000" algn="tl">
                    <a:srgbClr val="000000">
                      <a:alpha val="43137"/>
                    </a:srgbClr>
                  </a:outerShdw>
                </a:effectLst>
              </a:rPr>
              <a:t> and principles of operation</a:t>
            </a:r>
            <a:r>
              <a:rPr lang="pl-PL" sz="2800" b="1" dirty="0">
                <a:solidFill>
                  <a:srgbClr val="0070C0"/>
                </a:solidFill>
                <a:effectLst>
                  <a:outerShdw blurRad="38100" dist="38100" dir="2700000" algn="tl">
                    <a:srgbClr val="000000">
                      <a:alpha val="43137"/>
                    </a:srgbClr>
                  </a:outerShdw>
                </a:effectLst>
              </a:rPr>
              <a:t>,</a:t>
            </a:r>
            <a:r>
              <a:rPr lang="en-US" sz="2800" b="1" dirty="0">
                <a:solidFill>
                  <a:srgbClr val="0070C0"/>
                </a:solidFill>
                <a:effectLst>
                  <a:outerShdw blurRad="38100" dist="38100" dir="2700000" algn="tl">
                    <a:srgbClr val="000000">
                      <a:alpha val="43137"/>
                    </a:srgbClr>
                  </a:outerShdw>
                </a:effectLst>
              </a:rPr>
              <a:t> as well as mathematical concepts</a:t>
            </a:r>
            <a:endParaRPr lang="pl-PL" sz="2800" dirty="0">
              <a:solidFill>
                <a:srgbClr val="0070C0"/>
              </a:solidFill>
              <a:effectLst>
                <a:outerShdw blurRad="38100" dist="38100" dir="2700000" algn="tl">
                  <a:srgbClr val="000000">
                    <a:alpha val="43137"/>
                  </a:srgbClr>
                </a:outerShdw>
              </a:effectLst>
            </a:endParaRPr>
          </a:p>
          <a:p>
            <a:pPr>
              <a:buNone/>
            </a:pPr>
            <a:r>
              <a:rPr lang="en-US" sz="3600" dirty="0"/>
              <a:t> </a:t>
            </a:r>
            <a:endParaRPr lang="pl-PL" sz="3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Exclusions</a:t>
            </a:r>
          </a:p>
        </p:txBody>
      </p:sp>
      <p:sp>
        <p:nvSpPr>
          <p:cNvPr id="3" name="Symbol zastępczy zawartości 2"/>
          <p:cNvSpPr>
            <a:spLocks noGrp="1"/>
          </p:cNvSpPr>
          <p:nvPr>
            <p:ph idx="1"/>
          </p:nvPr>
        </p:nvSpPr>
        <p:spPr/>
        <p:txBody>
          <a:bodyPr/>
          <a:lstStyle/>
          <a:p>
            <a:pPr>
              <a:buNone/>
            </a:pPr>
            <a:r>
              <a:rPr lang="pl-PL" dirty="0"/>
              <a:t>1)   </a:t>
            </a:r>
            <a:r>
              <a:rPr lang="pl-PL" b="1" dirty="0" err="1">
                <a:solidFill>
                  <a:srgbClr val="FF0000"/>
                </a:solidFill>
                <a:effectLst>
                  <a:outerShdw blurRad="38100" dist="38100" dir="2700000" algn="tl">
                    <a:srgbClr val="000000">
                      <a:alpha val="43137"/>
                    </a:srgbClr>
                  </a:outerShdw>
                </a:effectLst>
              </a:rPr>
              <a:t>Laws</a:t>
            </a:r>
            <a:r>
              <a:rPr lang="en-US" b="1" dirty="0">
                <a:solidFill>
                  <a:srgbClr val="FF000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and </a:t>
            </a:r>
            <a:r>
              <a:rPr lang="en-US" dirty="0"/>
              <a:t>their official drafts; </a:t>
            </a:r>
          </a:p>
          <a:p>
            <a:pPr>
              <a:buNone/>
            </a:pPr>
            <a:r>
              <a:rPr lang="en-US" dirty="0"/>
              <a:t>2)   </a:t>
            </a:r>
            <a:r>
              <a:rPr lang="en-US" b="1" dirty="0">
                <a:solidFill>
                  <a:srgbClr val="FF0000"/>
                </a:solidFill>
                <a:effectLst>
                  <a:outerShdw blurRad="38100" dist="38100" dir="2700000" algn="tl">
                    <a:srgbClr val="000000">
                      <a:alpha val="43137"/>
                    </a:srgbClr>
                  </a:outerShdw>
                </a:effectLst>
              </a:rPr>
              <a:t>official documents</a:t>
            </a:r>
            <a:r>
              <a:rPr lang="en-US" dirty="0"/>
              <a:t>, materials, logos</a:t>
            </a:r>
            <a:r>
              <a:rPr lang="pl-PL" dirty="0"/>
              <a:t>,</a:t>
            </a:r>
            <a:r>
              <a:rPr lang="en-US" dirty="0"/>
              <a:t> and </a:t>
            </a:r>
            <a:r>
              <a:rPr lang="pl-PL" dirty="0"/>
              <a:t> </a:t>
            </a:r>
            <a:r>
              <a:rPr lang="en-US" dirty="0"/>
              <a:t>symbols; </a:t>
            </a:r>
          </a:p>
          <a:p>
            <a:pPr>
              <a:buNone/>
            </a:pPr>
            <a:r>
              <a:rPr lang="en-US" dirty="0"/>
              <a:t>3)   published patent </a:t>
            </a:r>
            <a:r>
              <a:rPr lang="en-US" b="1" dirty="0">
                <a:solidFill>
                  <a:srgbClr val="002060"/>
                </a:solidFill>
              </a:rPr>
              <a:t>specifications</a:t>
            </a:r>
            <a:r>
              <a:rPr lang="en-US" dirty="0"/>
              <a:t> and industrial design specifications; </a:t>
            </a:r>
          </a:p>
          <a:p>
            <a:pPr>
              <a:buNone/>
            </a:pPr>
            <a:r>
              <a:rPr lang="en-US" dirty="0"/>
              <a:t>4)   </a:t>
            </a:r>
            <a:r>
              <a:rPr lang="en-US" b="1" dirty="0">
                <a:solidFill>
                  <a:srgbClr val="FF0000"/>
                </a:solidFill>
                <a:effectLst>
                  <a:outerShdw blurRad="38100" dist="38100" dir="2700000" algn="tl">
                    <a:srgbClr val="000000">
                      <a:alpha val="43137"/>
                    </a:srgbClr>
                  </a:outerShdw>
                </a:effectLst>
              </a:rPr>
              <a:t>simple press information</a:t>
            </a:r>
            <a:endParaRPr lang="pl-PL" dirty="0">
              <a:effectLst>
                <a:outerShdw blurRad="38100" dist="38100" dir="2700000" algn="tl">
                  <a:srgbClr val="000000">
                    <a:alpha val="43137"/>
                  </a:srgbClr>
                </a:outerShdw>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70C0"/>
                </a:solidFill>
                <a:effectLst>
                  <a:outerShdw blurRad="38100" dist="38100" dir="2700000" algn="tl">
                    <a:srgbClr val="000000">
                      <a:alpha val="43137"/>
                    </a:srgbClr>
                  </a:outerShdw>
                </a:effectLst>
              </a:rPr>
              <a:t>Anthologies</a:t>
            </a:r>
          </a:p>
        </p:txBody>
      </p:sp>
      <p:sp>
        <p:nvSpPr>
          <p:cNvPr id="3" name="Symbol zastępczy zawartości 2"/>
          <p:cNvSpPr>
            <a:spLocks noGrp="1"/>
          </p:cNvSpPr>
          <p:nvPr>
            <p:ph idx="1"/>
          </p:nvPr>
        </p:nvSpPr>
        <p:spPr/>
        <p:txBody>
          <a:bodyPr/>
          <a:lstStyle/>
          <a:p>
            <a:pPr>
              <a:buNone/>
            </a:pPr>
            <a:r>
              <a:rPr lang="en-US" dirty="0">
                <a:ea typeface="Calibri"/>
                <a:cs typeface="Calibri"/>
              </a:rPr>
              <a:t>Collections,   anthologies,   selections,   and   data   bases   showing   the   features  of   a   piece   of work </a:t>
            </a:r>
            <a:r>
              <a:rPr lang="pl-PL" dirty="0">
                <a:ea typeface="Calibri"/>
                <a:cs typeface="Calibri"/>
              </a:rPr>
              <a:t>are</a:t>
            </a:r>
            <a:r>
              <a:rPr lang="en-US" dirty="0">
                <a:ea typeface="Calibri"/>
                <a:cs typeface="Calibri"/>
              </a:rPr>
              <a:t> </a:t>
            </a:r>
            <a:r>
              <a:rPr lang="en-US" b="1" dirty="0">
                <a:solidFill>
                  <a:srgbClr val="0070C0"/>
                </a:solidFill>
                <a:ea typeface="Calibri"/>
                <a:cs typeface="Calibri"/>
              </a:rPr>
              <a:t>copyrighted even if they contain unprotected materials </a:t>
            </a:r>
            <a:r>
              <a:rPr lang="en-US" b="1" dirty="0">
                <a:solidFill>
                  <a:srgbClr val="FF0000"/>
                </a:solidFill>
                <a:effectLst>
                  <a:outerShdw blurRad="38100" dist="38100" dir="2700000" algn="tl">
                    <a:srgbClr val="000000">
                      <a:alpha val="43137"/>
                    </a:srgbClr>
                  </a:outerShdw>
                </a:effectLst>
                <a:ea typeface="Calibri"/>
                <a:cs typeface="Calibri"/>
              </a:rPr>
              <a:t>in so far as the nature of their order, arrangement or composition is creative </a:t>
            </a:r>
            <a:r>
              <a:rPr lang="en-US" dirty="0">
                <a:ea typeface="Calibri"/>
                <a:cs typeface="Calibri"/>
              </a:rPr>
              <a:t>without detriment to the rights of the works used </a:t>
            </a:r>
            <a:endParaRPr lang="pl-PL" dirty="0">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highlight>
                  <a:srgbClr val="FFFF00"/>
                </a:highlight>
              </a:rPr>
              <a:t>Ownership of work</a:t>
            </a:r>
          </a:p>
        </p:txBody>
      </p:sp>
      <p:sp>
        <p:nvSpPr>
          <p:cNvPr id="3" name="Symbol zastępczy zawartości 2"/>
          <p:cNvSpPr>
            <a:spLocks noGrp="1"/>
          </p:cNvSpPr>
          <p:nvPr>
            <p:ph idx="1"/>
          </p:nvPr>
        </p:nvSpPr>
        <p:spPr/>
        <p:txBody>
          <a:bodyPr/>
          <a:lstStyle/>
          <a:p>
            <a:r>
              <a:rPr lang="en-US" sz="2800" dirty="0">
                <a:solidFill>
                  <a:srgbClr val="002060"/>
                </a:solidFill>
                <a:effectLst>
                  <a:outerShdw blurRad="38100" dist="38100" dir="2700000" algn="tl">
                    <a:srgbClr val="000000">
                      <a:alpha val="43137"/>
                    </a:srgbClr>
                  </a:outerShdw>
                </a:effectLst>
                <a:latin typeface="Arial Black" panose="020B0A04020102020204" pitchFamily="34" charset="0"/>
              </a:rPr>
              <a:t>The </a:t>
            </a:r>
            <a:r>
              <a:rPr lang="en-US" sz="2800" dirty="0">
                <a:solidFill>
                  <a:srgbClr val="FF0000"/>
                </a:solidFill>
                <a:effectLst>
                  <a:outerShdw blurRad="38100" dist="38100" dir="2700000" algn="tl">
                    <a:srgbClr val="000000">
                      <a:alpha val="43137"/>
                    </a:srgbClr>
                  </a:outerShdw>
                </a:effectLst>
                <a:latin typeface="Arial Black" panose="020B0A04020102020204" pitchFamily="34" charset="0"/>
              </a:rPr>
              <a:t>owner</a:t>
            </a:r>
            <a:r>
              <a:rPr lang="en-US" sz="2800" dirty="0">
                <a:solidFill>
                  <a:srgbClr val="002060"/>
                </a:solidFill>
                <a:effectLst>
                  <a:outerShdw blurRad="38100" dist="38100" dir="2700000" algn="tl">
                    <a:srgbClr val="000000">
                      <a:alpha val="43137"/>
                    </a:srgbClr>
                  </a:outerShdw>
                </a:effectLst>
                <a:latin typeface="Arial Black" panose="020B0A04020102020204" pitchFamily="34" charset="0"/>
              </a:rPr>
              <a:t> of the copyright </a:t>
            </a:r>
            <a:r>
              <a:rPr lang="pl-PL" sz="2800" dirty="0">
                <a:solidFill>
                  <a:srgbClr val="002060"/>
                </a:solidFill>
                <a:effectLst>
                  <a:outerShdw blurRad="38100" dist="38100" dir="2700000" algn="tl">
                    <a:srgbClr val="000000">
                      <a:alpha val="43137"/>
                    </a:srgbClr>
                  </a:outerShdw>
                </a:effectLst>
                <a:latin typeface="Arial Black" panose="020B0A04020102020204" pitchFamily="34" charset="0"/>
              </a:rPr>
              <a:t>is</a:t>
            </a:r>
            <a:r>
              <a:rPr lang="en-US" sz="2800" dirty="0">
                <a:solidFill>
                  <a:srgbClr val="002060"/>
                </a:solidFill>
                <a:effectLst>
                  <a:outerShdw blurRad="38100" dist="38100" dir="2700000" algn="tl">
                    <a:srgbClr val="000000">
                      <a:alpha val="43137"/>
                    </a:srgbClr>
                  </a:outerShdw>
                </a:effectLst>
                <a:latin typeface="Arial Black" panose="020B0A04020102020204" pitchFamily="34" charset="0"/>
              </a:rPr>
              <a:t> </a:t>
            </a:r>
            <a:r>
              <a:rPr lang="en-US" sz="2800" b="1" dirty="0">
                <a:solidFill>
                  <a:srgbClr val="002060"/>
                </a:solidFill>
                <a:effectLst>
                  <a:outerShdw blurRad="38100" dist="38100" dir="2700000" algn="tl">
                    <a:srgbClr val="000000">
                      <a:alpha val="43137"/>
                    </a:srgbClr>
                  </a:outerShdw>
                </a:effectLst>
                <a:latin typeface="Arial Black" panose="020B0A04020102020204" pitchFamily="34" charset="0"/>
              </a:rPr>
              <a:t>the </a:t>
            </a:r>
            <a:r>
              <a:rPr lang="en-US" sz="28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author</a:t>
            </a:r>
            <a:r>
              <a:rPr lang="pl-PL" sz="28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 (moral right + economic right)</a:t>
            </a:r>
            <a:r>
              <a:rPr lang="en-US" sz="28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 </a:t>
            </a:r>
            <a:endParaRPr lang="pl-PL" sz="28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endParaRPr>
          </a:p>
          <a:p>
            <a:r>
              <a:rPr lang="pl-PL" sz="2800" dirty="0"/>
              <a:t>It is</a:t>
            </a:r>
            <a:r>
              <a:rPr lang="en-US" sz="2800" dirty="0"/>
              <a:t> </a:t>
            </a:r>
            <a:r>
              <a:rPr lang="en-US" sz="28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presumed </a:t>
            </a:r>
            <a:r>
              <a:rPr lang="en-US" sz="2800" dirty="0"/>
              <a:t>that the author is the person </a:t>
            </a:r>
            <a:r>
              <a:rPr lang="en-US" sz="2800" b="1" dirty="0">
                <a:solidFill>
                  <a:srgbClr val="FF0000"/>
                </a:solidFill>
                <a:effectLst>
                  <a:outerShdw blurRad="38100" dist="38100" dir="2700000" algn="tl">
                    <a:srgbClr val="000000">
                      <a:alpha val="43137"/>
                    </a:srgbClr>
                  </a:outerShdw>
                </a:effectLst>
              </a:rPr>
              <a:t>whose name has been indicated </a:t>
            </a:r>
            <a:r>
              <a:rPr lang="en-US" sz="2800" dirty="0"/>
              <a:t>as the author on copies   of   the   work   or   whose</a:t>
            </a:r>
            <a:r>
              <a:rPr lang="pl-PL" sz="2800" dirty="0"/>
              <a:t> </a:t>
            </a:r>
            <a:r>
              <a:rPr lang="en-US" sz="2800" dirty="0"/>
              <a:t>authorship</a:t>
            </a:r>
            <a:r>
              <a:rPr lang="pl-PL" sz="2800" dirty="0"/>
              <a:t> </a:t>
            </a:r>
            <a:r>
              <a:rPr lang="en-US" sz="2800" dirty="0"/>
              <a:t>has</a:t>
            </a:r>
            <a:r>
              <a:rPr lang="pl-PL" sz="2800" dirty="0"/>
              <a:t> </a:t>
            </a:r>
            <a:r>
              <a:rPr lang="en-US" sz="2800" dirty="0"/>
              <a:t>been   </a:t>
            </a:r>
            <a:r>
              <a:rPr lang="en-US" sz="2800" b="1" dirty="0">
                <a:solidFill>
                  <a:srgbClr val="FF0000"/>
                </a:solidFill>
                <a:effectLst>
                  <a:outerShdw blurRad="38100" dist="38100" dir="2700000" algn="tl">
                    <a:srgbClr val="000000">
                      <a:alpha val="43137"/>
                    </a:srgbClr>
                  </a:outerShdw>
                </a:effectLst>
              </a:rPr>
              <a:t>announced</a:t>
            </a:r>
            <a:r>
              <a:rPr lang="pl-PL" sz="2800" dirty="0">
                <a:effectLst>
                  <a:outerShdw blurRad="38100" dist="38100" dir="2700000" algn="tl">
                    <a:srgbClr val="000000">
                      <a:alpha val="43137"/>
                    </a:srgbClr>
                  </a:outerShdw>
                </a:effectLst>
              </a:rPr>
              <a:t> </a:t>
            </a:r>
            <a:r>
              <a:rPr lang="en-US" sz="2800" dirty="0"/>
              <a:t>to   the</a:t>
            </a:r>
            <a:r>
              <a:rPr lang="pl-PL" sz="2800" dirty="0"/>
              <a:t> </a:t>
            </a:r>
            <a:r>
              <a:rPr lang="en-US" sz="2800" dirty="0"/>
              <a:t>public</a:t>
            </a:r>
            <a:r>
              <a:rPr lang="pl-PL" sz="2800" dirty="0"/>
              <a:t> </a:t>
            </a:r>
            <a:r>
              <a:rPr lang="en-US" sz="2800" dirty="0"/>
              <a:t>in</a:t>
            </a:r>
            <a:r>
              <a:rPr lang="pl-PL" sz="2800" dirty="0"/>
              <a:t> </a:t>
            </a:r>
            <a:r>
              <a:rPr lang="en-US" sz="2800" dirty="0"/>
              <a:t>any   other</a:t>
            </a:r>
            <a:r>
              <a:rPr lang="pl-PL" sz="2800" dirty="0"/>
              <a:t> </a:t>
            </a:r>
            <a:r>
              <a:rPr lang="en-US" sz="2800" dirty="0"/>
              <a:t>manner   in connection with the dissemination of the work.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sz="3600" b="1" dirty="0">
                <a:solidFill>
                  <a:srgbClr val="0070C0"/>
                </a:solidFill>
                <a:effectLst>
                  <a:outerShdw blurRad="38100" dist="38100" dir="2700000" algn="tl">
                    <a:srgbClr val="000000">
                      <a:alpha val="43137"/>
                    </a:srgbClr>
                  </a:outerShdw>
                </a:effectLst>
              </a:rPr>
              <a:t>Ownership of work</a:t>
            </a:r>
            <a:br>
              <a:rPr lang="en-US" sz="3600" dirty="0"/>
            </a:br>
            <a:r>
              <a:rPr lang="pl-PL" sz="3600" b="1" dirty="0">
                <a:solidFill>
                  <a:srgbClr val="FF0000"/>
                </a:solidFill>
                <a:effectLst>
                  <a:outerShdw blurRad="38100" dist="38100" dir="2700000" algn="tl">
                    <a:srgbClr val="000000">
                      <a:alpha val="43137"/>
                    </a:srgbClr>
                  </a:outerShdw>
                </a:effectLst>
                <a:highlight>
                  <a:srgbClr val="FFFF00"/>
                </a:highlight>
              </a:rPr>
              <a:t>A</a:t>
            </a:r>
            <a:r>
              <a:rPr lang="en-US" sz="3600" b="1" dirty="0" err="1">
                <a:solidFill>
                  <a:srgbClr val="FF0000"/>
                </a:solidFill>
                <a:effectLst>
                  <a:outerShdw blurRad="38100" dist="38100" dir="2700000" algn="tl">
                    <a:srgbClr val="000000">
                      <a:alpha val="43137"/>
                    </a:srgbClr>
                  </a:outerShdw>
                </a:effectLst>
                <a:highlight>
                  <a:srgbClr val="FFFF00"/>
                </a:highlight>
              </a:rPr>
              <a:t>uthor</a:t>
            </a:r>
            <a:r>
              <a:rPr lang="pl-PL" sz="3600" b="1" dirty="0">
                <a:solidFill>
                  <a:srgbClr val="FF0000"/>
                </a:solidFill>
                <a:effectLst>
                  <a:outerShdw blurRad="38100" dist="38100" dir="2700000" algn="tl">
                    <a:srgbClr val="000000">
                      <a:alpha val="43137"/>
                    </a:srgbClr>
                  </a:outerShdw>
                </a:effectLst>
                <a:highlight>
                  <a:srgbClr val="FFFF00"/>
                </a:highlight>
              </a:rPr>
              <a:t> not </a:t>
            </a:r>
            <a:r>
              <a:rPr lang="pl-PL" sz="3600" b="1" dirty="0" err="1">
                <a:solidFill>
                  <a:srgbClr val="FF0000"/>
                </a:solidFill>
                <a:effectLst>
                  <a:outerShdw blurRad="38100" dist="38100" dir="2700000" algn="tl">
                    <a:srgbClr val="000000">
                      <a:alpha val="43137"/>
                    </a:srgbClr>
                  </a:outerShdw>
                </a:effectLst>
                <a:highlight>
                  <a:srgbClr val="FFFF00"/>
                </a:highlight>
              </a:rPr>
              <a:t>disclosed</a:t>
            </a:r>
            <a:endParaRPr lang="en-US" sz="3600" b="1" dirty="0">
              <a:solidFill>
                <a:srgbClr val="FF0000"/>
              </a:solidFill>
              <a:effectLst>
                <a:outerShdw blurRad="38100" dist="38100" dir="2700000" algn="tl">
                  <a:srgbClr val="000000">
                    <a:alpha val="43137"/>
                  </a:srgbClr>
                </a:outerShdw>
              </a:effectLst>
              <a:highlight>
                <a:srgbClr val="FFFF00"/>
              </a:highlight>
            </a:endParaRPr>
          </a:p>
        </p:txBody>
      </p:sp>
      <p:sp>
        <p:nvSpPr>
          <p:cNvPr id="3" name="Symbol zastępczy zawartości 2"/>
          <p:cNvSpPr>
            <a:spLocks noGrp="1"/>
          </p:cNvSpPr>
          <p:nvPr>
            <p:ph idx="1"/>
          </p:nvPr>
        </p:nvSpPr>
        <p:spPr/>
        <p:txBody>
          <a:bodyPr/>
          <a:lstStyle/>
          <a:p>
            <a:pPr>
              <a:buNone/>
            </a:pPr>
            <a:r>
              <a:rPr lang="pl-PL" dirty="0"/>
              <a:t>	</a:t>
            </a:r>
            <a:r>
              <a:rPr lang="en-US" b="1" dirty="0"/>
              <a:t> </a:t>
            </a:r>
            <a:r>
              <a:rPr lang="pl-PL" b="1" dirty="0"/>
              <a:t>T</a:t>
            </a:r>
            <a:r>
              <a:rPr lang="en-US" b="1" dirty="0"/>
              <a:t>o   exercise   copyright</a:t>
            </a:r>
            <a:r>
              <a:rPr lang="pl-PL" b="1" dirty="0"/>
              <a:t>,</a:t>
            </a:r>
            <a:r>
              <a:rPr lang="en-US" b="1" dirty="0"/>
              <a:t>   the  author,  </a:t>
            </a:r>
            <a:r>
              <a:rPr lang="en-US" b="1" dirty="0">
                <a:solidFill>
                  <a:srgbClr val="0070C0"/>
                </a:solidFill>
                <a:effectLst>
                  <a:outerShdw blurRad="38100" dist="38100" dir="2700000" algn="tl">
                    <a:srgbClr val="000000">
                      <a:alpha val="43137"/>
                    </a:srgbClr>
                  </a:outerShdw>
                </a:effectLst>
              </a:rPr>
              <a:t>as   long   as   he/she   does   not   </a:t>
            </a:r>
            <a:r>
              <a:rPr lang="en-US" b="1" dirty="0">
                <a:solidFill>
                  <a:srgbClr val="FF0000"/>
                </a:solidFill>
                <a:effectLst>
                  <a:outerShdw blurRad="38100" dist="38100" dir="2700000" algn="tl">
                    <a:srgbClr val="000000">
                      <a:alpha val="43137"/>
                    </a:srgbClr>
                  </a:outerShdw>
                </a:effectLst>
              </a:rPr>
              <a:t>disclose</a:t>
            </a:r>
            <a:r>
              <a:rPr lang="en-US" b="1" dirty="0">
                <a:solidFill>
                  <a:srgbClr val="0070C0"/>
                </a:solidFill>
                <a:effectLst>
                  <a:outerShdw blurRad="38100" dist="38100" dir="2700000" algn="tl">
                    <a:srgbClr val="000000">
                      <a:alpha val="43137"/>
                    </a:srgbClr>
                  </a:outerShdw>
                </a:effectLst>
              </a:rPr>
              <a:t>   his/her authorship</a:t>
            </a:r>
            <a:r>
              <a:rPr lang="pl-PL" b="1" dirty="0">
                <a:solidFill>
                  <a:srgbClr val="0070C0"/>
                </a:solidFill>
              </a:rPr>
              <a:t> </a:t>
            </a:r>
            <a:r>
              <a:rPr lang="pl-PL" b="1" dirty="0">
                <a:effectLst>
                  <a:outerShdw blurRad="38100" dist="38100" dir="2700000" algn="tl">
                    <a:srgbClr val="000000">
                      <a:alpha val="43137"/>
                    </a:srgbClr>
                  </a:outerShdw>
                </a:effectLst>
                <a:highlight>
                  <a:srgbClr val="FFFF00"/>
                </a:highlight>
              </a:rPr>
              <a:t>is</a:t>
            </a:r>
            <a:r>
              <a:rPr lang="en-US" b="1" dirty="0">
                <a:effectLst>
                  <a:outerShdw blurRad="38100" dist="38100" dir="2700000" algn="tl">
                    <a:srgbClr val="000000">
                      <a:alpha val="43137"/>
                    </a:srgbClr>
                  </a:outerShdw>
                </a:effectLst>
                <a:highlight>
                  <a:srgbClr val="FFFF00"/>
                </a:highlight>
              </a:rPr>
              <a:t>   </a:t>
            </a:r>
            <a:r>
              <a:rPr lang="en-US" b="1" dirty="0">
                <a:solidFill>
                  <a:srgbClr val="FF0000"/>
                </a:solidFill>
                <a:effectLst>
                  <a:outerShdw blurRad="38100" dist="38100" dir="2700000" algn="tl">
                    <a:srgbClr val="000000">
                      <a:alpha val="43137"/>
                    </a:srgbClr>
                  </a:outerShdw>
                </a:effectLst>
                <a:highlight>
                  <a:srgbClr val="FFFF00"/>
                </a:highlight>
              </a:rPr>
              <a:t>represented   by   the   producer   or   the   publisher</a:t>
            </a:r>
            <a:r>
              <a:rPr lang="pl-PL" b="1" dirty="0">
                <a:solidFill>
                  <a:srgbClr val="FF0000"/>
                </a:solidFill>
                <a:effectLst>
                  <a:outerShdw blurRad="38100" dist="38100" dir="2700000" algn="tl">
                    <a:srgbClr val="000000">
                      <a:alpha val="43137"/>
                    </a:srgbClr>
                  </a:outerShdw>
                </a:effectLst>
                <a:highlight>
                  <a:srgbClr val="FFFF00"/>
                </a:highlight>
              </a:rPr>
              <a:t>,</a:t>
            </a:r>
            <a:r>
              <a:rPr lang="en-US" b="1" dirty="0">
                <a:solidFill>
                  <a:srgbClr val="FF0000"/>
                </a:solidFill>
                <a:effectLst>
                  <a:outerShdw blurRad="38100" dist="38100" dir="2700000" algn="tl">
                    <a:srgbClr val="000000">
                      <a:alpha val="43137"/>
                    </a:srgbClr>
                  </a:outerShdw>
                </a:effectLst>
                <a:highlight>
                  <a:srgbClr val="FFFF00"/>
                </a:highlight>
              </a:rPr>
              <a:t>   </a:t>
            </a:r>
            <a:r>
              <a:rPr lang="en-US" b="1" dirty="0"/>
              <a:t>and   in   the   absence   thereof</a:t>
            </a:r>
            <a:r>
              <a:rPr lang="pl-PL" b="1" dirty="0"/>
              <a:t>, </a:t>
            </a:r>
            <a:r>
              <a:rPr lang="en-US" b="1" dirty="0"/>
              <a:t>by   the competent </a:t>
            </a:r>
            <a:r>
              <a:rPr lang="en-US" b="1" dirty="0">
                <a:solidFill>
                  <a:srgbClr val="FF0000"/>
                </a:solidFill>
                <a:effectLst>
                  <a:outerShdw blurRad="38100" dist="38100" dir="2700000" algn="tl">
                    <a:srgbClr val="000000">
                      <a:alpha val="43137"/>
                    </a:srgbClr>
                  </a:outerShdw>
                </a:effectLst>
                <a:highlight>
                  <a:srgbClr val="FFFF00"/>
                </a:highlight>
              </a:rPr>
              <a:t>collective management </a:t>
            </a:r>
            <a:r>
              <a:rPr lang="en-US" b="1" dirty="0"/>
              <a:t>organization</a:t>
            </a:r>
            <a:endParaRPr lang="pl-PL"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Co-authors</a:t>
            </a:r>
            <a:r>
              <a:rPr lang="pl-PL" b="1" dirty="0">
                <a:solidFill>
                  <a:srgbClr val="0070C0"/>
                </a:solidFill>
                <a:effectLst>
                  <a:outerShdw blurRad="38100" dist="38100" dir="2700000" algn="tl">
                    <a:srgbClr val="000000">
                      <a:alpha val="43137"/>
                    </a:srgbClr>
                  </a:outerShdw>
                </a:effectLst>
              </a:rPr>
              <a:t> </a:t>
            </a:r>
            <a:endParaRPr lang="pl-PL" sz="1800" dirty="0"/>
          </a:p>
        </p:txBody>
      </p:sp>
      <p:sp>
        <p:nvSpPr>
          <p:cNvPr id="3" name="Symbol zastępczy zawartości 2"/>
          <p:cNvSpPr>
            <a:spLocks noGrp="1"/>
          </p:cNvSpPr>
          <p:nvPr>
            <p:ph idx="1"/>
          </p:nvPr>
        </p:nvSpPr>
        <p:spPr/>
        <p:txBody>
          <a:bodyPr/>
          <a:lstStyle/>
          <a:p>
            <a:r>
              <a:rPr lang="en-US" dirty="0"/>
              <a:t>The co-authors shall enjoy copyright </a:t>
            </a:r>
            <a:r>
              <a:rPr lang="en-US" b="1" dirty="0">
                <a:solidFill>
                  <a:srgbClr val="FF0000"/>
                </a:solidFill>
                <a:effectLst>
                  <a:outerShdw blurRad="38100" dist="38100" dir="2700000" algn="tl">
                    <a:srgbClr val="000000">
                      <a:alpha val="43137"/>
                    </a:srgbClr>
                  </a:outerShdw>
                </a:effectLst>
              </a:rPr>
              <a:t>jointly</a:t>
            </a:r>
            <a:endParaRPr lang="pl-PL" b="1" dirty="0">
              <a:solidFill>
                <a:srgbClr val="FF0000"/>
              </a:solidFill>
              <a:effectLst>
                <a:outerShdw blurRad="38100" dist="38100" dir="2700000" algn="tl">
                  <a:srgbClr val="000000">
                    <a:alpha val="43137"/>
                  </a:srgbClr>
                </a:outerShdw>
              </a:effectLst>
            </a:endParaRPr>
          </a:p>
          <a:p>
            <a:r>
              <a:rPr lang="en-US" dirty="0"/>
              <a:t>It shall be </a:t>
            </a:r>
            <a:r>
              <a:rPr lang="en-US" b="1" dirty="0">
                <a:solidFill>
                  <a:srgbClr val="FF0000"/>
                </a:solidFill>
                <a:effectLst>
                  <a:outerShdw blurRad="38100" dist="38100" dir="2700000" algn="tl">
                    <a:srgbClr val="000000">
                      <a:alpha val="43137"/>
                    </a:srgbClr>
                  </a:outerShdw>
                </a:effectLst>
              </a:rPr>
              <a:t>presumed </a:t>
            </a:r>
            <a:r>
              <a:rPr lang="en-US" dirty="0"/>
              <a:t>that </a:t>
            </a:r>
            <a:r>
              <a:rPr lang="en-US" b="1" dirty="0">
                <a:solidFill>
                  <a:srgbClr val="FF0000"/>
                </a:solidFill>
                <a:effectLst>
                  <a:outerShdw blurRad="38100" dist="38100" dir="2700000" algn="tl">
                    <a:srgbClr val="000000">
                      <a:alpha val="43137"/>
                    </a:srgbClr>
                  </a:outerShdw>
                </a:effectLst>
              </a:rPr>
              <a:t>shares</a:t>
            </a:r>
            <a:r>
              <a:rPr lang="en-US" dirty="0"/>
              <a:t> </a:t>
            </a:r>
            <a:r>
              <a:rPr lang="pl-PL" dirty="0"/>
              <a:t>of particular authors </a:t>
            </a:r>
            <a:r>
              <a:rPr lang="en-US" dirty="0"/>
              <a:t>are </a:t>
            </a:r>
            <a:r>
              <a:rPr lang="en-US" b="1" dirty="0">
                <a:solidFill>
                  <a:srgbClr val="FF0000"/>
                </a:solidFill>
                <a:effectLst>
                  <a:outerShdw blurRad="38100" dist="38100" dir="2700000" algn="tl">
                    <a:srgbClr val="000000">
                      <a:alpha val="43137"/>
                    </a:srgbClr>
                  </a:outerShdw>
                </a:effectLst>
              </a:rPr>
              <a:t>equal </a:t>
            </a:r>
            <a:endParaRPr lang="pl-PL" b="1" dirty="0">
              <a:solidFill>
                <a:srgbClr val="FF0000"/>
              </a:solidFill>
              <a:effectLst>
                <a:outerShdw blurRad="38100" dist="38100" dir="2700000" algn="tl">
                  <a:srgbClr val="000000">
                    <a:alpha val="43137"/>
                  </a:srgbClr>
                </a:outerShdw>
              </a:effectLst>
            </a:endParaRPr>
          </a:p>
          <a:p>
            <a:r>
              <a:rPr lang="en-US" dirty="0"/>
              <a:t>Each of the co-authors may claim </a:t>
            </a:r>
            <a:r>
              <a:rPr lang="pl-PL" dirty="0"/>
              <a:t>their</a:t>
            </a:r>
            <a:r>
              <a:rPr lang="en-US" dirty="0"/>
              <a:t> </a:t>
            </a:r>
            <a:r>
              <a:rPr lang="en-US" b="1" dirty="0">
                <a:solidFill>
                  <a:srgbClr val="FF0000"/>
                </a:solidFill>
              </a:rPr>
              <a:t>shares</a:t>
            </a:r>
            <a:r>
              <a:rPr lang="en-US" dirty="0"/>
              <a:t> to be </a:t>
            </a:r>
            <a:r>
              <a:rPr lang="en-US" b="1" dirty="0">
                <a:solidFill>
                  <a:srgbClr val="FF0000"/>
                </a:solidFill>
                <a:effectLst>
                  <a:outerShdw blurRad="38100" dist="38100" dir="2700000" algn="tl">
                    <a:srgbClr val="000000">
                      <a:alpha val="43137"/>
                    </a:srgbClr>
                  </a:outerShdw>
                </a:effectLst>
              </a:rPr>
              <a:t>determined by the court </a:t>
            </a:r>
            <a:r>
              <a:rPr lang="pl-PL" b="1" dirty="0" err="1">
                <a:solidFill>
                  <a:srgbClr val="FF0000"/>
                </a:solidFill>
                <a:effectLst>
                  <a:outerShdw blurRad="38100" dist="38100" dir="2700000" algn="tl">
                    <a:srgbClr val="000000">
                      <a:alpha val="43137"/>
                    </a:srgbClr>
                  </a:outerShdw>
                </a:effectLst>
              </a:rPr>
              <a:t>according</a:t>
            </a:r>
            <a:r>
              <a:rPr lang="pl-PL" b="1" dirty="0">
                <a:solidFill>
                  <a:srgbClr val="FF0000"/>
                </a:solidFill>
                <a:effectLst>
                  <a:outerShdw blurRad="38100" dist="38100" dir="2700000" algn="tl">
                    <a:srgbClr val="000000">
                      <a:alpha val="43137"/>
                    </a:srgbClr>
                  </a:outerShdw>
                </a:effectLst>
              </a:rPr>
              <a:t> to </a:t>
            </a:r>
            <a:r>
              <a:rPr lang="pl-PL" b="1" dirty="0" err="1">
                <a:solidFill>
                  <a:srgbClr val="FF0000"/>
                </a:solidFill>
                <a:effectLst>
                  <a:outerShdw blurRad="38100" dist="38100" dir="2700000" algn="tl">
                    <a:srgbClr val="000000">
                      <a:alpha val="43137"/>
                    </a:srgbClr>
                  </a:outerShdw>
                </a:effectLst>
              </a:rPr>
              <a:t>their</a:t>
            </a:r>
            <a:r>
              <a:rPr lang="en-US" dirty="0"/>
              <a:t> </a:t>
            </a:r>
            <a:r>
              <a:rPr lang="en-US" b="1" dirty="0">
                <a:solidFill>
                  <a:srgbClr val="FF0000"/>
                </a:solidFill>
                <a:effectLst>
                  <a:outerShdw blurRad="38100" dist="38100" dir="2700000" algn="tl">
                    <a:srgbClr val="000000">
                      <a:alpha val="43137"/>
                    </a:srgbClr>
                  </a:outerShdw>
                </a:effectLst>
              </a:rPr>
              <a:t>contribution </a:t>
            </a:r>
            <a:r>
              <a:rPr lang="pl-PL" dirty="0"/>
              <a:t>to the </a:t>
            </a:r>
            <a:r>
              <a:rPr lang="en-US" dirty="0"/>
              <a:t>creative work</a:t>
            </a:r>
          </a:p>
          <a:p>
            <a:pPr>
              <a:buNone/>
            </a:pPr>
            <a:r>
              <a:rPr lang="en-US" dirty="0"/>
              <a:t>     </a:t>
            </a:r>
            <a:endParaRPr lang="pl-PL"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70C0"/>
                </a:solidFill>
                <a:effectLst>
                  <a:outerShdw blurRad="38100" dist="38100" dir="2700000" algn="tl">
                    <a:srgbClr val="000000">
                      <a:alpha val="43137"/>
                    </a:srgbClr>
                  </a:outerShdw>
                </a:effectLst>
              </a:rPr>
              <a:t>Co-authors</a:t>
            </a:r>
          </a:p>
        </p:txBody>
      </p:sp>
      <p:sp>
        <p:nvSpPr>
          <p:cNvPr id="3" name="Symbol zastępczy zawartości 2"/>
          <p:cNvSpPr>
            <a:spLocks noGrp="1"/>
          </p:cNvSpPr>
          <p:nvPr>
            <p:ph idx="1"/>
          </p:nvPr>
        </p:nvSpPr>
        <p:spPr/>
        <p:txBody>
          <a:bodyPr/>
          <a:lstStyle/>
          <a:p>
            <a:r>
              <a:rPr lang="en-US" sz="3600" b="1" dirty="0">
                <a:effectLst>
                  <a:outerShdw blurRad="38100" dist="38100" dir="2700000" algn="tl">
                    <a:srgbClr val="000000">
                      <a:alpha val="43137"/>
                    </a:srgbClr>
                  </a:outerShdw>
                </a:effectLst>
              </a:rPr>
              <a:t>The </a:t>
            </a:r>
            <a:r>
              <a:rPr lang="en-US" sz="3600" b="1" dirty="0">
                <a:solidFill>
                  <a:srgbClr val="FF0000"/>
                </a:solidFill>
                <a:effectLst>
                  <a:outerShdw blurRad="38100" dist="38100" dir="2700000" algn="tl">
                    <a:srgbClr val="000000">
                      <a:alpha val="43137"/>
                    </a:srgbClr>
                  </a:outerShdw>
                </a:effectLst>
              </a:rPr>
              <a:t>consent of all co-authors</a:t>
            </a:r>
            <a:r>
              <a:rPr lang="en-US" sz="3600" b="1" dirty="0">
                <a:effectLst>
                  <a:outerShdw blurRad="38100" dist="38100" dir="2700000" algn="tl">
                    <a:srgbClr val="000000">
                      <a:alpha val="43137"/>
                    </a:srgbClr>
                  </a:outerShdw>
                </a:effectLst>
              </a:rPr>
              <a:t> </a:t>
            </a:r>
            <a:r>
              <a:rPr lang="pl-PL" sz="3600" b="1" dirty="0" err="1">
                <a:effectLst>
                  <a:outerShdw blurRad="38100" dist="38100" dir="2700000" algn="tl">
                    <a:srgbClr val="000000">
                      <a:alpha val="43137"/>
                    </a:srgbClr>
                  </a:outerShdw>
                </a:effectLst>
              </a:rPr>
              <a:t>is</a:t>
            </a:r>
            <a:r>
              <a:rPr lang="pl-PL" sz="3600" b="1" dirty="0">
                <a:effectLst>
                  <a:outerShdw blurRad="38100" dist="38100" dir="2700000" algn="tl">
                    <a:srgbClr val="000000">
                      <a:alpha val="43137"/>
                    </a:srgbClr>
                  </a:outerShdw>
                </a:effectLst>
              </a:rPr>
              <a:t> r</a:t>
            </a:r>
            <a:r>
              <a:rPr lang="en-US" sz="3600" b="1" dirty="0" err="1">
                <a:effectLst>
                  <a:outerShdw blurRad="38100" dist="38100" dir="2700000" algn="tl">
                    <a:srgbClr val="000000">
                      <a:alpha val="43137"/>
                    </a:srgbClr>
                  </a:outerShdw>
                </a:effectLst>
              </a:rPr>
              <a:t>equired</a:t>
            </a:r>
            <a:r>
              <a:rPr lang="en-US" sz="3600" b="1" dirty="0">
                <a:effectLst>
                  <a:outerShdw blurRad="38100" dist="38100" dir="2700000" algn="tl">
                    <a:srgbClr val="000000">
                      <a:alpha val="43137"/>
                    </a:srgbClr>
                  </a:outerShdw>
                </a:effectLst>
              </a:rPr>
              <a:t> to exercise copyright with respect to the whole work (or a court decision) + art. 10,11</a:t>
            </a:r>
          </a:p>
          <a:p>
            <a:r>
              <a:rPr lang="en-US" sz="3600" b="1" dirty="0">
                <a:solidFill>
                  <a:srgbClr val="002060"/>
                </a:solidFill>
                <a:effectLst>
                  <a:outerShdw blurRad="38100" dist="38100" dir="2700000" algn="tl">
                    <a:srgbClr val="000000">
                      <a:alpha val="43137"/>
                    </a:srgbClr>
                  </a:outerShdw>
                </a:effectLst>
              </a:rPr>
              <a:t>Just one co-author may </a:t>
            </a:r>
            <a:r>
              <a:rPr lang="en-US" sz="3600" b="1" dirty="0">
                <a:solidFill>
                  <a:srgbClr val="FF0000"/>
                </a:solidFill>
                <a:effectLst>
                  <a:outerShdw blurRad="38100" dist="38100" dir="2700000" algn="tl">
                    <a:srgbClr val="000000">
                      <a:alpha val="43137"/>
                    </a:srgbClr>
                  </a:outerShdw>
                </a:effectLst>
              </a:rPr>
              <a:t>object to a violation </a:t>
            </a:r>
            <a:r>
              <a:rPr lang="en-US" sz="3600" b="1" dirty="0">
                <a:effectLst>
                  <a:outerShdw blurRad="38100" dist="38100" dir="2700000" algn="tl">
                    <a:srgbClr val="000000">
                      <a:alpha val="43137"/>
                    </a:srgbClr>
                  </a:outerShdw>
                </a:effectLst>
              </a:rPr>
              <a:t>of rights</a:t>
            </a:r>
          </a:p>
          <a:p>
            <a:pPr>
              <a:buNone/>
            </a:pPr>
            <a:endParaRPr lang="pl-PL" b="1" dirty="0">
              <a:effectLst>
                <a:outerShdw blurRad="38100" dist="38100" dir="2700000" algn="tl">
                  <a:srgbClr val="000000">
                    <a:alpha val="43137"/>
                  </a:srgbClr>
                </a:outerShdw>
              </a:effectL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70C0"/>
                </a:solidFill>
                <a:effectLst>
                  <a:outerShdw blurRad="38100" dist="38100" dir="2700000" algn="tl">
                    <a:srgbClr val="000000">
                      <a:alpha val="43137"/>
                    </a:srgbClr>
                  </a:outerShdw>
                </a:effectLst>
                <a:highlight>
                  <a:srgbClr val="FFFF00"/>
                </a:highlight>
              </a:rPr>
              <a:t>Employ</a:t>
            </a:r>
            <a:r>
              <a:rPr lang="pl-PL" b="1" dirty="0">
                <a:effectLst>
                  <a:outerShdw blurRad="38100" dist="38100" dir="2700000" algn="tl">
                    <a:srgbClr val="000000">
                      <a:alpha val="43137"/>
                    </a:srgbClr>
                  </a:outerShdw>
                </a:effectLst>
              </a:rPr>
              <a:t> </a:t>
            </a:r>
            <a:r>
              <a:rPr lang="pl-PL" dirty="0"/>
              <a:t> </a:t>
            </a:r>
            <a:br>
              <a:rPr lang="pl-PL" dirty="0"/>
            </a:br>
            <a:endParaRPr lang="pl-PL" sz="1400" dirty="0"/>
          </a:p>
        </p:txBody>
      </p:sp>
      <p:sp>
        <p:nvSpPr>
          <p:cNvPr id="3" name="Symbol zastępczy zawartości 2"/>
          <p:cNvSpPr>
            <a:spLocks noGrp="1"/>
          </p:cNvSpPr>
          <p:nvPr>
            <p:ph idx="1"/>
          </p:nvPr>
        </p:nvSpPr>
        <p:spPr/>
        <p:txBody>
          <a:bodyPr/>
          <a:lstStyle/>
          <a:p>
            <a:pPr>
              <a:buNone/>
            </a:pPr>
            <a:r>
              <a:rPr lang="pl-PL" dirty="0"/>
              <a:t>   </a:t>
            </a:r>
            <a:r>
              <a:rPr lang="pl-PL" dirty="0">
                <a:effectLst>
                  <a:outerShdw blurRad="38100" dist="38100" dir="2700000" algn="tl">
                    <a:srgbClr val="000000">
                      <a:alpha val="43137"/>
                    </a:srgbClr>
                  </a:outerShdw>
                </a:effectLst>
              </a:rPr>
              <a:t>An </a:t>
            </a:r>
            <a:r>
              <a:rPr lang="en-US" b="1" dirty="0">
                <a:solidFill>
                  <a:srgbClr val="FF0000"/>
                </a:solidFill>
                <a:effectLst>
                  <a:outerShdw blurRad="38100" dist="38100" dir="2700000" algn="tl">
                    <a:srgbClr val="000000">
                      <a:alpha val="43137"/>
                    </a:srgbClr>
                  </a:outerShdw>
                </a:effectLst>
              </a:rPr>
              <a:t>employer</a:t>
            </a:r>
            <a:r>
              <a:rPr lang="en-US" dirty="0">
                <a:effectLst>
                  <a:outerShdw blurRad="38100" dist="38100" dir="2700000" algn="tl">
                    <a:srgbClr val="000000">
                      <a:alpha val="43137"/>
                    </a:srgbClr>
                  </a:outerShdw>
                </a:effectLst>
              </a:rPr>
              <a:t>, whose employee has created a piece of work </a:t>
            </a:r>
            <a:r>
              <a:rPr lang="en-US" b="1" dirty="0">
                <a:solidFill>
                  <a:srgbClr val="FF0000"/>
                </a:solidFill>
                <a:effectLst>
                  <a:outerShdw blurRad="38100" dist="38100" dir="2700000" algn="tl">
                    <a:srgbClr val="000000">
                      <a:alpha val="43137"/>
                    </a:srgbClr>
                  </a:outerShdw>
                </a:effectLst>
              </a:rPr>
              <a:t>within the scope of his/her duties</a:t>
            </a:r>
            <a:r>
              <a:rPr lang="en-US" dirty="0">
                <a:effectLst>
                  <a:outerShdw blurRad="38100" dist="38100" dir="2700000" algn="tl">
                    <a:srgbClr val="000000">
                      <a:alpha val="43137"/>
                    </a:srgbClr>
                  </a:outerShdw>
                </a:effectLst>
              </a:rPr>
              <a:t> resulting from the employment relationship,  shall,  </a:t>
            </a:r>
            <a:r>
              <a:rPr lang="en-US" b="1" dirty="0">
                <a:solidFill>
                  <a:srgbClr val="002060"/>
                </a:solidFill>
                <a:effectLst>
                  <a:outerShdw blurRad="38100" dist="38100" dir="2700000" algn="tl">
                    <a:srgbClr val="000000">
                      <a:alpha val="43137"/>
                    </a:srgbClr>
                  </a:outerShdw>
                </a:effectLst>
              </a:rPr>
              <a:t>upon   acceptance  </a:t>
            </a:r>
            <a:r>
              <a:rPr lang="en-US" dirty="0">
                <a:effectLst>
                  <a:outerShdw blurRad="38100" dist="38100" dir="2700000" algn="tl">
                    <a:srgbClr val="000000">
                      <a:alpha val="43137"/>
                    </a:srgbClr>
                  </a:outerShdw>
                </a:effectLst>
              </a:rPr>
              <a:t>of   the work,   </a:t>
            </a:r>
            <a:r>
              <a:rPr lang="en-US" b="1" dirty="0">
                <a:solidFill>
                  <a:srgbClr val="FF0000"/>
                </a:solidFill>
                <a:effectLst>
                  <a:outerShdw blurRad="38100" dist="38100" dir="2700000" algn="tl">
                    <a:srgbClr val="000000">
                      <a:alpha val="43137"/>
                    </a:srgbClr>
                  </a:outerShdw>
                </a:effectLst>
              </a:rPr>
              <a:t>acquire author's   </a:t>
            </a:r>
            <a:r>
              <a:rPr lang="en-US" b="1" dirty="0">
                <a:solidFill>
                  <a:srgbClr val="FF0000"/>
                </a:solidFill>
                <a:effectLst>
                  <a:outerShdw blurRad="38100" dist="38100" dir="2700000" algn="tl">
                    <a:srgbClr val="000000">
                      <a:alpha val="43137"/>
                    </a:srgbClr>
                  </a:outerShdw>
                </a:effectLst>
                <a:highlight>
                  <a:srgbClr val="FFFF00"/>
                </a:highlight>
              </a:rPr>
              <a:t>economic   rights </a:t>
            </a:r>
            <a:r>
              <a:rPr lang="en-US" dirty="0">
                <a:solidFill>
                  <a:srgbClr val="FF0000"/>
                </a:solidFill>
                <a:effectLst>
                  <a:outerShdw blurRad="38100" dist="38100" dir="2700000" algn="tl">
                    <a:srgbClr val="000000">
                      <a:alpha val="43137"/>
                    </a:srgbClr>
                  </a:outerShdw>
                </a:effectLst>
                <a:highlight>
                  <a:srgbClr val="FFFF00"/>
                </a:highlight>
              </a:rPr>
              <a:t> </a:t>
            </a:r>
            <a:r>
              <a:rPr lang="en-US" dirty="0">
                <a:effectLst>
                  <a:outerShdw blurRad="38100" dist="38100" dir="2700000" algn="tl">
                    <a:srgbClr val="000000">
                      <a:alpha val="43137"/>
                    </a:srgbClr>
                  </a:outerShdw>
                </a:effectLst>
              </a:rPr>
              <a:t>within   the  </a:t>
            </a:r>
            <a:r>
              <a:rPr lang="en-US" b="1" dirty="0">
                <a:solidFill>
                  <a:srgbClr val="0070C0"/>
                </a:solidFill>
                <a:effectLst>
                  <a:outerShdw blurRad="38100" dist="38100" dir="2700000" algn="tl">
                    <a:srgbClr val="000000">
                      <a:alpha val="43137"/>
                    </a:srgbClr>
                  </a:outerShdw>
                </a:effectLst>
              </a:rPr>
              <a:t>limits </a:t>
            </a:r>
            <a:r>
              <a:rPr lang="en-US" dirty="0">
                <a:effectLst>
                  <a:outerShdw blurRad="38100" dist="38100" dir="2700000" algn="tl">
                    <a:srgbClr val="000000">
                      <a:alpha val="43137"/>
                    </a:srgbClr>
                  </a:outerShdw>
                </a:effectLst>
              </a:rPr>
              <a:t>resulting from the </a:t>
            </a:r>
            <a:r>
              <a:rPr lang="en-US" b="1" dirty="0">
                <a:solidFill>
                  <a:srgbClr val="0070C0"/>
                </a:solidFill>
                <a:effectLst>
                  <a:outerShdw blurRad="38100" dist="38100" dir="2700000" algn="tl">
                    <a:srgbClr val="000000">
                      <a:alpha val="43137"/>
                    </a:srgbClr>
                  </a:outerShdw>
                </a:effectLst>
              </a:rPr>
              <a:t>purpose</a:t>
            </a:r>
            <a:r>
              <a:rPr lang="en-US" dirty="0">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of the employment contract </a:t>
            </a:r>
            <a:r>
              <a:rPr lang="en-US" dirty="0">
                <a:effectLst>
                  <a:outerShdw blurRad="38100" dist="38100" dir="2700000" algn="tl">
                    <a:srgbClr val="000000">
                      <a:alpha val="43137"/>
                    </a:srgbClr>
                  </a:outerShdw>
                </a:effectLst>
              </a:rPr>
              <a:t>and the </a:t>
            </a:r>
            <a:r>
              <a:rPr lang="en-US" b="1" dirty="0">
                <a:solidFill>
                  <a:srgbClr val="0070C0"/>
                </a:solidFill>
                <a:effectLst>
                  <a:outerShdw blurRad="38100" dist="38100" dir="2700000" algn="tl">
                    <a:srgbClr val="000000">
                      <a:alpha val="43137"/>
                    </a:srgbClr>
                  </a:outerShdw>
                </a:effectLst>
              </a:rPr>
              <a:t>intention of the parties </a:t>
            </a:r>
          </a:p>
          <a:p>
            <a:pPr>
              <a:buNone/>
            </a:pPr>
            <a:r>
              <a:rPr lang="en-US" dirty="0">
                <a:effectLst>
                  <a:outerShdw blurRad="38100" dist="38100" dir="2700000" algn="tl">
                    <a:srgbClr val="000000">
                      <a:alpha val="43137"/>
                    </a:srgbClr>
                  </a:outerShdw>
                </a:effectLst>
              </a:rPr>
              <a:t>     </a:t>
            </a:r>
            <a:endParaRPr lang="pl-PL" dirty="0">
              <a:effectLst>
                <a:outerShdw blurRad="38100" dist="38100" dir="2700000" algn="tl">
                  <a:srgbClr val="000000">
                    <a:alpha val="43137"/>
                  </a:srgbClr>
                </a:outerShdw>
              </a:effectL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70C0"/>
                </a:solidFill>
                <a:effectLst>
                  <a:outerShdw blurRad="38100" dist="38100" dir="2700000" algn="tl">
                    <a:srgbClr val="000000">
                      <a:alpha val="43137"/>
                    </a:srgbClr>
                  </a:outerShdw>
                </a:effectLst>
              </a:rPr>
              <a:t>Employ</a:t>
            </a:r>
          </a:p>
        </p:txBody>
      </p:sp>
      <p:sp>
        <p:nvSpPr>
          <p:cNvPr id="3" name="Symbol zastępczy zawartości 2"/>
          <p:cNvSpPr>
            <a:spLocks noGrp="1"/>
          </p:cNvSpPr>
          <p:nvPr>
            <p:ph idx="1"/>
          </p:nvPr>
        </p:nvSpPr>
        <p:spPr/>
        <p:txBody>
          <a:bodyPr/>
          <a:lstStyle/>
          <a:p>
            <a:pPr>
              <a:buNone/>
            </a:pPr>
            <a:r>
              <a:rPr lang="pl-PL" sz="2000" b="1" dirty="0">
                <a:effectLst>
                  <a:outerShdw blurRad="38100" dist="38100" dir="2700000" algn="tl">
                    <a:srgbClr val="000000">
                      <a:alpha val="43137"/>
                    </a:srgbClr>
                  </a:outerShdw>
                </a:effectLst>
              </a:rPr>
              <a:t>      </a:t>
            </a:r>
            <a:r>
              <a:rPr lang="en-US" sz="2000" b="1" dirty="0">
                <a:solidFill>
                  <a:srgbClr val="002060"/>
                </a:solidFill>
                <a:effectLst>
                  <a:outerShdw blurRad="38100" dist="38100" dir="2700000" algn="tl">
                    <a:srgbClr val="000000">
                      <a:alpha val="43137"/>
                    </a:srgbClr>
                  </a:outerShdw>
                </a:effectLst>
              </a:rPr>
              <a:t>If, within </a:t>
            </a:r>
            <a:r>
              <a:rPr lang="en-US" sz="2000" b="1" dirty="0">
                <a:solidFill>
                  <a:srgbClr val="002060"/>
                </a:solidFill>
                <a:effectLst>
                  <a:outerShdw blurRad="38100" dist="38100" dir="2700000" algn="tl">
                    <a:srgbClr val="000000">
                      <a:alpha val="43137"/>
                    </a:srgbClr>
                  </a:outerShdw>
                </a:effectLst>
                <a:latin typeface="Arial Black" panose="020B0A04020102020204" pitchFamily="34" charset="0"/>
              </a:rPr>
              <a:t>two years </a:t>
            </a:r>
            <a:r>
              <a:rPr lang="en-US" sz="2000" b="1" dirty="0">
                <a:solidFill>
                  <a:srgbClr val="002060"/>
                </a:solidFill>
                <a:effectLst>
                  <a:outerShdw blurRad="38100" dist="38100" dir="2700000" algn="tl">
                    <a:srgbClr val="000000">
                      <a:alpha val="43137"/>
                    </a:srgbClr>
                  </a:outerShdw>
                </a:effectLst>
              </a:rPr>
              <a:t>from accepting the work, the employer </a:t>
            </a:r>
            <a:r>
              <a:rPr lang="en-US" sz="2000" b="1" dirty="0">
                <a:solidFill>
                  <a:srgbClr val="002060"/>
                </a:solidFill>
                <a:effectLst>
                  <a:outerShdw blurRad="38100" dist="38100" dir="2700000" algn="tl">
                    <a:srgbClr val="000000">
                      <a:alpha val="43137"/>
                    </a:srgbClr>
                  </a:outerShdw>
                </a:effectLst>
                <a:latin typeface="Arial Black" panose="020B0A04020102020204" pitchFamily="34" charset="0"/>
              </a:rPr>
              <a:t>does not start the </a:t>
            </a:r>
            <a:r>
              <a:rPr lang="en-US" sz="2000" b="1" dirty="0">
                <a:solidFill>
                  <a:srgbClr val="FF0000"/>
                </a:solidFill>
                <a:effectLst>
                  <a:outerShdw blurRad="38100" dist="38100" dir="2700000" algn="tl">
                    <a:srgbClr val="000000">
                      <a:alpha val="43137"/>
                    </a:srgbClr>
                  </a:outerShdw>
                </a:effectLst>
                <a:latin typeface="Arial Black" panose="020B0A04020102020204" pitchFamily="34" charset="0"/>
              </a:rPr>
              <a:t>dissemination</a:t>
            </a:r>
            <a:r>
              <a:rPr lang="pl-PL" sz="2000" b="1" dirty="0">
                <a:solidFill>
                  <a:srgbClr val="FF0000"/>
                </a:solidFill>
                <a:effectLst>
                  <a:outerShdw blurRad="38100" dist="38100" dir="2700000" algn="tl">
                    <a:srgbClr val="000000">
                      <a:alpha val="43137"/>
                    </a:srgbClr>
                  </a:outerShdw>
                </a:effectLst>
                <a:latin typeface="Arial Black" panose="020B0A04020102020204" pitchFamily="34" charset="0"/>
              </a:rPr>
              <a:t> [</a:t>
            </a:r>
            <a:r>
              <a:rPr lang="pl-PL" sz="2000" b="1" dirty="0" err="1">
                <a:solidFill>
                  <a:srgbClr val="FF0000"/>
                </a:solidFill>
                <a:effectLst>
                  <a:outerShdw blurRad="38100" dist="38100" dir="2700000" algn="tl">
                    <a:srgbClr val="000000">
                      <a:alpha val="43137"/>
                    </a:srgbClr>
                  </a:outerShdw>
                </a:effectLst>
                <a:latin typeface="Arial Black" panose="020B0A04020102020204" pitchFamily="34" charset="0"/>
              </a:rPr>
              <a:t>distribution</a:t>
            </a:r>
            <a:r>
              <a:rPr lang="pl-PL" sz="2000" b="1" dirty="0">
                <a:solidFill>
                  <a:srgbClr val="FF0000"/>
                </a:solidFill>
                <a:effectLst>
                  <a:outerShdw blurRad="38100" dist="38100" dir="2700000" algn="tl">
                    <a:srgbClr val="000000">
                      <a:alpha val="43137"/>
                    </a:srgbClr>
                  </a:outerShdw>
                </a:effectLst>
                <a:latin typeface="Arial Black" panose="020B0A04020102020204" pitchFamily="34" charset="0"/>
              </a:rPr>
              <a:t>]</a:t>
            </a:r>
            <a:r>
              <a:rPr lang="en-US" sz="2000" b="1" dirty="0">
                <a:solidFill>
                  <a:srgbClr val="002060"/>
                </a:solidFill>
                <a:effectLst>
                  <a:outerShdw blurRad="38100" dist="38100" dir="2700000" algn="tl">
                    <a:srgbClr val="000000">
                      <a:alpha val="43137"/>
                    </a:srgbClr>
                  </a:outerShdw>
                </a:effectLst>
              </a:rPr>
              <a:t> of the work to be disseminated under such contract of employment, </a:t>
            </a:r>
            <a:endParaRPr lang="pl-PL" sz="2000" b="1" dirty="0">
              <a:solidFill>
                <a:srgbClr val="002060"/>
              </a:solidFill>
              <a:effectLst>
                <a:outerShdw blurRad="38100" dist="38100" dir="2700000" algn="tl">
                  <a:srgbClr val="000000">
                    <a:alpha val="43137"/>
                  </a:srgbClr>
                </a:outerShdw>
              </a:effectLst>
            </a:endParaRPr>
          </a:p>
          <a:p>
            <a:r>
              <a:rPr lang="en-US" sz="2000" b="1" dirty="0">
                <a:solidFill>
                  <a:srgbClr val="002060"/>
                </a:solidFill>
                <a:effectLst>
                  <a:outerShdw blurRad="38100" dist="38100" dir="2700000" algn="tl">
                    <a:srgbClr val="000000">
                      <a:alpha val="43137"/>
                    </a:srgbClr>
                  </a:outerShdw>
                </a:effectLst>
                <a:latin typeface="Arial Black" panose="020B0A04020102020204" pitchFamily="34" charset="0"/>
              </a:rPr>
              <a:t>the author may fix in writing </a:t>
            </a:r>
            <a:r>
              <a:rPr lang="en-US" sz="2000" b="1" dirty="0">
                <a:solidFill>
                  <a:srgbClr val="FF0000"/>
                </a:solidFill>
                <a:effectLst>
                  <a:outerShdw blurRad="38100" dist="38100" dir="2700000" algn="tl">
                    <a:srgbClr val="000000">
                      <a:alpha val="43137"/>
                    </a:srgbClr>
                  </a:outerShdw>
                </a:effectLst>
                <a:latin typeface="Arial Black" panose="020B0A04020102020204" pitchFamily="34" charset="0"/>
              </a:rPr>
              <a:t>a time limit </a:t>
            </a:r>
            <a:r>
              <a:rPr lang="en-US" sz="2000" b="1" dirty="0">
                <a:solidFill>
                  <a:srgbClr val="002060"/>
                </a:solidFill>
                <a:effectLst>
                  <a:outerShdw blurRad="38100" dist="38100" dir="2700000" algn="tl">
                    <a:srgbClr val="000000">
                      <a:alpha val="43137"/>
                    </a:srgbClr>
                  </a:outerShdw>
                </a:effectLst>
                <a:latin typeface="Arial Black" panose="020B0A04020102020204" pitchFamily="34" charset="0"/>
              </a:rPr>
              <a:t>for the   employer   to   disseminate  </a:t>
            </a:r>
            <a:r>
              <a:rPr lang="en-US" sz="2000" b="1" dirty="0">
                <a:solidFill>
                  <a:srgbClr val="002060"/>
                </a:solidFill>
                <a:effectLst>
                  <a:outerShdw blurRad="38100" dist="38100" dir="2700000" algn="tl">
                    <a:srgbClr val="000000">
                      <a:alpha val="43137"/>
                    </a:srgbClr>
                  </a:outerShdw>
                </a:effectLst>
              </a:rPr>
              <a:t> the   work</a:t>
            </a:r>
            <a:r>
              <a:rPr lang="pl-PL" sz="2000" b="1" dirty="0">
                <a:solidFill>
                  <a:srgbClr val="002060"/>
                </a:solidFill>
                <a:effectLst>
                  <a:outerShdw blurRad="38100" dist="38100" dir="2700000" algn="tl">
                    <a:srgbClr val="000000">
                      <a:alpha val="43137"/>
                    </a:srgbClr>
                  </a:outerShdw>
                </a:effectLst>
              </a:rPr>
              <a:t> </a:t>
            </a:r>
          </a:p>
          <a:p>
            <a:r>
              <a:rPr lang="en-US" sz="2000" b="1" dirty="0">
                <a:solidFill>
                  <a:srgbClr val="002060"/>
                </a:solidFill>
                <a:effectLst>
                  <a:outerShdw blurRad="38100" dist="38100" dir="2700000" algn="tl">
                    <a:srgbClr val="000000">
                      <a:alpha val="43137"/>
                    </a:srgbClr>
                  </a:outerShdw>
                </a:effectLst>
              </a:rPr>
              <a:t>with</a:t>
            </a:r>
            <a:r>
              <a:rPr lang="pl-PL" sz="2000" b="1" dirty="0">
                <a:solidFill>
                  <a:srgbClr val="002060"/>
                </a:solidFill>
                <a:effectLst>
                  <a:outerShdw blurRad="38100" dist="38100" dir="2700000" algn="tl">
                    <a:srgbClr val="000000">
                      <a:alpha val="43137"/>
                    </a:srgbClr>
                  </a:outerShdw>
                </a:effectLst>
              </a:rPr>
              <a:t> </a:t>
            </a:r>
            <a:r>
              <a:rPr lang="en-US" sz="2000" b="1" dirty="0">
                <a:solidFill>
                  <a:srgbClr val="002060"/>
                </a:solidFill>
                <a:effectLst>
                  <a:outerShdw blurRad="38100" dist="38100" dir="2700000" algn="tl">
                    <a:srgbClr val="000000">
                      <a:alpha val="43137"/>
                    </a:srgbClr>
                  </a:outerShdw>
                </a:effectLst>
              </a:rPr>
              <a:t>the</a:t>
            </a:r>
            <a:r>
              <a:rPr lang="pl-PL" sz="2000" b="1" dirty="0">
                <a:solidFill>
                  <a:srgbClr val="002060"/>
                </a:solidFill>
                <a:effectLst>
                  <a:outerShdw blurRad="38100" dist="38100" dir="2700000" algn="tl">
                    <a:srgbClr val="000000">
                      <a:alpha val="43137"/>
                    </a:srgbClr>
                  </a:outerShdw>
                </a:effectLst>
              </a:rPr>
              <a:t> </a:t>
            </a:r>
            <a:r>
              <a:rPr lang="en-US" sz="2000" b="1" dirty="0">
                <a:solidFill>
                  <a:srgbClr val="002060"/>
                </a:solidFill>
                <a:effectLst>
                  <a:outerShdw blurRad="38100" dist="38100" dir="2700000" algn="tl">
                    <a:srgbClr val="000000">
                      <a:alpha val="43137"/>
                    </a:srgbClr>
                  </a:outerShdw>
                </a:effectLst>
              </a:rPr>
              <a:t>effect</a:t>
            </a:r>
            <a:r>
              <a:rPr lang="pl-PL" sz="2000" b="1" dirty="0">
                <a:solidFill>
                  <a:srgbClr val="002060"/>
                </a:solidFill>
                <a:effectLst>
                  <a:outerShdw blurRad="38100" dist="38100" dir="2700000" algn="tl">
                    <a:srgbClr val="000000">
                      <a:alpha val="43137"/>
                    </a:srgbClr>
                  </a:outerShdw>
                </a:effectLst>
              </a:rPr>
              <a:t> </a:t>
            </a:r>
            <a:r>
              <a:rPr lang="en-US" sz="2000" b="1" dirty="0">
                <a:solidFill>
                  <a:srgbClr val="002060"/>
                </a:solidFill>
                <a:effectLst>
                  <a:outerShdw blurRad="38100" dist="38100" dir="2700000" algn="tl">
                    <a:srgbClr val="000000">
                      <a:alpha val="43137"/>
                    </a:srgbClr>
                  </a:outerShdw>
                </a:effectLst>
              </a:rPr>
              <a:t>that   upon   its   </a:t>
            </a:r>
            <a:r>
              <a:rPr lang="en-US" sz="2000" b="1" dirty="0">
                <a:solidFill>
                  <a:srgbClr val="FF0000"/>
                </a:solidFill>
                <a:effectLst>
                  <a:outerShdw blurRad="38100" dist="38100" dir="2700000" algn="tl">
                    <a:srgbClr val="000000">
                      <a:alpha val="43137"/>
                    </a:srgbClr>
                  </a:outerShdw>
                </a:effectLst>
                <a:latin typeface="Aptos Black" panose="020B0004020202020204" pitchFamily="34" charset="0"/>
              </a:rPr>
              <a:t>expiry</a:t>
            </a:r>
            <a:r>
              <a:rPr lang="en-US" sz="2000" b="1" dirty="0">
                <a:solidFill>
                  <a:srgbClr val="002060"/>
                </a:solidFill>
                <a:effectLst>
                  <a:outerShdw blurRad="38100" dist="38100" dir="2700000" algn="tl">
                    <a:srgbClr val="000000">
                      <a:alpha val="43137"/>
                    </a:srgbClr>
                  </a:outerShdw>
                </a:effectLst>
              </a:rPr>
              <a:t>,   the   rights   acquired</a:t>
            </a:r>
            <a:r>
              <a:rPr lang="pl-PL" sz="2000" b="1" dirty="0">
                <a:solidFill>
                  <a:srgbClr val="002060"/>
                </a:solidFill>
                <a:effectLst>
                  <a:outerShdw blurRad="38100" dist="38100" dir="2700000" algn="tl">
                    <a:srgbClr val="000000">
                      <a:alpha val="43137"/>
                    </a:srgbClr>
                  </a:outerShdw>
                </a:effectLst>
              </a:rPr>
              <a:t> </a:t>
            </a:r>
            <a:r>
              <a:rPr lang="en-US" sz="2000" b="1" dirty="0">
                <a:solidFill>
                  <a:srgbClr val="002060"/>
                </a:solidFill>
                <a:effectLst>
                  <a:outerShdw blurRad="38100" dist="38100" dir="2700000" algn="tl">
                    <a:srgbClr val="000000">
                      <a:alpha val="43137"/>
                    </a:srgbClr>
                  </a:outerShdw>
                </a:effectLst>
              </a:rPr>
              <a:t>by</a:t>
            </a:r>
            <a:r>
              <a:rPr lang="pl-PL" sz="2000" b="1" dirty="0">
                <a:solidFill>
                  <a:srgbClr val="002060"/>
                </a:solidFill>
                <a:effectLst>
                  <a:outerShdw blurRad="38100" dist="38100" dir="2700000" algn="tl">
                    <a:srgbClr val="000000">
                      <a:alpha val="43137"/>
                    </a:srgbClr>
                  </a:outerShdw>
                </a:effectLst>
              </a:rPr>
              <a:t> </a:t>
            </a:r>
            <a:r>
              <a:rPr lang="en-US" sz="2000" b="1" dirty="0">
                <a:solidFill>
                  <a:srgbClr val="002060"/>
                </a:solidFill>
                <a:effectLst>
                  <a:outerShdw blurRad="38100" dist="38100" dir="2700000" algn="tl">
                    <a:srgbClr val="000000">
                      <a:alpha val="43137"/>
                    </a:srgbClr>
                  </a:outerShdw>
                </a:effectLst>
              </a:rPr>
              <a:t>the employer together with the ownership of the object in which the work has been fixed </a:t>
            </a:r>
            <a:r>
              <a:rPr lang="en-US" sz="2000" b="1" dirty="0">
                <a:solidFill>
                  <a:srgbClr val="002060"/>
                </a:solidFill>
                <a:effectLst>
                  <a:outerShdw blurRad="38100" dist="38100" dir="2700000" algn="tl">
                    <a:srgbClr val="000000">
                      <a:alpha val="43137"/>
                    </a:srgbClr>
                  </a:outerShdw>
                </a:effectLst>
                <a:latin typeface="Arial Black" panose="020B0A04020102020204" pitchFamily="34" charset="0"/>
              </a:rPr>
              <a:t>shall return to the author</a:t>
            </a:r>
            <a:r>
              <a:rPr lang="en-US" sz="2000" b="1" dirty="0">
                <a:solidFill>
                  <a:srgbClr val="002060"/>
                </a:solidFill>
                <a:effectLst>
                  <a:outerShdw blurRad="38100" dist="38100" dir="2700000" algn="tl">
                    <a:srgbClr val="000000">
                      <a:alpha val="43137"/>
                    </a:srgbClr>
                  </a:outerShdw>
                </a:effectLst>
              </a:rPr>
              <a:t>, </a:t>
            </a:r>
            <a:endParaRPr lang="pl-PL" sz="2000" b="1" dirty="0">
              <a:solidFill>
                <a:srgbClr val="002060"/>
              </a:solidFill>
              <a:effectLst>
                <a:outerShdw blurRad="38100" dist="38100" dir="2700000" algn="tl">
                  <a:srgbClr val="000000">
                    <a:alpha val="43137"/>
                  </a:srgbClr>
                </a:outerShdw>
              </a:effectLst>
            </a:endParaRPr>
          </a:p>
          <a:p>
            <a:r>
              <a:rPr lang="en-US" sz="2000" b="1" u="sng" dirty="0">
                <a:solidFill>
                  <a:srgbClr val="FF0000"/>
                </a:solidFill>
                <a:effectLst>
                  <a:outerShdw blurRad="38100" dist="38100" dir="2700000" algn="tl">
                    <a:srgbClr val="000000">
                      <a:alpha val="43137"/>
                    </a:srgbClr>
                  </a:outerShdw>
                </a:effectLst>
              </a:rPr>
              <a:t>unless the contract states otherwise</a:t>
            </a:r>
            <a:r>
              <a:rPr lang="en-US" sz="2000" b="1" dirty="0">
                <a:solidFill>
                  <a:srgbClr val="002060"/>
                </a:solidFill>
                <a:effectLst>
                  <a:outerShdw blurRad="38100" dist="38100" dir="2700000" algn="tl">
                    <a:srgbClr val="000000">
                      <a:alpha val="43137"/>
                    </a:srgbClr>
                  </a:outerShdw>
                </a:effectLst>
              </a:rPr>
              <a:t>. </a:t>
            </a:r>
            <a:endParaRPr lang="pl-PL" sz="2000" b="1" dirty="0">
              <a:solidFill>
                <a:srgbClr val="002060"/>
              </a:solidFill>
              <a:effectLst>
                <a:outerShdw blurRad="38100" dist="38100" dir="2700000" algn="tl">
                  <a:srgbClr val="000000">
                    <a:alpha val="43137"/>
                  </a:srgbClr>
                </a:outerShdw>
              </a:effectLst>
            </a:endParaRPr>
          </a:p>
          <a:p>
            <a:r>
              <a:rPr lang="en-US" sz="2000" b="1" dirty="0">
                <a:solidFill>
                  <a:srgbClr val="002060"/>
                </a:solidFill>
                <a:effectLst>
                  <a:outerShdw blurRad="38100" dist="38100" dir="2700000" algn="tl">
                    <a:srgbClr val="000000">
                      <a:alpha val="43137"/>
                    </a:srgbClr>
                  </a:outerShdw>
                </a:effectLst>
              </a:rPr>
              <a:t>The parties may agree upon another time limit for starting the dissemination of the work. </a:t>
            </a:r>
          </a:p>
          <a:p>
            <a:pPr>
              <a:buNone/>
            </a:pPr>
            <a:endParaRPr lang="pl-PL"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FFFF00"/>
                </a:highlight>
              </a:rPr>
              <a:t>Moral rights</a:t>
            </a:r>
          </a:p>
        </p:txBody>
      </p:sp>
      <p:sp>
        <p:nvSpPr>
          <p:cNvPr id="3" name="Symbol zastępczy zawartości 2"/>
          <p:cNvSpPr>
            <a:spLocks noGrp="1"/>
          </p:cNvSpPr>
          <p:nvPr>
            <p:ph idx="1"/>
          </p:nvPr>
        </p:nvSpPr>
        <p:spPr/>
        <p:txBody>
          <a:bodyPr/>
          <a:lstStyle/>
          <a:p>
            <a:r>
              <a:rPr lang="en-US" sz="2400" b="1" dirty="0">
                <a:effectLst>
                  <a:outerShdw blurRad="38100" dist="38100" dir="2700000" algn="tl">
                    <a:srgbClr val="000000">
                      <a:alpha val="43137"/>
                    </a:srgbClr>
                  </a:outerShdw>
                </a:effectLst>
              </a:rPr>
              <a:t>Are </a:t>
            </a:r>
            <a:r>
              <a:rPr lang="en-US" sz="2400" b="1" dirty="0">
                <a:solidFill>
                  <a:srgbClr val="FF0000"/>
                </a:solidFill>
                <a:effectLst>
                  <a:outerShdw blurRad="38100" dist="38100" dir="2700000" algn="tl">
                    <a:srgbClr val="000000">
                      <a:alpha val="43137"/>
                    </a:srgbClr>
                  </a:outerShdw>
                </a:effectLst>
              </a:rPr>
              <a:t>inalienable </a:t>
            </a:r>
            <a:r>
              <a:rPr lang="en-US" sz="2400" b="1" dirty="0">
                <a:solidFill>
                  <a:srgbClr val="002060"/>
                </a:solidFill>
                <a:effectLst>
                  <a:outerShdw blurRad="38100" dist="38100" dir="2700000" algn="tl">
                    <a:srgbClr val="000000">
                      <a:alpha val="43137"/>
                    </a:srgbClr>
                  </a:outerShdw>
                </a:effectLst>
              </a:rPr>
              <a:t>(you can not sell or give away  your authorship)</a:t>
            </a:r>
          </a:p>
          <a:p>
            <a:r>
              <a:rPr lang="en-US" sz="2400" b="1" dirty="0">
                <a:effectLst>
                  <a:outerShdw blurRad="38100" dist="38100" dir="2700000" algn="tl">
                    <a:srgbClr val="000000">
                      <a:alpha val="43137"/>
                    </a:srgbClr>
                  </a:outerShdw>
                </a:effectLst>
              </a:rPr>
              <a:t>Have </a:t>
            </a:r>
            <a:r>
              <a:rPr lang="en-US" sz="2400" b="1" dirty="0">
                <a:solidFill>
                  <a:srgbClr val="FF0000"/>
                </a:solidFill>
                <a:effectLst>
                  <a:outerShdw blurRad="38100" dist="38100" dir="2700000" algn="tl">
                    <a:srgbClr val="000000">
                      <a:alpha val="43137"/>
                    </a:srgbClr>
                  </a:outerShdw>
                </a:effectLst>
                <a:highlight>
                  <a:srgbClr val="FFFF00"/>
                </a:highlight>
              </a:rPr>
              <a:t>no time limit</a:t>
            </a:r>
          </a:p>
          <a:p>
            <a:r>
              <a:rPr lang="en-US" sz="2400" b="1" dirty="0">
                <a:effectLst>
                  <a:outerShdw blurRad="38100" dist="38100" dir="2700000" algn="tl">
                    <a:srgbClr val="000000">
                      <a:alpha val="43137"/>
                    </a:srgbClr>
                  </a:outerShdw>
                </a:effectLst>
              </a:rPr>
              <a:t>Can be protected </a:t>
            </a:r>
            <a:r>
              <a:rPr lang="en-US" sz="2400" b="1" dirty="0">
                <a:solidFill>
                  <a:srgbClr val="002060"/>
                </a:solidFill>
                <a:effectLst>
                  <a:outerShdw blurRad="38100" dist="38100" dir="2700000" algn="tl">
                    <a:srgbClr val="000000">
                      <a:alpha val="43137"/>
                    </a:srgbClr>
                  </a:outerShdw>
                </a:effectLst>
              </a:rPr>
              <a:t>by </a:t>
            </a:r>
            <a:r>
              <a:rPr lang="en-US" sz="2400" b="1" dirty="0">
                <a:solidFill>
                  <a:srgbClr val="FF0000"/>
                </a:solidFill>
                <a:effectLst>
                  <a:outerShdw blurRad="38100" dist="38100" dir="2700000" algn="tl">
                    <a:srgbClr val="000000">
                      <a:alpha val="43137"/>
                    </a:srgbClr>
                  </a:outerShdw>
                </a:effectLst>
              </a:rPr>
              <a:t>successors and family</a:t>
            </a:r>
          </a:p>
          <a:p>
            <a:r>
              <a:rPr lang="en-US" sz="2400" b="1" dirty="0">
                <a:effectLst>
                  <a:outerShdw blurRad="38100" dist="38100" dir="2700000" algn="tl">
                    <a:srgbClr val="000000">
                      <a:alpha val="43137"/>
                    </a:srgbClr>
                  </a:outerShdw>
                </a:effectLst>
              </a:rPr>
              <a:t>Author may </a:t>
            </a:r>
            <a:r>
              <a:rPr lang="en-US" sz="2400" b="1" dirty="0">
                <a:solidFill>
                  <a:srgbClr val="002060"/>
                </a:solidFill>
                <a:effectLst>
                  <a:outerShdw blurRad="38100" dist="38100" dir="2700000" algn="tl">
                    <a:srgbClr val="000000">
                      <a:alpha val="43137"/>
                    </a:srgbClr>
                  </a:outerShdw>
                </a:effectLst>
              </a:rPr>
              <a:t>demand </a:t>
            </a:r>
            <a:r>
              <a:rPr lang="pl-PL" sz="2400" b="1" dirty="0">
                <a:solidFill>
                  <a:srgbClr val="002060"/>
                </a:solidFill>
                <a:effectLst>
                  <a:outerShdw blurRad="38100" dist="38100" dir="2700000" algn="tl">
                    <a:srgbClr val="000000">
                      <a:alpha val="43137"/>
                    </a:srgbClr>
                  </a:outerShdw>
                </a:effectLst>
              </a:rPr>
              <a:t>the</a:t>
            </a:r>
            <a:r>
              <a:rPr lang="en-US" sz="2400" b="1" dirty="0">
                <a:solidFill>
                  <a:srgbClr val="002060"/>
                </a:solidFill>
                <a:effectLst>
                  <a:outerShdw blurRad="38100" dist="38100" dir="2700000" algn="tl">
                    <a:srgbClr val="000000">
                      <a:alpha val="43137"/>
                    </a:srgbClr>
                  </a:outerShdw>
                </a:effectLst>
              </a:rPr>
              <a:t> </a:t>
            </a:r>
            <a:r>
              <a:rPr lang="en-US" sz="2400" b="1" dirty="0">
                <a:solidFill>
                  <a:srgbClr val="FF0000"/>
                </a:solidFill>
                <a:effectLst>
                  <a:outerShdw blurRad="38100" dist="38100" dir="2700000" algn="tl">
                    <a:srgbClr val="000000">
                      <a:alpha val="43137"/>
                    </a:srgbClr>
                  </a:outerShdw>
                </a:effectLst>
              </a:rPr>
              <a:t>infringement</a:t>
            </a:r>
            <a:r>
              <a:rPr lang="pl-PL" sz="2400" b="1" dirty="0">
                <a:solidFill>
                  <a:srgbClr val="002060"/>
                </a:solidFill>
                <a:effectLst>
                  <a:outerShdw blurRad="38100" dist="38100" dir="2700000" algn="tl">
                    <a:srgbClr val="000000">
                      <a:alpha val="43137"/>
                    </a:srgbClr>
                  </a:outerShdw>
                </a:effectLst>
              </a:rPr>
              <a:t> to be stopped</a:t>
            </a:r>
            <a:r>
              <a:rPr lang="en-US" sz="2400" b="1" dirty="0">
                <a:solidFill>
                  <a:srgbClr val="002060"/>
                </a:solidFill>
                <a:effectLst>
                  <a:outerShdw blurRad="38100" dist="38100" dir="2700000" algn="tl">
                    <a:srgbClr val="000000">
                      <a:alpha val="43137"/>
                    </a:srgbClr>
                  </a:outerShdw>
                </a:effectLst>
              </a:rPr>
              <a:t> </a:t>
            </a:r>
            <a:r>
              <a:rPr lang="en-US" sz="2400" b="1" dirty="0">
                <a:effectLst>
                  <a:outerShdw blurRad="38100" dist="38100" dir="2700000" algn="tl">
                    <a:srgbClr val="000000">
                      <a:alpha val="43137"/>
                    </a:srgbClr>
                  </a:outerShdw>
                </a:effectLst>
              </a:rPr>
              <a:t>and positive actions to restore the right (for example, a </a:t>
            </a:r>
            <a:r>
              <a:rPr lang="en-US" sz="2400" b="1" dirty="0">
                <a:solidFill>
                  <a:srgbClr val="002060"/>
                </a:solidFill>
                <a:effectLst>
                  <a:outerShdw blurRad="38100" dist="38100" dir="2700000" algn="tl">
                    <a:srgbClr val="000000">
                      <a:alpha val="43137"/>
                    </a:srgbClr>
                  </a:outerShdw>
                </a:effectLst>
              </a:rPr>
              <a:t>public announcement </a:t>
            </a:r>
            <a:r>
              <a:rPr lang="en-US" sz="2400" b="1" dirty="0">
                <a:effectLst>
                  <a:outerShdw blurRad="38100" dist="38100" dir="2700000" algn="tl">
                    <a:srgbClr val="000000">
                      <a:alpha val="43137"/>
                    </a:srgbClr>
                  </a:outerShdw>
                </a:effectLst>
              </a:rPr>
              <a:t>that these rights belong to him/her)</a:t>
            </a:r>
          </a:p>
          <a:p>
            <a:r>
              <a:rPr lang="en-US" sz="2400" b="1" dirty="0">
                <a:effectLst>
                  <a:outerShdw blurRad="38100" dist="38100" dir="2700000" algn="tl">
                    <a:srgbClr val="000000">
                      <a:alpha val="43137"/>
                    </a:srgbClr>
                  </a:outerShdw>
                </a:effectLst>
              </a:rPr>
              <a:t>Author decides about the </a:t>
            </a:r>
            <a:r>
              <a:rPr lang="en-US" sz="2400" b="1" dirty="0">
                <a:solidFill>
                  <a:srgbClr val="FF0000"/>
                </a:solidFill>
                <a:effectLst>
                  <a:outerShdw blurRad="38100" dist="38100" dir="2700000" algn="tl">
                    <a:srgbClr val="000000">
                      <a:alpha val="43137"/>
                    </a:srgbClr>
                  </a:outerShdw>
                </a:effectLst>
              </a:rPr>
              <a:t>first sale</a:t>
            </a:r>
          </a:p>
          <a:p>
            <a:r>
              <a:rPr lang="en-US" sz="2400" b="1" dirty="0">
                <a:effectLst>
                  <a:outerShdw blurRad="38100" dist="38100" dir="2700000" algn="tl">
                    <a:srgbClr val="000000">
                      <a:alpha val="43137"/>
                    </a:srgbClr>
                  </a:outerShdw>
                </a:effectLst>
              </a:rPr>
              <a:t>Author has right to </a:t>
            </a:r>
            <a:r>
              <a:rPr lang="en-US" sz="2400" b="1" dirty="0">
                <a:solidFill>
                  <a:srgbClr val="002060"/>
                </a:solidFill>
                <a:effectLst>
                  <a:outerShdw blurRad="38100" dist="38100" dir="2700000" algn="tl">
                    <a:srgbClr val="000000">
                      <a:alpha val="43137"/>
                    </a:srgbClr>
                  </a:outerShdw>
                </a:effectLst>
              </a:rPr>
              <a:t>supervise </a:t>
            </a:r>
            <a:r>
              <a:rPr lang="en-US" sz="2400" b="1" dirty="0">
                <a:effectLst>
                  <a:outerShdw blurRad="38100" dist="38100" dir="2700000" algn="tl">
                    <a:srgbClr val="000000">
                      <a:alpha val="43137"/>
                    </a:srgbClr>
                  </a:outerShdw>
                </a:effectLst>
              </a:rPr>
              <a:t>his/her work (to see if the work is not being distorted – play, book etc.)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00FF00"/>
                </a:highlight>
              </a:rPr>
              <a:t>Economic rights</a:t>
            </a:r>
            <a:br>
              <a:rPr lang="en-US" dirty="0"/>
            </a:br>
            <a:r>
              <a:rPr lang="pl-PL" sz="1600" dirty="0"/>
              <a:t>art. 17</a:t>
            </a:r>
          </a:p>
        </p:txBody>
      </p:sp>
      <p:sp>
        <p:nvSpPr>
          <p:cNvPr id="3" name="Symbol zastępczy zawartości 2"/>
          <p:cNvSpPr>
            <a:spLocks noGrp="1"/>
          </p:cNvSpPr>
          <p:nvPr>
            <p:ph idx="1"/>
          </p:nvPr>
        </p:nvSpPr>
        <p:spPr/>
        <p:txBody>
          <a:bodyPr/>
          <a:lstStyle/>
          <a:p>
            <a:pPr marL="0" indent="0">
              <a:buNone/>
            </a:pPr>
            <a:r>
              <a:rPr lang="en-US" sz="3600" dirty="0">
                <a:effectLst>
                  <a:outerShdw blurRad="38100" dist="38100" dir="2700000" algn="tl">
                    <a:srgbClr val="000000">
                      <a:alpha val="43137"/>
                    </a:srgbClr>
                  </a:outerShdw>
                </a:effectLst>
              </a:rPr>
              <a:t>Unless this Act stipulates otherwise, the </a:t>
            </a:r>
            <a:r>
              <a:rPr lang="en-US" sz="3600" b="1" dirty="0">
                <a:solidFill>
                  <a:srgbClr val="FF0000"/>
                </a:solidFill>
                <a:effectLst>
                  <a:outerShdw blurRad="38100" dist="38100" dir="2700000" algn="tl">
                    <a:srgbClr val="000000">
                      <a:alpha val="43137"/>
                    </a:srgbClr>
                  </a:outerShdw>
                </a:effectLst>
                <a:highlight>
                  <a:srgbClr val="FFFF00"/>
                </a:highlight>
              </a:rPr>
              <a:t>author shall have an exclusive right </a:t>
            </a:r>
            <a:r>
              <a:rPr lang="en-US" sz="3600" b="1" dirty="0">
                <a:solidFill>
                  <a:srgbClr val="FF0000"/>
                </a:solidFill>
                <a:effectLst>
                  <a:outerShdw blurRad="38100" dist="38100" dir="2700000" algn="tl">
                    <a:srgbClr val="000000">
                      <a:alpha val="43137"/>
                    </a:srgbClr>
                  </a:outerShdw>
                </a:effectLst>
              </a:rPr>
              <a:t>to use </a:t>
            </a:r>
            <a:r>
              <a:rPr lang="en-US" sz="3600" dirty="0">
                <a:effectLst>
                  <a:outerShdw blurRad="38100" dist="38100" dir="2700000" algn="tl">
                    <a:srgbClr val="000000">
                      <a:alpha val="43137"/>
                    </a:srgbClr>
                  </a:outerShdw>
                </a:effectLst>
              </a:rPr>
              <a:t>the work and to </a:t>
            </a:r>
            <a:r>
              <a:rPr lang="en-US" sz="3600" b="1" dirty="0">
                <a:solidFill>
                  <a:srgbClr val="FF0000"/>
                </a:solidFill>
                <a:effectLst>
                  <a:outerShdw blurRad="38100" dist="38100" dir="2700000" algn="tl">
                    <a:srgbClr val="000000">
                      <a:alpha val="43137"/>
                    </a:srgbClr>
                  </a:outerShdw>
                </a:effectLst>
              </a:rPr>
              <a:t>manage its use </a:t>
            </a:r>
            <a:r>
              <a:rPr lang="en-US" sz="3600" dirty="0">
                <a:effectLst>
                  <a:outerShdw blurRad="38100" dist="38100" dir="2700000" algn="tl">
                    <a:srgbClr val="000000">
                      <a:alpha val="43137"/>
                    </a:srgbClr>
                  </a:outerShdw>
                </a:effectLst>
              </a:rPr>
              <a:t>throughout al</a:t>
            </a:r>
            <a:r>
              <a:rPr lang="pl-PL" sz="3600" dirty="0">
                <a:effectLst>
                  <a:outerShdw blurRad="38100" dist="38100" dir="2700000" algn="tl">
                    <a:srgbClr val="000000">
                      <a:alpha val="43137"/>
                    </a:srgbClr>
                  </a:outerShdw>
                </a:effectLst>
              </a:rPr>
              <a:t>l</a:t>
            </a:r>
            <a:r>
              <a:rPr lang="en-US" sz="3600" dirty="0">
                <a:effectLst>
                  <a:outerShdw blurRad="38100" dist="38100" dir="2700000" algn="tl">
                    <a:srgbClr val="000000">
                      <a:alpha val="43137"/>
                    </a:srgbClr>
                  </a:outerShdw>
                </a:effectLst>
              </a:rPr>
              <a:t> </a:t>
            </a:r>
            <a:r>
              <a:rPr lang="en-US" sz="3600" b="1" dirty="0">
                <a:solidFill>
                  <a:srgbClr val="FF0000"/>
                </a:solidFill>
                <a:effectLst>
                  <a:outerShdw blurRad="38100" dist="38100" dir="2700000" algn="tl">
                    <a:srgbClr val="000000">
                      <a:alpha val="43137"/>
                    </a:srgbClr>
                  </a:outerShdw>
                </a:effectLst>
                <a:highlight>
                  <a:srgbClr val="00FF00"/>
                </a:highlight>
              </a:rPr>
              <a:t>fields of exploitation </a:t>
            </a:r>
            <a:r>
              <a:rPr lang="en-US" sz="3600" dirty="0">
                <a:effectLst>
                  <a:outerShdw blurRad="38100" dist="38100" dir="2700000" algn="tl">
                    <a:srgbClr val="000000">
                      <a:alpha val="43137"/>
                    </a:srgbClr>
                  </a:outerShdw>
                </a:effectLst>
              </a:rPr>
              <a:t>and to receive </a:t>
            </a:r>
            <a:r>
              <a:rPr lang="en-US" sz="3600" b="1" dirty="0">
                <a:solidFill>
                  <a:srgbClr val="FF0000"/>
                </a:solidFill>
                <a:effectLst>
                  <a:outerShdw blurRad="38100" dist="38100" dir="2700000" algn="tl">
                    <a:srgbClr val="000000">
                      <a:alpha val="43137"/>
                    </a:srgbClr>
                  </a:outerShdw>
                </a:effectLst>
              </a:rPr>
              <a:t>remuneration</a:t>
            </a:r>
            <a:r>
              <a:rPr lang="en-US" sz="3600" dirty="0">
                <a:effectLst>
                  <a:outerShdw blurRad="38100" dist="38100" dir="2700000" algn="tl">
                    <a:srgbClr val="000000">
                      <a:alpha val="43137"/>
                    </a:srgbClr>
                  </a:outerShdw>
                </a:effectLst>
              </a:rPr>
              <a:t> </a:t>
            </a:r>
            <a:r>
              <a:rPr lang="pl-PL" sz="3600" dirty="0">
                <a:effectLst>
                  <a:outerShdw blurRad="38100" dist="38100" dir="2700000" algn="tl">
                    <a:srgbClr val="000000">
                      <a:alpha val="43137"/>
                    </a:srgbClr>
                  </a:outerShdw>
                </a:effectLst>
              </a:rPr>
              <a:t>[= fee] </a:t>
            </a:r>
            <a:r>
              <a:rPr lang="en-US" sz="3600" dirty="0">
                <a:effectLst>
                  <a:outerShdw blurRad="38100" dist="38100" dir="2700000" algn="tl">
                    <a:srgbClr val="000000">
                      <a:alpha val="43137"/>
                    </a:srgbClr>
                  </a:outerShdw>
                </a:effectLst>
              </a:rPr>
              <a:t>for the use of the work </a:t>
            </a:r>
            <a:endParaRPr lang="pl-PL" sz="3600" dirty="0">
              <a:effectLst>
                <a:outerShdw blurRad="38100" dist="38100" dir="2700000" algn="tl">
                  <a:srgbClr val="000000">
                    <a:alpha val="43137"/>
                  </a:srgbClr>
                </a:outerShdw>
              </a:effectLst>
            </a:endParaRPr>
          </a:p>
          <a:p>
            <a:pPr>
              <a:buNone/>
            </a:pPr>
            <a:endParaRPr lang="en-US" dirty="0"/>
          </a:p>
          <a:p>
            <a:pPr>
              <a:buNone/>
            </a:pPr>
            <a:r>
              <a:rPr lang="en-US" dirty="0"/>
              <a:t>       </a:t>
            </a:r>
            <a:endParaRPr lang="pl-PL"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highlight>
                  <a:srgbClr val="FFFF00"/>
                </a:highlight>
              </a:rPr>
              <a:t>S</a:t>
            </a:r>
            <a:r>
              <a:rPr lang="en-US" b="1" dirty="0">
                <a:solidFill>
                  <a:srgbClr val="FF0000"/>
                </a:solidFill>
                <a:effectLst>
                  <a:outerShdw blurRad="38100" dist="38100" dir="2700000" algn="tl">
                    <a:srgbClr val="000000">
                      <a:alpha val="43137"/>
                    </a:srgbClr>
                  </a:outerShdw>
                </a:effectLst>
                <a:highlight>
                  <a:srgbClr val="FFFF00"/>
                </a:highlight>
              </a:rPr>
              <a:t>tudents</a:t>
            </a:r>
          </a:p>
        </p:txBody>
      </p:sp>
      <p:sp>
        <p:nvSpPr>
          <p:cNvPr id="3" name="Symbol zastępczy zawartości 2"/>
          <p:cNvSpPr>
            <a:spLocks noGrp="1"/>
          </p:cNvSpPr>
          <p:nvPr>
            <p:ph idx="1"/>
          </p:nvPr>
        </p:nvSpPr>
        <p:spPr/>
        <p:txBody>
          <a:bodyPr/>
          <a:lstStyle/>
          <a:p>
            <a:r>
              <a:rPr lang="en-US" sz="4000" b="1" dirty="0">
                <a:solidFill>
                  <a:srgbClr val="FF0000"/>
                </a:solidFill>
                <a:effectLst>
                  <a:outerShdw blurRad="38100" dist="38100" dir="2700000" algn="tl">
                    <a:srgbClr val="000000">
                      <a:alpha val="43137"/>
                    </a:srgbClr>
                  </a:outerShdw>
                </a:effectLst>
              </a:rPr>
              <a:t>Universities have priority </a:t>
            </a:r>
            <a:r>
              <a:rPr lang="en-US" sz="4000" b="1" dirty="0">
                <a:solidFill>
                  <a:srgbClr val="002060"/>
                </a:solidFill>
                <a:effectLst>
                  <a:outerShdw blurRad="38100" dist="38100" dir="2700000" algn="tl">
                    <a:srgbClr val="000000">
                      <a:alpha val="43137"/>
                    </a:srgbClr>
                  </a:outerShdw>
                </a:effectLst>
              </a:rPr>
              <a:t>to publish </a:t>
            </a:r>
            <a:r>
              <a:rPr lang="pl-PL" sz="4000" b="1" dirty="0" err="1">
                <a:solidFill>
                  <a:srgbClr val="002060"/>
                </a:solidFill>
                <a:effectLst>
                  <a:outerShdw blurRad="38100" dist="38100" dir="2700000" algn="tl">
                    <a:srgbClr val="000000">
                      <a:alpha val="43137"/>
                    </a:srgbClr>
                  </a:outerShdw>
                </a:effectLst>
              </a:rPr>
              <a:t>students</a:t>
            </a:r>
            <a:r>
              <a:rPr lang="pl-PL" sz="4000" b="1" dirty="0">
                <a:solidFill>
                  <a:srgbClr val="002060"/>
                </a:solidFill>
                <a:effectLst>
                  <a:outerShdw blurRad="38100" dist="38100" dir="2700000" algn="tl">
                    <a:srgbClr val="000000">
                      <a:alpha val="43137"/>
                    </a:srgbClr>
                  </a:outerShdw>
                </a:effectLst>
              </a:rPr>
              <a:t>’</a:t>
            </a:r>
            <a:r>
              <a:rPr lang="en-US" sz="4000" b="1" dirty="0">
                <a:solidFill>
                  <a:srgbClr val="002060"/>
                </a:solidFill>
                <a:effectLst>
                  <a:outerShdw blurRad="38100" dist="38100" dir="2700000" algn="tl">
                    <a:srgbClr val="000000">
                      <a:alpha val="43137"/>
                    </a:srgbClr>
                  </a:outerShdw>
                </a:effectLst>
              </a:rPr>
              <a:t> final dissertations </a:t>
            </a:r>
          </a:p>
          <a:p>
            <a:r>
              <a:rPr lang="pl-PL" sz="4000" b="1" dirty="0">
                <a:solidFill>
                  <a:srgbClr val="002060"/>
                </a:solidFill>
                <a:effectLst>
                  <a:outerShdw blurRad="38100" dist="38100" dir="2700000" algn="tl">
                    <a:srgbClr val="000000">
                      <a:alpha val="43137"/>
                    </a:srgbClr>
                  </a:outerShdw>
                </a:effectLst>
              </a:rPr>
              <a:t> The student</a:t>
            </a:r>
            <a:r>
              <a:rPr lang="en-US" sz="4000" b="1" dirty="0">
                <a:solidFill>
                  <a:srgbClr val="002060"/>
                </a:solidFill>
                <a:effectLst>
                  <a:outerShdw blurRad="38100" dist="38100" dir="2700000" algn="tl">
                    <a:srgbClr val="000000">
                      <a:alpha val="43137"/>
                    </a:srgbClr>
                  </a:outerShdw>
                </a:effectLst>
              </a:rPr>
              <a:t> may publish it if the universit</a:t>
            </a:r>
            <a:r>
              <a:rPr lang="pl-PL" sz="4000" b="1" dirty="0">
                <a:solidFill>
                  <a:srgbClr val="002060"/>
                </a:solidFill>
                <a:effectLst>
                  <a:outerShdw blurRad="38100" dist="38100" dir="2700000" algn="tl">
                    <a:srgbClr val="000000">
                      <a:alpha val="43137"/>
                    </a:srgbClr>
                  </a:outerShdw>
                </a:effectLst>
              </a:rPr>
              <a:t>y</a:t>
            </a:r>
            <a:r>
              <a:rPr lang="en-US" sz="4000" b="1" dirty="0">
                <a:solidFill>
                  <a:srgbClr val="002060"/>
                </a:solidFill>
                <a:effectLst>
                  <a:outerShdw blurRad="38100" dist="38100" dir="2700000" algn="tl">
                    <a:srgbClr val="000000">
                      <a:alpha val="43137"/>
                    </a:srgbClr>
                  </a:outerShdw>
                </a:effectLst>
              </a:rPr>
              <a:t> has not published it within </a:t>
            </a:r>
            <a:r>
              <a:rPr lang="en-US" sz="4000" b="1" dirty="0">
                <a:solidFill>
                  <a:srgbClr val="FF0000"/>
                </a:solidFill>
                <a:effectLst>
                  <a:outerShdw blurRad="38100" dist="38100" dir="2700000" algn="tl">
                    <a:srgbClr val="000000">
                      <a:alpha val="43137"/>
                    </a:srgbClr>
                  </a:outerShdw>
                </a:effectLst>
                <a:highlight>
                  <a:srgbClr val="FFFF00"/>
                </a:highlight>
              </a:rPr>
              <a:t>6 months </a:t>
            </a:r>
            <a:r>
              <a:rPr lang="pl-PL" sz="4000" dirty="0"/>
              <a:t>of</a:t>
            </a:r>
            <a:r>
              <a:rPr lang="en-US" sz="4000" dirty="0"/>
              <a:t> </a:t>
            </a:r>
            <a:r>
              <a:rPr lang="pl-PL" sz="4000" dirty="0"/>
              <a:t>the </a:t>
            </a:r>
            <a:r>
              <a:rPr lang="en-US" sz="4000" dirty="0"/>
              <a:t>thesis defense </a:t>
            </a:r>
          </a:p>
          <a:p>
            <a:r>
              <a:rPr lang="en-US" sz="4000" b="1" dirty="0">
                <a:solidFill>
                  <a:srgbClr val="002060"/>
                </a:solidFill>
                <a:effectLst>
                  <a:outerShdw blurRad="38100" dist="38100" dir="2700000" algn="tl">
                    <a:srgbClr val="000000">
                      <a:alpha val="43137"/>
                    </a:srgbClr>
                  </a:outerShdw>
                </a:effectLst>
              </a:rPr>
              <a:t>unless it is part of a collective work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Professional resale</a:t>
            </a:r>
          </a:p>
        </p:txBody>
      </p:sp>
      <p:sp>
        <p:nvSpPr>
          <p:cNvPr id="3" name="Symbol zastępczy zawartości 2"/>
          <p:cNvSpPr>
            <a:spLocks noGrp="1"/>
          </p:cNvSpPr>
          <p:nvPr>
            <p:ph idx="1"/>
          </p:nvPr>
        </p:nvSpPr>
        <p:spPr/>
        <p:txBody>
          <a:bodyPr/>
          <a:lstStyle/>
          <a:p>
            <a:r>
              <a:rPr lang="pl-PL" b="1" dirty="0">
                <a:effectLst>
                  <a:outerShdw blurRad="38100" dist="38100" dir="2700000" algn="tl">
                    <a:srgbClr val="000000">
                      <a:alpha val="43137"/>
                    </a:srgbClr>
                  </a:outerShdw>
                </a:effectLst>
              </a:rPr>
              <a:t>A</a:t>
            </a:r>
            <a:r>
              <a:rPr lang="en-US" b="1" dirty="0">
                <a:effectLst>
                  <a:outerShdw blurRad="38100" dist="38100" dir="2700000" algn="tl">
                    <a:srgbClr val="000000">
                      <a:alpha val="43137"/>
                    </a:srgbClr>
                  </a:outerShdw>
                </a:effectLst>
              </a:rPr>
              <a:t>uthor</a:t>
            </a:r>
            <a:r>
              <a:rPr lang="pl-PL" b="1" dirty="0">
                <a:effectLst>
                  <a:outerShdw blurRad="38100" dist="38100" dir="2700000" algn="tl">
                    <a:srgbClr val="000000">
                      <a:alpha val="43137"/>
                    </a:srgbClr>
                  </a:outerShdw>
                </a:effectLst>
              </a:rPr>
              <a:t>s</a:t>
            </a:r>
            <a:r>
              <a:rPr lang="en-US" b="1"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and </a:t>
            </a:r>
            <a:r>
              <a:rPr lang="pl-PL" dirty="0">
                <a:effectLst>
                  <a:outerShdw blurRad="38100" dist="38100" dir="2700000" algn="tl">
                    <a:srgbClr val="000000">
                      <a:alpha val="43137"/>
                    </a:srgbClr>
                  </a:outerShdw>
                </a:effectLst>
              </a:rPr>
              <a:t>their</a:t>
            </a:r>
            <a:r>
              <a:rPr lang="en-US"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heirs</a:t>
            </a:r>
            <a:r>
              <a:rPr lang="en-US" dirty="0">
                <a:effectLst>
                  <a:outerShdw blurRad="38100" dist="38100" dir="2700000" algn="tl">
                    <a:srgbClr val="000000">
                      <a:alpha val="43137"/>
                    </a:srgbClr>
                  </a:outerShdw>
                </a:effectLst>
              </a:rPr>
              <a:t>, in the case of </a:t>
            </a:r>
            <a:r>
              <a:rPr lang="en-US" b="1" dirty="0">
                <a:solidFill>
                  <a:srgbClr val="FF0000"/>
                </a:solidFill>
                <a:effectLst>
                  <a:outerShdw blurRad="38100" dist="38100" dir="2700000" algn="tl">
                    <a:srgbClr val="000000">
                      <a:alpha val="43137"/>
                    </a:srgbClr>
                  </a:outerShdw>
                </a:effectLst>
              </a:rPr>
              <a:t>professionally performed </a:t>
            </a:r>
            <a:r>
              <a:rPr lang="en-US" b="1" dirty="0">
                <a:solidFill>
                  <a:srgbClr val="FF0000"/>
                </a:solidFill>
                <a:effectLst>
                  <a:outerShdw blurRad="38100" dist="38100" dir="2700000" algn="tl">
                    <a:srgbClr val="000000">
                      <a:alpha val="43137"/>
                    </a:srgbClr>
                  </a:outerShdw>
                </a:effectLst>
                <a:highlight>
                  <a:srgbClr val="00FF00"/>
                </a:highlight>
              </a:rPr>
              <a:t>resale of original copies</a:t>
            </a:r>
            <a:r>
              <a:rPr lang="en-US" dirty="0">
                <a:effectLst>
                  <a:outerShdw blurRad="38100" dist="38100" dir="2700000" algn="tl">
                    <a:srgbClr val="000000">
                      <a:alpha val="43137"/>
                    </a:srgbClr>
                  </a:outerShdw>
                </a:effectLst>
              </a:rPr>
              <a:t> of the </a:t>
            </a:r>
            <a:r>
              <a:rPr lang="en-US" b="1" dirty="0">
                <a:solidFill>
                  <a:srgbClr val="FF0000"/>
                </a:solidFill>
                <a:effectLst>
                  <a:outerShdw blurRad="38100" dist="38100" dir="2700000" algn="tl">
                    <a:srgbClr val="000000">
                      <a:alpha val="43137"/>
                    </a:srgbClr>
                  </a:outerShdw>
                </a:effectLst>
                <a:highlight>
                  <a:srgbClr val="FFFF00"/>
                </a:highlight>
              </a:rPr>
              <a:t>artistic or photographic work</a:t>
            </a:r>
            <a:r>
              <a:rPr lang="en-US" dirty="0">
                <a:effectLst>
                  <a:outerShdw blurRad="38100" dist="38100" dir="2700000" algn="tl">
                    <a:srgbClr val="000000">
                      <a:alpha val="43137"/>
                    </a:srgbClr>
                  </a:outerShdw>
                </a:effectLst>
              </a:rPr>
              <a:t>, have the </a:t>
            </a:r>
            <a:r>
              <a:rPr lang="en-US" b="1" dirty="0">
                <a:effectLst>
                  <a:outerShdw blurRad="38100" dist="38100" dir="2700000" algn="tl">
                    <a:srgbClr val="000000">
                      <a:alpha val="43137"/>
                    </a:srgbClr>
                  </a:outerShdw>
                </a:effectLst>
              </a:rPr>
              <a:t>right to remuneration</a:t>
            </a:r>
            <a:r>
              <a:rPr lang="pl-PL" b="1" dirty="0">
                <a:effectLst>
                  <a:outerShdw blurRad="38100" dist="38100" dir="2700000" algn="tl">
                    <a:srgbClr val="000000">
                      <a:alpha val="43137"/>
                    </a:srgbClr>
                  </a:outerShdw>
                </a:effectLst>
              </a:rPr>
              <a:t>,</a:t>
            </a:r>
            <a:r>
              <a:rPr lang="en-US" b="1"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being the total of the rates below </a:t>
            </a:r>
            <a:r>
              <a:rPr lang="pl-PL" dirty="0">
                <a:effectLst>
                  <a:outerShdw blurRad="38100" dist="38100" dir="2700000" algn="tl">
                    <a:srgbClr val="000000">
                      <a:alpha val="43137"/>
                    </a:srgbClr>
                  </a:outerShdw>
                </a:effectLst>
              </a:rPr>
              <a:t>[</a:t>
            </a:r>
            <a:r>
              <a:rPr lang="pl-PL" b="1" dirty="0">
                <a:solidFill>
                  <a:srgbClr val="FF0000"/>
                </a:solidFill>
                <a:effectLst>
                  <a:outerShdw blurRad="38100" dist="38100" dir="2700000" algn="tl">
                    <a:srgbClr val="000000">
                      <a:alpha val="43137"/>
                    </a:srgbClr>
                  </a:outerShdw>
                </a:effectLst>
              </a:rPr>
              <a:t>excerpts</a:t>
            </a:r>
            <a:r>
              <a:rPr lang="pl-PL" dirty="0">
                <a:effectLst>
                  <a:outerShdw blurRad="38100" dist="38100" dir="2700000" algn="tl">
                    <a:srgbClr val="000000">
                      <a:alpha val="43137"/>
                    </a:srgbClr>
                  </a:outerShdw>
                </a:effectLst>
              </a:rPr>
              <a:t>]:</a:t>
            </a:r>
          </a:p>
          <a:p>
            <a:r>
              <a:rPr lang="en-US" sz="2800" b="1" dirty="0">
                <a:solidFill>
                  <a:srgbClr val="FF0000"/>
                </a:solidFill>
                <a:effectLst>
                  <a:outerShdw blurRad="38100" dist="38100" dir="2700000" algn="tl">
                    <a:srgbClr val="000000">
                      <a:alpha val="43137"/>
                    </a:srgbClr>
                  </a:outerShdw>
                </a:effectLst>
              </a:rPr>
              <a:t>5%</a:t>
            </a:r>
            <a:r>
              <a:rPr lang="en-US" sz="2800" dirty="0">
                <a:solidFill>
                  <a:srgbClr val="FF0000"/>
                </a:solidFill>
                <a:effectLst>
                  <a:outerShdw blurRad="38100" dist="38100" dir="2700000" algn="tl">
                    <a:srgbClr val="000000">
                      <a:alpha val="43137"/>
                    </a:srgbClr>
                  </a:outerShdw>
                </a:effectLst>
              </a:rPr>
              <a:t> </a:t>
            </a:r>
            <a:r>
              <a:rPr lang="en-US" sz="2800" dirty="0">
                <a:effectLst>
                  <a:outerShdw blurRad="38100" dist="38100" dir="2700000" algn="tl">
                    <a:srgbClr val="000000">
                      <a:alpha val="43137"/>
                    </a:srgbClr>
                  </a:outerShdw>
                </a:effectLst>
              </a:rPr>
              <a:t>of the selling price </a:t>
            </a:r>
            <a:r>
              <a:rPr lang="pl-PL" sz="2800" dirty="0">
                <a:effectLst>
                  <a:outerShdw blurRad="38100" dist="38100" dir="2700000" algn="tl">
                    <a:srgbClr val="000000">
                      <a:alpha val="43137"/>
                    </a:srgbClr>
                  </a:outerShdw>
                </a:effectLst>
              </a:rPr>
              <a:t>&lt; </a:t>
            </a:r>
            <a:r>
              <a:rPr lang="en-US" sz="2800" dirty="0">
                <a:effectLst>
                  <a:outerShdw blurRad="38100" dist="38100" dir="2700000" algn="tl">
                    <a:srgbClr val="000000">
                      <a:alpha val="43137"/>
                    </a:srgbClr>
                  </a:outerShdw>
                </a:effectLst>
              </a:rPr>
              <a:t>EUR 50,000</a:t>
            </a:r>
            <a:r>
              <a:rPr lang="pl-PL" sz="2800" dirty="0">
                <a:effectLst>
                  <a:outerShdw blurRad="38100" dist="38100" dir="2700000" algn="tl">
                    <a:srgbClr val="000000">
                      <a:alpha val="43137"/>
                    </a:srgbClr>
                  </a:outerShdw>
                </a:effectLst>
              </a:rPr>
              <a:t>  [net, after tax]</a:t>
            </a:r>
          </a:p>
          <a:p>
            <a:r>
              <a:rPr lang="pl-PL" sz="2800" b="1" dirty="0">
                <a:solidFill>
                  <a:srgbClr val="FF0000"/>
                </a:solidFill>
                <a:effectLst>
                  <a:outerShdw blurRad="38100" dist="38100" dir="2700000" algn="tl">
                    <a:srgbClr val="000000">
                      <a:alpha val="43137"/>
                    </a:srgbClr>
                  </a:outerShdw>
                </a:effectLst>
              </a:rPr>
              <a:t>O,25%</a:t>
            </a:r>
            <a:r>
              <a:rPr lang="pl-PL" sz="2800" dirty="0">
                <a:effectLst>
                  <a:outerShdw blurRad="38100" dist="38100" dir="2700000" algn="tl">
                    <a:srgbClr val="000000">
                      <a:alpha val="43137"/>
                    </a:srgbClr>
                  </a:outerShdw>
                </a:effectLst>
              </a:rPr>
              <a:t> &gt; 500 000 Euro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Professional resale</a:t>
            </a:r>
          </a:p>
        </p:txBody>
      </p:sp>
      <p:sp>
        <p:nvSpPr>
          <p:cNvPr id="3" name="Symbol zastępczy zawartości 2"/>
          <p:cNvSpPr>
            <a:spLocks noGrp="1"/>
          </p:cNvSpPr>
          <p:nvPr>
            <p:ph idx="1"/>
          </p:nvPr>
        </p:nvSpPr>
        <p:spPr/>
        <p:txBody>
          <a:bodyPr/>
          <a:lstStyle/>
          <a:p>
            <a:pPr>
              <a:buNone/>
            </a:pPr>
            <a:r>
              <a:rPr lang="en-US" dirty="0">
                <a:solidFill>
                  <a:srgbClr val="002060"/>
                </a:solidFill>
                <a:effectLst>
                  <a:outerShdw blurRad="38100" dist="38100" dir="2700000" algn="tl">
                    <a:srgbClr val="000000">
                      <a:alpha val="43137"/>
                    </a:srgbClr>
                  </a:outerShdw>
                </a:effectLst>
              </a:rPr>
              <a:t>The author and his/her heirs shall have the right to remuneration in the amount of </a:t>
            </a:r>
            <a:r>
              <a:rPr lang="en-US" b="1" dirty="0">
                <a:solidFill>
                  <a:srgbClr val="FF0000"/>
                </a:solidFill>
                <a:effectLst>
                  <a:outerShdw blurRad="38100" dist="38100" dir="2700000" algn="tl">
                    <a:srgbClr val="000000">
                      <a:alpha val="43137"/>
                    </a:srgbClr>
                  </a:outerShdw>
                </a:effectLst>
              </a:rPr>
              <a:t>5%</a:t>
            </a:r>
            <a:r>
              <a:rPr lang="en-US" dirty="0">
                <a:solidFill>
                  <a:srgbClr val="002060"/>
                </a:solidFill>
                <a:effectLst>
                  <a:outerShdw blurRad="38100" dist="38100" dir="2700000" algn="tl">
                    <a:srgbClr val="000000">
                      <a:alpha val="43137"/>
                    </a:srgbClr>
                  </a:outerShdw>
                </a:effectLst>
              </a:rPr>
              <a:t> of </a:t>
            </a:r>
          </a:p>
          <a:p>
            <a:pPr>
              <a:buNone/>
            </a:pPr>
            <a:r>
              <a:rPr lang="en-US" dirty="0">
                <a:solidFill>
                  <a:srgbClr val="002060"/>
                </a:solidFill>
                <a:effectLst>
                  <a:outerShdw blurRad="38100" dist="38100" dir="2700000" algn="tl">
                    <a:srgbClr val="000000">
                      <a:alpha val="43137"/>
                    </a:srgbClr>
                  </a:outerShdw>
                </a:effectLst>
              </a:rPr>
              <a:t>the price of </a:t>
            </a:r>
            <a:r>
              <a:rPr lang="en-US" b="1" dirty="0">
                <a:solidFill>
                  <a:srgbClr val="FF0000"/>
                </a:solidFill>
                <a:effectLst>
                  <a:outerShdw blurRad="38100" dist="38100" dir="2700000" algn="tl">
                    <a:srgbClr val="000000">
                      <a:alpha val="43137"/>
                    </a:srgbClr>
                  </a:outerShdw>
                </a:effectLst>
              </a:rPr>
              <a:t>professionally performed </a:t>
            </a:r>
            <a:r>
              <a:rPr lang="en-US" b="1" dirty="0">
                <a:solidFill>
                  <a:srgbClr val="002060"/>
                </a:solidFill>
                <a:effectLst>
                  <a:outerShdw blurRad="38100" dist="38100" dir="2700000" algn="tl">
                    <a:srgbClr val="000000">
                      <a:alpha val="43137"/>
                    </a:srgbClr>
                  </a:outerShdw>
                </a:effectLst>
              </a:rPr>
              <a:t>resale </a:t>
            </a:r>
            <a:r>
              <a:rPr lang="en-US" dirty="0">
                <a:solidFill>
                  <a:srgbClr val="002060"/>
                </a:solidFill>
                <a:effectLst>
                  <a:outerShdw blurRad="38100" dist="38100" dir="2700000" algn="tl">
                    <a:srgbClr val="000000">
                      <a:alpha val="43137"/>
                    </a:srgbClr>
                  </a:outerShdw>
                </a:effectLst>
              </a:rPr>
              <a:t>of </a:t>
            </a:r>
            <a:r>
              <a:rPr lang="en-US" dirty="0">
                <a:solidFill>
                  <a:srgbClr val="FF0000"/>
                </a:solidFill>
                <a:effectLst>
                  <a:outerShdw blurRad="38100" dist="38100" dir="2700000" algn="tl">
                    <a:srgbClr val="000000">
                      <a:alpha val="43137"/>
                    </a:srgbClr>
                  </a:outerShdw>
                </a:effectLst>
                <a:highlight>
                  <a:srgbClr val="FFFF00"/>
                </a:highlight>
              </a:rPr>
              <a:t>manuscripts of literary and musical works</a:t>
            </a:r>
            <a:endParaRPr lang="pl-PL" dirty="0">
              <a:solidFill>
                <a:srgbClr val="FF0000"/>
              </a:solidFill>
              <a:highlight>
                <a:srgbClr val="FFFF00"/>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70C0"/>
                </a:solidFill>
                <a:effectLst>
                  <a:outerShdw blurRad="38100" dist="38100" dir="2700000" algn="tl">
                    <a:srgbClr val="000000">
                      <a:alpha val="43137"/>
                    </a:srgbClr>
                  </a:outerShdw>
                </a:effectLst>
              </a:rPr>
              <a:t>Producers and importers</a:t>
            </a:r>
          </a:p>
        </p:txBody>
      </p:sp>
      <p:sp>
        <p:nvSpPr>
          <p:cNvPr id="3" name="Symbol zastępczy zawartości 2"/>
          <p:cNvSpPr>
            <a:spLocks noGrp="1"/>
          </p:cNvSpPr>
          <p:nvPr>
            <p:ph idx="1"/>
          </p:nvPr>
        </p:nvSpPr>
        <p:spPr>
          <a:xfrm>
            <a:off x="457200" y="1600200"/>
            <a:ext cx="8229600" cy="5257800"/>
          </a:xfrm>
        </p:spPr>
        <p:txBody>
          <a:bodyPr/>
          <a:lstStyle/>
          <a:p>
            <a:pPr>
              <a:buNone/>
            </a:pPr>
            <a:r>
              <a:rPr lang="pl-PL" b="1" dirty="0">
                <a:solidFill>
                  <a:srgbClr val="002060"/>
                </a:solidFill>
              </a:rPr>
              <a:t>   </a:t>
            </a:r>
            <a:r>
              <a:rPr lang="pl-PL" b="1" dirty="0">
                <a:solidFill>
                  <a:srgbClr val="002060"/>
                </a:solidFill>
                <a:effectLst>
                  <a:outerShdw blurRad="38100" dist="38100" dir="2700000" algn="tl">
                    <a:srgbClr val="000000">
                      <a:alpha val="43137"/>
                    </a:srgbClr>
                  </a:outerShdw>
                </a:effectLst>
                <a:highlight>
                  <a:srgbClr val="FFFF00"/>
                </a:highlight>
                <a:latin typeface="Arial Black"/>
              </a:rPr>
              <a:t> </a:t>
            </a:r>
            <a:r>
              <a:rPr lang="pl-PL" b="1" dirty="0" err="1">
                <a:solidFill>
                  <a:srgbClr val="FF0000"/>
                </a:solidFill>
                <a:effectLst>
                  <a:outerShdw blurRad="38100" dist="38100" dir="2700000" algn="tl">
                    <a:srgbClr val="000000">
                      <a:alpha val="43137"/>
                    </a:srgbClr>
                  </a:outerShdw>
                </a:effectLst>
              </a:rPr>
              <a:t>Producers</a:t>
            </a:r>
            <a:r>
              <a:rPr lang="pl-PL" b="1" dirty="0">
                <a:solidFill>
                  <a:srgbClr val="FF0000"/>
                </a:solidFill>
                <a:effectLst>
                  <a:outerShdw blurRad="38100" dist="38100" dir="2700000" algn="tl">
                    <a:srgbClr val="000000">
                      <a:alpha val="43137"/>
                    </a:srgbClr>
                  </a:outerShdw>
                </a:effectLst>
              </a:rPr>
              <a:t> and </a:t>
            </a:r>
            <a:r>
              <a:rPr lang="pl-PL" b="1" dirty="0" err="1">
                <a:solidFill>
                  <a:srgbClr val="FF0000"/>
                </a:solidFill>
                <a:effectLst>
                  <a:outerShdw blurRad="38100" dist="38100" dir="2700000" algn="tl">
                    <a:srgbClr val="000000">
                      <a:alpha val="43137"/>
                    </a:srgbClr>
                  </a:outerShdw>
                </a:effectLst>
              </a:rPr>
              <a:t>importers</a:t>
            </a:r>
            <a:r>
              <a:rPr lang="pl-PL" b="1" dirty="0">
                <a:solidFill>
                  <a:srgbClr val="FF0000"/>
                </a:solidFill>
                <a:effectLst>
                  <a:outerShdw blurRad="38100" dist="38100" dir="2700000" algn="tl">
                    <a:srgbClr val="000000">
                      <a:alpha val="43137"/>
                    </a:srgbClr>
                  </a:outerShdw>
                </a:effectLst>
              </a:rPr>
              <a:t> </a:t>
            </a:r>
            <a:r>
              <a:rPr lang="pl-PL" b="1" dirty="0">
                <a:solidFill>
                  <a:srgbClr val="002060"/>
                </a:solidFill>
                <a:effectLst>
                  <a:outerShdw blurRad="38100" dist="38100" dir="2700000" algn="tl">
                    <a:srgbClr val="000000">
                      <a:alpha val="43137"/>
                    </a:srgbClr>
                  </a:outerShdw>
                </a:effectLst>
              </a:rPr>
              <a:t>of</a:t>
            </a:r>
            <a:r>
              <a:rPr lang="en-US" b="1"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highlight>
                  <a:srgbClr val="FFFF00"/>
                </a:highlight>
              </a:rPr>
              <a:t>video recorders</a:t>
            </a:r>
            <a:r>
              <a:rPr lang="pl-PL" b="1" dirty="0">
                <a:solidFill>
                  <a:srgbClr val="FF0000"/>
                </a:solidFill>
                <a:effectLst>
                  <a:outerShdw blurRad="38100" dist="38100" dir="2700000" algn="tl">
                    <a:srgbClr val="000000">
                      <a:alpha val="43137"/>
                    </a:srgbClr>
                  </a:outerShdw>
                </a:effectLst>
                <a:highlight>
                  <a:srgbClr val="FFFF00"/>
                </a:highlight>
              </a:rPr>
              <a:t>,</a:t>
            </a:r>
            <a:r>
              <a:rPr lang="en-US" b="1" dirty="0">
                <a:solidFill>
                  <a:srgbClr val="FF0000"/>
                </a:solidFill>
                <a:effectLst>
                  <a:outerShdw blurRad="38100" dist="38100" dir="2700000" algn="tl">
                    <a:srgbClr val="000000">
                      <a:alpha val="43137"/>
                    </a:srgbClr>
                  </a:outerShdw>
                </a:effectLst>
                <a:highlight>
                  <a:srgbClr val="FFFF00"/>
                </a:highlight>
              </a:rPr>
              <a:t> photocopiers, scanners and other similar </a:t>
            </a:r>
            <a:r>
              <a:rPr lang="en-US" b="1" dirty="0">
                <a:solidFill>
                  <a:srgbClr val="002060"/>
                </a:solidFill>
                <a:effectLst>
                  <a:outerShdw blurRad="38100" dist="38100" dir="2700000" algn="tl">
                    <a:srgbClr val="000000">
                      <a:alpha val="43137"/>
                    </a:srgbClr>
                  </a:outerShdw>
                </a:effectLst>
              </a:rPr>
              <a:t>reprographic devices which allow </a:t>
            </a:r>
            <a:r>
              <a:rPr lang="pl-PL" b="1" dirty="0">
                <a:solidFill>
                  <a:srgbClr val="002060"/>
                </a:solidFill>
                <a:effectLst>
                  <a:outerShdw blurRad="38100" dist="38100" dir="2700000" algn="tl">
                    <a:srgbClr val="000000">
                      <a:alpha val="43137"/>
                    </a:srgbClr>
                  </a:outerShdw>
                </a:effectLst>
              </a:rPr>
              <a:t>the</a:t>
            </a:r>
            <a:r>
              <a:rPr lang="en-US"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making</a:t>
            </a:r>
            <a:r>
              <a:rPr lang="en-US" b="1" dirty="0">
                <a:solidFill>
                  <a:srgbClr val="002060"/>
                </a:solidFill>
                <a:effectLst>
                  <a:outerShdw blurRad="38100" dist="38100" dir="2700000" algn="tl">
                    <a:srgbClr val="000000">
                      <a:alpha val="43137"/>
                    </a:srgbClr>
                  </a:outerShdw>
                </a:effectLst>
              </a:rPr>
              <a:t> </a:t>
            </a:r>
            <a:r>
              <a:rPr lang="pl-PL" b="1" dirty="0">
                <a:solidFill>
                  <a:srgbClr val="002060"/>
                </a:solidFill>
                <a:effectLst>
                  <a:outerShdw blurRad="38100" dist="38100" dir="2700000" algn="tl">
                    <a:srgbClr val="000000">
                      <a:alpha val="43137"/>
                    </a:srgbClr>
                  </a:outerShdw>
                </a:effectLst>
              </a:rPr>
              <a:t>of </a:t>
            </a:r>
            <a:r>
              <a:rPr lang="en-US" b="1" dirty="0">
                <a:solidFill>
                  <a:srgbClr val="002060"/>
                </a:solidFill>
                <a:effectLst>
                  <a:outerShdw blurRad="38100" dist="38100" dir="2700000" algn="tl">
                    <a:srgbClr val="000000">
                      <a:alpha val="43137"/>
                    </a:srgbClr>
                  </a:outerShdw>
                </a:effectLst>
              </a:rPr>
              <a:t>copies</a:t>
            </a:r>
            <a:r>
              <a:rPr lang="pl-PL" b="1"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blank carriers</a:t>
            </a:r>
            <a:r>
              <a:rPr lang="pl-PL" b="1" dirty="0">
                <a:solidFill>
                  <a:srgbClr val="002060"/>
                </a:solidFill>
                <a:effectLst>
                  <a:outerShdw blurRad="38100" dist="38100" dir="2700000" algn="tl">
                    <a:srgbClr val="000000">
                      <a:alpha val="43137"/>
                    </a:srgbClr>
                  </a:outerShdw>
                </a:effectLst>
              </a:rPr>
              <a:t>, etc., </a:t>
            </a:r>
            <a:r>
              <a:rPr lang="pl-PL" b="1" dirty="0" err="1">
                <a:solidFill>
                  <a:srgbClr val="002060"/>
                </a:solidFill>
                <a:effectLst>
                  <a:outerShdw blurRad="38100" dist="38100" dir="2700000" algn="tl">
                    <a:srgbClr val="000000">
                      <a:alpha val="43137"/>
                    </a:srgbClr>
                  </a:outerShdw>
                </a:effectLst>
              </a:rPr>
              <a:t>are</a:t>
            </a:r>
            <a:r>
              <a:rPr lang="en-US" dirty="0">
                <a:solidFill>
                  <a:srgbClr val="002060"/>
                </a:solidFill>
                <a:effectLst>
                  <a:outerShdw blurRad="38100" dist="38100" dir="2700000" algn="tl">
                    <a:srgbClr val="000000">
                      <a:alpha val="43137"/>
                    </a:srgbClr>
                  </a:outerShdw>
                </a:effectLst>
              </a:rPr>
              <a:t> obliged to </a:t>
            </a:r>
            <a:r>
              <a:rPr lang="en-US" b="1" dirty="0">
                <a:solidFill>
                  <a:srgbClr val="002060"/>
                </a:solidFill>
                <a:effectLst>
                  <a:outerShdw blurRad="38100" dist="38100" dir="2700000" algn="tl">
                    <a:srgbClr val="000000">
                      <a:alpha val="43137"/>
                    </a:srgbClr>
                  </a:outerShdw>
                </a:effectLst>
              </a:rPr>
              <a:t>pay to </a:t>
            </a:r>
            <a:r>
              <a:rPr lang="en-US" b="1" dirty="0">
                <a:solidFill>
                  <a:srgbClr val="FF0000"/>
                </a:solidFill>
                <a:effectLst>
                  <a:outerShdw blurRad="38100" dist="38100" dir="2700000" algn="tl">
                    <a:srgbClr val="000000">
                      <a:alpha val="43137"/>
                    </a:srgbClr>
                  </a:outerShdw>
                </a:effectLst>
              </a:rPr>
              <a:t>collective management </a:t>
            </a:r>
            <a:r>
              <a:rPr lang="en-US" dirty="0">
                <a:solidFill>
                  <a:srgbClr val="002060"/>
                </a:solidFill>
                <a:effectLst>
                  <a:outerShdw blurRad="38100" dist="38100" dir="2700000" algn="tl">
                    <a:srgbClr val="000000">
                      <a:alpha val="43137"/>
                    </a:srgbClr>
                  </a:outerShdw>
                </a:effectLst>
              </a:rPr>
              <a:t>organizations to  the  benefit   of   artists</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producers of phonograms and videograms, publishers, fees at not more than </a:t>
            </a:r>
            <a:r>
              <a:rPr lang="en-US" b="1" dirty="0">
                <a:solidFill>
                  <a:srgbClr val="002060"/>
                </a:solidFill>
                <a:effectLst>
                  <a:outerShdw blurRad="38100" dist="38100" dir="2700000" algn="tl">
                    <a:srgbClr val="000000">
                      <a:alpha val="43137"/>
                    </a:srgbClr>
                  </a:outerShdw>
                </a:effectLst>
              </a:rPr>
              <a:t>3% of </a:t>
            </a:r>
            <a:r>
              <a:rPr lang="en-US" dirty="0">
                <a:solidFill>
                  <a:srgbClr val="002060"/>
                </a:solidFill>
                <a:effectLst>
                  <a:outerShdw blurRad="38100" dist="38100" dir="2700000" algn="tl">
                    <a:srgbClr val="000000">
                      <a:alpha val="43137"/>
                    </a:srgbClr>
                  </a:outerShdw>
                </a:effectLst>
              </a:rPr>
              <a:t>sale of those devices and carriers</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highlight>
                  <a:srgbClr val="FFFF00"/>
                </a:highlight>
              </a:rPr>
              <a:t>Xerox operators</a:t>
            </a:r>
          </a:p>
        </p:txBody>
      </p:sp>
      <p:sp>
        <p:nvSpPr>
          <p:cNvPr id="3" name="Symbol zastępczy zawartości 2"/>
          <p:cNvSpPr>
            <a:spLocks noGrp="1"/>
          </p:cNvSpPr>
          <p:nvPr>
            <p:ph idx="1"/>
          </p:nvPr>
        </p:nvSpPr>
        <p:spPr/>
        <p:txBody>
          <a:bodyPr/>
          <a:lstStyle/>
          <a:p>
            <a:r>
              <a:rPr lang="en-US" sz="2400" dirty="0"/>
              <a:t>Any person who is in possession of any </a:t>
            </a:r>
            <a:r>
              <a:rPr lang="en-US" sz="2400" b="1" dirty="0">
                <a:solidFill>
                  <a:srgbClr val="FF0000"/>
                </a:solidFill>
                <a:effectLst>
                  <a:outerShdw blurRad="38100" dist="38100" dir="2700000" algn="tl">
                    <a:srgbClr val="000000">
                      <a:alpha val="43137"/>
                    </a:srgbClr>
                  </a:outerShdw>
                </a:effectLst>
              </a:rPr>
              <a:t>reprographic devices </a:t>
            </a:r>
            <a:r>
              <a:rPr lang="en-US" sz="2400" dirty="0"/>
              <a:t>and </a:t>
            </a:r>
            <a:r>
              <a:rPr lang="en-US" sz="2400" b="1" dirty="0">
                <a:solidFill>
                  <a:srgbClr val="FF0000"/>
                </a:solidFill>
                <a:effectLst>
                  <a:outerShdw blurRad="38100" dist="38100" dir="2700000" algn="tl">
                    <a:srgbClr val="000000">
                      <a:alpha val="43137"/>
                    </a:srgbClr>
                  </a:outerShdw>
                </a:effectLst>
              </a:rPr>
              <a:t>conducts </a:t>
            </a:r>
            <a:r>
              <a:rPr lang="pl-PL" sz="2400" b="1" dirty="0">
                <a:solidFill>
                  <a:srgbClr val="FF0000"/>
                </a:solidFill>
                <a:effectLst>
                  <a:outerShdw blurRad="38100" dist="38100" dir="2700000" algn="tl">
                    <a:srgbClr val="000000">
                      <a:alpha val="43137"/>
                    </a:srgbClr>
                  </a:outerShdw>
                </a:effectLst>
              </a:rPr>
              <a:t>an </a:t>
            </a:r>
            <a:r>
              <a:rPr lang="en-US" sz="2400" b="1" dirty="0">
                <a:solidFill>
                  <a:srgbClr val="FF0000"/>
                </a:solidFill>
                <a:effectLst>
                  <a:outerShdw blurRad="38100" dist="38100" dir="2700000" algn="tl">
                    <a:srgbClr val="000000">
                      <a:alpha val="43137"/>
                    </a:srgbClr>
                  </a:outerShdw>
                </a:effectLst>
              </a:rPr>
              <a:t>economic activit</a:t>
            </a:r>
            <a:r>
              <a:rPr lang="pl-PL" sz="2400" b="1" dirty="0">
                <a:solidFill>
                  <a:srgbClr val="FF0000"/>
                </a:solidFill>
                <a:effectLst>
                  <a:outerShdw blurRad="38100" dist="38100" dir="2700000" algn="tl">
                    <a:srgbClr val="000000">
                      <a:alpha val="43137"/>
                    </a:srgbClr>
                  </a:outerShdw>
                </a:effectLst>
              </a:rPr>
              <a:t>y</a:t>
            </a:r>
            <a:r>
              <a:rPr lang="en-US" sz="2400" dirty="0">
                <a:effectLst>
                  <a:outerShdw blurRad="38100" dist="38100" dir="2700000" algn="tl">
                    <a:srgbClr val="000000">
                      <a:alpha val="43137"/>
                    </a:srgbClr>
                  </a:outerShdw>
                </a:effectLst>
              </a:rPr>
              <a:t> </a:t>
            </a:r>
            <a:r>
              <a:rPr lang="en-US" sz="2400" dirty="0"/>
              <a:t>within the scope of reproduction of works for the personal use of third parties, shall be obliged to pay,   through a collective</a:t>
            </a:r>
            <a:r>
              <a:rPr lang="pl-PL" sz="2400" dirty="0"/>
              <a:t> </a:t>
            </a:r>
            <a:r>
              <a:rPr lang="en-US" sz="2400" dirty="0"/>
              <a:t>management   organization,  </a:t>
            </a:r>
            <a:r>
              <a:rPr lang="en-US" sz="2400" b="1" dirty="0">
                <a:solidFill>
                  <a:srgbClr val="FF0000"/>
                </a:solidFill>
                <a:effectLst>
                  <a:outerShdw blurRad="38100" dist="38100" dir="2700000" algn="tl">
                    <a:srgbClr val="000000">
                      <a:alpha val="43137"/>
                    </a:srgbClr>
                  </a:outerShdw>
                </a:effectLst>
              </a:rPr>
              <a:t>fees</a:t>
            </a:r>
            <a:r>
              <a:rPr lang="pl-PL" sz="2400" b="1" dirty="0">
                <a:solidFill>
                  <a:srgbClr val="FF0000"/>
                </a:solidFill>
                <a:effectLst>
                  <a:outerShdw blurRad="38100" dist="38100" dir="2700000" algn="tl">
                    <a:srgbClr val="000000">
                      <a:alpha val="43137"/>
                    </a:srgbClr>
                  </a:outerShdw>
                </a:effectLst>
              </a:rPr>
              <a:t> </a:t>
            </a:r>
            <a:r>
              <a:rPr lang="en-US" sz="2400" b="1" dirty="0">
                <a:solidFill>
                  <a:srgbClr val="FF0000"/>
                </a:solidFill>
                <a:effectLst>
                  <a:outerShdw blurRad="38100" dist="38100" dir="2700000" algn="tl">
                    <a:srgbClr val="000000">
                      <a:alpha val="43137"/>
                    </a:srgbClr>
                  </a:outerShdw>
                </a:effectLst>
              </a:rPr>
              <a:t>at   up</a:t>
            </a:r>
            <a:r>
              <a:rPr lang="pl-PL" sz="2400" b="1" dirty="0">
                <a:solidFill>
                  <a:srgbClr val="FF0000"/>
                </a:solidFill>
                <a:effectLst>
                  <a:outerShdw blurRad="38100" dist="38100" dir="2700000" algn="tl">
                    <a:srgbClr val="000000">
                      <a:alpha val="43137"/>
                    </a:srgbClr>
                  </a:outerShdw>
                </a:effectLst>
              </a:rPr>
              <a:t> </a:t>
            </a:r>
            <a:r>
              <a:rPr lang="en-US" sz="2400" b="1" dirty="0">
                <a:solidFill>
                  <a:srgbClr val="FF0000"/>
                </a:solidFill>
                <a:effectLst>
                  <a:outerShdw blurRad="38100" dist="38100" dir="2700000" algn="tl">
                    <a:srgbClr val="000000">
                      <a:alpha val="43137"/>
                    </a:srgbClr>
                  </a:outerShdw>
                </a:effectLst>
              </a:rPr>
              <a:t>to   </a:t>
            </a:r>
            <a:r>
              <a:rPr lang="en-US" sz="2400" b="1" dirty="0">
                <a:solidFill>
                  <a:srgbClr val="FF0000"/>
                </a:solidFill>
                <a:effectLst>
                  <a:outerShdw blurRad="38100" dist="38100" dir="2700000" algn="tl">
                    <a:srgbClr val="000000">
                      <a:alpha val="43137"/>
                    </a:srgbClr>
                  </a:outerShdw>
                </a:effectLst>
                <a:highlight>
                  <a:srgbClr val="FFFF00"/>
                </a:highlight>
              </a:rPr>
              <a:t>3%   </a:t>
            </a:r>
            <a:r>
              <a:rPr lang="en-US" sz="2400" dirty="0">
                <a:effectLst>
                  <a:outerShdw blurRad="38100" dist="38100" dir="2700000" algn="tl">
                    <a:srgbClr val="000000">
                      <a:alpha val="43137"/>
                    </a:srgbClr>
                  </a:outerShdw>
                </a:effectLst>
              </a:rPr>
              <a:t>of</a:t>
            </a:r>
            <a:r>
              <a:rPr lang="pl-PL" sz="2400" dirty="0">
                <a:effectLst>
                  <a:outerShdw blurRad="38100" dist="38100" dir="2700000" algn="tl">
                    <a:srgbClr val="000000">
                      <a:alpha val="43137"/>
                    </a:srgbClr>
                  </a:outerShdw>
                </a:effectLst>
              </a:rPr>
              <a:t> </a:t>
            </a:r>
            <a:r>
              <a:rPr lang="en-US" sz="2400" b="1" dirty="0">
                <a:solidFill>
                  <a:srgbClr val="FF0000"/>
                </a:solidFill>
                <a:effectLst>
                  <a:outerShdw blurRad="38100" dist="38100" dir="2700000" algn="tl">
                    <a:srgbClr val="000000">
                      <a:alpha val="43137"/>
                    </a:srgbClr>
                  </a:outerShdw>
                </a:effectLst>
              </a:rPr>
              <a:t>proceed</a:t>
            </a:r>
            <a:r>
              <a:rPr lang="en-US" sz="2400" b="1" dirty="0">
                <a:solidFill>
                  <a:srgbClr val="FF0000"/>
                </a:solidFill>
              </a:rPr>
              <a:t>s</a:t>
            </a:r>
            <a:r>
              <a:rPr lang="pl-PL" sz="2400" dirty="0"/>
              <a:t> </a:t>
            </a:r>
            <a:r>
              <a:rPr lang="en-US" sz="2400" dirty="0"/>
              <a:t>generated from</a:t>
            </a:r>
            <a:r>
              <a:rPr lang="pl-PL" sz="2400" dirty="0"/>
              <a:t> </a:t>
            </a:r>
            <a:r>
              <a:rPr lang="en-US" sz="2400" dirty="0"/>
              <a:t>such activities, to authors and publishers, unless the reproduction is done </a:t>
            </a:r>
            <a:r>
              <a:rPr lang="pl-PL" sz="2400" dirty="0"/>
              <a:t>based on</a:t>
            </a:r>
            <a:r>
              <a:rPr lang="en-US" sz="2400" dirty="0"/>
              <a:t> a contract signed with a </a:t>
            </a:r>
            <a:r>
              <a:rPr lang="pl-PL" sz="2400" dirty="0"/>
              <a:t>rightsholder</a:t>
            </a:r>
            <a:r>
              <a:rPr lang="en-US" sz="2400" dirty="0"/>
              <a:t>. Such fees shall be paid to authors and publishers in equal parts </a:t>
            </a:r>
            <a:endParaRPr lang="pl-PL" sz="2400" dirty="0"/>
          </a:p>
          <a:p>
            <a:r>
              <a:rPr lang="pl-PL" sz="2400" b="1" dirty="0">
                <a:solidFill>
                  <a:srgbClr val="002060"/>
                </a:solidFill>
                <a:effectLst>
                  <a:outerShdw blurRad="38100" dist="38100" dir="2700000" algn="tl">
                    <a:srgbClr val="000000">
                      <a:alpha val="43137"/>
                    </a:srgbClr>
                  </a:outerShdw>
                </a:effectLst>
              </a:rPr>
              <a:t>Proceeds are distributed </a:t>
            </a:r>
            <a:r>
              <a:rPr lang="pl-PL" sz="2400" b="1" dirty="0">
                <a:solidFill>
                  <a:srgbClr val="FF0000"/>
                </a:solidFill>
                <a:effectLst>
                  <a:outerShdw blurRad="38100" dist="38100" dir="2700000" algn="tl">
                    <a:srgbClr val="000000">
                      <a:alpha val="43137"/>
                    </a:srgbClr>
                  </a:outerShdw>
                </a:effectLst>
                <a:highlight>
                  <a:srgbClr val="FFFF00"/>
                </a:highlight>
              </a:rPr>
              <a:t>50/50</a:t>
            </a:r>
            <a:r>
              <a:rPr lang="pl-PL" sz="2400" b="1" dirty="0">
                <a:solidFill>
                  <a:srgbClr val="FF0000"/>
                </a:solidFill>
                <a:effectLst>
                  <a:outerShdw blurRad="38100" dist="38100" dir="2700000" algn="tl">
                    <a:srgbClr val="000000">
                      <a:alpha val="43137"/>
                    </a:srgbClr>
                  </a:outerShdw>
                </a:effectLst>
              </a:rPr>
              <a:t> among the authors and publishers</a:t>
            </a:r>
          </a:p>
          <a:p>
            <a:pPr>
              <a:buNone/>
            </a:pPr>
            <a:endParaRPr lang="pl-PL"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0070C0"/>
                </a:solidFill>
                <a:effectLst>
                  <a:outerShdw blurRad="38100" dist="38100" dir="2700000" algn="tl">
                    <a:srgbClr val="000000">
                      <a:alpha val="43137"/>
                    </a:srgbClr>
                  </a:outerShdw>
                </a:effectLst>
              </a:rPr>
              <a:t>Radio, TV broadcasting </a:t>
            </a:r>
          </a:p>
        </p:txBody>
      </p:sp>
      <p:sp>
        <p:nvSpPr>
          <p:cNvPr id="3" name="Symbol zastępczy zawartości 2"/>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rPr>
              <a:t>Radio and </a:t>
            </a:r>
            <a:r>
              <a:rPr lang="pl-PL" b="1" dirty="0">
                <a:solidFill>
                  <a:srgbClr val="FF0000"/>
                </a:solidFill>
                <a:effectLst>
                  <a:outerShdw blurRad="38100" dist="38100" dir="2700000" algn="tl">
                    <a:srgbClr val="000000">
                      <a:alpha val="43137"/>
                    </a:srgbClr>
                  </a:outerShdw>
                </a:effectLst>
              </a:rPr>
              <a:t>TV</a:t>
            </a:r>
            <a:r>
              <a:rPr lang="en-US" b="1" dirty="0">
                <a:solidFill>
                  <a:srgbClr val="FF000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highlight>
                  <a:srgbClr val="FFFF00"/>
                </a:highlight>
              </a:rPr>
              <a:t>may broadcast </a:t>
            </a:r>
            <a:r>
              <a:rPr lang="pl-PL" b="1" dirty="0">
                <a:solidFill>
                  <a:srgbClr val="FF0000"/>
                </a:solidFill>
                <a:effectLst>
                  <a:outerShdw blurRad="38100" dist="38100" dir="2700000" algn="tl">
                    <a:srgbClr val="000000">
                      <a:alpha val="43137"/>
                    </a:srgbClr>
                  </a:outerShdw>
                </a:effectLst>
                <a:highlight>
                  <a:srgbClr val="FFFF00"/>
                </a:highlight>
              </a:rPr>
              <a:t>(…) </a:t>
            </a:r>
            <a:r>
              <a:rPr lang="en-US" dirty="0">
                <a:effectLst>
                  <a:outerShdw blurRad="38100" dist="38100" dir="2700000" algn="tl">
                    <a:srgbClr val="000000">
                      <a:alpha val="43137"/>
                    </a:srgbClr>
                  </a:outerShdw>
                </a:effectLst>
              </a:rPr>
              <a:t>musical and lyrical works </a:t>
            </a:r>
            <a:r>
              <a:rPr lang="en-US" b="1" dirty="0">
                <a:solidFill>
                  <a:srgbClr val="0070C0"/>
                </a:solidFill>
                <a:effectLst>
                  <a:outerShdw blurRad="38100" dist="38100" dir="2700000" algn="tl">
                    <a:srgbClr val="000000">
                      <a:alpha val="43137"/>
                    </a:srgbClr>
                  </a:outerShdw>
                </a:effectLst>
              </a:rPr>
              <a:t>exclusivel</a:t>
            </a:r>
            <a:r>
              <a:rPr lang="en-US" dirty="0">
                <a:effectLst>
                  <a:outerShdw blurRad="38100" dist="38100" dir="2700000" algn="tl">
                    <a:srgbClr val="000000">
                      <a:alpha val="43137"/>
                    </a:srgbClr>
                  </a:outerShdw>
                </a:effectLst>
              </a:rPr>
              <a:t>y on the basis of the </a:t>
            </a:r>
            <a:r>
              <a:rPr lang="en-US" b="1" dirty="0">
                <a:solidFill>
                  <a:srgbClr val="FF0000"/>
                </a:solidFill>
                <a:effectLst>
                  <a:outerShdw blurRad="38100" dist="38100" dir="2700000" algn="tl">
                    <a:srgbClr val="000000">
                      <a:alpha val="43137"/>
                    </a:srgbClr>
                  </a:outerShdw>
                </a:effectLst>
                <a:highlight>
                  <a:srgbClr val="FFFF00"/>
                </a:highlight>
              </a:rPr>
              <a:t>contract</a:t>
            </a:r>
            <a:r>
              <a:rPr lang="en-US" b="1" dirty="0">
                <a:solidFill>
                  <a:srgbClr val="FF0000"/>
                </a:solidFill>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signed with </a:t>
            </a:r>
            <a:r>
              <a:rPr lang="pl-PL" dirty="0">
                <a:effectLst>
                  <a:outerShdw blurRad="38100" dist="38100" dir="2700000" algn="tl">
                    <a:srgbClr val="000000">
                      <a:alpha val="43137"/>
                    </a:srgbClr>
                  </a:outerShdw>
                </a:effectLst>
              </a:rPr>
              <a:t>a</a:t>
            </a:r>
            <a:r>
              <a:rPr lang="en-US" dirty="0">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collective management </a:t>
            </a:r>
            <a:r>
              <a:rPr lang="en-US" b="1" dirty="0">
                <a:solidFill>
                  <a:srgbClr val="002060"/>
                </a:solidFill>
                <a:effectLst>
                  <a:outerShdw blurRad="38100" dist="38100" dir="2700000" algn="tl">
                    <a:srgbClr val="000000">
                      <a:alpha val="43137"/>
                    </a:srgbClr>
                  </a:outerShdw>
                </a:effectLst>
              </a:rPr>
              <a:t>organization</a:t>
            </a:r>
            <a:r>
              <a:rPr lang="en-US" dirty="0">
                <a:effectLst>
                  <a:outerShdw blurRad="38100" dist="38100" dir="2700000" algn="tl">
                    <a:srgbClr val="000000">
                      <a:alpha val="43137"/>
                    </a:srgbClr>
                  </a:outerShdw>
                </a:effectLst>
              </a:rPr>
              <a:t>, </a:t>
            </a:r>
            <a:endParaRPr lang="pl-PL" dirty="0">
              <a:effectLst>
                <a:outerShdw blurRad="38100" dist="38100" dir="2700000" algn="tl">
                  <a:srgbClr val="000000">
                    <a:alpha val="43137"/>
                  </a:srgbClr>
                </a:outerShdw>
              </a:effectLst>
            </a:endParaRPr>
          </a:p>
          <a:p>
            <a:r>
              <a:rPr lang="en-US" b="1" dirty="0">
                <a:solidFill>
                  <a:srgbClr val="002060"/>
                </a:solidFill>
                <a:effectLst>
                  <a:outerShdw blurRad="38100" dist="38100" dir="2700000" algn="tl">
                    <a:srgbClr val="000000">
                      <a:alpha val="43137"/>
                    </a:srgbClr>
                  </a:outerShdw>
                </a:effectLst>
              </a:rPr>
              <a:t>unless</a:t>
            </a:r>
            <a:r>
              <a:rPr lang="en-US" dirty="0">
                <a:effectLst>
                  <a:outerShdw blurRad="38100" dist="38100" dir="2700000" algn="tl">
                    <a:srgbClr val="000000">
                      <a:alpha val="43137"/>
                    </a:srgbClr>
                  </a:outerShdw>
                </a:effectLst>
              </a:rPr>
              <a:t> the radio or television broadcasting organization is entitled to broadcast works commissioned thereby on the basis </a:t>
            </a:r>
            <a:r>
              <a:rPr lang="en-US" b="1" dirty="0">
                <a:solidFill>
                  <a:srgbClr val="002060"/>
                </a:solidFill>
                <a:effectLst>
                  <a:outerShdw blurRad="38100" dist="38100" dir="2700000" algn="tl">
                    <a:srgbClr val="000000">
                      <a:alpha val="43137"/>
                    </a:srgbClr>
                  </a:outerShdw>
                </a:effectLst>
              </a:rPr>
              <a:t>of </a:t>
            </a:r>
            <a:r>
              <a:rPr lang="en-US" b="1" dirty="0">
                <a:solidFill>
                  <a:srgbClr val="FF0000"/>
                </a:solidFill>
                <a:effectLst>
                  <a:outerShdw blurRad="38100" dist="38100" dir="2700000" algn="tl">
                    <a:srgbClr val="000000">
                      <a:alpha val="43137"/>
                    </a:srgbClr>
                  </a:outerShdw>
                </a:effectLst>
              </a:rPr>
              <a:t>a separate contract</a:t>
            </a:r>
            <a:endParaRPr lang="pl-PL" dirty="0">
              <a:solidFill>
                <a:srgbClr val="FF0000"/>
              </a:solidFill>
              <a:effectLst>
                <a:outerShdw blurRad="38100" dist="38100" dir="2700000" algn="tl">
                  <a:srgbClr val="000000">
                    <a:alpha val="43137"/>
                  </a:srgbClr>
                </a:outerShdw>
              </a:effectLst>
            </a:endParaRPr>
          </a:p>
          <a:p>
            <a:r>
              <a:rPr lang="pl-PL" dirty="0">
                <a:effectLst>
                  <a:outerShdw blurRad="38100" dist="38100" dir="2700000" algn="tl">
                    <a:srgbClr val="000000">
                      <a:alpha val="43137"/>
                    </a:srgbClr>
                  </a:outerShdw>
                </a:effectLst>
              </a:rPr>
              <a:t>Authors </a:t>
            </a:r>
            <a:r>
              <a:rPr lang="pl-PL" dirty="0" err="1">
                <a:effectLst>
                  <a:outerShdw blurRad="38100" dist="38100" dir="2700000" algn="tl">
                    <a:srgbClr val="000000">
                      <a:alpha val="43137"/>
                    </a:srgbClr>
                  </a:outerShdw>
                </a:effectLst>
              </a:rPr>
              <a:t>may</a:t>
            </a:r>
            <a:r>
              <a:rPr lang="pl-PL" dirty="0">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waive</a:t>
            </a:r>
            <a:r>
              <a:rPr lang="pl-PL" b="1" dirty="0">
                <a:solidFill>
                  <a:srgbClr val="002060"/>
                </a:solidFill>
                <a:effectLst>
                  <a:outerShdw blurRad="38100" dist="38100" dir="2700000" algn="tl">
                    <a:srgbClr val="000000">
                      <a:alpha val="43137"/>
                    </a:srgbClr>
                  </a:outerShdw>
                </a:effectLst>
              </a:rPr>
              <a:t> their rights </a:t>
            </a:r>
            <a:r>
              <a:rPr lang="pl-PL" b="1" dirty="0">
                <a:effectLst>
                  <a:outerShdw blurRad="38100" dist="38100" dir="2700000" algn="tl">
                    <a:srgbClr val="000000">
                      <a:alpha val="43137"/>
                    </a:srgbClr>
                  </a:outerShdw>
                </a:effectLst>
              </a:rPr>
              <a:t>in writing only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70C0"/>
                </a:solidFill>
                <a:effectLst>
                  <a:outerShdw blurRad="38100" dist="38100" dir="2700000" algn="tl">
                    <a:srgbClr val="000000">
                      <a:alpha val="43137"/>
                    </a:srgbClr>
                  </a:outerShdw>
                </a:effectLst>
              </a:rPr>
              <a:t>Cable networks</a:t>
            </a:r>
          </a:p>
        </p:txBody>
      </p:sp>
      <p:sp>
        <p:nvSpPr>
          <p:cNvPr id="3" name="Symbol zastępczy zawartości 2"/>
          <p:cNvSpPr>
            <a:spLocks noGrp="1"/>
          </p:cNvSpPr>
          <p:nvPr>
            <p:ph idx="1"/>
          </p:nvPr>
        </p:nvSpPr>
        <p:spPr/>
        <p:txBody>
          <a:bodyPr/>
          <a:lstStyle/>
          <a:p>
            <a:pPr>
              <a:buNone/>
            </a:pPr>
            <a:r>
              <a:rPr lang="pl-PL" dirty="0"/>
              <a:t>    </a:t>
            </a:r>
            <a:r>
              <a:rPr lang="en-US" b="1" dirty="0">
                <a:solidFill>
                  <a:srgbClr val="FF0000"/>
                </a:solidFill>
                <a:effectLst>
                  <a:outerShdw blurRad="38100" dist="38100" dir="2700000" algn="tl">
                    <a:srgbClr val="000000">
                      <a:alpha val="43137"/>
                    </a:srgbClr>
                  </a:outerShdw>
                </a:effectLst>
              </a:rPr>
              <a:t>Cable network</a:t>
            </a:r>
            <a:r>
              <a:rPr lang="pl-PL" b="1" dirty="0">
                <a:solidFill>
                  <a:srgbClr val="FF0000"/>
                </a:solidFill>
                <a:effectLst>
                  <a:outerShdw blurRad="38100" dist="38100" dir="2700000" algn="tl">
                    <a:srgbClr val="000000">
                      <a:alpha val="43137"/>
                    </a:srgbClr>
                  </a:outerShdw>
                </a:effectLst>
              </a:rPr>
              <a:t>s</a:t>
            </a:r>
            <a:r>
              <a:rPr lang="en-US" b="1" dirty="0">
                <a:solidFill>
                  <a:srgbClr val="FF0000"/>
                </a:solidFill>
                <a:effectLst>
                  <a:outerShdw blurRad="38100" dist="38100" dir="2700000" algn="tl">
                    <a:srgbClr val="000000">
                      <a:alpha val="43137"/>
                    </a:srgbClr>
                  </a:outerShdw>
                </a:effectLst>
              </a:rPr>
              <a:t> </a:t>
            </a:r>
            <a:r>
              <a:rPr lang="en-US" dirty="0"/>
              <a:t>may </a:t>
            </a:r>
            <a:r>
              <a:rPr lang="en-US" b="1" dirty="0">
                <a:solidFill>
                  <a:srgbClr val="FF0000"/>
                </a:solidFill>
                <a:effectLst>
                  <a:outerShdw blurRad="38100" dist="38100" dir="2700000" algn="tl">
                    <a:srgbClr val="000000">
                      <a:alpha val="43137"/>
                    </a:srgbClr>
                  </a:outerShdw>
                </a:effectLst>
              </a:rPr>
              <a:t>retransmit</a:t>
            </a:r>
            <a:r>
              <a:rPr lang="en-US" dirty="0"/>
              <a:t> </a:t>
            </a:r>
            <a:r>
              <a:rPr lang="en-US" b="1" dirty="0">
                <a:solidFill>
                  <a:srgbClr val="FF0000"/>
                </a:solidFill>
                <a:effectLst>
                  <a:outerShdw blurRad="38100" dist="38100" dir="2700000" algn="tl">
                    <a:srgbClr val="000000">
                      <a:alpha val="43137"/>
                    </a:srgbClr>
                  </a:outerShdw>
                </a:effectLst>
              </a:rPr>
              <a:t>exclusively   on   the   basis   of   a   contract </a:t>
            </a:r>
            <a:r>
              <a:rPr lang="en-US" dirty="0"/>
              <a:t>concluded with the relevant </a:t>
            </a:r>
            <a:r>
              <a:rPr lang="en-US" b="1" dirty="0">
                <a:solidFill>
                  <a:srgbClr val="FF0000"/>
                </a:solidFill>
                <a:effectLst>
                  <a:outerShdw blurRad="38100" dist="38100" dir="2700000" algn="tl">
                    <a:srgbClr val="000000">
                      <a:alpha val="43137"/>
                    </a:srgbClr>
                  </a:outerShdw>
                </a:effectLst>
              </a:rPr>
              <a:t>collective management </a:t>
            </a:r>
            <a:r>
              <a:rPr lang="en-US" dirty="0"/>
              <a:t>organization </a:t>
            </a:r>
            <a:endParaRPr lang="pl-PL"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00FF00"/>
                </a:highlight>
              </a:rPr>
              <a:t>Public domain</a:t>
            </a:r>
            <a:r>
              <a:rPr lang="pl-PL" b="1" dirty="0">
                <a:solidFill>
                  <a:srgbClr val="FF0000"/>
                </a:solidFill>
                <a:effectLst>
                  <a:outerShdw blurRad="38100" dist="38100" dir="2700000" algn="tl">
                    <a:srgbClr val="000000">
                      <a:alpha val="43137"/>
                    </a:srgbClr>
                  </a:outerShdw>
                </a:effectLst>
                <a:highlight>
                  <a:srgbClr val="00FF00"/>
                </a:highlight>
              </a:rPr>
              <a:t> </a:t>
            </a:r>
            <a:br>
              <a:rPr lang="pl-PL" b="1" dirty="0">
                <a:solidFill>
                  <a:srgbClr val="FF0000"/>
                </a:solidFill>
                <a:effectLst>
                  <a:outerShdw blurRad="38100" dist="38100" dir="2700000" algn="tl">
                    <a:srgbClr val="000000">
                      <a:alpha val="43137"/>
                    </a:srgbClr>
                  </a:outerShdw>
                </a:effectLst>
              </a:rPr>
            </a:br>
            <a:r>
              <a:rPr lang="pl-PL" sz="1600" dirty="0">
                <a:solidFill>
                  <a:srgbClr val="002060"/>
                </a:solidFill>
              </a:rPr>
              <a:t>(art. 23-35)</a:t>
            </a:r>
          </a:p>
        </p:txBody>
      </p:sp>
      <p:sp>
        <p:nvSpPr>
          <p:cNvPr id="3" name="Symbol zastępczy zawartości 2"/>
          <p:cNvSpPr>
            <a:spLocks noGrp="1"/>
          </p:cNvSpPr>
          <p:nvPr>
            <p:ph idx="1"/>
          </p:nvPr>
        </p:nvSpPr>
        <p:spPr/>
        <p:txBody>
          <a:bodyPr/>
          <a:lstStyle/>
          <a:p>
            <a:r>
              <a:rPr lang="en-US" dirty="0">
                <a:solidFill>
                  <a:srgbClr val="002060"/>
                </a:solidFill>
              </a:rPr>
              <a:t>It </a:t>
            </a:r>
            <a:r>
              <a:rPr lang="pl-PL" dirty="0" err="1">
                <a:solidFill>
                  <a:srgbClr val="002060"/>
                </a:solidFill>
              </a:rPr>
              <a:t>is</a:t>
            </a:r>
            <a:r>
              <a:rPr lang="pl-PL" dirty="0">
                <a:solidFill>
                  <a:srgbClr val="002060"/>
                </a:solidFill>
              </a:rPr>
              <a:t> </a:t>
            </a:r>
            <a:r>
              <a:rPr lang="en-US" dirty="0">
                <a:solidFill>
                  <a:srgbClr val="002060"/>
                </a:solidFill>
              </a:rPr>
              <a:t>permitted to use </a:t>
            </a:r>
            <a:r>
              <a:rPr lang="pl-PL" dirty="0">
                <a:solidFill>
                  <a:srgbClr val="002060"/>
                </a:solidFill>
                <a:effectLst>
                  <a:outerShdw blurRad="38100" dist="38100" dir="2700000" algn="tl">
                    <a:srgbClr val="000000">
                      <a:alpha val="43137"/>
                    </a:srgbClr>
                  </a:outerShdw>
                </a:effectLst>
              </a:rPr>
              <a:t>the </a:t>
            </a:r>
            <a:r>
              <a:rPr lang="pl-PL" dirty="0" err="1">
                <a:solidFill>
                  <a:srgbClr val="002060"/>
                </a:solidFill>
                <a:effectLst>
                  <a:outerShdw blurRad="38100" dist="38100" dir="2700000" algn="tl">
                    <a:srgbClr val="000000">
                      <a:alpha val="43137"/>
                    </a:srgbClr>
                  </a:outerShdw>
                </a:effectLst>
              </a:rPr>
              <a:t>work</a:t>
            </a:r>
            <a:r>
              <a:rPr lang="pl-PL" dirty="0">
                <a:solidFill>
                  <a:srgbClr val="00206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free</a:t>
            </a:r>
            <a:r>
              <a:rPr lang="pl-PL" b="1" dirty="0">
                <a:solidFill>
                  <a:srgbClr val="FF0000"/>
                </a:solidFill>
                <a:effectLst>
                  <a:outerShdw blurRad="38100" dist="38100" dir="2700000" algn="tl">
                    <a:srgbClr val="000000">
                      <a:alpha val="43137"/>
                    </a:srgbClr>
                  </a:outerShdw>
                </a:effectLst>
              </a:rPr>
              <a:t> of chargé </a:t>
            </a:r>
            <a:r>
              <a:rPr lang="en-US" dirty="0">
                <a:solidFill>
                  <a:srgbClr val="002060"/>
                </a:solidFill>
              </a:rPr>
              <a:t>that has </a:t>
            </a:r>
            <a:r>
              <a:rPr lang="en-US" b="1" dirty="0">
                <a:solidFill>
                  <a:srgbClr val="FF0000"/>
                </a:solidFill>
                <a:effectLst>
                  <a:outerShdw blurRad="38100" dist="38100" dir="2700000" algn="tl">
                    <a:srgbClr val="000000">
                      <a:alpha val="43137"/>
                    </a:srgbClr>
                  </a:outerShdw>
                </a:effectLst>
              </a:rPr>
              <a:t>already</a:t>
            </a:r>
            <a:r>
              <a:rPr lang="en-US" b="1" dirty="0">
                <a:solidFill>
                  <a:srgbClr val="002060"/>
                </a:solidFill>
              </a:rPr>
              <a:t> been disseminated </a:t>
            </a:r>
            <a:r>
              <a:rPr lang="en-US" dirty="0">
                <a:solidFill>
                  <a:srgbClr val="002060"/>
                </a:solidFill>
              </a:rPr>
              <a:t>for purposes of </a:t>
            </a:r>
            <a:r>
              <a:rPr lang="en-US" b="1" dirty="0">
                <a:solidFill>
                  <a:srgbClr val="FF0000"/>
                </a:solidFill>
                <a:effectLst>
                  <a:outerShdw blurRad="38100" dist="38100" dir="2700000" algn="tl">
                    <a:srgbClr val="000000">
                      <a:alpha val="43137"/>
                    </a:srgbClr>
                  </a:outerShdw>
                </a:effectLst>
              </a:rPr>
              <a:t>personal use </a:t>
            </a:r>
            <a:endParaRPr lang="pl-PL" b="1" dirty="0">
              <a:solidFill>
                <a:srgbClr val="FF0000"/>
              </a:solidFill>
              <a:effectLst>
                <a:outerShdw blurRad="38100" dist="38100" dir="2700000" algn="tl">
                  <a:srgbClr val="000000">
                    <a:alpha val="43137"/>
                  </a:srgbClr>
                </a:outerShdw>
              </a:effectLst>
            </a:endParaRPr>
          </a:p>
          <a:p>
            <a:r>
              <a:rPr lang="en-US" b="1" dirty="0">
                <a:solidFill>
                  <a:srgbClr val="FF0000"/>
                </a:solidFill>
                <a:effectLst>
                  <a:outerShdw blurRad="38100" dist="38100" dir="2700000" algn="tl">
                    <a:srgbClr val="000000">
                      <a:alpha val="43137"/>
                    </a:srgbClr>
                  </a:outerShdw>
                </a:effectLst>
              </a:rPr>
              <a:t>without the permission </a:t>
            </a:r>
            <a:r>
              <a:rPr lang="en-US" dirty="0">
                <a:solidFill>
                  <a:srgbClr val="002060"/>
                </a:solidFill>
              </a:rPr>
              <a:t>of the author (personal use = also by family,</a:t>
            </a:r>
            <a:r>
              <a:rPr lang="pl-PL" dirty="0">
                <a:solidFill>
                  <a:srgbClr val="002060"/>
                </a:solidFill>
              </a:rPr>
              <a:t> etc.)</a:t>
            </a:r>
            <a:r>
              <a:rPr lang="en-US" dirty="0">
                <a:solidFill>
                  <a:srgbClr val="002060"/>
                </a:solidFill>
              </a:rPr>
              <a:t>. </a:t>
            </a:r>
            <a:endParaRPr lang="pl-PL" dirty="0">
              <a:solidFill>
                <a:srgbClr val="002060"/>
              </a:solidFill>
            </a:endParaRPr>
          </a:p>
          <a:p>
            <a:r>
              <a:rPr lang="pl-PL" b="1" dirty="0">
                <a:solidFill>
                  <a:srgbClr val="002060"/>
                </a:solidFill>
                <a:effectLst>
                  <a:outerShdw blurRad="38100" dist="38100" dir="2700000" algn="tl">
                    <a:srgbClr val="000000">
                      <a:alpha val="43137"/>
                    </a:srgbClr>
                  </a:outerShdw>
                </a:effectLst>
              </a:rPr>
              <a:t>Does </a:t>
            </a:r>
            <a:r>
              <a:rPr lang="pl-PL" b="1" dirty="0">
                <a:solidFill>
                  <a:srgbClr val="002060"/>
                </a:solidFill>
                <a:effectLst>
                  <a:outerShdw blurRad="38100" dist="38100" dir="2700000" algn="tl">
                    <a:srgbClr val="000000">
                      <a:alpha val="43137"/>
                    </a:srgbClr>
                  </a:outerShdw>
                </a:effectLst>
                <a:highlight>
                  <a:srgbClr val="FFFF00"/>
                </a:highlight>
              </a:rPr>
              <a:t>not</a:t>
            </a:r>
            <a:r>
              <a:rPr lang="pl-PL" b="1" dirty="0">
                <a:solidFill>
                  <a:srgbClr val="002060"/>
                </a:solidFill>
                <a:effectLst>
                  <a:outerShdw blurRad="38100" dist="38100" dir="2700000" algn="tl">
                    <a:srgbClr val="000000">
                      <a:alpha val="43137"/>
                    </a:srgbClr>
                  </a:outerShdw>
                </a:effectLst>
              </a:rPr>
              <a:t> apply to </a:t>
            </a:r>
            <a:r>
              <a:rPr lang="pl-PL" b="1" dirty="0">
                <a:solidFill>
                  <a:srgbClr val="FF0000"/>
                </a:solidFill>
                <a:effectLst>
                  <a:outerShdw blurRad="38100" dist="38100" dir="2700000" algn="tl">
                    <a:srgbClr val="000000">
                      <a:alpha val="43137"/>
                    </a:srgbClr>
                  </a:outerShdw>
                </a:effectLst>
                <a:highlight>
                  <a:srgbClr val="FFFF00"/>
                </a:highlight>
              </a:rPr>
              <a:t>architecture,</a:t>
            </a:r>
            <a:r>
              <a:rPr lang="pl-PL" b="1" dirty="0">
                <a:solidFill>
                  <a:srgbClr val="0070C0"/>
                </a:solidFill>
                <a:effectLst>
                  <a:outerShdw blurRad="38100" dist="38100" dir="2700000" algn="tl">
                    <a:srgbClr val="000000">
                      <a:alpha val="43137"/>
                    </a:srgbClr>
                  </a:outerShdw>
                </a:effectLst>
              </a:rPr>
              <a:t> urban planning &amp; databases </a:t>
            </a:r>
            <a:r>
              <a:rPr lang="pl-PL"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a:t>
            </a:r>
          </a:p>
        </p:txBody>
      </p:sp>
      <p:sp>
        <p:nvSpPr>
          <p:cNvPr id="3" name="Symbol zastępczy zawartości 2"/>
          <p:cNvSpPr>
            <a:spLocks noGrp="1"/>
          </p:cNvSpPr>
          <p:nvPr>
            <p:ph idx="1"/>
          </p:nvPr>
        </p:nvSpPr>
        <p:spPr>
          <a:xfrm>
            <a:off x="457200" y="1600200"/>
            <a:ext cx="8229600" cy="5141168"/>
          </a:xfrm>
        </p:spPr>
        <p:txBody>
          <a:bodyPr/>
          <a:lstStyle/>
          <a:p>
            <a:pPr>
              <a:buNone/>
            </a:pPr>
            <a:r>
              <a:rPr lang="pl-PL" sz="2800" b="1" dirty="0">
                <a:solidFill>
                  <a:srgbClr val="002060"/>
                </a:solidFill>
                <a:effectLst>
                  <a:outerShdw blurRad="38100" dist="38100" dir="2700000" algn="tl">
                    <a:srgbClr val="000000">
                      <a:alpha val="43137"/>
                    </a:srgbClr>
                  </a:outerShdw>
                </a:effectLst>
              </a:rPr>
              <a:t>It is p</a:t>
            </a:r>
            <a:r>
              <a:rPr lang="en-US" sz="2800" b="1" dirty="0">
                <a:solidFill>
                  <a:srgbClr val="002060"/>
                </a:solidFill>
                <a:effectLst>
                  <a:outerShdw blurRad="38100" dist="38100" dir="2700000" algn="tl">
                    <a:srgbClr val="000000">
                      <a:alpha val="43137"/>
                    </a:srgbClr>
                  </a:outerShdw>
                </a:effectLst>
              </a:rPr>
              <a:t>ermitted, </a:t>
            </a:r>
            <a:r>
              <a:rPr lang="en-US" sz="2800" b="1" dirty="0">
                <a:solidFill>
                  <a:srgbClr val="FF0000"/>
                </a:solidFill>
                <a:effectLst>
                  <a:outerShdw blurRad="38100" dist="38100" dir="2700000" algn="tl">
                    <a:srgbClr val="000000">
                      <a:alpha val="43137"/>
                    </a:srgbClr>
                  </a:outerShdw>
                </a:effectLst>
                <a:highlight>
                  <a:srgbClr val="FFFF00"/>
                </a:highlight>
              </a:rPr>
              <a:t>for informative purposes</a:t>
            </a:r>
            <a:r>
              <a:rPr lang="en-US" sz="2800" dirty="0">
                <a:effectLst>
                  <a:outerShdw blurRad="38100" dist="38100" dir="2700000" algn="tl">
                    <a:srgbClr val="000000">
                      <a:alpha val="43137"/>
                    </a:srgbClr>
                  </a:outerShdw>
                </a:effectLst>
              </a:rPr>
              <a:t>, </a:t>
            </a:r>
            <a:r>
              <a:rPr lang="en-US" sz="2800" b="1" dirty="0">
                <a:solidFill>
                  <a:srgbClr val="FF0000"/>
                </a:solidFill>
                <a:effectLst>
                  <a:outerShdw blurRad="38100" dist="38100" dir="2700000" algn="tl">
                    <a:srgbClr val="000000">
                      <a:alpha val="43137"/>
                    </a:srgbClr>
                  </a:outerShdw>
                </a:effectLst>
              </a:rPr>
              <a:t>to broadcast </a:t>
            </a:r>
            <a:r>
              <a:rPr lang="en-US" sz="2800" dirty="0">
                <a:effectLst>
                  <a:outerShdw blurRad="38100" dist="38100" dir="2700000" algn="tl">
                    <a:srgbClr val="000000">
                      <a:alpha val="43137"/>
                    </a:srgbClr>
                  </a:outerShdw>
                </a:effectLst>
              </a:rPr>
              <a:t>through the </a:t>
            </a:r>
            <a:r>
              <a:rPr lang="en-US" sz="2800" b="1" dirty="0">
                <a:solidFill>
                  <a:srgbClr val="002060"/>
                </a:solidFill>
                <a:effectLst>
                  <a:outerShdw blurRad="38100" dist="38100" dir="2700000" algn="tl">
                    <a:srgbClr val="000000">
                      <a:alpha val="43137"/>
                    </a:srgbClr>
                  </a:outerShdw>
                </a:effectLst>
                <a:highlight>
                  <a:srgbClr val="00FF00"/>
                </a:highlight>
              </a:rPr>
              <a:t>press, radio</a:t>
            </a:r>
            <a:r>
              <a:rPr lang="pl-PL" sz="2800" b="1" dirty="0">
                <a:solidFill>
                  <a:srgbClr val="002060"/>
                </a:solidFill>
                <a:effectLst>
                  <a:outerShdw blurRad="38100" dist="38100" dir="2700000" algn="tl">
                    <a:srgbClr val="000000">
                      <a:alpha val="43137"/>
                    </a:srgbClr>
                  </a:outerShdw>
                </a:effectLst>
                <a:highlight>
                  <a:srgbClr val="00FF00"/>
                </a:highlight>
              </a:rPr>
              <a:t>, </a:t>
            </a:r>
            <a:r>
              <a:rPr lang="en-US" sz="2800" b="1" dirty="0">
                <a:solidFill>
                  <a:srgbClr val="002060"/>
                </a:solidFill>
                <a:effectLst>
                  <a:outerShdw blurRad="38100" dist="38100" dir="2700000" algn="tl">
                    <a:srgbClr val="000000">
                      <a:alpha val="43137"/>
                    </a:srgbClr>
                  </a:outerShdw>
                </a:effectLst>
                <a:highlight>
                  <a:srgbClr val="00FF00"/>
                </a:highlight>
              </a:rPr>
              <a:t>and</a:t>
            </a:r>
            <a:r>
              <a:rPr lang="pl-PL" sz="2800" b="1" dirty="0">
                <a:solidFill>
                  <a:srgbClr val="002060"/>
                </a:solidFill>
                <a:effectLst>
                  <a:outerShdw blurRad="38100" dist="38100" dir="2700000" algn="tl">
                    <a:srgbClr val="000000">
                      <a:alpha val="43137"/>
                    </a:srgbClr>
                  </a:outerShdw>
                </a:effectLst>
                <a:highlight>
                  <a:srgbClr val="00FF00"/>
                </a:highlight>
              </a:rPr>
              <a:t> TV,</a:t>
            </a:r>
            <a:r>
              <a:rPr lang="pl-PL" sz="2800" dirty="0">
                <a:effectLst>
                  <a:outerShdw blurRad="38100" dist="38100" dir="2700000" algn="tl">
                    <a:srgbClr val="000000">
                      <a:alpha val="43137"/>
                    </a:srgbClr>
                  </a:outerShdw>
                </a:effectLst>
              </a:rPr>
              <a:t> </a:t>
            </a:r>
            <a:r>
              <a:rPr lang="en-US" sz="2800" dirty="0">
                <a:effectLst>
                  <a:outerShdw blurRad="38100" dist="38100" dir="2700000" algn="tl">
                    <a:srgbClr val="000000">
                      <a:alpha val="43137"/>
                    </a:srgbClr>
                  </a:outerShdw>
                </a:effectLst>
              </a:rPr>
              <a:t>materials: </a:t>
            </a:r>
          </a:p>
          <a:p>
            <a:pPr>
              <a:buNone/>
            </a:pPr>
            <a:r>
              <a:rPr lang="en-US" sz="2800" dirty="0">
                <a:effectLst>
                  <a:outerShdw blurRad="38100" dist="38100" dir="2700000" algn="tl">
                    <a:srgbClr val="000000">
                      <a:alpha val="43137"/>
                    </a:srgbClr>
                  </a:outerShdw>
                </a:effectLst>
              </a:rPr>
              <a:t>1)   </a:t>
            </a:r>
            <a:r>
              <a:rPr lang="en-US" sz="2800" b="1" dirty="0">
                <a:solidFill>
                  <a:srgbClr val="002060"/>
                </a:solidFill>
                <a:effectLst>
                  <a:outerShdw blurRad="38100" dist="38100" dir="2700000" algn="tl">
                    <a:srgbClr val="000000">
                      <a:alpha val="43137"/>
                    </a:srgbClr>
                  </a:outerShdw>
                </a:effectLst>
              </a:rPr>
              <a:t>already </a:t>
            </a:r>
            <a:r>
              <a:rPr lang="pl-PL" sz="2800" b="1" dirty="0">
                <a:solidFill>
                  <a:srgbClr val="002060"/>
                </a:solidFill>
                <a:effectLst>
                  <a:outerShdw blurRad="38100" dist="38100" dir="2700000" algn="tl">
                    <a:srgbClr val="000000">
                      <a:alpha val="43137"/>
                    </a:srgbClr>
                  </a:outerShdw>
                </a:effectLst>
              </a:rPr>
              <a:t>broadcast</a:t>
            </a:r>
            <a:r>
              <a:rPr lang="en-US" sz="2800" b="1" dirty="0">
                <a:solidFill>
                  <a:srgbClr val="002060"/>
                </a:solidFill>
                <a:effectLst>
                  <a:outerShdw blurRad="38100" dist="38100" dir="2700000" algn="tl">
                    <a:srgbClr val="000000">
                      <a:alpha val="43137"/>
                    </a:srgbClr>
                  </a:outerShdw>
                </a:effectLst>
              </a:rPr>
              <a:t>: </a:t>
            </a:r>
          </a:p>
          <a:p>
            <a:pPr>
              <a:buNone/>
            </a:pPr>
            <a:r>
              <a:rPr lang="en-US" sz="2800" dirty="0">
                <a:effectLst>
                  <a:outerShdw blurRad="38100" dist="38100" dir="2700000" algn="tl">
                    <a:srgbClr val="000000">
                      <a:alpha val="43137"/>
                    </a:srgbClr>
                  </a:outerShdw>
                </a:effectLst>
              </a:rPr>
              <a:t>  a)   </a:t>
            </a:r>
            <a:r>
              <a:rPr lang="en-US" sz="2800" b="1" dirty="0">
                <a:solidFill>
                  <a:srgbClr val="0070C0"/>
                </a:solidFill>
                <a:effectLst>
                  <a:outerShdw blurRad="38100" dist="38100" dir="2700000" algn="tl">
                    <a:srgbClr val="000000">
                      <a:alpha val="43137"/>
                    </a:srgbClr>
                  </a:outerShdw>
                </a:effectLst>
              </a:rPr>
              <a:t>reports on current events; </a:t>
            </a:r>
          </a:p>
          <a:p>
            <a:pPr>
              <a:buNone/>
            </a:pPr>
            <a:r>
              <a:rPr lang="en-US" sz="2800" dirty="0">
                <a:effectLst>
                  <a:outerShdw blurRad="38100" dist="38100" dir="2700000" algn="tl">
                    <a:srgbClr val="000000">
                      <a:alpha val="43137"/>
                    </a:srgbClr>
                  </a:outerShdw>
                </a:effectLst>
              </a:rPr>
              <a:t>  b)   </a:t>
            </a:r>
            <a:r>
              <a:rPr lang="en-US" sz="2800" b="1" dirty="0">
                <a:solidFill>
                  <a:srgbClr val="0070C0"/>
                </a:solidFill>
                <a:effectLst>
                  <a:outerShdw blurRad="38100" dist="38100" dir="2700000" algn="tl">
                    <a:srgbClr val="000000">
                      <a:alpha val="43137"/>
                    </a:srgbClr>
                  </a:outerShdw>
                </a:effectLst>
                <a:highlight>
                  <a:srgbClr val="FFFF00"/>
                </a:highlight>
              </a:rPr>
              <a:t>current articles on political, economic</a:t>
            </a:r>
            <a:r>
              <a:rPr lang="pl-PL" sz="2800" b="1" dirty="0">
                <a:solidFill>
                  <a:srgbClr val="0070C0"/>
                </a:solidFill>
                <a:effectLst>
                  <a:outerShdw blurRad="38100" dist="38100" dir="2700000" algn="tl">
                    <a:srgbClr val="000000">
                      <a:alpha val="43137"/>
                    </a:srgbClr>
                  </a:outerShdw>
                </a:effectLst>
                <a:highlight>
                  <a:srgbClr val="FFFF00"/>
                </a:highlight>
              </a:rPr>
              <a:t>,</a:t>
            </a:r>
            <a:r>
              <a:rPr lang="en-US" sz="2800" b="1" dirty="0">
                <a:solidFill>
                  <a:srgbClr val="0070C0"/>
                </a:solidFill>
                <a:effectLst>
                  <a:outerShdw blurRad="38100" dist="38100" dir="2700000" algn="tl">
                    <a:srgbClr val="000000">
                      <a:alpha val="43137"/>
                    </a:srgbClr>
                  </a:outerShdw>
                </a:effectLst>
                <a:highlight>
                  <a:srgbClr val="FFFF00"/>
                </a:highlight>
              </a:rPr>
              <a:t> or religious issues</a:t>
            </a:r>
            <a:r>
              <a:rPr lang="en-US" sz="2800" dirty="0">
                <a:effectLst>
                  <a:outerShdw blurRad="38100" dist="38100" dir="2700000" algn="tl">
                    <a:srgbClr val="000000">
                      <a:alpha val="43137"/>
                    </a:srgbClr>
                  </a:outerShdw>
                </a:effectLst>
                <a:highlight>
                  <a:srgbClr val="FFFF00"/>
                </a:highlight>
              </a:rPr>
              <a:t>, </a:t>
            </a:r>
            <a:r>
              <a:rPr lang="en-US" sz="2800" b="1" dirty="0">
                <a:effectLst>
                  <a:outerShdw blurRad="38100" dist="38100" dir="2700000" algn="tl">
                    <a:srgbClr val="000000">
                      <a:alpha val="43137"/>
                    </a:srgbClr>
                  </a:outerShdw>
                </a:effectLst>
                <a:highlight>
                  <a:srgbClr val="FFFF00"/>
                </a:highlight>
              </a:rPr>
              <a:t>unless there is </a:t>
            </a:r>
            <a:r>
              <a:rPr lang="pl-PL" sz="2800" b="1" dirty="0" err="1">
                <a:effectLst>
                  <a:outerShdw blurRad="38100" dist="38100" dir="2700000" algn="tl">
                    <a:srgbClr val="000000">
                      <a:alpha val="43137"/>
                    </a:srgbClr>
                  </a:outerShdw>
                </a:effectLst>
                <a:highlight>
                  <a:srgbClr val="FFFF00"/>
                </a:highlight>
              </a:rPr>
              <a:t>an</a:t>
            </a:r>
            <a:r>
              <a:rPr lang="pl-PL" sz="2800" b="1" dirty="0">
                <a:effectLst>
                  <a:outerShdw blurRad="38100" dist="38100" dir="2700000" algn="tl">
                    <a:srgbClr val="000000">
                      <a:alpha val="43137"/>
                    </a:srgbClr>
                  </a:outerShdw>
                </a:effectLst>
                <a:highlight>
                  <a:srgbClr val="FFFF00"/>
                </a:highlight>
              </a:rPr>
              <a:t> </a:t>
            </a:r>
            <a:r>
              <a:rPr lang="pl-PL" sz="2800" b="1" dirty="0" err="1">
                <a:effectLst>
                  <a:outerShdw blurRad="38100" dist="38100" dir="2700000" algn="tl">
                    <a:srgbClr val="000000">
                      <a:alpha val="43137"/>
                    </a:srgbClr>
                  </a:outerShdw>
                </a:effectLst>
                <a:highlight>
                  <a:srgbClr val="FFFF00"/>
                </a:highlight>
              </a:rPr>
              <a:t>explicit</a:t>
            </a:r>
            <a:r>
              <a:rPr lang="en-US" sz="2800" b="1" dirty="0">
                <a:effectLst>
                  <a:outerShdw blurRad="38100" dist="38100" dir="2700000" algn="tl">
                    <a:srgbClr val="000000">
                      <a:alpha val="43137"/>
                    </a:srgbClr>
                  </a:outerShdw>
                </a:effectLst>
                <a:highlight>
                  <a:srgbClr val="FFFF00"/>
                </a:highlight>
              </a:rPr>
              <a:t> provision </a:t>
            </a:r>
            <a:r>
              <a:rPr lang="en-US" sz="2800" dirty="0">
                <a:effectLst>
                  <a:outerShdw blurRad="38100" dist="38100" dir="2700000" algn="tl">
                    <a:srgbClr val="000000">
                      <a:alpha val="43137"/>
                    </a:srgbClr>
                  </a:outerShdw>
                </a:effectLst>
                <a:highlight>
                  <a:srgbClr val="FFFF00"/>
                </a:highlight>
              </a:rPr>
              <a:t>that any further dissemination thereof is prohibited</a:t>
            </a:r>
            <a:r>
              <a:rPr lang="pl-PL" sz="2800" dirty="0">
                <a:effectLst>
                  <a:outerShdw blurRad="38100" dist="38100" dir="2700000" algn="tl">
                    <a:srgbClr val="000000">
                      <a:alpha val="43137"/>
                    </a:srgbClr>
                  </a:outerShdw>
                </a:effectLst>
                <a:highlight>
                  <a:srgbClr val="FFFF00"/>
                </a:highlight>
              </a:rPr>
              <a:t> (</a:t>
            </a:r>
            <a:r>
              <a:rPr lang="pl-PL" sz="2800" b="1" dirty="0">
                <a:effectLst>
                  <a:outerShdw blurRad="38100" dist="38100" dir="2700000" algn="tl">
                    <a:srgbClr val="000000">
                      <a:alpha val="43137"/>
                    </a:srgbClr>
                  </a:outerShdw>
                </a:effectLst>
                <a:highlight>
                  <a:srgbClr val="FFFF00"/>
                </a:highlight>
              </a:rPr>
              <a:t>for a fee)</a:t>
            </a:r>
            <a:r>
              <a:rPr lang="en-US" sz="2800" b="1" dirty="0">
                <a:effectLst>
                  <a:outerShdw blurRad="38100" dist="38100" dir="2700000" algn="tl">
                    <a:srgbClr val="000000">
                      <a:alpha val="43137"/>
                    </a:srgbClr>
                  </a:outerShdw>
                </a:effectLst>
                <a:highlight>
                  <a:srgbClr val="FFFF00"/>
                </a:highlight>
              </a:rPr>
              <a:t>; </a:t>
            </a:r>
          </a:p>
          <a:p>
            <a:pPr>
              <a:buNone/>
            </a:pPr>
            <a:r>
              <a:rPr lang="en-US" sz="2800" dirty="0">
                <a:effectLst>
                  <a:outerShdw blurRad="38100" dist="38100" dir="2700000" algn="tl">
                    <a:srgbClr val="000000">
                      <a:alpha val="43137"/>
                    </a:srgbClr>
                  </a:outerShdw>
                </a:effectLst>
              </a:rPr>
              <a:t>    c)  </a:t>
            </a:r>
            <a:r>
              <a:rPr lang="en-US" sz="2800" b="1" dirty="0">
                <a:solidFill>
                  <a:srgbClr val="0070C0"/>
                </a:solidFill>
                <a:effectLst>
                  <a:outerShdw blurRad="38100" dist="38100" dir="2700000" algn="tl">
                    <a:srgbClr val="000000">
                      <a:alpha val="43137"/>
                    </a:srgbClr>
                  </a:outerShdw>
                </a:effectLst>
              </a:rPr>
              <a:t>current comments</a:t>
            </a:r>
            <a:r>
              <a:rPr lang="en-US" sz="2800" dirty="0">
                <a:effectLst>
                  <a:outerShdw blurRad="38100" dist="38100" dir="2700000" algn="tl">
                    <a:srgbClr val="000000">
                      <a:alpha val="43137"/>
                    </a:srgbClr>
                  </a:outerShdw>
                </a:effectLst>
              </a:rPr>
              <a:t> and </a:t>
            </a:r>
            <a:r>
              <a:rPr lang="en-US" sz="2800" b="1" dirty="0">
                <a:solidFill>
                  <a:srgbClr val="0070C0"/>
                </a:solidFill>
                <a:effectLst>
                  <a:outerShdw blurRad="38100" dist="38100" dir="2700000" algn="tl">
                    <a:srgbClr val="000000">
                      <a:alpha val="43137"/>
                    </a:srgbClr>
                  </a:outerShdw>
                </a:effectLst>
              </a:rPr>
              <a:t>photographs</a:t>
            </a:r>
            <a:r>
              <a:rPr lang="en-US" sz="2800" dirty="0">
                <a:effectLst>
                  <a:outerShdw blurRad="38100" dist="38100" dir="2700000" algn="tl">
                    <a:srgbClr val="000000">
                      <a:alpha val="43137"/>
                    </a:srgbClr>
                  </a:outerShdw>
                </a:effectLst>
              </a:rPr>
              <a:t> taken by reporters;</a:t>
            </a:r>
            <a:r>
              <a:rPr lang="pl-PL" sz="2800" dirty="0">
                <a:effectLst>
                  <a:outerShdw blurRad="38100" dist="38100" dir="2700000" algn="tl">
                    <a:srgbClr val="000000">
                      <a:alpha val="43137"/>
                    </a:srgbClr>
                  </a:outerShdw>
                </a:effectLst>
              </a:rPr>
              <a:t> (</a:t>
            </a:r>
            <a:r>
              <a:rPr lang="pl-PL" sz="2800" b="1" dirty="0">
                <a:effectLst>
                  <a:outerShdw blurRad="38100" dist="38100" dir="2700000" algn="tl">
                    <a:srgbClr val="000000">
                      <a:alpha val="43137"/>
                    </a:srgbClr>
                  </a:outerShdw>
                </a:effectLst>
              </a:rPr>
              <a:t>for a fee)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a:t>
            </a:r>
          </a:p>
        </p:txBody>
      </p:sp>
      <p:sp>
        <p:nvSpPr>
          <p:cNvPr id="3" name="Symbol zastępczy zawartości 2"/>
          <p:cNvSpPr>
            <a:spLocks noGrp="1"/>
          </p:cNvSpPr>
          <p:nvPr>
            <p:ph idx="1"/>
          </p:nvPr>
        </p:nvSpPr>
        <p:spPr>
          <a:xfrm>
            <a:off x="488533" y="1268760"/>
            <a:ext cx="8229600" cy="4525963"/>
          </a:xfrm>
        </p:spPr>
        <p:txBody>
          <a:bodyPr/>
          <a:lstStyle/>
          <a:p>
            <a:pPr>
              <a:buNone/>
            </a:pPr>
            <a:r>
              <a:rPr lang="en-US" sz="2400" dirty="0">
                <a:effectLst>
                  <a:outerShdw blurRad="38100" dist="38100" dir="2700000" algn="tl">
                    <a:srgbClr val="000000">
                      <a:alpha val="43137"/>
                    </a:srgbClr>
                  </a:outerShdw>
                </a:effectLst>
              </a:rPr>
              <a:t>2)  </a:t>
            </a:r>
            <a:r>
              <a:rPr lang="pl-PL" sz="2400" b="1" dirty="0">
                <a:solidFill>
                  <a:srgbClr val="0070C0"/>
                </a:solidFill>
                <a:effectLst>
                  <a:outerShdw blurRad="38100" dist="38100" dir="2700000" algn="tl">
                    <a:srgbClr val="000000">
                      <a:alpha val="43137"/>
                    </a:srgbClr>
                  </a:outerShdw>
                </a:effectLst>
                <a:highlight>
                  <a:srgbClr val="FFFF00"/>
                </a:highlight>
              </a:rPr>
              <a:t>s</a:t>
            </a:r>
            <a:r>
              <a:rPr lang="en-US" sz="2400" b="1" dirty="0">
                <a:solidFill>
                  <a:srgbClr val="0070C0"/>
                </a:solidFill>
                <a:effectLst>
                  <a:outerShdw blurRad="38100" dist="38100" dir="2700000" algn="tl">
                    <a:srgbClr val="000000">
                      <a:alpha val="43137"/>
                    </a:srgbClr>
                  </a:outerShdw>
                </a:effectLst>
                <a:highlight>
                  <a:srgbClr val="FFFF00"/>
                </a:highlight>
              </a:rPr>
              <a:t>hort excerpts </a:t>
            </a:r>
            <a:r>
              <a:rPr lang="en-US" sz="2400" dirty="0">
                <a:effectLst>
                  <a:outerShdw blurRad="38100" dist="38100" dir="2700000" algn="tl">
                    <a:srgbClr val="000000">
                      <a:alpha val="43137"/>
                    </a:srgbClr>
                  </a:outerShdw>
                </a:effectLst>
              </a:rPr>
              <a:t>from reports and articles, specified in subparagraph 1(a) and (b); </a:t>
            </a:r>
            <a:r>
              <a:rPr lang="pl-PL" sz="2400" dirty="0">
                <a:effectLst>
                  <a:outerShdw blurRad="38100" dist="38100" dir="2700000" algn="tl">
                    <a:srgbClr val="000000">
                      <a:alpha val="43137"/>
                    </a:srgbClr>
                  </a:outerShdw>
                </a:effectLst>
              </a:rPr>
              <a:t>[</a:t>
            </a:r>
            <a:r>
              <a:rPr lang="pl-PL" sz="2400" i="1" dirty="0">
                <a:effectLst>
                  <a:outerShdw blurRad="38100" dist="38100" dir="2700000" algn="tl">
                    <a:srgbClr val="000000">
                      <a:alpha val="43137"/>
                    </a:srgbClr>
                  </a:outerShdw>
                </a:effectLst>
              </a:rPr>
              <a:t>now for a fee to the detriment of clipping services</a:t>
            </a:r>
            <a:r>
              <a:rPr lang="pl-PL" sz="2400" dirty="0">
                <a:effectLst>
                  <a:outerShdw blurRad="38100" dist="38100" dir="2700000" algn="tl">
                    <a:srgbClr val="000000">
                      <a:alpha val="43137"/>
                    </a:srgbClr>
                  </a:outerShdw>
                </a:effectLst>
              </a:rPr>
              <a:t>]</a:t>
            </a:r>
            <a:endParaRPr lang="en-US" sz="2400" dirty="0">
              <a:effectLst>
                <a:outerShdw blurRad="38100" dist="38100" dir="2700000" algn="tl">
                  <a:srgbClr val="000000">
                    <a:alpha val="43137"/>
                  </a:srgbClr>
                </a:outerShdw>
              </a:effectLst>
            </a:endParaRPr>
          </a:p>
          <a:p>
            <a:pPr>
              <a:buNone/>
            </a:pPr>
            <a:r>
              <a:rPr lang="en-US" sz="2400" dirty="0">
                <a:effectLst>
                  <a:outerShdw blurRad="38100" dist="38100" dir="2700000" algn="tl">
                    <a:srgbClr val="000000">
                      <a:alpha val="43137"/>
                    </a:srgbClr>
                  </a:outerShdw>
                </a:effectLst>
              </a:rPr>
              <a:t>3)  </a:t>
            </a:r>
            <a:r>
              <a:rPr lang="en-US" sz="2400" b="1" dirty="0">
                <a:solidFill>
                  <a:srgbClr val="0070C0"/>
                </a:solidFill>
                <a:effectLst>
                  <a:outerShdw blurRad="38100" dist="38100" dir="2700000" algn="tl">
                    <a:srgbClr val="000000">
                      <a:alpha val="43137"/>
                    </a:srgbClr>
                  </a:outerShdw>
                </a:effectLst>
                <a:highlight>
                  <a:srgbClr val="FFFF00"/>
                </a:highlight>
              </a:rPr>
              <a:t>reviews</a:t>
            </a:r>
            <a:r>
              <a:rPr lang="en-US" sz="2400" dirty="0">
                <a:effectLst>
                  <a:outerShdw blurRad="38100" dist="38100" dir="2700000" algn="tl">
                    <a:srgbClr val="000000">
                      <a:alpha val="43137"/>
                    </a:srgbClr>
                  </a:outerShdw>
                </a:effectLst>
              </a:rPr>
              <a:t> of publications and disseminated works; </a:t>
            </a:r>
          </a:p>
          <a:p>
            <a:pPr>
              <a:buNone/>
            </a:pPr>
            <a:r>
              <a:rPr lang="en-US" sz="2400" dirty="0">
                <a:effectLst>
                  <a:outerShdw blurRad="38100" dist="38100" dir="2700000" algn="tl">
                    <a:srgbClr val="000000">
                      <a:alpha val="43137"/>
                    </a:srgbClr>
                  </a:outerShdw>
                </a:effectLst>
              </a:rPr>
              <a:t>4)   </a:t>
            </a:r>
            <a:r>
              <a:rPr lang="en-US" sz="2400" b="1" dirty="0">
                <a:solidFill>
                  <a:srgbClr val="0070C0"/>
                </a:solidFill>
                <a:effectLst>
                  <a:outerShdw blurRad="38100" dist="38100" dir="2700000" algn="tl">
                    <a:srgbClr val="000000">
                      <a:alpha val="43137"/>
                    </a:srgbClr>
                  </a:outerShdw>
                </a:effectLst>
                <a:highlight>
                  <a:srgbClr val="FFFF00"/>
                </a:highlight>
              </a:rPr>
              <a:t>speeche</a:t>
            </a:r>
            <a:r>
              <a:rPr lang="en-US" sz="2400" b="1" dirty="0">
                <a:solidFill>
                  <a:srgbClr val="0070C0"/>
                </a:solidFill>
                <a:effectLst>
                  <a:outerShdw blurRad="38100" dist="38100" dir="2700000" algn="tl">
                    <a:srgbClr val="000000">
                      <a:alpha val="43137"/>
                    </a:srgbClr>
                  </a:outerShdw>
                </a:effectLst>
              </a:rPr>
              <a:t>s </a:t>
            </a:r>
            <a:r>
              <a:rPr lang="en-US" sz="2400" dirty="0">
                <a:effectLst>
                  <a:outerShdw blurRad="38100" dist="38100" dir="2700000" algn="tl">
                    <a:srgbClr val="000000">
                      <a:alpha val="43137"/>
                    </a:srgbClr>
                  </a:outerShdw>
                </a:effectLst>
              </a:rPr>
              <a:t>delivered at public meetings and proceedings; this, </a:t>
            </a:r>
            <a:r>
              <a:rPr lang="en-US" sz="2400" b="1" dirty="0">
                <a:effectLst>
                  <a:outerShdw blurRad="38100" dist="38100" dir="2700000" algn="tl">
                    <a:srgbClr val="000000">
                      <a:alpha val="43137"/>
                    </a:srgbClr>
                  </a:outerShdw>
                </a:effectLst>
              </a:rPr>
              <a:t>however, shall </a:t>
            </a:r>
            <a:r>
              <a:rPr lang="en-US" sz="2400" b="1" dirty="0">
                <a:effectLst>
                  <a:outerShdw blurRad="38100" dist="38100" dir="2700000" algn="tl">
                    <a:srgbClr val="000000">
                      <a:alpha val="43137"/>
                    </a:srgbClr>
                  </a:outerShdw>
                </a:effectLst>
                <a:highlight>
                  <a:srgbClr val="FFFF00"/>
                </a:highlight>
              </a:rPr>
              <a:t>not </a:t>
            </a:r>
            <a:r>
              <a:rPr lang="en-US" sz="2400" b="1" dirty="0">
                <a:effectLst>
                  <a:outerShdw blurRad="38100" dist="38100" dir="2700000" algn="tl">
                    <a:srgbClr val="000000">
                      <a:alpha val="43137"/>
                    </a:srgbClr>
                  </a:outerShdw>
                </a:effectLst>
              </a:rPr>
              <a:t>authorize to publish collections</a:t>
            </a:r>
            <a:r>
              <a:rPr lang="en-US" sz="2400" dirty="0">
                <a:effectLst>
                  <a:outerShdw blurRad="38100" dist="38100" dir="2700000" algn="tl">
                    <a:srgbClr val="000000">
                      <a:alpha val="43137"/>
                    </a:srgbClr>
                  </a:outerShdw>
                </a:effectLst>
              </a:rPr>
              <a:t> of </a:t>
            </a:r>
            <a:r>
              <a:rPr lang="en-US" sz="2400" b="1" dirty="0">
                <a:solidFill>
                  <a:srgbClr val="FF0000"/>
                </a:solidFill>
                <a:effectLst>
                  <a:outerShdw blurRad="38100" dist="38100" dir="2700000" algn="tl">
                    <a:srgbClr val="000000">
                      <a:alpha val="43137"/>
                    </a:srgbClr>
                  </a:outerShdw>
                </a:effectLst>
              </a:rPr>
              <a:t>speeches of a single person</a:t>
            </a:r>
            <a:r>
              <a:rPr lang="en-US" sz="2400" dirty="0">
                <a:effectLst>
                  <a:outerShdw blurRad="38100" dist="38100" dir="2700000" algn="tl">
                    <a:srgbClr val="000000">
                      <a:alpha val="43137"/>
                    </a:srgbClr>
                  </a:outerShdw>
                </a:effectLst>
              </a:rPr>
              <a:t>; </a:t>
            </a:r>
          </a:p>
          <a:p>
            <a:pPr>
              <a:buNone/>
            </a:pPr>
            <a:r>
              <a:rPr lang="en-US" sz="2400" dirty="0">
                <a:effectLst>
                  <a:outerShdw blurRad="38100" dist="38100" dir="2700000" algn="tl">
                    <a:srgbClr val="000000">
                      <a:alpha val="43137"/>
                    </a:srgbClr>
                  </a:outerShdw>
                </a:effectLst>
              </a:rPr>
              <a:t>5)   </a:t>
            </a:r>
            <a:r>
              <a:rPr lang="en-US" sz="2400" b="1" dirty="0">
                <a:solidFill>
                  <a:srgbClr val="0070C0"/>
                </a:solidFill>
                <a:effectLst>
                  <a:outerShdw blurRad="38100" dist="38100" dir="2700000" algn="tl">
                    <a:srgbClr val="000000">
                      <a:alpha val="43137"/>
                    </a:srgbClr>
                  </a:outerShdw>
                </a:effectLst>
              </a:rPr>
              <a:t>short </a:t>
            </a:r>
            <a:r>
              <a:rPr lang="en-US" sz="2400" b="1" dirty="0">
                <a:solidFill>
                  <a:srgbClr val="0070C0"/>
                </a:solidFill>
                <a:effectLst>
                  <a:outerShdw blurRad="38100" dist="38100" dir="2700000" algn="tl">
                    <a:srgbClr val="000000">
                      <a:alpha val="43137"/>
                    </a:srgbClr>
                  </a:outerShdw>
                </a:effectLst>
                <a:highlight>
                  <a:srgbClr val="FFFF00"/>
                </a:highlight>
              </a:rPr>
              <a:t>summaries</a:t>
            </a:r>
            <a:r>
              <a:rPr lang="en-US" sz="2400" b="1" dirty="0">
                <a:solidFill>
                  <a:srgbClr val="0070C0"/>
                </a:solidFill>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of a disseminated work </a:t>
            </a:r>
            <a:endParaRPr lang="pl-PL" sz="2400" dirty="0">
              <a:effectLst>
                <a:outerShdw blurRad="38100" dist="38100" dir="2700000" algn="tl">
                  <a:srgbClr val="000000">
                    <a:alpha val="43137"/>
                  </a:srgbClr>
                </a:outerShdw>
              </a:effectLs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 </a:t>
            </a:r>
            <a:br>
              <a:rPr lang="pl-PL" b="1" dirty="0">
                <a:solidFill>
                  <a:srgbClr val="FF0000"/>
                </a:solidFill>
                <a:effectLst>
                  <a:outerShdw blurRad="38100" dist="38100" dir="2700000" algn="tl">
                    <a:srgbClr val="000000">
                      <a:alpha val="43137"/>
                    </a:srgbClr>
                  </a:outerShdw>
                </a:effectLst>
              </a:rPr>
            </a:br>
            <a:r>
              <a:rPr lang="pl-PL" sz="1800" b="1" dirty="0">
                <a:solidFill>
                  <a:srgbClr val="002060"/>
                </a:solidFill>
                <a:effectLst>
                  <a:outerShdw blurRad="38100" dist="38100" dir="2700000" algn="tl">
                    <a:srgbClr val="000000">
                      <a:alpha val="43137"/>
                    </a:srgbClr>
                  </a:outerShdw>
                </a:effectLst>
              </a:rPr>
              <a:t>(26)</a:t>
            </a:r>
          </a:p>
        </p:txBody>
      </p:sp>
      <p:sp>
        <p:nvSpPr>
          <p:cNvPr id="3" name="Symbol zastępczy zawartości 2"/>
          <p:cNvSpPr>
            <a:spLocks noGrp="1"/>
          </p:cNvSpPr>
          <p:nvPr>
            <p:ph idx="1"/>
          </p:nvPr>
        </p:nvSpPr>
        <p:spPr>
          <a:xfrm>
            <a:off x="457200" y="1600200"/>
            <a:ext cx="8229600" cy="4853136"/>
          </a:xfrm>
        </p:spPr>
        <p:txBody>
          <a:bodyPr/>
          <a:lstStyle/>
          <a:p>
            <a:r>
              <a:rPr lang="en-US" dirty="0">
                <a:effectLst>
                  <a:outerShdw blurRad="38100" dist="38100" dir="2700000" algn="tl">
                    <a:srgbClr val="000000">
                      <a:alpha val="43137"/>
                    </a:srgbClr>
                  </a:outerShdw>
                </a:effectLst>
              </a:rPr>
              <a:t>Permitted to </a:t>
            </a:r>
            <a:r>
              <a:rPr lang="en-US" b="1" dirty="0">
                <a:solidFill>
                  <a:srgbClr val="FF0000"/>
                </a:solidFill>
                <a:effectLst>
                  <a:outerShdw blurRad="38100" dist="38100" dir="2700000" algn="tl">
                    <a:srgbClr val="000000">
                      <a:alpha val="43137"/>
                    </a:srgbClr>
                  </a:outerShdw>
                </a:effectLst>
                <a:highlight>
                  <a:srgbClr val="00FF00"/>
                </a:highlight>
              </a:rPr>
              <a:t>quote</a:t>
            </a:r>
            <a:r>
              <a:rPr lang="en-US" b="1" dirty="0">
                <a:solidFill>
                  <a:srgbClr val="FF0000"/>
                </a:solidFill>
                <a:effectLst>
                  <a:outerShdw blurRad="38100" dist="38100" dir="2700000" algn="tl">
                    <a:srgbClr val="000000">
                      <a:alpha val="43137"/>
                    </a:srgbClr>
                  </a:outerShdw>
                </a:effectLst>
              </a:rPr>
              <a:t>, in the </a:t>
            </a:r>
            <a:r>
              <a:rPr lang="en-US" b="1" dirty="0">
                <a:solidFill>
                  <a:srgbClr val="FF0000"/>
                </a:solidFill>
                <a:effectLst>
                  <a:outerShdw blurRad="38100" dist="38100" dir="2700000" algn="tl">
                    <a:srgbClr val="000000">
                      <a:alpha val="43137"/>
                    </a:srgbClr>
                  </a:outerShdw>
                </a:effectLst>
                <a:highlight>
                  <a:srgbClr val="FFFF00"/>
                </a:highlight>
              </a:rPr>
              <a:t>reports of current events</a:t>
            </a:r>
            <a:r>
              <a:rPr lang="en-US"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the </a:t>
            </a:r>
            <a:r>
              <a:rPr lang="en-US" b="1" u="sng" dirty="0">
                <a:solidFill>
                  <a:srgbClr val="FF0000"/>
                </a:solidFill>
                <a:effectLst>
                  <a:outerShdw blurRad="38100" dist="38100" dir="2700000" algn="tl">
                    <a:srgbClr val="000000">
                      <a:alpha val="43137"/>
                    </a:srgbClr>
                  </a:outerShdw>
                </a:effectLst>
              </a:rPr>
              <a:t>works made available</a:t>
            </a:r>
            <a:r>
              <a:rPr lang="pl-PL" b="1" u="sng" dirty="0">
                <a:solidFill>
                  <a:srgbClr val="FF0000"/>
                </a:solidFill>
                <a:effectLst>
                  <a:outerShdw blurRad="38100" dist="38100" dir="2700000" algn="tl">
                    <a:srgbClr val="000000">
                      <a:alpha val="43137"/>
                    </a:srgbClr>
                  </a:outerShdw>
                </a:effectLst>
              </a:rPr>
              <a:t> </a:t>
            </a:r>
            <a:r>
              <a:rPr lang="en-US" b="1" u="sng" dirty="0">
                <a:solidFill>
                  <a:srgbClr val="FF0000"/>
                </a:solidFill>
                <a:effectLst>
                  <a:outerShdw blurRad="38100" dist="38100" dir="2700000" algn="tl">
                    <a:srgbClr val="000000">
                      <a:alpha val="43137"/>
                    </a:srgbClr>
                  </a:outerShdw>
                </a:effectLst>
              </a:rPr>
              <a:t>in the course of such events</a:t>
            </a:r>
            <a:r>
              <a:rPr lang="en-US" dirty="0">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however, within the </a:t>
            </a:r>
            <a:r>
              <a:rPr lang="en-US" b="1" dirty="0">
                <a:solidFill>
                  <a:srgbClr val="FF0000"/>
                </a:solidFill>
                <a:effectLst>
                  <a:outerShdw blurRad="38100" dist="38100" dir="2700000" algn="tl">
                    <a:srgbClr val="000000">
                      <a:alpha val="43137"/>
                    </a:srgbClr>
                  </a:outerShdw>
                </a:effectLst>
                <a:highlight>
                  <a:srgbClr val="00FF00"/>
                </a:highlight>
              </a:rPr>
              <a:t>limits</a:t>
            </a:r>
            <a:r>
              <a:rPr lang="en-US" b="1" dirty="0">
                <a:solidFill>
                  <a:srgbClr val="002060"/>
                </a:solidFill>
                <a:effectLst>
                  <a:outerShdw blurRad="38100" dist="38100" dir="2700000" algn="tl">
                    <a:srgbClr val="000000">
                      <a:alpha val="43137"/>
                    </a:srgbClr>
                  </a:outerShdw>
                </a:effectLst>
              </a:rPr>
              <a:t> justified by the purpose of the information </a:t>
            </a:r>
          </a:p>
          <a:p>
            <a:r>
              <a:rPr lang="en-US" b="1" dirty="0">
                <a:solidFill>
                  <a:srgbClr val="FF0000"/>
                </a:solidFill>
                <a:effectLst>
                  <a:outerShdw blurRad="38100" dist="38100" dir="2700000" algn="tl">
                    <a:srgbClr val="000000">
                      <a:alpha val="43137"/>
                    </a:srgbClr>
                  </a:outerShdw>
                </a:effectLst>
              </a:rPr>
              <a:t>Political speeches</a:t>
            </a:r>
            <a:r>
              <a:rPr lang="en-US" b="1" dirty="0">
                <a:solidFill>
                  <a:srgbClr val="002060"/>
                </a:solidFill>
                <a:effectLst>
                  <a:outerShdw blurRad="38100" dist="38100" dir="2700000" algn="tl">
                    <a:srgbClr val="000000">
                      <a:alpha val="43137"/>
                    </a:srgbClr>
                  </a:outerShdw>
                </a:effectLst>
              </a:rPr>
              <a:t>, court spe</a:t>
            </a:r>
            <a:r>
              <a:rPr lang="pl-PL" b="1" dirty="0">
                <a:solidFill>
                  <a:srgbClr val="002060"/>
                </a:solidFill>
                <a:effectLst>
                  <a:outerShdw blurRad="38100" dist="38100" dir="2700000" algn="tl">
                    <a:srgbClr val="000000">
                      <a:alpha val="43137"/>
                    </a:srgbClr>
                  </a:outerShdw>
                </a:effectLst>
              </a:rPr>
              <a:t>e</a:t>
            </a:r>
            <a:r>
              <a:rPr lang="en-US" b="1" dirty="0">
                <a:solidFill>
                  <a:srgbClr val="002060"/>
                </a:solidFill>
                <a:effectLst>
                  <a:outerShdw blurRad="38100" dist="38100" dir="2700000" algn="tl">
                    <a:srgbClr val="000000">
                      <a:alpha val="43137"/>
                    </a:srgbClr>
                  </a:outerShdw>
                </a:effectLst>
              </a:rPr>
              <a:t>ches if public, </a:t>
            </a:r>
            <a:r>
              <a:rPr lang="en-US" b="1" dirty="0">
                <a:solidFill>
                  <a:srgbClr val="0070C0"/>
                </a:solidFill>
                <a:effectLst>
                  <a:outerShdw blurRad="38100" dist="38100" dir="2700000" algn="tl">
                    <a:srgbClr val="000000">
                      <a:alpha val="43137"/>
                    </a:srgbClr>
                  </a:outerShdw>
                </a:effectLst>
              </a:rPr>
              <a:t>fragments</a:t>
            </a:r>
            <a:r>
              <a:rPr lang="en-US" b="1" dirty="0">
                <a:solidFill>
                  <a:srgbClr val="002060"/>
                </a:solidFill>
                <a:effectLst>
                  <a:outerShdw blurRad="38100" dist="38100" dir="2700000" algn="tl">
                    <a:srgbClr val="000000">
                      <a:alpha val="43137"/>
                    </a:srgbClr>
                  </a:outerShdw>
                </a:effectLst>
              </a:rPr>
              <a:t> of public appearances, </a:t>
            </a:r>
            <a:r>
              <a:rPr lang="en-US" b="1" dirty="0">
                <a:solidFill>
                  <a:srgbClr val="FF0000"/>
                </a:solidFill>
                <a:effectLst>
                  <a:outerShdw blurRad="38100" dist="38100" dir="2700000" algn="tl">
                    <a:srgbClr val="000000">
                      <a:alpha val="43137"/>
                    </a:srgbClr>
                  </a:outerShdw>
                </a:effectLst>
              </a:rPr>
              <a:t>sermons</a:t>
            </a:r>
            <a:r>
              <a:rPr lang="en-US" b="1" dirty="0">
                <a:solidFill>
                  <a:srgbClr val="002060"/>
                </a:solidFill>
                <a:effectLst>
                  <a:outerShdw blurRad="38100" dist="38100" dir="2700000" algn="tl">
                    <a:srgbClr val="000000">
                      <a:alpha val="43137"/>
                    </a:srgbClr>
                  </a:outerShdw>
                </a:effectLst>
              </a:rPr>
              <a:t>, </a:t>
            </a:r>
            <a:r>
              <a:rPr lang="pl-PL" b="1" dirty="0">
                <a:solidFill>
                  <a:srgbClr val="002060"/>
                </a:solidFill>
                <a:effectLst>
                  <a:outerShdw blurRad="38100" dist="38100" dir="2700000" algn="tl">
                    <a:srgbClr val="000000">
                      <a:alpha val="43137"/>
                    </a:srgbClr>
                  </a:outerShdw>
                </a:effectLst>
              </a:rPr>
              <a:t>and </a:t>
            </a:r>
            <a:r>
              <a:rPr lang="en-US" b="1" dirty="0">
                <a:solidFill>
                  <a:srgbClr val="002060"/>
                </a:solidFill>
                <a:effectLst>
                  <a:outerShdw blurRad="38100" dist="38100" dir="2700000" algn="tl">
                    <a:srgbClr val="000000">
                      <a:alpha val="43137"/>
                    </a:srgbClr>
                  </a:outerShdw>
                </a:effectLst>
              </a:rPr>
              <a:t>lectures may be </a:t>
            </a:r>
            <a:r>
              <a:rPr lang="en-US" b="1" dirty="0">
                <a:solidFill>
                  <a:srgbClr val="FF0000"/>
                </a:solidFill>
                <a:effectLst>
                  <a:outerShdw blurRad="38100" dist="38100" dir="2700000" algn="tl">
                    <a:srgbClr val="000000">
                      <a:alpha val="43137"/>
                    </a:srgbClr>
                  </a:outerShdw>
                </a:effectLst>
                <a:highlight>
                  <a:srgbClr val="00FF00"/>
                </a:highlight>
              </a:rPr>
              <a:t>used</a:t>
            </a:r>
            <a:r>
              <a:rPr lang="pl-PL" b="1" dirty="0">
                <a:solidFill>
                  <a:srgbClr val="FF0000"/>
                </a:solidFill>
                <a:effectLst>
                  <a:outerShdw blurRad="38100" dist="38100" dir="2700000" algn="tl">
                    <a:srgbClr val="000000">
                      <a:alpha val="43137"/>
                    </a:srgbClr>
                  </a:outerShdw>
                </a:effectLst>
                <a:highlight>
                  <a:srgbClr val="00FF00"/>
                </a:highlight>
              </a:rPr>
              <a:t>,</a:t>
            </a:r>
            <a:r>
              <a:rPr lang="en-US" b="1" dirty="0">
                <a:solidFill>
                  <a:srgbClr val="FF0000"/>
                </a:solidFill>
                <a:effectLst>
                  <a:outerShdw blurRad="38100" dist="38100" dir="2700000" algn="tl">
                    <a:srgbClr val="000000">
                      <a:alpha val="43137"/>
                    </a:srgbClr>
                  </a:outerShdw>
                </a:effectLst>
                <a:highlight>
                  <a:srgbClr val="00FF00"/>
                </a:highlight>
              </a:rPr>
              <a:t> but not published </a:t>
            </a:r>
            <a:r>
              <a:rPr lang="en-US" b="1" dirty="0">
                <a:solidFill>
                  <a:srgbClr val="002060"/>
                </a:solidFill>
                <a:effectLst>
                  <a:outerShdw blurRad="38100" dist="38100" dir="2700000" algn="tl">
                    <a:srgbClr val="000000">
                      <a:alpha val="43137"/>
                    </a:srgbClr>
                  </a:outerShdw>
                </a:effectLst>
              </a:rPr>
              <a:t>as </a:t>
            </a:r>
            <a:r>
              <a:rPr lang="pl-PL" b="1" dirty="0">
                <a:solidFill>
                  <a:srgbClr val="002060"/>
                </a:solidFill>
                <a:effectLst>
                  <a:outerShdw blurRad="38100" dist="38100" dir="2700000" algn="tl">
                    <a:srgbClr val="000000">
                      <a:alpha val="43137"/>
                    </a:srgbClr>
                  </a:outerShdw>
                </a:effectLst>
              </a:rPr>
              <a:t>a </a:t>
            </a:r>
            <a:r>
              <a:rPr lang="en-US" b="1" dirty="0">
                <a:solidFill>
                  <a:srgbClr val="002060"/>
                </a:solidFill>
                <a:effectLst>
                  <a:outerShdw blurRad="38100" dist="38100" dir="2700000" algn="tl">
                    <a:srgbClr val="000000">
                      <a:alpha val="43137"/>
                    </a:srgbClr>
                  </a:outerShdw>
                </a:effectLst>
              </a:rPr>
              <a:t>collection of works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 </a:t>
            </a:r>
            <a:br>
              <a:rPr lang="pl-PL" b="1" dirty="0">
                <a:solidFill>
                  <a:srgbClr val="FF0000"/>
                </a:solidFill>
                <a:effectLst>
                  <a:outerShdw blurRad="38100" dist="38100" dir="2700000" algn="tl">
                    <a:srgbClr val="000000">
                      <a:alpha val="43137"/>
                    </a:srgbClr>
                  </a:outerShdw>
                </a:effectLst>
              </a:rPr>
            </a:br>
            <a:r>
              <a:rPr lang="pl-PL" sz="1600" b="1" dirty="0">
                <a:solidFill>
                  <a:srgbClr val="002060"/>
                </a:solidFill>
                <a:effectLst>
                  <a:outerShdw blurRad="38100" dist="38100" dir="2700000" algn="tl">
                    <a:srgbClr val="000000">
                      <a:alpha val="43137"/>
                    </a:srgbClr>
                  </a:outerShdw>
                </a:effectLst>
              </a:rPr>
              <a:t>(27)</a:t>
            </a:r>
          </a:p>
        </p:txBody>
      </p:sp>
      <p:sp>
        <p:nvSpPr>
          <p:cNvPr id="3" name="Symbol zastępczy zawartości 2"/>
          <p:cNvSpPr>
            <a:spLocks noGrp="1"/>
          </p:cNvSpPr>
          <p:nvPr>
            <p:ph idx="1"/>
          </p:nvPr>
        </p:nvSpPr>
        <p:spPr/>
        <p:txBody>
          <a:bodyPr/>
          <a:lstStyle/>
          <a:p>
            <a:pPr marL="0" indent="0">
              <a:buNone/>
            </a:pPr>
            <a:r>
              <a:rPr lang="en-US" b="1" dirty="0">
                <a:solidFill>
                  <a:srgbClr val="FF0000"/>
                </a:solidFill>
                <a:effectLst>
                  <a:outerShdw blurRad="38100" dist="38100" dir="2700000" algn="tl">
                    <a:srgbClr val="000000">
                      <a:alpha val="43137"/>
                    </a:srgbClr>
                  </a:outerShdw>
                </a:effectLst>
                <a:highlight>
                  <a:srgbClr val="00FF00"/>
                </a:highlight>
              </a:rPr>
              <a:t>Research and educational institutions </a:t>
            </a:r>
            <a:r>
              <a:rPr lang="pl-PL" b="1" dirty="0">
                <a:solidFill>
                  <a:srgbClr val="FF0000"/>
                </a:solidFill>
                <a:effectLst>
                  <a:outerShdw blurRad="38100" dist="38100" dir="2700000" algn="tl">
                    <a:srgbClr val="000000">
                      <a:alpha val="43137"/>
                    </a:srgbClr>
                  </a:outerShdw>
                </a:effectLst>
                <a:highlight>
                  <a:srgbClr val="00FF00"/>
                </a:highlight>
              </a:rPr>
              <a:t> </a:t>
            </a:r>
            <a:r>
              <a:rPr lang="pl-PL" b="1" dirty="0" err="1">
                <a:solidFill>
                  <a:srgbClr val="002060"/>
                </a:solidFill>
                <a:effectLst>
                  <a:outerShdw blurRad="38100" dist="38100" dir="2700000" algn="tl">
                    <a:srgbClr val="000000">
                      <a:alpha val="43137"/>
                    </a:srgbClr>
                  </a:outerShdw>
                </a:effectLst>
              </a:rPr>
              <a:t>are</a:t>
            </a:r>
            <a:r>
              <a:rPr lang="pl-PL" b="1"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allowed,</a:t>
            </a:r>
            <a:endParaRPr lang="pl-PL" b="1" dirty="0">
              <a:solidFill>
                <a:srgbClr val="002060"/>
              </a:solidFill>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for </a:t>
            </a:r>
            <a:r>
              <a:rPr lang="en-US" b="1" dirty="0">
                <a:solidFill>
                  <a:srgbClr val="FF0000"/>
                </a:solidFill>
                <a:effectLst>
                  <a:outerShdw blurRad="38100" dist="38100" dir="2700000" algn="tl">
                    <a:srgbClr val="000000">
                      <a:alpha val="43137"/>
                    </a:srgbClr>
                  </a:outerShdw>
                </a:effectLst>
                <a:highlight>
                  <a:srgbClr val="FFFF00"/>
                </a:highlight>
              </a:rPr>
              <a:t>teaching purposes</a:t>
            </a:r>
            <a:r>
              <a:rPr lang="pl-PL" b="1" dirty="0">
                <a:solidFill>
                  <a:srgbClr val="FF0000"/>
                </a:solidFill>
                <a:effectLst>
                  <a:outerShdw blurRad="38100" dist="38100" dir="2700000" algn="tl">
                    <a:srgbClr val="000000">
                      <a:alpha val="43137"/>
                    </a:srgbClr>
                  </a:outerShdw>
                </a:effectLst>
                <a:highlight>
                  <a:srgbClr val="FFFF00"/>
                </a:highlight>
              </a:rPr>
              <a:t> </a:t>
            </a:r>
            <a:r>
              <a:rPr lang="pl-PL" b="1" dirty="0">
                <a:solidFill>
                  <a:srgbClr val="002060"/>
                </a:solidFill>
                <a:effectLst>
                  <a:outerShdw blurRad="38100" dist="38100" dir="2700000" algn="tl">
                    <a:srgbClr val="000000">
                      <a:alpha val="43137"/>
                    </a:srgbClr>
                  </a:outerShdw>
                </a:effectLst>
              </a:rPr>
              <a:t>(to   </a:t>
            </a:r>
          </a:p>
          <a:p>
            <a:pPr marL="0" indent="0">
              <a:buNone/>
            </a:pPr>
            <a:r>
              <a:rPr lang="pl-PL" b="1" dirty="0">
                <a:solidFill>
                  <a:srgbClr val="002060"/>
                </a:solidFill>
                <a:effectLst>
                  <a:outerShdw blurRad="38100" dist="38100" dir="2700000" algn="tl">
                    <a:srgbClr val="000000">
                      <a:alpha val="43137"/>
                    </a:srgbClr>
                  </a:outerShdw>
                </a:effectLst>
              </a:rPr>
              <a:t>     illustrate the content)</a:t>
            </a:r>
            <a:r>
              <a:rPr lang="en-US" b="1" dirty="0">
                <a:solidFill>
                  <a:srgbClr val="002060"/>
                </a:solidFill>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or </a:t>
            </a:r>
            <a:endParaRPr lang="pl-PL" dirty="0">
              <a:effectLst>
                <a:outerShdw blurRad="38100" dist="38100" dir="2700000" algn="tl">
                  <a:srgbClr val="000000">
                    <a:alpha val="43137"/>
                  </a:srgbClr>
                </a:outerShdw>
              </a:effectLst>
            </a:endParaRPr>
          </a:p>
          <a:p>
            <a:r>
              <a:rPr lang="pl-PL" dirty="0">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to conduct their </a:t>
            </a:r>
            <a:r>
              <a:rPr lang="en-US" b="1" dirty="0">
                <a:solidFill>
                  <a:srgbClr val="FF0000"/>
                </a:solidFill>
                <a:effectLst>
                  <a:outerShdw blurRad="38100" dist="38100" dir="2700000" algn="tl">
                    <a:srgbClr val="000000">
                      <a:alpha val="43137"/>
                    </a:srgbClr>
                  </a:outerShdw>
                </a:effectLst>
              </a:rPr>
              <a:t>own research</a:t>
            </a:r>
            <a:r>
              <a:rPr lang="en-US" dirty="0">
                <a:effectLst>
                  <a:outerShdw blurRad="38100" dist="38100" dir="2700000" algn="tl">
                    <a:srgbClr val="000000">
                      <a:alpha val="43137"/>
                    </a:srgbClr>
                  </a:outerShdw>
                </a:effectLst>
              </a:rPr>
              <a:t>, </a:t>
            </a:r>
            <a:endParaRPr lang="pl-PL" dirty="0">
              <a:effectLst>
                <a:outerShdw blurRad="38100" dist="38100" dir="2700000" algn="tl">
                  <a:srgbClr val="000000">
                    <a:alpha val="43137"/>
                  </a:srgbClr>
                </a:outerShdw>
              </a:effectLst>
            </a:endParaRPr>
          </a:p>
          <a:p>
            <a:pPr marL="0" indent="0">
              <a:buNone/>
            </a:pPr>
            <a:r>
              <a:rPr lang="en-US" b="1" dirty="0">
                <a:solidFill>
                  <a:srgbClr val="FF0000"/>
                </a:solidFill>
                <a:effectLst>
                  <a:outerShdw blurRad="38100" dist="38100" dir="2700000" algn="tl">
                    <a:srgbClr val="000000">
                      <a:alpha val="43137"/>
                    </a:srgbClr>
                  </a:outerShdw>
                </a:effectLst>
              </a:rPr>
              <a:t>to use </a:t>
            </a:r>
            <a:r>
              <a:rPr lang="en-US" dirty="0">
                <a:effectLst>
                  <a:outerShdw blurRad="38100" dist="38100" dir="2700000" algn="tl">
                    <a:srgbClr val="000000">
                      <a:alpha val="43137"/>
                    </a:srgbClr>
                  </a:outerShdw>
                </a:effectLst>
              </a:rPr>
              <a:t>disseminated works </a:t>
            </a:r>
            <a:r>
              <a:rPr lang="en-US" i="1" dirty="0">
                <a:effectLst>
                  <a:outerShdw blurRad="38100" dist="38100" dir="2700000" algn="tl">
                    <a:srgbClr val="000000">
                      <a:alpha val="43137"/>
                    </a:srgbClr>
                  </a:outerShdw>
                </a:effectLst>
              </a:rPr>
              <a:t>in original and in translation</a:t>
            </a:r>
            <a:r>
              <a:rPr lang="en-US" dirty="0">
                <a:effectLst>
                  <a:outerShdw blurRad="38100" dist="38100" dir="2700000" algn="tl">
                    <a:srgbClr val="000000">
                      <a:alpha val="43137"/>
                    </a:srgbClr>
                  </a:outerShdw>
                </a:effectLst>
              </a:rPr>
              <a:t>, and to </a:t>
            </a:r>
            <a:r>
              <a:rPr lang="en-US" b="1" dirty="0">
                <a:solidFill>
                  <a:srgbClr val="FF0000"/>
                </a:solidFill>
                <a:effectLst>
                  <a:outerShdw blurRad="38100" dist="38100" dir="2700000" algn="tl">
                    <a:srgbClr val="000000">
                      <a:alpha val="43137"/>
                    </a:srgbClr>
                  </a:outerShdw>
                </a:effectLst>
              </a:rPr>
              <a:t>make </a:t>
            </a:r>
            <a:r>
              <a:rPr lang="en-US" b="1" dirty="0">
                <a:solidFill>
                  <a:srgbClr val="FF0000"/>
                </a:solidFill>
                <a:effectLst>
                  <a:outerShdw blurRad="38100" dist="38100" dir="2700000" algn="tl">
                    <a:srgbClr val="000000">
                      <a:alpha val="43137"/>
                    </a:srgbClr>
                  </a:outerShdw>
                </a:effectLst>
                <a:highlight>
                  <a:srgbClr val="FFFF00"/>
                </a:highlight>
              </a:rPr>
              <a:t>copies</a:t>
            </a:r>
            <a:r>
              <a:rPr lang="pl-PL" dirty="0">
                <a:solidFill>
                  <a:srgbClr val="FF0000"/>
                </a:solidFill>
                <a:effectLst>
                  <a:outerShdw blurRad="38100" dist="38100" dir="2700000" algn="tl">
                    <a:srgbClr val="000000">
                      <a:alpha val="43137"/>
                    </a:srgbClr>
                  </a:outerShdw>
                </a:effectLst>
                <a:highlight>
                  <a:srgbClr val="FFFF00"/>
                </a:highlight>
              </a:rPr>
              <a:t> </a:t>
            </a:r>
            <a:r>
              <a:rPr lang="en-US" b="1" dirty="0">
                <a:solidFill>
                  <a:srgbClr val="FF0000"/>
                </a:solidFill>
                <a:effectLst>
                  <a:outerShdw blurRad="38100" dist="38100" dir="2700000" algn="tl">
                    <a:srgbClr val="000000">
                      <a:alpha val="43137"/>
                    </a:srgbClr>
                  </a:outerShdw>
                </a:effectLst>
                <a:highlight>
                  <a:srgbClr val="FFFF00"/>
                </a:highlight>
              </a:rPr>
              <a:t>of fragments </a:t>
            </a:r>
            <a:r>
              <a:rPr lang="en-US" dirty="0">
                <a:effectLst>
                  <a:outerShdw blurRad="38100" dist="38100" dir="2700000" algn="tl">
                    <a:srgbClr val="000000">
                      <a:alpha val="43137"/>
                    </a:srgbClr>
                  </a:outerShdw>
                </a:effectLst>
              </a:rPr>
              <a:t>of the disseminated work</a:t>
            </a:r>
            <a:r>
              <a:rPr lang="pl-PL" dirty="0">
                <a:effectLst>
                  <a:outerShdw blurRad="38100" dist="38100" dir="2700000" algn="tl">
                    <a:srgbClr val="000000">
                      <a:alpha val="43137"/>
                    </a:srgbClr>
                  </a:outerShdw>
                </a:effectLst>
              </a:rPr>
              <a:t> [not </a:t>
            </a:r>
            <a:r>
              <a:rPr lang="pl-PL" dirty="0" err="1">
                <a:effectLst>
                  <a:outerShdw blurRad="38100" dist="38100" dir="2700000" algn="tl">
                    <a:srgbClr val="000000">
                      <a:alpha val="43137"/>
                    </a:srgbClr>
                  </a:outerShdw>
                </a:effectLst>
              </a:rPr>
              <a:t>entire</a:t>
            </a:r>
            <a:r>
              <a:rPr lang="pl-PL" dirty="0">
                <a:effectLst>
                  <a:outerShdw blurRad="38100" dist="38100" dir="2700000" algn="tl">
                    <a:srgbClr val="000000">
                      <a:alpha val="43137"/>
                    </a:srgbClr>
                  </a:outerShdw>
                </a:effectLst>
              </a:rPr>
              <a:t> </a:t>
            </a:r>
            <a:r>
              <a:rPr lang="pl-PL" dirty="0" err="1">
                <a:effectLst>
                  <a:outerShdw blurRad="38100" dist="38100" dir="2700000" algn="tl">
                    <a:srgbClr val="000000">
                      <a:alpha val="43137"/>
                    </a:srgbClr>
                  </a:outerShdw>
                </a:effectLst>
              </a:rPr>
              <a:t>work</a:t>
            </a:r>
            <a:r>
              <a:rPr lang="pl-PL" dirty="0">
                <a:effectLst>
                  <a:outerShdw blurRad="38100" dist="38100" dir="2700000" algn="tl">
                    <a:srgbClr val="000000">
                      <a:alpha val="43137"/>
                    </a:srgbClr>
                  </a:outerShdw>
                </a:effectLst>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a:t>
            </a:r>
            <a:br>
              <a:rPr lang="pl-PL" b="1" dirty="0">
                <a:solidFill>
                  <a:srgbClr val="FF0000"/>
                </a:solidFill>
                <a:effectLst>
                  <a:outerShdw blurRad="38100" dist="38100" dir="2700000" algn="tl">
                    <a:srgbClr val="000000">
                      <a:alpha val="43137"/>
                    </a:srgbClr>
                  </a:outerShdw>
                </a:effectLst>
              </a:rPr>
            </a:br>
            <a:r>
              <a:rPr lang="pl-PL" sz="2000" b="1" dirty="0">
                <a:solidFill>
                  <a:srgbClr val="002060"/>
                </a:solidFill>
                <a:effectLst>
                  <a:outerShdw blurRad="38100" dist="38100" dir="2700000" algn="tl">
                    <a:srgbClr val="000000">
                      <a:alpha val="43137"/>
                    </a:srgbClr>
                  </a:outerShdw>
                </a:effectLst>
              </a:rPr>
              <a:t>(28)</a:t>
            </a:r>
          </a:p>
        </p:txBody>
      </p:sp>
      <p:sp>
        <p:nvSpPr>
          <p:cNvPr id="3" name="Symbol zastępczy zawartości 2"/>
          <p:cNvSpPr>
            <a:spLocks noGrp="1"/>
          </p:cNvSpPr>
          <p:nvPr>
            <p:ph idx="1"/>
          </p:nvPr>
        </p:nvSpPr>
        <p:spPr/>
        <p:txBody>
          <a:bodyPr/>
          <a:lstStyle/>
          <a:p>
            <a:pPr>
              <a:buNone/>
            </a:pPr>
            <a:r>
              <a:rPr lang="en-US" sz="2400" b="1" dirty="0">
                <a:solidFill>
                  <a:srgbClr val="FF0000"/>
                </a:solidFill>
                <a:effectLst>
                  <a:outerShdw blurRad="38100" dist="38100" dir="2700000" algn="tl">
                    <a:srgbClr val="000000">
                      <a:alpha val="43137"/>
                    </a:srgbClr>
                  </a:outerShdw>
                </a:effectLst>
                <a:highlight>
                  <a:srgbClr val="FFFF00"/>
                </a:highlight>
              </a:rPr>
              <a:t>Libraries, archives and schools </a:t>
            </a:r>
            <a:r>
              <a:rPr lang="pl-PL" sz="2400" dirty="0"/>
              <a:t>are</a:t>
            </a:r>
            <a:r>
              <a:rPr lang="en-US" sz="2400" dirty="0"/>
              <a:t> allowed: </a:t>
            </a:r>
            <a:endParaRPr lang="pl-PL" sz="2400" dirty="0"/>
          </a:p>
          <a:p>
            <a:pPr>
              <a:buNone/>
            </a:pPr>
            <a:r>
              <a:rPr lang="en-US" sz="2400" dirty="0"/>
              <a:t>1) to provide </a:t>
            </a:r>
            <a:r>
              <a:rPr lang="en-US" sz="2400" b="1" dirty="0">
                <a:solidFill>
                  <a:srgbClr val="FF0000"/>
                </a:solidFill>
                <a:effectLst>
                  <a:outerShdw blurRad="38100" dist="38100" dir="2700000" algn="tl">
                    <a:srgbClr val="000000">
                      <a:alpha val="43137"/>
                    </a:srgbClr>
                  </a:outerShdw>
                </a:effectLst>
              </a:rPr>
              <a:t>free access to </a:t>
            </a:r>
            <a:r>
              <a:rPr lang="en-US" sz="2400" b="1" dirty="0">
                <a:solidFill>
                  <a:srgbClr val="FF0000"/>
                </a:solidFill>
                <a:effectLst>
                  <a:outerShdw blurRad="38100" dist="38100" dir="2700000" algn="tl">
                    <a:srgbClr val="000000">
                      <a:alpha val="43137"/>
                    </a:srgbClr>
                  </a:outerShdw>
                </a:effectLst>
                <a:highlight>
                  <a:srgbClr val="FFFF00"/>
                </a:highlight>
              </a:rPr>
              <a:t>copies</a:t>
            </a:r>
            <a:r>
              <a:rPr lang="en-US" sz="2400" b="1" dirty="0">
                <a:solidFill>
                  <a:srgbClr val="FF0000"/>
                </a:solidFill>
                <a:effectLst>
                  <a:outerShdw blurRad="38100" dist="38100" dir="2700000" algn="tl">
                    <a:srgbClr val="000000">
                      <a:alpha val="43137"/>
                    </a:srgbClr>
                  </a:outerShdw>
                </a:effectLst>
              </a:rPr>
              <a:t> </a:t>
            </a:r>
            <a:r>
              <a:rPr lang="en-US" sz="2400" dirty="0"/>
              <a:t>of disseminated works within the </a:t>
            </a:r>
            <a:r>
              <a:rPr lang="en-US" sz="2400" b="1" dirty="0">
                <a:solidFill>
                  <a:srgbClr val="FF0000"/>
                </a:solidFill>
                <a:effectLst>
                  <a:outerShdw blurRad="38100" dist="38100" dir="2700000" algn="tl">
                    <a:srgbClr val="000000">
                      <a:alpha val="43137"/>
                    </a:srgbClr>
                  </a:outerShdw>
                </a:effectLst>
              </a:rPr>
              <a:t>scope of their tasks </a:t>
            </a:r>
            <a:r>
              <a:rPr lang="en-US" sz="2400" dirty="0"/>
              <a:t>as stated under statute; </a:t>
            </a:r>
          </a:p>
          <a:p>
            <a:pPr>
              <a:buNone/>
            </a:pPr>
            <a:r>
              <a:rPr lang="en-US" sz="2400" dirty="0"/>
              <a:t>2)   to </a:t>
            </a:r>
            <a:r>
              <a:rPr lang="en-US" sz="2400" b="1" dirty="0">
                <a:solidFill>
                  <a:srgbClr val="FF0000"/>
                </a:solidFill>
                <a:effectLst>
                  <a:outerShdw blurRad="38100" dist="38100" dir="2700000" algn="tl">
                    <a:srgbClr val="000000">
                      <a:alpha val="43137"/>
                    </a:srgbClr>
                  </a:outerShdw>
                </a:effectLst>
              </a:rPr>
              <a:t>make or commission making </a:t>
            </a:r>
            <a:r>
              <a:rPr lang="en-US" sz="2400" b="1" dirty="0">
                <a:solidFill>
                  <a:srgbClr val="FF0000"/>
                </a:solidFill>
                <a:effectLst>
                  <a:outerShdw blurRad="38100" dist="38100" dir="2700000" algn="tl">
                    <a:srgbClr val="000000">
                      <a:alpha val="43137"/>
                    </a:srgbClr>
                  </a:outerShdw>
                </a:effectLst>
                <a:highlight>
                  <a:srgbClr val="FFFF00"/>
                </a:highlight>
              </a:rPr>
              <a:t>copies</a:t>
            </a:r>
            <a:r>
              <a:rPr lang="en-US" sz="2400" b="1" dirty="0">
                <a:solidFill>
                  <a:srgbClr val="FF0000"/>
                </a:solidFill>
                <a:effectLst>
                  <a:outerShdw blurRad="38100" dist="38100" dir="2700000" algn="tl">
                    <a:srgbClr val="000000">
                      <a:alpha val="43137"/>
                    </a:srgbClr>
                  </a:outerShdw>
                </a:effectLst>
              </a:rPr>
              <a:t> </a:t>
            </a:r>
            <a:r>
              <a:rPr lang="en-US" sz="2400" dirty="0"/>
              <a:t>of disseminated works in order to </a:t>
            </a:r>
            <a:r>
              <a:rPr lang="en-US" sz="2400" b="1" dirty="0">
                <a:solidFill>
                  <a:srgbClr val="002060"/>
                </a:solidFill>
              </a:rPr>
              <a:t>supplement them, maintain or protect one's own collections; </a:t>
            </a:r>
          </a:p>
          <a:p>
            <a:pPr>
              <a:buNone/>
            </a:pPr>
            <a:r>
              <a:rPr lang="en-US" sz="2400" dirty="0"/>
              <a:t>3)   to   make   the   </a:t>
            </a:r>
            <a:r>
              <a:rPr lang="en-US" sz="2400" b="1" dirty="0">
                <a:solidFill>
                  <a:srgbClr val="FF0000"/>
                </a:solidFill>
                <a:effectLst>
                  <a:outerShdw blurRad="38100" dist="38100" dir="2700000" algn="tl">
                    <a:srgbClr val="000000">
                      <a:alpha val="43137"/>
                    </a:srgbClr>
                  </a:outerShdw>
                </a:effectLst>
              </a:rPr>
              <a:t>collection   available   for   research   or   learning   </a:t>
            </a:r>
            <a:r>
              <a:rPr lang="en-US" sz="2400" dirty="0"/>
              <a:t>purposes   through   information   technology </a:t>
            </a:r>
          </a:p>
          <a:p>
            <a:pPr>
              <a:buNone/>
            </a:pPr>
            <a:r>
              <a:rPr lang="en-US" sz="2400" dirty="0"/>
              <a:t>     system terminals (endings) located at the premises of those entities. </a:t>
            </a:r>
          </a:p>
          <a:p>
            <a:pPr>
              <a:buNone/>
            </a:pPr>
            <a:r>
              <a:rPr lang="en-US" sz="2400" b="1" dirty="0">
                <a:solidFill>
                  <a:srgbClr val="FF0000"/>
                </a:solidFill>
                <a:effectLst>
                  <a:outerShdw blurRad="38100" dist="38100" dir="2700000" algn="tl">
                    <a:srgbClr val="000000">
                      <a:alpha val="43137"/>
                    </a:srgbClr>
                  </a:outerShdw>
                </a:effectLst>
              </a:rPr>
              <a:t>The above </a:t>
            </a:r>
            <a:r>
              <a:rPr lang="en-US" sz="2400" b="1" dirty="0">
                <a:solidFill>
                  <a:srgbClr val="FF0000"/>
                </a:solidFill>
                <a:effectLst>
                  <a:outerShdw blurRad="38100" dist="38100" dir="2700000" algn="tl">
                    <a:srgbClr val="000000">
                      <a:alpha val="43137"/>
                    </a:srgbClr>
                  </a:outerShdw>
                </a:effectLst>
                <a:highlight>
                  <a:srgbClr val="FFFF00"/>
                </a:highlight>
              </a:rPr>
              <a:t>may not </a:t>
            </a:r>
            <a:r>
              <a:rPr lang="pl-PL" sz="2400" b="1" dirty="0" err="1">
                <a:solidFill>
                  <a:srgbClr val="FF0000"/>
                </a:solidFill>
                <a:effectLst>
                  <a:outerShdw blurRad="38100" dist="38100" dir="2700000" algn="tl">
                    <a:srgbClr val="000000">
                      <a:alpha val="43137"/>
                    </a:srgbClr>
                  </a:outerShdw>
                </a:effectLst>
                <a:highlight>
                  <a:srgbClr val="FFFF00"/>
                </a:highlight>
              </a:rPr>
              <a:t>increase</a:t>
            </a:r>
            <a:r>
              <a:rPr lang="en-US" sz="2400" b="1" dirty="0">
                <a:solidFill>
                  <a:srgbClr val="FF0000"/>
                </a:solidFill>
                <a:effectLst>
                  <a:outerShdw blurRad="38100" dist="38100" dir="2700000" algn="tl">
                    <a:srgbClr val="000000">
                      <a:alpha val="43137"/>
                    </a:srgbClr>
                  </a:outerShdw>
                </a:effectLst>
              </a:rPr>
              <a:t> their </a:t>
            </a:r>
            <a:r>
              <a:rPr lang="pl-PL" sz="2400" b="1" dirty="0" err="1">
                <a:solidFill>
                  <a:srgbClr val="FF0000"/>
                </a:solidFill>
                <a:effectLst>
                  <a:outerShdw blurRad="38100" dist="38100" dir="2700000" algn="tl">
                    <a:srgbClr val="000000">
                      <a:alpha val="43137"/>
                    </a:srgbClr>
                  </a:outerShdw>
                </a:effectLst>
              </a:rPr>
              <a:t>collections</a:t>
            </a:r>
            <a:endParaRPr lang="en-US" sz="2400" b="1"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a:t>
            </a:r>
            <a:br>
              <a:rPr lang="pl-PL" b="1" dirty="0">
                <a:solidFill>
                  <a:srgbClr val="FF0000"/>
                </a:solidFill>
                <a:effectLst>
                  <a:outerShdw blurRad="38100" dist="38100" dir="2700000" algn="tl">
                    <a:srgbClr val="000000">
                      <a:alpha val="43137"/>
                    </a:srgbClr>
                  </a:outerShdw>
                </a:effectLst>
              </a:rPr>
            </a:br>
            <a:r>
              <a:rPr lang="pl-PL" sz="2400" b="1" dirty="0">
                <a:solidFill>
                  <a:srgbClr val="002060"/>
                </a:solidFill>
                <a:effectLst>
                  <a:outerShdw blurRad="38100" dist="38100" dir="2700000" algn="tl">
                    <a:srgbClr val="000000">
                      <a:alpha val="43137"/>
                    </a:srgbClr>
                  </a:outerShdw>
                </a:effectLst>
              </a:rPr>
              <a:t>(29)</a:t>
            </a:r>
          </a:p>
        </p:txBody>
      </p:sp>
      <p:sp>
        <p:nvSpPr>
          <p:cNvPr id="3" name="Symbol zastępczy zawartości 2"/>
          <p:cNvSpPr>
            <a:spLocks noGrp="1"/>
          </p:cNvSpPr>
          <p:nvPr>
            <p:ph idx="1"/>
          </p:nvPr>
        </p:nvSpPr>
        <p:spPr/>
        <p:txBody>
          <a:bodyPr/>
          <a:lstStyle/>
          <a:p>
            <a:r>
              <a:rPr lang="en-US" dirty="0">
                <a:effectLst>
                  <a:outerShdw blurRad="38100" dist="38100" dir="2700000" algn="tl">
                    <a:srgbClr val="000000">
                      <a:alpha val="43137"/>
                    </a:srgbClr>
                  </a:outerShdw>
                </a:effectLst>
              </a:rPr>
              <a:t>It is permitted to </a:t>
            </a:r>
            <a:r>
              <a:rPr lang="en-US" b="1" dirty="0">
                <a:solidFill>
                  <a:srgbClr val="FF0000"/>
                </a:solidFill>
                <a:effectLst>
                  <a:outerShdw blurRad="38100" dist="38100" dir="2700000" algn="tl">
                    <a:srgbClr val="000000">
                      <a:alpha val="43137"/>
                    </a:srgbClr>
                  </a:outerShdw>
                </a:effectLst>
                <a:highlight>
                  <a:srgbClr val="00FF00"/>
                </a:highlight>
              </a:rPr>
              <a:t>quote</a:t>
            </a:r>
            <a:r>
              <a:rPr lang="en-US" dirty="0">
                <a:effectLst>
                  <a:outerShdw blurRad="38100" dist="38100" dir="2700000" algn="tl">
                    <a:srgbClr val="000000">
                      <a:alpha val="43137"/>
                    </a:srgbClr>
                  </a:outerShdw>
                </a:effectLst>
              </a:rPr>
              <a:t>, in works constituting an independent whole, fragments </a:t>
            </a:r>
          </a:p>
          <a:p>
            <a:pPr>
              <a:buNone/>
            </a:pPr>
            <a:r>
              <a:rPr lang="en-US" dirty="0">
                <a:effectLst>
                  <a:outerShdw blurRad="38100" dist="38100" dir="2700000" algn="tl">
                    <a:srgbClr val="000000">
                      <a:alpha val="43137"/>
                    </a:srgbClr>
                  </a:outerShdw>
                </a:effectLst>
              </a:rPr>
              <a:t>    of disseminated works or </a:t>
            </a:r>
            <a:r>
              <a:rPr lang="en-US" b="1" dirty="0">
                <a:solidFill>
                  <a:srgbClr val="FF0000"/>
                </a:solidFill>
                <a:effectLst>
                  <a:outerShdw blurRad="38100" dist="38100" dir="2700000" algn="tl">
                    <a:srgbClr val="000000">
                      <a:alpha val="43137"/>
                    </a:srgbClr>
                  </a:outerShdw>
                </a:effectLst>
                <a:highlight>
                  <a:srgbClr val="FFFF00"/>
                </a:highlight>
              </a:rPr>
              <a:t>minor works </a:t>
            </a:r>
            <a:r>
              <a:rPr lang="en-US" b="1" dirty="0">
                <a:solidFill>
                  <a:srgbClr val="FF0000"/>
                </a:solidFill>
                <a:effectLst>
                  <a:outerShdw blurRad="38100" dist="38100" dir="2700000" algn="tl">
                    <a:srgbClr val="000000">
                      <a:alpha val="43137"/>
                    </a:srgbClr>
                  </a:outerShdw>
                </a:effectLst>
                <a:highlight>
                  <a:srgbClr val="00FF00"/>
                </a:highlight>
              </a:rPr>
              <a:t>in full</a:t>
            </a:r>
            <a:r>
              <a:rPr lang="en-US" dirty="0">
                <a:effectLst>
                  <a:outerShdw blurRad="38100" dist="38100" dir="2700000" algn="tl">
                    <a:srgbClr val="000000">
                      <a:alpha val="43137"/>
                    </a:srgbClr>
                  </a:outerShdw>
                </a:effectLst>
              </a:rPr>
              <a:t>, if</a:t>
            </a:r>
          </a:p>
          <a:p>
            <a:pPr>
              <a:buNone/>
            </a:pPr>
            <a:r>
              <a:rPr lang="en-US" dirty="0">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highlight>
                  <a:srgbClr val="00FF00"/>
                </a:highlight>
              </a:rPr>
              <a:t>justified by </a:t>
            </a:r>
            <a:r>
              <a:rPr lang="en-US" b="1" dirty="0">
                <a:solidFill>
                  <a:srgbClr val="FF0000"/>
                </a:solidFill>
                <a:effectLst>
                  <a:outerShdw blurRad="38100" dist="38100" dir="2700000" algn="tl">
                    <a:srgbClr val="000000">
                      <a:alpha val="43137"/>
                    </a:srgbClr>
                  </a:outerShdw>
                </a:effectLst>
                <a:highlight>
                  <a:srgbClr val="FFFF00"/>
                </a:highlight>
              </a:rPr>
              <a:t>explanation</a:t>
            </a:r>
            <a:r>
              <a:rPr lang="en-US" dirty="0">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critical analysis</a:t>
            </a:r>
            <a:r>
              <a:rPr lang="en-US" dirty="0">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teaching </a:t>
            </a:r>
            <a:r>
              <a:rPr lang="en-US" dirty="0">
                <a:effectLst>
                  <a:outerShdw blurRad="38100" dist="38100" dir="2700000" algn="tl">
                    <a:srgbClr val="000000">
                      <a:alpha val="43137"/>
                    </a:srgbClr>
                  </a:outerShdw>
                </a:effectLst>
              </a:rPr>
              <a:t>or</a:t>
            </a:r>
            <a:r>
              <a:rPr lang="en-US" b="1" dirty="0">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by literary genre</a:t>
            </a:r>
          </a:p>
          <a:p>
            <a:r>
              <a:rPr lang="en-US" b="1" dirty="0">
                <a:solidFill>
                  <a:srgbClr val="002060"/>
                </a:solidFill>
                <a:effectLst>
                  <a:outerShdw blurRad="38100" dist="38100" dir="2700000" algn="tl">
                    <a:srgbClr val="000000">
                      <a:alpha val="43137"/>
                    </a:srgbClr>
                  </a:outerShdw>
                </a:effectLst>
              </a:rPr>
              <a:t>Its is permitted to use author’s work for </a:t>
            </a:r>
            <a:r>
              <a:rPr lang="en-US" b="1" dirty="0">
                <a:solidFill>
                  <a:srgbClr val="FF0000"/>
                </a:solidFill>
                <a:effectLst>
                  <a:outerShdw blurRad="38100" dist="38100" dir="2700000" algn="tl">
                    <a:srgbClr val="000000">
                      <a:alpha val="43137"/>
                    </a:srgbClr>
                  </a:outerShdw>
                </a:effectLst>
                <a:highlight>
                  <a:srgbClr val="FFFF00"/>
                </a:highlight>
              </a:rPr>
              <a:t>parody, pastiche or caricature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a:t>
            </a:r>
            <a:br>
              <a:rPr lang="pl-PL" b="1" dirty="0">
                <a:solidFill>
                  <a:srgbClr val="FF0000"/>
                </a:solidFill>
                <a:effectLst>
                  <a:outerShdw blurRad="38100" dist="38100" dir="2700000" algn="tl">
                    <a:srgbClr val="000000">
                      <a:alpha val="43137"/>
                    </a:srgbClr>
                  </a:outerShdw>
                </a:effectLst>
              </a:rPr>
            </a:br>
            <a:r>
              <a:rPr lang="pl-PL" sz="2400" b="1" dirty="0">
                <a:solidFill>
                  <a:srgbClr val="002060"/>
                </a:solidFill>
                <a:effectLst>
                  <a:outerShdw blurRad="38100" dist="38100" dir="2700000" algn="tl">
                    <a:srgbClr val="000000">
                      <a:alpha val="43137"/>
                    </a:srgbClr>
                  </a:outerShdw>
                </a:effectLst>
              </a:rPr>
              <a:t>(31)</a:t>
            </a:r>
          </a:p>
        </p:txBody>
      </p:sp>
      <p:sp>
        <p:nvSpPr>
          <p:cNvPr id="3" name="Symbol zastępczy zawartości 2"/>
          <p:cNvSpPr>
            <a:spLocks noGrp="1"/>
          </p:cNvSpPr>
          <p:nvPr>
            <p:ph idx="1"/>
          </p:nvPr>
        </p:nvSpPr>
        <p:spPr/>
        <p:txBody>
          <a:bodyPr/>
          <a:lstStyle/>
          <a:p>
            <a:pPr>
              <a:buNone/>
            </a:pPr>
            <a:r>
              <a:rPr lang="pl-PL" dirty="0"/>
              <a:t>    It is </a:t>
            </a:r>
            <a:r>
              <a:rPr lang="en-US" dirty="0"/>
              <a:t>permitted to </a:t>
            </a:r>
            <a:r>
              <a:rPr lang="en-US" b="1" dirty="0">
                <a:solidFill>
                  <a:srgbClr val="002060"/>
                </a:solidFill>
                <a:effectLst>
                  <a:outerShdw blurRad="38100" dist="38100" dir="2700000" algn="tl">
                    <a:srgbClr val="000000">
                      <a:alpha val="43137"/>
                    </a:srgbClr>
                  </a:outerShdw>
                </a:effectLst>
                <a:highlight>
                  <a:srgbClr val="FFFF00"/>
                </a:highlight>
              </a:rPr>
              <a:t>gratuitously</a:t>
            </a:r>
            <a:r>
              <a:rPr lang="pl-PL" b="1" dirty="0">
                <a:solidFill>
                  <a:srgbClr val="002060"/>
                </a:solidFill>
                <a:effectLst>
                  <a:outerShdw blurRad="38100" dist="38100" dir="2700000" algn="tl">
                    <a:srgbClr val="000000">
                      <a:alpha val="43137"/>
                    </a:srgbClr>
                  </a:outerShdw>
                </a:effectLst>
                <a:highlight>
                  <a:srgbClr val="FFFF00"/>
                </a:highlight>
              </a:rPr>
              <a:t> (for free)</a:t>
            </a:r>
            <a:r>
              <a:rPr lang="en-US" dirty="0">
                <a:highlight>
                  <a:srgbClr val="FFFF00"/>
                </a:highlight>
              </a:rPr>
              <a:t> </a:t>
            </a:r>
            <a:r>
              <a:rPr lang="en-US" dirty="0"/>
              <a:t>perform in public any disseminated works during </a:t>
            </a:r>
            <a:r>
              <a:rPr lang="en-US" b="1" dirty="0">
                <a:solidFill>
                  <a:srgbClr val="FF0000"/>
                </a:solidFill>
                <a:effectLst>
                  <a:outerShdw blurRad="38100" dist="38100" dir="2700000" algn="tl">
                    <a:srgbClr val="000000">
                      <a:alpha val="43137"/>
                    </a:srgbClr>
                  </a:outerShdw>
                </a:effectLst>
              </a:rPr>
              <a:t>religious   </a:t>
            </a:r>
            <a:r>
              <a:rPr lang="en-US" b="1" dirty="0">
                <a:solidFill>
                  <a:srgbClr val="FF0000"/>
                </a:solidFill>
                <a:effectLst>
                  <a:outerShdw blurRad="38100" dist="38100" dir="2700000" algn="tl">
                    <a:srgbClr val="000000">
                      <a:alpha val="43137"/>
                    </a:srgbClr>
                  </a:outerShdw>
                </a:effectLst>
                <a:highlight>
                  <a:srgbClr val="00FF00"/>
                </a:highlight>
              </a:rPr>
              <a:t>ceremonies</a:t>
            </a:r>
            <a:r>
              <a:rPr lang="en-US" b="1" dirty="0">
                <a:solidFill>
                  <a:srgbClr val="FF0000"/>
                </a:solidFill>
                <a:effectLst>
                  <a:outerShdw blurRad="38100" dist="38100" dir="2700000" algn="tl">
                    <a:srgbClr val="000000">
                      <a:alpha val="43137"/>
                    </a:srgbClr>
                  </a:outerShdw>
                </a:effectLst>
              </a:rPr>
              <a:t>,   school   and   academic   events   </a:t>
            </a:r>
            <a:r>
              <a:rPr lang="en-US" dirty="0"/>
              <a:t>or   official   state   ceremonies,   provided   that   it   is   </a:t>
            </a:r>
            <a:r>
              <a:rPr lang="en-US" b="1" dirty="0">
                <a:solidFill>
                  <a:srgbClr val="FF0000"/>
                </a:solidFill>
              </a:rPr>
              <a:t>not, </a:t>
            </a:r>
          </a:p>
          <a:p>
            <a:pPr>
              <a:buNone/>
            </a:pPr>
            <a:r>
              <a:rPr lang="pl-PL" dirty="0"/>
              <a:t>    </a:t>
            </a:r>
            <a:r>
              <a:rPr lang="en-US" dirty="0"/>
              <a:t>directly or indirectly, connected with any </a:t>
            </a:r>
            <a:r>
              <a:rPr lang="en-US" b="1" dirty="0">
                <a:solidFill>
                  <a:srgbClr val="FF0000"/>
                </a:solidFill>
                <a:effectLst>
                  <a:outerShdw blurRad="38100" dist="38100" dir="2700000" algn="tl">
                    <a:srgbClr val="000000">
                      <a:alpha val="43137"/>
                    </a:srgbClr>
                  </a:outerShdw>
                </a:effectLst>
              </a:rPr>
              <a:t>material benefits </a:t>
            </a:r>
            <a:r>
              <a:rPr lang="en-US" dirty="0"/>
              <a:t>and the </a:t>
            </a:r>
            <a:r>
              <a:rPr lang="en-US" b="1" dirty="0">
                <a:solidFill>
                  <a:srgbClr val="FF0000"/>
                </a:solidFill>
                <a:effectLst>
                  <a:outerShdw blurRad="38100" dist="38100" dir="2700000" algn="tl">
                    <a:srgbClr val="000000">
                      <a:alpha val="43137"/>
                    </a:srgbClr>
                  </a:outerShdw>
                </a:effectLst>
                <a:highlight>
                  <a:srgbClr val="FFFF00"/>
                </a:highlight>
              </a:rPr>
              <a:t>artists do not receive any remuneration</a:t>
            </a:r>
            <a:r>
              <a:rPr lang="en-US" dirty="0"/>
              <a:t>, </a:t>
            </a:r>
            <a:r>
              <a:rPr lang="en-US" b="1" dirty="0">
                <a:solidFill>
                  <a:srgbClr val="002060"/>
                </a:solidFill>
                <a:effectLst>
                  <a:outerShdw blurRad="38100" dist="38100" dir="2700000" algn="tl">
                    <a:srgbClr val="000000">
                      <a:alpha val="43137"/>
                    </a:srgbClr>
                  </a:outerShdw>
                </a:effectLst>
              </a:rPr>
              <a:t>except for any advertising, promotional</a:t>
            </a:r>
            <a:r>
              <a:rPr lang="pl-PL" b="1"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 or election events</a:t>
            </a:r>
            <a:r>
              <a:rPr lang="en-US" dirty="0"/>
              <a:t> </a:t>
            </a:r>
            <a:endParaRPr lang="pl-PL"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a:t>
            </a:r>
            <a:br>
              <a:rPr lang="pl-PL" b="1" dirty="0">
                <a:solidFill>
                  <a:srgbClr val="FF0000"/>
                </a:solidFill>
                <a:effectLst>
                  <a:outerShdw blurRad="38100" dist="38100" dir="2700000" algn="tl">
                    <a:srgbClr val="000000">
                      <a:alpha val="43137"/>
                    </a:srgbClr>
                  </a:outerShdw>
                </a:effectLst>
              </a:rPr>
            </a:br>
            <a:r>
              <a:rPr lang="pl-PL" sz="2000" b="1" dirty="0">
                <a:solidFill>
                  <a:srgbClr val="002060"/>
                </a:solidFill>
                <a:effectLst>
                  <a:outerShdw blurRad="38100" dist="38100" dir="2700000" algn="tl">
                    <a:srgbClr val="000000">
                      <a:alpha val="43137"/>
                    </a:srgbClr>
                  </a:outerShdw>
                </a:effectLst>
              </a:rPr>
              <a:t>(33)</a:t>
            </a:r>
          </a:p>
        </p:txBody>
      </p:sp>
      <p:sp>
        <p:nvSpPr>
          <p:cNvPr id="3" name="Symbol zastępczy zawartości 2"/>
          <p:cNvSpPr>
            <a:spLocks noGrp="1"/>
          </p:cNvSpPr>
          <p:nvPr>
            <p:ph idx="1"/>
          </p:nvPr>
        </p:nvSpPr>
        <p:spPr/>
        <p:txBody>
          <a:bodyPr/>
          <a:lstStyle/>
          <a:p>
            <a:pPr>
              <a:buNone/>
            </a:pPr>
            <a:r>
              <a:rPr lang="pl-PL" b="1" dirty="0"/>
              <a:t>It is </a:t>
            </a:r>
            <a:r>
              <a:rPr lang="en-US" b="1" dirty="0"/>
              <a:t>allowed to disseminate</a:t>
            </a:r>
            <a:r>
              <a:rPr lang="en-US" dirty="0"/>
              <a:t>: </a:t>
            </a:r>
          </a:p>
          <a:p>
            <a:pPr>
              <a:buNone/>
            </a:pPr>
            <a:r>
              <a:rPr lang="en-US" sz="2400" dirty="0"/>
              <a:t>1)   the  </a:t>
            </a:r>
            <a:r>
              <a:rPr lang="en-US" sz="2400" b="1" dirty="0">
                <a:solidFill>
                  <a:srgbClr val="FF0000"/>
                </a:solidFill>
                <a:effectLst>
                  <a:outerShdw blurRad="38100" dist="38100" dir="2700000" algn="tl">
                    <a:srgbClr val="000000">
                      <a:alpha val="43137"/>
                    </a:srgbClr>
                  </a:outerShdw>
                </a:effectLst>
                <a:highlight>
                  <a:srgbClr val="FFFF00"/>
                </a:highlight>
              </a:rPr>
              <a:t>works permanently  exhibited   </a:t>
            </a:r>
            <a:r>
              <a:rPr lang="en-US" sz="2400" dirty="0"/>
              <a:t>on   commonly  accessible   </a:t>
            </a:r>
            <a:r>
              <a:rPr lang="en-US" sz="2400" b="1" dirty="0">
                <a:solidFill>
                  <a:srgbClr val="FF0000"/>
                </a:solidFill>
                <a:effectLst>
                  <a:outerShdw blurRad="38100" dist="38100" dir="2700000" algn="tl">
                    <a:srgbClr val="000000">
                      <a:alpha val="43137"/>
                    </a:srgbClr>
                  </a:outerShdw>
                </a:effectLst>
              </a:rPr>
              <a:t>public   roads,   streets,   squares  or   gardens</a:t>
            </a:r>
            <a:r>
              <a:rPr lang="en-US" sz="2400" b="1" dirty="0">
                <a:solidFill>
                  <a:srgbClr val="FF0000"/>
                </a:solidFill>
              </a:rPr>
              <a:t>, </a:t>
            </a:r>
          </a:p>
          <a:p>
            <a:pPr>
              <a:buNone/>
            </a:pPr>
            <a:r>
              <a:rPr lang="en-US" sz="2400" dirty="0"/>
              <a:t>     although </a:t>
            </a:r>
            <a:r>
              <a:rPr lang="en-US" sz="2400" b="1" dirty="0">
                <a:solidFill>
                  <a:srgbClr val="0070C0"/>
                </a:solidFill>
                <a:effectLst>
                  <a:outerShdw blurRad="38100" dist="38100" dir="2700000" algn="tl">
                    <a:srgbClr val="000000">
                      <a:alpha val="43137"/>
                    </a:srgbClr>
                  </a:outerShdw>
                </a:effectLst>
              </a:rPr>
              <a:t>not for the same use</a:t>
            </a:r>
            <a:r>
              <a:rPr lang="en-US" sz="2400" dirty="0"/>
              <a:t>; </a:t>
            </a:r>
          </a:p>
          <a:p>
            <a:pPr>
              <a:buNone/>
            </a:pPr>
            <a:r>
              <a:rPr lang="en-US" sz="2400" dirty="0"/>
              <a:t>2)   </a:t>
            </a:r>
            <a:r>
              <a:rPr lang="en-US" sz="2400" b="1" dirty="0">
                <a:solidFill>
                  <a:srgbClr val="002060"/>
                </a:solidFill>
                <a:effectLst>
                  <a:outerShdw blurRad="38100" dist="38100" dir="2700000" algn="tl">
                    <a:srgbClr val="000000">
                      <a:alpha val="43137"/>
                    </a:srgbClr>
                  </a:outerShdw>
                </a:effectLst>
              </a:rPr>
              <a:t>the   works     exhibited    in  </a:t>
            </a:r>
            <a:r>
              <a:rPr lang="en-US" sz="2400" dirty="0"/>
              <a:t>commonly   accessible   public   collections         such   as   </a:t>
            </a:r>
            <a:r>
              <a:rPr lang="en-US" sz="2400" b="1" dirty="0">
                <a:solidFill>
                  <a:srgbClr val="FF0000"/>
                </a:solidFill>
                <a:effectLst>
                  <a:outerShdw blurRad="38100" dist="38100" dir="2700000" algn="tl">
                    <a:srgbClr val="000000">
                      <a:alpha val="43137"/>
                    </a:srgbClr>
                  </a:outerShdw>
                </a:effectLst>
              </a:rPr>
              <a:t>museums,      galleries</a:t>
            </a:r>
            <a:r>
              <a:rPr lang="en-US" sz="2400" dirty="0"/>
              <a:t>,  and </a:t>
            </a:r>
          </a:p>
          <a:p>
            <a:pPr>
              <a:buNone/>
            </a:pPr>
            <a:r>
              <a:rPr lang="en-US" sz="2400" dirty="0"/>
              <a:t>     exhibition halls, though </a:t>
            </a:r>
            <a:r>
              <a:rPr lang="en-US" sz="2400" b="1" dirty="0">
                <a:solidFill>
                  <a:srgbClr val="FF0000"/>
                </a:solidFill>
                <a:effectLst>
                  <a:outerShdw blurRad="38100" dist="38100" dir="2700000" algn="tl">
                    <a:srgbClr val="000000">
                      <a:alpha val="43137"/>
                    </a:srgbClr>
                  </a:outerShdw>
                </a:effectLst>
                <a:highlight>
                  <a:srgbClr val="FFFF00"/>
                </a:highlight>
              </a:rPr>
              <a:t>only in catalogues </a:t>
            </a:r>
            <a:r>
              <a:rPr lang="en-US" sz="2400" b="1" dirty="0">
                <a:solidFill>
                  <a:srgbClr val="002060"/>
                </a:solidFill>
                <a:effectLst>
                  <a:outerShdw blurRad="38100" dist="38100" dir="2700000" algn="tl">
                    <a:srgbClr val="000000">
                      <a:alpha val="43137"/>
                    </a:srgbClr>
                  </a:outerShdw>
                </a:effectLst>
              </a:rPr>
              <a:t>and printed publications </a:t>
            </a:r>
            <a:r>
              <a:rPr lang="en-US" sz="2400" b="1" dirty="0">
                <a:solidFill>
                  <a:srgbClr val="FF0000"/>
                </a:solidFill>
                <a:effectLst>
                  <a:outerShdw blurRad="38100" dist="38100" dir="2700000" algn="tl">
                    <a:srgbClr val="000000">
                      <a:alpha val="43137"/>
                    </a:srgbClr>
                  </a:outerShdw>
                </a:effectLst>
              </a:rPr>
              <a:t>for promotion </a:t>
            </a:r>
            <a:r>
              <a:rPr lang="en-US" sz="2400" dirty="0"/>
              <a:t>of such works</a:t>
            </a:r>
            <a:r>
              <a:rPr lang="pl-PL" sz="2400" dirty="0"/>
              <a:t>,</a:t>
            </a:r>
            <a:r>
              <a:rPr lang="en-US" sz="2400" dirty="0"/>
              <a:t> and also in press and television current event reports within the limits justified by information purposes; </a:t>
            </a:r>
          </a:p>
          <a:p>
            <a:pPr>
              <a:buNone/>
            </a:pPr>
            <a:endParaRPr lang="pl-PL"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a:t>
            </a:r>
            <a:br>
              <a:rPr lang="pl-PL" b="1" dirty="0">
                <a:solidFill>
                  <a:srgbClr val="FF0000"/>
                </a:solidFill>
                <a:effectLst>
                  <a:outerShdw blurRad="38100" dist="38100" dir="2700000" algn="tl">
                    <a:srgbClr val="000000">
                      <a:alpha val="43137"/>
                    </a:srgbClr>
                  </a:outerShdw>
                </a:effectLst>
              </a:rPr>
            </a:br>
            <a:r>
              <a:rPr lang="pl-PL" sz="2000" b="1" dirty="0">
                <a:solidFill>
                  <a:srgbClr val="002060"/>
                </a:solidFill>
                <a:effectLst>
                  <a:outerShdw blurRad="38100" dist="38100" dir="2700000" algn="tl">
                    <a:srgbClr val="000000">
                      <a:alpha val="43137"/>
                    </a:srgbClr>
                  </a:outerShdw>
                </a:effectLst>
              </a:rPr>
              <a:t>(33)</a:t>
            </a:r>
          </a:p>
        </p:txBody>
      </p:sp>
      <p:sp>
        <p:nvSpPr>
          <p:cNvPr id="3" name="Symbol zastępczy zawartości 2"/>
          <p:cNvSpPr>
            <a:spLocks noGrp="1"/>
          </p:cNvSpPr>
          <p:nvPr>
            <p:ph idx="1"/>
          </p:nvPr>
        </p:nvSpPr>
        <p:spPr/>
        <p:txBody>
          <a:bodyPr/>
          <a:lstStyle/>
          <a:p>
            <a:pPr marL="514350" indent="-514350">
              <a:buAutoNum type="arabicParenR" startAt="3"/>
            </a:pPr>
            <a:r>
              <a:rPr lang="en-US" b="1" dirty="0">
                <a:solidFill>
                  <a:srgbClr val="FF0000"/>
                </a:solidFill>
                <a:effectLst>
                  <a:outerShdw blurRad="38100" dist="38100" dir="2700000" algn="tl">
                    <a:srgbClr val="000000">
                      <a:alpha val="43137"/>
                    </a:srgbClr>
                  </a:outerShdw>
                </a:effectLst>
              </a:rPr>
              <a:t>in   encyclopedias   and   atlases   </a:t>
            </a:r>
            <a:r>
              <a:rPr lang="en-US" dirty="0"/>
              <a:t>-   printed   artistic  and   photographic   works</a:t>
            </a:r>
            <a:r>
              <a:rPr lang="pl-PL" dirty="0"/>
              <a:t>,</a:t>
            </a:r>
            <a:r>
              <a:rPr lang="en-US" dirty="0"/>
              <a:t>   if   it   is   </a:t>
            </a:r>
            <a:r>
              <a:rPr lang="en-US" b="1" dirty="0">
                <a:solidFill>
                  <a:srgbClr val="002060"/>
                </a:solidFill>
                <a:effectLst>
                  <a:outerShdw blurRad="38100" dist="38100" dir="2700000" algn="tl">
                    <a:srgbClr val="000000">
                      <a:alpha val="43137"/>
                    </a:srgbClr>
                  </a:outerShdw>
                </a:effectLst>
              </a:rPr>
              <a:t>very </a:t>
            </a:r>
            <a:r>
              <a:rPr lang="en-US" b="1" dirty="0">
                <a:solidFill>
                  <a:srgbClr val="FF0000"/>
                </a:solidFill>
                <a:effectLst>
                  <a:outerShdw blurRad="38100" dist="38100" dir="2700000" algn="tl">
                    <a:srgbClr val="000000">
                      <a:alpha val="43137"/>
                    </a:srgbClr>
                  </a:outerShdw>
                </a:effectLst>
                <a:highlight>
                  <a:srgbClr val="FFFF00"/>
                </a:highlight>
              </a:rPr>
              <a:t>difficult   to   get   into contact </a:t>
            </a:r>
            <a:r>
              <a:rPr lang="en-US" dirty="0"/>
              <a:t>with the author (</a:t>
            </a:r>
            <a:r>
              <a:rPr lang="en-US" i="1" dirty="0"/>
              <a:t>there are special provisions of law on getting into contact</a:t>
            </a:r>
            <a:r>
              <a:rPr lang="en-US" dirty="0"/>
              <a:t>)</a:t>
            </a:r>
          </a:p>
          <a:p>
            <a:r>
              <a:rPr lang="en-US" dirty="0"/>
              <a:t>In such </a:t>
            </a:r>
            <a:r>
              <a:rPr lang="pl-PL" dirty="0"/>
              <a:t>a </a:t>
            </a:r>
            <a:r>
              <a:rPr lang="en-US" dirty="0"/>
              <a:t>case, the author shall have the right to </a:t>
            </a:r>
            <a:r>
              <a:rPr lang="en-US" b="1" dirty="0">
                <a:solidFill>
                  <a:srgbClr val="FF0000"/>
                </a:solidFill>
                <a:effectLst>
                  <a:outerShdw blurRad="38100" dist="38100" dir="2700000" algn="tl">
                    <a:srgbClr val="000000">
                      <a:alpha val="43137"/>
                    </a:srgbClr>
                  </a:outerShdw>
                </a:effectLst>
              </a:rPr>
              <a:t>remuneration</a:t>
            </a:r>
            <a:r>
              <a:rPr lang="en-US" dirty="0">
                <a:solidFill>
                  <a:srgbClr val="002060"/>
                </a:solidFill>
              </a:rPr>
              <a:t> </a:t>
            </a:r>
          </a:p>
          <a:p>
            <a:pPr>
              <a:buNone/>
            </a:pPr>
            <a:endParaRPr lang="pl-PL"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a:t>
            </a:r>
            <a:br>
              <a:rPr lang="pl-PL" b="1" dirty="0">
                <a:solidFill>
                  <a:srgbClr val="FF0000"/>
                </a:solidFill>
                <a:effectLst>
                  <a:outerShdw blurRad="38100" dist="38100" dir="2700000" algn="tl">
                    <a:srgbClr val="000000">
                      <a:alpha val="43137"/>
                    </a:srgbClr>
                  </a:outerShdw>
                </a:effectLst>
              </a:rPr>
            </a:br>
            <a:r>
              <a:rPr lang="pl-PL" sz="2000" b="1" dirty="0">
                <a:solidFill>
                  <a:srgbClr val="002060"/>
                </a:solidFill>
                <a:effectLst>
                  <a:outerShdw blurRad="38100" dist="38100" dir="2700000" algn="tl">
                    <a:srgbClr val="000000">
                      <a:alpha val="43137"/>
                    </a:srgbClr>
                  </a:outerShdw>
                </a:effectLst>
              </a:rPr>
              <a:t>(33 (1))</a:t>
            </a:r>
          </a:p>
        </p:txBody>
      </p:sp>
      <p:sp>
        <p:nvSpPr>
          <p:cNvPr id="3" name="Symbol zastępczy zawartości 2"/>
          <p:cNvSpPr>
            <a:spLocks noGrp="1"/>
          </p:cNvSpPr>
          <p:nvPr>
            <p:ph idx="1"/>
          </p:nvPr>
        </p:nvSpPr>
        <p:spPr/>
        <p:txBody>
          <a:bodyPr/>
          <a:lstStyle/>
          <a:p>
            <a:pPr>
              <a:buNone/>
            </a:pPr>
            <a:r>
              <a:rPr lang="pl-PL" dirty="0"/>
              <a:t>    </a:t>
            </a:r>
            <a:r>
              <a:rPr lang="pl-PL" dirty="0">
                <a:effectLst>
                  <a:outerShdw blurRad="38100" dist="38100" dir="2700000" algn="tl">
                    <a:srgbClr val="000000">
                      <a:alpha val="43137"/>
                    </a:srgbClr>
                  </a:outerShdw>
                </a:effectLst>
              </a:rPr>
              <a:t>It is p</a:t>
            </a:r>
            <a:r>
              <a:rPr lang="en-US" dirty="0">
                <a:effectLst>
                  <a:outerShdw blurRad="38100" dist="38100" dir="2700000" algn="tl">
                    <a:srgbClr val="000000">
                      <a:alpha val="43137"/>
                    </a:srgbClr>
                  </a:outerShdw>
                </a:effectLst>
              </a:rPr>
              <a:t>ermitted   to   use   </a:t>
            </a:r>
            <a:r>
              <a:rPr lang="en-US" b="1" dirty="0">
                <a:solidFill>
                  <a:srgbClr val="FF0000"/>
                </a:solidFill>
                <a:effectLst>
                  <a:outerShdw blurRad="38100" dist="38100" dir="2700000" algn="tl">
                    <a:srgbClr val="000000">
                      <a:alpha val="43137"/>
                    </a:srgbClr>
                  </a:outerShdw>
                </a:effectLst>
              </a:rPr>
              <a:t>already </a:t>
            </a:r>
            <a:r>
              <a:rPr lang="en-US" dirty="0">
                <a:effectLst>
                  <a:outerShdw blurRad="38100" dist="38100" dir="2700000" algn="tl">
                    <a:srgbClr val="000000">
                      <a:alpha val="43137"/>
                    </a:srgbClr>
                  </a:outerShdw>
                </a:effectLst>
              </a:rPr>
              <a:t>  disseminated   works   for   the   benefit   of   the</a:t>
            </a:r>
            <a:r>
              <a:rPr lang="pl-PL" dirty="0">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highlight>
                  <a:srgbClr val="00FF00"/>
                </a:highlight>
              </a:rPr>
              <a:t>handicapped</a:t>
            </a:r>
            <a:r>
              <a:rPr lang="en-US" dirty="0">
                <a:effectLst>
                  <a:outerShdw blurRad="38100" dist="38100" dir="2700000" algn="tl">
                    <a:srgbClr val="000000">
                      <a:alpha val="43137"/>
                    </a:srgbClr>
                  </a:outerShdw>
                </a:effectLst>
              </a:rPr>
              <a:t>,   provided   that   such   use   is  </a:t>
            </a:r>
            <a:r>
              <a:rPr lang="en-US" b="1" dirty="0">
                <a:solidFill>
                  <a:srgbClr val="FF0000"/>
                </a:solidFill>
                <a:effectLst>
                  <a:outerShdw blurRad="38100" dist="38100" dir="2700000" algn="tl">
                    <a:srgbClr val="000000">
                      <a:alpha val="43137"/>
                    </a:srgbClr>
                  </a:outerShdw>
                </a:effectLst>
                <a:highlight>
                  <a:srgbClr val="FFFF00"/>
                </a:highlight>
              </a:rPr>
              <a:t>directly   </a:t>
            </a:r>
            <a:r>
              <a:rPr lang="pl-PL" b="1" dirty="0">
                <a:solidFill>
                  <a:srgbClr val="FF0000"/>
                </a:solidFill>
                <a:effectLst>
                  <a:outerShdw blurRad="38100" dist="38100" dir="2700000" algn="tl">
                    <a:srgbClr val="000000">
                      <a:alpha val="43137"/>
                    </a:srgbClr>
                  </a:outerShdw>
                </a:effectLst>
                <a:highlight>
                  <a:srgbClr val="FFFF00"/>
                </a:highlight>
              </a:rPr>
              <a:t>beneficial</a:t>
            </a:r>
            <a:r>
              <a:rPr lang="en-US" b="1" dirty="0">
                <a:solidFill>
                  <a:srgbClr val="FF0000"/>
                </a:solidFill>
                <a:effectLst>
                  <a:outerShdw blurRad="38100" dist="38100" dir="2700000" algn="tl">
                    <a:srgbClr val="000000">
                      <a:alpha val="43137"/>
                    </a:srgbClr>
                  </a:outerShdw>
                </a:effectLst>
                <a:highlight>
                  <a:srgbClr val="FFFF00"/>
                </a:highlight>
              </a:rPr>
              <a:t>   </a:t>
            </a:r>
            <a:r>
              <a:rPr lang="en-US" b="1" dirty="0">
                <a:solidFill>
                  <a:srgbClr val="FF0000"/>
                </a:solidFill>
                <a:effectLst>
                  <a:outerShdw blurRad="38100" dist="38100" dir="2700000" algn="tl">
                    <a:srgbClr val="000000">
                      <a:alpha val="43137"/>
                    </a:srgbClr>
                  </a:outerShdw>
                </a:effectLst>
              </a:rPr>
              <a:t>to   their   handicap</a:t>
            </a:r>
            <a:r>
              <a:rPr lang="en-US" dirty="0">
                <a:effectLst>
                  <a:outerShdw blurRad="38100" dist="38100" dir="2700000" algn="tl">
                    <a:srgbClr val="000000">
                      <a:alpha val="43137"/>
                    </a:srgbClr>
                  </a:outerShdw>
                </a:effectLst>
              </a:rPr>
              <a:t>,   that   it   is</a:t>
            </a:r>
            <a:r>
              <a:rPr lang="pl-PL" dirty="0">
                <a:effectLst>
                  <a:outerShdw blurRad="38100" dist="38100" dir="2700000" algn="tl">
                    <a:srgbClr val="000000">
                      <a:alpha val="43137"/>
                    </a:srgbClr>
                  </a:outerShdw>
                </a:effectLst>
              </a:rPr>
              <a:t> a </a:t>
            </a:r>
            <a:r>
              <a:rPr lang="pl-PL" b="1" dirty="0">
                <a:solidFill>
                  <a:srgbClr val="FF0000"/>
                </a:solidFill>
                <a:effectLst>
                  <a:outerShdw blurRad="38100" dist="38100" dir="2700000" algn="tl">
                    <a:srgbClr val="000000">
                      <a:alpha val="43137"/>
                    </a:srgbClr>
                  </a:outerShdw>
                </a:effectLst>
                <a:highlight>
                  <a:srgbClr val="FFFF00"/>
                </a:highlight>
              </a:rPr>
              <a:t>not-for-profit</a:t>
            </a:r>
            <a:r>
              <a:rPr lang="en-US" b="1" dirty="0">
                <a:solidFill>
                  <a:srgbClr val="FF0000"/>
                </a:solidFill>
                <a:effectLst>
                  <a:outerShdw blurRad="38100" dist="38100" dir="2700000" algn="tl">
                    <a:srgbClr val="000000">
                      <a:alpha val="43137"/>
                    </a:srgbClr>
                  </a:outerShdw>
                </a:effectLst>
                <a:highlight>
                  <a:srgbClr val="FFFF00"/>
                </a:highlight>
              </a:rPr>
              <a:t> activity</a:t>
            </a:r>
            <a:r>
              <a:rPr lang="pl-PL" b="1"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and that it is </a:t>
            </a:r>
            <a:r>
              <a:rPr lang="en-US" b="1" dirty="0">
                <a:solidFill>
                  <a:srgbClr val="FF0000"/>
                </a:solidFill>
                <a:effectLst>
                  <a:outerShdw blurRad="38100" dist="38100" dir="2700000" algn="tl">
                    <a:srgbClr val="000000">
                      <a:alpha val="43137"/>
                    </a:srgbClr>
                  </a:outerShdw>
                </a:effectLst>
                <a:highlight>
                  <a:srgbClr val="FFFF00"/>
                </a:highlight>
              </a:rPr>
              <a:t>proportionate</a:t>
            </a:r>
            <a:r>
              <a:rPr lang="en-US" b="1" dirty="0">
                <a:solidFill>
                  <a:srgbClr val="FF000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to the nature of the handicap</a:t>
            </a:r>
            <a:r>
              <a:rPr lang="en-US" dirty="0">
                <a:effectLst>
                  <a:outerShdw blurRad="38100" dist="38100" dir="2700000" algn="tl">
                    <a:srgbClr val="000000">
                      <a:alpha val="43137"/>
                    </a:srgbClr>
                  </a:outerShdw>
                </a:effectLst>
              </a:rPr>
              <a:t> </a:t>
            </a:r>
            <a:endParaRPr lang="pl-PL" dirty="0">
              <a:effectLst>
                <a:outerShdw blurRad="38100" dist="38100" dir="2700000" algn="tl">
                  <a:srgbClr val="000000">
                    <a:alpha val="43137"/>
                  </a:srgbClr>
                </a:outerShdw>
              </a:effectLs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a:t>
            </a:r>
            <a:br>
              <a:rPr lang="pl-PL" b="1" dirty="0">
                <a:solidFill>
                  <a:srgbClr val="FF0000"/>
                </a:solidFill>
                <a:effectLst>
                  <a:outerShdw blurRad="38100" dist="38100" dir="2700000" algn="tl">
                    <a:srgbClr val="000000">
                      <a:alpha val="43137"/>
                    </a:srgbClr>
                  </a:outerShdw>
                </a:effectLst>
              </a:rPr>
            </a:br>
            <a:r>
              <a:rPr lang="pl-PL" sz="2000" b="1" dirty="0">
                <a:solidFill>
                  <a:srgbClr val="002060"/>
                </a:solidFill>
                <a:effectLst>
                  <a:outerShdw blurRad="38100" dist="38100" dir="2700000" algn="tl">
                    <a:srgbClr val="000000">
                      <a:alpha val="43137"/>
                    </a:srgbClr>
                  </a:outerShdw>
                </a:effectLst>
              </a:rPr>
              <a:t>(33(2))</a:t>
            </a:r>
          </a:p>
        </p:txBody>
      </p:sp>
      <p:sp>
        <p:nvSpPr>
          <p:cNvPr id="3" name="Symbol zastępczy zawartości 2"/>
          <p:cNvSpPr>
            <a:spLocks noGrp="1"/>
          </p:cNvSpPr>
          <p:nvPr>
            <p:ph idx="1"/>
          </p:nvPr>
        </p:nvSpPr>
        <p:spPr/>
        <p:txBody>
          <a:bodyPr/>
          <a:lstStyle/>
          <a:p>
            <a:pPr marL="0" indent="0">
              <a:buNone/>
            </a:pPr>
            <a:r>
              <a:rPr lang="en-US" sz="4000" dirty="0">
                <a:effectLst>
                  <a:outerShdw blurRad="38100" dist="38100" dir="2700000" algn="tl">
                    <a:srgbClr val="000000">
                      <a:alpha val="43137"/>
                    </a:srgbClr>
                  </a:outerShdw>
                </a:effectLst>
              </a:rPr>
              <a:t>It </a:t>
            </a:r>
            <a:r>
              <a:rPr lang="pl-PL" sz="4000" dirty="0">
                <a:effectLst>
                  <a:outerShdw blurRad="38100" dist="38100" dir="2700000" algn="tl">
                    <a:srgbClr val="000000">
                      <a:alpha val="43137"/>
                    </a:srgbClr>
                  </a:outerShdw>
                </a:effectLst>
              </a:rPr>
              <a:t>is</a:t>
            </a:r>
            <a:r>
              <a:rPr lang="en-US" sz="4000" dirty="0">
                <a:effectLst>
                  <a:outerShdw blurRad="38100" dist="38100" dir="2700000" algn="tl">
                    <a:srgbClr val="000000">
                      <a:alpha val="43137"/>
                    </a:srgbClr>
                  </a:outerShdw>
                </a:effectLst>
              </a:rPr>
              <a:t> permitted to use works for the purposes of </a:t>
            </a:r>
            <a:r>
              <a:rPr lang="en-US" sz="4000" b="1" dirty="0">
                <a:solidFill>
                  <a:srgbClr val="FF0000"/>
                </a:solidFill>
                <a:effectLst>
                  <a:outerShdw blurRad="38100" dist="38100" dir="2700000" algn="tl">
                    <a:srgbClr val="000000">
                      <a:alpha val="43137"/>
                    </a:srgbClr>
                  </a:outerShdw>
                </a:effectLst>
                <a:highlight>
                  <a:srgbClr val="00FF00"/>
                </a:highlight>
              </a:rPr>
              <a:t>public security </a:t>
            </a:r>
            <a:r>
              <a:rPr lang="en-US" sz="4000" dirty="0">
                <a:effectLst>
                  <a:outerShdw blurRad="38100" dist="38100" dir="2700000" algn="tl">
                    <a:srgbClr val="000000">
                      <a:alpha val="43137"/>
                    </a:srgbClr>
                  </a:outerShdw>
                </a:effectLst>
              </a:rPr>
              <a:t>or for the purposes of </a:t>
            </a:r>
            <a:r>
              <a:rPr lang="en-US" sz="4000" b="1" dirty="0">
                <a:solidFill>
                  <a:srgbClr val="FF0000"/>
                </a:solidFill>
                <a:effectLst>
                  <a:outerShdw blurRad="38100" dist="38100" dir="2700000" algn="tl">
                    <a:srgbClr val="000000">
                      <a:alpha val="43137"/>
                    </a:srgbClr>
                  </a:outerShdw>
                </a:effectLst>
              </a:rPr>
              <a:t>administrative, court or legislative </a:t>
            </a:r>
            <a:r>
              <a:rPr lang="en-US" sz="4000" dirty="0">
                <a:effectLst>
                  <a:outerShdw blurRad="38100" dist="38100" dir="2700000" algn="tl">
                    <a:srgbClr val="000000">
                      <a:alpha val="43137"/>
                    </a:srgbClr>
                  </a:outerShdw>
                </a:effectLst>
              </a:rPr>
              <a:t>proceedings and any reports thereof </a:t>
            </a:r>
          </a:p>
          <a:p>
            <a:pPr>
              <a:buNone/>
            </a:pPr>
            <a:endParaRPr lang="pl-PL" sz="4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a:t>
            </a:r>
          </a:p>
        </p:txBody>
      </p:sp>
      <p:sp>
        <p:nvSpPr>
          <p:cNvPr id="3" name="Symbol zastępczy zawartości 2"/>
          <p:cNvSpPr>
            <a:spLocks noGrp="1"/>
          </p:cNvSpPr>
          <p:nvPr>
            <p:ph idx="1"/>
          </p:nvPr>
        </p:nvSpPr>
        <p:spPr/>
        <p:txBody>
          <a:bodyPr/>
          <a:lstStyle/>
          <a:p>
            <a:r>
              <a:rPr lang="en-US" sz="3600" dirty="0"/>
              <a:t>Use in order </a:t>
            </a:r>
            <a:r>
              <a:rPr lang="en-US" sz="3600" b="1" dirty="0">
                <a:solidFill>
                  <a:srgbClr val="FF0000"/>
                </a:solidFill>
                <a:effectLst>
                  <a:outerShdw blurRad="38100" dist="38100" dir="2700000" algn="tl">
                    <a:srgbClr val="000000">
                      <a:alpha val="43137"/>
                    </a:srgbClr>
                  </a:outerShdw>
                </a:effectLst>
                <a:highlight>
                  <a:srgbClr val="FFFF00"/>
                </a:highlight>
              </a:rPr>
              <a:t>to repair </a:t>
            </a:r>
            <a:r>
              <a:rPr lang="en-US" sz="3600" dirty="0"/>
              <a:t>equipment</a:t>
            </a:r>
          </a:p>
          <a:p>
            <a:r>
              <a:rPr lang="en-US" sz="3600" b="1" dirty="0">
                <a:solidFill>
                  <a:srgbClr val="002060"/>
                </a:solidFill>
                <a:effectLst>
                  <a:outerShdw blurRad="38100" dist="38100" dir="2700000" algn="tl">
                    <a:srgbClr val="000000">
                      <a:alpha val="43137"/>
                    </a:srgbClr>
                  </a:outerShdw>
                </a:effectLst>
              </a:rPr>
              <a:t>Repair and reconstruction of buildings</a:t>
            </a:r>
            <a:endParaRPr lang="en-US" sz="3600" dirty="0"/>
          </a:p>
          <a:p>
            <a:r>
              <a:rPr lang="en-US" sz="3600" b="1" dirty="0">
                <a:solidFill>
                  <a:srgbClr val="0070C0"/>
                </a:solidFill>
                <a:effectLst>
                  <a:outerShdw blurRad="38100" dist="38100" dir="2700000" algn="tl">
                    <a:srgbClr val="000000">
                      <a:alpha val="43137"/>
                    </a:srgbClr>
                  </a:outerShdw>
                </a:effectLst>
              </a:rPr>
              <a:t>Such use must not infringe on normal use or </a:t>
            </a:r>
            <a:r>
              <a:rPr lang="pl-PL" sz="3600" b="1" dirty="0">
                <a:solidFill>
                  <a:srgbClr val="0070C0"/>
                </a:solidFill>
                <a:effectLst>
                  <a:outerShdw blurRad="38100" dist="38100" dir="2700000" algn="tl">
                    <a:srgbClr val="000000">
                      <a:alpha val="43137"/>
                    </a:srgbClr>
                  </a:outerShdw>
                </a:effectLst>
              </a:rPr>
              <a:t>the </a:t>
            </a:r>
            <a:r>
              <a:rPr lang="en-US" sz="3600" b="1" dirty="0">
                <a:solidFill>
                  <a:srgbClr val="0070C0"/>
                </a:solidFill>
                <a:effectLst>
                  <a:outerShdw blurRad="38100" dist="38100" dir="2700000" algn="tl">
                    <a:srgbClr val="000000">
                      <a:alpha val="43137"/>
                    </a:srgbClr>
                  </a:outerShdw>
                </a:effectLst>
              </a:rPr>
              <a:t>rights of the owner</a:t>
            </a:r>
          </a:p>
          <a:p>
            <a:endParaRPr lang="pl-PL"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Public domain</a:t>
            </a:r>
            <a:endParaRPr lang="pl-PL" dirty="0"/>
          </a:p>
        </p:txBody>
      </p:sp>
      <p:sp>
        <p:nvSpPr>
          <p:cNvPr id="3" name="Symbol zastępczy zawartości 2"/>
          <p:cNvSpPr>
            <a:spLocks noGrp="1"/>
          </p:cNvSpPr>
          <p:nvPr>
            <p:ph idx="1"/>
          </p:nvPr>
        </p:nvSpPr>
        <p:spPr/>
        <p:txBody>
          <a:bodyPr/>
          <a:lstStyle/>
          <a:p>
            <a:r>
              <a:rPr lang="en-US" sz="3600" b="1" dirty="0">
                <a:effectLst>
                  <a:outerShdw blurRad="38100" dist="38100" dir="2700000" algn="tl">
                    <a:srgbClr val="000000">
                      <a:alpha val="43137"/>
                    </a:srgbClr>
                  </a:outerShdw>
                </a:effectLst>
              </a:rPr>
              <a:t>Public domain requires that the </a:t>
            </a:r>
            <a:r>
              <a:rPr lang="en-US" sz="3600" b="1" dirty="0">
                <a:solidFill>
                  <a:srgbClr val="FF0000"/>
                </a:solidFill>
                <a:effectLst>
                  <a:outerShdw blurRad="38100" dist="38100" dir="2700000" algn="tl">
                    <a:srgbClr val="000000">
                      <a:alpha val="43137"/>
                    </a:srgbClr>
                  </a:outerShdw>
                </a:effectLst>
                <a:highlight>
                  <a:srgbClr val="00FF00"/>
                </a:highlight>
              </a:rPr>
              <a:t>name of the author</a:t>
            </a:r>
            <a:r>
              <a:rPr lang="en-US" sz="3600" b="1" dirty="0">
                <a:effectLst>
                  <a:outerShdw blurRad="38100" dist="38100" dir="2700000" algn="tl">
                    <a:srgbClr val="000000">
                      <a:alpha val="43137"/>
                    </a:srgbClr>
                  </a:outerShdw>
                </a:effectLst>
                <a:highlight>
                  <a:srgbClr val="FFFF00"/>
                </a:highlight>
              </a:rPr>
              <a:t> and the </a:t>
            </a:r>
            <a:r>
              <a:rPr lang="en-US" sz="3600" b="1" dirty="0">
                <a:solidFill>
                  <a:srgbClr val="FF0000"/>
                </a:solidFill>
                <a:effectLst>
                  <a:outerShdw blurRad="38100" dist="38100" dir="2700000" algn="tl">
                    <a:srgbClr val="000000">
                      <a:alpha val="43137"/>
                    </a:srgbClr>
                  </a:outerShdw>
                </a:effectLst>
                <a:highlight>
                  <a:srgbClr val="FFFF00"/>
                </a:highlight>
              </a:rPr>
              <a:t>source</a:t>
            </a:r>
            <a:r>
              <a:rPr lang="en-US" sz="3600" b="1" dirty="0">
                <a:effectLst>
                  <a:outerShdw blurRad="38100" dist="38100" dir="2700000" algn="tl">
                    <a:srgbClr val="000000">
                      <a:alpha val="43137"/>
                    </a:srgbClr>
                  </a:outerShdw>
                </a:effectLst>
                <a:highlight>
                  <a:srgbClr val="FFFF00"/>
                </a:highlight>
              </a:rPr>
              <a:t> is mentioned </a:t>
            </a:r>
          </a:p>
          <a:p>
            <a:r>
              <a:rPr lang="en-US" sz="3600" b="1" dirty="0">
                <a:effectLst>
                  <a:outerShdw blurRad="38100" dist="38100" dir="2700000" algn="tl">
                    <a:srgbClr val="000000">
                      <a:alpha val="43137"/>
                    </a:srgbClr>
                  </a:outerShdw>
                </a:effectLst>
              </a:rPr>
              <a:t>Public domain use </a:t>
            </a:r>
            <a:r>
              <a:rPr lang="en-US" sz="3600" b="1" dirty="0">
                <a:solidFill>
                  <a:srgbClr val="002060"/>
                </a:solidFill>
                <a:effectLst>
                  <a:outerShdw blurRad="38100" dist="38100" dir="2700000" algn="tl">
                    <a:srgbClr val="000000">
                      <a:alpha val="43137"/>
                    </a:srgbClr>
                  </a:outerShdw>
                </a:effectLst>
              </a:rPr>
              <a:t>may </a:t>
            </a:r>
            <a:r>
              <a:rPr lang="pl-PL" sz="3600" b="1" dirty="0">
                <a:solidFill>
                  <a:srgbClr val="002060"/>
                </a:solidFill>
                <a:effectLst>
                  <a:outerShdw blurRad="38100" dist="38100" dir="2700000" algn="tl">
                    <a:srgbClr val="000000">
                      <a:alpha val="43137"/>
                    </a:srgbClr>
                  </a:outerShdw>
                </a:effectLst>
              </a:rPr>
              <a:t>not</a:t>
            </a:r>
            <a:r>
              <a:rPr lang="en-US" sz="3600" b="1" dirty="0">
                <a:solidFill>
                  <a:srgbClr val="002060"/>
                </a:solidFill>
                <a:effectLst>
                  <a:outerShdw blurRad="38100" dist="38100" dir="2700000" algn="tl">
                    <a:srgbClr val="000000">
                      <a:alpha val="43137"/>
                    </a:srgbClr>
                  </a:outerShdw>
                </a:effectLst>
              </a:rPr>
              <a:t> obstruct </a:t>
            </a:r>
            <a:r>
              <a:rPr lang="en-US" sz="3600" b="1" dirty="0">
                <a:solidFill>
                  <a:srgbClr val="FF0000"/>
                </a:solidFill>
                <a:effectLst>
                  <a:outerShdw blurRad="38100" dist="38100" dir="2700000" algn="tl">
                    <a:srgbClr val="000000">
                      <a:alpha val="43137"/>
                    </a:srgbClr>
                  </a:outerShdw>
                </a:effectLst>
              </a:rPr>
              <a:t>normal use of copyright </a:t>
            </a:r>
            <a:r>
              <a:rPr lang="en-US" sz="3600" b="1" dirty="0">
                <a:effectLst>
                  <a:outerShdw blurRad="38100" dist="38100" dir="2700000" algn="tl">
                    <a:srgbClr val="000000">
                      <a:alpha val="43137"/>
                    </a:srgbClr>
                  </a:outerShdw>
                </a:effectLst>
              </a:rPr>
              <a:t>and </a:t>
            </a:r>
            <a:r>
              <a:rPr lang="en-US" sz="3600" b="1" dirty="0">
                <a:solidFill>
                  <a:srgbClr val="002060"/>
                </a:solidFill>
                <a:effectLst>
                  <a:outerShdw blurRad="38100" dist="38100" dir="2700000" algn="tl">
                    <a:srgbClr val="000000">
                      <a:alpha val="43137"/>
                    </a:srgbClr>
                  </a:outerShdw>
                </a:effectLst>
                <a:highlight>
                  <a:srgbClr val="FFFF00"/>
                </a:highlight>
              </a:rPr>
              <a:t>may not diminish</a:t>
            </a:r>
            <a:r>
              <a:rPr lang="en-US" sz="3600" b="1" dirty="0">
                <a:solidFill>
                  <a:srgbClr val="FF0000"/>
                </a:solidFill>
                <a:effectLst>
                  <a:outerShdw blurRad="38100" dist="38100" dir="2700000" algn="tl">
                    <a:srgbClr val="000000">
                      <a:alpha val="43137"/>
                    </a:srgbClr>
                  </a:outerShdw>
                </a:effectLst>
                <a:highlight>
                  <a:srgbClr val="FFFF00"/>
                </a:highlight>
              </a:rPr>
              <a:t> the just interest of the author</a:t>
            </a:r>
          </a:p>
        </p:txBody>
      </p:sp>
    </p:spTree>
    <p:extLst>
      <p:ext uri="{BB962C8B-B14F-4D97-AF65-F5344CB8AC3E}">
        <p14:creationId xmlns:p14="http://schemas.microsoft.com/office/powerpoint/2010/main" val="1156324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highlight>
                  <a:srgbClr val="00FF00"/>
                </a:highlight>
              </a:rPr>
              <a:t>Expiration</a:t>
            </a:r>
          </a:p>
        </p:txBody>
      </p:sp>
      <p:sp>
        <p:nvSpPr>
          <p:cNvPr id="3" name="Symbol zastępczy zawartości 2"/>
          <p:cNvSpPr>
            <a:spLocks noGrp="1"/>
          </p:cNvSpPr>
          <p:nvPr>
            <p:ph idx="1"/>
          </p:nvPr>
        </p:nvSpPr>
        <p:spPr>
          <a:xfrm>
            <a:off x="457200" y="1628800"/>
            <a:ext cx="8229600" cy="4525963"/>
          </a:xfrm>
        </p:spPr>
        <p:txBody>
          <a:bodyPr/>
          <a:lstStyle/>
          <a:p>
            <a:pPr>
              <a:buNone/>
            </a:pPr>
            <a:r>
              <a:rPr lang="pl-PL" dirty="0"/>
              <a:t>    </a:t>
            </a:r>
            <a:r>
              <a:rPr lang="en-US" dirty="0"/>
              <a:t>Subject to exceptions provided for in this Act the author's </a:t>
            </a:r>
            <a:r>
              <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economic rights </a:t>
            </a:r>
            <a:r>
              <a:rPr lang="en-US" dirty="0"/>
              <a:t>shall expire </a:t>
            </a:r>
          </a:p>
          <a:p>
            <a:pPr>
              <a:buNone/>
            </a:pPr>
            <a:r>
              <a:rPr lang="pl-PL" dirty="0"/>
              <a:t>     </a:t>
            </a:r>
            <a:r>
              <a:rPr lang="en-US" dirty="0"/>
              <a:t>after the lapse of</a:t>
            </a:r>
            <a:r>
              <a:rPr lang="pl-PL" dirty="0"/>
              <a:t> [</a:t>
            </a:r>
            <a:r>
              <a:rPr lang="pl-PL" b="1" dirty="0">
                <a:solidFill>
                  <a:srgbClr val="0070C0"/>
                </a:solidFill>
              </a:rPr>
              <a:t>full</a:t>
            </a:r>
            <a:r>
              <a:rPr lang="pl-PL" dirty="0"/>
              <a:t>]</a:t>
            </a:r>
            <a:r>
              <a:rPr lang="en-US" dirty="0"/>
              <a:t> </a:t>
            </a:r>
            <a:r>
              <a:rPr lang="en-US" b="1" u="sng" dirty="0">
                <a:solidFill>
                  <a:srgbClr val="FF0000"/>
                </a:solidFill>
                <a:effectLst>
                  <a:outerShdw blurRad="38100" dist="38100" dir="2700000" algn="tl">
                    <a:srgbClr val="000000">
                      <a:alpha val="43137"/>
                    </a:srgbClr>
                  </a:outerShdw>
                </a:effectLst>
                <a:highlight>
                  <a:srgbClr val="00FFFF"/>
                </a:highlight>
                <a:latin typeface="Arial Black" panose="020B0A04020102020204" pitchFamily="34" charset="0"/>
              </a:rPr>
              <a:t>seventy years</a:t>
            </a:r>
            <a:r>
              <a:rPr lang="en-US" dirty="0"/>
              <a:t>: </a:t>
            </a:r>
            <a:endParaRPr lang="pl-PL" dirty="0"/>
          </a:p>
          <a:p>
            <a:r>
              <a:rPr lang="en-US" dirty="0"/>
              <a:t>1)   from   the  </a:t>
            </a:r>
            <a:r>
              <a:rPr lang="en-US" b="1" dirty="0">
                <a:solidFill>
                  <a:srgbClr val="FF0000"/>
                </a:solidFill>
                <a:effectLst>
                  <a:outerShdw blurRad="38100" dist="38100" dir="2700000" algn="tl">
                    <a:srgbClr val="000000">
                      <a:alpha val="43137"/>
                    </a:srgbClr>
                  </a:outerShdw>
                </a:effectLst>
              </a:rPr>
              <a:t>death   of the   author</a:t>
            </a:r>
            <a:r>
              <a:rPr lang="en-US" dirty="0"/>
              <a:t>,  and   in   case  of   joint  works  -  from   the  death   of the   coauthor   who   has survived the others; </a:t>
            </a:r>
            <a:endParaRPr lang="pl-PL"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Expiration</a:t>
            </a:r>
          </a:p>
        </p:txBody>
      </p:sp>
      <p:sp>
        <p:nvSpPr>
          <p:cNvPr id="3" name="Symbol zastępczy zawartości 2"/>
          <p:cNvSpPr>
            <a:spLocks noGrp="1"/>
          </p:cNvSpPr>
          <p:nvPr>
            <p:ph idx="1"/>
          </p:nvPr>
        </p:nvSpPr>
        <p:spPr/>
        <p:txBody>
          <a:bodyPr/>
          <a:lstStyle/>
          <a:p>
            <a:pPr marL="514350" indent="-514350">
              <a:buAutoNum type="arabicParenR" startAt="2"/>
            </a:pPr>
            <a:r>
              <a:rPr lang="en-US" dirty="0">
                <a:effectLst>
                  <a:outerShdw blurRad="38100" dist="38100" dir="2700000" algn="tl">
                    <a:srgbClr val="000000">
                      <a:alpha val="43137"/>
                    </a:srgbClr>
                  </a:outerShdw>
                </a:effectLst>
              </a:rPr>
              <a:t>in   the   case   of  a   piece  of  work   the   </a:t>
            </a:r>
            <a:r>
              <a:rPr lang="en-US" b="1" dirty="0">
                <a:solidFill>
                  <a:srgbClr val="FF0000"/>
                </a:solidFill>
                <a:effectLst>
                  <a:outerShdw blurRad="38100" dist="38100" dir="2700000" algn="tl">
                    <a:srgbClr val="000000">
                      <a:alpha val="43137"/>
                    </a:srgbClr>
                  </a:outerShdw>
                </a:effectLst>
              </a:rPr>
              <a:t>author   of   which  is   </a:t>
            </a:r>
            <a:r>
              <a:rPr lang="en-US" b="1" dirty="0">
                <a:solidFill>
                  <a:srgbClr val="FF0000"/>
                </a:solidFill>
                <a:effectLst>
                  <a:outerShdw blurRad="38100" dist="38100" dir="2700000" algn="tl">
                    <a:srgbClr val="000000">
                      <a:alpha val="43137"/>
                    </a:srgbClr>
                  </a:outerShdw>
                </a:effectLst>
                <a:highlight>
                  <a:srgbClr val="00FF00"/>
                </a:highlight>
              </a:rPr>
              <a:t>not   known    </a:t>
            </a:r>
            <a:r>
              <a:rPr lang="en-US" dirty="0">
                <a:effectLst>
                  <a:outerShdw blurRad="38100" dist="38100" dir="2700000" algn="tl">
                    <a:srgbClr val="000000">
                      <a:alpha val="43137"/>
                    </a:srgbClr>
                  </a:outerShdw>
                </a:effectLst>
              </a:rPr>
              <a:t>-   from   the   date   of  the   </a:t>
            </a:r>
            <a:r>
              <a:rPr lang="en-US" b="1" dirty="0">
                <a:solidFill>
                  <a:srgbClr val="FF0000"/>
                </a:solidFill>
                <a:effectLst>
                  <a:outerShdw blurRad="38100" dist="38100" dir="2700000" algn="tl">
                    <a:srgbClr val="000000">
                      <a:alpha val="43137"/>
                    </a:srgbClr>
                  </a:outerShdw>
                </a:effectLst>
                <a:highlight>
                  <a:srgbClr val="FFFF00"/>
                </a:highlight>
              </a:rPr>
              <a:t>first dissemination</a:t>
            </a:r>
            <a:r>
              <a:rPr lang="en-US" dirty="0">
                <a:effectLst>
                  <a:outerShdw blurRad="38100" dist="38100" dir="2700000" algn="tl">
                    <a:srgbClr val="000000">
                      <a:alpha val="43137"/>
                    </a:srgbClr>
                  </a:outerShdw>
                </a:effectLst>
              </a:rPr>
              <a:t>,</a:t>
            </a:r>
            <a:endParaRPr lang="pl-PL" dirty="0">
              <a:effectLst>
                <a:outerShdw blurRad="38100" dist="38100" dir="2700000" algn="tl">
                  <a:srgbClr val="000000">
                    <a:alpha val="43137"/>
                  </a:srgbClr>
                </a:outerShdw>
              </a:effectLst>
            </a:endParaRPr>
          </a:p>
          <a:p>
            <a:pPr marL="0" indent="0">
              <a:buNone/>
            </a:pPr>
            <a:r>
              <a:rPr lang="pl-PL"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unless the </a:t>
            </a:r>
            <a:r>
              <a:rPr lang="pl-PL" b="1" dirty="0">
                <a:solidFill>
                  <a:srgbClr val="FF0000"/>
                </a:solidFill>
                <a:effectLst>
                  <a:outerShdw blurRad="38100" dist="38100" dir="2700000" algn="tl">
                    <a:srgbClr val="000000">
                      <a:alpha val="43137"/>
                    </a:srgbClr>
                  </a:outerShdw>
                </a:effectLst>
              </a:rPr>
              <a:t>pen name</a:t>
            </a:r>
            <a:r>
              <a:rPr lang="en-US" b="1" dirty="0">
                <a:solidFill>
                  <a:srgbClr val="FF0000"/>
                </a:solidFill>
                <a:effectLst>
                  <a:outerShdw blurRad="38100" dist="38100" dir="2700000" algn="tl">
                    <a:srgbClr val="000000">
                      <a:alpha val="43137"/>
                    </a:srgbClr>
                  </a:outerShdw>
                </a:effectLst>
              </a:rPr>
              <a:t> does not raise any </a:t>
            </a:r>
            <a:r>
              <a:rPr lang="pl-PL" b="1" dirty="0">
                <a:solidFill>
                  <a:srgbClr val="FF000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doubts</a:t>
            </a:r>
            <a:r>
              <a:rPr lang="en-US" dirty="0">
                <a:effectLst>
                  <a:outerShdw blurRad="38100" dist="38100" dir="2700000" algn="tl">
                    <a:srgbClr val="000000">
                      <a:alpha val="43137"/>
                    </a:srgbClr>
                  </a:outerShdw>
                </a:effectLst>
              </a:rPr>
              <a:t> as to author's identity</a:t>
            </a:r>
            <a:r>
              <a:rPr lang="pl-PL" dirty="0">
                <a:effectLst>
                  <a:outerShdw blurRad="38100" dist="38100" dir="2700000" algn="tl">
                    <a:srgbClr val="000000">
                      <a:alpha val="43137"/>
                    </a:srgbClr>
                  </a:outerShdw>
                </a:effectLst>
              </a:rPr>
              <a:t>,</a:t>
            </a:r>
            <a:r>
              <a:rPr lang="en-US" dirty="0">
                <a:effectLst>
                  <a:outerShdw blurRad="38100" dist="38100" dir="2700000" algn="tl">
                    <a:srgbClr val="000000">
                      <a:alpha val="43137"/>
                    </a:srgbClr>
                  </a:outerShdw>
                </a:effectLst>
              </a:rPr>
              <a:t> or if the </a:t>
            </a:r>
            <a:r>
              <a:rPr lang="pl-PL"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author disclosed his/her identity</a:t>
            </a:r>
            <a:r>
              <a:rPr lang="en-US" dirty="0"/>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Expiration</a:t>
            </a:r>
          </a:p>
        </p:txBody>
      </p:sp>
      <p:sp>
        <p:nvSpPr>
          <p:cNvPr id="3" name="Symbol zastępczy zawartości 2"/>
          <p:cNvSpPr>
            <a:spLocks noGrp="1"/>
          </p:cNvSpPr>
          <p:nvPr>
            <p:ph idx="1"/>
          </p:nvPr>
        </p:nvSpPr>
        <p:spPr/>
        <p:txBody>
          <a:bodyPr/>
          <a:lstStyle/>
          <a:p>
            <a:pPr>
              <a:buNone/>
            </a:pPr>
            <a:r>
              <a:rPr lang="en-US" dirty="0"/>
              <a:t>3)   </a:t>
            </a:r>
            <a:r>
              <a:rPr lang="pl-PL" dirty="0" err="1">
                <a:effectLst>
                  <a:outerShdw blurRad="38100" dist="38100" dir="2700000" algn="tl">
                    <a:srgbClr val="000000">
                      <a:alpha val="43137"/>
                    </a:srgbClr>
                  </a:outerShdw>
                </a:effectLst>
              </a:rPr>
              <a:t>If</a:t>
            </a:r>
            <a:r>
              <a:rPr lang="en-US" dirty="0">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economic rights </a:t>
            </a:r>
            <a:r>
              <a:rPr lang="en-US" dirty="0">
                <a:effectLst>
                  <a:outerShdw blurRad="38100" dist="38100" dir="2700000" algn="tl">
                    <a:srgbClr val="000000">
                      <a:alpha val="43137"/>
                    </a:srgbClr>
                  </a:outerShdw>
                </a:effectLst>
              </a:rPr>
              <a:t>are, under statutory law, enjoyed by a </a:t>
            </a:r>
            <a:r>
              <a:rPr lang="en-US" b="1" dirty="0">
                <a:solidFill>
                  <a:srgbClr val="FF0000"/>
                </a:solidFill>
                <a:effectLst>
                  <a:outerShdw blurRad="38100" dist="38100" dir="2700000" algn="tl">
                    <a:srgbClr val="000000">
                      <a:alpha val="43137"/>
                    </a:srgbClr>
                  </a:outerShdw>
                </a:effectLst>
                <a:highlight>
                  <a:srgbClr val="FFFF00"/>
                </a:highlight>
              </a:rPr>
              <a:t>person other than the author</a:t>
            </a:r>
            <a:r>
              <a:rPr lang="pl-PL" dirty="0">
                <a:effectLst>
                  <a:outerShdw blurRad="38100" dist="38100" dir="2700000" algn="tl">
                    <a:srgbClr val="000000">
                      <a:alpha val="43137"/>
                    </a:srgbClr>
                  </a:outerShdw>
                </a:effectLst>
                <a:highlight>
                  <a:srgbClr val="FFFF00"/>
                </a:highlight>
              </a:rPr>
              <a:t>,</a:t>
            </a:r>
            <a:r>
              <a:rPr lang="en-US" dirty="0">
                <a:effectLst>
                  <a:outerShdw blurRad="38100" dist="38100" dir="2700000" algn="tl">
                    <a:srgbClr val="000000">
                      <a:alpha val="43137"/>
                    </a:srgbClr>
                  </a:outerShdw>
                </a:effectLst>
              </a:rPr>
              <a:t> from the </a:t>
            </a:r>
            <a:r>
              <a:rPr lang="en-US" b="1" dirty="0">
                <a:solidFill>
                  <a:srgbClr val="FF0000"/>
                </a:solidFill>
                <a:effectLst>
                  <a:outerShdw blurRad="38100" dist="38100" dir="2700000" algn="tl">
                    <a:srgbClr val="000000">
                      <a:alpha val="43137"/>
                    </a:srgbClr>
                  </a:outerShdw>
                </a:effectLst>
              </a:rPr>
              <a:t>date of dissemination </a:t>
            </a:r>
            <a:r>
              <a:rPr lang="en-US" dirty="0">
                <a:effectLst>
                  <a:outerShdw blurRad="38100" dist="38100" dir="2700000" algn="tl">
                    <a:srgbClr val="000000">
                      <a:alpha val="43137"/>
                    </a:srgbClr>
                  </a:outerShdw>
                </a:effectLst>
              </a:rPr>
              <a:t>of the work</a:t>
            </a:r>
            <a:r>
              <a:rPr lang="pl-PL" dirty="0">
                <a:effectLst>
                  <a:outerShdw blurRad="38100" dist="38100" dir="2700000" algn="tl">
                    <a:srgbClr val="000000">
                      <a:alpha val="43137"/>
                    </a:srgbClr>
                  </a:outerShdw>
                </a:effectLst>
              </a:rPr>
              <a:t>,</a:t>
            </a:r>
            <a:r>
              <a:rPr lang="en-US" dirty="0">
                <a:effectLst>
                  <a:outerShdw blurRad="38100" dist="38100" dir="2700000" algn="tl">
                    <a:srgbClr val="000000">
                      <a:alpha val="43137"/>
                    </a:srgbClr>
                  </a:outerShdw>
                </a:effectLst>
              </a:rPr>
              <a:t> and if the work has not been disseminated from the </a:t>
            </a:r>
            <a:r>
              <a:rPr lang="en-US" b="1" dirty="0">
                <a:solidFill>
                  <a:srgbClr val="FF0000"/>
                </a:solidFill>
                <a:effectLst>
                  <a:outerShdw blurRad="38100" dist="38100" dir="2700000" algn="tl">
                    <a:srgbClr val="000000">
                      <a:alpha val="43137"/>
                    </a:srgbClr>
                  </a:outerShdw>
                </a:effectLst>
              </a:rPr>
              <a:t>date of establishment </a:t>
            </a:r>
            <a:r>
              <a:rPr lang="en-US" dirty="0">
                <a:effectLst>
                  <a:outerShdw blurRad="38100" dist="38100" dir="2700000" algn="tl">
                    <a:srgbClr val="000000">
                      <a:alpha val="43137"/>
                    </a:srgbClr>
                  </a:outerShdw>
                </a:effectLst>
              </a:rPr>
              <a:t>thereof; </a:t>
            </a:r>
          </a:p>
          <a:p>
            <a:pPr>
              <a:buNone/>
            </a:pPr>
            <a:endParaRPr lang="pl-PL"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Expiration</a:t>
            </a:r>
          </a:p>
        </p:txBody>
      </p:sp>
      <p:sp>
        <p:nvSpPr>
          <p:cNvPr id="3" name="Symbol zastępczy zawartości 2"/>
          <p:cNvSpPr>
            <a:spLocks noGrp="1"/>
          </p:cNvSpPr>
          <p:nvPr>
            <p:ph idx="1"/>
          </p:nvPr>
        </p:nvSpPr>
        <p:spPr/>
        <p:txBody>
          <a:bodyPr/>
          <a:lstStyle/>
          <a:p>
            <a:pPr>
              <a:buNone/>
            </a:pPr>
            <a:r>
              <a:rPr lang="en-US" dirty="0"/>
              <a:t>4) </a:t>
            </a:r>
            <a:r>
              <a:rPr lang="en-US" dirty="0">
                <a:effectLst>
                  <a:outerShdw blurRad="38100" dist="38100" dir="2700000" algn="tl">
                    <a:srgbClr val="000000">
                      <a:alpha val="43137"/>
                    </a:srgbClr>
                  </a:outerShdw>
                </a:effectLst>
              </a:rPr>
              <a:t>in the case of an </a:t>
            </a:r>
            <a:r>
              <a:rPr lang="en-US" b="1" dirty="0">
                <a:solidFill>
                  <a:srgbClr val="FF0000"/>
                </a:solidFill>
                <a:effectLst>
                  <a:outerShdw blurRad="38100" dist="38100" dir="2700000" algn="tl">
                    <a:srgbClr val="000000">
                      <a:alpha val="43137"/>
                    </a:srgbClr>
                  </a:outerShdw>
                </a:effectLst>
                <a:highlight>
                  <a:srgbClr val="00FF00"/>
                </a:highlight>
              </a:rPr>
              <a:t>audio-visual work</a:t>
            </a:r>
            <a:r>
              <a:rPr lang="pl-PL" b="1" dirty="0">
                <a:solidFill>
                  <a:srgbClr val="FF0000"/>
                </a:solidFill>
                <a:effectLst>
                  <a:outerShdw blurRad="38100" dist="38100" dir="2700000" algn="tl">
                    <a:srgbClr val="000000">
                      <a:alpha val="43137"/>
                    </a:srgbClr>
                  </a:outerShdw>
                </a:effectLst>
              </a:rPr>
              <a:t>,</a:t>
            </a:r>
            <a:r>
              <a:rPr lang="en-US" dirty="0">
                <a:effectLst>
                  <a:outerShdw blurRad="38100" dist="38100" dir="2700000" algn="tl">
                    <a:srgbClr val="000000">
                      <a:alpha val="43137"/>
                    </a:srgbClr>
                  </a:outerShdw>
                </a:effectLst>
              </a:rPr>
              <a:t> from the </a:t>
            </a:r>
            <a:r>
              <a:rPr lang="en-US" b="1" dirty="0">
                <a:solidFill>
                  <a:srgbClr val="FF0000"/>
                </a:solidFill>
                <a:effectLst>
                  <a:outerShdw blurRad="38100" dist="38100" dir="2700000" algn="tl">
                    <a:srgbClr val="000000">
                      <a:alpha val="43137"/>
                    </a:srgbClr>
                  </a:outerShdw>
                </a:effectLst>
                <a:highlight>
                  <a:srgbClr val="FFFF00"/>
                </a:highlight>
              </a:rPr>
              <a:t>death of the last </a:t>
            </a:r>
            <a:r>
              <a:rPr lang="en-US" b="1" dirty="0">
                <a:solidFill>
                  <a:srgbClr val="FF0000"/>
                </a:solidFill>
                <a:effectLst>
                  <a:outerShdw blurRad="38100" dist="38100" dir="2700000" algn="tl">
                    <a:srgbClr val="000000">
                      <a:alpha val="43137"/>
                    </a:srgbClr>
                  </a:outerShdw>
                </a:effectLst>
              </a:rPr>
              <a:t>of the following</a:t>
            </a:r>
            <a:r>
              <a:rPr lang="en-US" dirty="0">
                <a:effectLst>
                  <a:outerShdw blurRad="38100" dist="38100" dir="2700000" algn="tl">
                    <a:srgbClr val="000000">
                      <a:alpha val="43137"/>
                    </a:srgbClr>
                  </a:outerShdw>
                </a:effectLst>
              </a:rPr>
              <a:t>: the </a:t>
            </a:r>
            <a:r>
              <a:rPr lang="pl-PL" dirty="0">
                <a:effectLst>
                  <a:outerShdw blurRad="38100" dist="38100" dir="2700000" algn="tl">
                    <a:srgbClr val="000000">
                      <a:alpha val="43137"/>
                    </a:srgbClr>
                  </a:outerShdw>
                </a:effectLst>
              </a:rPr>
              <a:t>principal</a:t>
            </a:r>
            <a:r>
              <a:rPr lang="en-US" dirty="0">
                <a:effectLst>
                  <a:outerShdw blurRad="38100" dist="38100" dir="2700000" algn="tl">
                    <a:srgbClr val="000000">
                      <a:alpha val="43137"/>
                    </a:srgbClr>
                  </a:outerShdw>
                </a:effectLst>
              </a:rPr>
              <a:t> director, the author of </a:t>
            </a:r>
            <a:r>
              <a:rPr lang="pl-PL" dirty="0">
                <a:effectLst>
                  <a:outerShdw blurRad="38100" dist="38100" dir="2700000" algn="tl">
                    <a:srgbClr val="000000">
                      <a:alpha val="43137"/>
                    </a:srgbClr>
                  </a:outerShdw>
                </a:effectLst>
              </a:rPr>
              <a:t>the </a:t>
            </a:r>
            <a:r>
              <a:rPr lang="en-US" dirty="0">
                <a:effectLst>
                  <a:outerShdw blurRad="38100" dist="38100" dir="2700000" algn="tl">
                    <a:srgbClr val="000000">
                      <a:alpha val="43137"/>
                    </a:srgbClr>
                  </a:outerShdw>
                </a:effectLst>
              </a:rPr>
              <a:t>screenplay, </a:t>
            </a:r>
            <a:r>
              <a:rPr lang="pl-PL" dirty="0">
                <a:effectLst>
                  <a:outerShdw blurRad="38100" dist="38100" dir="2700000" algn="tl">
                    <a:srgbClr val="000000">
                      <a:alpha val="43137"/>
                    </a:srgbClr>
                  </a:outerShdw>
                </a:effectLst>
              </a:rPr>
              <a:t>the </a:t>
            </a:r>
            <a:r>
              <a:rPr lang="en-US" dirty="0">
                <a:effectLst>
                  <a:outerShdw blurRad="38100" dist="38100" dir="2700000" algn="tl">
                    <a:srgbClr val="000000">
                      <a:alpha val="43137"/>
                    </a:srgbClr>
                  </a:outerShdw>
                </a:effectLst>
              </a:rPr>
              <a:t>author of </a:t>
            </a:r>
            <a:r>
              <a:rPr lang="pl-PL" dirty="0">
                <a:effectLst>
                  <a:outerShdw blurRad="38100" dist="38100" dir="2700000" algn="tl">
                    <a:srgbClr val="000000">
                      <a:alpha val="43137"/>
                    </a:srgbClr>
                  </a:outerShdw>
                </a:effectLst>
              </a:rPr>
              <a:t>the </a:t>
            </a:r>
            <a:r>
              <a:rPr lang="en-US" dirty="0">
                <a:effectLst>
                  <a:outerShdw blurRad="38100" dist="38100" dir="2700000" algn="tl">
                    <a:srgbClr val="000000">
                      <a:alpha val="43137"/>
                    </a:srgbClr>
                  </a:outerShdw>
                </a:effectLst>
              </a:rPr>
              <a:t>dialogues, </a:t>
            </a:r>
            <a:r>
              <a:rPr lang="pl-PL" dirty="0">
                <a:effectLst>
                  <a:outerShdw blurRad="38100" dist="38100" dir="2700000" algn="tl">
                    <a:srgbClr val="000000">
                      <a:alpha val="43137"/>
                    </a:srgbClr>
                  </a:outerShdw>
                </a:effectLst>
              </a:rPr>
              <a:t>the </a:t>
            </a:r>
            <a:r>
              <a:rPr lang="en-US" dirty="0">
                <a:effectLst>
                  <a:outerShdw blurRad="38100" dist="38100" dir="2700000" algn="tl">
                    <a:srgbClr val="000000">
                      <a:alpha val="43137"/>
                    </a:srgbClr>
                  </a:outerShdw>
                </a:effectLst>
              </a:rPr>
              <a:t>composer of music written for the audio-visual work</a:t>
            </a:r>
            <a:endParaRPr lang="pl-PL" dirty="0">
              <a:effectLst>
                <a:outerShdw blurRad="38100" dist="38100" dir="2700000" algn="tl">
                  <a:srgbClr val="000000">
                    <a:alpha val="43137"/>
                  </a:srgbClr>
                </a:outerShdw>
              </a:effectLst>
            </a:endParaRPr>
          </a:p>
          <a:p>
            <a:pPr>
              <a:buNone/>
            </a:pPr>
            <a:endParaRPr lang="pl-PL"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highlight>
                  <a:srgbClr val="FFFF00"/>
                </a:highlight>
              </a:rPr>
              <a:t>Transfer of rights</a:t>
            </a:r>
          </a:p>
        </p:txBody>
      </p:sp>
      <p:sp>
        <p:nvSpPr>
          <p:cNvPr id="3" name="Symbol zastępczy zawartości 2"/>
          <p:cNvSpPr>
            <a:spLocks noGrp="1"/>
          </p:cNvSpPr>
          <p:nvPr>
            <p:ph idx="1"/>
          </p:nvPr>
        </p:nvSpPr>
        <p:spPr/>
        <p:txBody>
          <a:bodyPr/>
          <a:lstStyle/>
          <a:p>
            <a:pPr>
              <a:buNone/>
            </a:pPr>
            <a:r>
              <a:rPr lang="en-US" dirty="0">
                <a:solidFill>
                  <a:srgbClr val="002060"/>
                </a:solidFill>
                <a:effectLst>
                  <a:outerShdw blurRad="38100" dist="38100" dir="2700000" algn="tl">
                    <a:srgbClr val="000000">
                      <a:alpha val="43137"/>
                    </a:srgbClr>
                  </a:outerShdw>
                </a:effectLst>
              </a:rPr>
              <a:t>1. Unless the Act states otherwise: </a:t>
            </a:r>
          </a:p>
          <a:p>
            <a:pPr>
              <a:buNone/>
            </a:pPr>
            <a:r>
              <a:rPr lang="en-US" dirty="0">
                <a:solidFill>
                  <a:srgbClr val="002060"/>
                </a:solidFill>
                <a:effectLst>
                  <a:outerShdw blurRad="38100" dist="38100" dir="2700000" algn="tl">
                    <a:srgbClr val="000000">
                      <a:alpha val="43137"/>
                    </a:srgbClr>
                  </a:outerShdw>
                </a:effectLst>
              </a:rPr>
              <a:t>1)   the author's economic rights may </a:t>
            </a:r>
            <a:r>
              <a:rPr lang="pl-PL" b="1" dirty="0">
                <a:solidFill>
                  <a:srgbClr val="FF0000"/>
                </a:solidFill>
                <a:effectLst>
                  <a:outerShdw blurRad="38100" dist="38100" dir="2700000" algn="tl">
                    <a:srgbClr val="000000">
                      <a:alpha val="43137"/>
                    </a:srgbClr>
                  </a:outerShdw>
                </a:effectLst>
                <a:highlight>
                  <a:srgbClr val="FFFF00"/>
                </a:highlight>
              </a:rPr>
              <a:t>transfer</a:t>
            </a:r>
            <a:r>
              <a:rPr lang="pl-PL" dirty="0">
                <a:solidFill>
                  <a:srgbClr val="002060"/>
                </a:solidFill>
                <a:effectLst>
                  <a:outerShdw blurRad="38100" dist="38100" dir="2700000" algn="tl">
                    <a:srgbClr val="000000">
                      <a:alpha val="43137"/>
                    </a:srgbClr>
                  </a:outerShdw>
                </a:effectLst>
              </a:rPr>
              <a:t> </a:t>
            </a:r>
            <a:r>
              <a:rPr lang="pl-PL" b="1" dirty="0">
                <a:solidFill>
                  <a:srgbClr val="002060"/>
                </a:solidFill>
                <a:effectLst>
                  <a:outerShdw blurRad="38100" dist="38100" dir="2700000" algn="tl">
                    <a:srgbClr val="000000">
                      <a:alpha val="43137"/>
                    </a:srgbClr>
                  </a:outerShdw>
                </a:effectLst>
              </a:rPr>
              <a:t>to</a:t>
            </a:r>
            <a:r>
              <a:rPr lang="en-US" dirty="0">
                <a:solidFill>
                  <a:srgbClr val="002060"/>
                </a:solidFill>
                <a:effectLst>
                  <a:outerShdw blurRad="38100" dist="38100" dir="2700000" algn="tl">
                    <a:srgbClr val="000000">
                      <a:alpha val="43137"/>
                    </a:srgbClr>
                  </a:outerShdw>
                </a:effectLst>
              </a:rPr>
              <a:t> other persons through </a:t>
            </a:r>
            <a:r>
              <a:rPr lang="en-US" b="1" dirty="0">
                <a:solidFill>
                  <a:srgbClr val="002060"/>
                </a:solidFill>
                <a:effectLst>
                  <a:outerShdw blurRad="38100" dist="38100" dir="2700000" algn="tl">
                    <a:srgbClr val="000000">
                      <a:alpha val="43137"/>
                    </a:srgbClr>
                  </a:outerShdw>
                </a:effectLst>
                <a:highlight>
                  <a:srgbClr val="FFFF00"/>
                </a:highlight>
              </a:rPr>
              <a:t>inheritance</a:t>
            </a:r>
            <a:r>
              <a:rPr lang="en-US" b="1" dirty="0">
                <a:solidFill>
                  <a:srgbClr val="002060"/>
                </a:solidFill>
                <a:effectLst>
                  <a:outerShdw blurRad="38100" dist="38100" dir="2700000" algn="tl">
                    <a:srgbClr val="000000">
                      <a:alpha val="43137"/>
                    </a:srgbClr>
                  </a:outerShdw>
                </a:effectLst>
              </a:rPr>
              <a:t> or by </a:t>
            </a:r>
            <a:r>
              <a:rPr lang="en-US" b="1" dirty="0">
                <a:solidFill>
                  <a:srgbClr val="002060"/>
                </a:solidFill>
                <a:effectLst>
                  <a:outerShdw blurRad="38100" dist="38100" dir="2700000" algn="tl">
                    <a:srgbClr val="000000">
                      <a:alpha val="43137"/>
                    </a:srgbClr>
                  </a:outerShdw>
                </a:effectLst>
                <a:highlight>
                  <a:srgbClr val="FFFF00"/>
                </a:highlight>
              </a:rPr>
              <a:t>contract, </a:t>
            </a:r>
          </a:p>
          <a:p>
            <a:pPr>
              <a:buNone/>
            </a:pPr>
            <a:r>
              <a:rPr lang="en-US" dirty="0">
                <a:solidFill>
                  <a:srgbClr val="002060"/>
                </a:solidFill>
                <a:effectLst>
                  <a:outerShdw blurRad="38100" dist="38100" dir="2700000" algn="tl">
                    <a:srgbClr val="000000">
                      <a:alpha val="43137"/>
                    </a:srgbClr>
                  </a:outerShdw>
                </a:effectLst>
              </a:rPr>
              <a:t>2)</a:t>
            </a:r>
            <a:r>
              <a:rPr lang="pl-PL" dirty="0">
                <a:solidFill>
                  <a:srgbClr val="002060"/>
                </a:solidFill>
                <a:effectLst>
                  <a:outerShdw blurRad="38100" dist="38100" dir="2700000" algn="tl">
                    <a:srgbClr val="000000">
                      <a:alpha val="43137"/>
                    </a:srgbClr>
                  </a:outerShdw>
                </a:effectLst>
              </a:rPr>
              <a:t> The</a:t>
            </a:r>
            <a:r>
              <a:rPr lang="en-US" dirty="0">
                <a:solidFill>
                  <a:srgbClr val="002060"/>
                </a:solidFill>
                <a:effectLst>
                  <a:outerShdw blurRad="38100" dist="38100" dir="2700000" algn="tl">
                    <a:srgbClr val="000000">
                      <a:alpha val="43137"/>
                    </a:srgbClr>
                  </a:outerShdw>
                </a:effectLst>
              </a:rPr>
              <a:t> person </a:t>
            </a:r>
            <a:r>
              <a:rPr lang="en-US" b="1" dirty="0">
                <a:solidFill>
                  <a:srgbClr val="002060"/>
                </a:solidFill>
                <a:effectLst>
                  <a:outerShdw blurRad="38100" dist="38100" dir="2700000" algn="tl">
                    <a:srgbClr val="000000">
                      <a:alpha val="43137"/>
                    </a:srgbClr>
                  </a:outerShdw>
                </a:effectLst>
              </a:rPr>
              <a:t>who acquires </a:t>
            </a:r>
            <a:r>
              <a:rPr lang="en-US" dirty="0">
                <a:solidFill>
                  <a:srgbClr val="002060"/>
                </a:solidFill>
                <a:effectLst>
                  <a:outerShdw blurRad="38100" dist="38100" dir="2700000" algn="tl">
                    <a:srgbClr val="000000">
                      <a:alpha val="43137"/>
                    </a:srgbClr>
                  </a:outerShdw>
                </a:effectLst>
              </a:rPr>
              <a:t>the author's economic rights </a:t>
            </a:r>
            <a:r>
              <a:rPr lang="en-US" b="1" dirty="0">
                <a:solidFill>
                  <a:srgbClr val="002060"/>
                </a:solidFill>
                <a:effectLst>
                  <a:outerShdw blurRad="38100" dist="38100" dir="2700000" algn="tl">
                    <a:srgbClr val="000000">
                      <a:alpha val="43137"/>
                    </a:srgbClr>
                  </a:outerShdw>
                </a:effectLst>
              </a:rPr>
              <a:t>may transfer them to other persons, unless</a:t>
            </a:r>
            <a:r>
              <a:rPr lang="en-US" dirty="0">
                <a:solidFill>
                  <a:srgbClr val="002060"/>
                </a:solidFill>
                <a:effectLst>
                  <a:outerShdw blurRad="38100" dist="38100" dir="2700000" algn="tl">
                    <a:srgbClr val="000000">
                      <a:alpha val="43137"/>
                    </a:srgbClr>
                  </a:outerShdw>
                </a:effectLst>
              </a:rPr>
              <a:t> the  contract stipulates otherwise</a:t>
            </a:r>
          </a:p>
          <a:p>
            <a:pPr>
              <a:buNone/>
            </a:pPr>
            <a:r>
              <a:rPr lang="en-US" dirty="0"/>
              <a:t>.</a:t>
            </a:r>
            <a:endParaRPr lang="pl-PL"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Transfer</a:t>
            </a:r>
          </a:p>
        </p:txBody>
      </p:sp>
      <p:sp>
        <p:nvSpPr>
          <p:cNvPr id="3" name="Symbol zastępczy zawartości 2"/>
          <p:cNvSpPr>
            <a:spLocks noGrp="1"/>
          </p:cNvSpPr>
          <p:nvPr>
            <p:ph idx="1"/>
          </p:nvPr>
        </p:nvSpPr>
        <p:spPr>
          <a:xfrm>
            <a:off x="457200" y="1600200"/>
            <a:ext cx="8229600" cy="4983162"/>
          </a:xfrm>
        </p:spPr>
        <p:txBody>
          <a:bodyPr/>
          <a:lstStyle/>
          <a:p>
            <a:pPr>
              <a:buNone/>
            </a:pPr>
            <a:r>
              <a:rPr lang="en-US" dirty="0"/>
              <a:t>2. A contract for the transfer of the author's economic rights or the use of the work, called „</a:t>
            </a:r>
            <a:r>
              <a:rPr lang="pl-PL" b="1" dirty="0">
                <a:solidFill>
                  <a:srgbClr val="FF0000"/>
                </a:solidFill>
                <a:effectLst>
                  <a:outerShdw blurRad="38100" dist="38100" dir="2700000" algn="tl">
                    <a:srgbClr val="000000">
                      <a:alpha val="43137"/>
                    </a:srgbClr>
                  </a:outerShdw>
                </a:effectLst>
                <a:highlight>
                  <a:srgbClr val="FFFF00"/>
                </a:highlight>
              </a:rPr>
              <a:t>a</a:t>
            </a:r>
            <a:r>
              <a:rPr lang="en-US" b="1" dirty="0">
                <a:solidFill>
                  <a:srgbClr val="FF0000"/>
                </a:solidFill>
                <a:effectLst>
                  <a:outerShdw blurRad="38100" dist="38100" dir="2700000" algn="tl">
                    <a:srgbClr val="000000">
                      <a:alpha val="43137"/>
                    </a:srgbClr>
                  </a:outerShdw>
                </a:effectLst>
                <a:highlight>
                  <a:srgbClr val="FFFF00"/>
                </a:highlight>
              </a:rPr>
              <a:t> licen</a:t>
            </a:r>
            <a:r>
              <a:rPr lang="pl-PL" b="1" dirty="0">
                <a:solidFill>
                  <a:srgbClr val="FF0000"/>
                </a:solidFill>
                <a:effectLst>
                  <a:outerShdw blurRad="38100" dist="38100" dir="2700000" algn="tl">
                    <a:srgbClr val="000000">
                      <a:alpha val="43137"/>
                    </a:srgbClr>
                  </a:outerShdw>
                </a:effectLst>
                <a:highlight>
                  <a:srgbClr val="FFFF00"/>
                </a:highlight>
              </a:rPr>
              <a:t>s</a:t>
            </a:r>
            <a:r>
              <a:rPr lang="en-US" b="1" dirty="0">
                <a:solidFill>
                  <a:srgbClr val="FF0000"/>
                </a:solidFill>
                <a:effectLst>
                  <a:outerShdw blurRad="38100" dist="38100" dir="2700000" algn="tl">
                    <a:srgbClr val="000000">
                      <a:alpha val="43137"/>
                    </a:srgbClr>
                  </a:outerShdw>
                </a:effectLst>
                <a:highlight>
                  <a:srgbClr val="FFFF00"/>
                </a:highlight>
              </a:rPr>
              <a:t>e</a:t>
            </a:r>
            <a:r>
              <a:rPr lang="en-US" b="1" dirty="0"/>
              <a:t>"</a:t>
            </a:r>
            <a:r>
              <a:rPr lang="en-US" dirty="0"/>
              <a:t>, shall cover the </a:t>
            </a:r>
            <a:r>
              <a:rPr lang="en-US" b="1" dirty="0">
                <a:solidFill>
                  <a:srgbClr val="FF0000"/>
                </a:solidFill>
                <a:effectLst>
                  <a:outerShdw blurRad="38100" dist="38100" dir="2700000" algn="tl">
                    <a:srgbClr val="000000">
                      <a:alpha val="43137"/>
                    </a:srgbClr>
                  </a:outerShdw>
                </a:effectLst>
                <a:highlight>
                  <a:srgbClr val="00FF00"/>
                </a:highlight>
              </a:rPr>
              <a:t>fields</a:t>
            </a:r>
            <a:r>
              <a:rPr lang="en-US" dirty="0">
                <a:highlight>
                  <a:srgbClr val="00FF00"/>
                </a:highlight>
              </a:rPr>
              <a:t> </a:t>
            </a:r>
            <a:r>
              <a:rPr lang="en-US" dirty="0"/>
              <a:t>of exploitation </a:t>
            </a:r>
            <a:r>
              <a:rPr lang="en-US" b="1" dirty="0">
                <a:solidFill>
                  <a:srgbClr val="FF0000"/>
                </a:solidFill>
                <a:effectLst>
                  <a:outerShdw blurRad="38100" dist="38100" dir="2700000" algn="tl">
                    <a:srgbClr val="000000">
                      <a:alpha val="43137"/>
                    </a:srgbClr>
                  </a:outerShdw>
                </a:effectLst>
                <a:highlight>
                  <a:srgbClr val="FFFF00"/>
                </a:highlight>
              </a:rPr>
              <a:t>expressly specified </a:t>
            </a:r>
            <a:r>
              <a:rPr lang="en-US" dirty="0"/>
              <a:t>therein</a:t>
            </a:r>
            <a:endParaRPr lang="pl-PL" dirty="0"/>
          </a:p>
          <a:p>
            <a:r>
              <a:rPr lang="pl-PL" b="1" dirty="0">
                <a:solidFill>
                  <a:srgbClr val="FF0000"/>
                </a:solidFill>
                <a:effectLst>
                  <a:outerShdw blurRad="38100" dist="38100" dir="2700000" algn="tl">
                    <a:srgbClr val="000000">
                      <a:alpha val="43137"/>
                    </a:srgbClr>
                  </a:outerShdw>
                </a:effectLst>
              </a:rPr>
              <a:t>Only</a:t>
            </a:r>
            <a:r>
              <a:rPr lang="pl-PL" dirty="0"/>
              <a:t> the </a:t>
            </a:r>
            <a:r>
              <a:rPr lang="pl-PL" b="1" dirty="0">
                <a:solidFill>
                  <a:srgbClr val="FF0000"/>
                </a:solidFill>
                <a:effectLst>
                  <a:outerShdw blurRad="38100" dist="38100" dir="2700000" algn="tl">
                    <a:srgbClr val="000000">
                      <a:alpha val="43137"/>
                    </a:srgbClr>
                  </a:outerShdw>
                </a:effectLst>
                <a:highlight>
                  <a:srgbClr val="00FF00"/>
                </a:highlight>
              </a:rPr>
              <a:t>fields known </a:t>
            </a:r>
            <a:r>
              <a:rPr lang="pl-PL" dirty="0"/>
              <a:t>at the time of concluding the contract + must </a:t>
            </a:r>
            <a:r>
              <a:rPr lang="pl-PL" dirty="0" err="1"/>
              <a:t>consent</a:t>
            </a:r>
            <a:r>
              <a:rPr lang="pl-PL" dirty="0"/>
              <a:t> to the license when such fields arise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Transfer</a:t>
            </a:r>
          </a:p>
        </p:txBody>
      </p:sp>
      <p:sp>
        <p:nvSpPr>
          <p:cNvPr id="3" name="Symbol zastępczy zawartości 2"/>
          <p:cNvSpPr>
            <a:spLocks noGrp="1"/>
          </p:cNvSpPr>
          <p:nvPr>
            <p:ph idx="1"/>
          </p:nvPr>
        </p:nvSpPr>
        <p:spPr/>
        <p:txBody>
          <a:bodyPr/>
          <a:lstStyle/>
          <a:p>
            <a:r>
              <a:rPr lang="en-US" sz="2800" dirty="0">
                <a:effectLst>
                  <a:outerShdw blurRad="38100" dist="38100" dir="2700000" algn="tl">
                    <a:srgbClr val="000000">
                      <a:alpha val="43137"/>
                    </a:srgbClr>
                  </a:outerShdw>
                </a:effectLst>
              </a:rPr>
              <a:t>If the contract </a:t>
            </a:r>
            <a:r>
              <a:rPr lang="en-US" sz="2800" b="1" dirty="0">
                <a:effectLst>
                  <a:outerShdw blurRad="38100" dist="38100" dir="2700000" algn="tl">
                    <a:srgbClr val="000000">
                      <a:alpha val="43137"/>
                    </a:srgbClr>
                  </a:outerShdw>
                </a:effectLst>
              </a:rPr>
              <a:t>does not specify </a:t>
            </a:r>
            <a:r>
              <a:rPr lang="en-US" sz="2800" b="1" dirty="0">
                <a:solidFill>
                  <a:srgbClr val="FF0000"/>
                </a:solidFill>
                <a:effectLst>
                  <a:outerShdw blurRad="38100" dist="38100" dir="2700000" algn="tl">
                    <a:srgbClr val="000000">
                      <a:alpha val="43137"/>
                    </a:srgbClr>
                  </a:outerShdw>
                </a:effectLst>
                <a:highlight>
                  <a:srgbClr val="00FF00"/>
                </a:highlight>
              </a:rPr>
              <a:t>remuneration</a:t>
            </a:r>
            <a:r>
              <a:rPr lang="en-US" sz="2800" dirty="0">
                <a:effectLst>
                  <a:outerShdw blurRad="38100" dist="38100" dir="2700000" algn="tl">
                    <a:srgbClr val="000000">
                      <a:alpha val="43137"/>
                    </a:srgbClr>
                  </a:outerShdw>
                </a:effectLst>
              </a:rPr>
              <a:t>, such remuneration shall be set taking into account the </a:t>
            </a:r>
            <a:r>
              <a:rPr lang="en-US" sz="2800" b="1" dirty="0">
                <a:effectLst>
                  <a:outerShdw blurRad="38100" dist="38100" dir="2700000" algn="tl">
                    <a:srgbClr val="000000">
                      <a:alpha val="43137"/>
                    </a:srgbClr>
                  </a:outerShdw>
                </a:effectLst>
              </a:rPr>
              <a:t>scope of the right </a:t>
            </a:r>
            <a:r>
              <a:rPr lang="en-US" sz="2800" dirty="0">
                <a:effectLst>
                  <a:outerShdw blurRad="38100" dist="38100" dir="2700000" algn="tl">
                    <a:srgbClr val="000000">
                      <a:alpha val="43137"/>
                    </a:srgbClr>
                  </a:outerShdw>
                </a:effectLst>
              </a:rPr>
              <a:t>granted and the </a:t>
            </a:r>
            <a:r>
              <a:rPr lang="en-US" sz="2800" b="1" dirty="0">
                <a:solidFill>
                  <a:srgbClr val="FF0000"/>
                </a:solidFill>
                <a:effectLst>
                  <a:outerShdw blurRad="38100" dist="38100" dir="2700000" algn="tl">
                    <a:srgbClr val="000000">
                      <a:alpha val="43137"/>
                    </a:srgbClr>
                  </a:outerShdw>
                </a:effectLst>
              </a:rPr>
              <a:t>benefits</a:t>
            </a:r>
            <a:r>
              <a:rPr lang="en-US" sz="2800" dirty="0">
                <a:effectLst>
                  <a:outerShdw blurRad="38100" dist="38100" dir="2700000" algn="tl">
                    <a:srgbClr val="000000">
                      <a:alpha val="43137"/>
                    </a:srgbClr>
                  </a:outerShdw>
                </a:effectLst>
              </a:rPr>
              <a:t> resulting from the use of the work</a:t>
            </a:r>
            <a:endParaRPr lang="pl-PL" sz="2800" dirty="0">
              <a:effectLst>
                <a:outerShdw blurRad="38100" dist="38100" dir="2700000" algn="tl">
                  <a:srgbClr val="000000">
                    <a:alpha val="43137"/>
                  </a:srgbClr>
                </a:outerShdw>
              </a:effectLst>
            </a:endParaRPr>
          </a:p>
          <a:p>
            <a:r>
              <a:rPr lang="pl-PL" sz="2800" dirty="0">
                <a:effectLst>
                  <a:outerShdw blurRad="38100" dist="38100" dir="2700000" algn="tl">
                    <a:srgbClr val="000000">
                      <a:alpha val="43137"/>
                    </a:srgbClr>
                  </a:outerShdw>
                </a:effectLst>
              </a:rPr>
              <a:t>Remuneration for </a:t>
            </a:r>
            <a:r>
              <a:rPr lang="pl-PL" sz="2800" b="1" dirty="0">
                <a:solidFill>
                  <a:srgbClr val="FF0000"/>
                </a:solidFill>
                <a:effectLst>
                  <a:outerShdw blurRad="38100" dist="38100" dir="2700000" algn="tl">
                    <a:srgbClr val="000000">
                      <a:alpha val="43137"/>
                    </a:srgbClr>
                  </a:outerShdw>
                </a:effectLst>
              </a:rPr>
              <a:t>each field </a:t>
            </a:r>
            <a:r>
              <a:rPr lang="pl-PL" sz="2800" b="1" dirty="0" err="1">
                <a:solidFill>
                  <a:srgbClr val="FF0000"/>
                </a:solidFill>
                <a:effectLst>
                  <a:outerShdw blurRad="38100" dist="38100" dir="2700000" algn="tl">
                    <a:srgbClr val="000000">
                      <a:alpha val="43137"/>
                    </a:srgbClr>
                  </a:outerShdw>
                </a:effectLst>
              </a:rPr>
              <a:t>separately</a:t>
            </a:r>
            <a:r>
              <a:rPr lang="pl-PL" sz="2800" dirty="0">
                <a:effectLst>
                  <a:outerShdw blurRad="38100" dist="38100" dir="2700000" algn="tl">
                    <a:srgbClr val="000000">
                      <a:alpha val="43137"/>
                    </a:srgbClr>
                  </a:outerShdw>
                </a:effectLst>
              </a:rPr>
              <a:t>, unless otherwise stipulated by the contract</a:t>
            </a:r>
          </a:p>
          <a:p>
            <a:r>
              <a:rPr lang="pl-PL" sz="2800" b="1" dirty="0">
                <a:solidFill>
                  <a:srgbClr val="FF0000"/>
                </a:solidFill>
                <a:effectLst>
                  <a:outerShdw blurRad="38100" dist="38100" dir="2700000" algn="tl">
                    <a:srgbClr val="000000">
                      <a:alpha val="43137"/>
                    </a:srgbClr>
                  </a:outerShdw>
                </a:effectLst>
                <a:highlight>
                  <a:srgbClr val="00FF00"/>
                </a:highlight>
              </a:rPr>
              <a:t>G</a:t>
            </a:r>
            <a:r>
              <a:rPr lang="en-US" sz="2800" b="1" dirty="0">
                <a:solidFill>
                  <a:srgbClr val="FF0000"/>
                </a:solidFill>
                <a:effectLst>
                  <a:outerShdw blurRad="38100" dist="38100" dir="2700000" algn="tl">
                    <a:srgbClr val="000000">
                      <a:alpha val="43137"/>
                    </a:srgbClr>
                  </a:outerShdw>
                </a:effectLst>
                <a:highlight>
                  <a:srgbClr val="00FF00"/>
                </a:highlight>
              </a:rPr>
              <a:t>ross   discrepancy </a:t>
            </a:r>
            <a:r>
              <a:rPr lang="en-US" sz="2800" dirty="0">
                <a:solidFill>
                  <a:srgbClr val="FF0000"/>
                </a:solidFill>
                <a:effectLst>
                  <a:outerShdw blurRad="38100" dist="38100" dir="2700000" algn="tl">
                    <a:srgbClr val="000000">
                      <a:alpha val="43137"/>
                    </a:srgbClr>
                  </a:outerShdw>
                </a:effectLst>
                <a:highlight>
                  <a:srgbClr val="00FF00"/>
                </a:highlight>
              </a:rPr>
              <a:t>  </a:t>
            </a:r>
            <a:r>
              <a:rPr lang="en-US" sz="2800" dirty="0">
                <a:effectLst>
                  <a:outerShdw blurRad="38100" dist="38100" dir="2700000" algn="tl">
                    <a:srgbClr val="000000">
                      <a:alpha val="43137"/>
                    </a:srgbClr>
                  </a:outerShdw>
                </a:effectLst>
              </a:rPr>
              <a:t>between   the   remuneration   and   the benefits of the </a:t>
            </a:r>
            <a:r>
              <a:rPr lang="pl-PL" sz="2800" dirty="0">
                <a:effectLst>
                  <a:outerShdw blurRad="38100" dist="38100" dir="2700000" algn="tl">
                    <a:srgbClr val="000000">
                      <a:alpha val="43137"/>
                    </a:srgbClr>
                  </a:outerShdw>
                </a:effectLst>
              </a:rPr>
              <a:t>buyer</a:t>
            </a:r>
            <a:r>
              <a:rPr lang="en-US" sz="2800" dirty="0">
                <a:effectLst>
                  <a:outerShdw blurRad="38100" dist="38100" dir="2700000" algn="tl">
                    <a:srgbClr val="000000">
                      <a:alpha val="43137"/>
                    </a:srgbClr>
                  </a:outerShdw>
                </a:effectLst>
              </a:rPr>
              <a:t> </a:t>
            </a:r>
            <a:r>
              <a:rPr lang="pl-PL" sz="2800" dirty="0">
                <a:effectLst>
                  <a:outerShdw blurRad="38100" dist="38100" dir="2700000" algn="tl">
                    <a:srgbClr val="000000">
                      <a:alpha val="43137"/>
                    </a:srgbClr>
                  </a:outerShdw>
                </a:effectLst>
              </a:rPr>
              <a:t>- </a:t>
            </a:r>
            <a:r>
              <a:rPr lang="en-US" sz="2800" dirty="0">
                <a:effectLst>
                  <a:outerShdw blurRad="38100" dist="38100" dir="2700000" algn="tl">
                    <a:srgbClr val="000000">
                      <a:alpha val="43137"/>
                    </a:srgbClr>
                  </a:outerShdw>
                </a:effectLst>
              </a:rPr>
              <a:t>the author may </a:t>
            </a:r>
            <a:r>
              <a:rPr lang="pl-PL" sz="2800" b="1" dirty="0">
                <a:solidFill>
                  <a:srgbClr val="002060"/>
                </a:solidFill>
                <a:effectLst>
                  <a:outerShdw blurRad="38100" dist="38100" dir="2700000" algn="tl">
                    <a:srgbClr val="000000">
                      <a:alpha val="43137"/>
                    </a:srgbClr>
                  </a:outerShdw>
                </a:effectLst>
              </a:rPr>
              <a:t>demand an increase in</a:t>
            </a:r>
            <a:r>
              <a:rPr lang="en-US" sz="2800" b="1" dirty="0">
                <a:solidFill>
                  <a:srgbClr val="002060"/>
                </a:solidFill>
                <a:effectLst>
                  <a:outerShdw blurRad="38100" dist="38100" dir="2700000" algn="tl">
                    <a:srgbClr val="000000">
                      <a:alpha val="43137"/>
                    </a:srgbClr>
                  </a:outerShdw>
                </a:effectLst>
              </a:rPr>
              <a:t> court</a:t>
            </a:r>
            <a:endParaRPr lang="pl-PL" sz="2800" dirty="0">
              <a:effectLst>
                <a:outerShdw blurRad="38100" dist="38100" dir="2700000" algn="tl">
                  <a:srgbClr val="000000">
                    <a:alpha val="43137"/>
                  </a:srgbClr>
                </a:outerShdw>
              </a:effectLs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Transfer</a:t>
            </a:r>
          </a:p>
        </p:txBody>
      </p:sp>
      <p:sp>
        <p:nvSpPr>
          <p:cNvPr id="3" name="Symbol zastępczy zawartości 2"/>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rPr>
              <a:t>If </a:t>
            </a:r>
            <a:r>
              <a:rPr lang="pl-PL" b="1" dirty="0">
                <a:solidFill>
                  <a:srgbClr val="FF0000"/>
                </a:solidFill>
                <a:effectLst>
                  <a:outerShdw blurRad="38100" dist="38100" dir="2700000" algn="tl">
                    <a:srgbClr val="000000">
                      <a:alpha val="43137"/>
                    </a:srgbClr>
                  </a:outerShdw>
                </a:effectLst>
              </a:rPr>
              <a:t>remuneration</a:t>
            </a:r>
            <a:r>
              <a:rPr lang="en-US" b="1" dirty="0">
                <a:solidFill>
                  <a:srgbClr val="FF0000"/>
                </a:solidFill>
                <a:effectLst>
                  <a:outerShdw blurRad="38100" dist="38100" dir="2700000" algn="tl">
                    <a:srgbClr val="000000">
                      <a:alpha val="43137"/>
                    </a:srgbClr>
                  </a:outerShdw>
                </a:effectLst>
              </a:rPr>
              <a:t> depends on sales</a:t>
            </a:r>
            <a:r>
              <a:rPr lang="pl-PL" dirty="0">
                <a:effectLst>
                  <a:outerShdw blurRad="38100" dist="38100" dir="2700000" algn="tl">
                    <a:srgbClr val="000000">
                      <a:alpha val="43137"/>
                    </a:srgbClr>
                  </a:outerShdw>
                </a:effectLst>
              </a:rPr>
              <a:t>,</a:t>
            </a:r>
            <a:r>
              <a:rPr lang="en-US" dirty="0">
                <a:effectLst>
                  <a:outerShdw blurRad="38100" dist="38100" dir="2700000" algn="tl">
                    <a:srgbClr val="000000">
                      <a:alpha val="43137"/>
                    </a:srgbClr>
                  </a:outerShdw>
                </a:effectLst>
              </a:rPr>
              <a:t> the author has the </a:t>
            </a:r>
            <a:r>
              <a:rPr lang="en-US" b="1" dirty="0">
                <a:solidFill>
                  <a:srgbClr val="FF0000"/>
                </a:solidFill>
                <a:effectLst>
                  <a:outerShdw blurRad="38100" dist="38100" dir="2700000" algn="tl">
                    <a:srgbClr val="000000">
                      <a:alpha val="43137"/>
                    </a:srgbClr>
                  </a:outerShdw>
                </a:effectLst>
                <a:highlight>
                  <a:srgbClr val="00FF00"/>
                </a:highlight>
              </a:rPr>
              <a:t>right to information on sales</a:t>
            </a:r>
          </a:p>
          <a:p>
            <a:r>
              <a:rPr lang="en-US" dirty="0">
                <a:effectLst>
                  <a:outerShdw blurRad="38100" dist="38100" dir="2700000" algn="tl">
                    <a:srgbClr val="000000">
                      <a:alpha val="43137"/>
                    </a:srgbClr>
                  </a:outerShdw>
                </a:effectLst>
              </a:rPr>
              <a:t>If the work </a:t>
            </a:r>
            <a:r>
              <a:rPr lang="pl-PL" dirty="0">
                <a:effectLst>
                  <a:outerShdw blurRad="38100" dist="38100" dir="2700000" algn="tl">
                    <a:srgbClr val="000000">
                      <a:alpha val="43137"/>
                    </a:srgbClr>
                  </a:outerShdw>
                </a:effectLst>
              </a:rPr>
              <a:t>is </a:t>
            </a:r>
            <a:r>
              <a:rPr lang="en-US" b="1" dirty="0">
                <a:solidFill>
                  <a:srgbClr val="FF0000"/>
                </a:solidFill>
                <a:effectLst>
                  <a:outerShdw blurRad="38100" dist="38100" dir="2700000" algn="tl">
                    <a:srgbClr val="000000">
                      <a:alpha val="43137"/>
                    </a:srgbClr>
                  </a:outerShdw>
                </a:effectLst>
              </a:rPr>
              <a:t>sold for more </a:t>
            </a:r>
            <a:r>
              <a:rPr lang="en-US" dirty="0">
                <a:effectLst>
                  <a:outerShdw blurRad="38100" dist="38100" dir="2700000" algn="tl">
                    <a:srgbClr val="000000">
                      <a:alpha val="43137"/>
                    </a:srgbClr>
                  </a:outerShdw>
                </a:effectLst>
              </a:rPr>
              <a:t>than agreed with </a:t>
            </a:r>
            <a:r>
              <a:rPr lang="pl-PL" dirty="0">
                <a:effectLst>
                  <a:outerShdw blurRad="38100" dist="38100" dir="2700000" algn="tl">
                    <a:srgbClr val="000000">
                      <a:alpha val="43137"/>
                    </a:srgbClr>
                  </a:outerShdw>
                </a:effectLst>
              </a:rPr>
              <a:t>the </a:t>
            </a:r>
            <a:r>
              <a:rPr lang="en-US" dirty="0">
                <a:effectLst>
                  <a:outerShdw blurRad="38100" dist="38100" dir="2700000" algn="tl">
                    <a:srgbClr val="000000">
                      <a:alpha val="43137"/>
                    </a:srgbClr>
                  </a:outerShdw>
                </a:effectLst>
              </a:rPr>
              <a:t>author, the author has the right to </a:t>
            </a:r>
            <a:r>
              <a:rPr lang="en-US" b="1" dirty="0">
                <a:solidFill>
                  <a:srgbClr val="FF0000"/>
                </a:solidFill>
                <a:effectLst>
                  <a:outerShdw blurRad="38100" dist="38100" dir="2700000" algn="tl">
                    <a:srgbClr val="000000">
                      <a:alpha val="43137"/>
                    </a:srgbClr>
                  </a:outerShdw>
                </a:effectLst>
              </a:rPr>
              <a:t>additional remuneration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Transfer</a:t>
            </a:r>
          </a:p>
        </p:txBody>
      </p:sp>
      <p:sp>
        <p:nvSpPr>
          <p:cNvPr id="3" name="Symbol zastępczy zawartości 2"/>
          <p:cNvSpPr>
            <a:spLocks noGrp="1"/>
          </p:cNvSpPr>
          <p:nvPr>
            <p:ph idx="1"/>
          </p:nvPr>
        </p:nvSpPr>
        <p:spPr/>
        <p:txBody>
          <a:bodyPr/>
          <a:lstStyle/>
          <a:p>
            <a:r>
              <a:rPr lang="en-US" dirty="0">
                <a:effectLst>
                  <a:outerShdw blurRad="38100" dist="38100" dir="2700000" algn="tl">
                    <a:srgbClr val="000000">
                      <a:alpha val="43137"/>
                    </a:srgbClr>
                  </a:outerShdw>
                </a:effectLst>
              </a:rPr>
              <a:t>The right to </a:t>
            </a:r>
            <a:r>
              <a:rPr lang="pl-PL" dirty="0">
                <a:effectLst>
                  <a:outerShdw blurRad="38100" dist="38100" dir="2700000" algn="tl">
                    <a:srgbClr val="000000">
                      <a:alpha val="43137"/>
                    </a:srgbClr>
                  </a:outerShdw>
                </a:effectLst>
              </a:rPr>
              <a:t>a </a:t>
            </a:r>
            <a:r>
              <a:rPr lang="pl-PL" dirty="0" err="1">
                <a:effectLst>
                  <a:outerShdw blurRad="38100" dist="38100" dir="2700000" algn="tl">
                    <a:srgbClr val="000000">
                      <a:alpha val="43137"/>
                    </a:srgbClr>
                  </a:outerShdw>
                </a:effectLst>
              </a:rPr>
              <a:t>normal</a:t>
            </a:r>
            <a:r>
              <a:rPr lang="en-US" b="1" dirty="0">
                <a:solidFill>
                  <a:srgbClr val="FF0000"/>
                </a:solidFill>
                <a:effectLst>
                  <a:outerShdw blurRad="38100" dist="38100" dir="2700000" algn="tl">
                    <a:srgbClr val="000000">
                      <a:alpha val="43137"/>
                    </a:srgbClr>
                  </a:outerShdw>
                </a:effectLst>
              </a:rPr>
              <a:t> use </a:t>
            </a:r>
            <a:r>
              <a:rPr lang="en-US" dirty="0">
                <a:effectLst>
                  <a:outerShdw blurRad="38100" dist="38100" dir="2700000" algn="tl">
                    <a:srgbClr val="000000">
                      <a:alpha val="43137"/>
                    </a:srgbClr>
                  </a:outerShdw>
                </a:effectLst>
              </a:rPr>
              <a:t>is transferred unless otherwise provided in </a:t>
            </a:r>
            <a:r>
              <a:rPr lang="pl-PL" dirty="0">
                <a:effectLst>
                  <a:outerShdw blurRad="38100" dist="38100" dir="2700000" algn="tl">
                    <a:srgbClr val="000000">
                      <a:alpha val="43137"/>
                    </a:srgbClr>
                  </a:outerShdw>
                </a:effectLst>
              </a:rPr>
              <a:t>the </a:t>
            </a:r>
            <a:r>
              <a:rPr lang="en-US" dirty="0">
                <a:effectLst>
                  <a:outerShdw blurRad="38100" dist="38100" dir="2700000" algn="tl">
                    <a:srgbClr val="000000">
                      <a:alpha val="43137"/>
                    </a:srgbClr>
                  </a:outerShdw>
                </a:effectLst>
              </a:rPr>
              <a:t>contract</a:t>
            </a:r>
          </a:p>
          <a:p>
            <a:r>
              <a:rPr lang="en-US" b="1" dirty="0">
                <a:solidFill>
                  <a:srgbClr val="002060"/>
                </a:solidFill>
                <a:effectLst>
                  <a:outerShdw blurRad="38100" dist="38100" dir="2700000" algn="tl">
                    <a:srgbClr val="000000">
                      <a:alpha val="43137"/>
                    </a:srgbClr>
                  </a:outerShdw>
                </a:effectLst>
              </a:rPr>
              <a:t>Successor</a:t>
            </a:r>
            <a:r>
              <a:rPr lang="pl-PL" b="1" dirty="0">
                <a:solidFill>
                  <a:srgbClr val="002060"/>
                </a:solidFill>
                <a:effectLst>
                  <a:outerShdw blurRad="38100" dist="38100" dir="2700000" algn="tl">
                    <a:srgbClr val="000000">
                      <a:alpha val="43137"/>
                    </a:srgbClr>
                  </a:outerShdw>
                </a:effectLst>
              </a:rPr>
              <a:t>s</a:t>
            </a:r>
            <a:r>
              <a:rPr lang="en-US" dirty="0">
                <a:effectLst>
                  <a:outerShdw blurRad="38100" dist="38100" dir="2700000" algn="tl">
                    <a:srgbClr val="000000">
                      <a:alpha val="43137"/>
                    </a:srgbClr>
                  </a:outerShdw>
                </a:effectLst>
              </a:rPr>
              <a:t> of a buyer </a:t>
            </a:r>
            <a:r>
              <a:rPr lang="en-US" b="1" dirty="0">
                <a:solidFill>
                  <a:srgbClr val="FF0000"/>
                </a:solidFill>
                <a:effectLst>
                  <a:outerShdw blurRad="38100" dist="38100" dir="2700000" algn="tl">
                    <a:srgbClr val="000000">
                      <a:alpha val="43137"/>
                    </a:srgbClr>
                  </a:outerShdw>
                </a:effectLst>
              </a:rPr>
              <a:t>cannot </a:t>
            </a:r>
            <a:r>
              <a:rPr lang="en-US" b="1" dirty="0">
                <a:solidFill>
                  <a:srgbClr val="FF0000"/>
                </a:solidFill>
                <a:effectLst>
                  <a:outerShdw blurRad="38100" dist="38100" dir="2700000" algn="tl">
                    <a:srgbClr val="000000">
                      <a:alpha val="43137"/>
                    </a:srgbClr>
                  </a:outerShdw>
                </a:effectLst>
                <a:highlight>
                  <a:srgbClr val="FFFF00"/>
                </a:highlight>
              </a:rPr>
              <a:t>alter the work</a:t>
            </a:r>
            <a:r>
              <a:rPr lang="en-US" dirty="0">
                <a:effectLst>
                  <a:outerShdw blurRad="38100" dist="38100" dir="2700000" algn="tl">
                    <a:srgbClr val="000000">
                      <a:alpha val="43137"/>
                    </a:srgbClr>
                  </a:outerShdw>
                </a:effectLst>
                <a:highlight>
                  <a:srgbClr val="FFFF00"/>
                </a:highlight>
              </a:rPr>
              <a:t> </a:t>
            </a:r>
            <a:r>
              <a:rPr lang="en-US" dirty="0">
                <a:effectLst>
                  <a:outerShdw blurRad="38100" dist="38100" dir="2700000" algn="tl">
                    <a:srgbClr val="000000">
                      <a:alpha val="43137"/>
                    </a:srgbClr>
                  </a:outerShdw>
                </a:effectLst>
              </a:rPr>
              <a:t>unless </a:t>
            </a:r>
            <a:r>
              <a:rPr lang="pl-PL" dirty="0" err="1">
                <a:effectLst>
                  <a:outerShdw blurRad="38100" dist="38100" dir="2700000" algn="tl">
                    <a:srgbClr val="000000">
                      <a:alpha val="43137"/>
                    </a:srgbClr>
                  </a:outerShdw>
                </a:effectLst>
              </a:rPr>
              <a:t>it</a:t>
            </a:r>
            <a:r>
              <a:rPr lang="pl-PL" dirty="0">
                <a:effectLst>
                  <a:outerShdw blurRad="38100" dist="38100" dir="2700000" algn="tl">
                    <a:srgbClr val="000000">
                      <a:alpha val="43137"/>
                    </a:srgbClr>
                  </a:outerShdw>
                </a:effectLst>
              </a:rPr>
              <a:t> </a:t>
            </a:r>
            <a:r>
              <a:rPr lang="pl-PL" dirty="0" err="1">
                <a:effectLst>
                  <a:outerShdw blurRad="38100" dist="38100" dir="2700000" algn="tl">
                    <a:srgbClr val="000000">
                      <a:alpha val="43137"/>
                    </a:srgbClr>
                  </a:outerShdw>
                </a:effectLst>
              </a:rPr>
              <a:t>is</a:t>
            </a:r>
            <a:r>
              <a:rPr lang="pl-PL" dirty="0">
                <a:effectLst>
                  <a:outerShdw blurRad="38100" dist="38100" dir="2700000" algn="tl">
                    <a:srgbClr val="000000">
                      <a:alpha val="43137"/>
                    </a:srgbClr>
                  </a:outerShdw>
                </a:effectLst>
              </a:rPr>
              <a:t> </a:t>
            </a:r>
            <a:r>
              <a:rPr lang="pl-PL" dirty="0" err="1">
                <a:effectLst>
                  <a:outerShdw blurRad="38100" dist="38100" dir="2700000" algn="tl">
                    <a:srgbClr val="000000">
                      <a:alpha val="43137"/>
                    </a:srgbClr>
                  </a:outerShdw>
                </a:effectLst>
              </a:rPr>
              <a:t>evident</a:t>
            </a:r>
            <a:r>
              <a:rPr lang="en-US" dirty="0">
                <a:effectLst>
                  <a:outerShdw blurRad="38100" dist="38100" dir="2700000" algn="tl">
                    <a:srgbClr val="000000">
                      <a:alpha val="43137"/>
                    </a:srgbClr>
                  </a:outerShdw>
                </a:effectLst>
              </a:rPr>
              <a:t> </a:t>
            </a:r>
            <a:r>
              <a:rPr lang="pl-PL" dirty="0" err="1">
                <a:effectLst>
                  <a:outerShdw blurRad="38100" dist="38100" dir="2700000" algn="tl">
                    <a:srgbClr val="000000">
                      <a:alpha val="43137"/>
                    </a:srgbClr>
                  </a:outerShdw>
                </a:effectLst>
              </a:rPr>
              <a:t>that</a:t>
            </a:r>
            <a:r>
              <a:rPr lang="pl-PL"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they could</a:t>
            </a:r>
          </a:p>
          <a:p>
            <a:r>
              <a:rPr lang="en-US" dirty="0">
                <a:effectLst>
                  <a:outerShdw blurRad="38100" dist="38100" dir="2700000" algn="tl">
                    <a:srgbClr val="000000">
                      <a:alpha val="43137"/>
                    </a:srgbClr>
                  </a:outerShdw>
                </a:effectLst>
              </a:rPr>
              <a:t>Art. 50 list of fields of exploitation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Transfer</a:t>
            </a:r>
          </a:p>
        </p:txBody>
      </p:sp>
      <p:sp>
        <p:nvSpPr>
          <p:cNvPr id="3" name="Symbol zastępczy zawartości 2"/>
          <p:cNvSpPr>
            <a:spLocks noGrp="1"/>
          </p:cNvSpPr>
          <p:nvPr>
            <p:ph idx="1"/>
          </p:nvPr>
        </p:nvSpPr>
        <p:spPr/>
        <p:txBody>
          <a:bodyPr/>
          <a:lstStyle/>
          <a:p>
            <a:r>
              <a:rPr lang="en-US" b="1" dirty="0">
                <a:effectLst>
                  <a:outerShdw blurRad="38100" dist="38100" dir="2700000" algn="tl">
                    <a:srgbClr val="000000">
                      <a:alpha val="43137"/>
                    </a:srgbClr>
                  </a:outerShdw>
                </a:effectLst>
              </a:rPr>
              <a:t>Transfer of a copy </a:t>
            </a:r>
            <a:r>
              <a:rPr lang="en-US" dirty="0">
                <a:effectLst>
                  <a:outerShdw blurRad="38100" dist="38100" dir="2700000" algn="tl">
                    <a:srgbClr val="000000">
                      <a:alpha val="43137"/>
                    </a:srgbClr>
                  </a:outerShdw>
                </a:effectLst>
              </a:rPr>
              <a:t>does not amount to a transfer of material rights</a:t>
            </a:r>
          </a:p>
          <a:p>
            <a:r>
              <a:rPr lang="en-US" dirty="0">
                <a:effectLst>
                  <a:outerShdw blurRad="38100" dist="38100" dir="2700000" algn="tl">
                    <a:srgbClr val="000000">
                      <a:alpha val="43137"/>
                    </a:srgbClr>
                  </a:outerShdw>
                </a:effectLst>
              </a:rPr>
              <a:t>Transfer of </a:t>
            </a:r>
            <a:r>
              <a:rPr lang="en-US" b="1" dirty="0">
                <a:effectLst>
                  <a:outerShdw blurRad="38100" dist="38100" dir="2700000" algn="tl">
                    <a:srgbClr val="000000">
                      <a:alpha val="43137"/>
                    </a:srgbClr>
                  </a:outerShdw>
                </a:effectLst>
              </a:rPr>
              <a:t>material rights </a:t>
            </a:r>
            <a:r>
              <a:rPr lang="en-US" dirty="0">
                <a:effectLst>
                  <a:outerShdw blurRad="38100" dist="38100" dir="2700000" algn="tl">
                    <a:srgbClr val="000000">
                      <a:alpha val="43137"/>
                    </a:srgbClr>
                  </a:outerShdw>
                </a:effectLst>
              </a:rPr>
              <a:t>does not amount to transfer of a copy</a:t>
            </a:r>
          </a:p>
          <a:p>
            <a:r>
              <a:rPr lang="en-US" dirty="0">
                <a:effectLst>
                  <a:outerShdw blurRad="38100" dist="38100" dir="2700000" algn="tl">
                    <a:srgbClr val="000000">
                      <a:alpha val="43137"/>
                    </a:srgbClr>
                  </a:outerShdw>
                </a:effectLst>
              </a:rPr>
              <a:t>Art.</a:t>
            </a:r>
            <a:r>
              <a:rPr lang="pl-PL"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55-59 defective work + </a:t>
            </a:r>
            <a:r>
              <a:rPr lang="en-US" b="1" dirty="0">
                <a:solidFill>
                  <a:srgbClr val="FF0000"/>
                </a:solidFill>
                <a:effectLst>
                  <a:outerShdw blurRad="38100" dist="38100" dir="2700000" algn="tl">
                    <a:srgbClr val="000000">
                      <a:alpha val="43137"/>
                    </a:srgbClr>
                  </a:outerShdw>
                </a:effectLst>
              </a:rPr>
              <a:t>voiding contract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FFFF00"/>
                </a:highlight>
              </a:rPr>
              <a:t>Image protection</a:t>
            </a:r>
          </a:p>
        </p:txBody>
      </p:sp>
      <p:sp>
        <p:nvSpPr>
          <p:cNvPr id="3" name="Symbol zastępczy zawartości 2"/>
          <p:cNvSpPr>
            <a:spLocks noGrp="1"/>
          </p:cNvSpPr>
          <p:nvPr>
            <p:ph idx="1"/>
          </p:nvPr>
        </p:nvSpPr>
        <p:spPr/>
        <p:txBody>
          <a:bodyPr/>
          <a:lstStyle/>
          <a:p>
            <a:pPr>
              <a:buNone/>
            </a:pPr>
            <a:r>
              <a:rPr lang="en-US" b="1" dirty="0">
                <a:solidFill>
                  <a:srgbClr val="FF0000"/>
                </a:solidFill>
              </a:rPr>
              <a:t>    </a:t>
            </a:r>
            <a:r>
              <a:rPr lang="en-US" b="1" dirty="0">
                <a:solidFill>
                  <a:srgbClr val="FF0000"/>
                </a:solidFill>
                <a:effectLst>
                  <a:outerShdw blurRad="38100" dist="38100" dir="2700000" algn="tl">
                    <a:srgbClr val="000000">
                      <a:alpha val="43137"/>
                    </a:srgbClr>
                  </a:outerShdw>
                </a:effectLst>
                <a:highlight>
                  <a:srgbClr val="FFFF00"/>
                </a:highlight>
              </a:rPr>
              <a:t>Permission</a:t>
            </a:r>
            <a:r>
              <a:rPr lang="en-US"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is</a:t>
            </a:r>
            <a:r>
              <a:rPr lang="pl-PL" b="1" dirty="0">
                <a:solidFill>
                  <a:srgbClr val="FF000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necessary </a:t>
            </a:r>
            <a:r>
              <a:rPr lang="en-US" dirty="0">
                <a:solidFill>
                  <a:srgbClr val="000000"/>
                </a:solidFill>
              </a:rPr>
              <a:t>to </a:t>
            </a:r>
            <a:r>
              <a:rPr lang="en-US" b="1" dirty="0">
                <a:solidFill>
                  <a:srgbClr val="FF0000"/>
                </a:solidFill>
                <a:effectLst>
                  <a:outerShdw blurRad="38100" dist="38100" dir="2700000" algn="tl">
                    <a:srgbClr val="000000">
                      <a:alpha val="43137"/>
                    </a:srgbClr>
                  </a:outerShdw>
                </a:effectLst>
              </a:rPr>
              <a:t>disseminate </a:t>
            </a:r>
            <a:r>
              <a:rPr lang="pl-PL" b="1" dirty="0">
                <a:solidFill>
                  <a:srgbClr val="FF0000"/>
                </a:solidFill>
                <a:effectLst>
                  <a:outerShdw blurRad="38100" dist="38100" dir="2700000" algn="tl">
                    <a:srgbClr val="000000">
                      <a:alpha val="43137"/>
                    </a:srgbClr>
                  </a:outerShdw>
                </a:effectLst>
              </a:rPr>
              <a:t>the </a:t>
            </a:r>
            <a:r>
              <a:rPr lang="en-US" b="1" dirty="0">
                <a:solidFill>
                  <a:srgbClr val="FF0000"/>
                </a:solidFill>
                <a:effectLst>
                  <a:outerShdw blurRad="38100" dist="38100" dir="2700000" algn="tl">
                    <a:srgbClr val="000000">
                      <a:alpha val="43137"/>
                    </a:srgbClr>
                  </a:outerShdw>
                </a:effectLst>
              </a:rPr>
              <a:t>image</a:t>
            </a:r>
            <a:endParaRPr lang="pl-PL" b="1" dirty="0">
              <a:solidFill>
                <a:srgbClr val="FF0000"/>
              </a:solidFill>
              <a:effectLst>
                <a:outerShdw blurRad="38100" dist="38100" dir="2700000" algn="tl">
                  <a:srgbClr val="000000">
                    <a:alpha val="43137"/>
                  </a:srgbClr>
                </a:outerShdw>
              </a:effectLst>
            </a:endParaRPr>
          </a:p>
          <a:p>
            <a:pPr>
              <a:buNone/>
            </a:pPr>
            <a:r>
              <a:rPr lang="pl-PL" b="1" dirty="0">
                <a:solidFill>
                  <a:srgbClr val="FF000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unless</a:t>
            </a:r>
            <a:endParaRPr lang="pl-PL" dirty="0">
              <a:solidFill>
                <a:srgbClr val="000000"/>
              </a:solidFill>
            </a:endParaRPr>
          </a:p>
          <a:p>
            <a:r>
              <a:rPr lang="en-US" dirty="0">
                <a:solidFill>
                  <a:srgbClr val="000000"/>
                </a:solidFill>
              </a:rPr>
              <a:t>Such </a:t>
            </a:r>
            <a:r>
              <a:rPr lang="pl-PL" dirty="0">
                <a:solidFill>
                  <a:srgbClr val="000000"/>
                </a:solidFill>
              </a:rPr>
              <a:t>a </a:t>
            </a:r>
            <a:r>
              <a:rPr lang="en-US" dirty="0">
                <a:solidFill>
                  <a:srgbClr val="000000"/>
                </a:solidFill>
              </a:rPr>
              <a:t>person receive</a:t>
            </a:r>
            <a:r>
              <a:rPr lang="pl-PL" dirty="0">
                <a:solidFill>
                  <a:srgbClr val="000000"/>
                </a:solidFill>
              </a:rPr>
              <a:t>d</a:t>
            </a:r>
            <a:r>
              <a:rPr lang="en-US" dirty="0">
                <a:solidFill>
                  <a:srgbClr val="000000"/>
                </a:solidFill>
              </a:rPr>
              <a:t> a </a:t>
            </a:r>
            <a:r>
              <a:rPr lang="en-US" b="1" dirty="0">
                <a:solidFill>
                  <a:srgbClr val="002060"/>
                </a:solidFill>
                <a:effectLst>
                  <a:outerShdw blurRad="38100" dist="38100" dir="2700000" algn="tl">
                    <a:srgbClr val="000000">
                      <a:alpha val="43137"/>
                    </a:srgbClr>
                  </a:outerShdw>
                </a:effectLst>
              </a:rPr>
              <a:t>fee</a:t>
            </a:r>
            <a:r>
              <a:rPr lang="en-US" dirty="0">
                <a:solidFill>
                  <a:srgbClr val="000000"/>
                </a:solidFill>
              </a:rPr>
              <a:t> for it</a:t>
            </a:r>
            <a:endParaRPr lang="en-US" dirty="0"/>
          </a:p>
          <a:p>
            <a:r>
              <a:rPr lang="pl-PL" b="1" dirty="0">
                <a:solidFill>
                  <a:srgbClr val="002060"/>
                </a:solidFill>
                <a:effectLst>
                  <a:outerShdw blurRad="38100" dist="38100" dir="2700000" algn="tl">
                    <a:srgbClr val="000000">
                      <a:alpha val="43137"/>
                    </a:srgbClr>
                  </a:outerShdw>
                </a:effectLst>
                <a:highlight>
                  <a:srgbClr val="FFFF00"/>
                </a:highlight>
              </a:rPr>
              <a:t>Famous</a:t>
            </a:r>
            <a:r>
              <a:rPr lang="en-US" b="1" dirty="0">
                <a:solidFill>
                  <a:srgbClr val="002060"/>
                </a:solidFill>
                <a:effectLst>
                  <a:outerShdw blurRad="38100" dist="38100" dir="2700000" algn="tl">
                    <a:srgbClr val="000000">
                      <a:alpha val="43137"/>
                    </a:srgbClr>
                  </a:outerShdw>
                </a:effectLst>
                <a:highlight>
                  <a:srgbClr val="FFFF00"/>
                </a:highlight>
              </a:rPr>
              <a:t> persons</a:t>
            </a:r>
            <a:r>
              <a:rPr lang="en-US" dirty="0">
                <a:solidFill>
                  <a:srgbClr val="000000"/>
                </a:solidFill>
              </a:rPr>
              <a:t>, particularly </a:t>
            </a:r>
            <a:r>
              <a:rPr lang="en-US" b="1" dirty="0">
                <a:solidFill>
                  <a:srgbClr val="FF0000"/>
                </a:solidFill>
                <a:effectLst>
                  <a:outerShdw blurRad="38100" dist="38100" dir="2700000" algn="tl">
                    <a:srgbClr val="000000">
                      <a:alpha val="43137"/>
                    </a:srgbClr>
                  </a:outerShdw>
                </a:effectLst>
              </a:rPr>
              <a:t>politicians</a:t>
            </a:r>
            <a:r>
              <a:rPr lang="pl-PL" b="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professionals</a:t>
            </a:r>
            <a:r>
              <a:rPr lang="pl-PL" b="1" dirty="0">
                <a:solidFill>
                  <a:srgbClr val="FF0000"/>
                </a:solidFill>
                <a:effectLst>
                  <a:outerShdw blurRad="38100" dist="38100" dir="2700000" algn="tl">
                    <a:srgbClr val="000000">
                      <a:alpha val="43137"/>
                    </a:srgbClr>
                  </a:outerShdw>
                </a:effectLst>
              </a:rPr>
              <a:t>/artists</a:t>
            </a:r>
            <a:endParaRPr lang="en-US" b="1" dirty="0">
              <a:solidFill>
                <a:srgbClr val="FF0000"/>
              </a:solidFill>
              <a:effectLst>
                <a:outerShdw blurRad="38100" dist="38100" dir="2700000" algn="tl">
                  <a:srgbClr val="000000">
                    <a:alpha val="43137"/>
                  </a:srgbClr>
                </a:outerShdw>
              </a:effectLst>
            </a:endParaRPr>
          </a:p>
          <a:p>
            <a:r>
              <a:rPr lang="en-US" dirty="0">
                <a:solidFill>
                  <a:srgbClr val="000000"/>
                </a:solidFill>
              </a:rPr>
              <a:t>A person is </a:t>
            </a:r>
            <a:r>
              <a:rPr lang="en-US" b="1" dirty="0">
                <a:solidFill>
                  <a:srgbClr val="FF0000"/>
                </a:solidFill>
                <a:effectLst>
                  <a:outerShdw blurRad="38100" dist="38100" dir="2700000" algn="tl">
                    <a:srgbClr val="000000">
                      <a:alpha val="43137"/>
                    </a:srgbClr>
                  </a:outerShdw>
                </a:effectLst>
                <a:highlight>
                  <a:srgbClr val="FFFF00"/>
                </a:highlight>
              </a:rPr>
              <a:t>just a detail in a more general picture </a:t>
            </a:r>
            <a:r>
              <a:rPr lang="en-US" dirty="0">
                <a:solidFill>
                  <a:srgbClr val="000000"/>
                </a:solidFill>
              </a:rPr>
              <a:t>of an association, assembly, public event</a:t>
            </a:r>
            <a:r>
              <a:rPr lang="pl-PL" dirty="0">
                <a:solidFill>
                  <a:srgbClr val="000000"/>
                </a:solidFill>
              </a:rPr>
              <a:t>,</a:t>
            </a:r>
            <a:r>
              <a:rPr lang="en-US" dirty="0">
                <a:solidFill>
                  <a:srgbClr val="000000"/>
                </a:solidFill>
              </a:rPr>
              <a:t> etc.</a:t>
            </a:r>
            <a:endParaRPr lang="pl-PL"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dirty="0">
                <a:solidFill>
                  <a:srgbClr val="FF0000"/>
                </a:solidFill>
                <a:effectLst>
                  <a:outerShdw blurRad="38100" dist="38100" dir="2700000" algn="tl">
                    <a:srgbClr val="000000">
                      <a:alpha val="43137"/>
                    </a:srgbClr>
                  </a:outerShdw>
                </a:effectLst>
                <a:highlight>
                  <a:srgbClr val="FFFF00"/>
                </a:highlight>
              </a:rPr>
              <a:t>Mail protection</a:t>
            </a:r>
          </a:p>
        </p:txBody>
      </p:sp>
      <p:sp>
        <p:nvSpPr>
          <p:cNvPr id="3" name="Symbol zastępczy zawartości 2"/>
          <p:cNvSpPr>
            <a:spLocks noGrp="1"/>
          </p:cNvSpPr>
          <p:nvPr>
            <p:ph idx="1"/>
          </p:nvPr>
        </p:nvSpPr>
        <p:spPr/>
        <p:txBody>
          <a:bodyPr/>
          <a:lstStyle/>
          <a:p>
            <a:r>
              <a:rPr lang="en-US" sz="3600" b="1" dirty="0">
                <a:solidFill>
                  <a:srgbClr val="002060"/>
                </a:solidFill>
                <a:effectLst>
                  <a:outerShdw blurRad="38100" dist="38100" dir="2700000" algn="tl">
                    <a:srgbClr val="000000">
                      <a:alpha val="43137"/>
                    </a:srgbClr>
                  </a:outerShdw>
                </a:effectLst>
              </a:rPr>
              <a:t>Dissemination of mail </a:t>
            </a:r>
            <a:r>
              <a:rPr lang="en-US" sz="3600" dirty="0"/>
              <a:t>require</a:t>
            </a:r>
            <a:r>
              <a:rPr lang="pl-PL" sz="3600" dirty="0"/>
              <a:t>s</a:t>
            </a:r>
            <a:r>
              <a:rPr lang="en-US" sz="3600" dirty="0"/>
              <a:t> the </a:t>
            </a:r>
            <a:r>
              <a:rPr lang="en-US" sz="3600" b="1" dirty="0">
                <a:solidFill>
                  <a:srgbClr val="FF0000"/>
                </a:solidFill>
                <a:effectLst>
                  <a:outerShdw blurRad="38100" dist="38100" dir="2700000" algn="tl">
                    <a:srgbClr val="000000">
                      <a:alpha val="43137"/>
                    </a:srgbClr>
                  </a:outerShdw>
                </a:effectLst>
                <a:highlight>
                  <a:srgbClr val="FFFF00"/>
                </a:highlight>
              </a:rPr>
              <a:t>consent of the </a:t>
            </a:r>
            <a:r>
              <a:rPr lang="en-US" sz="3600" b="1" dirty="0">
                <a:solidFill>
                  <a:srgbClr val="FF0000"/>
                </a:solidFill>
                <a:effectLst>
                  <a:outerShdw blurRad="38100" dist="38100" dir="2700000" algn="tl">
                    <a:srgbClr val="000000">
                      <a:alpha val="43137"/>
                    </a:srgbClr>
                  </a:outerShdw>
                </a:effectLst>
                <a:highlight>
                  <a:srgbClr val="00FF00"/>
                </a:highlight>
              </a:rPr>
              <a:t>a</a:t>
            </a:r>
            <a:r>
              <a:rPr lang="pl-PL" sz="3600" b="1" dirty="0">
                <a:solidFill>
                  <a:srgbClr val="FF0000"/>
                </a:solidFill>
                <a:effectLst>
                  <a:outerShdw blurRad="38100" dist="38100" dir="2700000" algn="tl">
                    <a:srgbClr val="000000">
                      <a:alpha val="43137"/>
                    </a:srgbClr>
                  </a:outerShdw>
                </a:effectLst>
                <a:highlight>
                  <a:srgbClr val="00FF00"/>
                </a:highlight>
              </a:rPr>
              <a:t>d</a:t>
            </a:r>
            <a:r>
              <a:rPr lang="en-US" sz="3600" b="1" dirty="0">
                <a:solidFill>
                  <a:srgbClr val="FF0000"/>
                </a:solidFill>
                <a:effectLst>
                  <a:outerShdw blurRad="38100" dist="38100" dir="2700000" algn="tl">
                    <a:srgbClr val="000000">
                      <a:alpha val="43137"/>
                    </a:srgbClr>
                  </a:outerShdw>
                </a:effectLst>
                <a:highlight>
                  <a:srgbClr val="00FF00"/>
                </a:highlight>
              </a:rPr>
              <a:t>dressee </a:t>
            </a:r>
            <a:r>
              <a:rPr lang="en-US" sz="3600" dirty="0"/>
              <a:t>or, upon his/her death, of descendants, parents, siblings</a:t>
            </a:r>
          </a:p>
          <a:p>
            <a:r>
              <a:rPr lang="pl-PL" sz="3600" b="1">
                <a:solidFill>
                  <a:srgbClr val="FF0000"/>
                </a:solidFill>
                <a:effectLst>
                  <a:outerShdw blurRad="38100" dist="38100" dir="2700000" algn="tl">
                    <a:srgbClr val="000000">
                      <a:alpha val="43137"/>
                    </a:srgbClr>
                  </a:outerShdw>
                </a:effectLst>
                <a:highlight>
                  <a:srgbClr val="FFFF00"/>
                </a:highlight>
              </a:rPr>
              <a:t> 20-year</a:t>
            </a:r>
            <a:r>
              <a:rPr lang="en-US" sz="3600" b="1">
                <a:solidFill>
                  <a:srgbClr val="FF0000"/>
                </a:solidFill>
                <a:effectLst>
                  <a:outerShdw blurRad="38100" dist="38100" dir="2700000" algn="tl">
                    <a:srgbClr val="000000">
                      <a:alpha val="43137"/>
                    </a:srgbClr>
                  </a:outerShdw>
                </a:effectLst>
              </a:rPr>
              <a:t> </a:t>
            </a:r>
            <a:r>
              <a:rPr lang="en-US" sz="3600" b="1" dirty="0">
                <a:solidFill>
                  <a:srgbClr val="FF0000"/>
                </a:solidFill>
                <a:effectLst>
                  <a:outerShdw blurRad="38100" dist="38100" dir="2700000" algn="tl">
                    <a:srgbClr val="000000">
                      <a:alpha val="43137"/>
                    </a:srgbClr>
                  </a:outerShdw>
                </a:effectLst>
              </a:rPr>
              <a:t>protection </a:t>
            </a:r>
            <a:r>
              <a:rPr lang="en-US" sz="3600" dirty="0"/>
              <a:t>(</a:t>
            </a:r>
            <a:r>
              <a:rPr lang="en-US" sz="3600" b="1" dirty="0">
                <a:solidFill>
                  <a:srgbClr val="002060"/>
                </a:solidFill>
                <a:effectLst>
                  <a:outerShdw blurRad="38100" dist="38100" dir="2700000" algn="tl">
                    <a:srgbClr val="000000">
                      <a:alpha val="43137"/>
                    </a:srgbClr>
                  </a:outerShdw>
                </a:effectLst>
              </a:rPr>
              <a:t>from death</a:t>
            </a:r>
            <a:r>
              <a:rPr lang="en-US" sz="3600" dirty="0"/>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highlight>
                  <a:srgbClr val="FFFF00"/>
                </a:highlight>
              </a:rPr>
              <a:t>Industrial property</a:t>
            </a:r>
          </a:p>
        </p:txBody>
      </p:sp>
      <p:sp>
        <p:nvSpPr>
          <p:cNvPr id="3" name="Symbol zastępczy zawartości 2"/>
          <p:cNvSpPr>
            <a:spLocks noGrp="1"/>
          </p:cNvSpPr>
          <p:nvPr>
            <p:ph idx="1"/>
          </p:nvPr>
        </p:nvSpPr>
        <p:spPr/>
        <p:txBody>
          <a:bodyPr/>
          <a:lstStyle/>
          <a:p>
            <a:pPr>
              <a:buNone/>
            </a:pPr>
            <a:r>
              <a:rPr lang="pl-PL" b="1" dirty="0">
                <a:solidFill>
                  <a:srgbClr val="002060"/>
                </a:solidFill>
              </a:rPr>
              <a:t>SCOPE</a:t>
            </a:r>
          </a:p>
          <a:p>
            <a:pPr lvl="0"/>
            <a:r>
              <a:rPr lang="en-US" b="1" dirty="0">
                <a:solidFill>
                  <a:srgbClr val="FF0000"/>
                </a:solidFill>
                <a:effectLst>
                  <a:outerShdw blurRad="38100" dist="38100" dir="2700000" algn="tl">
                    <a:srgbClr val="000000">
                      <a:alpha val="43137"/>
                    </a:srgbClr>
                  </a:outerShdw>
                </a:effectLst>
              </a:rPr>
              <a:t>patents</a:t>
            </a:r>
            <a:r>
              <a:rPr lang="en-US" dirty="0"/>
              <a:t> granted in respect of inventions;</a:t>
            </a:r>
            <a:endParaRPr lang="pl-PL" dirty="0"/>
          </a:p>
          <a:p>
            <a:pPr lvl="0"/>
            <a:r>
              <a:rPr lang="en-US" b="1" dirty="0">
                <a:solidFill>
                  <a:srgbClr val="FF0000"/>
                </a:solidFill>
                <a:effectLst>
                  <a:outerShdw blurRad="38100" dist="38100" dir="2700000" algn="tl">
                    <a:srgbClr val="000000">
                      <a:alpha val="43137"/>
                    </a:srgbClr>
                  </a:outerShdw>
                </a:effectLst>
              </a:rPr>
              <a:t>utility models</a:t>
            </a:r>
            <a:r>
              <a:rPr lang="en-US" dirty="0"/>
              <a:t>;</a:t>
            </a:r>
            <a:endParaRPr lang="pl-PL" dirty="0"/>
          </a:p>
          <a:p>
            <a:pPr lvl="0"/>
            <a:r>
              <a:rPr lang="en-US" b="1" dirty="0">
                <a:solidFill>
                  <a:srgbClr val="FF0000"/>
                </a:solidFill>
                <a:effectLst>
                  <a:outerShdw blurRad="38100" dist="38100" dir="2700000" algn="tl">
                    <a:srgbClr val="000000">
                      <a:alpha val="43137"/>
                    </a:srgbClr>
                  </a:outerShdw>
                </a:effectLst>
              </a:rPr>
              <a:t>industrial designs</a:t>
            </a:r>
            <a:r>
              <a:rPr lang="en-US" dirty="0"/>
              <a:t>;</a:t>
            </a:r>
            <a:endParaRPr lang="pl-PL" dirty="0"/>
          </a:p>
          <a:p>
            <a:pPr lvl="0"/>
            <a:r>
              <a:rPr lang="pl-PL" b="1" dirty="0">
                <a:solidFill>
                  <a:srgbClr val="FF0000"/>
                </a:solidFill>
                <a:effectLst>
                  <a:outerShdw blurRad="38100" dist="38100" dir="2700000" algn="tl">
                    <a:srgbClr val="000000">
                      <a:alpha val="43137"/>
                    </a:srgbClr>
                  </a:outerShdw>
                </a:effectLst>
              </a:rPr>
              <a:t>trademarks</a:t>
            </a:r>
            <a:r>
              <a:rPr lang="pl-PL" dirty="0"/>
              <a:t>;</a:t>
            </a:r>
          </a:p>
          <a:p>
            <a:pPr lvl="0"/>
            <a:r>
              <a:rPr lang="en-US" b="1" dirty="0">
                <a:solidFill>
                  <a:srgbClr val="FF0000"/>
                </a:solidFill>
                <a:effectLst>
                  <a:outerShdw blurRad="38100" dist="38100" dir="2700000" algn="tl">
                    <a:srgbClr val="000000">
                      <a:alpha val="43137"/>
                    </a:srgbClr>
                  </a:outerShdw>
                </a:effectLst>
              </a:rPr>
              <a:t>geographical indications</a:t>
            </a:r>
            <a:r>
              <a:rPr lang="en-US" dirty="0"/>
              <a:t>;</a:t>
            </a:r>
            <a:endParaRPr lang="pl-PL" dirty="0"/>
          </a:p>
          <a:p>
            <a:pPr lvl="0"/>
            <a:r>
              <a:rPr lang="pl-PL" b="1" dirty="0">
                <a:solidFill>
                  <a:srgbClr val="7030A0"/>
                </a:solidFill>
              </a:rPr>
              <a:t>counteracting unfair competition</a:t>
            </a:r>
          </a:p>
          <a:p>
            <a:pPr>
              <a:buNone/>
            </a:pPr>
            <a:endParaRPr lang="pl-PL"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Legal basis</a:t>
            </a:r>
          </a:p>
        </p:txBody>
      </p:sp>
      <p:sp>
        <p:nvSpPr>
          <p:cNvPr id="3" name="Symbol zastępczy zawartości 2"/>
          <p:cNvSpPr>
            <a:spLocks noGrp="1"/>
          </p:cNvSpPr>
          <p:nvPr>
            <p:ph idx="1"/>
          </p:nvPr>
        </p:nvSpPr>
        <p:spPr/>
        <p:txBody>
          <a:bodyPr/>
          <a:lstStyle/>
          <a:p>
            <a:r>
              <a:rPr lang="pl-PL" sz="3600" b="1" dirty="0">
                <a:solidFill>
                  <a:srgbClr val="FF0000"/>
                </a:solidFill>
                <a:effectLst>
                  <a:outerShdw blurRad="38100" dist="38100" dir="2700000" algn="tl">
                    <a:srgbClr val="000000">
                      <a:alpha val="43137"/>
                    </a:srgbClr>
                  </a:outerShdw>
                </a:effectLst>
              </a:rPr>
              <a:t>Paris Convention </a:t>
            </a:r>
            <a:r>
              <a:rPr lang="pl-PL" sz="3600" b="1" dirty="0">
                <a:effectLst>
                  <a:outerShdw blurRad="38100" dist="38100" dir="2700000" algn="tl">
                    <a:srgbClr val="000000">
                      <a:alpha val="43137"/>
                    </a:srgbClr>
                  </a:outerShdw>
                </a:effectLst>
              </a:rPr>
              <a:t>of 20 March 1883</a:t>
            </a:r>
          </a:p>
          <a:p>
            <a:r>
              <a:rPr lang="pl-PL" sz="3600" b="1" dirty="0">
                <a:effectLst>
                  <a:outerShdw blurRad="38100" dist="38100" dir="2700000" algn="tl">
                    <a:srgbClr val="000000">
                      <a:alpha val="43137"/>
                    </a:srgbClr>
                  </a:outerShdw>
                </a:effectLst>
              </a:rPr>
              <a:t>The Act of 30 June 2000 </a:t>
            </a:r>
            <a:r>
              <a:rPr lang="pl-PL" sz="3600" b="1" dirty="0">
                <a:solidFill>
                  <a:srgbClr val="FF0000"/>
                </a:solidFill>
                <a:effectLst>
                  <a:outerShdw blurRad="38100" dist="38100" dir="2700000" algn="tl">
                    <a:srgbClr val="000000">
                      <a:alpha val="43137"/>
                    </a:srgbClr>
                  </a:outerShdw>
                </a:effectLst>
              </a:rPr>
              <a:t>Industrial property law </a:t>
            </a:r>
            <a:r>
              <a:rPr lang="pl-PL" sz="3600" b="1" dirty="0">
                <a:effectLst>
                  <a:outerShdw blurRad="38100" dist="38100" dir="2700000" algn="tl">
                    <a:srgbClr val="000000">
                      <a:alpha val="43137"/>
                    </a:srgbClr>
                  </a:outerShdw>
                </a:effectLst>
              </a:rPr>
              <a:t>(Poland), Journal of Law nr 49 item 58, as amended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highlight>
                  <a:srgbClr val="FFFF00"/>
                </a:highlight>
              </a:rPr>
              <a:t>Patent</a:t>
            </a:r>
          </a:p>
        </p:txBody>
      </p:sp>
      <p:sp>
        <p:nvSpPr>
          <p:cNvPr id="3" name="Symbol zastępczy zawartości 2"/>
          <p:cNvSpPr>
            <a:spLocks noGrp="1"/>
          </p:cNvSpPr>
          <p:nvPr>
            <p:ph idx="1"/>
          </p:nvPr>
        </p:nvSpPr>
        <p:spPr>
          <a:xfrm>
            <a:off x="457200" y="1600200"/>
            <a:ext cx="8229600" cy="5257800"/>
          </a:xfrm>
        </p:spPr>
        <p:txBody>
          <a:bodyPr/>
          <a:lstStyle/>
          <a:p>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Patent is granted on </a:t>
            </a:r>
            <a:r>
              <a:rPr lang="pl-PL" sz="2400" b="1" dirty="0">
                <a:solidFill>
                  <a:srgbClr val="FF0000"/>
                </a:solidFill>
                <a:effectLst>
                  <a:outerShdw blurRad="38100" dist="38100" dir="2700000" algn="tl">
                    <a:srgbClr val="000000">
                      <a:alpha val="43137"/>
                    </a:srgbClr>
                  </a:outerShdw>
                </a:effectLst>
                <a:latin typeface="Arial Black" panose="020B0A04020102020204" pitchFamily="34" charset="0"/>
              </a:rPr>
              <a:t>an</a:t>
            </a:r>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 </a:t>
            </a:r>
            <a:r>
              <a:rPr lang="en-US" sz="2400" b="1" dirty="0">
                <a:solidFill>
                  <a:srgbClr val="FF0000"/>
                </a:solidFill>
                <a:effectLst>
                  <a:outerShdw blurRad="38100" dist="38100" dir="2700000" algn="tl">
                    <a:srgbClr val="000000">
                      <a:alpha val="43137"/>
                    </a:srgbClr>
                  </a:outerShdw>
                </a:effectLst>
                <a:highlight>
                  <a:srgbClr val="00FFFF"/>
                </a:highlight>
                <a:latin typeface="Arial Black" panose="020B0A04020102020204" pitchFamily="34" charset="0"/>
              </a:rPr>
              <a:t>invention</a:t>
            </a:r>
            <a:r>
              <a:rPr lang="pl-PL" sz="2400" b="1" dirty="0">
                <a:solidFill>
                  <a:srgbClr val="FF0000"/>
                </a:solidFill>
                <a:effectLst>
                  <a:outerShdw blurRad="38100" dist="38100" dir="2700000" algn="tl">
                    <a:srgbClr val="000000">
                      <a:alpha val="43137"/>
                    </a:srgbClr>
                  </a:outerShdw>
                </a:effectLst>
                <a:highlight>
                  <a:srgbClr val="00FFFF"/>
                </a:highlight>
                <a:latin typeface="Arial Black" panose="020B0A04020102020204" pitchFamily="34" charset="0"/>
              </a:rPr>
              <a:t> </a:t>
            </a:r>
            <a:r>
              <a:rPr lang="pl-PL" sz="2400" b="1" dirty="0">
                <a:solidFill>
                  <a:srgbClr val="002060"/>
                </a:solidFill>
                <a:effectLst>
                  <a:outerShdw blurRad="38100" dist="38100" dir="2700000" algn="tl">
                    <a:srgbClr val="000000">
                      <a:alpha val="43137"/>
                    </a:srgbClr>
                  </a:outerShdw>
                </a:effectLst>
                <a:latin typeface="Arial Black" panose="020B0A04020102020204" pitchFamily="34" charset="0"/>
              </a:rPr>
              <a:t>(Polish: wynalazek)</a:t>
            </a:r>
            <a:endParaRPr lang="en-US" sz="2400" b="1" dirty="0">
              <a:solidFill>
                <a:srgbClr val="002060"/>
              </a:solidFill>
              <a:effectLst>
                <a:outerShdw blurRad="38100" dist="38100" dir="2700000" algn="tl">
                  <a:srgbClr val="000000">
                    <a:alpha val="43137"/>
                  </a:srgbClr>
                </a:outerShdw>
              </a:effectLst>
              <a:latin typeface="Arial Black" panose="020B0A04020102020204" pitchFamily="34" charset="0"/>
            </a:endParaRPr>
          </a:p>
          <a:p>
            <a:r>
              <a:rPr lang="en-US" sz="2400" dirty="0">
                <a:effectLst>
                  <a:outerShdw blurRad="38100" dist="38100" dir="2700000" algn="tl">
                    <a:srgbClr val="000000">
                      <a:alpha val="43137"/>
                    </a:srgbClr>
                  </a:outerShdw>
                </a:effectLst>
              </a:rPr>
              <a:t>capable of industrial </a:t>
            </a:r>
            <a:r>
              <a:rPr lang="en-US" sz="2400" b="1" dirty="0">
                <a:solidFill>
                  <a:srgbClr val="FF0000"/>
                </a:solidFill>
                <a:effectLst>
                  <a:outerShdw blurRad="38100" dist="38100" dir="2700000" algn="tl">
                    <a:srgbClr val="000000">
                      <a:alpha val="43137"/>
                    </a:srgbClr>
                  </a:outerShdw>
                </a:effectLst>
              </a:rPr>
              <a:t>application</a:t>
            </a:r>
          </a:p>
          <a:p>
            <a:r>
              <a:rPr lang="en-US" sz="24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Not the state of the art </a:t>
            </a:r>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(to an expert)</a:t>
            </a:r>
            <a:endParaRPr lang="pl-PL" sz="2400" b="1" dirty="0">
              <a:solidFill>
                <a:srgbClr val="FF0000"/>
              </a:solidFill>
              <a:effectLst>
                <a:outerShdw blurRad="38100" dist="38100" dir="2700000" algn="tl">
                  <a:srgbClr val="000000">
                    <a:alpha val="43137"/>
                  </a:srgbClr>
                </a:outerShdw>
              </a:effectLst>
              <a:latin typeface="Arial Black" panose="020B0A04020102020204" pitchFamily="34" charset="0"/>
            </a:endParaRPr>
          </a:p>
          <a:p>
            <a:r>
              <a:rPr lang="en-US" sz="24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Not revealed </a:t>
            </a:r>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earlier in any form, including by application</a:t>
            </a:r>
            <a:endParaRPr lang="en-US" sz="2400" b="1" dirty="0">
              <a:solidFill>
                <a:srgbClr val="7030A0"/>
              </a:solidFill>
              <a:effectLst>
                <a:outerShdw blurRad="38100" dist="38100" dir="2700000" algn="tl">
                  <a:srgbClr val="000000">
                    <a:alpha val="43137"/>
                  </a:srgbClr>
                </a:outerShdw>
              </a:effectLst>
            </a:endParaRPr>
          </a:p>
          <a:p>
            <a:r>
              <a:rPr lang="en-US" sz="2400" b="1" dirty="0">
                <a:solidFill>
                  <a:srgbClr val="002060"/>
                </a:solidFill>
                <a:effectLst>
                  <a:outerShdw blurRad="38100" dist="38100" dir="2700000" algn="tl">
                    <a:srgbClr val="000000">
                      <a:alpha val="43137"/>
                    </a:srgbClr>
                  </a:outerShdw>
                </a:effectLst>
              </a:rPr>
              <a:t>Allowed </a:t>
            </a:r>
            <a:r>
              <a:rPr lang="pl-PL" sz="2400" b="1" dirty="0">
                <a:solidFill>
                  <a:srgbClr val="002060"/>
                </a:solidFill>
                <a:effectLst>
                  <a:outerShdw blurRad="38100" dist="38100" dir="2700000" algn="tl">
                    <a:srgbClr val="000000">
                      <a:alpha val="43137"/>
                    </a:srgbClr>
                  </a:outerShdw>
                </a:effectLst>
              </a:rPr>
              <a:t>- </a:t>
            </a:r>
            <a:r>
              <a:rPr lang="en-US" sz="2400" b="1" dirty="0">
                <a:solidFill>
                  <a:srgbClr val="002060"/>
                </a:solidFill>
                <a:effectLst>
                  <a:outerShdw blurRad="38100" dist="38100" dir="2700000" algn="tl">
                    <a:srgbClr val="000000">
                      <a:alpha val="43137"/>
                    </a:srgbClr>
                  </a:outerShdw>
                </a:effectLst>
              </a:rPr>
              <a:t>patents on </a:t>
            </a:r>
            <a:r>
              <a:rPr lang="en-US" sz="2400" b="1" dirty="0">
                <a:solidFill>
                  <a:srgbClr val="FF0000"/>
                </a:solidFill>
                <a:effectLst>
                  <a:outerShdw blurRad="38100" dist="38100" dir="2700000" algn="tl">
                    <a:srgbClr val="000000">
                      <a:alpha val="43137"/>
                    </a:srgbClr>
                  </a:outerShdw>
                </a:effectLst>
                <a:highlight>
                  <a:srgbClr val="00FFFF"/>
                </a:highlight>
              </a:rPr>
              <a:t>substances or mixes </a:t>
            </a:r>
            <a:r>
              <a:rPr lang="en-US" sz="2400" b="1" dirty="0">
                <a:solidFill>
                  <a:srgbClr val="FF0000"/>
                </a:solidFill>
                <a:effectLst>
                  <a:outerShdw blurRad="38100" dist="38100" dir="2700000" algn="tl">
                    <a:srgbClr val="000000">
                      <a:alpha val="43137"/>
                    </a:srgbClr>
                  </a:outerShdw>
                </a:effectLst>
              </a:rPr>
              <a:t>of substances </a:t>
            </a:r>
            <a:r>
              <a:rPr lang="en-US" sz="2400" b="1" dirty="0">
                <a:solidFill>
                  <a:srgbClr val="002060"/>
                </a:solidFill>
                <a:effectLst>
                  <a:outerShdw blurRad="38100" dist="38100" dir="2700000" algn="tl">
                    <a:srgbClr val="000000">
                      <a:alpha val="43137"/>
                    </a:srgbClr>
                  </a:outerShdw>
                </a:effectLst>
              </a:rPr>
              <a:t>beneficial for </a:t>
            </a:r>
            <a:r>
              <a:rPr lang="en-US" sz="2400" b="1" dirty="0">
                <a:solidFill>
                  <a:srgbClr val="FF0000"/>
                </a:solidFill>
                <a:effectLst>
                  <a:outerShdw blurRad="38100" dist="38100" dir="2700000" algn="tl">
                    <a:srgbClr val="000000">
                      <a:alpha val="43137"/>
                    </a:srgbClr>
                  </a:outerShdw>
                </a:effectLst>
              </a:rPr>
              <a:t>medical treatment </a:t>
            </a:r>
            <a:r>
              <a:rPr lang="en-US" sz="2400" b="1" dirty="0">
                <a:solidFill>
                  <a:srgbClr val="002060"/>
                </a:solidFill>
                <a:effectLst>
                  <a:outerShdw blurRad="38100" dist="38100" dir="2700000" algn="tl">
                    <a:srgbClr val="000000">
                      <a:alpha val="43137"/>
                    </a:srgbClr>
                  </a:outerShdw>
                </a:effectLst>
                <a:highlight>
                  <a:srgbClr val="00FFFF"/>
                </a:highlight>
              </a:rPr>
              <a:t>even if they are</a:t>
            </a:r>
            <a:r>
              <a:rPr lang="pl-PL" sz="2400" b="1" dirty="0">
                <a:solidFill>
                  <a:srgbClr val="002060"/>
                </a:solidFill>
                <a:effectLst>
                  <a:outerShdw blurRad="38100" dist="38100" dir="2700000" algn="tl">
                    <a:srgbClr val="000000">
                      <a:alpha val="43137"/>
                    </a:srgbClr>
                  </a:outerShdw>
                </a:effectLst>
                <a:highlight>
                  <a:srgbClr val="00FFFF"/>
                </a:highlight>
              </a:rPr>
              <a:t> </a:t>
            </a:r>
            <a:r>
              <a:rPr lang="en-US" sz="2400" b="1" dirty="0">
                <a:solidFill>
                  <a:srgbClr val="002060"/>
                </a:solidFill>
                <a:effectLst>
                  <a:outerShdw blurRad="38100" dist="38100" dir="2700000" algn="tl">
                    <a:srgbClr val="000000">
                      <a:alpha val="43137"/>
                    </a:srgbClr>
                  </a:outerShdw>
                </a:effectLst>
                <a:highlight>
                  <a:srgbClr val="00FFFF"/>
                </a:highlight>
              </a:rPr>
              <a:t>the state of art</a:t>
            </a:r>
          </a:p>
          <a:p>
            <a:r>
              <a:rPr lang="en-US" sz="2400" b="1" dirty="0">
                <a:effectLst>
                  <a:outerShdw blurRad="38100" dist="38100" dir="2700000" algn="tl">
                    <a:srgbClr val="000000">
                      <a:alpha val="43137"/>
                    </a:srgbClr>
                  </a:outerShdw>
                </a:effectLst>
              </a:rPr>
              <a:t>Protection begins with </a:t>
            </a:r>
            <a:r>
              <a:rPr lang="en-US" sz="2400" b="1" dirty="0">
                <a:solidFill>
                  <a:srgbClr val="FF0000"/>
                </a:solidFill>
                <a:effectLst>
                  <a:outerShdw blurRad="38100" dist="38100" dir="2700000" algn="tl">
                    <a:srgbClr val="000000">
                      <a:alpha val="43137"/>
                    </a:srgbClr>
                  </a:outerShdw>
                </a:effectLst>
              </a:rPr>
              <a:t>filing of application </a:t>
            </a:r>
            <a:r>
              <a:rPr lang="en-US" sz="2400" dirty="0">
                <a:effectLst>
                  <a:outerShdw blurRad="38100" dist="38100" dir="2700000" algn="tl">
                    <a:srgbClr val="000000">
                      <a:alpha val="43137"/>
                    </a:srgbClr>
                  </a:outerShdw>
                </a:effectLst>
              </a:rPr>
              <a:t>with the </a:t>
            </a:r>
            <a:r>
              <a:rPr lang="en-US" sz="2400" b="1" dirty="0">
                <a:solidFill>
                  <a:srgbClr val="002060"/>
                </a:solidFill>
                <a:effectLst>
                  <a:outerShdw blurRad="38100" dist="38100" dir="2700000" algn="tl">
                    <a:srgbClr val="000000">
                      <a:alpha val="43137"/>
                    </a:srgbClr>
                  </a:outerShdw>
                </a:effectLst>
              </a:rPr>
              <a:t>Polish Patent Office </a:t>
            </a:r>
            <a:r>
              <a:rPr lang="en-US" sz="2400" dirty="0">
                <a:effectLst>
                  <a:outerShdw blurRad="38100" dist="38100" dir="2700000" algn="tl">
                    <a:srgbClr val="000000">
                      <a:alpha val="43137"/>
                    </a:srgbClr>
                  </a:outerShdw>
                </a:effectLst>
              </a:rPr>
              <a:t>(PPO) and upon verification that the invention merits to be patented </a:t>
            </a:r>
            <a:r>
              <a:rPr lang="en-US" sz="2400" i="1" dirty="0">
                <a:effectLst>
                  <a:outerShdw blurRad="38100" dist="38100" dir="2700000" algn="tl">
                    <a:srgbClr val="000000">
                      <a:alpha val="43137"/>
                    </a:srgbClr>
                  </a:outerShdw>
                </a:effectLst>
              </a:rPr>
              <a:t>(alternatively, abroad with the EU + international exhibition→)</a:t>
            </a:r>
          </a:p>
          <a:p>
            <a:pPr>
              <a:buNone/>
            </a:pPr>
            <a:endParaRPr lang="en-US" b="1"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Patent</a:t>
            </a:r>
            <a:r>
              <a:rPr lang="pl-PL" b="1" dirty="0">
                <a:solidFill>
                  <a:srgbClr val="0070C0"/>
                </a:solidFill>
                <a:effectLst>
                  <a:outerShdw blurRad="38100" dist="38100" dir="2700000" algn="tl">
                    <a:srgbClr val="000000">
                      <a:alpha val="43137"/>
                    </a:srgbClr>
                  </a:outerShdw>
                </a:effectLst>
              </a:rPr>
              <a:t> </a:t>
            </a:r>
          </a:p>
        </p:txBody>
      </p:sp>
      <p:sp>
        <p:nvSpPr>
          <p:cNvPr id="3" name="Symbol zastępczy zawartości 2"/>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Priority depends on the </a:t>
            </a:r>
            <a:r>
              <a:rPr lang="en-US" b="1" dirty="0">
                <a:solidFill>
                  <a:srgbClr val="FF0000"/>
                </a:solidFill>
                <a:effectLst>
                  <a:outerShdw blurRad="38100" dist="38100" dir="2700000" algn="tl">
                    <a:srgbClr val="000000">
                      <a:alpha val="43137"/>
                    </a:srgbClr>
                  </a:outerShdw>
                </a:effectLst>
                <a:highlight>
                  <a:srgbClr val="00FFFF"/>
                </a:highlight>
                <a:latin typeface="Arial Black" panose="020B0A04020102020204" pitchFamily="34" charset="0"/>
              </a:rPr>
              <a:t>time</a:t>
            </a:r>
            <a:r>
              <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 of filing</a:t>
            </a:r>
            <a:r>
              <a:rPr lang="pl-PL"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 with the Patent Office</a:t>
            </a:r>
            <a:endPar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endParaRPr>
          </a:p>
          <a:p>
            <a:r>
              <a:rPr lang="en-US" b="1" dirty="0">
                <a:solidFill>
                  <a:srgbClr val="002060"/>
                </a:solidFill>
              </a:rPr>
              <a:t>If two persons filed for a patent at the same time </a:t>
            </a:r>
            <a:r>
              <a:rPr lang="en-US" b="1" dirty="0">
                <a:solidFill>
                  <a:srgbClr val="FF0000"/>
                </a:solidFill>
                <a:effectLst>
                  <a:outerShdw blurRad="38100" dist="38100" dir="2700000" algn="tl">
                    <a:srgbClr val="000000">
                      <a:alpha val="43137"/>
                    </a:srgbClr>
                  </a:outerShdw>
                </a:effectLst>
                <a:highlight>
                  <a:srgbClr val="00FFFF"/>
                </a:highlight>
              </a:rPr>
              <a:t>both of them </a:t>
            </a:r>
            <a:r>
              <a:rPr lang="en-US" b="1" dirty="0">
                <a:solidFill>
                  <a:srgbClr val="002060"/>
                </a:solidFill>
              </a:rPr>
              <a:t>acquire the right to the invention</a:t>
            </a:r>
            <a:endParaRPr lang="pl-PL" b="1" dirty="0">
              <a:solidFill>
                <a:srgbClr val="002060"/>
              </a:solidFill>
            </a:endParaRPr>
          </a:p>
          <a:p>
            <a:r>
              <a:rPr lang="en-US" b="1" dirty="0">
                <a:solidFill>
                  <a:srgbClr val="FF0000"/>
                </a:solidFill>
                <a:effectLst>
                  <a:outerShdw blurRad="38100" dist="38100" dir="2700000" algn="tl">
                    <a:srgbClr val="000000">
                      <a:alpha val="43137"/>
                    </a:srgbClr>
                  </a:outerShdw>
                </a:effectLst>
                <a:highlight>
                  <a:srgbClr val="00FFFF"/>
                </a:highlight>
              </a:rPr>
              <a:t>20</a:t>
            </a:r>
            <a:r>
              <a:rPr lang="en-US" b="1" dirty="0">
                <a:solidFill>
                  <a:srgbClr val="FF0000"/>
                </a:solidFill>
                <a:effectLst>
                  <a:outerShdw blurRad="38100" dist="38100" dir="2700000" algn="tl">
                    <a:srgbClr val="000000">
                      <a:alpha val="43137"/>
                    </a:srgbClr>
                  </a:outerShdw>
                </a:effectLst>
                <a:highlight>
                  <a:srgbClr val="FFFF00"/>
                </a:highlight>
              </a:rPr>
              <a:t> years protection</a:t>
            </a:r>
          </a:p>
          <a:p>
            <a:r>
              <a:rPr lang="en-US" b="1" dirty="0">
                <a:solidFill>
                  <a:srgbClr val="FF0000"/>
                </a:solidFill>
                <a:effectLst>
                  <a:outerShdw blurRad="38100" dist="38100" dir="2700000" algn="tl">
                    <a:srgbClr val="000000">
                      <a:alpha val="43137"/>
                    </a:srgbClr>
                  </a:outerShdw>
                </a:effectLst>
                <a:highlight>
                  <a:srgbClr val="FFFF00"/>
                </a:highlight>
              </a:rPr>
              <a:t>Exclusive right (</a:t>
            </a:r>
            <a:r>
              <a:rPr lang="en-US" b="1" dirty="0">
                <a:solidFill>
                  <a:srgbClr val="FF0000"/>
                </a:solidFill>
                <a:effectLst>
                  <a:outerShdw blurRad="38100" dist="38100" dir="2700000" algn="tl">
                    <a:srgbClr val="000000">
                      <a:alpha val="43137"/>
                    </a:srgbClr>
                  </a:outerShdw>
                </a:effectLst>
                <a:highlight>
                  <a:srgbClr val="00FFFF"/>
                </a:highlight>
              </a:rPr>
              <a:t>monopoly</a:t>
            </a:r>
            <a:r>
              <a:rPr lang="en-US" b="1" dirty="0">
                <a:solidFill>
                  <a:srgbClr val="FF0000"/>
                </a:solidFill>
                <a:effectLst>
                  <a:outerShdw blurRad="38100" dist="38100" dir="2700000" algn="tl">
                    <a:srgbClr val="000000">
                      <a:alpha val="43137"/>
                    </a:srgbClr>
                  </a:outerShdw>
                </a:effectLst>
                <a:highlight>
                  <a:srgbClr val="FFFF00"/>
                </a:highlight>
              </a:rPr>
              <a:t>)</a:t>
            </a:r>
            <a:r>
              <a:rPr lang="pl-PL" b="1" dirty="0">
                <a:solidFill>
                  <a:srgbClr val="FF0000"/>
                </a:solidFill>
                <a:effectLst>
                  <a:outerShdw blurRad="38100" dist="38100" dir="2700000" algn="tl">
                    <a:srgbClr val="000000">
                      <a:alpha val="43137"/>
                    </a:srgbClr>
                  </a:outerShdw>
                </a:effectLst>
                <a:highlight>
                  <a:srgbClr val="FFFF00"/>
                </a:highlight>
              </a:rPr>
              <a:t> – conflict with competition law </a:t>
            </a:r>
            <a:endParaRPr lang="en-US" b="1" dirty="0">
              <a:effectLst>
                <a:outerShdw blurRad="38100" dist="38100" dir="2700000" algn="tl">
                  <a:srgbClr val="000000">
                    <a:alpha val="43137"/>
                  </a:srgbClr>
                </a:outerShdw>
              </a:effectLst>
              <a:highlight>
                <a:srgbClr val="FFFF00"/>
              </a:highlight>
            </a:endParaRPr>
          </a:p>
          <a:p>
            <a:pPr marL="0" indent="0">
              <a:buNone/>
            </a:pPr>
            <a:endParaRPr lang="en-US" b="1" dirty="0">
              <a:solidFill>
                <a:srgbClr val="002060"/>
              </a:solidFill>
            </a:endParaRPr>
          </a:p>
        </p:txBody>
      </p:sp>
    </p:spTree>
    <p:extLst>
      <p:ext uri="{BB962C8B-B14F-4D97-AF65-F5344CB8AC3E}">
        <p14:creationId xmlns:p14="http://schemas.microsoft.com/office/powerpoint/2010/main" val="24714321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Patent</a:t>
            </a:r>
          </a:p>
        </p:txBody>
      </p:sp>
      <p:sp>
        <p:nvSpPr>
          <p:cNvPr id="3" name="Symbol zastępczy zawartości 2"/>
          <p:cNvSpPr>
            <a:spLocks noGrp="1"/>
          </p:cNvSpPr>
          <p:nvPr>
            <p:ph idx="1"/>
          </p:nvPr>
        </p:nvSpPr>
        <p:spPr/>
        <p:txBody>
          <a:bodyPr/>
          <a:lstStyle/>
          <a:p>
            <a:r>
              <a:rPr lang="en-US" sz="2400" b="1" dirty="0">
                <a:solidFill>
                  <a:srgbClr val="002060"/>
                </a:solidFill>
                <a:effectLst>
                  <a:outerShdw blurRad="38100" dist="38100" dir="2700000" algn="tl">
                    <a:srgbClr val="000000">
                      <a:alpha val="43137"/>
                    </a:srgbClr>
                  </a:outerShdw>
                </a:effectLst>
                <a:latin typeface="Arial Black" panose="020B0A04020102020204" pitchFamily="34" charset="0"/>
              </a:rPr>
              <a:t>Filed by the author</a:t>
            </a:r>
          </a:p>
          <a:p>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Transferable</a:t>
            </a:r>
          </a:p>
          <a:p>
            <a:r>
              <a:rPr lang="en-US" sz="2400" b="1" dirty="0">
                <a:solidFill>
                  <a:srgbClr val="002060"/>
                </a:solidFill>
                <a:effectLst>
                  <a:outerShdw blurRad="38100" dist="38100" dir="2700000" algn="tl">
                    <a:srgbClr val="000000">
                      <a:alpha val="43137"/>
                    </a:srgbClr>
                  </a:outerShdw>
                </a:effectLst>
              </a:rPr>
              <a:t>Hereditable</a:t>
            </a:r>
          </a:p>
          <a:p>
            <a:r>
              <a:rPr lang="en-US" sz="2400" b="1" dirty="0">
                <a:solidFill>
                  <a:srgbClr val="002060"/>
                </a:solidFill>
                <a:effectLst>
                  <a:outerShdw blurRad="38100" dist="38100" dir="2700000" algn="tl">
                    <a:srgbClr val="000000">
                      <a:alpha val="43137"/>
                    </a:srgbClr>
                  </a:outerShdw>
                </a:effectLst>
                <a:latin typeface="Arial Black" panose="020B0A04020102020204" pitchFamily="34" charset="0"/>
              </a:rPr>
              <a:t>Presentatio</a:t>
            </a:r>
            <a:r>
              <a:rPr lang="pl-PL" sz="2400" b="1" dirty="0">
                <a:solidFill>
                  <a:srgbClr val="002060"/>
                </a:solidFill>
                <a:effectLst>
                  <a:outerShdw blurRad="38100" dist="38100" dir="2700000" algn="tl">
                    <a:srgbClr val="000000">
                      <a:alpha val="43137"/>
                    </a:srgbClr>
                  </a:outerShdw>
                </a:effectLst>
                <a:latin typeface="Arial Black" panose="020B0A04020102020204" pitchFamily="34" charset="0"/>
              </a:rPr>
              <a:t>n</a:t>
            </a:r>
            <a:r>
              <a:rPr lang="en-US" sz="2400" b="1" dirty="0">
                <a:solidFill>
                  <a:srgbClr val="002060"/>
                </a:solidFill>
                <a:effectLst>
                  <a:outerShdw blurRad="38100" dist="38100" dir="2700000" algn="tl">
                    <a:srgbClr val="000000">
                      <a:alpha val="43137"/>
                    </a:srgbClr>
                  </a:outerShdw>
                </a:effectLst>
                <a:latin typeface="Arial Black" panose="020B0A04020102020204" pitchFamily="34" charset="0"/>
              </a:rPr>
              <a:t> at a</a:t>
            </a:r>
            <a:r>
              <a:rPr lang="pl-PL" sz="2400" b="1" dirty="0">
                <a:solidFill>
                  <a:srgbClr val="002060"/>
                </a:solidFill>
                <a:effectLst>
                  <a:outerShdw blurRad="38100" dist="38100" dir="2700000" algn="tl">
                    <a:srgbClr val="000000">
                      <a:alpha val="43137"/>
                    </a:srgbClr>
                  </a:outerShdw>
                </a:effectLst>
                <a:latin typeface="Arial Black" panose="020B0A04020102020204" pitchFamily="34" charset="0"/>
              </a:rPr>
              <a:t>n </a:t>
            </a:r>
            <a:r>
              <a:rPr lang="pl-PL" sz="2400" b="1" dirty="0">
                <a:solidFill>
                  <a:srgbClr val="0070C0"/>
                </a:solidFill>
                <a:effectLst>
                  <a:outerShdw blurRad="38100" dist="38100" dir="2700000" algn="tl">
                    <a:srgbClr val="000000">
                      <a:alpha val="43137"/>
                    </a:srgbClr>
                  </a:outerShdw>
                </a:effectLst>
                <a:latin typeface="Arial Black" panose="020B0A04020102020204" pitchFamily="34" charset="0"/>
              </a:rPr>
              <a:t>official or reputable</a:t>
            </a:r>
            <a:r>
              <a:rPr lang="en-US" sz="2400" b="1" dirty="0">
                <a:solidFill>
                  <a:srgbClr val="0070C0"/>
                </a:solidFill>
                <a:effectLst>
                  <a:outerShdw blurRad="38100" dist="38100" dir="2700000" algn="tl">
                    <a:srgbClr val="000000">
                      <a:alpha val="43137"/>
                    </a:srgbClr>
                  </a:outerShdw>
                </a:effectLst>
                <a:latin typeface="Arial Black" panose="020B0A04020102020204" pitchFamily="34" charset="0"/>
              </a:rPr>
              <a:t> </a:t>
            </a:r>
            <a:r>
              <a:rPr lang="pl-PL" sz="2400" b="1" dirty="0">
                <a:solidFill>
                  <a:srgbClr val="0070C0"/>
                </a:solidFill>
                <a:effectLst>
                  <a:outerShdw blurRad="38100" dist="38100" dir="2700000" algn="tl">
                    <a:srgbClr val="000000">
                      <a:alpha val="43137"/>
                    </a:srgbClr>
                  </a:outerShdw>
                </a:effectLst>
                <a:latin typeface="Arial Black" panose="020B0A04020102020204" pitchFamily="34" charset="0"/>
              </a:rPr>
              <a:t>international </a:t>
            </a:r>
            <a:r>
              <a:rPr lang="en-US" sz="24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exhibition</a:t>
            </a:r>
            <a:r>
              <a:rPr lang="en-US" sz="2400" b="1" dirty="0">
                <a:solidFill>
                  <a:srgbClr val="002060"/>
                </a:solidFill>
                <a:effectLst>
                  <a:outerShdw blurRad="38100" dist="38100" dir="2700000" algn="tl">
                    <a:srgbClr val="000000">
                      <a:alpha val="43137"/>
                    </a:srgbClr>
                  </a:outerShdw>
                </a:effectLst>
                <a:highlight>
                  <a:srgbClr val="FFFF00"/>
                </a:highlight>
              </a:rPr>
              <a:t> </a:t>
            </a:r>
            <a:r>
              <a:rPr lang="pl-PL" sz="2400" b="1" dirty="0">
                <a:solidFill>
                  <a:srgbClr val="FF0000"/>
                </a:solidFill>
                <a:effectLst>
                  <a:outerShdw blurRad="38100" dist="38100" dir="2700000" algn="tl">
                    <a:srgbClr val="000000">
                      <a:alpha val="43137"/>
                    </a:srgbClr>
                  </a:outerShdw>
                </a:effectLst>
                <a:highlight>
                  <a:srgbClr val="00FFFF"/>
                </a:highlight>
                <a:latin typeface="Arial Black" panose="020B0A04020102020204" pitchFamily="34" charset="0"/>
              </a:rPr>
              <a:t>recognized</a:t>
            </a:r>
            <a:r>
              <a:rPr lang="pl-PL" sz="2400" b="1" dirty="0">
                <a:solidFill>
                  <a:srgbClr val="FF0000"/>
                </a:solidFill>
                <a:effectLst>
                  <a:outerShdw blurRad="38100" dist="38100" dir="2700000" algn="tl">
                    <a:srgbClr val="000000">
                      <a:alpha val="43137"/>
                    </a:srgbClr>
                  </a:outerShdw>
                </a:effectLst>
                <a:latin typeface="Arial Black" panose="020B0A04020102020204" pitchFamily="34" charset="0"/>
              </a:rPr>
              <a:t> </a:t>
            </a:r>
            <a:r>
              <a:rPr lang="pl-PL" sz="2400" b="1" dirty="0">
                <a:solidFill>
                  <a:srgbClr val="002060"/>
                </a:solidFill>
                <a:effectLst>
                  <a:outerShdw blurRad="38100" dist="38100" dir="2700000" algn="tl">
                    <a:srgbClr val="000000">
                      <a:alpha val="43137"/>
                    </a:srgbClr>
                  </a:outerShdw>
                </a:effectLst>
              </a:rPr>
              <a:t>by PPO </a:t>
            </a:r>
            <a:r>
              <a:rPr lang="en-US" sz="2400" b="1" dirty="0">
                <a:solidFill>
                  <a:srgbClr val="002060"/>
                </a:solidFill>
                <a:effectLst>
                  <a:outerShdw blurRad="38100" dist="38100" dir="2700000" algn="tl">
                    <a:srgbClr val="000000">
                      <a:alpha val="43137"/>
                    </a:srgbClr>
                  </a:outerShdw>
                </a:effectLst>
              </a:rPr>
              <a:t>also marks the </a:t>
            </a:r>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beginning of protection </a:t>
            </a:r>
            <a:r>
              <a:rPr lang="en-US" sz="2400" b="1" dirty="0">
                <a:solidFill>
                  <a:srgbClr val="002060"/>
                </a:solidFill>
                <a:effectLst>
                  <a:outerShdw blurRad="38100" dist="38100" dir="2700000" algn="tl">
                    <a:srgbClr val="000000">
                      <a:alpha val="43137"/>
                    </a:srgbClr>
                  </a:outerShdw>
                </a:effectLst>
              </a:rPr>
              <a:t>(temporary protection)</a:t>
            </a:r>
          </a:p>
          <a:p>
            <a:r>
              <a:rPr lang="en-US" sz="2400" b="1" dirty="0">
                <a:solidFill>
                  <a:srgbClr val="002060"/>
                </a:solidFill>
                <a:effectLst>
                  <a:outerShdw blurRad="38100" dist="38100" dir="2700000" algn="tl">
                    <a:srgbClr val="000000">
                      <a:alpha val="43137"/>
                    </a:srgbClr>
                  </a:outerShdw>
                </a:effectLst>
                <a:latin typeface="Arial Black" panose="020B0A04020102020204" pitchFamily="34" charset="0"/>
              </a:rPr>
              <a:t>Maybe </a:t>
            </a:r>
            <a:r>
              <a:rPr lang="pl-PL" sz="2400" b="1" dirty="0">
                <a:solidFill>
                  <a:srgbClr val="002060"/>
                </a:solidFill>
                <a:effectLst>
                  <a:outerShdw blurRad="38100" dist="38100" dir="2700000" algn="tl">
                    <a:srgbClr val="000000">
                      <a:alpha val="43137"/>
                    </a:srgbClr>
                  </a:outerShdw>
                </a:effectLst>
                <a:latin typeface="Arial Black" panose="020B0A04020102020204" pitchFamily="34" charset="0"/>
              </a:rPr>
              <a:t>effected </a:t>
            </a:r>
            <a:r>
              <a:rPr lang="en-US" sz="2400" b="1" dirty="0">
                <a:solidFill>
                  <a:srgbClr val="002060"/>
                </a:solidFill>
                <a:effectLst>
                  <a:outerShdw blurRad="38100" dist="38100" dir="2700000" algn="tl">
                    <a:srgbClr val="000000">
                      <a:alpha val="43137"/>
                    </a:srgbClr>
                  </a:outerShdw>
                </a:effectLst>
                <a:latin typeface="Arial Black" panose="020B0A04020102020204" pitchFamily="34" charset="0"/>
              </a:rPr>
              <a:t>under </a:t>
            </a:r>
            <a:r>
              <a:rPr lang="pl-PL" sz="2400" b="1" dirty="0">
                <a:solidFill>
                  <a:srgbClr val="002060"/>
                </a:solidFill>
                <a:effectLst>
                  <a:outerShdw blurRad="38100" dist="38100" dir="2700000" algn="tl">
                    <a:srgbClr val="000000">
                      <a:alpha val="43137"/>
                    </a:srgbClr>
                  </a:outerShdw>
                </a:effectLst>
                <a:latin typeface="Arial Black" panose="020B0A04020102020204" pitchFamily="34" charset="0"/>
              </a:rPr>
              <a:t>an </a:t>
            </a:r>
            <a:r>
              <a:rPr lang="en-US" sz="24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employment contract </a:t>
            </a:r>
            <a:r>
              <a:rPr lang="en-US" sz="2400" b="1" dirty="0">
                <a:solidFill>
                  <a:srgbClr val="002060"/>
                </a:solidFill>
                <a:effectLst>
                  <a:outerShdw blurRad="38100" dist="38100" dir="2700000" algn="tl">
                    <a:srgbClr val="000000">
                      <a:alpha val="43137"/>
                    </a:srgbClr>
                  </a:outerShdw>
                </a:effectLst>
              </a:rPr>
              <a:t>(</a:t>
            </a:r>
            <a:r>
              <a:rPr lang="pl-PL" sz="2800" b="1" dirty="0">
                <a:solidFill>
                  <a:srgbClr val="002060"/>
                </a:solidFill>
                <a:effectLst>
                  <a:outerShdw blurRad="38100" dist="38100" dir="2700000" algn="tl">
                    <a:srgbClr val="000000">
                      <a:alpha val="43137"/>
                    </a:srgbClr>
                  </a:outerShdw>
                </a:effectLst>
              </a:rPr>
              <a:t>remuneration</a:t>
            </a:r>
            <a:r>
              <a:rPr lang="en-US" sz="2800" b="1" dirty="0">
                <a:solidFill>
                  <a:srgbClr val="002060"/>
                </a:solidFill>
                <a:effectLst>
                  <a:outerShdw blurRad="38100" dist="38100" dir="2700000" algn="tl">
                    <a:srgbClr val="000000">
                      <a:alpha val="43137"/>
                    </a:srgbClr>
                  </a:outerShdw>
                </a:effectLst>
              </a:rPr>
              <a:t> as agreed or in proportion to benefits, may be </a:t>
            </a:r>
            <a:r>
              <a:rPr lang="en-US" sz="2800" b="1" dirty="0">
                <a:solidFill>
                  <a:srgbClr val="0070C0"/>
                </a:solidFill>
                <a:effectLst>
                  <a:outerShdw blurRad="38100" dist="38100" dir="2700000" algn="tl">
                    <a:srgbClr val="000000">
                      <a:alpha val="43137"/>
                    </a:srgbClr>
                  </a:outerShdw>
                </a:effectLst>
              </a:rPr>
              <a:t>corrected upwards</a:t>
            </a:r>
            <a:r>
              <a:rPr lang="en-US" sz="2800" b="1" dirty="0">
                <a:solidFill>
                  <a:srgbClr val="002060"/>
                </a:solidFill>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FFFF00"/>
                </a:highlight>
              </a:rPr>
              <a:t>Not patentable 1</a:t>
            </a:r>
          </a:p>
        </p:txBody>
      </p:sp>
      <p:sp>
        <p:nvSpPr>
          <p:cNvPr id="3" name="Symbol zastępczy zawartości 2"/>
          <p:cNvSpPr>
            <a:spLocks noGrp="1"/>
          </p:cNvSpPr>
          <p:nvPr>
            <p:ph idx="1"/>
          </p:nvPr>
        </p:nvSpPr>
        <p:spPr>
          <a:xfrm>
            <a:off x="457200" y="1600200"/>
            <a:ext cx="8229600" cy="5069160"/>
          </a:xfrm>
        </p:spPr>
        <p:txBody>
          <a:bodyPr/>
          <a:lstStyle/>
          <a:p>
            <a:r>
              <a:rPr lang="en-US" sz="2400" b="1" dirty="0">
                <a:solidFill>
                  <a:srgbClr val="002060"/>
                </a:solidFill>
                <a:effectLst>
                  <a:outerShdw blurRad="38100" dist="38100" dir="2700000" algn="tl">
                    <a:srgbClr val="000000">
                      <a:alpha val="43137"/>
                    </a:srgbClr>
                  </a:outerShdw>
                </a:effectLst>
              </a:rPr>
              <a:t>Discoveries, scientific theories, mathematical methods</a:t>
            </a:r>
          </a:p>
          <a:p>
            <a:r>
              <a:rPr lang="en-US" sz="2400" b="1" dirty="0">
                <a:solidFill>
                  <a:srgbClr val="002060"/>
                </a:solidFill>
                <a:effectLst>
                  <a:outerShdw blurRad="38100" dist="38100" dir="2700000" algn="tl">
                    <a:srgbClr val="000000">
                      <a:alpha val="43137"/>
                    </a:srgbClr>
                  </a:outerShdw>
                </a:effectLst>
              </a:rPr>
              <a:t>Purely aesthetic creations</a:t>
            </a:r>
          </a:p>
          <a:p>
            <a:r>
              <a:rPr lang="en-US" sz="2400" b="1" dirty="0">
                <a:solidFill>
                  <a:srgbClr val="002060"/>
                </a:solidFill>
                <a:effectLst>
                  <a:outerShdw blurRad="38100" dist="38100" dir="2700000" algn="tl">
                    <a:srgbClr val="000000">
                      <a:alpha val="43137"/>
                    </a:srgbClr>
                  </a:outerShdw>
                </a:effectLst>
              </a:rPr>
              <a:t>Plans, principles, methodologies, games</a:t>
            </a:r>
          </a:p>
          <a:p>
            <a:r>
              <a:rPr lang="en-US" sz="2400" b="1" dirty="0">
                <a:solidFill>
                  <a:srgbClr val="002060"/>
                </a:solidFill>
                <a:effectLst>
                  <a:outerShdw blurRad="38100" dist="38100" dir="2700000" algn="tl">
                    <a:srgbClr val="000000">
                      <a:alpha val="43137"/>
                    </a:srgbClr>
                  </a:outerShdw>
                </a:effectLst>
              </a:rPr>
              <a:t>Digital software (it is covered by copyright)</a:t>
            </a:r>
            <a:r>
              <a:rPr lang="pl-PL" sz="2400" b="1" dirty="0">
                <a:solidFill>
                  <a:srgbClr val="002060"/>
                </a:solidFill>
                <a:effectLst>
                  <a:outerShdw blurRad="38100" dist="38100" dir="2700000" algn="tl">
                    <a:srgbClr val="000000">
                      <a:alpha val="43137"/>
                    </a:srgbClr>
                  </a:outerShdw>
                </a:effectLst>
              </a:rPr>
              <a:t> [Japan and USA have a different model than the EU]</a:t>
            </a:r>
            <a:endParaRPr lang="en-US" sz="2400" b="1" dirty="0">
              <a:solidFill>
                <a:srgbClr val="002060"/>
              </a:solidFill>
              <a:effectLst>
                <a:outerShdw blurRad="38100" dist="38100" dir="2700000" algn="tl">
                  <a:srgbClr val="000000">
                    <a:alpha val="43137"/>
                  </a:srgbClr>
                </a:outerShdw>
              </a:effectLst>
            </a:endParaRPr>
          </a:p>
          <a:p>
            <a:r>
              <a:rPr lang="en-US" sz="2400" b="1" dirty="0">
                <a:solidFill>
                  <a:srgbClr val="002060"/>
                </a:solidFill>
                <a:effectLst>
                  <a:outerShdw blurRad="38100" dist="38100" dir="2700000" algn="tl">
                    <a:srgbClr val="000000">
                      <a:alpha val="43137"/>
                    </a:srgbClr>
                  </a:outerShdw>
                </a:effectLst>
              </a:rPr>
              <a:t>Information</a:t>
            </a:r>
          </a:p>
          <a:p>
            <a:r>
              <a:rPr lang="en-US" sz="2400" b="1" dirty="0">
                <a:solidFill>
                  <a:srgbClr val="FF0000"/>
                </a:solidFill>
                <a:effectLst>
                  <a:outerShdw blurRad="38100" dist="38100" dir="2700000" algn="tl">
                    <a:srgbClr val="000000">
                      <a:alpha val="43137"/>
                    </a:srgbClr>
                  </a:outerShdw>
                </a:effectLst>
              </a:rPr>
              <a:t>Inventions amoral, illegal, detrimental to public orde</a:t>
            </a:r>
            <a:r>
              <a:rPr lang="en-US" sz="2400" b="1" dirty="0">
                <a:solidFill>
                  <a:srgbClr val="002060"/>
                </a:solidFill>
                <a:effectLst>
                  <a:outerShdw blurRad="38100" dist="38100" dir="2700000" algn="tl">
                    <a:srgbClr val="000000">
                      <a:alpha val="43137"/>
                    </a:srgbClr>
                  </a:outerShdw>
                </a:effectLst>
              </a:rPr>
              <a:t>r</a:t>
            </a:r>
          </a:p>
          <a:p>
            <a:r>
              <a:rPr lang="en-US" sz="2400" b="1" dirty="0">
                <a:solidFill>
                  <a:srgbClr val="FF0000"/>
                </a:solidFill>
                <a:effectLst>
                  <a:outerShdw blurRad="38100" dist="38100" dir="2700000" algn="tl">
                    <a:srgbClr val="000000">
                      <a:alpha val="43137"/>
                    </a:srgbClr>
                  </a:outerShdw>
                </a:effectLst>
              </a:rPr>
              <a:t>Animal breeds and plants if by natural method</a:t>
            </a:r>
          </a:p>
          <a:p>
            <a:r>
              <a:rPr lang="en-US" sz="2400" b="1" dirty="0">
                <a:solidFill>
                  <a:srgbClr val="FF0000"/>
                </a:solidFill>
                <a:effectLst>
                  <a:outerShdw blurRad="38100" dist="38100" dir="2700000" algn="tl">
                    <a:srgbClr val="000000">
                      <a:alpha val="43137"/>
                    </a:srgbClr>
                  </a:outerShdw>
                </a:effectLst>
              </a:rPr>
              <a:t>Surgical or therapeutic methods in medicine, diagnosing </a:t>
            </a:r>
            <a:endParaRPr lang="pl-PL" sz="2400" b="1" dirty="0">
              <a:solidFill>
                <a:srgbClr val="FF0000"/>
              </a:solidFill>
              <a:effectLst>
                <a:outerShdw blurRad="38100" dist="38100" dir="2700000" algn="tl">
                  <a:srgbClr val="000000">
                    <a:alpha val="43137"/>
                  </a:srgbClr>
                </a:outerShdw>
              </a:effectLs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FFFF00"/>
                </a:highlight>
              </a:rPr>
              <a:t>Not patentable </a:t>
            </a:r>
            <a:r>
              <a:rPr lang="pl-PL" b="1" dirty="0">
                <a:solidFill>
                  <a:srgbClr val="FF0000"/>
                </a:solidFill>
                <a:effectLst>
                  <a:outerShdw blurRad="38100" dist="38100" dir="2700000" algn="tl">
                    <a:srgbClr val="000000">
                      <a:alpha val="43137"/>
                    </a:srgbClr>
                  </a:outerShdw>
                </a:effectLst>
                <a:highlight>
                  <a:srgbClr val="FFFF00"/>
                </a:highlight>
              </a:rPr>
              <a:t>2</a:t>
            </a:r>
          </a:p>
        </p:txBody>
      </p:sp>
      <p:sp>
        <p:nvSpPr>
          <p:cNvPr id="3" name="Symbol zastępczy zawartości 2"/>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rPr>
              <a:t>Human body, its parts, genetic sequence </a:t>
            </a:r>
          </a:p>
          <a:p>
            <a:r>
              <a:rPr lang="en-US" b="1" dirty="0">
                <a:solidFill>
                  <a:srgbClr val="002060"/>
                </a:solidFill>
                <a:effectLst>
                  <a:outerShdw blurRad="38100" dist="38100" dir="2700000" algn="tl">
                    <a:srgbClr val="000000">
                      <a:alpha val="43137"/>
                    </a:srgbClr>
                  </a:outerShdw>
                </a:effectLst>
              </a:rPr>
              <a:t>Methods of </a:t>
            </a:r>
            <a:r>
              <a:rPr lang="en-US" b="1" dirty="0">
                <a:solidFill>
                  <a:srgbClr val="002060"/>
                </a:solidFill>
                <a:effectLst>
                  <a:outerShdw blurRad="38100" dist="38100" dir="2700000" algn="tl">
                    <a:srgbClr val="000000">
                      <a:alpha val="43137"/>
                    </a:srgbClr>
                  </a:outerShdw>
                </a:effectLst>
                <a:highlight>
                  <a:srgbClr val="FFFF00"/>
                </a:highlight>
              </a:rPr>
              <a:t>cloning humans</a:t>
            </a:r>
          </a:p>
          <a:p>
            <a:r>
              <a:rPr lang="en-US" b="1" dirty="0">
                <a:solidFill>
                  <a:srgbClr val="002060"/>
                </a:solidFill>
                <a:effectLst>
                  <a:outerShdw blurRad="38100" dist="38100" dir="2700000" algn="tl">
                    <a:srgbClr val="000000">
                      <a:alpha val="43137"/>
                    </a:srgbClr>
                  </a:outerShdw>
                </a:effectLst>
              </a:rPr>
              <a:t>Methods of modification of </a:t>
            </a:r>
            <a:r>
              <a:rPr lang="pl-PL" b="1" dirty="0">
                <a:solidFill>
                  <a:srgbClr val="002060"/>
                </a:solidFill>
                <a:effectLst>
                  <a:outerShdw blurRad="38100" dist="38100" dir="2700000" algn="tl">
                    <a:srgbClr val="000000">
                      <a:alpha val="43137"/>
                    </a:srgbClr>
                  </a:outerShdw>
                </a:effectLst>
              </a:rPr>
              <a:t>the </a:t>
            </a:r>
            <a:r>
              <a:rPr lang="en-US" b="1" dirty="0">
                <a:solidFill>
                  <a:srgbClr val="002060"/>
                </a:solidFill>
                <a:effectLst>
                  <a:outerShdw blurRad="38100" dist="38100" dir="2700000" algn="tl">
                    <a:srgbClr val="000000">
                      <a:alpha val="43137"/>
                    </a:srgbClr>
                  </a:outerShdw>
                </a:effectLst>
              </a:rPr>
              <a:t>genetic identity of humans</a:t>
            </a:r>
          </a:p>
          <a:p>
            <a:r>
              <a:rPr lang="en-US" b="1" dirty="0">
                <a:solidFill>
                  <a:srgbClr val="002060"/>
                </a:solidFill>
                <a:effectLst>
                  <a:outerShdw blurRad="38100" dist="38100" dir="2700000" algn="tl">
                    <a:srgbClr val="000000">
                      <a:alpha val="43137"/>
                    </a:srgbClr>
                  </a:outerShdw>
                </a:effectLst>
              </a:rPr>
              <a:t>Use of human </a:t>
            </a:r>
            <a:r>
              <a:rPr lang="pl-PL" b="1" dirty="0">
                <a:solidFill>
                  <a:srgbClr val="002060"/>
                </a:solidFill>
                <a:effectLst>
                  <a:outerShdw blurRad="38100" dist="38100" dir="2700000" algn="tl">
                    <a:srgbClr val="000000">
                      <a:alpha val="43137"/>
                    </a:srgbClr>
                  </a:outerShdw>
                </a:effectLst>
              </a:rPr>
              <a:t>embryos</a:t>
            </a:r>
            <a:r>
              <a:rPr lang="en-US" b="1" dirty="0">
                <a:solidFill>
                  <a:srgbClr val="002060"/>
                </a:solidFill>
                <a:effectLst>
                  <a:outerShdw blurRad="38100" dist="38100" dir="2700000" algn="tl">
                    <a:srgbClr val="000000">
                      <a:alpha val="43137"/>
                    </a:srgbClr>
                  </a:outerShdw>
                </a:effectLst>
              </a:rPr>
              <a:t> for commercial </a:t>
            </a:r>
            <a:r>
              <a:rPr lang="pl-PL" b="1" dirty="0">
                <a:solidFill>
                  <a:srgbClr val="002060"/>
                </a:solidFill>
                <a:effectLst>
                  <a:outerShdw blurRad="38100" dist="38100" dir="2700000" algn="tl">
                    <a:srgbClr val="000000">
                      <a:alpha val="43137"/>
                    </a:srgbClr>
                  </a:outerShdw>
                </a:effectLst>
              </a:rPr>
              <a:t>purposes</a:t>
            </a:r>
            <a:endParaRPr lang="en-US" b="1" dirty="0">
              <a:solidFill>
                <a:srgbClr val="002060"/>
              </a:solidFill>
              <a:effectLst>
                <a:outerShdw blurRad="38100" dist="38100" dir="2700000" algn="tl">
                  <a:srgbClr val="000000">
                    <a:alpha val="43137"/>
                  </a:srgbClr>
                </a:outerShdw>
              </a:effectLst>
            </a:endParaRPr>
          </a:p>
          <a:p>
            <a:r>
              <a:rPr lang="en-US" b="1" dirty="0">
                <a:solidFill>
                  <a:srgbClr val="002060"/>
                </a:solidFill>
                <a:effectLst>
                  <a:outerShdw blurRad="38100" dist="38100" dir="2700000" algn="tl">
                    <a:srgbClr val="000000">
                      <a:alpha val="43137"/>
                    </a:srgbClr>
                  </a:outerShdw>
                </a:effectLst>
              </a:rPr>
              <a:t>Ways of modification of animals’ </a:t>
            </a:r>
            <a:r>
              <a:rPr lang="en-US" b="1" dirty="0">
                <a:solidFill>
                  <a:srgbClr val="FF0000"/>
                </a:solidFill>
                <a:effectLst>
                  <a:outerShdw blurRad="38100" dist="38100" dir="2700000" algn="tl">
                    <a:srgbClr val="000000">
                      <a:alpha val="43137"/>
                    </a:srgbClr>
                  </a:outerShdw>
                </a:effectLst>
              </a:rPr>
              <a:t>genetic </a:t>
            </a:r>
            <a:r>
              <a:rPr lang="en-US" b="1" dirty="0">
                <a:solidFill>
                  <a:srgbClr val="002060"/>
                </a:solidFill>
                <a:effectLst>
                  <a:outerShdw blurRad="38100" dist="38100" dir="2700000" algn="tl">
                    <a:srgbClr val="000000">
                      <a:alpha val="43137"/>
                    </a:srgbClr>
                  </a:outerShdw>
                </a:effectLst>
              </a:rPr>
              <a:t>identity where there is </a:t>
            </a:r>
            <a:r>
              <a:rPr lang="en-US" b="1" dirty="0">
                <a:solidFill>
                  <a:srgbClr val="FF0000"/>
                </a:solidFill>
                <a:effectLst>
                  <a:outerShdw blurRad="38100" dist="38100" dir="2700000" algn="tl">
                    <a:srgbClr val="000000">
                      <a:alpha val="43137"/>
                    </a:srgbClr>
                  </a:outerShdw>
                </a:effectLst>
              </a:rPr>
              <a:t>no benefit to humans or animals</a:t>
            </a:r>
            <a:r>
              <a:rPr lang="en-US" b="1" dirty="0">
                <a:solidFill>
                  <a:srgbClr val="002060"/>
                </a:solidFill>
                <a:effectLst>
                  <a:outerShdw blurRad="38100" dist="38100" dir="2700000" algn="tl">
                    <a:srgbClr val="000000">
                      <a:alpha val="43137"/>
                    </a:srgbClr>
                  </a:outerShdw>
                </a:effectLst>
              </a:rPr>
              <a:t> and </a:t>
            </a:r>
            <a:r>
              <a:rPr lang="en-US" b="1" dirty="0">
                <a:solidFill>
                  <a:srgbClr val="FF0000"/>
                </a:solidFill>
                <a:effectLst>
                  <a:outerShdw blurRad="38100" dist="38100" dir="2700000" algn="tl">
                    <a:srgbClr val="000000">
                      <a:alpha val="43137"/>
                    </a:srgbClr>
                  </a:outerShdw>
                </a:effectLst>
              </a:rPr>
              <a:t>suffering</a:t>
            </a:r>
            <a:r>
              <a:rPr lang="en-US" b="1" dirty="0">
                <a:solidFill>
                  <a:srgbClr val="002060"/>
                </a:solidFill>
                <a:effectLst>
                  <a:outerShdw blurRad="38100" dist="38100" dir="2700000" algn="tl">
                    <a:srgbClr val="000000">
                      <a:alpha val="43137"/>
                    </a:srgbClr>
                  </a:outerShdw>
                </a:effectLst>
              </a:rPr>
              <a:t> may be involved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Patent</a:t>
            </a:r>
          </a:p>
        </p:txBody>
      </p:sp>
      <p:sp>
        <p:nvSpPr>
          <p:cNvPr id="3" name="Symbol zastępczy zawartości 2"/>
          <p:cNvSpPr>
            <a:spLocks noGrp="1"/>
          </p:cNvSpPr>
          <p:nvPr>
            <p:ph idx="1"/>
          </p:nvPr>
        </p:nvSpPr>
        <p:spPr>
          <a:xfrm>
            <a:off x="457200" y="1600200"/>
            <a:ext cx="8229600" cy="5257800"/>
          </a:xfrm>
        </p:spPr>
        <p:txBody>
          <a:bodyPr/>
          <a:lstStyle/>
          <a:p>
            <a:r>
              <a:rPr lang="en-US" b="1" dirty="0">
                <a:solidFill>
                  <a:srgbClr val="FF0000"/>
                </a:solidFill>
                <a:effectLst>
                  <a:outerShdw blurRad="38100" dist="38100" dir="2700000" algn="tl">
                    <a:srgbClr val="000000">
                      <a:alpha val="43137"/>
                    </a:srgbClr>
                  </a:outerShdw>
                </a:effectLst>
              </a:rPr>
              <a:t>User </a:t>
            </a:r>
            <a:r>
              <a:rPr lang="en-US" b="1" dirty="0">
                <a:solidFill>
                  <a:srgbClr val="FF0000"/>
                </a:solidFill>
                <a:effectLst>
                  <a:outerShdw blurRad="38100" dist="38100" dir="2700000" algn="tl">
                    <a:srgbClr val="000000">
                      <a:alpha val="43137"/>
                    </a:srgbClr>
                  </a:outerShdw>
                </a:effectLst>
                <a:highlight>
                  <a:srgbClr val="FFFF00"/>
                </a:highlight>
              </a:rPr>
              <a:t>(„illegal”) in good faith </a:t>
            </a:r>
            <a:r>
              <a:rPr lang="en-US" b="1" dirty="0">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may use patent free of charge </a:t>
            </a:r>
            <a:r>
              <a:rPr lang="en-US" b="1" dirty="0">
                <a:solidFill>
                  <a:srgbClr val="00B0F0"/>
                </a:solidFill>
                <a:effectLst>
                  <a:outerShdw blurRad="38100" dist="38100" dir="2700000" algn="tl">
                    <a:srgbClr val="000000">
                      <a:alpha val="43137"/>
                    </a:srgbClr>
                  </a:outerShdw>
                </a:effectLst>
              </a:rPr>
              <a:t>as before </a:t>
            </a:r>
            <a:r>
              <a:rPr lang="en-US" b="1" dirty="0">
                <a:solidFill>
                  <a:srgbClr val="FF0000"/>
                </a:solidFill>
                <a:effectLst>
                  <a:outerShdw blurRad="38100" dist="38100" dir="2700000" algn="tl">
                    <a:srgbClr val="000000">
                      <a:alpha val="43137"/>
                    </a:srgbClr>
                  </a:outerShdw>
                </a:effectLst>
              </a:rPr>
              <a:t>within the same scope</a:t>
            </a:r>
            <a:endParaRPr lang="en-US"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Such use is subject of </a:t>
            </a:r>
            <a:r>
              <a:rPr lang="en-US" b="1" dirty="0">
                <a:solidFill>
                  <a:srgbClr val="FF0000"/>
                </a:solidFill>
                <a:effectLst>
                  <a:outerShdw blurRad="38100" dist="38100" dir="2700000" algn="tl">
                    <a:srgbClr val="000000">
                      <a:alpha val="43137"/>
                    </a:srgbClr>
                  </a:outerShdw>
                </a:effectLst>
              </a:rPr>
              <a:t>registration</a:t>
            </a:r>
          </a:p>
          <a:p>
            <a:r>
              <a:rPr lang="en-US" b="1" dirty="0">
                <a:effectLst>
                  <a:outerShdw blurRad="38100" dist="38100" dir="2700000" algn="tl">
                    <a:srgbClr val="000000">
                      <a:alpha val="43137"/>
                    </a:srgbClr>
                  </a:outerShdw>
                </a:effectLst>
              </a:rPr>
              <a:t>This right is </a:t>
            </a:r>
            <a:r>
              <a:rPr lang="en-US" b="1" dirty="0">
                <a:solidFill>
                  <a:srgbClr val="FF0000"/>
                </a:solidFill>
                <a:effectLst>
                  <a:outerShdw blurRad="38100" dist="38100" dir="2700000" algn="tl">
                    <a:srgbClr val="000000">
                      <a:alpha val="43137"/>
                    </a:srgbClr>
                  </a:outerShdw>
                </a:effectLst>
              </a:rPr>
              <a:t>transferable only with the enterprise</a:t>
            </a:r>
          </a:p>
          <a:p>
            <a:r>
              <a:rPr lang="en-US" sz="2800" b="1" dirty="0">
                <a:effectLst>
                  <a:outerShdw blurRad="38100" dist="38100" dir="2700000" algn="tl">
                    <a:srgbClr val="000000">
                      <a:alpha val="43137"/>
                    </a:srgbClr>
                  </a:outerShdw>
                </a:effectLst>
              </a:rPr>
              <a:t>Same as above if someone </a:t>
            </a:r>
            <a:r>
              <a:rPr lang="en-US" sz="2800" b="1" dirty="0">
                <a:solidFill>
                  <a:srgbClr val="002060"/>
                </a:solidFill>
                <a:effectLst>
                  <a:outerShdw blurRad="38100" dist="38100" dir="2700000" algn="tl">
                    <a:srgbClr val="000000">
                      <a:alpha val="43137"/>
                    </a:srgbClr>
                  </a:outerShdw>
                </a:effectLst>
              </a:rPr>
              <a:t>prepared all installations </a:t>
            </a:r>
            <a:r>
              <a:rPr lang="en-US" sz="2800" b="1" dirty="0">
                <a:effectLst>
                  <a:outerShdw blurRad="38100" dist="38100" dir="2700000" algn="tl">
                    <a:srgbClr val="000000">
                      <a:alpha val="43137"/>
                    </a:srgbClr>
                  </a:outerShdw>
                </a:effectLst>
              </a:rPr>
              <a:t>for </a:t>
            </a:r>
            <a:r>
              <a:rPr lang="pl-PL" sz="2800" b="1" dirty="0">
                <a:effectLst>
                  <a:outerShdw blurRad="38100" dist="38100" dir="2700000" algn="tl">
                    <a:srgbClr val="000000">
                      <a:alpha val="43137"/>
                    </a:srgbClr>
                  </a:outerShdw>
                </a:effectLst>
              </a:rPr>
              <a:t>the </a:t>
            </a:r>
            <a:r>
              <a:rPr lang="en-US" sz="2800" b="1" dirty="0">
                <a:effectLst>
                  <a:outerShdw blurRad="38100" dist="38100" dir="2700000" algn="tl">
                    <a:srgbClr val="000000">
                      <a:alpha val="43137"/>
                    </a:srgbClr>
                  </a:outerShdw>
                </a:effectLst>
              </a:rPr>
              <a:t>production of goods</a:t>
            </a:r>
          </a:p>
          <a:p>
            <a:r>
              <a:rPr lang="en-US" sz="2800" b="1" dirty="0">
                <a:effectLst>
                  <a:outerShdw blurRad="38100" dist="38100" dir="2700000" algn="tl">
                    <a:srgbClr val="000000">
                      <a:alpha val="43137"/>
                    </a:srgbClr>
                  </a:outerShdw>
                </a:effectLst>
              </a:rPr>
              <a:t>Right transferable only with the enterprise</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FFFF00"/>
                </a:highlight>
              </a:rPr>
              <a:t>Additional protection</a:t>
            </a:r>
            <a:r>
              <a:rPr lang="pl-PL" b="1" dirty="0">
                <a:solidFill>
                  <a:srgbClr val="FF0000"/>
                </a:solidFill>
                <a:effectLst>
                  <a:outerShdw blurRad="38100" dist="38100" dir="2700000" algn="tl">
                    <a:srgbClr val="000000">
                      <a:alpha val="43137"/>
                    </a:srgbClr>
                  </a:outerShdw>
                </a:effectLst>
                <a:highlight>
                  <a:srgbClr val="FFFF00"/>
                </a:highlight>
              </a:rPr>
              <a:t> - SPC</a:t>
            </a:r>
            <a:endParaRPr lang="en-US" b="1" dirty="0">
              <a:solidFill>
                <a:srgbClr val="FF0000"/>
              </a:solidFill>
              <a:effectLst>
                <a:outerShdw blurRad="38100" dist="38100" dir="2700000" algn="tl">
                  <a:srgbClr val="000000">
                    <a:alpha val="43137"/>
                  </a:srgbClr>
                </a:outerShdw>
              </a:effectLst>
              <a:highlight>
                <a:srgbClr val="FFFF00"/>
              </a:highlight>
            </a:endParaRPr>
          </a:p>
        </p:txBody>
      </p:sp>
      <p:sp>
        <p:nvSpPr>
          <p:cNvPr id="3" name="Symbol zastępczy zawartości 2"/>
          <p:cNvSpPr>
            <a:spLocks noGrp="1"/>
          </p:cNvSpPr>
          <p:nvPr>
            <p:ph idx="1"/>
          </p:nvPr>
        </p:nvSpPr>
        <p:spPr/>
        <p:txBody>
          <a:bodyPr/>
          <a:lstStyle/>
          <a:p>
            <a:r>
              <a:rPr lang="en-US" b="1" dirty="0">
                <a:solidFill>
                  <a:srgbClr val="002060"/>
                </a:solidFill>
                <a:effectLst>
                  <a:outerShdw blurRad="38100" dist="38100" dir="2700000" algn="tl">
                    <a:srgbClr val="000000">
                      <a:alpha val="43137"/>
                    </a:srgbClr>
                  </a:outerShdw>
                </a:effectLst>
                <a:highlight>
                  <a:srgbClr val="FFFF00"/>
                </a:highlight>
              </a:rPr>
              <a:t>For </a:t>
            </a:r>
            <a:r>
              <a:rPr lang="en-US" b="1" dirty="0">
                <a:solidFill>
                  <a:srgbClr val="FF0000"/>
                </a:solidFill>
                <a:effectLst>
                  <a:outerShdw blurRad="38100" dist="38100" dir="2700000" algn="tl">
                    <a:srgbClr val="000000">
                      <a:alpha val="43137"/>
                    </a:srgbClr>
                  </a:outerShdw>
                </a:effectLst>
                <a:highlight>
                  <a:srgbClr val="FFFF00"/>
                </a:highlight>
              </a:rPr>
              <a:t>medicinal product, S</a:t>
            </a:r>
            <a:r>
              <a:rPr lang="en-US" b="1" dirty="0">
                <a:solidFill>
                  <a:srgbClr val="002060"/>
                </a:solidFill>
                <a:effectLst>
                  <a:outerShdw blurRad="38100" dist="38100" dir="2700000" algn="tl">
                    <a:srgbClr val="000000">
                      <a:alpha val="43137"/>
                    </a:srgbClr>
                  </a:outerShdw>
                </a:effectLst>
                <a:highlight>
                  <a:srgbClr val="FFFF00"/>
                </a:highlight>
              </a:rPr>
              <a:t>upplementary</a:t>
            </a:r>
            <a:r>
              <a:rPr lang="en-US" b="1" dirty="0">
                <a:solidFill>
                  <a:srgbClr val="FF0000"/>
                </a:solidFill>
                <a:effectLst>
                  <a:outerShdw blurRad="38100" dist="38100" dir="2700000" algn="tl">
                    <a:srgbClr val="000000">
                      <a:alpha val="43137"/>
                    </a:srgbClr>
                  </a:outerShdw>
                </a:effectLst>
                <a:highlight>
                  <a:srgbClr val="FFFF00"/>
                </a:highlight>
              </a:rPr>
              <a:t> P</a:t>
            </a:r>
            <a:r>
              <a:rPr lang="en-US" b="1" dirty="0">
                <a:solidFill>
                  <a:srgbClr val="002060"/>
                </a:solidFill>
                <a:effectLst>
                  <a:outerShdw blurRad="38100" dist="38100" dir="2700000" algn="tl">
                    <a:srgbClr val="000000">
                      <a:alpha val="43137"/>
                    </a:srgbClr>
                  </a:outerShdw>
                </a:effectLst>
                <a:highlight>
                  <a:srgbClr val="FFFF00"/>
                </a:highlight>
              </a:rPr>
              <a:t>rotection </a:t>
            </a:r>
            <a:r>
              <a:rPr lang="en-US" b="1" dirty="0">
                <a:solidFill>
                  <a:srgbClr val="FF0000"/>
                </a:solidFill>
                <a:effectLst>
                  <a:outerShdw blurRad="38100" dist="38100" dir="2700000" algn="tl">
                    <a:srgbClr val="000000">
                      <a:alpha val="43137"/>
                    </a:srgbClr>
                  </a:outerShdw>
                </a:effectLst>
                <a:highlight>
                  <a:srgbClr val="FFFF00"/>
                </a:highlight>
              </a:rPr>
              <a:t>C</a:t>
            </a:r>
            <a:r>
              <a:rPr lang="en-US" b="1" dirty="0">
                <a:solidFill>
                  <a:srgbClr val="002060"/>
                </a:solidFill>
                <a:effectLst>
                  <a:outerShdw blurRad="38100" dist="38100" dir="2700000" algn="tl">
                    <a:srgbClr val="000000">
                      <a:alpha val="43137"/>
                    </a:srgbClr>
                  </a:outerShdw>
                </a:effectLst>
                <a:highlight>
                  <a:srgbClr val="FFFF00"/>
                </a:highlight>
              </a:rPr>
              <a:t>ertificate</a:t>
            </a:r>
            <a:r>
              <a:rPr lang="en-US" b="1" dirty="0">
                <a:solidFill>
                  <a:srgbClr val="FF0000"/>
                </a:solidFill>
                <a:effectLst>
                  <a:outerShdw blurRad="38100" dist="38100" dir="2700000" algn="tl">
                    <a:srgbClr val="000000">
                      <a:alpha val="43137"/>
                    </a:srgbClr>
                  </a:outerShdw>
                </a:effectLst>
                <a:highlight>
                  <a:srgbClr val="FFFF00"/>
                </a:highlight>
              </a:rPr>
              <a:t> (SPC)</a:t>
            </a:r>
          </a:p>
          <a:p>
            <a:r>
              <a:rPr lang="en-US" b="1" dirty="0">
                <a:solidFill>
                  <a:srgbClr val="002060"/>
                </a:solidFill>
                <a:effectLst>
                  <a:outerShdw blurRad="38100" dist="38100" dir="2700000" algn="tl">
                    <a:srgbClr val="000000">
                      <a:alpha val="43137"/>
                    </a:srgbClr>
                  </a:outerShdw>
                </a:effectLst>
              </a:rPr>
              <a:t>For medicinal &amp; plant protection products</a:t>
            </a:r>
          </a:p>
          <a:p>
            <a:r>
              <a:rPr lang="en-US" b="1" dirty="0">
                <a:solidFill>
                  <a:srgbClr val="002060"/>
                </a:solidFill>
                <a:effectLst>
                  <a:outerShdw blurRad="38100" dist="38100" dir="2700000" algn="tl">
                    <a:srgbClr val="000000">
                      <a:alpha val="43137"/>
                    </a:srgbClr>
                  </a:outerShdw>
                </a:effectLst>
              </a:rPr>
              <a:t>Compensates for the period between filing for permission and actual date of receiving permission to manufacture</a:t>
            </a:r>
          </a:p>
          <a:p>
            <a:r>
              <a:rPr lang="en-US" b="1" dirty="0">
                <a:solidFill>
                  <a:srgbClr val="FF0000"/>
                </a:solidFill>
                <a:effectLst>
                  <a:outerShdw blurRad="38100" dist="38100" dir="2700000" algn="tl">
                    <a:srgbClr val="000000">
                      <a:alpha val="43137"/>
                    </a:srgbClr>
                  </a:outerShdw>
                </a:effectLst>
              </a:rPr>
              <a:t>Not automatic</a:t>
            </a:r>
            <a:r>
              <a:rPr lang="en-US" b="1" dirty="0">
                <a:solidFill>
                  <a:srgbClr val="002060"/>
                </a:solidFill>
                <a:effectLst>
                  <a:outerShdw blurRad="38100" dist="38100" dir="2700000" algn="tl">
                    <a:srgbClr val="000000">
                      <a:alpha val="43137"/>
                    </a:srgbClr>
                  </a:outerShdw>
                </a:effectLst>
              </a:rPr>
              <a:t>, owner must apply to PO</a:t>
            </a:r>
          </a:p>
          <a:p>
            <a:r>
              <a:rPr lang="en-US" b="1" dirty="0">
                <a:solidFill>
                  <a:srgbClr val="002060"/>
                </a:solidFill>
                <a:effectLst>
                  <a:outerShdw blurRad="38100" dist="38100" dir="2700000" algn="tl">
                    <a:srgbClr val="000000">
                      <a:alpha val="43137"/>
                    </a:srgbClr>
                  </a:outerShdw>
                </a:effectLst>
              </a:rPr>
              <a:t>Maximum additional </a:t>
            </a:r>
            <a:r>
              <a:rPr lang="en-US" b="1" dirty="0">
                <a:solidFill>
                  <a:srgbClr val="FF0000"/>
                </a:solidFill>
                <a:effectLst>
                  <a:outerShdw blurRad="38100" dist="38100" dir="2700000" algn="tl">
                    <a:srgbClr val="000000">
                      <a:alpha val="43137"/>
                    </a:srgbClr>
                  </a:outerShdw>
                </a:effectLst>
                <a:highlight>
                  <a:srgbClr val="FFFF00"/>
                </a:highlight>
              </a:rPr>
              <a:t>5 years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FFFF00"/>
                </a:highlight>
              </a:rPr>
              <a:t>License</a:t>
            </a:r>
          </a:p>
        </p:txBody>
      </p:sp>
      <p:sp>
        <p:nvSpPr>
          <p:cNvPr id="3" name="Symbol zastępczy zawartości 2"/>
          <p:cNvSpPr>
            <a:spLocks noGrp="1"/>
          </p:cNvSpPr>
          <p:nvPr>
            <p:ph idx="1"/>
          </p:nvPr>
        </p:nvSpPr>
        <p:spPr/>
        <p:txBody>
          <a:bodyPr/>
          <a:lstStyle/>
          <a:p>
            <a:r>
              <a:rPr lang="en-US" sz="4000" b="1" dirty="0">
                <a:solidFill>
                  <a:srgbClr val="002060"/>
                </a:solidFill>
                <a:effectLst>
                  <a:outerShdw blurRad="38100" dist="38100" dir="2700000" algn="tl">
                    <a:srgbClr val="000000">
                      <a:alpha val="43137"/>
                    </a:srgbClr>
                  </a:outerShdw>
                </a:effectLst>
              </a:rPr>
              <a:t>A license is a </a:t>
            </a:r>
            <a:r>
              <a:rPr lang="en-US" sz="4000" b="1" dirty="0">
                <a:solidFill>
                  <a:srgbClr val="FF0000"/>
                </a:solidFill>
                <a:effectLst>
                  <a:outerShdw blurRad="38100" dist="38100" dir="2700000" algn="tl">
                    <a:srgbClr val="000000">
                      <a:alpha val="43137"/>
                    </a:srgbClr>
                  </a:outerShdw>
                </a:effectLst>
              </a:rPr>
              <a:t>contractual</a:t>
            </a:r>
            <a:r>
              <a:rPr lang="pl-PL" sz="4000" b="1" dirty="0">
                <a:solidFill>
                  <a:srgbClr val="FF0000"/>
                </a:solidFill>
                <a:effectLst>
                  <a:outerShdw blurRad="38100" dist="38100" dir="2700000" algn="tl">
                    <a:srgbClr val="000000">
                      <a:alpha val="43137"/>
                    </a:srgbClr>
                  </a:outerShdw>
                </a:effectLst>
              </a:rPr>
              <a:t> </a:t>
            </a:r>
            <a:r>
              <a:rPr lang="en-US" sz="4000" b="1" dirty="0">
                <a:solidFill>
                  <a:srgbClr val="002060"/>
                </a:solidFill>
                <a:effectLst>
                  <a:outerShdw blurRad="38100" dist="38100" dir="2700000" algn="tl">
                    <a:srgbClr val="000000">
                      <a:alpha val="43137"/>
                    </a:srgbClr>
                  </a:outerShdw>
                </a:effectLst>
              </a:rPr>
              <a:t>way of </a:t>
            </a:r>
            <a:r>
              <a:rPr lang="en-US" sz="4000" b="1" dirty="0">
                <a:solidFill>
                  <a:srgbClr val="FF0000"/>
                </a:solidFill>
                <a:effectLst>
                  <a:outerShdw blurRad="38100" dist="38100" dir="2700000" algn="tl">
                    <a:srgbClr val="000000">
                      <a:alpha val="43137"/>
                    </a:srgbClr>
                  </a:outerShdw>
                </a:effectLst>
              </a:rPr>
              <a:t>authorizing other parties </a:t>
            </a:r>
            <a:r>
              <a:rPr lang="en-US" sz="4000" b="1" dirty="0">
                <a:solidFill>
                  <a:srgbClr val="002060"/>
                </a:solidFill>
                <a:effectLst>
                  <a:outerShdw blurRad="38100" dist="38100" dir="2700000" algn="tl">
                    <a:srgbClr val="000000">
                      <a:alpha val="43137"/>
                    </a:srgbClr>
                  </a:outerShdw>
                </a:effectLst>
              </a:rPr>
              <a:t>by patent owner to use patent</a:t>
            </a:r>
          </a:p>
          <a:p>
            <a:r>
              <a:rPr lang="en-US" sz="4000" b="1" dirty="0">
                <a:solidFill>
                  <a:srgbClr val="0070C0"/>
                </a:solidFill>
                <a:effectLst>
                  <a:outerShdw blurRad="38100" dist="38100" dir="2700000" algn="tl">
                    <a:srgbClr val="000000">
                      <a:alpha val="43137"/>
                    </a:srgbClr>
                  </a:outerShdw>
                </a:effectLst>
              </a:rPr>
              <a:t>Lasts </a:t>
            </a:r>
            <a:r>
              <a:rPr lang="en-US" sz="4000" b="1" dirty="0">
                <a:solidFill>
                  <a:srgbClr val="FF0000"/>
                </a:solidFill>
                <a:effectLst>
                  <a:outerShdw blurRad="38100" dist="38100" dir="2700000" algn="tl">
                    <a:srgbClr val="000000">
                      <a:alpha val="43137"/>
                    </a:srgbClr>
                  </a:outerShdw>
                </a:effectLst>
              </a:rPr>
              <a:t>as long as </a:t>
            </a:r>
            <a:r>
              <a:rPr lang="en-US" sz="4000" b="1" dirty="0">
                <a:solidFill>
                  <a:srgbClr val="0070C0"/>
                </a:solidFill>
                <a:effectLst>
                  <a:outerShdw blurRad="38100" dist="38100" dir="2700000" algn="tl">
                    <a:srgbClr val="000000">
                      <a:alpha val="43137"/>
                    </a:srgbClr>
                  </a:outerShdw>
                </a:effectLst>
              </a:rPr>
              <a:t>the patent</a:t>
            </a:r>
          </a:p>
          <a:p>
            <a:r>
              <a:rPr lang="en-US" sz="4000" b="1" dirty="0">
                <a:solidFill>
                  <a:srgbClr val="FF0000"/>
                </a:solidFill>
                <a:effectLst>
                  <a:outerShdw blurRad="38100" dist="38100" dir="2700000" algn="tl">
                    <a:srgbClr val="000000">
                      <a:alpha val="43137"/>
                    </a:srgbClr>
                  </a:outerShdw>
                </a:effectLst>
                <a:highlight>
                  <a:srgbClr val="FFFF00"/>
                </a:highlight>
              </a:rPr>
              <a:t>No sub-sub licensing </a:t>
            </a:r>
            <a:r>
              <a:rPr lang="en-US" sz="4000" b="1" dirty="0">
                <a:solidFill>
                  <a:srgbClr val="0070C0"/>
                </a:solidFill>
                <a:effectLst>
                  <a:outerShdw blurRad="38100" dist="38100" dir="2700000" algn="tl">
                    <a:srgbClr val="000000">
                      <a:alpha val="43137"/>
                    </a:srgbClr>
                  </a:outerShdw>
                </a:effectLst>
              </a:rPr>
              <a:t>unless by consent of the patent holder</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002060"/>
                </a:solidFill>
                <a:effectLst>
                  <a:outerShdw blurRad="38100" dist="38100" dir="2700000" algn="tl">
                    <a:srgbClr val="000000">
                      <a:alpha val="43137"/>
                    </a:srgbClr>
                  </a:outerShdw>
                </a:effectLst>
              </a:rPr>
              <a:t>License</a:t>
            </a:r>
            <a:endParaRPr lang="pl-PL" dirty="0"/>
          </a:p>
        </p:txBody>
      </p:sp>
      <p:sp>
        <p:nvSpPr>
          <p:cNvPr id="3" name="Symbol zastępczy zawartości 2"/>
          <p:cNvSpPr>
            <a:spLocks noGrp="1"/>
          </p:cNvSpPr>
          <p:nvPr>
            <p:ph idx="1"/>
          </p:nvPr>
        </p:nvSpPr>
        <p:spPr>
          <a:xfrm>
            <a:off x="457200" y="1600200"/>
            <a:ext cx="8229600" cy="4983162"/>
          </a:xfrm>
        </p:spPr>
        <p:txBody>
          <a:bodyPr/>
          <a:lstStyle/>
          <a:p>
            <a:r>
              <a:rPr lang="en-US" sz="3600" b="1">
                <a:solidFill>
                  <a:srgbClr val="FF0000"/>
                </a:solidFill>
                <a:effectLst>
                  <a:outerShdw blurRad="38100" dist="38100" dir="2700000" algn="tl">
                    <a:srgbClr val="000000">
                      <a:alpha val="43137"/>
                    </a:srgbClr>
                  </a:outerShdw>
                </a:effectLst>
              </a:rPr>
              <a:t>e </a:t>
            </a:r>
            <a:r>
              <a:rPr lang="en-US" sz="3600" b="1" dirty="0">
                <a:solidFill>
                  <a:srgbClr val="002060"/>
                </a:solidFill>
                <a:effectLst>
                  <a:outerShdw blurRad="38100" dist="38100" dir="2700000" algn="tl">
                    <a:srgbClr val="000000">
                      <a:alpha val="43137"/>
                    </a:srgbClr>
                  </a:outerShdw>
                </a:effectLst>
              </a:rPr>
              <a:t>(full – the same scope as patent holder)</a:t>
            </a:r>
          </a:p>
          <a:p>
            <a:r>
              <a:rPr lang="en-US" sz="3600" b="1" dirty="0">
                <a:solidFill>
                  <a:srgbClr val="FF0000"/>
                </a:solidFill>
                <a:effectLst>
                  <a:outerShdw blurRad="38100" dist="38100" dir="2700000" algn="tl">
                    <a:srgbClr val="000000">
                      <a:alpha val="43137"/>
                    </a:srgbClr>
                  </a:outerShdw>
                </a:effectLst>
                <a:highlight>
                  <a:srgbClr val="FFFF00"/>
                </a:highlight>
              </a:rPr>
              <a:t>Exclusive/nonexclusive license</a:t>
            </a:r>
          </a:p>
          <a:p>
            <a:r>
              <a:rPr lang="en-US" sz="3600" b="1" dirty="0">
                <a:solidFill>
                  <a:srgbClr val="FF0000"/>
                </a:solidFill>
                <a:effectLst>
                  <a:outerShdw blurRad="38100" dist="38100" dir="2700000" algn="tl">
                    <a:srgbClr val="000000">
                      <a:alpha val="43137"/>
                    </a:srgbClr>
                  </a:outerShdw>
                </a:effectLst>
                <a:highlight>
                  <a:srgbClr val="FFFF00"/>
                </a:highlight>
              </a:rPr>
              <a:t>Open license </a:t>
            </a:r>
            <a:r>
              <a:rPr lang="en-US" sz="3600" b="1" dirty="0">
                <a:solidFill>
                  <a:srgbClr val="FF0000"/>
                </a:solidFill>
                <a:effectLst>
                  <a:outerShdw blurRad="38100" dist="38100" dir="2700000" algn="tl">
                    <a:srgbClr val="000000">
                      <a:alpha val="43137"/>
                    </a:srgbClr>
                  </a:outerShdw>
                </a:effectLst>
              </a:rPr>
              <a:t>(non-revocable, full, non-exclusive). </a:t>
            </a:r>
            <a:r>
              <a:rPr lang="en-US" sz="3600" b="1" dirty="0">
                <a:solidFill>
                  <a:srgbClr val="002060"/>
                </a:solidFill>
                <a:effectLst>
                  <a:outerShdw blurRad="38100" dist="38100" dir="2700000" algn="tl">
                    <a:srgbClr val="000000">
                      <a:alpha val="43137"/>
                    </a:srgbClr>
                  </a:outerShdw>
                </a:effectLst>
              </a:rPr>
              <a:t>By statement made </a:t>
            </a:r>
            <a:r>
              <a:rPr lang="pl-PL" sz="3600" b="1" dirty="0">
                <a:solidFill>
                  <a:srgbClr val="002060"/>
                </a:solidFill>
                <a:effectLst>
                  <a:outerShdw blurRad="38100" dist="38100" dir="2700000" algn="tl">
                    <a:srgbClr val="000000">
                      <a:alpha val="43137"/>
                    </a:srgbClr>
                  </a:outerShdw>
                </a:effectLst>
              </a:rPr>
              <a:t>to the Patent Office</a:t>
            </a:r>
            <a:r>
              <a:rPr lang="en-US" sz="3600" b="1" dirty="0">
                <a:solidFill>
                  <a:srgbClr val="002060"/>
                </a:solidFill>
                <a:effectLst>
                  <a:outerShdw blurRad="38100" dist="38100" dir="2700000" algn="tl">
                    <a:srgbClr val="000000">
                      <a:alpha val="43137"/>
                    </a:srgbClr>
                  </a:outerShdw>
                </a:effectLst>
              </a:rPr>
              <a:t>. </a:t>
            </a:r>
            <a:r>
              <a:rPr lang="en-US" sz="3600" b="1" dirty="0">
                <a:solidFill>
                  <a:srgbClr val="FF0000"/>
                </a:solidFill>
                <a:effectLst>
                  <a:outerShdw blurRad="38100" dist="38100" dir="2700000" algn="tl">
                    <a:srgbClr val="000000">
                      <a:alpha val="43137"/>
                    </a:srgbClr>
                  </a:outerShdw>
                </a:effectLst>
              </a:rPr>
              <a:t>50% discount </a:t>
            </a:r>
            <a:r>
              <a:rPr lang="en-US" sz="3600" b="1" dirty="0">
                <a:solidFill>
                  <a:srgbClr val="002060"/>
                </a:solidFill>
                <a:effectLst>
                  <a:outerShdw blurRad="38100" dist="38100" dir="2700000" algn="tl">
                    <a:srgbClr val="000000">
                      <a:alpha val="43137"/>
                    </a:srgbClr>
                  </a:outerShdw>
                </a:effectLst>
              </a:rPr>
              <a:t>on administrative fees. </a:t>
            </a:r>
            <a:r>
              <a:rPr lang="pl-PL" sz="3600" b="1" dirty="0">
                <a:solidFill>
                  <a:srgbClr val="002060"/>
                </a:solidFill>
                <a:effectLst>
                  <a:outerShdw blurRad="38100" dist="38100" dir="2700000" algn="tl">
                    <a:srgbClr val="000000">
                      <a:alpha val="43137"/>
                    </a:srgbClr>
                  </a:outerShdw>
                </a:effectLst>
              </a:rPr>
              <a:t>The license</a:t>
            </a:r>
            <a:r>
              <a:rPr lang="en-US" sz="3600" b="1" dirty="0">
                <a:solidFill>
                  <a:srgbClr val="002060"/>
                </a:solidFill>
                <a:effectLst>
                  <a:outerShdw blurRad="38100" dist="38100" dir="2700000" algn="tl">
                    <a:srgbClr val="000000">
                      <a:alpha val="43137"/>
                    </a:srgbClr>
                  </a:outerShdw>
                </a:effectLst>
              </a:rPr>
              <a:t> </a:t>
            </a:r>
            <a:r>
              <a:rPr lang="en-US" sz="3600" b="1" dirty="0">
                <a:solidFill>
                  <a:srgbClr val="FF0000"/>
                </a:solidFill>
                <a:effectLst>
                  <a:outerShdw blurRad="38100" dist="38100" dir="2700000" algn="tl">
                    <a:srgbClr val="000000">
                      <a:alpha val="43137"/>
                    </a:srgbClr>
                  </a:outerShdw>
                </a:effectLst>
              </a:rPr>
              <a:t>fee </a:t>
            </a:r>
            <a:r>
              <a:rPr lang="en-US" sz="3600" b="1" dirty="0">
                <a:solidFill>
                  <a:srgbClr val="002060"/>
                </a:solidFill>
                <a:effectLst>
                  <a:outerShdw blurRad="38100" dist="38100" dir="2700000" algn="tl">
                    <a:srgbClr val="000000">
                      <a:alpha val="43137"/>
                    </a:srgbClr>
                  </a:outerShdw>
                </a:effectLst>
              </a:rPr>
              <a:t>must be under </a:t>
            </a:r>
            <a:r>
              <a:rPr lang="en-US" sz="3600" b="1" dirty="0">
                <a:solidFill>
                  <a:srgbClr val="FF0000"/>
                </a:solidFill>
                <a:effectLst>
                  <a:outerShdw blurRad="38100" dist="38100" dir="2700000" algn="tl">
                    <a:srgbClr val="000000">
                      <a:alpha val="43137"/>
                    </a:srgbClr>
                  </a:outerShdw>
                </a:effectLst>
              </a:rPr>
              <a:t>10 %</a:t>
            </a:r>
            <a:r>
              <a:rPr lang="en-US" sz="3600" b="1" dirty="0">
                <a:solidFill>
                  <a:srgbClr val="002060"/>
                </a:solidFill>
                <a:effectLst>
                  <a:outerShdw blurRad="38100" dist="38100" dir="2700000" algn="tl">
                    <a:srgbClr val="000000">
                      <a:alpha val="43137"/>
                    </a:srgbClr>
                  </a:outerShdw>
                </a:effectLst>
              </a:rPr>
              <a:t> of the revenue of the licensee</a:t>
            </a:r>
            <a:endParaRPr lang="en-US" sz="3600" b="1" dirty="0">
              <a:solidFill>
                <a:srgbClr val="FF0000"/>
              </a:solidFill>
              <a:effectLst>
                <a:outerShdw blurRad="38100" dist="38100" dir="2700000" algn="tl">
                  <a:srgbClr val="000000">
                    <a:alpha val="43137"/>
                  </a:srgbClr>
                </a:outerShdw>
              </a:effectLst>
            </a:endParaRPr>
          </a:p>
          <a:p>
            <a:pPr marL="0" indent="0">
              <a:buNone/>
            </a:pPr>
            <a:endParaRPr lang="pl-PL" dirty="0"/>
          </a:p>
        </p:txBody>
      </p:sp>
    </p:spTree>
    <p:extLst>
      <p:ext uri="{BB962C8B-B14F-4D97-AF65-F5344CB8AC3E}">
        <p14:creationId xmlns:p14="http://schemas.microsoft.com/office/powerpoint/2010/main" val="4659868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002060"/>
                </a:solidFill>
                <a:effectLst>
                  <a:outerShdw blurRad="38100" dist="38100" dir="2700000" algn="tl">
                    <a:srgbClr val="000000">
                      <a:alpha val="43137"/>
                    </a:srgbClr>
                  </a:outerShdw>
                </a:effectLst>
              </a:rPr>
              <a:t>License</a:t>
            </a:r>
            <a:r>
              <a:rPr lang="pl-PL" b="1" dirty="0">
                <a:solidFill>
                  <a:srgbClr val="002060"/>
                </a:solidFill>
                <a:effectLst>
                  <a:outerShdw blurRad="38100" dist="38100" dir="2700000" algn="tl">
                    <a:srgbClr val="000000">
                      <a:alpha val="43137"/>
                    </a:srgbClr>
                  </a:outerShdw>
                </a:effectLst>
              </a:rPr>
              <a:t> - </a:t>
            </a:r>
            <a:r>
              <a:rPr lang="en-US" b="1" dirty="0">
                <a:solidFill>
                  <a:srgbClr val="002060"/>
                </a:solidFill>
                <a:effectLst>
                  <a:outerShdw blurRad="38100" dist="38100" dir="2700000" algn="tl">
                    <a:srgbClr val="000000">
                      <a:alpha val="43137"/>
                    </a:srgbClr>
                  </a:outerShdw>
                </a:effectLst>
              </a:rPr>
              <a:t>mandatory</a:t>
            </a:r>
            <a:endParaRPr lang="en-US" dirty="0"/>
          </a:p>
        </p:txBody>
      </p:sp>
      <p:sp>
        <p:nvSpPr>
          <p:cNvPr id="3" name="Symbol zastępczy zawartości 2"/>
          <p:cNvSpPr>
            <a:spLocks noGrp="1"/>
          </p:cNvSpPr>
          <p:nvPr>
            <p:ph idx="1"/>
          </p:nvPr>
        </p:nvSpPr>
        <p:spPr>
          <a:xfrm>
            <a:off x="457200" y="1600200"/>
            <a:ext cx="8229600" cy="4983162"/>
          </a:xfrm>
        </p:spPr>
        <p:txBody>
          <a:bodyPr/>
          <a:lstStyle/>
          <a:p>
            <a:r>
              <a:rPr lang="en-US" sz="4000" b="1" dirty="0">
                <a:solidFill>
                  <a:srgbClr val="FF0000"/>
                </a:solidFill>
                <a:effectLst>
                  <a:outerShdw blurRad="38100" dist="38100" dir="2700000" algn="tl">
                    <a:srgbClr val="000000">
                      <a:alpha val="43137"/>
                    </a:srgbClr>
                  </a:outerShdw>
                </a:effectLst>
                <a:highlight>
                  <a:srgbClr val="FFFF00"/>
                </a:highlight>
              </a:rPr>
              <a:t>Mandatory license </a:t>
            </a:r>
            <a:r>
              <a:rPr lang="en-US" sz="4000" b="1" dirty="0">
                <a:solidFill>
                  <a:srgbClr val="002060"/>
                </a:solidFill>
                <a:effectLst>
                  <a:outerShdw blurRad="38100" dist="38100" dir="2700000" algn="tl">
                    <a:srgbClr val="000000">
                      <a:alpha val="43137"/>
                    </a:srgbClr>
                  </a:outerShdw>
                </a:effectLst>
              </a:rPr>
              <a:t>(security, abuse of patent, market demand, competition law). Applicant must </a:t>
            </a:r>
            <a:r>
              <a:rPr lang="en-US" sz="4000" b="1" dirty="0">
                <a:solidFill>
                  <a:srgbClr val="FF0000"/>
                </a:solidFill>
                <a:effectLst>
                  <a:outerShdw blurRad="38100" dist="38100" dir="2700000" algn="tl">
                    <a:srgbClr val="000000">
                      <a:alpha val="43137"/>
                    </a:srgbClr>
                  </a:outerShdw>
                </a:effectLst>
              </a:rPr>
              <a:t>first try </a:t>
            </a:r>
            <a:r>
              <a:rPr lang="en-US" sz="4000" b="1" dirty="0">
                <a:solidFill>
                  <a:srgbClr val="002060"/>
                </a:solidFill>
                <a:effectLst>
                  <a:outerShdw blurRad="38100" dist="38100" dir="2700000" algn="tl">
                    <a:srgbClr val="000000">
                      <a:alpha val="43137"/>
                    </a:srgbClr>
                  </a:outerShdw>
                </a:effectLst>
              </a:rPr>
              <a:t>to obtain license from its owner. </a:t>
            </a:r>
            <a:r>
              <a:rPr lang="en-US" sz="4000" b="1" dirty="0">
                <a:solidFill>
                  <a:srgbClr val="FF0000"/>
                </a:solidFill>
                <a:effectLst>
                  <a:outerShdw blurRad="38100" dist="38100" dir="2700000" algn="tl">
                    <a:srgbClr val="000000">
                      <a:alpha val="43137"/>
                    </a:srgbClr>
                  </a:outerShdw>
                </a:effectLst>
              </a:rPr>
              <a:t>Never exclusive</a:t>
            </a:r>
          </a:p>
          <a:p>
            <a:r>
              <a:rPr lang="en-US" sz="4000" b="1" dirty="0">
                <a:solidFill>
                  <a:srgbClr val="FF0000"/>
                </a:solidFill>
                <a:effectLst>
                  <a:outerShdw blurRad="38100" dist="38100" dir="2700000" algn="tl">
                    <a:srgbClr val="000000">
                      <a:alpha val="43137"/>
                    </a:srgbClr>
                  </a:outerShdw>
                </a:effectLst>
              </a:rPr>
              <a:t>Mandatory</a:t>
            </a:r>
            <a:r>
              <a:rPr lang="en-US" sz="4000" b="1" dirty="0">
                <a:solidFill>
                  <a:srgbClr val="002060"/>
                </a:solidFill>
                <a:effectLst>
                  <a:outerShdw blurRad="38100" dist="38100" dir="2700000" algn="tl">
                    <a:srgbClr val="000000">
                      <a:alpha val="43137"/>
                    </a:srgbClr>
                  </a:outerShdw>
                </a:effectLst>
              </a:rPr>
              <a:t> license is </a:t>
            </a:r>
            <a:r>
              <a:rPr lang="en-US" sz="4000" b="1" dirty="0">
                <a:solidFill>
                  <a:srgbClr val="FF0000"/>
                </a:solidFill>
                <a:effectLst>
                  <a:outerShdw blurRad="38100" dist="38100" dir="2700000" algn="tl">
                    <a:srgbClr val="000000">
                      <a:alpha val="43137"/>
                    </a:srgbClr>
                  </a:outerShdw>
                </a:effectLst>
                <a:highlight>
                  <a:srgbClr val="FFFF00"/>
                </a:highlight>
              </a:rPr>
              <a:t>always open</a:t>
            </a:r>
          </a:p>
        </p:txBody>
      </p:sp>
    </p:spTree>
    <p:extLst>
      <p:ext uri="{BB962C8B-B14F-4D97-AF65-F5344CB8AC3E}">
        <p14:creationId xmlns:p14="http://schemas.microsoft.com/office/powerpoint/2010/main" val="27473135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002060"/>
                </a:solidFill>
                <a:effectLst>
                  <a:outerShdw blurRad="38100" dist="38100" dir="2700000" algn="tl">
                    <a:srgbClr val="000000">
                      <a:alpha val="43137"/>
                    </a:srgbClr>
                  </a:outerShdw>
                </a:effectLst>
              </a:rPr>
              <a:t>Secret invention</a:t>
            </a:r>
          </a:p>
        </p:txBody>
      </p:sp>
      <p:sp>
        <p:nvSpPr>
          <p:cNvPr id="3" name="Symbol zastępczy zawartości 2"/>
          <p:cNvSpPr>
            <a:spLocks noGrp="1"/>
          </p:cNvSpPr>
          <p:nvPr>
            <p:ph idx="1"/>
          </p:nvPr>
        </p:nvSpPr>
        <p:spPr>
          <a:xfrm>
            <a:off x="457200" y="1600200"/>
            <a:ext cx="8229600" cy="4983162"/>
          </a:xfrm>
        </p:spPr>
        <p:txBody>
          <a:bodyPr/>
          <a:lstStyle/>
          <a:p>
            <a:r>
              <a:rPr lang="en-US" b="1" dirty="0">
                <a:solidFill>
                  <a:srgbClr val="FF0000"/>
                </a:solidFill>
                <a:effectLst>
                  <a:outerShdw blurRad="38100" dist="38100" dir="2700000" algn="tl">
                    <a:srgbClr val="000000">
                      <a:alpha val="43137"/>
                    </a:srgbClr>
                  </a:outerShdw>
                </a:effectLst>
              </a:rPr>
              <a:t>Decided to be</a:t>
            </a:r>
            <a:r>
              <a:rPr lang="pl-PL" b="1" dirty="0">
                <a:solidFill>
                  <a:srgbClr val="FF0000"/>
                </a:solidFill>
                <a:effectLst>
                  <a:outerShdw blurRad="38100" dist="38100" dir="2700000" algn="tl">
                    <a:srgbClr val="000000">
                      <a:alpha val="43137"/>
                    </a:srgbClr>
                  </a:outerShdw>
                </a:effectLst>
              </a:rPr>
              <a:t> classified</a:t>
            </a:r>
            <a:r>
              <a:rPr lang="en-US" b="1" dirty="0">
                <a:solidFill>
                  <a:srgbClr val="FF0000"/>
                </a:solidFill>
                <a:effectLst>
                  <a:outerShdw blurRad="38100" dist="38100" dir="2700000" algn="tl">
                    <a:srgbClr val="000000">
                      <a:alpha val="43137"/>
                    </a:srgbClr>
                  </a:outerShdw>
                </a:effectLst>
              </a:rPr>
              <a:t> </a:t>
            </a:r>
            <a:r>
              <a:rPr lang="pl-PL" b="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secret</a:t>
            </a:r>
            <a:r>
              <a:rPr lang="pl-PL" b="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 by </a:t>
            </a:r>
            <a:r>
              <a:rPr lang="en-US" b="1" dirty="0">
                <a:solidFill>
                  <a:srgbClr val="002060"/>
                </a:solidFill>
              </a:rPr>
              <a:t>the </a:t>
            </a:r>
            <a:r>
              <a:rPr lang="en-US" b="1" dirty="0">
                <a:solidFill>
                  <a:srgbClr val="FF0000"/>
                </a:solidFill>
                <a:effectLst>
                  <a:outerShdw blurRad="38100" dist="38100" dir="2700000" algn="tl">
                    <a:srgbClr val="000000">
                      <a:alpha val="43137"/>
                    </a:srgbClr>
                  </a:outerShdw>
                </a:effectLst>
                <a:highlight>
                  <a:srgbClr val="FFFF00"/>
                </a:highlight>
              </a:rPr>
              <a:t>Ministry of Defense</a:t>
            </a:r>
            <a:r>
              <a:rPr lang="en-US" b="1"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highlight>
                  <a:srgbClr val="FFFF00"/>
                </a:highlight>
              </a:rPr>
              <a:t>Interior Minister</a:t>
            </a:r>
            <a:r>
              <a:rPr lang="en-US" b="1" dirty="0">
                <a:solidFill>
                  <a:srgbClr val="FF000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or </a:t>
            </a:r>
            <a:r>
              <a:rPr lang="en-US" b="1" dirty="0">
                <a:solidFill>
                  <a:srgbClr val="FF0000"/>
                </a:solidFill>
                <a:effectLst>
                  <a:outerShdw blurRad="38100" dist="38100" dir="2700000" algn="tl">
                    <a:srgbClr val="000000">
                      <a:alpha val="43137"/>
                    </a:srgbClr>
                  </a:outerShdw>
                </a:effectLst>
                <a:highlight>
                  <a:srgbClr val="FFFF00"/>
                </a:highlight>
              </a:rPr>
              <a:t>Agency of Internal Security </a:t>
            </a:r>
            <a:r>
              <a:rPr lang="en-US" b="1" dirty="0">
                <a:solidFill>
                  <a:srgbClr val="002060"/>
                </a:solidFill>
                <a:effectLst>
                  <a:outerShdw blurRad="38100" dist="38100" dir="2700000" algn="tl">
                    <a:srgbClr val="000000">
                      <a:alpha val="43137"/>
                    </a:srgbClr>
                  </a:outerShdw>
                </a:effectLst>
              </a:rPr>
              <a:t>(ABW</a:t>
            </a:r>
            <a:r>
              <a:rPr lang="en-US" b="1" dirty="0">
                <a:solidFill>
                  <a:srgbClr val="002060"/>
                </a:solidFill>
              </a:rPr>
              <a:t>)</a:t>
            </a:r>
          </a:p>
          <a:p>
            <a:r>
              <a:rPr lang="en-US" b="1" dirty="0">
                <a:solidFill>
                  <a:srgbClr val="FF0000"/>
                </a:solidFill>
                <a:effectLst>
                  <a:outerShdw blurRad="38100" dist="38100" dir="2700000" algn="tl">
                    <a:srgbClr val="000000">
                      <a:alpha val="43137"/>
                    </a:srgbClr>
                  </a:outerShdw>
                </a:effectLst>
              </a:rPr>
              <a:t>Weapons, ways of fighting</a:t>
            </a:r>
            <a:r>
              <a:rPr lang="en-US" b="1" dirty="0">
                <a:solidFill>
                  <a:srgbClr val="0070C0"/>
                </a:solidFill>
              </a:rPr>
              <a:t>, equipment that can be used in </a:t>
            </a:r>
            <a:r>
              <a:rPr lang="en-US" b="1" dirty="0">
                <a:solidFill>
                  <a:srgbClr val="FF0000"/>
                </a:solidFill>
                <a:effectLst>
                  <a:outerShdw blurRad="38100" dist="38100" dir="2700000" algn="tl">
                    <a:srgbClr val="000000">
                      <a:alpha val="43137"/>
                    </a:srgbClr>
                  </a:outerShdw>
                </a:effectLst>
              </a:rPr>
              <a:t>invigilation</a:t>
            </a:r>
            <a:r>
              <a:rPr lang="en-US" b="1" dirty="0">
                <a:solidFill>
                  <a:srgbClr val="0070C0"/>
                </a:solidFill>
              </a:rPr>
              <a:t> by police and secret service</a:t>
            </a:r>
          </a:p>
          <a:p>
            <a:r>
              <a:rPr lang="en-US" b="1" dirty="0">
                <a:solidFill>
                  <a:srgbClr val="002060"/>
                </a:solidFill>
              </a:rPr>
              <a:t>Invention becomes </a:t>
            </a:r>
            <a:r>
              <a:rPr lang="en-US" b="1" dirty="0">
                <a:solidFill>
                  <a:srgbClr val="FF0000"/>
                </a:solidFill>
                <a:effectLst>
                  <a:outerShdw blurRad="38100" dist="38100" dir="2700000" algn="tl">
                    <a:srgbClr val="000000">
                      <a:alpha val="43137"/>
                    </a:srgbClr>
                  </a:outerShdw>
                </a:effectLst>
              </a:rPr>
              <a:t>property of the state</a:t>
            </a:r>
          </a:p>
          <a:p>
            <a:r>
              <a:rPr lang="en-US" b="1" dirty="0">
                <a:solidFill>
                  <a:srgbClr val="002060"/>
                </a:solidFill>
              </a:rPr>
              <a:t>The author receives</a:t>
            </a:r>
            <a:r>
              <a:rPr lang="pl-PL" b="1" dirty="0">
                <a:solidFill>
                  <a:srgbClr val="FF0000"/>
                </a:solidFill>
              </a:rPr>
              <a:t> </a:t>
            </a:r>
            <a:r>
              <a:rPr lang="en-US" b="1" dirty="0">
                <a:solidFill>
                  <a:srgbClr val="FF0000"/>
                </a:solidFill>
                <a:effectLst>
                  <a:outerShdw blurRad="38100" dist="38100" dir="2700000" algn="tl">
                    <a:srgbClr val="000000">
                      <a:alpha val="43137"/>
                    </a:srgbClr>
                  </a:outerShdw>
                </a:effectLst>
                <a:highlight>
                  <a:srgbClr val="FFFF00"/>
                </a:highlight>
              </a:rPr>
              <a:t>compensation</a:t>
            </a:r>
          </a:p>
        </p:txBody>
      </p:sp>
    </p:spTree>
    <p:extLst>
      <p:ext uri="{BB962C8B-B14F-4D97-AF65-F5344CB8AC3E}">
        <p14:creationId xmlns:p14="http://schemas.microsoft.com/office/powerpoint/2010/main" val="21860786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FFFF00"/>
                </a:highlight>
              </a:rPr>
              <a:t>Abuse of patent</a:t>
            </a:r>
          </a:p>
        </p:txBody>
      </p:sp>
      <p:sp>
        <p:nvSpPr>
          <p:cNvPr id="3" name="Symbol zastępczy zawartości 2"/>
          <p:cNvSpPr>
            <a:spLocks noGrp="1"/>
          </p:cNvSpPr>
          <p:nvPr>
            <p:ph idx="1"/>
          </p:nvPr>
        </p:nvSpPr>
        <p:spPr>
          <a:xfrm>
            <a:off x="457200" y="1600200"/>
            <a:ext cx="8229600" cy="5789240"/>
          </a:xfrm>
        </p:spPr>
        <p:txBody>
          <a:bodyPr/>
          <a:lstStyle/>
          <a:p>
            <a:r>
              <a:rPr lang="en-US" sz="2400" b="1" dirty="0">
                <a:solidFill>
                  <a:srgbClr val="002060"/>
                </a:solidFill>
                <a:effectLst>
                  <a:outerShdw blurRad="38100" dist="38100" dir="2700000" algn="tl">
                    <a:srgbClr val="000000">
                      <a:alpha val="43137"/>
                    </a:srgbClr>
                  </a:outerShdw>
                </a:effectLst>
              </a:rPr>
              <a:t>Abuse = the patent holder does not give a license in the face of </a:t>
            </a:r>
            <a:r>
              <a:rPr lang="en-US" sz="2400" b="1" dirty="0">
                <a:solidFill>
                  <a:srgbClr val="FF0000"/>
                </a:solidFill>
                <a:effectLst>
                  <a:outerShdw blurRad="38100" dist="38100" dir="2700000" algn="tl">
                    <a:srgbClr val="000000">
                      <a:alpha val="43137"/>
                    </a:srgbClr>
                  </a:outerShdw>
                </a:effectLst>
              </a:rPr>
              <a:t>market difficulties </a:t>
            </a:r>
            <a:r>
              <a:rPr lang="en-US" sz="2400" b="1" dirty="0">
                <a:solidFill>
                  <a:srgbClr val="0070C0"/>
                </a:solidFill>
                <a:effectLst>
                  <a:outerShdw blurRad="38100" dist="38100" dir="2700000" algn="tl">
                    <a:srgbClr val="000000">
                      <a:alpha val="43137"/>
                    </a:srgbClr>
                  </a:outerShdw>
                </a:effectLst>
              </a:rPr>
              <a:t>(</a:t>
            </a:r>
            <a:r>
              <a:rPr lang="en-US" sz="2400" b="1" dirty="0">
                <a:solidFill>
                  <a:srgbClr val="0070C0"/>
                </a:solidFill>
                <a:effectLst>
                  <a:outerShdw blurRad="38100" dist="38100" dir="2700000" algn="tl">
                    <a:srgbClr val="000000">
                      <a:alpha val="43137"/>
                    </a:srgbClr>
                  </a:outerShdw>
                </a:effectLst>
                <a:highlight>
                  <a:srgbClr val="FFFF00"/>
                </a:highlight>
              </a:rPr>
              <a:t>scarcity of goods, or high prices</a:t>
            </a:r>
            <a:r>
              <a:rPr lang="en-US" sz="2400" b="1" dirty="0">
                <a:solidFill>
                  <a:srgbClr val="0070C0"/>
                </a:solidFill>
                <a:effectLst>
                  <a:outerShdw blurRad="38100" dist="38100" dir="2700000" algn="tl">
                    <a:srgbClr val="000000">
                      <a:alpha val="43137"/>
                    </a:srgbClr>
                  </a:outerShdw>
                </a:effectLst>
              </a:rPr>
              <a:t>) </a:t>
            </a:r>
            <a:r>
              <a:rPr lang="en-US" sz="2400" b="1" dirty="0">
                <a:solidFill>
                  <a:srgbClr val="002060"/>
                </a:solidFill>
                <a:effectLst>
                  <a:outerShdw blurRad="38100" dist="38100" dir="2700000" algn="tl">
                    <a:srgbClr val="000000">
                      <a:alpha val="43137"/>
                    </a:srgbClr>
                  </a:outerShdw>
                </a:effectLst>
              </a:rPr>
              <a:t>or to satisfy </a:t>
            </a:r>
            <a:r>
              <a:rPr lang="en-US" sz="2400" b="1" dirty="0">
                <a:solidFill>
                  <a:srgbClr val="FF0000"/>
                </a:solidFill>
                <a:effectLst>
                  <a:outerShdw blurRad="38100" dist="38100" dir="2700000" algn="tl">
                    <a:srgbClr val="000000">
                      <a:alpha val="43137"/>
                    </a:srgbClr>
                  </a:outerShdw>
                </a:effectLst>
              </a:rPr>
              <a:t>public interest </a:t>
            </a:r>
          </a:p>
          <a:p>
            <a:r>
              <a:rPr lang="pl-PL" sz="2400" b="1" dirty="0">
                <a:solidFill>
                  <a:srgbClr val="002060"/>
                </a:solidFill>
                <a:effectLst>
                  <a:outerShdw blurRad="38100" dist="38100" dir="2700000" algn="tl">
                    <a:srgbClr val="000000">
                      <a:alpha val="43137"/>
                    </a:srgbClr>
                  </a:outerShdw>
                </a:effectLst>
              </a:rPr>
              <a:t>Within</a:t>
            </a:r>
            <a:r>
              <a:rPr lang="en-US" sz="2400" b="1" dirty="0">
                <a:solidFill>
                  <a:srgbClr val="002060"/>
                </a:solidFill>
                <a:effectLst>
                  <a:outerShdw blurRad="38100" dist="38100" dir="2700000" algn="tl">
                    <a:srgbClr val="000000">
                      <a:alpha val="43137"/>
                    </a:srgbClr>
                  </a:outerShdw>
                </a:effectLst>
              </a:rPr>
              <a:t> </a:t>
            </a:r>
            <a:r>
              <a:rPr lang="pl-PL" sz="2400" b="1" dirty="0">
                <a:solidFill>
                  <a:srgbClr val="002060"/>
                </a:solidFill>
                <a:effectLst>
                  <a:outerShdw blurRad="38100" dist="38100" dir="2700000" algn="tl">
                    <a:srgbClr val="000000">
                      <a:alpha val="43137"/>
                    </a:srgbClr>
                  </a:outerShdw>
                </a:effectLst>
              </a:rPr>
              <a:t>first </a:t>
            </a:r>
            <a:r>
              <a:rPr lang="en-US" sz="2400" b="1" dirty="0">
                <a:solidFill>
                  <a:srgbClr val="002060"/>
                </a:solidFill>
                <a:effectLst>
                  <a:outerShdw blurRad="38100" dist="38100" dir="2700000" algn="tl">
                    <a:srgbClr val="000000">
                      <a:alpha val="43137"/>
                    </a:srgbClr>
                  </a:outerShdw>
                </a:effectLst>
              </a:rPr>
              <a:t>3 years from </a:t>
            </a:r>
            <a:r>
              <a:rPr lang="pl-PL" sz="2400" b="1" dirty="0">
                <a:solidFill>
                  <a:srgbClr val="002060"/>
                </a:solidFill>
                <a:effectLst>
                  <a:outerShdw blurRad="38100" dist="38100" dir="2700000" algn="tl">
                    <a:srgbClr val="000000">
                      <a:alpha val="43137"/>
                    </a:srgbClr>
                  </a:outerShdw>
                </a:effectLst>
              </a:rPr>
              <a:t>patent </a:t>
            </a:r>
            <a:r>
              <a:rPr lang="en-US" sz="2400" b="1" dirty="0">
                <a:solidFill>
                  <a:srgbClr val="002060"/>
                </a:solidFill>
                <a:effectLst>
                  <a:outerShdw blurRad="38100" dist="38100" dir="2700000" algn="tl">
                    <a:srgbClr val="000000">
                      <a:alpha val="43137"/>
                    </a:srgbClr>
                  </a:outerShdw>
                </a:effectLst>
              </a:rPr>
              <a:t>registration</a:t>
            </a:r>
            <a:r>
              <a:rPr lang="pl-PL" sz="2400" b="1" dirty="0">
                <a:solidFill>
                  <a:srgbClr val="002060"/>
                </a:solidFill>
                <a:effectLst>
                  <a:outerShdw blurRad="38100" dist="38100" dir="2700000" algn="tl">
                    <a:srgbClr val="000000">
                      <a:alpha val="43137"/>
                    </a:srgbClr>
                  </a:outerShdw>
                </a:effectLst>
              </a:rPr>
              <a:t> there is no abuse</a:t>
            </a:r>
          </a:p>
          <a:p>
            <a:r>
              <a:rPr lang="pl-PL" sz="2400" b="1" dirty="0">
                <a:solidFill>
                  <a:srgbClr val="002060"/>
                </a:solidFill>
                <a:effectLst>
                  <a:outerShdw blurRad="38100" dist="38100" dir="2700000" algn="tl">
                    <a:srgbClr val="000000">
                      <a:alpha val="43137"/>
                    </a:srgbClr>
                  </a:outerShdw>
                </a:effectLst>
              </a:rPr>
              <a:t>Competition law still applies to the monopolist=patent holder</a:t>
            </a:r>
            <a:endParaRPr lang="en-US" sz="2400" b="1" dirty="0">
              <a:solidFill>
                <a:srgbClr val="002060"/>
              </a:solidFill>
              <a:effectLst>
                <a:outerShdw blurRad="38100" dist="38100" dir="2700000" algn="tl">
                  <a:srgbClr val="000000">
                    <a:alpha val="43137"/>
                  </a:srgbClr>
                </a:outerShdw>
              </a:effectLst>
            </a:endParaRPr>
          </a:p>
          <a:p>
            <a:r>
              <a:rPr lang="en-US" sz="2400" b="1" dirty="0">
                <a:solidFill>
                  <a:srgbClr val="FF0000"/>
                </a:solidFill>
                <a:effectLst>
                  <a:outerShdw blurRad="38100" dist="38100" dir="2700000" algn="tl">
                    <a:srgbClr val="000000">
                      <a:alpha val="43137"/>
                    </a:srgbClr>
                  </a:outerShdw>
                </a:effectLst>
              </a:rPr>
              <a:t>Public security </a:t>
            </a:r>
            <a:r>
              <a:rPr lang="en-US" sz="2400" b="1" dirty="0">
                <a:solidFill>
                  <a:srgbClr val="002060"/>
                </a:solidFill>
                <a:effectLst>
                  <a:outerShdw blurRad="38100" dist="38100" dir="2700000" algn="tl">
                    <a:srgbClr val="000000">
                      <a:alpha val="43137"/>
                    </a:srgbClr>
                  </a:outerShdw>
                </a:effectLst>
              </a:rPr>
              <a:t>– minister or </a:t>
            </a:r>
            <a:r>
              <a:rPr lang="en-US" sz="2400" i="1" dirty="0">
                <a:solidFill>
                  <a:srgbClr val="002060"/>
                </a:solidFill>
                <a:effectLst>
                  <a:outerShdw blurRad="38100" dist="38100" dir="2700000" algn="tl">
                    <a:srgbClr val="000000">
                      <a:alpha val="43137"/>
                    </a:srgbClr>
                  </a:outerShdw>
                </a:effectLst>
              </a:rPr>
              <a:t>wojewoda</a:t>
            </a:r>
            <a:r>
              <a:rPr lang="en-US" sz="2400" dirty="0">
                <a:solidFill>
                  <a:srgbClr val="002060"/>
                </a:solidFill>
                <a:effectLst>
                  <a:outerShdw blurRad="38100" dist="38100" dir="2700000" algn="tl">
                    <a:srgbClr val="000000">
                      <a:alpha val="43137"/>
                    </a:srgbClr>
                  </a:outerShdw>
                </a:effectLst>
              </a:rPr>
              <a:t> </a:t>
            </a:r>
            <a:r>
              <a:rPr lang="en-US" sz="2400" b="1" dirty="0">
                <a:solidFill>
                  <a:srgbClr val="002060"/>
                </a:solidFill>
                <a:effectLst>
                  <a:outerShdw blurRad="38100" dist="38100" dir="2700000" algn="tl">
                    <a:srgbClr val="000000">
                      <a:alpha val="43137"/>
                    </a:srgbClr>
                  </a:outerShdw>
                </a:effectLst>
              </a:rPr>
              <a:t>may </a:t>
            </a:r>
            <a:r>
              <a:rPr lang="en-US" sz="2400" b="1" dirty="0">
                <a:solidFill>
                  <a:srgbClr val="002060"/>
                </a:solidFill>
                <a:effectLst>
                  <a:outerShdw blurRad="38100" dist="38100" dir="2700000" algn="tl">
                    <a:srgbClr val="000000">
                      <a:alpha val="43137"/>
                    </a:srgbClr>
                  </a:outerShdw>
                </a:effectLst>
                <a:highlight>
                  <a:srgbClr val="FFFF00"/>
                </a:highlight>
              </a:rPr>
              <a:t>limit the rights of patent holder </a:t>
            </a:r>
            <a:r>
              <a:rPr lang="en-US" sz="2400" b="1" dirty="0">
                <a:solidFill>
                  <a:srgbClr val="002060"/>
                </a:solidFill>
                <a:effectLst>
                  <a:outerShdw blurRad="38100" dist="38100" dir="2700000" algn="tl">
                    <a:srgbClr val="000000">
                      <a:alpha val="43137"/>
                    </a:srgbClr>
                  </a:outerShdw>
                </a:effectLst>
              </a:rPr>
              <a:t>– appeal to the administrative court</a:t>
            </a:r>
          </a:p>
        </p:txBody>
      </p:sp>
    </p:spTree>
    <p:extLst>
      <p:ext uri="{BB962C8B-B14F-4D97-AF65-F5344CB8AC3E}">
        <p14:creationId xmlns:p14="http://schemas.microsoft.com/office/powerpoint/2010/main" val="6533136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highlight>
                  <a:srgbClr val="00FF00"/>
                </a:highlight>
              </a:rPr>
              <a:t>Utility model</a:t>
            </a:r>
          </a:p>
        </p:txBody>
      </p:sp>
      <p:sp>
        <p:nvSpPr>
          <p:cNvPr id="3" name="Symbol zastępczy zawartości 2"/>
          <p:cNvSpPr>
            <a:spLocks noGrp="1"/>
          </p:cNvSpPr>
          <p:nvPr>
            <p:ph idx="1"/>
          </p:nvPr>
        </p:nvSpPr>
        <p:spPr>
          <a:xfrm>
            <a:off x="457200" y="1600200"/>
            <a:ext cx="8229600" cy="5141168"/>
          </a:xfrm>
        </p:spPr>
        <p:txBody>
          <a:bodyPr/>
          <a:lstStyle/>
          <a:p>
            <a:r>
              <a:rPr lang="en-US" sz="2400" b="1" dirty="0">
                <a:solidFill>
                  <a:srgbClr val="FF0000"/>
                </a:solidFill>
                <a:effectLst>
                  <a:outerShdw blurRad="38100" dist="38100" dir="2700000" algn="tl">
                    <a:srgbClr val="000000">
                      <a:alpha val="43137"/>
                    </a:srgbClr>
                  </a:outerShdw>
                </a:effectLst>
              </a:rPr>
              <a:t>A</a:t>
            </a:r>
            <a:r>
              <a:rPr lang="en-US" sz="2400" b="1" dirty="0">
                <a:effectLst>
                  <a:outerShdw blurRad="38100" dist="38100" dir="2700000" algn="tl">
                    <a:srgbClr val="000000">
                      <a:alpha val="43137"/>
                    </a:srgbClr>
                  </a:outerShdw>
                </a:effectLst>
              </a:rPr>
              <a:t> </a:t>
            </a:r>
            <a:r>
              <a:rPr lang="en-US" sz="2400" b="1" dirty="0">
                <a:solidFill>
                  <a:srgbClr val="FF0000"/>
                </a:solidFill>
                <a:effectLst>
                  <a:outerShdw blurRad="38100" dist="38100" dir="2700000" algn="tl">
                    <a:srgbClr val="000000">
                      <a:alpha val="43137"/>
                    </a:srgbClr>
                  </a:outerShdw>
                </a:effectLst>
              </a:rPr>
              <a:t>new and useful </a:t>
            </a:r>
            <a:r>
              <a:rPr lang="en-US" sz="24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technical solution</a:t>
            </a:r>
            <a:r>
              <a:rPr lang="en-US" sz="2400" b="1" dirty="0">
                <a:effectLst>
                  <a:outerShdw blurRad="38100" dist="38100" dir="2700000" algn="tl">
                    <a:srgbClr val="000000">
                      <a:alpha val="43137"/>
                    </a:srgbClr>
                  </a:outerShdw>
                </a:effectLst>
              </a:rPr>
              <a:t>, concerning the </a:t>
            </a:r>
            <a:r>
              <a:rPr lang="en-US" sz="2400" b="1" dirty="0">
                <a:solidFill>
                  <a:srgbClr val="FF0000"/>
                </a:solidFill>
                <a:effectLst>
                  <a:outerShdw blurRad="38100" dist="38100" dir="2700000" algn="tl">
                    <a:srgbClr val="000000">
                      <a:alpha val="43137"/>
                    </a:srgbClr>
                  </a:outerShdw>
                </a:effectLst>
                <a:highlight>
                  <a:srgbClr val="00FFFF"/>
                </a:highlight>
                <a:latin typeface="Arial Black" panose="020B0A04020102020204" pitchFamily="34" charset="0"/>
              </a:rPr>
              <a:t>shape or construction</a:t>
            </a:r>
            <a:endParaRPr lang="en-US" sz="2400" b="1" dirty="0">
              <a:effectLst>
                <a:outerShdw blurRad="38100" dist="38100" dir="2700000" algn="tl">
                  <a:srgbClr val="000000">
                    <a:alpha val="43137"/>
                  </a:srgbClr>
                </a:outerShdw>
              </a:effectLst>
              <a:highlight>
                <a:srgbClr val="00FFFF"/>
              </a:highlight>
              <a:latin typeface="Arial Black" panose="020B0A04020102020204" pitchFamily="34" charset="0"/>
            </a:endParaRPr>
          </a:p>
          <a:p>
            <a:r>
              <a:rPr lang="pl-PL" sz="2400" b="1" dirty="0">
                <a:effectLst>
                  <a:outerShdw blurRad="38100" dist="38100" dir="2700000" algn="tl">
                    <a:srgbClr val="000000">
                      <a:alpha val="43137"/>
                    </a:srgbClr>
                  </a:outerShdw>
                </a:effectLst>
              </a:rPr>
              <a:t> The utility</a:t>
            </a:r>
            <a:r>
              <a:rPr lang="en-US" sz="2400" b="1" dirty="0">
                <a:effectLst>
                  <a:outerShdw blurRad="38100" dist="38100" dir="2700000" algn="tl">
                    <a:srgbClr val="000000">
                      <a:alpha val="43137"/>
                    </a:srgbClr>
                  </a:outerShdw>
                </a:effectLst>
              </a:rPr>
              <a:t> model is considered to be a </a:t>
            </a:r>
            <a:r>
              <a:rPr lang="en-US" sz="2400" b="1" dirty="0">
                <a:solidFill>
                  <a:srgbClr val="FF0000"/>
                </a:solidFill>
                <a:effectLst>
                  <a:outerShdw blurRad="38100" dist="38100" dir="2700000" algn="tl">
                    <a:srgbClr val="000000">
                      <a:alpha val="43137"/>
                    </a:srgbClr>
                  </a:outerShdw>
                </a:effectLst>
              </a:rPr>
              <a:t>useful solution</a:t>
            </a:r>
            <a:r>
              <a:rPr lang="en-US" sz="2400" b="1" dirty="0">
                <a:effectLst>
                  <a:outerShdw blurRad="38100" dist="38100" dir="2700000" algn="tl">
                    <a:srgbClr val="000000">
                      <a:alpha val="43137"/>
                    </a:srgbClr>
                  </a:outerShdw>
                </a:effectLst>
              </a:rPr>
              <a:t>, if it allows </a:t>
            </a:r>
            <a:r>
              <a:rPr lang="pl-PL" sz="2400" b="1" dirty="0">
                <a:effectLst>
                  <a:outerShdw blurRad="38100" dist="38100" dir="2700000" algn="tl">
                    <a:srgbClr val="000000">
                      <a:alpha val="43137"/>
                    </a:srgbClr>
                  </a:outerShdw>
                </a:effectLst>
              </a:rPr>
              <a:t>the production</a:t>
            </a:r>
            <a:r>
              <a:rPr lang="en-US" sz="2400" b="1" dirty="0">
                <a:effectLst>
                  <a:outerShdw blurRad="38100" dist="38100" dir="2700000" algn="tl">
                    <a:srgbClr val="000000">
                      <a:alpha val="43137"/>
                    </a:srgbClr>
                  </a:outerShdw>
                </a:effectLst>
              </a:rPr>
              <a:t> </a:t>
            </a:r>
            <a:r>
              <a:rPr lang="pl-PL" sz="2400" b="1" dirty="0">
                <a:effectLst>
                  <a:outerShdw blurRad="38100" dist="38100" dir="2700000" algn="tl">
                    <a:srgbClr val="000000">
                      <a:alpha val="43137"/>
                    </a:srgbClr>
                  </a:outerShdw>
                </a:effectLst>
              </a:rPr>
              <a:t>of </a:t>
            </a:r>
            <a:r>
              <a:rPr lang="en-US" sz="2400" b="1" dirty="0">
                <a:effectLst>
                  <a:outerShdw blurRad="38100" dist="38100" dir="2700000" algn="tl">
                    <a:srgbClr val="000000">
                      <a:alpha val="43137"/>
                    </a:srgbClr>
                  </a:outerShdw>
                </a:effectLst>
              </a:rPr>
              <a:t>an effect, having </a:t>
            </a:r>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practical application </a:t>
            </a:r>
            <a:r>
              <a:rPr lang="en-US" sz="2400" b="1" dirty="0">
                <a:effectLst>
                  <a:outerShdw blurRad="38100" dist="38100" dir="2700000" algn="tl">
                    <a:srgbClr val="000000">
                      <a:alpha val="43137"/>
                    </a:srgbClr>
                  </a:outerShdw>
                </a:effectLst>
              </a:rPr>
              <a:t>in the </a:t>
            </a:r>
            <a:r>
              <a:rPr lang="pl-PL" sz="2400" b="1" dirty="0" err="1">
                <a:effectLst>
                  <a:outerShdw blurRad="38100" dist="38100" dir="2700000" algn="tl">
                    <a:srgbClr val="000000">
                      <a:alpha val="43137"/>
                    </a:srgbClr>
                  </a:outerShdw>
                </a:effectLst>
              </a:rPr>
              <a:t>process</a:t>
            </a:r>
            <a:r>
              <a:rPr lang="en-US" sz="2400" b="1" dirty="0">
                <a:effectLst>
                  <a:outerShdw blurRad="38100" dist="38100" dir="2700000" algn="tl">
                    <a:srgbClr val="000000">
                      <a:alpha val="43137"/>
                    </a:srgbClr>
                  </a:outerShdw>
                </a:effectLst>
              </a:rPr>
              <a:t> of manufacture or use of products </a:t>
            </a:r>
            <a:endParaRPr lang="pl-PL" sz="2400" b="1" dirty="0">
              <a:effectLst>
                <a:outerShdw blurRad="38100" dist="38100" dir="2700000" algn="tl">
                  <a:srgbClr val="000000">
                    <a:alpha val="43137"/>
                  </a:srgbClr>
                </a:outerShdw>
              </a:effectLst>
            </a:endParaRPr>
          </a:p>
          <a:p>
            <a:r>
              <a:rPr lang="en-US" sz="2400" i="1" dirty="0">
                <a:solidFill>
                  <a:srgbClr val="002060"/>
                </a:solidFill>
                <a:effectLst>
                  <a:outerShdw blurRad="38100" dist="38100" dir="2700000" algn="tl">
                    <a:srgbClr val="000000">
                      <a:alpha val="43137"/>
                    </a:srgbClr>
                  </a:outerShdw>
                </a:effectLst>
              </a:rPr>
              <a:t>Examples: </a:t>
            </a:r>
            <a:r>
              <a:rPr lang="en-US" sz="2400" i="1" dirty="0">
                <a:solidFill>
                  <a:srgbClr val="002060"/>
                </a:solidFill>
                <a:effectLst>
                  <a:outerShdw blurRad="38100" dist="38100" dir="2700000" algn="tl">
                    <a:srgbClr val="000000">
                      <a:alpha val="43137"/>
                    </a:srgbClr>
                  </a:outerShdw>
                </a:effectLst>
                <a:highlight>
                  <a:srgbClr val="FFFF00"/>
                </a:highlight>
              </a:rPr>
              <a:t>a jar, bicycle seat, door lock, central heating boiler, </a:t>
            </a:r>
            <a:r>
              <a:rPr lang="pl-PL" sz="2400" i="1" dirty="0">
                <a:solidFill>
                  <a:srgbClr val="002060"/>
                </a:solidFill>
                <a:effectLst>
                  <a:outerShdw blurRad="38100" dist="38100" dir="2700000" algn="tl">
                    <a:srgbClr val="000000">
                      <a:alpha val="43137"/>
                    </a:srgbClr>
                  </a:outerShdw>
                </a:effectLst>
                <a:highlight>
                  <a:srgbClr val="FFFF00"/>
                </a:highlight>
              </a:rPr>
              <a:t>a </a:t>
            </a:r>
            <a:r>
              <a:rPr lang="en-US" sz="2400" i="1" dirty="0">
                <a:solidFill>
                  <a:srgbClr val="002060"/>
                </a:solidFill>
                <a:effectLst>
                  <a:outerShdw blurRad="38100" dist="38100" dir="2700000" algn="tl">
                    <a:srgbClr val="000000">
                      <a:alpha val="43137"/>
                    </a:srgbClr>
                  </a:outerShdw>
                </a:effectLst>
                <a:highlight>
                  <a:srgbClr val="FFFF00"/>
                </a:highlight>
              </a:rPr>
              <a:t>mechanism allowing </a:t>
            </a:r>
            <a:r>
              <a:rPr lang="pl-PL" sz="2400" i="1" dirty="0">
                <a:solidFill>
                  <a:srgbClr val="002060"/>
                </a:solidFill>
                <a:effectLst>
                  <a:outerShdw blurRad="38100" dist="38100" dir="2700000" algn="tl">
                    <a:srgbClr val="000000">
                      <a:alpha val="43137"/>
                    </a:srgbClr>
                  </a:outerShdw>
                </a:effectLst>
                <a:highlight>
                  <a:srgbClr val="FFFF00"/>
                </a:highlight>
              </a:rPr>
              <a:t>the lipstick</a:t>
            </a:r>
            <a:r>
              <a:rPr lang="en-US" sz="2400" i="1" dirty="0">
                <a:solidFill>
                  <a:srgbClr val="002060"/>
                </a:solidFill>
                <a:effectLst>
                  <a:outerShdw blurRad="38100" dist="38100" dir="2700000" algn="tl">
                    <a:srgbClr val="000000">
                      <a:alpha val="43137"/>
                    </a:srgbClr>
                  </a:outerShdw>
                </a:effectLst>
                <a:highlight>
                  <a:srgbClr val="FFFF00"/>
                </a:highlight>
              </a:rPr>
              <a:t> to move out of its encasing, coat hanger, string-locked bag, light encasement, rehabilitation shoe, combine-har</a:t>
            </a:r>
            <a:r>
              <a:rPr lang="pl-PL" sz="2400" i="1" dirty="0">
                <a:solidFill>
                  <a:srgbClr val="002060"/>
                </a:solidFill>
                <a:effectLst>
                  <a:outerShdw blurRad="38100" dist="38100" dir="2700000" algn="tl">
                    <a:srgbClr val="000000">
                      <a:alpha val="43137"/>
                    </a:srgbClr>
                  </a:outerShdw>
                </a:effectLst>
                <a:highlight>
                  <a:srgbClr val="FFFF00"/>
                </a:highlight>
              </a:rPr>
              <a:t>v</a:t>
            </a:r>
            <a:r>
              <a:rPr lang="en-US" sz="2400" i="1" dirty="0">
                <a:solidFill>
                  <a:srgbClr val="002060"/>
                </a:solidFill>
                <a:effectLst>
                  <a:outerShdw blurRad="38100" dist="38100" dir="2700000" algn="tl">
                    <a:srgbClr val="000000">
                      <a:alpha val="43137"/>
                    </a:srgbClr>
                  </a:outerShdw>
                </a:effectLst>
                <a:highlight>
                  <a:srgbClr val="FFFF00"/>
                </a:highlight>
              </a:rPr>
              <a:t>ester picking up apples, a pipe slide in the aqua-park</a:t>
            </a:r>
          </a:p>
          <a:p>
            <a:r>
              <a:rPr lang="en-US" sz="2400" b="1" dirty="0">
                <a:solidFill>
                  <a:srgbClr val="FF0000"/>
                </a:solidFill>
                <a:effectLst>
                  <a:outerShdw blurRad="38100" dist="38100" dir="2700000" algn="tl">
                    <a:srgbClr val="000000">
                      <a:alpha val="43137"/>
                    </a:srgbClr>
                  </a:outerShdw>
                </a:effectLst>
                <a:highlight>
                  <a:srgbClr val="00FFFF"/>
                </a:highlight>
                <a:latin typeface="Arial Black" panose="020B0A04020102020204" pitchFamily="34" charset="0"/>
              </a:rPr>
              <a:t>10 years </a:t>
            </a:r>
            <a:r>
              <a:rPr lang="en-US" sz="2400" b="1" dirty="0">
                <a:effectLst>
                  <a:outerShdw blurRad="38100" dist="38100" dir="2700000" algn="tl">
                    <a:srgbClr val="000000">
                      <a:alpha val="43137"/>
                    </a:srgbClr>
                  </a:outerShdw>
                </a:effectLst>
                <a:latin typeface="Arial Black" panose="020B0A04020102020204" pitchFamily="34" charset="0"/>
              </a:rPr>
              <a:t>protection</a:t>
            </a:r>
            <a:endParaRPr lang="pl-PL" sz="2400" b="1" dirty="0">
              <a:effectLst>
                <a:outerShdw blurRad="38100" dist="38100" dir="2700000" algn="tl">
                  <a:srgbClr val="000000">
                    <a:alpha val="43137"/>
                  </a:srgbClr>
                </a:outerShdw>
              </a:effectLst>
              <a:latin typeface="Arial Black" panose="020B0A04020102020204" pitchFamily="34" charset="0"/>
            </a:endParaRPr>
          </a:p>
          <a:p>
            <a:pPr marL="0" indent="0">
              <a:buNone/>
            </a:pPr>
            <a:r>
              <a:rPr lang="en-US" sz="1800" dirty="0">
                <a:effectLst>
                  <a:outerShdw blurRad="38100" dist="38100" dir="2700000" algn="tl">
                    <a:srgbClr val="000000">
                      <a:alpha val="43137"/>
                    </a:srgbClr>
                  </a:outerShdw>
                </a:effectLst>
              </a:rPr>
              <a:t>Source</a:t>
            </a:r>
            <a:r>
              <a:rPr lang="pl-PL" sz="1800" dirty="0">
                <a:effectLst>
                  <a:outerShdw blurRad="38100" dist="38100" dir="2700000" algn="tl">
                    <a:srgbClr val="000000">
                      <a:alpha val="43137"/>
                    </a:srgbClr>
                  </a:outerShdw>
                </a:effectLst>
              </a:rPr>
              <a:t>s:</a:t>
            </a:r>
            <a:r>
              <a:rPr lang="en-US" sz="1800" dirty="0">
                <a:effectLst>
                  <a:outerShdw blurRad="38100" dist="38100" dir="2700000" algn="tl">
                    <a:srgbClr val="000000">
                      <a:alpha val="43137"/>
                    </a:srgbClr>
                  </a:outerShdw>
                </a:effectLst>
              </a:rPr>
              <a:t> PAIIZ</a:t>
            </a:r>
            <a:r>
              <a:rPr lang="pl-PL" sz="1800" dirty="0">
                <a:effectLst>
                  <a:outerShdw blurRad="38100" dist="38100" dir="2700000" algn="tl">
                    <a:srgbClr val="000000">
                      <a:alpha val="43137"/>
                    </a:srgbClr>
                  </a:outerShdw>
                </a:effectLst>
              </a:rPr>
              <a:t>, http://www.pwrz.pl/rzecznik_patentowy/wzor_uzytkowy/</a:t>
            </a:r>
          </a:p>
          <a:p>
            <a:endParaRPr lang="en-US" sz="2400" b="1" dirty="0">
              <a:effectLst>
                <a:outerShdw blurRad="38100" dist="38100" dir="2700000" algn="tl">
                  <a:srgbClr val="000000">
                    <a:alpha val="43137"/>
                  </a:srgbClr>
                </a:outerShdw>
              </a:effectLs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highlight>
                  <a:srgbClr val="FFFF00"/>
                </a:highlight>
              </a:rPr>
              <a:t>Industrial design</a:t>
            </a:r>
          </a:p>
        </p:txBody>
      </p:sp>
      <p:sp>
        <p:nvSpPr>
          <p:cNvPr id="3" name="Symbol zastępczy zawartości 2"/>
          <p:cNvSpPr>
            <a:spLocks noGrp="1"/>
          </p:cNvSpPr>
          <p:nvPr>
            <p:ph idx="1"/>
          </p:nvPr>
        </p:nvSpPr>
        <p:spPr>
          <a:xfrm>
            <a:off x="457200" y="1600200"/>
            <a:ext cx="8229600" cy="4983162"/>
          </a:xfrm>
        </p:spPr>
        <p:txBody>
          <a:bodyPr/>
          <a:lstStyle/>
          <a:p>
            <a:r>
              <a:rPr lang="pl-PL" b="1" dirty="0">
                <a:solidFill>
                  <a:srgbClr val="FF0000"/>
                </a:solidFill>
                <a:effectLst>
                  <a:outerShdw blurRad="38100" dist="38100" dir="2700000" algn="tl">
                    <a:srgbClr val="000000">
                      <a:alpha val="43137"/>
                    </a:srgbClr>
                  </a:outerShdw>
                </a:effectLst>
              </a:rPr>
              <a:t>A</a:t>
            </a:r>
            <a:r>
              <a:rPr lang="en-US" b="1" dirty="0">
                <a:solidFill>
                  <a:srgbClr val="FF0000"/>
                </a:solidFill>
                <a:effectLst>
                  <a:outerShdw blurRad="38100" dist="38100" dir="2700000" algn="tl">
                    <a:srgbClr val="000000">
                      <a:alpha val="43137"/>
                    </a:srgbClr>
                  </a:outerShdw>
                </a:effectLst>
              </a:rPr>
              <a:t> form </a:t>
            </a:r>
            <a:r>
              <a:rPr lang="en-US" b="1" dirty="0">
                <a:effectLst>
                  <a:outerShdw blurRad="38100" dist="38100" dir="2700000" algn="tl">
                    <a:srgbClr val="000000">
                      <a:alpha val="43137"/>
                    </a:srgbClr>
                  </a:outerShdw>
                </a:effectLst>
              </a:rPr>
              <a:t>of a product or of its part, which is new and has an </a:t>
            </a:r>
            <a:r>
              <a:rPr lang="en-US" b="1" dirty="0">
                <a:solidFill>
                  <a:srgbClr val="FF0000"/>
                </a:solidFill>
                <a:effectLst>
                  <a:outerShdw blurRad="38100" dist="38100" dir="2700000" algn="tl">
                    <a:srgbClr val="000000">
                      <a:alpha val="43137"/>
                    </a:srgbClr>
                  </a:outerShdw>
                </a:effectLst>
              </a:rPr>
              <a:t>individual character </a:t>
            </a:r>
            <a:r>
              <a:rPr lang="en-US" b="1" dirty="0">
                <a:effectLst>
                  <a:outerShdw blurRad="38100" dist="38100" dir="2700000" algn="tl">
                    <a:srgbClr val="000000">
                      <a:alpha val="43137"/>
                    </a:srgbClr>
                  </a:outerShdw>
                </a:effectLst>
              </a:rPr>
              <a:t>given to it especially by the </a:t>
            </a:r>
            <a:r>
              <a:rPr lang="en-US" b="1" dirty="0">
                <a:solidFill>
                  <a:srgbClr val="002060"/>
                </a:solidFill>
                <a:effectLst>
                  <a:outerShdw blurRad="38100" dist="38100" dir="2700000" algn="tl">
                    <a:srgbClr val="000000">
                      <a:alpha val="43137"/>
                    </a:srgbClr>
                  </a:outerShdw>
                </a:effectLst>
              </a:rPr>
              <a:t>characteristics of </a:t>
            </a:r>
            <a:r>
              <a:rPr lang="en-US" b="1" dirty="0">
                <a:solidFill>
                  <a:srgbClr val="FF0000"/>
                </a:solidFill>
                <a:effectLst>
                  <a:outerShdw blurRad="38100" dist="38100" dir="2700000" algn="tl">
                    <a:srgbClr val="000000">
                      <a:alpha val="43137"/>
                    </a:srgbClr>
                  </a:outerShdw>
                </a:effectLst>
              </a:rPr>
              <a:t>lines, contours, shapes, colors, structure or material</a:t>
            </a:r>
            <a:r>
              <a:rPr lang="en-US" b="1" dirty="0">
                <a:solidFill>
                  <a:srgbClr val="002060"/>
                </a:solidFill>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and by its </a:t>
            </a:r>
            <a:r>
              <a:rPr lang="en-US" b="1" dirty="0">
                <a:solidFill>
                  <a:srgbClr val="FF0000"/>
                </a:solidFill>
                <a:effectLst>
                  <a:outerShdw blurRad="38100" dist="38100" dir="2700000" algn="tl">
                    <a:srgbClr val="000000">
                      <a:alpha val="43137"/>
                    </a:srgbClr>
                  </a:outerShdw>
                </a:effectLst>
              </a:rPr>
              <a:t>ornamentation</a:t>
            </a:r>
            <a:endParaRPr lang="pl-PL" b="1" dirty="0">
              <a:effectLst>
                <a:outerShdw blurRad="38100" dist="38100" dir="2700000" algn="tl">
                  <a:srgbClr val="000000">
                    <a:alpha val="43137"/>
                  </a:srgbClr>
                </a:outerShdw>
              </a:effectLst>
            </a:endParaRPr>
          </a:p>
          <a:p>
            <a:r>
              <a:rPr lang="pl-PL" b="1" dirty="0">
                <a:solidFill>
                  <a:srgbClr val="FF0000"/>
                </a:solidFill>
                <a:effectLst>
                  <a:outerShdw blurRad="38100" dist="38100" dir="2700000" algn="tl">
                    <a:srgbClr val="000000">
                      <a:alpha val="43137"/>
                    </a:srgbClr>
                  </a:outerShdw>
                </a:effectLst>
                <a:highlight>
                  <a:srgbClr val="FFFF00"/>
                </a:highlight>
              </a:rPr>
              <a:t>25 years protection</a:t>
            </a:r>
            <a:endParaRPr lang="pl-PL" b="1" dirty="0">
              <a:effectLst>
                <a:outerShdw blurRad="38100" dist="38100" dir="2700000" algn="tl">
                  <a:srgbClr val="000000">
                    <a:alpha val="43137"/>
                  </a:srgbClr>
                </a:outerShdw>
              </a:effectLst>
              <a:highlight>
                <a:srgbClr val="FFFF00"/>
              </a:highlight>
            </a:endParaRPr>
          </a:p>
          <a:p>
            <a:r>
              <a:rPr lang="pl-PL" b="1" dirty="0">
                <a:effectLst>
                  <a:outerShdw blurRad="38100" dist="38100" dir="2700000" algn="tl">
                    <a:srgbClr val="000000">
                      <a:alpha val="43137"/>
                    </a:srgbClr>
                  </a:outerShdw>
                </a:effectLst>
              </a:rPr>
              <a:t>No protection for </a:t>
            </a:r>
            <a:r>
              <a:rPr lang="pl-PL" b="1" dirty="0">
                <a:solidFill>
                  <a:srgbClr val="FF0000"/>
                </a:solidFill>
                <a:effectLst>
                  <a:outerShdw blurRad="38100" dist="38100" dir="2700000" algn="tl">
                    <a:srgbClr val="000000">
                      <a:alpha val="43137"/>
                    </a:srgbClr>
                  </a:outerShdw>
                </a:effectLst>
              </a:rPr>
              <a:t>illegal or offensive designs</a:t>
            </a:r>
          </a:p>
          <a:p>
            <a:r>
              <a:rPr lang="pl-PL" b="1" dirty="0">
                <a:solidFill>
                  <a:srgbClr val="0070C0"/>
                </a:solidFill>
                <a:effectLst>
                  <a:outerShdw blurRad="38100" dist="38100" dir="2700000" algn="tl">
                    <a:srgbClr val="000000">
                      <a:alpha val="43137"/>
                    </a:srgbClr>
                  </a:outerShdw>
                </a:effectLst>
              </a:rPr>
              <a:t>Red high heels shoe sole</a:t>
            </a:r>
            <a:r>
              <a:rPr lang="pl-PL" b="1" dirty="0">
                <a:solidFill>
                  <a:srgbClr val="FF0000"/>
                </a:solidFill>
                <a:effectLst>
                  <a:outerShdw blurRad="38100" dist="38100" dir="2700000" algn="tl">
                    <a:srgbClr val="000000">
                      <a:alpha val="43137"/>
                    </a:srgbClr>
                  </a:outerShdw>
                </a:effectLst>
              </a:rPr>
              <a:t>: case one by</a:t>
            </a:r>
            <a:r>
              <a:rPr lang="pl-PL" b="1" dirty="0">
                <a:solidFill>
                  <a:srgbClr val="FF0000"/>
                </a:solidFill>
                <a:effectLst>
                  <a:outerShdw blurRad="38100" dist="38100" dir="2700000" algn="tl">
                    <a:srgbClr val="000000">
                      <a:alpha val="43137"/>
                    </a:srgbClr>
                  </a:outerShdw>
                </a:effectLst>
                <a:highlight>
                  <a:srgbClr val="FFFF00"/>
                </a:highlight>
              </a:rPr>
              <a:t> Loubotin </a:t>
            </a:r>
            <a:r>
              <a:rPr lang="pl-PL" b="1" dirty="0">
                <a:solidFill>
                  <a:srgbClr val="002060"/>
                </a:solidFill>
                <a:effectLst>
                  <a:outerShdw blurRad="38100" dist="38100" dir="2700000" algn="tl">
                    <a:srgbClr val="000000">
                      <a:alpha val="43137"/>
                    </a:srgbClr>
                  </a:outerShdw>
                </a:effectLst>
              </a:rPr>
              <a:t>C-163/16</a:t>
            </a:r>
          </a:p>
        </p:txBody>
      </p:sp>
      <p:pic>
        <p:nvPicPr>
          <p:cNvPr id="4" name="Obraz 3" descr="sz3">
            <a:extLst>
              <a:ext uri="{FF2B5EF4-FFF2-40B4-BE49-F238E27FC236}">
                <a16:creationId xmlns:a16="http://schemas.microsoft.com/office/drawing/2014/main" id="{48EA7D5D-AA16-44F6-9610-FE8B04EFFBA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164288" y="5373216"/>
            <a:ext cx="1184275" cy="108012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highlight>
                  <a:srgbClr val="FFFF00"/>
                </a:highlight>
              </a:rPr>
              <a:t>Trademark</a:t>
            </a:r>
            <a:br>
              <a:rPr lang="pl-PL" b="1" dirty="0">
                <a:solidFill>
                  <a:srgbClr val="FF0000"/>
                </a:solidFill>
                <a:effectLst>
                  <a:outerShdw blurRad="38100" dist="38100" dir="2700000" algn="tl">
                    <a:srgbClr val="000000">
                      <a:alpha val="43137"/>
                    </a:srgbClr>
                  </a:outerShdw>
                </a:effectLst>
                <a:highlight>
                  <a:srgbClr val="FFFF00"/>
                </a:highlight>
              </a:rPr>
            </a:br>
            <a:r>
              <a:rPr lang="pl-PL" sz="2800" b="1" dirty="0">
                <a:solidFill>
                  <a:srgbClr val="0070C0"/>
                </a:solidFill>
                <a:effectLst>
                  <a:outerShdw blurRad="38100" dist="38100" dir="2700000" algn="tl">
                    <a:srgbClr val="000000">
                      <a:alpha val="43137"/>
                    </a:srgbClr>
                  </a:outerShdw>
                </a:effectLst>
                <a:highlight>
                  <a:srgbClr val="FFFF00"/>
                </a:highlight>
              </a:rPr>
              <a:t>[Polish: Znak towarowy]</a:t>
            </a:r>
          </a:p>
        </p:txBody>
      </p:sp>
      <p:sp>
        <p:nvSpPr>
          <p:cNvPr id="3" name="Symbol zastępczy zawartości 2"/>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rPr>
              <a:t>The following items can constitute a trademark</a:t>
            </a:r>
            <a:r>
              <a:rPr lang="en-US" dirty="0"/>
              <a:t>: </a:t>
            </a:r>
            <a:r>
              <a:rPr lang="en-US" b="1" i="1" dirty="0">
                <a:solidFill>
                  <a:srgbClr val="002060"/>
                </a:solidFill>
                <a:effectLst>
                  <a:outerShdw blurRad="38100" dist="38100" dir="2700000" algn="tl">
                    <a:srgbClr val="000000">
                      <a:alpha val="43137"/>
                    </a:srgbClr>
                  </a:outerShdw>
                </a:effectLst>
                <a:highlight>
                  <a:srgbClr val="FFFF00"/>
                </a:highlight>
              </a:rPr>
              <a:t>a word</a:t>
            </a:r>
            <a:r>
              <a:rPr lang="en-US" b="1" i="1" dirty="0">
                <a:solidFill>
                  <a:srgbClr val="002060"/>
                </a:solidFill>
                <a:effectLst>
                  <a:outerShdw blurRad="38100" dist="38100" dir="2700000" algn="tl">
                    <a:srgbClr val="000000">
                      <a:alpha val="43137"/>
                    </a:srgbClr>
                  </a:outerShdw>
                </a:effectLst>
              </a:rPr>
              <a:t>, phrase, logo, sound, tune, design, </a:t>
            </a:r>
            <a:r>
              <a:rPr lang="en-US" b="1" i="1" dirty="0">
                <a:solidFill>
                  <a:srgbClr val="002060"/>
                </a:solidFill>
                <a:effectLst>
                  <a:outerShdw blurRad="38100" dist="38100" dir="2700000" algn="tl">
                    <a:srgbClr val="000000">
                      <a:alpha val="43137"/>
                    </a:srgbClr>
                  </a:outerShdw>
                </a:effectLst>
                <a:highlight>
                  <a:srgbClr val="FFFF00"/>
                </a:highlight>
              </a:rPr>
              <a:t>image</a:t>
            </a:r>
            <a:r>
              <a:rPr lang="en-US" b="1" i="1" dirty="0">
                <a:solidFill>
                  <a:srgbClr val="002060"/>
                </a:solidFill>
                <a:effectLst>
                  <a:outerShdw blurRad="38100" dist="38100" dir="2700000" algn="tl">
                    <a:srgbClr val="000000">
                      <a:alpha val="43137"/>
                    </a:srgbClr>
                  </a:outerShdw>
                </a:effectLst>
              </a:rPr>
              <a:t>, a combination of words and graphical elements, </a:t>
            </a:r>
            <a:r>
              <a:rPr lang="en-US" b="1" i="1" dirty="0">
                <a:solidFill>
                  <a:srgbClr val="002060"/>
                </a:solidFill>
                <a:effectLst>
                  <a:outerShdw blurRad="38100" dist="38100" dir="2700000" algn="tl">
                    <a:srgbClr val="000000">
                      <a:alpha val="43137"/>
                    </a:srgbClr>
                  </a:outerShdw>
                </a:effectLst>
                <a:highlight>
                  <a:srgbClr val="FFFF00"/>
                </a:highlight>
              </a:rPr>
              <a:t>colors</a:t>
            </a:r>
            <a:r>
              <a:rPr lang="en-US" b="1" i="1" dirty="0">
                <a:solidFill>
                  <a:srgbClr val="002060"/>
                </a:solidFill>
                <a:effectLst>
                  <a:outerShdw blurRad="38100" dist="38100" dir="2700000" algn="tl">
                    <a:srgbClr val="000000">
                      <a:alpha val="43137"/>
                    </a:srgbClr>
                  </a:outerShdw>
                </a:effectLst>
              </a:rPr>
              <a:t>, holograms, spatial forms, as well as </a:t>
            </a:r>
            <a:r>
              <a:rPr lang="en-US" b="1" i="1" dirty="0">
                <a:solidFill>
                  <a:srgbClr val="002060"/>
                </a:solidFill>
                <a:effectLst>
                  <a:outerShdw blurRad="38100" dist="38100" dir="2700000" algn="tl">
                    <a:srgbClr val="000000">
                      <a:alpha val="43137"/>
                    </a:srgbClr>
                  </a:outerShdw>
                </a:effectLst>
                <a:highlight>
                  <a:srgbClr val="FFFF00"/>
                </a:highlight>
              </a:rPr>
              <a:t>any other </a:t>
            </a:r>
            <a:r>
              <a:rPr lang="en-US" b="1" i="1" dirty="0">
                <a:solidFill>
                  <a:srgbClr val="002060"/>
                </a:solidFill>
                <a:effectLst>
                  <a:outerShdw blurRad="38100" dist="38100" dir="2700000" algn="tl">
                    <a:srgbClr val="000000">
                      <a:alpha val="43137"/>
                    </a:srgbClr>
                  </a:outerShdw>
                </a:effectLst>
              </a:rPr>
              <a:t>indication </a:t>
            </a:r>
            <a:r>
              <a:rPr lang="en-US" b="1" dirty="0">
                <a:solidFill>
                  <a:srgbClr val="FF0000"/>
                </a:solidFill>
                <a:effectLst>
                  <a:outerShdw blurRad="38100" dist="38100" dir="2700000" algn="tl">
                    <a:srgbClr val="000000">
                      <a:alpha val="43137"/>
                    </a:srgbClr>
                  </a:outerShdw>
                </a:effectLst>
              </a:rPr>
              <a:t>which can </a:t>
            </a:r>
            <a:r>
              <a:rPr lang="en-US" b="1" dirty="0">
                <a:solidFill>
                  <a:srgbClr val="FF0000"/>
                </a:solidFill>
                <a:effectLst>
                  <a:outerShdw blurRad="38100" dist="38100" dir="2700000" algn="tl">
                    <a:srgbClr val="000000">
                      <a:alpha val="43137"/>
                    </a:srgbClr>
                  </a:outerShdw>
                </a:effectLst>
                <a:highlight>
                  <a:srgbClr val="00FFFF"/>
                </a:highlight>
              </a:rPr>
              <a:t>distinguish goods and services </a:t>
            </a:r>
            <a:r>
              <a:rPr lang="en-US" b="1" dirty="0">
                <a:solidFill>
                  <a:srgbClr val="002060"/>
                </a:solidFill>
                <a:effectLst>
                  <a:outerShdw blurRad="38100" dist="38100" dir="2700000" algn="tl">
                    <a:srgbClr val="000000">
                      <a:alpha val="43137"/>
                    </a:srgbClr>
                  </a:outerShdw>
                </a:effectLst>
              </a:rPr>
              <a:t>of one entity from goods and services of other goods and services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Trademark</a:t>
            </a:r>
          </a:p>
        </p:txBody>
      </p:sp>
      <p:sp>
        <p:nvSpPr>
          <p:cNvPr id="3" name="Symbol zastępczy zawartości 2"/>
          <p:cNvSpPr>
            <a:spLocks noGrp="1"/>
          </p:cNvSpPr>
          <p:nvPr>
            <p:ph idx="1"/>
          </p:nvPr>
        </p:nvSpPr>
        <p:spPr>
          <a:xfrm>
            <a:off x="457200" y="1600200"/>
            <a:ext cx="8229600" cy="4983162"/>
          </a:xfrm>
        </p:spPr>
        <p:txBody>
          <a:bodyPr/>
          <a:lstStyle/>
          <a:p>
            <a:r>
              <a:rPr lang="en-US" b="1" dirty="0">
                <a:solidFill>
                  <a:srgbClr val="FF0000"/>
                </a:solidFill>
                <a:effectLst>
                  <a:outerShdw blurRad="38100" dist="38100" dir="2700000" algn="tl">
                    <a:srgbClr val="000000">
                      <a:alpha val="43137"/>
                    </a:srgbClr>
                  </a:outerShdw>
                </a:effectLst>
                <a:highlight>
                  <a:srgbClr val="FFFF00"/>
                </a:highlight>
              </a:rPr>
              <a:t>10 years protection</a:t>
            </a:r>
          </a:p>
          <a:p>
            <a:r>
              <a:rPr lang="en-US" b="1" dirty="0">
                <a:solidFill>
                  <a:srgbClr val="002060"/>
                </a:solidFill>
                <a:effectLst>
                  <a:outerShdw blurRad="38100" dist="38100" dir="2700000" algn="tl">
                    <a:srgbClr val="000000">
                      <a:alpha val="43137"/>
                    </a:srgbClr>
                  </a:outerShdw>
                </a:effectLst>
              </a:rPr>
              <a:t>Can be extended for consecutive terms</a:t>
            </a:r>
          </a:p>
          <a:p>
            <a:r>
              <a:rPr lang="en-US" b="1" dirty="0">
                <a:solidFill>
                  <a:srgbClr val="002060"/>
                </a:solidFill>
                <a:effectLst>
                  <a:outerShdw blurRad="38100" dist="38100" dir="2700000" algn="tl">
                    <a:srgbClr val="000000">
                      <a:alpha val="43137"/>
                    </a:srgbClr>
                  </a:outerShdw>
                </a:effectLst>
              </a:rPr>
              <a:t>Trademarks are protected </a:t>
            </a:r>
            <a:r>
              <a:rPr lang="en-US" b="1" dirty="0">
                <a:solidFill>
                  <a:srgbClr val="FF0000"/>
                </a:solidFill>
                <a:effectLst>
                  <a:outerShdw blurRad="38100" dist="38100" dir="2700000" algn="tl">
                    <a:srgbClr val="000000">
                      <a:alpha val="43137"/>
                    </a:srgbClr>
                  </a:outerShdw>
                </a:effectLst>
                <a:highlight>
                  <a:srgbClr val="00FFFF"/>
                </a:highlight>
              </a:rPr>
              <a:t>from the time of application</a:t>
            </a:r>
            <a:r>
              <a:rPr lang="en-US" b="1" dirty="0">
                <a:solidFill>
                  <a:srgbClr val="002060"/>
                </a:solidFill>
                <a:effectLst>
                  <a:outerShdw blurRad="38100" dist="38100" dir="2700000" algn="tl">
                    <a:srgbClr val="000000">
                      <a:alpha val="43137"/>
                    </a:srgbClr>
                  </a:outerShdw>
                </a:effectLst>
                <a:highlight>
                  <a:srgbClr val="00FFFF"/>
                </a:highlight>
              </a:rPr>
              <a:t>,</a:t>
            </a:r>
            <a:r>
              <a:rPr lang="en-US" b="1" dirty="0">
                <a:solidFill>
                  <a:srgbClr val="002060"/>
                </a:solidFill>
                <a:effectLst>
                  <a:outerShdw blurRad="38100" dist="38100" dir="2700000" algn="tl">
                    <a:srgbClr val="000000">
                      <a:alpha val="43137"/>
                    </a:srgbClr>
                  </a:outerShdw>
                </a:effectLst>
              </a:rPr>
              <a:t> however the ultimate protection is conditional upon the </a:t>
            </a:r>
            <a:r>
              <a:rPr lang="en-US" b="1" dirty="0">
                <a:solidFill>
                  <a:srgbClr val="FF0000"/>
                </a:solidFill>
                <a:effectLst>
                  <a:outerShdw blurRad="38100" dist="38100" dir="2700000" algn="tl">
                    <a:srgbClr val="000000">
                      <a:alpha val="43137"/>
                    </a:srgbClr>
                  </a:outerShdw>
                </a:effectLst>
                <a:highlight>
                  <a:srgbClr val="00FFFF"/>
                </a:highlight>
              </a:rPr>
              <a:t>successful registration</a:t>
            </a:r>
          </a:p>
          <a:p>
            <a:r>
              <a:rPr lang="en-US" b="1" dirty="0">
                <a:solidFill>
                  <a:srgbClr val="002060"/>
                </a:solidFill>
                <a:effectLst>
                  <a:outerShdw blurRad="38100" dist="38100" dir="2700000" algn="tl">
                    <a:srgbClr val="000000">
                      <a:alpha val="43137"/>
                    </a:srgbClr>
                  </a:outerShdw>
                </a:effectLst>
              </a:rPr>
              <a:t>Must be </a:t>
            </a:r>
            <a:r>
              <a:rPr lang="en-US" b="1" dirty="0">
                <a:solidFill>
                  <a:srgbClr val="FF0000"/>
                </a:solidFill>
                <a:effectLst>
                  <a:outerShdw blurRad="38100" dist="38100" dir="2700000" algn="tl">
                    <a:srgbClr val="000000">
                      <a:alpha val="43137"/>
                    </a:srgbClr>
                  </a:outerShdw>
                </a:effectLst>
              </a:rPr>
              <a:t>distinctive, distinguishable</a:t>
            </a:r>
          </a:p>
          <a:p>
            <a:r>
              <a:rPr lang="en-US" b="1" dirty="0">
                <a:solidFill>
                  <a:srgbClr val="002060"/>
                </a:solidFill>
                <a:effectLst>
                  <a:outerShdw blurRad="38100" dist="38100" dir="2700000" algn="tl">
                    <a:srgbClr val="000000">
                      <a:alpha val="43137"/>
                    </a:srgbClr>
                  </a:outerShdw>
                </a:effectLst>
              </a:rPr>
              <a:t>Not </a:t>
            </a:r>
            <a:r>
              <a:rPr lang="en-US" b="1" dirty="0">
                <a:solidFill>
                  <a:srgbClr val="FF0000"/>
                </a:solidFill>
                <a:effectLst>
                  <a:outerShdw blurRad="38100" dist="38100" dir="2700000" algn="tl">
                    <a:srgbClr val="000000">
                      <a:alpha val="43137"/>
                    </a:srgbClr>
                  </a:outerShdw>
                </a:effectLst>
              </a:rPr>
              <a:t>misleading</a:t>
            </a:r>
          </a:p>
          <a:p>
            <a:r>
              <a:rPr lang="en-US" b="1" dirty="0">
                <a:solidFill>
                  <a:srgbClr val="FF0000"/>
                </a:solidFill>
                <a:effectLst>
                  <a:outerShdw blurRad="38100" dist="38100" dir="2700000" algn="tl">
                    <a:srgbClr val="000000">
                      <a:alpha val="43137"/>
                    </a:srgbClr>
                  </a:outerShdw>
                </a:effectLst>
                <a:highlight>
                  <a:srgbClr val="FFFF00"/>
                </a:highlight>
              </a:rPr>
              <a:t>No</a:t>
            </a:r>
            <a:r>
              <a:rPr lang="pl-PL" b="1" dirty="0">
                <a:solidFill>
                  <a:srgbClr val="FF0000"/>
                </a:solidFill>
                <a:effectLst>
                  <a:outerShdw blurRad="38100" dist="38100" dir="2700000" algn="tl">
                    <a:srgbClr val="000000">
                      <a:alpha val="43137"/>
                    </a:srgbClr>
                  </a:outerShdw>
                </a:effectLst>
                <a:highlight>
                  <a:srgbClr val="FFFF00"/>
                </a:highlight>
              </a:rPr>
              <a:t> protection for </a:t>
            </a:r>
            <a:r>
              <a:rPr lang="en-US" b="1" dirty="0">
                <a:solidFill>
                  <a:srgbClr val="FF0000"/>
                </a:solidFill>
                <a:effectLst>
                  <a:outerShdw blurRad="38100" dist="38100" dir="2700000" algn="tl">
                    <a:srgbClr val="000000">
                      <a:alpha val="43137"/>
                    </a:srgbClr>
                  </a:outerShdw>
                </a:effectLst>
                <a:highlight>
                  <a:srgbClr val="FFFF00"/>
                </a:highlight>
              </a:rPr>
              <a:t>common trade terms</a:t>
            </a:r>
            <a:r>
              <a:rPr lang="pl-PL" b="1" dirty="0">
                <a:solidFill>
                  <a:srgbClr val="FF0000"/>
                </a:solidFill>
                <a:effectLst>
                  <a:outerShdw blurRad="38100" dist="38100" dir="2700000" algn="tl">
                    <a:srgbClr val="000000">
                      <a:alpha val="43137"/>
                    </a:srgbClr>
                  </a:outerShdw>
                </a:effectLst>
                <a:highlight>
                  <a:srgbClr val="FFFF00"/>
                </a:highlight>
              </a:rPr>
              <a:t> (the best, etc.)</a:t>
            </a:r>
            <a:endParaRPr lang="en-US" b="1" dirty="0">
              <a:solidFill>
                <a:srgbClr val="FF0000"/>
              </a:solidFill>
              <a:effectLst>
                <a:outerShdw blurRad="38100" dist="38100" dir="2700000" algn="tl">
                  <a:srgbClr val="000000">
                    <a:alpha val="43137"/>
                  </a:srgbClr>
                </a:outerShdw>
              </a:effectLst>
              <a:highlight>
                <a:srgbClr val="FFFF00"/>
              </a:highlight>
            </a:endParaRPr>
          </a:p>
          <a:p>
            <a:endParaRPr lang="pl-PL"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0D79307-144D-078A-F096-F0E8178BC2F8}"/>
              </a:ext>
            </a:extLst>
          </p:cNvPr>
          <p:cNvSpPr>
            <a:spLocks noGrp="1"/>
          </p:cNvSpPr>
          <p:nvPr>
            <p:ph type="title"/>
          </p:nvPr>
        </p:nvSpPr>
        <p:spPr/>
        <p:txBody>
          <a:bodyPr/>
          <a:lstStyle/>
          <a:p>
            <a:r>
              <a:rPr lang="pl-PL" b="1" dirty="0" err="1">
                <a:solidFill>
                  <a:srgbClr val="002060"/>
                </a:solidFill>
                <a:effectLst>
                  <a:outerShdw blurRad="38100" dist="38100" dir="2700000" algn="tl">
                    <a:srgbClr val="000000">
                      <a:alpha val="43137"/>
                    </a:srgbClr>
                  </a:outerShdw>
                </a:effectLst>
              </a:rPr>
              <a:t>Trademark</a:t>
            </a:r>
            <a:br>
              <a:rPr lang="pl-PL" b="1" dirty="0">
                <a:solidFill>
                  <a:srgbClr val="002060"/>
                </a:solidFill>
                <a:effectLst>
                  <a:outerShdw blurRad="38100" dist="38100" dir="2700000" algn="tl">
                    <a:srgbClr val="000000">
                      <a:alpha val="43137"/>
                    </a:srgbClr>
                  </a:outerShdw>
                </a:effectLst>
              </a:rPr>
            </a:br>
            <a:r>
              <a:rPr lang="pl-PL" b="1" dirty="0">
                <a:solidFill>
                  <a:srgbClr val="002060"/>
                </a:solidFill>
                <a:effectLst>
                  <a:outerShdw blurRad="38100" dist="38100" dir="2700000" algn="tl">
                    <a:srgbClr val="000000">
                      <a:alpha val="43137"/>
                    </a:srgbClr>
                  </a:outerShdw>
                </a:effectLst>
              </a:rPr>
              <a:t>Case Adidas vs Nike</a:t>
            </a:r>
            <a:endParaRPr lang="pl-PL" dirty="0"/>
          </a:p>
        </p:txBody>
      </p:sp>
      <p:pic>
        <p:nvPicPr>
          <p:cNvPr id="5" name="Symbol zastępczy zawartości 4" descr="Obraz zawierający księżyc, półksiężyc, czarne i białe, astronomia&#10;&#10;Opis wygenerowany automatycznie">
            <a:extLst>
              <a:ext uri="{FF2B5EF4-FFF2-40B4-BE49-F238E27FC236}">
                <a16:creationId xmlns:a16="http://schemas.microsoft.com/office/drawing/2014/main" id="{6EF3CEA7-6AA6-73C7-65E4-7E6799C087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0372" y="1837736"/>
            <a:ext cx="1943100" cy="1828800"/>
          </a:xfrm>
        </p:spPr>
      </p:pic>
      <p:pic>
        <p:nvPicPr>
          <p:cNvPr id="7" name="Obraz 6" descr="Obraz zawierający Sprawność fizyczna, sylwetka&#10;&#10;Opis wygenerowany automatycznie">
            <a:extLst>
              <a:ext uri="{FF2B5EF4-FFF2-40B4-BE49-F238E27FC236}">
                <a16:creationId xmlns:a16="http://schemas.microsoft.com/office/drawing/2014/main" id="{7994F9C3-966F-83DB-0AC5-66D5FCCB11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2943" y="1837736"/>
            <a:ext cx="1943100" cy="1828800"/>
          </a:xfrm>
          <a:prstGeom prst="rect">
            <a:avLst/>
          </a:prstGeom>
        </p:spPr>
      </p:pic>
      <p:pic>
        <p:nvPicPr>
          <p:cNvPr id="9" name="Obraz 8" descr="Obraz zawierający ubrania, spodnie, Spodnie, osoba&#10;&#10;Opis wygenerowany automatycznie">
            <a:extLst>
              <a:ext uri="{FF2B5EF4-FFF2-40B4-BE49-F238E27FC236}">
                <a16:creationId xmlns:a16="http://schemas.microsoft.com/office/drawing/2014/main" id="{9AA9369A-ECBD-A46F-723C-58605D990C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2864" y="1821407"/>
            <a:ext cx="1943100" cy="1828800"/>
          </a:xfrm>
          <a:prstGeom prst="rect">
            <a:avLst/>
          </a:prstGeom>
        </p:spPr>
      </p:pic>
    </p:spTree>
    <p:extLst>
      <p:ext uri="{BB962C8B-B14F-4D97-AF65-F5344CB8AC3E}">
        <p14:creationId xmlns:p14="http://schemas.microsoft.com/office/powerpoint/2010/main" val="34240203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FFFF00"/>
                </a:highlight>
              </a:rPr>
              <a:t>Geographical origin</a:t>
            </a:r>
          </a:p>
        </p:txBody>
      </p:sp>
      <p:sp>
        <p:nvSpPr>
          <p:cNvPr id="3" name="Symbol zastępczy zawartości 2"/>
          <p:cNvSpPr>
            <a:spLocks noGrp="1"/>
          </p:cNvSpPr>
          <p:nvPr>
            <p:ph idx="1"/>
          </p:nvPr>
        </p:nvSpPr>
        <p:spPr/>
        <p:txBody>
          <a:bodyPr/>
          <a:lstStyle/>
          <a:p>
            <a:r>
              <a:rPr lang="pl-PL" sz="2800" b="1" dirty="0">
                <a:solidFill>
                  <a:srgbClr val="002060"/>
                </a:solidFill>
                <a:effectLst>
                  <a:outerShdw blurRad="38100" dist="38100" dir="2700000" algn="tl">
                    <a:srgbClr val="000000">
                      <a:alpha val="43137"/>
                    </a:srgbClr>
                  </a:outerShdw>
                </a:effectLst>
              </a:rPr>
              <a:t>Must not be</a:t>
            </a:r>
            <a:r>
              <a:rPr lang="en-US" sz="2800" b="1" dirty="0">
                <a:solidFill>
                  <a:srgbClr val="002060"/>
                </a:solidFill>
                <a:effectLst>
                  <a:outerShdw blurRad="38100" dist="38100" dir="2700000" algn="tl">
                    <a:srgbClr val="000000">
                      <a:alpha val="43137"/>
                    </a:srgbClr>
                  </a:outerShdw>
                </a:effectLst>
              </a:rPr>
              <a:t> </a:t>
            </a:r>
            <a:r>
              <a:rPr lang="en-US" sz="2800" b="1" dirty="0">
                <a:solidFill>
                  <a:srgbClr val="FF0000"/>
                </a:solidFill>
                <a:effectLst>
                  <a:outerShdw blurRad="38100" dist="38100" dir="2700000" algn="tl">
                    <a:srgbClr val="000000">
                      <a:alpha val="43137"/>
                    </a:srgbClr>
                  </a:outerShdw>
                </a:effectLst>
              </a:rPr>
              <a:t>misleading</a:t>
            </a:r>
          </a:p>
          <a:p>
            <a:r>
              <a:rPr lang="en-US" sz="2800" b="1" dirty="0">
                <a:solidFill>
                  <a:srgbClr val="002060"/>
                </a:solidFill>
                <a:effectLst>
                  <a:outerShdw blurRad="38100" dist="38100" dir="2700000" algn="tl">
                    <a:srgbClr val="000000">
                      <a:alpha val="43137"/>
                    </a:srgbClr>
                  </a:outerShdw>
                </a:effectLst>
              </a:rPr>
              <a:t>Must have </a:t>
            </a:r>
            <a:r>
              <a:rPr lang="en-US" sz="2800" b="1" dirty="0">
                <a:solidFill>
                  <a:srgbClr val="FF0000"/>
                </a:solidFill>
                <a:effectLst>
                  <a:outerShdw blurRad="38100" dist="38100" dir="2700000" algn="tl">
                    <a:srgbClr val="000000">
                      <a:alpha val="43137"/>
                    </a:srgbClr>
                  </a:outerShdw>
                </a:effectLst>
              </a:rPr>
              <a:t>qualities </a:t>
            </a:r>
            <a:r>
              <a:rPr lang="en-US" sz="2800" b="1" dirty="0">
                <a:solidFill>
                  <a:srgbClr val="FF0000"/>
                </a:solidFill>
                <a:effectLst>
                  <a:outerShdw blurRad="38100" dist="38100" dir="2700000" algn="tl">
                    <a:srgbClr val="000000">
                      <a:alpha val="43137"/>
                    </a:srgbClr>
                  </a:outerShdw>
                </a:effectLst>
                <a:highlight>
                  <a:srgbClr val="FFFF00"/>
                </a:highlight>
              </a:rPr>
              <a:t>related to the area</a:t>
            </a:r>
            <a:r>
              <a:rPr lang="en-US" sz="2800" b="1" dirty="0">
                <a:solidFill>
                  <a:srgbClr val="002060"/>
                </a:solidFill>
                <a:effectLst>
                  <a:outerShdw blurRad="38100" dist="38100" dir="2700000" algn="tl">
                    <a:srgbClr val="000000">
                      <a:alpha val="43137"/>
                    </a:srgbClr>
                  </a:outerShdw>
                </a:effectLst>
                <a:highlight>
                  <a:srgbClr val="FFFF00"/>
                </a:highlight>
              </a:rPr>
              <a:t> </a:t>
            </a:r>
            <a:r>
              <a:rPr lang="en-US" sz="2800" b="1" dirty="0">
                <a:solidFill>
                  <a:srgbClr val="002060"/>
                </a:solidFill>
                <a:effectLst>
                  <a:outerShdw blurRad="38100" dist="38100" dir="2700000" algn="tl">
                    <a:srgbClr val="000000">
                      <a:alpha val="43137"/>
                    </a:srgbClr>
                  </a:outerShdw>
                </a:effectLst>
              </a:rPr>
              <a:t>[e.g. mountain water]</a:t>
            </a:r>
          </a:p>
          <a:p>
            <a:r>
              <a:rPr lang="en-US" sz="2800" b="1" dirty="0">
                <a:solidFill>
                  <a:srgbClr val="002060"/>
                </a:solidFill>
                <a:effectLst>
                  <a:outerShdw blurRad="38100" dist="38100" dir="2700000" algn="tl">
                    <a:srgbClr val="000000">
                      <a:alpha val="43137"/>
                    </a:srgbClr>
                  </a:outerShdw>
                </a:effectLst>
              </a:rPr>
              <a:t>Not in </a:t>
            </a:r>
            <a:r>
              <a:rPr lang="en-US" sz="2800" b="1" dirty="0">
                <a:solidFill>
                  <a:srgbClr val="FF0000"/>
                </a:solidFill>
                <a:effectLst>
                  <a:outerShdw blurRad="38100" dist="38100" dir="2700000" algn="tl">
                    <a:srgbClr val="000000">
                      <a:alpha val="43137"/>
                    </a:srgbClr>
                  </a:outerShdw>
                </a:effectLst>
              </a:rPr>
              <a:t>bad faith</a:t>
            </a:r>
          </a:p>
          <a:p>
            <a:r>
              <a:rPr lang="pl-PL" sz="2800" b="1" dirty="0">
                <a:solidFill>
                  <a:srgbClr val="002060"/>
                </a:solidFill>
                <a:effectLst>
                  <a:outerShdw blurRad="38100" dist="38100" dir="2700000" algn="tl">
                    <a:srgbClr val="000000">
                      <a:alpha val="43137"/>
                    </a:srgbClr>
                  </a:outerShdw>
                </a:effectLst>
              </a:rPr>
              <a:t>No f</a:t>
            </a:r>
            <a:r>
              <a:rPr lang="en-US" sz="2800" b="1" dirty="0">
                <a:solidFill>
                  <a:srgbClr val="002060"/>
                </a:solidFill>
                <a:effectLst>
                  <a:outerShdw blurRad="38100" dist="38100" dir="2700000" algn="tl">
                    <a:srgbClr val="000000">
                      <a:alpha val="43137"/>
                    </a:srgbClr>
                  </a:outerShdw>
                </a:effectLst>
              </a:rPr>
              <a:t>lags, symbols of states, etc.</a:t>
            </a:r>
          </a:p>
          <a:p>
            <a:r>
              <a:rPr lang="pl-PL" sz="2800" b="1" dirty="0">
                <a:solidFill>
                  <a:srgbClr val="002060"/>
                </a:solidFill>
                <a:effectLst>
                  <a:outerShdw blurRad="38100" dist="38100" dir="2700000" algn="tl">
                    <a:srgbClr val="000000">
                      <a:alpha val="43137"/>
                    </a:srgbClr>
                  </a:outerShdw>
                </a:effectLst>
              </a:rPr>
              <a:t>No r</a:t>
            </a:r>
            <a:r>
              <a:rPr lang="en-US" sz="2800" b="1" dirty="0">
                <a:solidFill>
                  <a:srgbClr val="002060"/>
                </a:solidFill>
                <a:effectLst>
                  <a:outerShdw blurRad="38100" dist="38100" dir="2700000" algn="tl">
                    <a:srgbClr val="000000">
                      <a:alpha val="43137"/>
                    </a:srgbClr>
                  </a:outerShdw>
                </a:effectLst>
              </a:rPr>
              <a:t>eligious, patriotic symbols</a:t>
            </a:r>
          </a:p>
          <a:p>
            <a:r>
              <a:rPr lang="en-US" sz="2800" b="1" dirty="0">
                <a:solidFill>
                  <a:srgbClr val="FF0000"/>
                </a:solidFill>
                <a:effectLst>
                  <a:outerShdw blurRad="38100" dist="38100" dir="2700000" algn="tl">
                    <a:srgbClr val="000000">
                      <a:alpha val="43137"/>
                    </a:srgbClr>
                  </a:outerShdw>
                </a:effectLst>
                <a:highlight>
                  <a:srgbClr val="FFFF00"/>
                </a:highlight>
              </a:rPr>
              <a:t>No coincidental similarity </a:t>
            </a:r>
            <a:r>
              <a:rPr lang="en-US" sz="2800" b="1" dirty="0">
                <a:solidFill>
                  <a:srgbClr val="002060"/>
                </a:solidFill>
                <a:effectLst>
                  <a:outerShdw blurRad="38100" dist="38100" dir="2700000" algn="tl">
                    <a:srgbClr val="000000">
                      <a:alpha val="43137"/>
                    </a:srgbClr>
                  </a:outerShdw>
                </a:effectLst>
                <a:highlight>
                  <a:srgbClr val="FFFF00"/>
                </a:highlight>
              </a:rPr>
              <a:t>[Paris near Warsaw]</a:t>
            </a:r>
          </a:p>
          <a:p>
            <a:r>
              <a:rPr lang="en-US" sz="2800" b="1" dirty="0">
                <a:solidFill>
                  <a:srgbClr val="FF0000"/>
                </a:solidFill>
                <a:effectLst>
                  <a:outerShdw blurRad="38100" dist="38100" dir="2700000" algn="tl">
                    <a:srgbClr val="000000">
                      <a:alpha val="43137"/>
                    </a:srgbClr>
                  </a:outerShdw>
                </a:effectLst>
              </a:rPr>
              <a:t>No common words [</a:t>
            </a:r>
            <a:r>
              <a:rPr lang="en-US" sz="2800" b="1" dirty="0">
                <a:solidFill>
                  <a:srgbClr val="FF0000"/>
                </a:solidFill>
                <a:effectLst>
                  <a:outerShdw blurRad="38100" dist="38100" dir="2700000" algn="tl">
                    <a:srgbClr val="000000">
                      <a:alpha val="43137"/>
                    </a:srgbClr>
                  </a:outerShdw>
                </a:effectLst>
                <a:highlight>
                  <a:srgbClr val="FFFF00"/>
                </a:highlight>
              </a:rPr>
              <a:t>Cologne</a:t>
            </a:r>
            <a:r>
              <a:rPr lang="en-US" sz="2800" b="1" dirty="0">
                <a:solidFill>
                  <a:srgbClr val="FF0000"/>
                </a:solidFill>
                <a:effectLst>
                  <a:outerShdw blurRad="38100" dist="38100" dir="2700000" algn="tl">
                    <a:srgbClr val="000000">
                      <a:alpha val="43137"/>
                    </a:srgbClr>
                  </a:outerShdw>
                </a:effectLst>
              </a:rPr>
              <a:t>] </a:t>
            </a:r>
          </a:p>
          <a:p>
            <a:endParaRPr lang="pl-PL" dirty="0"/>
          </a:p>
          <a:p>
            <a:endParaRPr lang="pl-PL"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002060"/>
                </a:solidFill>
                <a:effectLst>
                  <a:outerShdw blurRad="38100" dist="38100" dir="2700000" algn="tl">
                    <a:srgbClr val="000000">
                      <a:alpha val="43137"/>
                    </a:srgbClr>
                  </a:outerShdw>
                </a:effectLst>
              </a:rPr>
              <a:t>Case Cannabis as Trademark</a:t>
            </a:r>
          </a:p>
        </p:txBody>
      </p:sp>
      <p:sp>
        <p:nvSpPr>
          <p:cNvPr id="3" name="Symbol zastępczy zawartości 2"/>
          <p:cNvSpPr>
            <a:spLocks noGrp="1"/>
          </p:cNvSpPr>
          <p:nvPr>
            <p:ph idx="1"/>
          </p:nvPr>
        </p:nvSpPr>
        <p:spPr/>
        <p:txBody>
          <a:bodyPr/>
          <a:lstStyle/>
          <a:p>
            <a:r>
              <a:rPr lang="en-US" sz="3600" b="1" dirty="0">
                <a:effectLst>
                  <a:outerShdw blurRad="38100" dist="38100" dir="2700000" algn="tl">
                    <a:srgbClr val="000000">
                      <a:alpha val="43137"/>
                    </a:srgbClr>
                  </a:outerShdw>
                </a:effectLst>
              </a:rPr>
              <a:t>In </a:t>
            </a:r>
            <a:r>
              <a:rPr lang="en-US" sz="3600" b="1" dirty="0">
                <a:solidFill>
                  <a:srgbClr val="FF0000"/>
                </a:solidFill>
                <a:effectLst>
                  <a:outerShdw blurRad="38100" dist="38100" dir="2700000" algn="tl">
                    <a:srgbClr val="000000">
                      <a:alpha val="43137"/>
                    </a:srgbClr>
                  </a:outerShdw>
                </a:effectLst>
              </a:rPr>
              <a:t>Case T‑234/06</a:t>
            </a:r>
            <a:r>
              <a:rPr lang="en-US" sz="3600" dirty="0">
                <a:solidFill>
                  <a:srgbClr val="FF0000"/>
                </a:solidFill>
                <a:effectLst>
                  <a:outerShdw blurRad="38100" dist="38100" dir="2700000" algn="tl">
                    <a:srgbClr val="000000">
                      <a:alpha val="43137"/>
                    </a:srgbClr>
                  </a:outerShdw>
                </a:effectLst>
              </a:rPr>
              <a:t>, </a:t>
            </a:r>
            <a:r>
              <a:rPr lang="en-US" sz="3600" b="1" dirty="0">
                <a:effectLst>
                  <a:outerShdw blurRad="38100" dist="38100" dir="2700000" algn="tl">
                    <a:srgbClr val="000000">
                      <a:alpha val="43137"/>
                    </a:srgbClr>
                  </a:outerShdw>
                </a:effectLst>
              </a:rPr>
              <a:t>Giampietro </a:t>
            </a:r>
            <a:r>
              <a:rPr lang="en-US" sz="3600" b="1" dirty="0">
                <a:solidFill>
                  <a:srgbClr val="FF0000"/>
                </a:solidFill>
                <a:effectLst>
                  <a:outerShdw blurRad="38100" dist="38100" dir="2700000" algn="tl">
                    <a:srgbClr val="000000">
                      <a:alpha val="43137"/>
                    </a:srgbClr>
                  </a:outerShdw>
                </a:effectLst>
              </a:rPr>
              <a:t>Torresan</a:t>
            </a:r>
            <a:r>
              <a:rPr lang="en-US" sz="3600" b="1" dirty="0">
                <a:effectLst>
                  <a:outerShdw blurRad="38100" dist="38100" dir="2700000" algn="tl">
                    <a:srgbClr val="000000">
                      <a:alpha val="43137"/>
                    </a:srgbClr>
                  </a:outerShdw>
                </a:effectLst>
              </a:rPr>
              <a:t>,</a:t>
            </a:r>
            <a:r>
              <a:rPr lang="en-US" sz="3600" dirty="0">
                <a:effectLst>
                  <a:outerShdw blurRad="38100" dist="38100" dir="2700000" algn="tl">
                    <a:srgbClr val="000000">
                      <a:alpha val="43137"/>
                    </a:srgbClr>
                  </a:outerShdw>
                </a:effectLst>
              </a:rPr>
              <a:t> residing in Rothenburg (Switzerland) v. </a:t>
            </a:r>
            <a:r>
              <a:rPr lang="en-US" sz="3600" b="1" dirty="0">
                <a:solidFill>
                  <a:srgbClr val="FF0000"/>
                </a:solidFill>
                <a:effectLst>
                  <a:outerShdw blurRad="38100" dist="38100" dir="2700000" algn="tl">
                    <a:srgbClr val="000000">
                      <a:alpha val="43137"/>
                    </a:srgbClr>
                  </a:outerShdw>
                </a:effectLst>
              </a:rPr>
              <a:t>Office for Harmonisation in the Internal Market</a:t>
            </a:r>
            <a:r>
              <a:rPr lang="pl-PL" sz="3600" b="1" dirty="0">
                <a:solidFill>
                  <a:srgbClr val="FF0000"/>
                </a:solidFill>
                <a:effectLst>
                  <a:outerShdw blurRad="38100" dist="38100" dir="2700000" algn="tl">
                    <a:srgbClr val="000000">
                      <a:alpha val="43137"/>
                    </a:srgbClr>
                  </a:outerShdw>
                </a:effectLst>
              </a:rPr>
              <a:t> (OHIM)</a:t>
            </a:r>
            <a:r>
              <a:rPr lang="en-US" sz="3600" b="1" dirty="0">
                <a:solidFill>
                  <a:srgbClr val="FF0000"/>
                </a:solidFill>
                <a:effectLst>
                  <a:outerShdw blurRad="38100" dist="38100" dir="2700000" algn="tl">
                    <a:srgbClr val="000000">
                      <a:alpha val="43137"/>
                    </a:srgbClr>
                  </a:outerShdw>
                </a:effectLst>
              </a:rPr>
              <a:t> </a:t>
            </a:r>
            <a:endParaRPr lang="en-US" sz="3600" dirty="0">
              <a:solidFill>
                <a:srgbClr val="FF0000"/>
              </a:solidFill>
              <a:effectLst>
                <a:outerShdw blurRad="38100" dist="38100" dir="2700000" algn="tl">
                  <a:srgbClr val="000000">
                    <a:alpha val="43137"/>
                  </a:srgbClr>
                </a:outerShdw>
              </a:effectLst>
            </a:endParaRPr>
          </a:p>
          <a:p>
            <a:r>
              <a:rPr lang="en-US" sz="4000" b="1" dirty="0">
                <a:solidFill>
                  <a:srgbClr val="FF0000"/>
                </a:solidFill>
                <a:effectLst>
                  <a:outerShdw blurRad="38100" dist="38100" dir="2700000" algn="tl">
                    <a:srgbClr val="000000">
                      <a:alpha val="43137"/>
                    </a:srgbClr>
                  </a:outerShdw>
                </a:effectLst>
                <a:highlight>
                  <a:srgbClr val="FFFF00"/>
                </a:highlight>
              </a:rPr>
              <a:t>Registration as a trade mark was sought </a:t>
            </a:r>
            <a:r>
              <a:rPr lang="en-US" sz="4000" b="1" dirty="0">
                <a:solidFill>
                  <a:srgbClr val="FF0000"/>
                </a:solidFill>
                <a:effectLst>
                  <a:outerShdw blurRad="38100" dist="38100" dir="2700000" algn="tl">
                    <a:srgbClr val="000000">
                      <a:alpha val="43137"/>
                    </a:srgbClr>
                  </a:outerShdw>
                </a:effectLst>
                <a:highlight>
                  <a:srgbClr val="00FF00"/>
                </a:highlight>
              </a:rPr>
              <a:t>for the word sign CANNABIS</a:t>
            </a:r>
            <a:r>
              <a:rPr lang="pl-PL" sz="4000" b="1" dirty="0">
                <a:solidFill>
                  <a:srgbClr val="FF0000"/>
                </a:solidFill>
                <a:effectLst>
                  <a:outerShdw blurRad="38100" dist="38100" dir="2700000" algn="tl">
                    <a:srgbClr val="000000">
                      <a:alpha val="43137"/>
                    </a:srgbClr>
                  </a:outerShdw>
                </a:effectLst>
                <a:highlight>
                  <a:srgbClr val="00FF00"/>
                </a:highlight>
              </a:rPr>
              <a:t> </a:t>
            </a:r>
            <a:r>
              <a:rPr lang="pl-PL" sz="4000" b="1" dirty="0">
                <a:solidFill>
                  <a:srgbClr val="002060"/>
                </a:solidFill>
                <a:effectLst>
                  <a:outerShdw blurRad="38100" dist="38100" dir="2700000" algn="tl">
                    <a:srgbClr val="000000">
                      <a:alpha val="43137"/>
                    </a:srgbClr>
                  </a:outerShdw>
                </a:effectLst>
                <a:highlight>
                  <a:srgbClr val="00FFFF"/>
                </a:highlight>
              </a:rPr>
              <a:t>for </a:t>
            </a:r>
            <a:r>
              <a:rPr lang="en-US" sz="4000" b="1" dirty="0">
                <a:solidFill>
                  <a:srgbClr val="002060"/>
                </a:solidFill>
                <a:effectLst>
                  <a:outerShdw blurRad="38100" dist="38100" dir="2700000" algn="tl">
                    <a:srgbClr val="000000">
                      <a:alpha val="43137"/>
                    </a:srgbClr>
                  </a:outerShdw>
                </a:effectLst>
                <a:highlight>
                  <a:srgbClr val="00FFFF"/>
                </a:highlight>
              </a:rPr>
              <a:t>flavored beer</a:t>
            </a:r>
          </a:p>
          <a:p>
            <a:endParaRPr lang="pl-PL" dirty="0"/>
          </a:p>
          <a:p>
            <a:endParaRPr lang="pl-PL" dirty="0"/>
          </a:p>
        </p:txBody>
      </p:sp>
    </p:spTree>
    <p:extLst>
      <p:ext uri="{BB962C8B-B14F-4D97-AF65-F5344CB8AC3E}">
        <p14:creationId xmlns:p14="http://schemas.microsoft.com/office/powerpoint/2010/main" val="36355460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002060"/>
                </a:solidFill>
                <a:effectLst>
                  <a:outerShdw blurRad="38100" dist="38100" dir="2700000" algn="tl">
                    <a:srgbClr val="000000">
                      <a:alpha val="43137"/>
                    </a:srgbClr>
                  </a:outerShdw>
                </a:effectLst>
              </a:rPr>
              <a:t>Case </a:t>
            </a:r>
            <a:r>
              <a:rPr lang="en-US" b="1" dirty="0">
                <a:solidFill>
                  <a:srgbClr val="002060"/>
                </a:solidFill>
                <a:effectLst>
                  <a:outerShdw blurRad="38100" dist="38100" dir="2700000" algn="tl">
                    <a:srgbClr val="000000">
                      <a:alpha val="43137"/>
                    </a:srgbClr>
                  </a:outerShdw>
                </a:effectLst>
                <a:highlight>
                  <a:srgbClr val="FFFF00"/>
                </a:highlight>
              </a:rPr>
              <a:t>Cannabis as Trademark</a:t>
            </a:r>
            <a:endParaRPr lang="en-US" dirty="0">
              <a:highlight>
                <a:srgbClr val="FFFF00"/>
              </a:highlight>
            </a:endParaRPr>
          </a:p>
        </p:txBody>
      </p:sp>
      <p:sp>
        <p:nvSpPr>
          <p:cNvPr id="3" name="Symbol zastępczy zawartości 2"/>
          <p:cNvSpPr>
            <a:spLocks noGrp="1"/>
          </p:cNvSpPr>
          <p:nvPr>
            <p:ph idx="1"/>
          </p:nvPr>
        </p:nvSpPr>
        <p:spPr/>
        <p:txBody>
          <a:bodyPr/>
          <a:lstStyle/>
          <a:p>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The </a:t>
            </a:r>
            <a:r>
              <a:rPr lang="pl-PL" sz="2400" b="1" dirty="0">
                <a:solidFill>
                  <a:srgbClr val="FF0000"/>
                </a:solidFill>
                <a:effectLst>
                  <a:outerShdw blurRad="38100" dist="38100" dir="2700000" algn="tl">
                    <a:srgbClr val="000000">
                      <a:alpha val="43137"/>
                    </a:srgbClr>
                  </a:outerShdw>
                </a:effectLst>
                <a:latin typeface="Arial Black" panose="020B0A04020102020204" pitchFamily="34" charset="0"/>
              </a:rPr>
              <a:t>A</a:t>
            </a:r>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pplicant</a:t>
            </a:r>
            <a:r>
              <a:rPr lang="pl-PL" sz="2400" b="1" dirty="0">
                <a:solidFill>
                  <a:srgbClr val="FF0000"/>
                </a:solidFill>
                <a:effectLst>
                  <a:outerShdw blurRad="38100" dist="38100" dir="2700000" algn="tl">
                    <a:srgbClr val="000000">
                      <a:alpha val="43137"/>
                    </a:srgbClr>
                  </a:outerShdw>
                </a:effectLst>
                <a:latin typeface="Arial Black" panose="020B0A04020102020204" pitchFamily="34" charset="0"/>
              </a:rPr>
              <a:t>:</a:t>
            </a:r>
            <a:r>
              <a:rPr lang="en-US" sz="2400" dirty="0">
                <a:latin typeface="Arial Black" panose="020B0A04020102020204" pitchFamily="34" charset="0"/>
              </a:rPr>
              <a:t> </a:t>
            </a:r>
            <a:r>
              <a:rPr lang="en-US" sz="2400" b="1" dirty="0"/>
              <a:t>the trade mark CANNABIS has </a:t>
            </a:r>
            <a:r>
              <a:rPr lang="pl-PL" sz="2400" b="1" dirty="0"/>
              <a:t>a </a:t>
            </a:r>
            <a:r>
              <a:rPr lang="en-US" sz="2400" b="1" dirty="0">
                <a:solidFill>
                  <a:srgbClr val="FF0000"/>
                </a:solidFill>
                <a:effectLst>
                  <a:outerShdw blurRad="38100" dist="38100" dir="2700000" algn="tl">
                    <a:srgbClr val="000000">
                      <a:alpha val="43137"/>
                    </a:srgbClr>
                  </a:outerShdw>
                </a:effectLst>
              </a:rPr>
              <a:t>distinctive</a:t>
            </a:r>
            <a:r>
              <a:rPr lang="en-US" sz="2400" b="1" dirty="0">
                <a:solidFill>
                  <a:srgbClr val="FF0000"/>
                </a:solidFill>
              </a:rPr>
              <a:t> </a:t>
            </a:r>
            <a:r>
              <a:rPr lang="en-US" sz="2400" b="1" dirty="0"/>
              <a:t>character</a:t>
            </a:r>
            <a:r>
              <a:rPr lang="en-US" sz="2400" dirty="0"/>
              <a:t>, given that it is </a:t>
            </a:r>
            <a:r>
              <a:rPr lang="en-US" sz="24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both a common name </a:t>
            </a:r>
            <a:r>
              <a:rPr lang="en-US" sz="2400" b="1" dirty="0">
                <a:effectLst>
                  <a:outerShdw blurRad="38100" dist="38100" dir="2700000" algn="tl">
                    <a:srgbClr val="000000">
                      <a:alpha val="43137"/>
                    </a:srgbClr>
                  </a:outerShdw>
                </a:effectLst>
              </a:rPr>
              <a:t>and a </a:t>
            </a:r>
            <a:r>
              <a:rPr lang="en-US" sz="2400" b="1" dirty="0">
                <a:solidFill>
                  <a:srgbClr val="002060"/>
                </a:solidFill>
                <a:effectLst>
                  <a:outerShdw blurRad="38100" dist="38100" dir="2700000" algn="tl">
                    <a:srgbClr val="000000">
                      <a:alpha val="43137"/>
                    </a:srgbClr>
                  </a:outerShdw>
                </a:effectLst>
                <a:latin typeface="Arial Black" panose="020B0A04020102020204" pitchFamily="34" charset="0"/>
              </a:rPr>
              <a:t>purely fanciful </a:t>
            </a:r>
            <a:r>
              <a:rPr lang="en-US" sz="2400" dirty="0">
                <a:solidFill>
                  <a:srgbClr val="002060"/>
                </a:solidFill>
                <a:effectLst>
                  <a:outerShdw blurRad="38100" dist="38100" dir="2700000" algn="tl">
                    <a:srgbClr val="000000">
                      <a:alpha val="43137"/>
                    </a:srgbClr>
                  </a:outerShdw>
                </a:effectLst>
                <a:latin typeface="Arial Black" panose="020B0A04020102020204" pitchFamily="34" charset="0"/>
              </a:rPr>
              <a:t>mark </a:t>
            </a:r>
            <a:r>
              <a:rPr lang="en-US" sz="2400" dirty="0"/>
              <a:t>and </a:t>
            </a:r>
            <a:r>
              <a:rPr lang="en-US" sz="2400" b="1" dirty="0">
                <a:solidFill>
                  <a:srgbClr val="FF0000"/>
                </a:solidFill>
                <a:effectLst>
                  <a:outerShdw blurRad="38100" dist="38100" dir="2700000" algn="tl">
                    <a:srgbClr val="000000">
                      <a:alpha val="43137"/>
                    </a:srgbClr>
                  </a:outerShdw>
                </a:effectLst>
              </a:rPr>
              <a:t>has no connection, even indirect, with beer and beverages in general</a:t>
            </a:r>
            <a:r>
              <a:rPr lang="en-US" sz="2400" dirty="0"/>
              <a:t> </a:t>
            </a:r>
            <a:endParaRPr lang="pl-PL" sz="2400" dirty="0"/>
          </a:p>
          <a:p>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As a common name</a:t>
            </a:r>
            <a:r>
              <a:rPr lang="en-US" sz="2400" b="1" dirty="0"/>
              <a:t>, the word ‘cannabis’ constitutes the scientific name of a flowering plant from which certain drugs are extracted and from which certain therapeutic </a:t>
            </a:r>
            <a:r>
              <a:rPr lang="en-US" sz="2400" dirty="0"/>
              <a:t>substances may be obtained.</a:t>
            </a:r>
            <a:endParaRPr lang="pl-PL" sz="2400" dirty="0"/>
          </a:p>
          <a:p>
            <a:r>
              <a:rPr lang="en-US" sz="2400" dirty="0"/>
              <a:t> </a:t>
            </a:r>
            <a:r>
              <a:rPr lang="en-US" sz="2400" b="1" dirty="0">
                <a:solidFill>
                  <a:srgbClr val="002060"/>
                </a:solidFill>
                <a:effectLst>
                  <a:outerShdw blurRad="38100" dist="38100" dir="2700000" algn="tl">
                    <a:srgbClr val="000000">
                      <a:alpha val="43137"/>
                    </a:srgbClr>
                  </a:outerShdw>
                </a:effectLst>
              </a:rPr>
              <a:t>The sign CANNABIS </a:t>
            </a:r>
            <a:r>
              <a:rPr lang="en-US" sz="2400" dirty="0"/>
              <a:t>has been </a:t>
            </a:r>
            <a:r>
              <a:rPr lang="en-US" sz="2400" b="1" dirty="0">
                <a:solidFill>
                  <a:srgbClr val="FF0000"/>
                </a:solidFill>
                <a:effectLst>
                  <a:outerShdw blurRad="38100" dist="38100" dir="2700000" algn="tl">
                    <a:srgbClr val="000000">
                      <a:alpha val="43137"/>
                    </a:srgbClr>
                  </a:outerShdw>
                </a:effectLst>
              </a:rPr>
              <a:t>present on the Italian market since 1996 </a:t>
            </a:r>
            <a:r>
              <a:rPr lang="en-US" sz="2400" dirty="0"/>
              <a:t>and, since 1999, as a Community </a:t>
            </a:r>
            <a:r>
              <a:rPr lang="pl-PL" sz="2400" dirty="0"/>
              <a:t>trademark</a:t>
            </a:r>
            <a:r>
              <a:rPr lang="en-US" sz="2400" dirty="0"/>
              <a:t> for goods in Classes 32 and 33 of the Nice Agreement. It has acquired a high degree of renown in the Community context. </a:t>
            </a:r>
            <a:endParaRPr lang="pl-PL" sz="2400" dirty="0"/>
          </a:p>
          <a:p>
            <a:pPr marL="0" indent="0">
              <a:buNone/>
            </a:pPr>
            <a:endParaRPr lang="pl-PL" dirty="0"/>
          </a:p>
        </p:txBody>
      </p:sp>
    </p:spTree>
    <p:extLst>
      <p:ext uri="{BB962C8B-B14F-4D97-AF65-F5344CB8AC3E}">
        <p14:creationId xmlns:p14="http://schemas.microsoft.com/office/powerpoint/2010/main" val="2068645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002060"/>
                </a:solidFill>
                <a:effectLst>
                  <a:outerShdw blurRad="38100" dist="38100" dir="2700000" algn="tl">
                    <a:srgbClr val="000000">
                      <a:alpha val="43137"/>
                    </a:srgbClr>
                  </a:outerShdw>
                </a:effectLst>
              </a:rPr>
              <a:t>Case Cannabis as Trademark</a:t>
            </a:r>
            <a:endParaRPr lang="en-US" dirty="0"/>
          </a:p>
        </p:txBody>
      </p:sp>
      <p:sp>
        <p:nvSpPr>
          <p:cNvPr id="3" name="Symbol zastępczy zawartości 2"/>
          <p:cNvSpPr>
            <a:spLocks noGrp="1"/>
          </p:cNvSpPr>
          <p:nvPr>
            <p:ph idx="1"/>
          </p:nvPr>
        </p:nvSpPr>
        <p:spPr/>
        <p:txBody>
          <a:bodyPr/>
          <a:lstStyle/>
          <a:p>
            <a:r>
              <a:rPr lang="pl-PL" sz="2800" b="1" dirty="0">
                <a:effectLst>
                  <a:outerShdw blurRad="38100" dist="38100" dir="2700000" algn="tl">
                    <a:srgbClr val="000000">
                      <a:alpha val="43137"/>
                    </a:srgbClr>
                  </a:outerShdw>
                </a:effectLst>
                <a:highlight>
                  <a:srgbClr val="00FF00"/>
                </a:highlight>
              </a:rPr>
              <a:t>APPLICANT</a:t>
            </a:r>
            <a:r>
              <a:rPr lang="en-US" sz="2800" b="1" dirty="0">
                <a:effectLst>
                  <a:outerShdw blurRad="38100" dist="38100" dir="2700000" algn="tl">
                    <a:srgbClr val="000000">
                      <a:alpha val="43137"/>
                    </a:srgbClr>
                  </a:outerShdw>
                </a:effectLst>
              </a:rPr>
              <a:t>:</a:t>
            </a:r>
            <a:r>
              <a:rPr lang="en-US" sz="2800" b="1" dirty="0">
                <a:solidFill>
                  <a:srgbClr val="FF0000"/>
                </a:solidFill>
                <a:effectLst>
                  <a:outerShdw blurRad="38100" dist="38100" dir="2700000" algn="tl">
                    <a:srgbClr val="000000">
                      <a:alpha val="43137"/>
                    </a:srgbClr>
                  </a:outerShdw>
                </a:effectLst>
              </a:rPr>
              <a:t> beer CANNABIS </a:t>
            </a:r>
            <a:r>
              <a:rPr lang="en-US" sz="2800" b="1" dirty="0">
                <a:effectLst>
                  <a:outerShdw blurRad="38100" dist="38100" dir="2700000" algn="tl">
                    <a:srgbClr val="000000">
                      <a:alpha val="43137"/>
                    </a:srgbClr>
                  </a:outerShdw>
                </a:effectLst>
              </a:rPr>
              <a:t>is a </a:t>
            </a:r>
            <a:r>
              <a:rPr lang="en-US" sz="2800" b="1" dirty="0">
                <a:solidFill>
                  <a:srgbClr val="002060"/>
                </a:solidFill>
                <a:effectLst>
                  <a:outerShdw blurRad="38100" dist="38100" dir="2700000" algn="tl">
                    <a:srgbClr val="000000">
                      <a:alpha val="43137"/>
                    </a:srgbClr>
                  </a:outerShdw>
                </a:effectLst>
                <a:latin typeface="Arial Black" panose="020B0A04020102020204" pitchFamily="34" charset="0"/>
              </a:rPr>
              <a:t>flavored beer</a:t>
            </a:r>
            <a:r>
              <a:rPr lang="en-US" sz="2800" b="1" dirty="0">
                <a:effectLst>
                  <a:outerShdw blurRad="38100" dist="38100" dir="2700000" algn="tl">
                    <a:srgbClr val="000000">
                      <a:alpha val="43137"/>
                    </a:srgbClr>
                  </a:outerShdw>
                </a:effectLst>
              </a:rPr>
              <a:t>, which consists </a:t>
            </a:r>
            <a:r>
              <a:rPr lang="en-US" sz="2800" b="1" dirty="0">
                <a:solidFill>
                  <a:srgbClr val="FF0000"/>
                </a:solidFill>
                <a:effectLst>
                  <a:outerShdw blurRad="38100" dist="38100" dir="2700000" algn="tl">
                    <a:srgbClr val="000000">
                      <a:alpha val="43137"/>
                    </a:srgbClr>
                  </a:outerShdw>
                </a:effectLst>
              </a:rPr>
              <a:t>solely of </a:t>
            </a:r>
            <a:r>
              <a:rPr lang="en-US" sz="2800" b="1" dirty="0">
                <a:solidFill>
                  <a:srgbClr val="FF0000"/>
                </a:solidFill>
                <a:effectLst>
                  <a:outerShdw blurRad="38100" dist="38100" dir="2700000" algn="tl">
                    <a:srgbClr val="000000">
                      <a:alpha val="43137"/>
                    </a:srgbClr>
                  </a:outerShdw>
                </a:effectLst>
                <a:highlight>
                  <a:srgbClr val="FFFF00"/>
                </a:highlight>
              </a:rPr>
              <a:t>lawful </a:t>
            </a:r>
            <a:r>
              <a:rPr lang="en-US" sz="2800" b="1" dirty="0">
                <a:solidFill>
                  <a:srgbClr val="FF0000"/>
                </a:solidFill>
                <a:effectLst>
                  <a:outerShdw blurRad="38100" dist="38100" dir="2700000" algn="tl">
                    <a:srgbClr val="000000">
                      <a:alpha val="43137"/>
                    </a:srgbClr>
                  </a:outerShdw>
                </a:effectLst>
              </a:rPr>
              <a:t>and authori</a:t>
            </a:r>
            <a:r>
              <a:rPr lang="pl-PL" sz="2800" b="1" dirty="0">
                <a:solidFill>
                  <a:srgbClr val="FF0000"/>
                </a:solidFill>
                <a:effectLst>
                  <a:outerShdw blurRad="38100" dist="38100" dir="2700000" algn="tl">
                    <a:srgbClr val="000000">
                      <a:alpha val="43137"/>
                    </a:srgbClr>
                  </a:outerShdw>
                </a:effectLst>
              </a:rPr>
              <a:t>z</a:t>
            </a:r>
            <a:r>
              <a:rPr lang="en-US" sz="2800" b="1" dirty="0">
                <a:solidFill>
                  <a:srgbClr val="FF0000"/>
                </a:solidFill>
                <a:effectLst>
                  <a:outerShdw blurRad="38100" dist="38100" dir="2700000" algn="tl">
                    <a:srgbClr val="000000">
                      <a:alpha val="43137"/>
                    </a:srgbClr>
                  </a:outerShdw>
                </a:effectLst>
              </a:rPr>
              <a:t>ed raw materials</a:t>
            </a:r>
            <a:endParaRPr lang="en-US" sz="2800" b="1" dirty="0">
              <a:effectLst>
                <a:outerShdw blurRad="38100" dist="38100" dir="2700000" algn="tl">
                  <a:srgbClr val="000000">
                    <a:alpha val="43137"/>
                  </a:srgbClr>
                </a:outerShdw>
              </a:effectLst>
            </a:endParaRPr>
          </a:p>
          <a:p>
            <a:r>
              <a:rPr lang="en-US" sz="2800" b="1" dirty="0">
                <a:effectLst>
                  <a:outerShdw blurRad="38100" dist="38100" dir="2700000" algn="tl">
                    <a:srgbClr val="000000">
                      <a:alpha val="43137"/>
                    </a:srgbClr>
                  </a:outerShdw>
                </a:effectLst>
              </a:rPr>
              <a:t>Therefore, </a:t>
            </a:r>
            <a:r>
              <a:rPr lang="en-US" sz="2800" b="1" dirty="0">
                <a:solidFill>
                  <a:srgbClr val="002060"/>
                </a:solidFill>
                <a:effectLst>
                  <a:outerShdw blurRad="38100" dist="38100" dir="2700000" algn="tl">
                    <a:srgbClr val="000000">
                      <a:alpha val="43137"/>
                    </a:srgbClr>
                  </a:outerShdw>
                </a:effectLst>
                <a:highlight>
                  <a:srgbClr val="FFFF00"/>
                </a:highlight>
              </a:rPr>
              <a:t>the public cannot </a:t>
            </a:r>
            <a:r>
              <a:rPr lang="en-US" sz="2800" b="1" dirty="0">
                <a:solidFill>
                  <a:srgbClr val="FF0000"/>
                </a:solidFill>
                <a:effectLst>
                  <a:outerShdw blurRad="38100" dist="38100" dir="2700000" algn="tl">
                    <a:srgbClr val="000000">
                      <a:alpha val="43137"/>
                    </a:srgbClr>
                  </a:outerShdw>
                </a:effectLst>
                <a:highlight>
                  <a:srgbClr val="FFFF00"/>
                </a:highlight>
              </a:rPr>
              <a:t>immediately and without further thought establish a direct and specific </a:t>
            </a:r>
            <a:r>
              <a:rPr lang="en-US" sz="2800" b="1" dirty="0">
                <a:solidFill>
                  <a:srgbClr val="FF0000"/>
                </a:solidFill>
                <a:effectLst>
                  <a:outerShdw blurRad="38100" dist="38100" dir="2700000" algn="tl">
                    <a:srgbClr val="000000">
                      <a:alpha val="43137"/>
                    </a:srgbClr>
                  </a:outerShdw>
                </a:effectLst>
                <a:highlight>
                  <a:srgbClr val="00FFFF"/>
                </a:highlight>
              </a:rPr>
              <a:t>relationship</a:t>
            </a:r>
            <a:r>
              <a:rPr lang="en-US" sz="2800" b="1" dirty="0">
                <a:solidFill>
                  <a:srgbClr val="FF0000"/>
                </a:solidFill>
                <a:effectLst>
                  <a:outerShdw blurRad="38100" dist="38100" dir="2700000" algn="tl">
                    <a:srgbClr val="000000">
                      <a:alpha val="43137"/>
                    </a:srgbClr>
                  </a:outerShdw>
                </a:effectLst>
                <a:highlight>
                  <a:srgbClr val="FFFF00"/>
                </a:highlight>
              </a:rPr>
              <a:t> </a:t>
            </a:r>
            <a:r>
              <a:rPr lang="en-US" sz="2800" b="1" dirty="0">
                <a:solidFill>
                  <a:srgbClr val="0070C0"/>
                </a:solidFill>
                <a:effectLst>
                  <a:outerShdw blurRad="38100" dist="38100" dir="2700000" algn="tl">
                    <a:srgbClr val="000000">
                      <a:alpha val="43137"/>
                    </a:srgbClr>
                  </a:outerShdw>
                </a:effectLst>
              </a:rPr>
              <a:t>between the </a:t>
            </a:r>
            <a:r>
              <a:rPr lang="en-US" sz="2800" b="1" dirty="0">
                <a:solidFill>
                  <a:srgbClr val="FF0000"/>
                </a:solidFill>
                <a:effectLst>
                  <a:outerShdw blurRad="38100" dist="38100" dir="2700000" algn="tl">
                    <a:srgbClr val="000000">
                      <a:alpha val="43137"/>
                    </a:srgbClr>
                  </a:outerShdw>
                </a:effectLst>
              </a:rPr>
              <a:t>goods</a:t>
            </a:r>
            <a:r>
              <a:rPr lang="en-US" sz="2800" b="1" dirty="0">
                <a:solidFill>
                  <a:srgbClr val="0070C0"/>
                </a:solidFill>
                <a:effectLst>
                  <a:outerShdw blurRad="38100" dist="38100" dir="2700000" algn="tl">
                    <a:srgbClr val="000000">
                      <a:alpha val="43137"/>
                    </a:srgbClr>
                  </a:outerShdw>
                </a:effectLst>
              </a:rPr>
              <a:t> in respect of which the mark has been registered </a:t>
            </a:r>
            <a:r>
              <a:rPr lang="en-US" sz="2800" b="1" dirty="0">
                <a:solidFill>
                  <a:srgbClr val="FF0000"/>
                </a:solidFill>
                <a:effectLst>
                  <a:outerShdw blurRad="38100" dist="38100" dir="2700000" algn="tl">
                    <a:srgbClr val="000000">
                      <a:alpha val="43137"/>
                    </a:srgbClr>
                  </a:outerShdw>
                </a:effectLst>
              </a:rPr>
              <a:t>and the sign CANNABIS</a:t>
            </a:r>
            <a:r>
              <a:rPr lang="en-US" sz="2800" b="1" dirty="0">
                <a:effectLst>
                  <a:outerShdw blurRad="38100" dist="38100" dir="2700000" algn="tl">
                    <a:srgbClr val="000000">
                      <a:alpha val="43137"/>
                    </a:srgbClr>
                  </a:outerShdw>
                </a:effectLst>
              </a:rPr>
              <a:t>, </a:t>
            </a:r>
            <a:r>
              <a:rPr lang="en-US" sz="2800" b="1" dirty="0">
                <a:solidFill>
                  <a:srgbClr val="002060"/>
                </a:solidFill>
                <a:effectLst>
                  <a:outerShdw blurRad="38100" dist="38100" dir="2700000" algn="tl">
                    <a:srgbClr val="000000">
                      <a:alpha val="43137"/>
                    </a:srgbClr>
                  </a:outerShdw>
                </a:effectLst>
              </a:rPr>
              <a:t>as required by settled case-law</a:t>
            </a:r>
            <a:r>
              <a:rPr lang="en-US" b="1" dirty="0">
                <a:solidFill>
                  <a:srgbClr val="002060"/>
                </a:solidFill>
                <a:effectLst>
                  <a:outerShdw blurRad="38100" dist="38100" dir="2700000" algn="tl">
                    <a:srgbClr val="000000">
                      <a:alpha val="43137"/>
                    </a:srgbClr>
                  </a:outerShdw>
                </a:effectLst>
              </a:rPr>
              <a:t> </a:t>
            </a:r>
          </a:p>
          <a:p>
            <a:pPr marL="0" indent="0">
              <a:buNone/>
            </a:pPr>
            <a:endParaRPr lang="pl-PL" dirty="0"/>
          </a:p>
        </p:txBody>
      </p:sp>
    </p:spTree>
    <p:extLst>
      <p:ext uri="{BB962C8B-B14F-4D97-AF65-F5344CB8AC3E}">
        <p14:creationId xmlns:p14="http://schemas.microsoft.com/office/powerpoint/2010/main" val="27977808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pl-PL" sz="4000" b="1" dirty="0">
                <a:effectLst>
                  <a:outerShdw blurRad="38100" dist="38100" dir="2700000" algn="tl">
                    <a:srgbClr val="000000">
                      <a:alpha val="43137"/>
                    </a:srgbClr>
                  </a:outerShdw>
                </a:effectLst>
                <a:highlight>
                  <a:srgbClr val="00FF00"/>
                </a:highlight>
              </a:rPr>
              <a:t>The Applicant</a:t>
            </a:r>
            <a:r>
              <a:rPr lang="pl-PL" sz="4000" b="1" dirty="0">
                <a:effectLst>
                  <a:outerShdw blurRad="38100" dist="38100" dir="2700000" algn="tl">
                    <a:srgbClr val="000000">
                      <a:alpha val="43137"/>
                    </a:srgbClr>
                  </a:outerShdw>
                </a:effectLst>
              </a:rPr>
              <a:t>: </a:t>
            </a:r>
            <a:r>
              <a:rPr lang="en-US" sz="4000" b="1" dirty="0">
                <a:effectLst>
                  <a:outerShdw blurRad="38100" dist="38100" dir="2700000" algn="tl">
                    <a:srgbClr val="000000">
                      <a:alpha val="43137"/>
                    </a:srgbClr>
                  </a:outerShdw>
                </a:effectLst>
              </a:rPr>
              <a:t>the trademark CANNABIS </a:t>
            </a:r>
            <a:r>
              <a:rPr lang="pl-PL" sz="4000" b="1" dirty="0">
                <a:solidFill>
                  <a:srgbClr val="FF0000"/>
                </a:solidFill>
                <a:effectLst>
                  <a:outerShdw blurRad="38100" dist="38100" dir="2700000" algn="tl">
                    <a:srgbClr val="000000">
                      <a:alpha val="43137"/>
                    </a:srgbClr>
                  </a:outerShdw>
                </a:effectLst>
              </a:rPr>
              <a:t>is </a:t>
            </a:r>
            <a:r>
              <a:rPr lang="pl-PL" sz="4000" b="1" dirty="0">
                <a:solidFill>
                  <a:srgbClr val="FF0000"/>
                </a:solidFill>
                <a:effectLst>
                  <a:outerShdw blurRad="38100" dist="38100" dir="2700000" algn="tl">
                    <a:srgbClr val="000000">
                      <a:alpha val="43137"/>
                    </a:srgbClr>
                  </a:outerShdw>
                </a:effectLst>
                <a:highlight>
                  <a:srgbClr val="FFFF00"/>
                </a:highlight>
              </a:rPr>
              <a:t>not</a:t>
            </a:r>
            <a:r>
              <a:rPr lang="en-US" sz="4000" b="1" dirty="0">
                <a:solidFill>
                  <a:srgbClr val="FF0000"/>
                </a:solidFill>
                <a:effectLst>
                  <a:outerShdw blurRad="38100" dist="38100" dir="2700000" algn="tl">
                    <a:srgbClr val="000000">
                      <a:alpha val="43137"/>
                    </a:srgbClr>
                  </a:outerShdw>
                </a:effectLst>
                <a:highlight>
                  <a:srgbClr val="FFFF00"/>
                </a:highlight>
              </a:rPr>
              <a:t> a descriptive mark </a:t>
            </a:r>
            <a:r>
              <a:rPr lang="en-US" sz="4000" b="1" dirty="0">
                <a:effectLst>
                  <a:outerShdw blurRad="38100" dist="38100" dir="2700000" algn="tl">
                    <a:srgbClr val="000000">
                      <a:alpha val="43137"/>
                    </a:srgbClr>
                  </a:outerShdw>
                </a:effectLst>
              </a:rPr>
              <a:t>because the true position is that the sign CANNABIS is </a:t>
            </a:r>
            <a:r>
              <a:rPr lang="en-US" sz="4000" b="1" dirty="0">
                <a:solidFill>
                  <a:srgbClr val="FF0000"/>
                </a:solidFill>
                <a:effectLst>
                  <a:outerShdw blurRad="38100" dist="38100" dir="2700000" algn="tl">
                    <a:srgbClr val="000000">
                      <a:alpha val="43137"/>
                    </a:srgbClr>
                  </a:outerShdw>
                </a:effectLst>
              </a:rPr>
              <a:t>an evocative word</a:t>
            </a:r>
            <a:r>
              <a:rPr lang="en-US" sz="4000" b="1" dirty="0">
                <a:effectLst>
                  <a:outerShdw blurRad="38100" dist="38100" dir="2700000" algn="tl">
                    <a:srgbClr val="000000">
                      <a:alpha val="43137"/>
                    </a:srgbClr>
                  </a:outerShdw>
                </a:effectLst>
              </a:rPr>
              <a:t>, which is </a:t>
            </a:r>
            <a:r>
              <a:rPr lang="en-US" sz="4000" b="1" dirty="0">
                <a:solidFill>
                  <a:srgbClr val="0070C0"/>
                </a:solidFill>
                <a:effectLst>
                  <a:outerShdw blurRad="38100" dist="38100" dir="2700000" algn="tl">
                    <a:srgbClr val="000000">
                      <a:alpha val="43137"/>
                    </a:srgbClr>
                  </a:outerShdw>
                </a:effectLst>
              </a:rPr>
              <a:t>intended to attract the attention of consumers </a:t>
            </a:r>
            <a:r>
              <a:rPr lang="en-US" sz="4000" b="1" dirty="0">
                <a:effectLst>
                  <a:outerShdw blurRad="38100" dist="38100" dir="2700000" algn="tl">
                    <a:srgbClr val="000000">
                      <a:alpha val="43137"/>
                    </a:srgbClr>
                  </a:outerShdw>
                </a:effectLst>
              </a:rPr>
              <a:t>and may give rise to the </a:t>
            </a:r>
            <a:r>
              <a:rPr lang="en-US" sz="4000" b="1" dirty="0">
                <a:solidFill>
                  <a:srgbClr val="0070C0"/>
                </a:solidFill>
                <a:effectLst>
                  <a:outerShdw blurRad="38100" dist="38100" dir="2700000" algn="tl">
                    <a:srgbClr val="000000">
                      <a:alpha val="43137"/>
                    </a:srgbClr>
                  </a:outerShdw>
                </a:effectLst>
              </a:rPr>
              <a:t>idea of pleasure</a:t>
            </a:r>
            <a:r>
              <a:rPr lang="en-US" sz="4000" b="1" dirty="0">
                <a:effectLst>
                  <a:outerShdw blurRad="38100" dist="38100" dir="2700000" algn="tl">
                    <a:srgbClr val="000000">
                      <a:alpha val="43137"/>
                    </a:srgbClr>
                  </a:outerShdw>
                </a:effectLst>
              </a:rPr>
              <a:t>, distraction or relaxation</a:t>
            </a:r>
            <a:endParaRPr lang="pl-PL" sz="4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999805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en-US" b="1" dirty="0">
                <a:effectLst>
                  <a:outerShdw blurRad="38100" dist="38100" dir="2700000" algn="tl">
                    <a:srgbClr val="000000">
                      <a:alpha val="43137"/>
                    </a:srgbClr>
                  </a:outerShdw>
                </a:effectLst>
              </a:rPr>
              <a:t>As it is a ‘paradoxical’ and ‘hyperbolic’ message </a:t>
            </a:r>
            <a:r>
              <a:rPr lang="en-US" b="1" dirty="0">
                <a:solidFill>
                  <a:srgbClr val="002060"/>
                </a:solidFill>
                <a:effectLst>
                  <a:outerShdw blurRad="38100" dist="38100" dir="2700000" algn="tl">
                    <a:srgbClr val="000000">
                      <a:alpha val="43137"/>
                    </a:srgbClr>
                  </a:outerShdw>
                </a:effectLst>
                <a:latin typeface="Arial Black" panose="020B0A04020102020204" pitchFamily="34" charset="0"/>
              </a:rPr>
              <a:t>in the same way as other marks</a:t>
            </a:r>
            <a:r>
              <a:rPr lang="en-US" b="1" dirty="0">
                <a:effectLst>
                  <a:outerShdw blurRad="38100" dist="38100" dir="2700000" algn="tl">
                    <a:srgbClr val="000000">
                      <a:alpha val="43137"/>
                    </a:srgbClr>
                  </a:outerShdw>
                </a:effectLst>
              </a:rPr>
              <a:t>, such as </a:t>
            </a:r>
            <a:r>
              <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OPIUM or COCA-COLA</a:t>
            </a:r>
            <a:r>
              <a:rPr lang="en-US" b="1" dirty="0">
                <a:solidFill>
                  <a:srgbClr val="FF0000"/>
                </a:solidFill>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all those marks should </a:t>
            </a:r>
            <a:r>
              <a:rPr lang="en-US" b="1" dirty="0">
                <a:solidFill>
                  <a:srgbClr val="FF0000"/>
                </a:solidFill>
                <a:effectLst>
                  <a:outerShdw blurRad="38100" dist="38100" dir="2700000" algn="tl">
                    <a:srgbClr val="000000">
                      <a:alpha val="43137"/>
                    </a:srgbClr>
                  </a:outerShdw>
                </a:effectLst>
              </a:rPr>
              <a:t>be subject to the same level of assessment </a:t>
            </a:r>
            <a:r>
              <a:rPr lang="en-US" b="1" dirty="0">
                <a:effectLst>
                  <a:outerShdw blurRad="38100" dist="38100" dir="2700000" algn="tl">
                    <a:srgbClr val="000000">
                      <a:alpha val="43137"/>
                    </a:srgbClr>
                  </a:outerShdw>
                </a:effectLst>
              </a:rPr>
              <a:t>and the </a:t>
            </a:r>
            <a:r>
              <a:rPr lang="en-US" b="1" dirty="0">
                <a:solidFill>
                  <a:srgbClr val="FF0000"/>
                </a:solidFill>
                <a:effectLst>
                  <a:outerShdw blurRad="38100" dist="38100" dir="2700000" algn="tl">
                    <a:srgbClr val="000000">
                      <a:alpha val="43137"/>
                    </a:srgbClr>
                  </a:outerShdw>
                </a:effectLst>
                <a:highlight>
                  <a:srgbClr val="FFFF00"/>
                </a:highlight>
              </a:rPr>
              <a:t>cancellation</a:t>
            </a:r>
            <a:r>
              <a:rPr lang="en-US" b="1" dirty="0">
                <a:effectLst>
                  <a:outerShdw blurRad="38100" dist="38100" dir="2700000" algn="tl">
                    <a:srgbClr val="000000">
                      <a:alpha val="43137"/>
                    </a:srgbClr>
                  </a:outerShdw>
                </a:effectLst>
              </a:rPr>
              <a:t> of the Community trademark at issue on the basis of such arguments </a:t>
            </a:r>
            <a:r>
              <a:rPr lang="en-US" b="1" dirty="0">
                <a:solidFill>
                  <a:srgbClr val="FF0000"/>
                </a:solidFill>
                <a:effectLst>
                  <a:outerShdw blurRad="38100" dist="38100" dir="2700000" algn="tl">
                    <a:srgbClr val="000000">
                      <a:alpha val="43137"/>
                    </a:srgbClr>
                  </a:outerShdw>
                </a:effectLst>
                <a:highlight>
                  <a:srgbClr val="FFFF00"/>
                </a:highlight>
              </a:rPr>
              <a:t>infringes</a:t>
            </a:r>
            <a:r>
              <a:rPr lang="en-US" b="1" dirty="0">
                <a:effectLst>
                  <a:outerShdw blurRad="38100" dist="38100" dir="2700000" algn="tl">
                    <a:srgbClr val="000000">
                      <a:alpha val="43137"/>
                    </a:srgbClr>
                  </a:outerShdw>
                </a:effectLst>
              </a:rPr>
              <a:t> the general principle of </a:t>
            </a:r>
            <a:r>
              <a:rPr lang="en-US" b="1" dirty="0">
                <a:solidFill>
                  <a:srgbClr val="FF0000"/>
                </a:solidFill>
                <a:effectLst>
                  <a:outerShdw blurRad="38100" dist="38100" dir="2700000" algn="tl">
                    <a:srgbClr val="000000">
                      <a:alpha val="43137"/>
                    </a:srgbClr>
                  </a:outerShdw>
                </a:effectLst>
                <a:latin typeface="Arial Black" panose="020B0A04020102020204" pitchFamily="34" charset="0"/>
              </a:rPr>
              <a:t>equal treatment</a:t>
            </a:r>
            <a:r>
              <a:rPr lang="en-US" dirty="0">
                <a:solidFill>
                  <a:srgbClr val="FF0000"/>
                </a:solidFill>
                <a:effectLst>
                  <a:outerShdw blurRad="38100" dist="38100" dir="2700000" algn="tl">
                    <a:srgbClr val="000000">
                      <a:alpha val="43137"/>
                    </a:srgbClr>
                  </a:outerShdw>
                </a:effectLst>
                <a:latin typeface="Arial Black" panose="020B0A04020102020204" pitchFamily="34" charset="0"/>
              </a:rPr>
              <a:t> </a:t>
            </a:r>
            <a:endParaRPr lang="pl-PL" dirty="0">
              <a:solidFill>
                <a:srgbClr val="FF0000"/>
              </a:solidFill>
              <a:effectLst>
                <a:outerShdw blurRad="38100" dist="38100" dir="2700000" algn="tl">
                  <a:srgbClr val="000000">
                    <a:alpha val="43137"/>
                  </a:srgbClr>
                </a:outerShdw>
              </a:effectLst>
              <a:latin typeface="Arial Black" panose="020B0A04020102020204" pitchFamily="34" charset="0"/>
            </a:endParaRPr>
          </a:p>
        </p:txBody>
      </p:sp>
    </p:spTree>
    <p:extLst>
      <p:ext uri="{BB962C8B-B14F-4D97-AF65-F5344CB8AC3E}">
        <p14:creationId xmlns:p14="http://schemas.microsoft.com/office/powerpoint/2010/main" val="12303053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a:xfrm>
            <a:off x="457200" y="1600200"/>
            <a:ext cx="8229600" cy="4869426"/>
          </a:xfrm>
        </p:spPr>
        <p:txBody>
          <a:bodyPr/>
          <a:lstStyle/>
          <a:p>
            <a:pPr marL="0" indent="0">
              <a:buNone/>
            </a:pPr>
            <a:r>
              <a:rPr lang="en-US" sz="2800" b="1" dirty="0">
                <a:effectLst>
                  <a:outerShdw blurRad="38100" dist="38100" dir="2700000" algn="tl">
                    <a:srgbClr val="000000">
                      <a:alpha val="43137"/>
                    </a:srgbClr>
                  </a:outerShdw>
                </a:effectLst>
              </a:rPr>
              <a:t>The applicant also disputes the definition of </a:t>
            </a:r>
            <a:r>
              <a:rPr lang="en-US" sz="2800"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average consumer </a:t>
            </a:r>
            <a:r>
              <a:rPr lang="en-US" sz="2800" b="1" dirty="0">
                <a:effectLst>
                  <a:outerShdw blurRad="38100" dist="38100" dir="2700000" algn="tl">
                    <a:srgbClr val="000000">
                      <a:alpha val="43137"/>
                    </a:srgbClr>
                  </a:outerShdw>
                </a:effectLst>
              </a:rPr>
              <a:t>contained in the contested decision because </a:t>
            </a:r>
            <a:r>
              <a:rPr lang="en-US" sz="2800" b="1" dirty="0">
                <a:solidFill>
                  <a:srgbClr val="0070C0"/>
                </a:solidFill>
                <a:effectLst>
                  <a:outerShdw blurRad="38100" dist="38100" dir="2700000" algn="tl">
                    <a:srgbClr val="000000">
                      <a:alpha val="43137"/>
                    </a:srgbClr>
                  </a:outerShdw>
                </a:effectLst>
                <a:latin typeface="Arial Black" panose="020B0A04020102020204" pitchFamily="34" charset="0"/>
              </a:rPr>
              <a:t>that consumer </a:t>
            </a:r>
            <a:r>
              <a:rPr lang="en-US" sz="2800" b="1" dirty="0">
                <a:solidFill>
                  <a:srgbClr val="002060"/>
                </a:solidFill>
                <a:effectLst>
                  <a:outerShdw blurRad="38100" dist="38100" dir="2700000" algn="tl">
                    <a:srgbClr val="000000">
                      <a:alpha val="43137"/>
                    </a:srgbClr>
                  </a:outerShdw>
                </a:effectLst>
                <a:latin typeface="Arial Black" panose="020B0A04020102020204" pitchFamily="34" charset="0"/>
              </a:rPr>
              <a:t>is </a:t>
            </a:r>
            <a:r>
              <a:rPr lang="en-US" sz="2800" b="1" dirty="0">
                <a:solidFill>
                  <a:srgbClr val="FF0000"/>
                </a:solidFill>
                <a:effectLst>
                  <a:outerShdw blurRad="38100" dist="38100" dir="2700000" algn="tl">
                    <a:srgbClr val="000000">
                      <a:alpha val="43137"/>
                    </a:srgbClr>
                  </a:outerShdw>
                </a:effectLst>
                <a:latin typeface="Arial Black" panose="020B0A04020102020204" pitchFamily="34" charset="0"/>
              </a:rPr>
              <a:t>not a consumer of narcotics</a:t>
            </a:r>
            <a:r>
              <a:rPr lang="en-US" sz="2800" b="1" dirty="0">
                <a:solidFill>
                  <a:srgbClr val="002060"/>
                </a:solidFill>
                <a:effectLst>
                  <a:outerShdw blurRad="38100" dist="38100" dir="2700000" algn="tl">
                    <a:srgbClr val="000000">
                      <a:alpha val="43137"/>
                    </a:srgbClr>
                  </a:outerShdw>
                </a:effectLst>
              </a:rPr>
              <a:t>, seeking the same sensations as those obtained during the consumption of cannabis, or a ‘habitual alcoholic’. </a:t>
            </a:r>
            <a:endParaRPr lang="pl-PL" sz="2800" b="1" dirty="0">
              <a:solidFill>
                <a:srgbClr val="002060"/>
              </a:solidFill>
              <a:effectLst>
                <a:outerShdw blurRad="38100" dist="38100" dir="2700000" algn="tl">
                  <a:srgbClr val="000000">
                    <a:alpha val="43137"/>
                  </a:srgbClr>
                </a:outerShdw>
              </a:effectLst>
            </a:endParaRPr>
          </a:p>
          <a:p>
            <a:pPr marL="0" indent="0">
              <a:buNone/>
            </a:pPr>
            <a:r>
              <a:rPr lang="en-US" sz="2800" b="1" dirty="0">
                <a:effectLst>
                  <a:outerShdw blurRad="38100" dist="38100" dir="2700000" algn="tl">
                    <a:srgbClr val="000000">
                      <a:alpha val="43137"/>
                    </a:srgbClr>
                  </a:outerShdw>
                </a:effectLst>
              </a:rPr>
              <a:t>The applicant considers </a:t>
            </a:r>
            <a:r>
              <a:rPr lang="en-US" sz="2800" b="1" u="sng" dirty="0">
                <a:effectLst>
                  <a:outerShdw blurRad="38100" dist="38100" dir="2700000" algn="tl">
                    <a:srgbClr val="000000">
                      <a:alpha val="43137"/>
                    </a:srgbClr>
                  </a:outerShdw>
                </a:effectLst>
              </a:rPr>
              <a:t>the </a:t>
            </a:r>
            <a:r>
              <a:rPr lang="en-US" sz="2800" b="1" u="sng" dirty="0">
                <a:solidFill>
                  <a:srgbClr val="FF0000"/>
                </a:solidFill>
                <a:effectLst>
                  <a:outerShdw blurRad="38100" dist="38100" dir="2700000" algn="tl">
                    <a:srgbClr val="000000">
                      <a:alpha val="43137"/>
                    </a:srgbClr>
                  </a:outerShdw>
                </a:effectLst>
                <a:latin typeface="Arial Black" panose="020B0A04020102020204" pitchFamily="34" charset="0"/>
              </a:rPr>
              <a:t>average consumer </a:t>
            </a:r>
            <a:r>
              <a:rPr lang="en-US" sz="2800" b="1" dirty="0">
                <a:solidFill>
                  <a:srgbClr val="002060"/>
                </a:solidFill>
                <a:effectLst>
                  <a:outerShdw blurRad="38100" dist="38100" dir="2700000" algn="tl">
                    <a:srgbClr val="000000">
                      <a:alpha val="43137"/>
                    </a:srgbClr>
                  </a:outerShdw>
                </a:effectLst>
                <a:latin typeface="Arial Black" panose="020B0A04020102020204" pitchFamily="34" charset="0"/>
              </a:rPr>
              <a:t>to be a </a:t>
            </a:r>
            <a:r>
              <a:rPr lang="en-US" sz="2800" b="1" u="sng" dirty="0">
                <a:solidFill>
                  <a:srgbClr val="FF0000"/>
                </a:solidFill>
                <a:effectLst>
                  <a:outerShdw blurRad="38100" dist="38100" dir="2700000" algn="tl">
                    <a:srgbClr val="000000">
                      <a:alpha val="43137"/>
                    </a:srgbClr>
                  </a:outerShdw>
                </a:effectLst>
                <a:latin typeface="Arial Black" panose="020B0A04020102020204" pitchFamily="34" charset="0"/>
              </a:rPr>
              <a:t>beer enthusiast </a:t>
            </a:r>
            <a:r>
              <a:rPr lang="en-US" sz="2800" b="1" dirty="0">
                <a:solidFill>
                  <a:srgbClr val="0070C0"/>
                </a:solidFill>
                <a:effectLst>
                  <a:outerShdw blurRad="38100" dist="38100" dir="2700000" algn="tl">
                    <a:srgbClr val="000000">
                      <a:alpha val="43137"/>
                    </a:srgbClr>
                  </a:outerShdw>
                </a:effectLst>
                <a:latin typeface="Arial Black" panose="020B0A04020102020204" pitchFamily="34" charset="0"/>
              </a:rPr>
              <a:t>whose level of intelligence</a:t>
            </a:r>
            <a:r>
              <a:rPr lang="en-US" sz="2800" b="1" dirty="0">
                <a:effectLst>
                  <a:outerShdw blurRad="38100" dist="38100" dir="2700000" algn="tl">
                    <a:srgbClr val="000000">
                      <a:alpha val="43137"/>
                    </a:srgbClr>
                  </a:outerShdw>
                </a:effectLst>
              </a:rPr>
              <a:t>, attention</a:t>
            </a:r>
            <a:r>
              <a:rPr lang="pl-PL" sz="2800" b="1" dirty="0">
                <a:effectLst>
                  <a:outerShdw blurRad="38100" dist="38100" dir="2700000" algn="tl">
                    <a:srgbClr val="000000">
                      <a:alpha val="43137"/>
                    </a:srgbClr>
                  </a:outerShdw>
                </a:effectLst>
              </a:rPr>
              <a:t>,</a:t>
            </a:r>
            <a:r>
              <a:rPr lang="en-US" sz="2800" b="1" dirty="0">
                <a:effectLst>
                  <a:outerShdw blurRad="38100" dist="38100" dir="2700000" algn="tl">
                    <a:srgbClr val="000000">
                      <a:alpha val="43137"/>
                    </a:srgbClr>
                  </a:outerShdw>
                </a:effectLst>
              </a:rPr>
              <a:t> and care </a:t>
            </a:r>
            <a:r>
              <a:rPr lang="en-US" sz="2800" b="1" dirty="0">
                <a:solidFill>
                  <a:srgbClr val="0070C0"/>
                </a:solidFill>
                <a:effectLst>
                  <a:outerShdw blurRad="38100" dist="38100" dir="2700000" algn="tl">
                    <a:srgbClr val="000000">
                      <a:alpha val="43137"/>
                    </a:srgbClr>
                  </a:outerShdw>
                </a:effectLst>
              </a:rPr>
              <a:t>corresponds to the average level of the type of customers for which the product is intended</a:t>
            </a:r>
            <a:r>
              <a:rPr lang="en-US" sz="2800" b="1" dirty="0">
                <a:effectLst>
                  <a:outerShdw blurRad="38100" dist="38100" dir="2700000" algn="tl">
                    <a:srgbClr val="000000">
                      <a:alpha val="43137"/>
                    </a:srgbClr>
                  </a:outerShdw>
                </a:effectLst>
              </a:rPr>
              <a:t> </a:t>
            </a:r>
            <a:endParaRPr lang="pl-PL"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105395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r>
              <a:rPr lang="pl-PL" sz="2800" b="1" dirty="0">
                <a:solidFill>
                  <a:srgbClr val="FF0000"/>
                </a:solidFill>
                <a:effectLst>
                  <a:outerShdw blurRad="38100" dist="38100" dir="2700000" algn="tl">
                    <a:srgbClr val="000000">
                      <a:alpha val="43137"/>
                    </a:srgbClr>
                  </a:outerShdw>
                </a:effectLst>
                <a:highlight>
                  <a:srgbClr val="00FF00"/>
                </a:highlight>
              </a:rPr>
              <a:t>The applicant</a:t>
            </a:r>
            <a:r>
              <a:rPr lang="pl-PL" sz="2800" b="1" dirty="0">
                <a:effectLst>
                  <a:outerShdw blurRad="38100" dist="38100" dir="2700000" algn="tl">
                    <a:srgbClr val="000000">
                      <a:alpha val="43137"/>
                    </a:srgbClr>
                  </a:outerShdw>
                </a:effectLst>
                <a:highlight>
                  <a:srgbClr val="00FF00"/>
                </a:highlight>
              </a:rPr>
              <a:t> </a:t>
            </a:r>
            <a:r>
              <a:rPr lang="en-US" sz="2800" b="1" dirty="0">
                <a:effectLst>
                  <a:outerShdw blurRad="38100" dist="38100" dir="2700000" algn="tl">
                    <a:srgbClr val="000000">
                      <a:alpha val="43137"/>
                    </a:srgbClr>
                  </a:outerShdw>
                </a:effectLst>
              </a:rPr>
              <a:t>also maintains that it is necessary to consider whether </a:t>
            </a:r>
            <a:r>
              <a:rPr lang="en-US" sz="2800" b="1" dirty="0">
                <a:solidFill>
                  <a:srgbClr val="FF0000"/>
                </a:solidFill>
                <a:effectLst>
                  <a:outerShdw blurRad="38100" dist="38100" dir="2700000" algn="tl">
                    <a:srgbClr val="000000">
                      <a:alpha val="43137"/>
                    </a:srgbClr>
                  </a:outerShdw>
                </a:effectLst>
              </a:rPr>
              <a:t>an </a:t>
            </a:r>
            <a:r>
              <a:rPr lang="en-US" sz="2800" b="1" u="sng" dirty="0">
                <a:solidFill>
                  <a:srgbClr val="FF0000"/>
                </a:solidFill>
                <a:effectLst>
                  <a:outerShdw blurRad="38100" dist="38100" dir="2700000" algn="tl">
                    <a:srgbClr val="000000">
                      <a:alpha val="43137"/>
                    </a:srgbClr>
                  </a:outerShdw>
                </a:effectLst>
                <a:highlight>
                  <a:srgbClr val="FFFF00"/>
                </a:highlight>
              </a:rPr>
              <a:t>informed consumer </a:t>
            </a:r>
            <a:r>
              <a:rPr lang="en-US" sz="2800" b="1" dirty="0">
                <a:solidFill>
                  <a:srgbClr val="FF0000"/>
                </a:solidFill>
                <a:effectLst>
                  <a:outerShdw blurRad="38100" dist="38100" dir="2700000" algn="tl">
                    <a:srgbClr val="000000">
                      <a:alpha val="43137"/>
                    </a:srgbClr>
                  </a:outerShdw>
                </a:effectLst>
              </a:rPr>
              <a:t>immediately thinks </a:t>
            </a:r>
            <a:r>
              <a:rPr lang="en-US" sz="2800" b="1" dirty="0">
                <a:solidFill>
                  <a:srgbClr val="0070C0"/>
                </a:solidFill>
                <a:effectLst>
                  <a:outerShdw blurRad="38100" dist="38100" dir="2700000" algn="tl">
                    <a:srgbClr val="000000">
                      <a:alpha val="43137"/>
                    </a:srgbClr>
                  </a:outerShdw>
                </a:effectLst>
              </a:rPr>
              <a:t>when he</a:t>
            </a:r>
            <a:r>
              <a:rPr lang="pl-PL" sz="2800" b="1" dirty="0">
                <a:solidFill>
                  <a:srgbClr val="0070C0"/>
                </a:solidFill>
                <a:effectLst>
                  <a:outerShdw blurRad="38100" dist="38100" dir="2700000" algn="tl">
                    <a:srgbClr val="000000">
                      <a:alpha val="43137"/>
                    </a:srgbClr>
                  </a:outerShdw>
                </a:effectLst>
              </a:rPr>
              <a:t>/she</a:t>
            </a:r>
            <a:r>
              <a:rPr lang="en-US" sz="2800" b="1" dirty="0">
                <a:solidFill>
                  <a:srgbClr val="0070C0"/>
                </a:solidFill>
                <a:effectLst>
                  <a:outerShdw blurRad="38100" dist="38100" dir="2700000" algn="tl">
                    <a:srgbClr val="000000">
                      <a:alpha val="43137"/>
                    </a:srgbClr>
                  </a:outerShdw>
                </a:effectLst>
              </a:rPr>
              <a:t> buys a beverage bearing the </a:t>
            </a:r>
            <a:r>
              <a:rPr lang="pl-PL" sz="2800" b="1" dirty="0">
                <a:solidFill>
                  <a:srgbClr val="0070C0"/>
                </a:solidFill>
                <a:effectLst>
                  <a:outerShdw blurRad="38100" dist="38100" dir="2700000" algn="tl">
                    <a:srgbClr val="000000">
                      <a:alpha val="43137"/>
                    </a:srgbClr>
                  </a:outerShdw>
                </a:effectLst>
              </a:rPr>
              <a:t>trademark</a:t>
            </a:r>
            <a:r>
              <a:rPr lang="en-US" sz="2800" b="1" dirty="0">
                <a:solidFill>
                  <a:srgbClr val="0070C0"/>
                </a:solidFill>
                <a:effectLst>
                  <a:outerShdw blurRad="38100" dist="38100" dir="2700000" algn="tl">
                    <a:srgbClr val="000000">
                      <a:alpha val="43137"/>
                    </a:srgbClr>
                  </a:outerShdw>
                </a:effectLst>
              </a:rPr>
              <a:t> CANNABIS </a:t>
            </a:r>
            <a:r>
              <a:rPr lang="en-US" sz="2800" b="1" dirty="0">
                <a:solidFill>
                  <a:srgbClr val="FF0000"/>
                </a:solidFill>
                <a:effectLst>
                  <a:outerShdw blurRad="38100" dist="38100" dir="2700000" algn="tl">
                    <a:srgbClr val="000000">
                      <a:alpha val="43137"/>
                    </a:srgbClr>
                  </a:outerShdw>
                </a:effectLst>
              </a:rPr>
              <a:t>that it is </a:t>
            </a:r>
            <a:r>
              <a:rPr lang="en-US" sz="2800" b="1" dirty="0">
                <a:solidFill>
                  <a:srgbClr val="FF0000"/>
                </a:solidFill>
                <a:effectLst>
                  <a:outerShdw blurRad="38100" dist="38100" dir="2700000" algn="tl">
                    <a:srgbClr val="000000">
                      <a:alpha val="43137"/>
                    </a:srgbClr>
                  </a:outerShdw>
                </a:effectLst>
                <a:highlight>
                  <a:srgbClr val="FFFF00"/>
                </a:highlight>
              </a:rPr>
              <a:t>really cannabis</a:t>
            </a:r>
            <a:endParaRPr lang="pl-PL" sz="2800" b="1" dirty="0">
              <a:solidFill>
                <a:srgbClr val="FF0000"/>
              </a:solidFill>
              <a:effectLst>
                <a:outerShdw blurRad="38100" dist="38100" dir="2700000" algn="tl">
                  <a:srgbClr val="000000">
                    <a:alpha val="43137"/>
                  </a:srgbClr>
                </a:outerShdw>
              </a:effectLst>
              <a:highlight>
                <a:srgbClr val="FFFF00"/>
              </a:highlight>
            </a:endParaRPr>
          </a:p>
          <a:p>
            <a:r>
              <a:rPr lang="pl-PL" sz="2800" b="1" dirty="0">
                <a:effectLst>
                  <a:outerShdw blurRad="38100" dist="38100" dir="2700000" algn="tl">
                    <a:srgbClr val="000000">
                      <a:alpha val="43137"/>
                    </a:srgbClr>
                  </a:outerShdw>
                </a:effectLst>
              </a:rPr>
              <a:t>The </a:t>
            </a:r>
            <a:r>
              <a:rPr lang="en-US" sz="2800" b="1" dirty="0">
                <a:effectLst>
                  <a:outerShdw blurRad="38100" dist="38100" dir="2700000" algn="tl">
                    <a:srgbClr val="000000">
                      <a:alpha val="43137"/>
                    </a:srgbClr>
                  </a:outerShdw>
                </a:effectLst>
              </a:rPr>
              <a:t>applicant submits that </a:t>
            </a:r>
            <a:r>
              <a:rPr lang="en-US" sz="2800" b="1" dirty="0">
                <a:solidFill>
                  <a:srgbClr val="FF0000"/>
                </a:solidFill>
                <a:effectLst>
                  <a:outerShdw blurRad="38100" dist="38100" dir="2700000" algn="tl">
                    <a:srgbClr val="000000">
                      <a:alpha val="43137"/>
                    </a:srgbClr>
                  </a:outerShdw>
                </a:effectLst>
                <a:highlight>
                  <a:srgbClr val="00FFFF"/>
                </a:highlight>
                <a:latin typeface="Arial Black" panose="020B0A04020102020204" pitchFamily="34" charset="0"/>
              </a:rPr>
              <a:t>the average consumer </a:t>
            </a:r>
            <a:r>
              <a:rPr lang="pl-PL" sz="2800" b="1" dirty="0">
                <a:solidFill>
                  <a:srgbClr val="FF0000"/>
                </a:solidFill>
                <a:effectLst>
                  <a:outerShdw blurRad="38100" dist="38100" dir="2700000" algn="tl">
                    <a:srgbClr val="000000">
                      <a:alpha val="43137"/>
                    </a:srgbClr>
                  </a:outerShdw>
                </a:effectLst>
                <a:highlight>
                  <a:srgbClr val="00FFFF"/>
                </a:highlight>
                <a:latin typeface="Arial Black" panose="020B0A04020102020204" pitchFamily="34" charset="0"/>
              </a:rPr>
              <a:t>checks the ingredients</a:t>
            </a:r>
            <a:r>
              <a:rPr lang="pl-PL" sz="2800" b="1" dirty="0">
                <a:solidFill>
                  <a:srgbClr val="FF0000"/>
                </a:solidFill>
                <a:effectLst>
                  <a:outerShdw blurRad="38100" dist="38100" dir="2700000" algn="tl">
                    <a:srgbClr val="000000">
                      <a:alpha val="43137"/>
                    </a:srgbClr>
                  </a:outerShdw>
                </a:effectLst>
                <a:highlight>
                  <a:srgbClr val="00FFFF"/>
                </a:highlight>
              </a:rPr>
              <a:t> </a:t>
            </a:r>
            <a:r>
              <a:rPr lang="en-US" sz="2800" b="1" dirty="0">
                <a:effectLst>
                  <a:outerShdw blurRad="38100" dist="38100" dir="2700000" algn="tl">
                    <a:srgbClr val="000000">
                      <a:alpha val="43137"/>
                    </a:srgbClr>
                  </a:outerShdw>
                </a:effectLst>
              </a:rPr>
              <a:t>on the label</a:t>
            </a:r>
            <a:r>
              <a:rPr lang="pl-PL" sz="2800" b="1" dirty="0">
                <a:effectLst>
                  <a:outerShdw blurRad="38100" dist="38100" dir="2700000" algn="tl">
                    <a:srgbClr val="000000">
                      <a:alpha val="43137"/>
                    </a:srgbClr>
                  </a:outerShdw>
                </a:effectLst>
              </a:rPr>
              <a:t> </a:t>
            </a:r>
          </a:p>
          <a:p>
            <a:r>
              <a:rPr lang="pl-PL" sz="2800" b="1" dirty="0">
                <a:solidFill>
                  <a:srgbClr val="002060"/>
                </a:solidFill>
                <a:effectLst>
                  <a:outerShdw blurRad="38100" dist="38100" dir="2700000" algn="tl">
                    <a:srgbClr val="000000">
                      <a:alpha val="43137"/>
                    </a:srgbClr>
                  </a:outerShdw>
                </a:effectLst>
              </a:rPr>
              <a:t>O</a:t>
            </a:r>
            <a:r>
              <a:rPr lang="en-US" sz="2800" b="1" dirty="0">
                <a:solidFill>
                  <a:srgbClr val="002060"/>
                </a:solidFill>
                <a:effectLst>
                  <a:outerShdw blurRad="38100" dist="38100" dir="2700000" algn="tl">
                    <a:srgbClr val="000000">
                      <a:alpha val="43137"/>
                    </a:srgbClr>
                  </a:outerShdw>
                </a:effectLst>
              </a:rPr>
              <a:t>nly a </a:t>
            </a:r>
            <a:r>
              <a:rPr lang="en-US" sz="2800" b="1" dirty="0">
                <a:solidFill>
                  <a:srgbClr val="FF0000"/>
                </a:solidFill>
                <a:effectLst>
                  <a:outerShdw blurRad="38100" dist="38100" dir="2700000" algn="tl">
                    <a:srgbClr val="000000">
                      <a:alpha val="43137"/>
                    </a:srgbClr>
                  </a:outerShdw>
                </a:effectLst>
              </a:rPr>
              <a:t>poorly-informed</a:t>
            </a:r>
            <a:r>
              <a:rPr lang="en-US" sz="2800" b="1" dirty="0">
                <a:solidFill>
                  <a:srgbClr val="002060"/>
                </a:solidFill>
                <a:effectLst>
                  <a:outerShdw blurRad="38100" dist="38100" dir="2700000" algn="tl">
                    <a:srgbClr val="000000">
                      <a:alpha val="43137"/>
                    </a:srgbClr>
                  </a:outerShdw>
                </a:effectLst>
              </a:rPr>
              <a:t> consumer would regard the word ‘cannabis’ as a clear and direct indication of the </a:t>
            </a:r>
            <a:r>
              <a:rPr lang="en-US" sz="2800" b="1" dirty="0">
                <a:solidFill>
                  <a:srgbClr val="FF0000"/>
                </a:solidFill>
                <a:effectLst>
                  <a:outerShdw blurRad="38100" dist="38100" dir="2700000" algn="tl">
                    <a:srgbClr val="000000">
                      <a:alpha val="43137"/>
                    </a:srgbClr>
                  </a:outerShdw>
                </a:effectLst>
              </a:rPr>
              <a:t>quality</a:t>
            </a:r>
            <a:r>
              <a:rPr lang="pl-PL" sz="2800" b="1" dirty="0">
                <a:solidFill>
                  <a:srgbClr val="FF0000"/>
                </a:solidFill>
                <a:effectLst>
                  <a:outerShdw blurRad="38100" dist="38100" dir="2700000" algn="tl">
                    <a:srgbClr val="000000">
                      <a:alpha val="43137"/>
                    </a:srgbClr>
                  </a:outerShdw>
                </a:effectLst>
              </a:rPr>
              <a:t> of a beer</a:t>
            </a:r>
            <a:endParaRPr lang="pl-PL"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336921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pl-PL" b="1" dirty="0">
                <a:solidFill>
                  <a:srgbClr val="FF0000"/>
                </a:solidFill>
                <a:effectLst>
                  <a:outerShdw blurRad="38100" dist="38100" dir="2700000" algn="tl">
                    <a:srgbClr val="000000">
                      <a:alpha val="43137"/>
                    </a:srgbClr>
                  </a:outerShdw>
                </a:effectLst>
                <a:highlight>
                  <a:srgbClr val="00FF00"/>
                </a:highlight>
              </a:rPr>
              <a:t>THE COURT:</a:t>
            </a:r>
          </a:p>
          <a:p>
            <a:pPr marL="0" indent="0">
              <a:buNone/>
            </a:pPr>
            <a:r>
              <a:rPr lang="en-US" b="1" dirty="0">
                <a:solidFill>
                  <a:srgbClr val="FF0000"/>
                </a:solidFill>
                <a:effectLst>
                  <a:outerShdw blurRad="38100" dist="38100" dir="2700000" algn="tl">
                    <a:srgbClr val="000000">
                      <a:alpha val="43137"/>
                    </a:srgbClr>
                  </a:outerShdw>
                </a:effectLst>
              </a:rPr>
              <a:t>the word ‘cannabis’ has </a:t>
            </a:r>
            <a:r>
              <a:rPr lang="pl-PL" b="1" dirty="0">
                <a:solidFill>
                  <a:srgbClr val="FF0000"/>
                </a:solidFill>
                <a:effectLst>
                  <a:outerShdw blurRad="38100" dist="38100" dir="2700000" algn="tl">
                    <a:srgbClr val="000000">
                      <a:alpha val="43137"/>
                    </a:srgbClr>
                  </a:outerShdw>
                </a:effectLst>
              </a:rPr>
              <a:t>several</a:t>
            </a:r>
            <a:r>
              <a:rPr lang="en-US" b="1" dirty="0">
                <a:solidFill>
                  <a:srgbClr val="FF0000"/>
                </a:solidFill>
                <a:effectLst>
                  <a:outerShdw blurRad="38100" dist="38100" dir="2700000" algn="tl">
                    <a:srgbClr val="000000">
                      <a:alpha val="43137"/>
                    </a:srgbClr>
                  </a:outerShdw>
                </a:effectLst>
              </a:rPr>
              <a:t> possible meanings</a:t>
            </a:r>
            <a:endParaRPr lang="pl-PL" b="1" dirty="0">
              <a:solidFill>
                <a:srgbClr val="FF0000"/>
              </a:solidFill>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the word ‘cannabis’ refers to a </a:t>
            </a:r>
            <a:r>
              <a:rPr lang="en-US" b="1" dirty="0">
                <a:solidFill>
                  <a:srgbClr val="FF0000"/>
                </a:solidFill>
                <a:effectLst>
                  <a:outerShdw blurRad="38100" dist="38100" dir="2700000" algn="tl">
                    <a:srgbClr val="000000">
                      <a:alpha val="43137"/>
                    </a:srgbClr>
                  </a:outerShdw>
                </a:effectLst>
              </a:rPr>
              <a:t>textile plant </a:t>
            </a:r>
            <a:r>
              <a:rPr lang="en-US" b="1" dirty="0">
                <a:effectLst>
                  <a:outerShdw blurRad="38100" dist="38100" dir="2700000" algn="tl">
                    <a:srgbClr val="000000">
                      <a:alpha val="43137"/>
                    </a:srgbClr>
                  </a:outerShdw>
                </a:effectLst>
              </a:rPr>
              <a:t>subject to </a:t>
            </a:r>
            <a:r>
              <a:rPr lang="pl-PL" b="1" dirty="0">
                <a:solidFill>
                  <a:srgbClr val="0070C0"/>
                </a:solidFill>
                <a:effectLst>
                  <a:outerShdw blurRad="38100" dist="38100" dir="2700000" algn="tl">
                    <a:srgbClr val="000000">
                      <a:alpha val="43137"/>
                    </a:srgbClr>
                  </a:outerShdw>
                </a:effectLst>
              </a:rPr>
              <a:t>stringent</a:t>
            </a:r>
            <a:r>
              <a:rPr lang="en-US" b="1" dirty="0">
                <a:solidFill>
                  <a:srgbClr val="0070C0"/>
                </a:solidFill>
                <a:effectLst>
                  <a:outerShdw blurRad="38100" dist="38100" dir="2700000" algn="tl">
                    <a:srgbClr val="000000">
                      <a:alpha val="43137"/>
                    </a:srgbClr>
                  </a:outerShdw>
                </a:effectLst>
              </a:rPr>
              <a:t> legislation </a:t>
            </a:r>
            <a:r>
              <a:rPr lang="en-US" b="1" dirty="0">
                <a:effectLst>
                  <a:outerShdw blurRad="38100" dist="38100" dir="2700000" algn="tl">
                    <a:srgbClr val="000000">
                      <a:alpha val="43137"/>
                    </a:srgbClr>
                  </a:outerShdw>
                </a:effectLst>
              </a:rPr>
              <a:t>as regards the content of tetrahydrocannabinol (THC), the active ingredient of cannabis, which may not exceed the threshold of </a:t>
            </a:r>
            <a:r>
              <a:rPr lang="en-US" b="1" dirty="0">
                <a:solidFill>
                  <a:srgbClr val="FF0000"/>
                </a:solidFill>
                <a:effectLst>
                  <a:outerShdw blurRad="38100" dist="38100" dir="2700000" algn="tl">
                    <a:srgbClr val="000000">
                      <a:alpha val="43137"/>
                    </a:srgbClr>
                  </a:outerShdw>
                </a:effectLst>
              </a:rPr>
              <a:t>0.2% </a:t>
            </a:r>
            <a:endParaRPr lang="pl-PL"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702032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r>
              <a:rPr lang="pl-PL" dirty="0"/>
              <a:t>C</a:t>
            </a:r>
            <a:r>
              <a:rPr lang="en-US" dirty="0"/>
              <a:t>annabis, also referred </a:t>
            </a:r>
            <a:r>
              <a:rPr lang="en-US" b="1" dirty="0">
                <a:solidFill>
                  <a:srgbClr val="FF0000"/>
                </a:solidFill>
              </a:rPr>
              <a:t>to as ‘hemp</a:t>
            </a:r>
            <a:r>
              <a:rPr lang="en-US" dirty="0"/>
              <a:t>’, is </a:t>
            </a:r>
            <a:r>
              <a:rPr lang="en-US" b="1" dirty="0">
                <a:solidFill>
                  <a:srgbClr val="FF0000"/>
                </a:solidFill>
                <a:effectLst>
                  <a:outerShdw blurRad="38100" dist="38100" dir="2700000" algn="tl">
                    <a:srgbClr val="000000">
                      <a:alpha val="43137"/>
                    </a:srgbClr>
                  </a:outerShdw>
                </a:effectLst>
              </a:rPr>
              <a:t>used in the </a:t>
            </a:r>
            <a:r>
              <a:rPr lang="en-US" b="1" u="sng" dirty="0">
                <a:solidFill>
                  <a:srgbClr val="FF0000"/>
                </a:solidFill>
                <a:effectLst>
                  <a:outerShdw blurRad="38100" dist="38100" dir="2700000" algn="tl">
                    <a:srgbClr val="000000">
                      <a:alpha val="43137"/>
                    </a:srgbClr>
                  </a:outerShdw>
                </a:effectLst>
              </a:rPr>
              <a:t>food sector </a:t>
            </a:r>
            <a:r>
              <a:rPr lang="en-US" b="1" dirty="0">
                <a:solidFill>
                  <a:srgbClr val="FF0000"/>
                </a:solidFill>
                <a:effectLst>
                  <a:outerShdw blurRad="38100" dist="38100" dir="2700000" algn="tl">
                    <a:srgbClr val="000000">
                      <a:alpha val="43137"/>
                    </a:srgbClr>
                  </a:outerShdw>
                </a:effectLst>
              </a:rPr>
              <a:t>in different forms</a:t>
            </a:r>
            <a:r>
              <a:rPr lang="en-US" dirty="0"/>
              <a:t> (oils, herbal teas) and in different preparations (</a:t>
            </a:r>
            <a:r>
              <a:rPr lang="en-US" b="1" dirty="0">
                <a:solidFill>
                  <a:srgbClr val="0070C0"/>
                </a:solidFill>
                <a:effectLst>
                  <a:outerShdw blurRad="38100" dist="38100" dir="2700000" algn="tl">
                    <a:srgbClr val="000000">
                      <a:alpha val="43137"/>
                    </a:srgbClr>
                  </a:outerShdw>
                </a:effectLst>
              </a:rPr>
              <a:t>teas, pasta, bakery and biscuits, alcoholic or non-alcoholic beverages, etc</a:t>
            </a:r>
            <a:r>
              <a:rPr lang="en-US" dirty="0"/>
              <a:t>.). The toxicological analyses carried out on those goods show that they contain a very low concentration of THC, considerably </a:t>
            </a:r>
            <a:r>
              <a:rPr lang="en-US" b="1" dirty="0">
                <a:solidFill>
                  <a:srgbClr val="0070C0"/>
                </a:solidFill>
                <a:effectLst>
                  <a:outerShdw blurRad="38100" dist="38100" dir="2700000" algn="tl">
                    <a:srgbClr val="000000">
                      <a:alpha val="43137"/>
                    </a:srgbClr>
                  </a:outerShdw>
                </a:effectLst>
              </a:rPr>
              <a:t>lower than </a:t>
            </a:r>
            <a:r>
              <a:rPr lang="en-US" dirty="0"/>
              <a:t>the threshold of </a:t>
            </a:r>
            <a:r>
              <a:rPr lang="en-US" b="1" dirty="0">
                <a:solidFill>
                  <a:srgbClr val="0070C0"/>
                </a:solidFill>
              </a:rPr>
              <a:t>0.2% </a:t>
            </a:r>
            <a:r>
              <a:rPr lang="en-US" dirty="0"/>
              <a:t>and that they have </a:t>
            </a:r>
            <a:r>
              <a:rPr lang="en-US" b="1" dirty="0">
                <a:solidFill>
                  <a:srgbClr val="FF0000"/>
                </a:solidFill>
                <a:effectLst>
                  <a:outerShdw blurRad="38100" dist="38100" dir="2700000" algn="tl">
                    <a:srgbClr val="000000">
                      <a:alpha val="43137"/>
                    </a:srgbClr>
                  </a:outerShdw>
                </a:effectLst>
              </a:rPr>
              <a:t>no psychotropic effects</a:t>
            </a:r>
            <a:endParaRPr lang="pl-PL" dirty="0"/>
          </a:p>
          <a:p>
            <a:pPr marL="0" indent="0">
              <a:buNone/>
            </a:pPr>
            <a:endParaRPr lang="pl-PL" dirty="0"/>
          </a:p>
        </p:txBody>
      </p:sp>
    </p:spTree>
    <p:extLst>
      <p:ext uri="{BB962C8B-B14F-4D97-AF65-F5344CB8AC3E}">
        <p14:creationId xmlns:p14="http://schemas.microsoft.com/office/powerpoint/2010/main" val="3671106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pl-PL" sz="2800" b="1" dirty="0">
                <a:solidFill>
                  <a:srgbClr val="FF0000"/>
                </a:solidFill>
                <a:effectLst>
                  <a:outerShdw blurRad="38100" dist="38100" dir="2700000" algn="tl">
                    <a:srgbClr val="000000">
                      <a:alpha val="43137"/>
                    </a:srgbClr>
                  </a:outerShdw>
                </a:effectLst>
                <a:highlight>
                  <a:srgbClr val="00FFFF"/>
                </a:highlight>
              </a:rPr>
              <a:t>C</a:t>
            </a:r>
            <a:r>
              <a:rPr lang="en-US" sz="2800" b="1" dirty="0">
                <a:solidFill>
                  <a:srgbClr val="FF0000"/>
                </a:solidFill>
                <a:effectLst>
                  <a:outerShdw blurRad="38100" dist="38100" dir="2700000" algn="tl">
                    <a:srgbClr val="000000">
                      <a:alpha val="43137"/>
                    </a:srgbClr>
                  </a:outerShdw>
                </a:effectLst>
                <a:highlight>
                  <a:srgbClr val="00FFFF"/>
                </a:highlight>
              </a:rPr>
              <a:t>ontrary to the applicant’s arguments</a:t>
            </a:r>
            <a:r>
              <a:rPr lang="en-US" sz="2800" b="1" dirty="0">
                <a:solidFill>
                  <a:srgbClr val="002060"/>
                </a:solidFill>
                <a:effectLst>
                  <a:outerShdw blurRad="38100" dist="38100" dir="2700000" algn="tl">
                    <a:srgbClr val="000000">
                      <a:alpha val="43137"/>
                    </a:srgbClr>
                  </a:outerShdw>
                </a:effectLst>
              </a:rPr>
              <a:t>, </a:t>
            </a:r>
            <a:endParaRPr lang="pl-PL" sz="2800" b="1" dirty="0">
              <a:solidFill>
                <a:srgbClr val="002060"/>
              </a:solidFill>
              <a:effectLst>
                <a:outerShdw blurRad="38100" dist="38100" dir="2700000" algn="tl">
                  <a:srgbClr val="000000">
                    <a:alpha val="43137"/>
                  </a:srgbClr>
                </a:outerShdw>
              </a:effectLst>
            </a:endParaRPr>
          </a:p>
          <a:p>
            <a:r>
              <a:rPr lang="en-US" sz="2800" b="1" dirty="0">
                <a:solidFill>
                  <a:srgbClr val="002060"/>
                </a:solidFill>
                <a:effectLst>
                  <a:outerShdw blurRad="38100" dist="38100" dir="2700000" algn="tl">
                    <a:srgbClr val="000000">
                      <a:alpha val="43137"/>
                    </a:srgbClr>
                  </a:outerShdw>
                </a:effectLst>
              </a:rPr>
              <a:t>first, that the word ‘</a:t>
            </a:r>
            <a:r>
              <a:rPr lang="en-US" sz="2800" b="1" dirty="0">
                <a:solidFill>
                  <a:srgbClr val="FF0000"/>
                </a:solidFill>
                <a:effectLst>
                  <a:outerShdw blurRad="38100" dist="38100" dir="2700000" algn="tl">
                    <a:srgbClr val="000000">
                      <a:alpha val="43137"/>
                    </a:srgbClr>
                  </a:outerShdw>
                </a:effectLst>
              </a:rPr>
              <a:t>cannabis’ does </a:t>
            </a:r>
            <a:r>
              <a:rPr lang="en-US" sz="2800" b="1" u="sng" dirty="0">
                <a:solidFill>
                  <a:srgbClr val="FF0000"/>
                </a:solidFill>
                <a:effectLst>
                  <a:outerShdw blurRad="38100" dist="38100" dir="2700000" algn="tl">
                    <a:srgbClr val="000000">
                      <a:alpha val="43137"/>
                    </a:srgbClr>
                  </a:outerShdw>
                </a:effectLst>
              </a:rPr>
              <a:t>not merely refer </a:t>
            </a:r>
            <a:r>
              <a:rPr lang="en-US" sz="2800" b="1" dirty="0">
                <a:solidFill>
                  <a:srgbClr val="FF0000"/>
                </a:solidFill>
                <a:effectLst>
                  <a:outerShdw blurRad="38100" dist="38100" dir="2700000" algn="tl">
                    <a:srgbClr val="000000">
                      <a:alpha val="43137"/>
                    </a:srgbClr>
                  </a:outerShdw>
                </a:effectLst>
              </a:rPr>
              <a:t>to drugs</a:t>
            </a:r>
            <a:r>
              <a:rPr lang="en-US" sz="2800" b="1" dirty="0">
                <a:solidFill>
                  <a:srgbClr val="002060"/>
                </a:solidFill>
                <a:effectLst>
                  <a:outerShdw blurRad="38100" dist="38100" dir="2700000" algn="tl">
                    <a:srgbClr val="000000">
                      <a:alpha val="43137"/>
                    </a:srgbClr>
                  </a:outerShdw>
                </a:effectLst>
              </a:rPr>
              <a:t> and</a:t>
            </a:r>
            <a:r>
              <a:rPr lang="pl-PL" sz="2800" b="1" dirty="0">
                <a:solidFill>
                  <a:srgbClr val="002060"/>
                </a:solidFill>
                <a:effectLst>
                  <a:outerShdw blurRad="38100" dist="38100" dir="2700000" algn="tl">
                    <a:srgbClr val="000000">
                      <a:alpha val="43137"/>
                    </a:srgbClr>
                  </a:outerShdw>
                </a:effectLst>
              </a:rPr>
              <a:t> </a:t>
            </a:r>
            <a:r>
              <a:rPr lang="en-US" sz="2800" b="1" dirty="0">
                <a:solidFill>
                  <a:srgbClr val="FF0000"/>
                </a:solidFill>
                <a:effectLst>
                  <a:outerShdw blurRad="38100" dist="38100" dir="2700000" algn="tl">
                    <a:srgbClr val="000000">
                      <a:alpha val="43137"/>
                    </a:srgbClr>
                  </a:outerShdw>
                </a:effectLst>
              </a:rPr>
              <a:t>certain therapeutic substances</a:t>
            </a:r>
            <a:r>
              <a:rPr lang="pl-PL" sz="2800" b="1" dirty="0">
                <a:solidFill>
                  <a:srgbClr val="FF0000"/>
                </a:solidFill>
                <a:effectLst>
                  <a:outerShdw blurRad="38100" dist="38100" dir="2700000" algn="tl">
                    <a:srgbClr val="000000">
                      <a:alpha val="43137"/>
                    </a:srgbClr>
                  </a:outerShdw>
                </a:effectLst>
              </a:rPr>
              <a:t>,</a:t>
            </a:r>
            <a:r>
              <a:rPr lang="en-US" sz="2800" b="1" dirty="0">
                <a:solidFill>
                  <a:srgbClr val="FF0000"/>
                </a:solidFill>
                <a:effectLst>
                  <a:outerShdw blurRad="38100" dist="38100" dir="2700000" algn="tl">
                    <a:srgbClr val="000000">
                      <a:alpha val="43137"/>
                    </a:srgbClr>
                  </a:outerShdw>
                </a:effectLst>
              </a:rPr>
              <a:t> </a:t>
            </a:r>
            <a:r>
              <a:rPr lang="en-US" sz="2800" b="1" dirty="0">
                <a:solidFill>
                  <a:srgbClr val="002060"/>
                </a:solidFill>
                <a:effectLst>
                  <a:outerShdw blurRad="38100" dist="38100" dir="2700000" algn="tl">
                    <a:srgbClr val="000000">
                      <a:alpha val="43137"/>
                    </a:srgbClr>
                  </a:outerShdw>
                </a:effectLst>
              </a:rPr>
              <a:t>and,</a:t>
            </a:r>
            <a:endParaRPr lang="pl-PL" sz="2800" b="1" dirty="0">
              <a:solidFill>
                <a:srgbClr val="002060"/>
              </a:solidFill>
              <a:effectLst>
                <a:outerShdw blurRad="38100" dist="38100" dir="2700000" algn="tl">
                  <a:srgbClr val="000000">
                    <a:alpha val="43137"/>
                  </a:srgbClr>
                </a:outerShdw>
              </a:effectLst>
            </a:endParaRPr>
          </a:p>
          <a:p>
            <a:r>
              <a:rPr lang="en-US" sz="2800" b="1" dirty="0">
                <a:solidFill>
                  <a:srgbClr val="002060"/>
                </a:solidFill>
                <a:effectLst>
                  <a:outerShdw blurRad="38100" dist="38100" dir="2700000" algn="tl">
                    <a:srgbClr val="000000">
                      <a:alpha val="43137"/>
                    </a:srgbClr>
                  </a:outerShdw>
                </a:effectLst>
              </a:rPr>
              <a:t> secondly, that </a:t>
            </a:r>
            <a:r>
              <a:rPr lang="en-US" sz="2800" b="1" dirty="0">
                <a:solidFill>
                  <a:srgbClr val="FF0000"/>
                </a:solidFill>
                <a:effectLst>
                  <a:outerShdw blurRad="38100" dist="38100" dir="2700000" algn="tl">
                    <a:srgbClr val="000000">
                      <a:alpha val="43137"/>
                    </a:srgbClr>
                  </a:outerShdw>
                </a:effectLst>
              </a:rPr>
              <a:t>hemp is lawfully used </a:t>
            </a:r>
            <a:r>
              <a:rPr lang="en-US" sz="2800" b="1" dirty="0">
                <a:solidFill>
                  <a:srgbClr val="002060"/>
                </a:solidFill>
                <a:effectLst>
                  <a:outerShdw blurRad="38100" dist="38100" dir="2700000" algn="tl">
                    <a:srgbClr val="000000">
                      <a:alpha val="43137"/>
                    </a:srgbClr>
                  </a:outerShdw>
                </a:effectLst>
              </a:rPr>
              <a:t>in the production of foodstuffs and beverages</a:t>
            </a:r>
            <a:endParaRPr lang="pl-PL" sz="2800" b="1" dirty="0">
              <a:solidFill>
                <a:srgbClr val="002060"/>
              </a:solidFill>
              <a:effectLst>
                <a:outerShdw blurRad="38100" dist="38100" dir="2700000" algn="tl">
                  <a:srgbClr val="000000">
                    <a:alpha val="43137"/>
                  </a:srgbClr>
                </a:outerShdw>
              </a:effectLst>
            </a:endParaRPr>
          </a:p>
          <a:p>
            <a:r>
              <a:rPr lang="en-US" sz="2800" b="1" dirty="0">
                <a:solidFill>
                  <a:srgbClr val="002060"/>
                </a:solidFill>
                <a:effectLst>
                  <a:outerShdw blurRad="38100" dist="38100" dir="2700000" algn="tl">
                    <a:srgbClr val="000000">
                      <a:alpha val="43137"/>
                    </a:srgbClr>
                  </a:outerShdw>
                </a:effectLst>
              </a:rPr>
              <a:t> It is therefore </a:t>
            </a:r>
            <a:r>
              <a:rPr lang="en-US" sz="2800" b="1" dirty="0">
                <a:solidFill>
                  <a:srgbClr val="FF0000"/>
                </a:solidFill>
                <a:effectLst>
                  <a:outerShdw blurRad="38100" dist="38100" dir="2700000" algn="tl">
                    <a:srgbClr val="000000">
                      <a:alpha val="43137"/>
                    </a:srgbClr>
                  </a:outerShdw>
                </a:effectLst>
              </a:rPr>
              <a:t>necessary to examine</a:t>
            </a:r>
            <a:r>
              <a:rPr lang="en-US" sz="2800" b="1" dirty="0">
                <a:solidFill>
                  <a:srgbClr val="002060"/>
                </a:solidFill>
                <a:effectLst>
                  <a:outerShdw blurRad="38100" dist="38100" dir="2700000" algn="tl">
                    <a:srgbClr val="000000">
                      <a:alpha val="43137"/>
                    </a:srgbClr>
                  </a:outerShdw>
                </a:effectLst>
              </a:rPr>
              <a:t>, in the light of those findings, </a:t>
            </a:r>
            <a:r>
              <a:rPr lang="en-US" sz="2800" b="1" u="sng" dirty="0">
                <a:solidFill>
                  <a:srgbClr val="FF0000"/>
                </a:solidFill>
                <a:effectLst>
                  <a:outerShdw blurRad="38100" dist="38100" dir="2700000" algn="tl">
                    <a:srgbClr val="000000">
                      <a:alpha val="43137"/>
                    </a:srgbClr>
                  </a:outerShdw>
                </a:effectLst>
                <a:highlight>
                  <a:srgbClr val="00FF00"/>
                </a:highlight>
              </a:rPr>
              <a:t>whether the word mark CANNABIS is descriptive </a:t>
            </a:r>
            <a:r>
              <a:rPr lang="en-US" sz="2800" b="1" dirty="0">
                <a:solidFill>
                  <a:srgbClr val="002060"/>
                </a:solidFill>
                <a:effectLst>
                  <a:outerShdw blurRad="38100" dist="38100" dir="2700000" algn="tl">
                    <a:srgbClr val="000000">
                      <a:alpha val="43137"/>
                    </a:srgbClr>
                  </a:outerShdw>
                </a:effectLst>
              </a:rPr>
              <a:t>of the goods in Classes 32 and 33 of the Nice Agreement </a:t>
            </a:r>
            <a:endParaRPr lang="pl-PL" sz="2800"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802809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pl-PL" b="1" dirty="0">
                <a:solidFill>
                  <a:srgbClr val="FF0000"/>
                </a:solidFill>
                <a:effectLst>
                  <a:outerShdw blurRad="38100" dist="38100" dir="2700000" algn="tl">
                    <a:srgbClr val="000000">
                      <a:alpha val="43137"/>
                    </a:srgbClr>
                  </a:outerShdw>
                </a:effectLst>
                <a:highlight>
                  <a:srgbClr val="00FF00"/>
                </a:highlight>
              </a:rPr>
              <a:t>NO DESCRIPTIVE SIGNS</a:t>
            </a:r>
          </a:p>
          <a:p>
            <a:pPr marL="0" indent="0">
              <a:buNone/>
            </a:pPr>
            <a:r>
              <a:rPr lang="en-US" b="1" dirty="0">
                <a:solidFill>
                  <a:srgbClr val="002060"/>
                </a:solidFill>
                <a:effectLst>
                  <a:outerShdw blurRad="38100" dist="38100" dir="2700000" algn="tl">
                    <a:srgbClr val="000000">
                      <a:alpha val="43137"/>
                    </a:srgbClr>
                  </a:outerShdw>
                </a:effectLst>
              </a:rPr>
              <a:t>Regulation No 40/94 </a:t>
            </a:r>
            <a:r>
              <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prohibits registration as </a:t>
            </a:r>
            <a:r>
              <a:rPr lang="pl-PL"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trademarks</a:t>
            </a:r>
            <a:r>
              <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 </a:t>
            </a:r>
            <a:r>
              <a:rPr lang="en-US" b="1" dirty="0">
                <a:solidFill>
                  <a:srgbClr val="002060"/>
                </a:solidFill>
                <a:effectLst>
                  <a:outerShdw blurRad="38100" dist="38100" dir="2700000" algn="tl">
                    <a:srgbClr val="000000">
                      <a:alpha val="43137"/>
                    </a:srgbClr>
                  </a:outerShdw>
                </a:effectLst>
              </a:rPr>
              <a:t>of signs and indications </a:t>
            </a:r>
            <a:r>
              <a:rPr lang="en-US" b="1" u="sng" dirty="0">
                <a:solidFill>
                  <a:srgbClr val="002060"/>
                </a:solidFill>
                <a:effectLst>
                  <a:outerShdw blurRad="38100" dist="38100" dir="2700000" algn="tl">
                    <a:srgbClr val="000000">
                      <a:alpha val="43137"/>
                    </a:srgbClr>
                  </a:outerShdw>
                </a:effectLst>
              </a:rPr>
              <a:t>which may serve, in trade</a:t>
            </a:r>
            <a:r>
              <a:rPr lang="en-US" b="1" dirty="0">
                <a:solidFill>
                  <a:srgbClr val="002060"/>
                </a:solidFill>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to designate the </a:t>
            </a:r>
            <a:r>
              <a:rPr lang="en-US" b="1" i="1" dirty="0">
                <a:solidFill>
                  <a:srgbClr val="FF0000"/>
                </a:solidFill>
                <a:effectLst>
                  <a:outerShdw blurRad="38100" dist="38100" dir="2700000" algn="tl">
                    <a:srgbClr val="000000">
                      <a:alpha val="43137"/>
                    </a:srgbClr>
                  </a:outerShdw>
                </a:effectLst>
                <a:latin typeface="Arial Black" panose="020B0A04020102020204" pitchFamily="34" charset="0"/>
              </a:rPr>
              <a:t>kind, quality, quantity</a:t>
            </a:r>
            <a:r>
              <a:rPr lang="en-US" b="1" i="1" dirty="0">
                <a:solidFill>
                  <a:srgbClr val="FF0000"/>
                </a:solidFill>
                <a:effectLst>
                  <a:outerShdw blurRad="38100" dist="38100" dir="2700000" algn="tl">
                    <a:srgbClr val="000000">
                      <a:alpha val="43137"/>
                    </a:srgbClr>
                  </a:outerShdw>
                </a:effectLst>
              </a:rPr>
              <a:t>, intended </a:t>
            </a:r>
            <a:r>
              <a:rPr lang="en-US" b="1" i="1" dirty="0">
                <a:solidFill>
                  <a:srgbClr val="FF0000"/>
                </a:solidFill>
                <a:effectLst>
                  <a:outerShdw blurRad="38100" dist="38100" dir="2700000" algn="tl">
                    <a:srgbClr val="000000">
                      <a:alpha val="43137"/>
                    </a:srgbClr>
                  </a:outerShdw>
                </a:effectLst>
                <a:latin typeface="Arial Black" panose="020B0A04020102020204" pitchFamily="34" charset="0"/>
              </a:rPr>
              <a:t>purpose, value</a:t>
            </a:r>
            <a:r>
              <a:rPr lang="en-US" b="1" i="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 geographical origin or the </a:t>
            </a:r>
            <a:r>
              <a:rPr lang="en-US" b="1" dirty="0">
                <a:solidFill>
                  <a:srgbClr val="FF0000"/>
                </a:solidFill>
                <a:effectLst>
                  <a:outerShdw blurRad="38100" dist="38100" dir="2700000" algn="tl">
                    <a:srgbClr val="000000">
                      <a:alpha val="43137"/>
                    </a:srgbClr>
                  </a:outerShdw>
                </a:effectLst>
                <a:latin typeface="Arial Black" panose="020B0A04020102020204" pitchFamily="34" charset="0"/>
              </a:rPr>
              <a:t>time of production </a:t>
            </a:r>
            <a:r>
              <a:rPr lang="en-US" b="1" dirty="0">
                <a:solidFill>
                  <a:srgbClr val="FF0000"/>
                </a:solidFill>
                <a:effectLst>
                  <a:outerShdw blurRad="38100" dist="38100" dir="2700000" algn="tl">
                    <a:srgbClr val="000000">
                      <a:alpha val="43137"/>
                    </a:srgbClr>
                  </a:outerShdw>
                </a:effectLst>
              </a:rPr>
              <a:t>of the goods or of rendering of the service, or other characteristics of the goods or service</a:t>
            </a:r>
            <a:r>
              <a:rPr lang="en-US" b="1" dirty="0">
                <a:effectLst>
                  <a:outerShdw blurRad="38100" dist="38100" dir="2700000" algn="tl">
                    <a:srgbClr val="000000">
                      <a:alpha val="43137"/>
                    </a:srgbClr>
                  </a:outerShdw>
                </a:effectLst>
              </a:rPr>
              <a:t>’</a:t>
            </a:r>
            <a:r>
              <a:rPr lang="en-US" dirty="0">
                <a:effectLst>
                  <a:outerShdw blurRad="38100" dist="38100" dir="2700000" algn="tl">
                    <a:srgbClr val="000000">
                      <a:alpha val="43137"/>
                    </a:srgbClr>
                  </a:outerShdw>
                </a:effectLst>
              </a:rPr>
              <a:t> </a:t>
            </a:r>
            <a:endParaRPr lang="pl-PL"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831123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pl-PL" b="1" dirty="0">
                <a:effectLst>
                  <a:outerShdw blurRad="38100" dist="38100" dir="2700000" algn="tl">
                    <a:srgbClr val="000000">
                      <a:alpha val="43137"/>
                    </a:srgbClr>
                  </a:outerShdw>
                </a:effectLst>
              </a:rPr>
              <a:t>A</a:t>
            </a:r>
            <a:r>
              <a:rPr lang="en-US" b="1" dirty="0">
                <a:effectLst>
                  <a:outerShdw blurRad="38100" dist="38100" dir="2700000" algn="tl">
                    <a:srgbClr val="000000">
                      <a:alpha val="43137"/>
                    </a:srgbClr>
                  </a:outerShdw>
                </a:effectLst>
              </a:rPr>
              <a:t> sign will be </a:t>
            </a:r>
            <a:r>
              <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descriptive</a:t>
            </a:r>
            <a:r>
              <a:rPr lang="en-US" b="1" dirty="0">
                <a:effectLst>
                  <a:outerShdw blurRad="38100" dist="38100" dir="2700000" algn="tl">
                    <a:srgbClr val="000000">
                      <a:alpha val="43137"/>
                    </a:srgbClr>
                  </a:outerShdw>
                </a:effectLst>
              </a:rPr>
              <a:t> if there is a sufficiently direct and </a:t>
            </a:r>
            <a:r>
              <a:rPr lang="en-US" b="1" dirty="0">
                <a:solidFill>
                  <a:srgbClr val="002060"/>
                </a:solidFill>
                <a:effectLst>
                  <a:outerShdw blurRad="38100" dist="38100" dir="2700000" algn="tl">
                    <a:srgbClr val="000000">
                      <a:alpha val="43137"/>
                    </a:srgbClr>
                  </a:outerShdw>
                </a:effectLst>
              </a:rPr>
              <a:t>specific relationship </a:t>
            </a:r>
            <a:r>
              <a:rPr lang="en-US" b="1" dirty="0">
                <a:effectLst>
                  <a:outerShdw blurRad="38100" dist="38100" dir="2700000" algn="tl">
                    <a:srgbClr val="000000">
                      <a:alpha val="43137"/>
                    </a:srgbClr>
                  </a:outerShdw>
                </a:effectLst>
              </a:rPr>
              <a:t>between the sign and the goods and services in question </a:t>
            </a:r>
            <a:r>
              <a:rPr lang="en-US" b="1" dirty="0">
                <a:solidFill>
                  <a:srgbClr val="FF0000"/>
                </a:solidFill>
                <a:effectLst>
                  <a:outerShdw blurRad="38100" dist="38100" dir="2700000" algn="tl">
                    <a:srgbClr val="000000">
                      <a:alpha val="43137"/>
                    </a:srgbClr>
                  </a:outerShdw>
                </a:effectLst>
              </a:rPr>
              <a:t>to enable the public concerned immediately to perceive, </a:t>
            </a:r>
            <a:r>
              <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without further thoug</a:t>
            </a:r>
            <a:r>
              <a:rPr lang="en-US" b="1" dirty="0">
                <a:solidFill>
                  <a:srgbClr val="FF0000"/>
                </a:solidFill>
                <a:effectLst>
                  <a:outerShdw blurRad="38100" dist="38100" dir="2700000" algn="tl">
                    <a:srgbClr val="000000">
                      <a:alpha val="43137"/>
                    </a:srgbClr>
                  </a:outerShdw>
                </a:effectLst>
                <a:latin typeface="Arial Black" panose="020B0A04020102020204" pitchFamily="34" charset="0"/>
              </a:rPr>
              <a:t>ht</a:t>
            </a:r>
            <a:r>
              <a:rPr lang="en-US" b="1" dirty="0">
                <a:solidFill>
                  <a:srgbClr val="00206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a description of one of the characteristics of the goods and services in question </a:t>
            </a:r>
            <a:r>
              <a:rPr lang="en-US" b="1" dirty="0">
                <a:effectLst>
                  <a:outerShdw blurRad="38100" dist="38100" dir="2700000" algn="tl">
                    <a:srgbClr val="000000">
                      <a:alpha val="43137"/>
                    </a:srgbClr>
                  </a:outerShdw>
                </a:effectLst>
              </a:rPr>
              <a:t>(</a:t>
            </a:r>
            <a:r>
              <a:rPr lang="pl-PL" b="1" dirty="0">
                <a:effectLst>
                  <a:outerShdw blurRad="38100" dist="38100" dir="2700000" algn="tl">
                    <a:srgbClr val="000000">
                      <a:alpha val="43137"/>
                    </a:srgbClr>
                  </a:outerShdw>
                </a:effectLst>
              </a:rPr>
              <a:t>cases </a:t>
            </a:r>
            <a:r>
              <a:rPr lang="en-US" b="1" i="1" dirty="0">
                <a:effectLst>
                  <a:outerShdw blurRad="38100" dist="38100" dir="2700000" algn="tl">
                    <a:srgbClr val="000000">
                      <a:alpha val="43137"/>
                    </a:srgbClr>
                  </a:outerShdw>
                </a:effectLst>
              </a:rPr>
              <a:t>EUROPIG</a:t>
            </a:r>
            <a:r>
              <a:rPr lang="en-US" b="1" dirty="0">
                <a:effectLst>
                  <a:outerShdw blurRad="38100" dist="38100" dir="2700000" algn="tl">
                    <a:srgbClr val="000000">
                      <a:alpha val="43137"/>
                    </a:srgbClr>
                  </a:outerShdw>
                </a:effectLst>
              </a:rPr>
              <a:t>, paragraph 27, and </a:t>
            </a:r>
            <a:r>
              <a:rPr lang="en-US" b="1" i="1" dirty="0">
                <a:effectLst>
                  <a:outerShdw blurRad="38100" dist="38100" dir="2700000" algn="tl">
                    <a:srgbClr val="000000">
                      <a:alpha val="43137"/>
                    </a:srgbClr>
                  </a:outerShdw>
                </a:effectLst>
              </a:rPr>
              <a:t>STEADYCONTROL</a:t>
            </a:r>
            <a:r>
              <a:rPr lang="pl-PL" b="1" dirty="0">
                <a:effectLst>
                  <a:outerShdw blurRad="38100" dist="38100" dir="2700000" algn="tl">
                    <a:srgbClr val="000000">
                      <a:alpha val="43137"/>
                    </a:srgbClr>
                  </a:outerShdw>
                </a:effectLst>
              </a:rPr>
              <a:t>)</a:t>
            </a:r>
            <a:r>
              <a:rPr lang="en-US" b="1" dirty="0">
                <a:effectLst>
                  <a:outerShdw blurRad="38100" dist="38100" dir="2700000" algn="tl">
                    <a:srgbClr val="000000">
                      <a:alpha val="43137"/>
                    </a:srgbClr>
                  </a:outerShdw>
                </a:effectLst>
              </a:rPr>
              <a:t> </a:t>
            </a:r>
            <a:endParaRPr lang="pl-PL"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306652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pl-PL" sz="2800" b="1" dirty="0">
                <a:solidFill>
                  <a:srgbClr val="FF0000"/>
                </a:solidFill>
                <a:effectLst>
                  <a:outerShdw blurRad="38100" dist="38100" dir="2700000" algn="tl">
                    <a:srgbClr val="000000">
                      <a:alpha val="43137"/>
                    </a:srgbClr>
                  </a:outerShdw>
                </a:effectLst>
                <a:latin typeface="Arial Black" panose="020B0A04020102020204" pitchFamily="34" charset="0"/>
              </a:rPr>
              <a:t>T</a:t>
            </a:r>
            <a:r>
              <a:rPr lang="en-US" sz="2800" b="1" dirty="0">
                <a:solidFill>
                  <a:srgbClr val="FF0000"/>
                </a:solidFill>
                <a:effectLst>
                  <a:outerShdw blurRad="38100" dist="38100" dir="2700000" algn="tl">
                    <a:srgbClr val="000000">
                      <a:alpha val="43137"/>
                    </a:srgbClr>
                  </a:outerShdw>
                </a:effectLst>
                <a:latin typeface="Arial Black" panose="020B0A04020102020204" pitchFamily="34" charset="0"/>
              </a:rPr>
              <a:t>he descriptiveness </a:t>
            </a:r>
            <a:r>
              <a:rPr lang="en-US" sz="2800" b="1" dirty="0">
                <a:effectLst>
                  <a:outerShdw blurRad="38100" dist="38100" dir="2700000" algn="tl">
                    <a:srgbClr val="000000">
                      <a:alpha val="43137"/>
                    </a:srgbClr>
                  </a:outerShdw>
                </a:effectLst>
              </a:rPr>
              <a:t>of a sign may be assessed, </a:t>
            </a:r>
            <a:endParaRPr lang="pl-PL" sz="2800" b="1" dirty="0">
              <a:effectLst>
                <a:outerShdw blurRad="38100" dist="38100" dir="2700000" algn="tl">
                  <a:srgbClr val="000000">
                    <a:alpha val="43137"/>
                  </a:srgbClr>
                </a:outerShdw>
              </a:effectLst>
            </a:endParaRPr>
          </a:p>
          <a:p>
            <a:r>
              <a:rPr lang="en-US" sz="2800" b="1" dirty="0">
                <a:effectLst>
                  <a:outerShdw blurRad="38100" dist="38100" dir="2700000" algn="tl">
                    <a:srgbClr val="000000">
                      <a:alpha val="43137"/>
                    </a:srgbClr>
                  </a:outerShdw>
                </a:effectLst>
              </a:rPr>
              <a:t>A mark’s </a:t>
            </a:r>
            <a:r>
              <a:rPr lang="en-US" sz="2800" b="1" dirty="0">
                <a:solidFill>
                  <a:srgbClr val="FF0000"/>
                </a:solidFill>
                <a:effectLst>
                  <a:outerShdw blurRad="38100" dist="38100" dir="2700000" algn="tl">
                    <a:srgbClr val="000000">
                      <a:alpha val="43137"/>
                    </a:srgbClr>
                  </a:outerShdw>
                </a:effectLst>
                <a:highlight>
                  <a:srgbClr val="FFFF00"/>
                </a:highlight>
              </a:rPr>
              <a:t>descriptive character </a:t>
            </a:r>
            <a:r>
              <a:rPr lang="en-US" sz="2800" b="1" dirty="0">
                <a:effectLst>
                  <a:outerShdw blurRad="38100" dist="38100" dir="2700000" algn="tl">
                    <a:srgbClr val="000000">
                      <a:alpha val="43137"/>
                    </a:srgbClr>
                  </a:outerShdw>
                </a:effectLst>
              </a:rPr>
              <a:t>must be assessed in relation to the presumed perception of </a:t>
            </a:r>
            <a:r>
              <a:rPr lang="en-US" sz="2800" b="1" dirty="0">
                <a:solidFill>
                  <a:srgbClr val="FF0000"/>
                </a:solidFill>
                <a:effectLst>
                  <a:outerShdw blurRad="38100" dist="38100" dir="2700000" algn="tl">
                    <a:srgbClr val="000000">
                      <a:alpha val="43137"/>
                    </a:srgbClr>
                  </a:outerShdw>
                </a:effectLst>
              </a:rPr>
              <a:t>an average consumer </a:t>
            </a:r>
            <a:r>
              <a:rPr lang="en-US" sz="2800" b="1" dirty="0">
                <a:effectLst>
                  <a:outerShdw blurRad="38100" dist="38100" dir="2700000" algn="tl">
                    <a:srgbClr val="000000">
                      <a:alpha val="43137"/>
                    </a:srgbClr>
                  </a:outerShdw>
                </a:effectLst>
              </a:rPr>
              <a:t>of the category of goods in question, who is </a:t>
            </a:r>
            <a:r>
              <a:rPr lang="en-US" sz="2800" b="1" dirty="0">
                <a:solidFill>
                  <a:srgbClr val="FF0000"/>
                </a:solidFill>
                <a:effectLst>
                  <a:outerShdw blurRad="38100" dist="38100" dir="2700000" algn="tl">
                    <a:srgbClr val="000000">
                      <a:alpha val="43137"/>
                    </a:srgbClr>
                  </a:outerShdw>
                </a:effectLst>
                <a:highlight>
                  <a:srgbClr val="FFFF00"/>
                </a:highlight>
              </a:rPr>
              <a:t>reasonably well informed and reasonably observant and circumspect </a:t>
            </a:r>
            <a:endParaRPr lang="pl-PL" sz="2800" b="1" dirty="0">
              <a:solidFill>
                <a:srgbClr val="FF0000"/>
              </a:solidFill>
              <a:effectLst>
                <a:outerShdw blurRad="38100" dist="38100" dir="2700000" algn="tl">
                  <a:srgbClr val="000000">
                    <a:alpha val="43137"/>
                  </a:srgbClr>
                </a:outerShdw>
              </a:effectLst>
              <a:highlight>
                <a:srgbClr val="FFFF00"/>
              </a:highlight>
            </a:endParaRPr>
          </a:p>
          <a:p>
            <a:pPr marL="0" indent="0">
              <a:buNone/>
            </a:pPr>
            <a:endParaRPr lang="pl-PL" dirty="0"/>
          </a:p>
        </p:txBody>
      </p:sp>
    </p:spTree>
    <p:extLst>
      <p:ext uri="{BB962C8B-B14F-4D97-AF65-F5344CB8AC3E}">
        <p14:creationId xmlns:p14="http://schemas.microsoft.com/office/powerpoint/2010/main" val="152204922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r>
              <a:rPr lang="en-US" sz="3600" b="1" dirty="0">
                <a:effectLst>
                  <a:outerShdw blurRad="38100" dist="38100" dir="2700000" algn="tl">
                    <a:srgbClr val="000000">
                      <a:alpha val="43137"/>
                    </a:srgbClr>
                  </a:outerShdw>
                </a:effectLst>
              </a:rPr>
              <a:t>In the present case, the goods in question are </a:t>
            </a:r>
            <a:r>
              <a:rPr lang="en-US" sz="3600" b="1" dirty="0">
                <a:solidFill>
                  <a:srgbClr val="FF0000"/>
                </a:solidFill>
                <a:effectLst>
                  <a:outerShdw blurRad="38100" dist="38100" dir="2700000" algn="tl">
                    <a:srgbClr val="000000">
                      <a:alpha val="43137"/>
                    </a:srgbClr>
                  </a:outerShdw>
                </a:effectLst>
                <a:highlight>
                  <a:srgbClr val="00FF00"/>
                </a:highlight>
              </a:rPr>
              <a:t>beer, wine, spirits, liqueurs, sparkling </a:t>
            </a:r>
            <a:r>
              <a:rPr lang="en-US" sz="3600" b="1" dirty="0">
                <a:effectLst>
                  <a:outerShdw blurRad="38100" dist="38100" dir="2700000" algn="tl">
                    <a:srgbClr val="000000">
                      <a:alpha val="43137"/>
                    </a:srgbClr>
                  </a:outerShdw>
                </a:effectLst>
                <a:highlight>
                  <a:srgbClr val="00FF00"/>
                </a:highlight>
              </a:rPr>
              <a:t>beverages, sparkling wine and champagne</a:t>
            </a:r>
            <a:endParaRPr lang="pl-PL" sz="3600" b="1" dirty="0">
              <a:effectLst>
                <a:outerShdw blurRad="38100" dist="38100" dir="2700000" algn="tl">
                  <a:srgbClr val="000000">
                    <a:alpha val="43137"/>
                  </a:srgbClr>
                </a:outerShdw>
              </a:effectLst>
              <a:highlight>
                <a:srgbClr val="00FF00"/>
              </a:highlight>
            </a:endParaRPr>
          </a:p>
          <a:p>
            <a:r>
              <a:rPr lang="en-US" sz="3600" b="1" dirty="0">
                <a:effectLst>
                  <a:outerShdw blurRad="38100" dist="38100" dir="2700000" algn="tl">
                    <a:srgbClr val="000000">
                      <a:alpha val="43137"/>
                    </a:srgbClr>
                  </a:outerShdw>
                </a:effectLst>
              </a:rPr>
              <a:t>The relevant public therefore consists of the </a:t>
            </a:r>
            <a:r>
              <a:rPr lang="en-US" sz="3600" b="1" dirty="0">
                <a:solidFill>
                  <a:srgbClr val="FF0000"/>
                </a:solidFill>
                <a:effectLst>
                  <a:outerShdw blurRad="38100" dist="38100" dir="2700000" algn="tl">
                    <a:srgbClr val="000000">
                      <a:alpha val="43137"/>
                    </a:srgbClr>
                  </a:outerShdw>
                </a:effectLst>
                <a:highlight>
                  <a:srgbClr val="00FF00"/>
                </a:highlight>
              </a:rPr>
              <a:t>average consumer of that type of goods</a:t>
            </a:r>
            <a:endParaRPr lang="pl-PL" sz="3600" dirty="0">
              <a:solidFill>
                <a:srgbClr val="FF0000"/>
              </a:solidFill>
              <a:effectLst>
                <a:outerShdw blurRad="38100" dist="38100" dir="2700000" algn="tl">
                  <a:srgbClr val="000000">
                    <a:alpha val="43137"/>
                  </a:srgbClr>
                </a:outerShdw>
              </a:effectLst>
              <a:highlight>
                <a:srgbClr val="00FF00"/>
              </a:highlight>
            </a:endParaRPr>
          </a:p>
        </p:txBody>
      </p:sp>
    </p:spTree>
    <p:extLst>
      <p:ext uri="{BB962C8B-B14F-4D97-AF65-F5344CB8AC3E}">
        <p14:creationId xmlns:p14="http://schemas.microsoft.com/office/powerpoint/2010/main" val="25627407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en-US" sz="3600" b="1" dirty="0">
                <a:solidFill>
                  <a:srgbClr val="FF0000"/>
                </a:solidFill>
                <a:effectLst>
                  <a:outerShdw blurRad="38100" dist="38100" dir="2700000" algn="tl">
                    <a:srgbClr val="000000">
                      <a:alpha val="43137"/>
                    </a:srgbClr>
                  </a:outerShdw>
                </a:effectLst>
              </a:rPr>
              <a:t>Contrary to what the applicant maintains</a:t>
            </a:r>
            <a:r>
              <a:rPr lang="en-US" sz="3600" b="1" dirty="0">
                <a:solidFill>
                  <a:srgbClr val="002060"/>
                </a:solidFill>
                <a:effectLst>
                  <a:outerShdw blurRad="38100" dist="38100" dir="2700000" algn="tl">
                    <a:srgbClr val="000000">
                      <a:alpha val="43137"/>
                    </a:srgbClr>
                  </a:outerShdw>
                </a:effectLst>
              </a:rPr>
              <a:t>, the Board of Appeal does </a:t>
            </a:r>
            <a:r>
              <a:rPr lang="en-US" sz="3600" b="1" dirty="0">
                <a:solidFill>
                  <a:srgbClr val="FF0000"/>
                </a:solidFill>
                <a:effectLst>
                  <a:outerShdw blurRad="38100" dist="38100" dir="2700000" algn="tl">
                    <a:srgbClr val="000000">
                      <a:alpha val="43137"/>
                    </a:srgbClr>
                  </a:outerShdw>
                </a:effectLst>
              </a:rPr>
              <a:t>not,</a:t>
            </a:r>
            <a:r>
              <a:rPr lang="en-US" sz="3600" b="1" dirty="0">
                <a:solidFill>
                  <a:srgbClr val="002060"/>
                </a:solidFill>
                <a:effectLst>
                  <a:outerShdw blurRad="38100" dist="38100" dir="2700000" algn="tl">
                    <a:srgbClr val="000000">
                      <a:alpha val="43137"/>
                    </a:srgbClr>
                  </a:outerShdw>
                </a:effectLst>
              </a:rPr>
              <a:t> in the contested decision, identify </a:t>
            </a:r>
            <a:r>
              <a:rPr lang="en-US" sz="3600" b="1" dirty="0">
                <a:solidFill>
                  <a:srgbClr val="FF0000"/>
                </a:solidFill>
                <a:effectLst>
                  <a:outerShdw blurRad="38100" dist="38100" dir="2700000" algn="tl">
                    <a:srgbClr val="000000">
                      <a:alpha val="43137"/>
                    </a:srgbClr>
                  </a:outerShdw>
                </a:effectLst>
                <a:highlight>
                  <a:srgbClr val="00FF00"/>
                </a:highlight>
              </a:rPr>
              <a:t>the average consumer</a:t>
            </a:r>
            <a:r>
              <a:rPr lang="en-US" sz="3600" b="1" dirty="0">
                <a:solidFill>
                  <a:srgbClr val="FF0000"/>
                </a:solidFill>
                <a:effectLst>
                  <a:outerShdw blurRad="38100" dist="38100" dir="2700000" algn="tl">
                    <a:srgbClr val="000000">
                      <a:alpha val="43137"/>
                    </a:srgbClr>
                  </a:outerShdw>
                </a:effectLst>
              </a:rPr>
              <a:t> as a consumer of narcotics</a:t>
            </a:r>
            <a:r>
              <a:rPr lang="en-US" sz="3600" b="1" dirty="0">
                <a:solidFill>
                  <a:srgbClr val="002060"/>
                </a:solidFill>
                <a:effectLst>
                  <a:outerShdw blurRad="38100" dist="38100" dir="2700000" algn="tl">
                    <a:srgbClr val="000000">
                      <a:alpha val="43137"/>
                    </a:srgbClr>
                  </a:outerShdw>
                </a:effectLst>
              </a:rPr>
              <a:t>, seeking the same sensations as those obtained during the consumption of cannabis, or with a ‘</a:t>
            </a:r>
            <a:r>
              <a:rPr lang="en-US" sz="3600" b="1" dirty="0">
                <a:solidFill>
                  <a:srgbClr val="FF0000"/>
                </a:solidFill>
                <a:effectLst>
                  <a:outerShdw blurRad="38100" dist="38100" dir="2700000" algn="tl">
                    <a:srgbClr val="000000">
                      <a:alpha val="43137"/>
                    </a:srgbClr>
                  </a:outerShdw>
                </a:effectLst>
              </a:rPr>
              <a:t>habitual alcoholic</a:t>
            </a:r>
            <a:r>
              <a:rPr lang="en-US" sz="3600" b="1" dirty="0">
                <a:solidFill>
                  <a:srgbClr val="002060"/>
                </a:solidFill>
                <a:effectLst>
                  <a:outerShdw blurRad="38100" dist="38100" dir="2700000" algn="tl">
                    <a:srgbClr val="000000">
                      <a:alpha val="43137"/>
                    </a:srgbClr>
                  </a:outerShdw>
                </a:effectLst>
              </a:rPr>
              <a:t>’ </a:t>
            </a:r>
            <a:endParaRPr lang="pl-PL" sz="3600"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053404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a:xfrm>
            <a:off x="457200" y="1600200"/>
            <a:ext cx="8229600" cy="4983162"/>
          </a:xfrm>
        </p:spPr>
        <p:txBody>
          <a:bodyPr/>
          <a:lstStyle/>
          <a:p>
            <a:pPr marL="0" indent="0">
              <a:buNone/>
            </a:pPr>
            <a:r>
              <a:rPr lang="en-US" b="1" dirty="0">
                <a:solidFill>
                  <a:srgbClr val="002060"/>
                </a:solidFill>
                <a:effectLst>
                  <a:outerShdw blurRad="38100" dist="38100" dir="2700000" algn="tl">
                    <a:srgbClr val="000000">
                      <a:alpha val="43137"/>
                    </a:srgbClr>
                  </a:outerShdw>
                </a:effectLst>
              </a:rPr>
              <a:t>The statement relating to the </a:t>
            </a:r>
            <a:r>
              <a:rPr lang="en-US" b="1" dirty="0">
                <a:solidFill>
                  <a:srgbClr val="FF0000"/>
                </a:solidFill>
                <a:effectLst>
                  <a:outerShdw blurRad="38100" dist="38100" dir="2700000" algn="tl">
                    <a:srgbClr val="000000">
                      <a:alpha val="43137"/>
                    </a:srgbClr>
                  </a:outerShdw>
                </a:effectLst>
                <a:highlight>
                  <a:srgbClr val="FFFF00"/>
                </a:highlight>
              </a:rPr>
              <a:t>impression</a:t>
            </a:r>
            <a:r>
              <a:rPr lang="en-US" b="1" dirty="0">
                <a:solidFill>
                  <a:srgbClr val="0070C0"/>
                </a:solidFill>
                <a:effectLst>
                  <a:outerShdw blurRad="38100" dist="38100" dir="2700000" algn="tl">
                    <a:srgbClr val="000000">
                      <a:alpha val="43137"/>
                    </a:srgbClr>
                  </a:outerShdw>
                </a:effectLst>
                <a:highlight>
                  <a:srgbClr val="FFFF00"/>
                </a:highlight>
              </a:rPr>
              <a:t> </a:t>
            </a:r>
            <a:r>
              <a:rPr lang="en-US" b="1" dirty="0">
                <a:solidFill>
                  <a:srgbClr val="002060"/>
                </a:solidFill>
                <a:effectLst>
                  <a:outerShdw blurRad="38100" dist="38100" dir="2700000" algn="tl">
                    <a:srgbClr val="000000">
                      <a:alpha val="43137"/>
                    </a:srgbClr>
                  </a:outerShdw>
                </a:effectLst>
              </a:rPr>
              <a:t>which ‘</a:t>
            </a:r>
            <a:r>
              <a:rPr lang="en-US" b="1" dirty="0">
                <a:solidFill>
                  <a:srgbClr val="FF0000"/>
                </a:solidFill>
                <a:effectLst>
                  <a:outerShdw blurRad="38100" dist="38100" dir="2700000" algn="tl">
                    <a:srgbClr val="000000">
                      <a:alpha val="43137"/>
                    </a:srgbClr>
                  </a:outerShdw>
                </a:effectLst>
              </a:rPr>
              <a:t>those who purchase </a:t>
            </a:r>
            <a:r>
              <a:rPr lang="en-US" b="1" u="sng" dirty="0">
                <a:solidFill>
                  <a:srgbClr val="FF0000"/>
                </a:solidFill>
                <a:effectLst>
                  <a:outerShdw blurRad="38100" dist="38100" dir="2700000" algn="tl">
                    <a:srgbClr val="000000">
                      <a:alpha val="43137"/>
                    </a:srgbClr>
                  </a:outerShdw>
                </a:effectLst>
              </a:rPr>
              <a:t>a beer’ </a:t>
            </a:r>
            <a:r>
              <a:rPr lang="en-US" b="1" dirty="0">
                <a:solidFill>
                  <a:srgbClr val="0070C0"/>
                </a:solidFill>
                <a:effectLst>
                  <a:outerShdw blurRad="38100" dist="38100" dir="2700000" algn="tl">
                    <a:srgbClr val="000000">
                      <a:alpha val="43137"/>
                    </a:srgbClr>
                  </a:outerShdw>
                </a:effectLst>
              </a:rPr>
              <a:t>will have </a:t>
            </a:r>
            <a:r>
              <a:rPr lang="en-US" b="1" dirty="0">
                <a:solidFill>
                  <a:srgbClr val="FF0000"/>
                </a:solidFill>
                <a:effectLst>
                  <a:outerShdw blurRad="38100" dist="38100" dir="2700000" algn="tl">
                    <a:srgbClr val="000000">
                      <a:alpha val="43137"/>
                    </a:srgbClr>
                  </a:outerShdw>
                </a:effectLst>
              </a:rPr>
              <a:t>when they see the word mark CANNABIS</a:t>
            </a:r>
            <a:r>
              <a:rPr lang="en-US" b="1"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relates to </a:t>
            </a:r>
            <a:r>
              <a:rPr lang="en-US" b="1" dirty="0">
                <a:solidFill>
                  <a:srgbClr val="002060"/>
                </a:solidFill>
                <a:effectLst>
                  <a:outerShdw blurRad="38100" dist="38100" dir="2700000" algn="tl">
                    <a:srgbClr val="000000">
                      <a:alpha val="43137"/>
                    </a:srgbClr>
                  </a:outerShdw>
                </a:effectLst>
              </a:rPr>
              <a:t>the examination of </a:t>
            </a:r>
            <a:r>
              <a:rPr lang="en-US" b="1" dirty="0">
                <a:solidFill>
                  <a:srgbClr val="FF0000"/>
                </a:solidFill>
                <a:effectLst>
                  <a:outerShdw blurRad="38100" dist="38100" dir="2700000" algn="tl">
                    <a:srgbClr val="000000">
                      <a:alpha val="43137"/>
                    </a:srgbClr>
                  </a:outerShdw>
                </a:effectLst>
              </a:rPr>
              <a:t>the descriptive character </a:t>
            </a:r>
            <a:r>
              <a:rPr lang="en-US" b="1" dirty="0">
                <a:solidFill>
                  <a:srgbClr val="002060"/>
                </a:solidFill>
                <a:effectLst>
                  <a:outerShdw blurRad="38100" dist="38100" dir="2700000" algn="tl">
                    <a:srgbClr val="000000">
                      <a:alpha val="43137"/>
                    </a:srgbClr>
                  </a:outerShdw>
                </a:effectLst>
              </a:rPr>
              <a:t>which </a:t>
            </a:r>
            <a:r>
              <a:rPr lang="en-US" b="1" u="sng" dirty="0">
                <a:solidFill>
                  <a:srgbClr val="002060"/>
                </a:solidFill>
                <a:effectLst>
                  <a:outerShdw blurRad="38100" dist="38100" dir="2700000" algn="tl">
                    <a:srgbClr val="000000">
                      <a:alpha val="43137"/>
                    </a:srgbClr>
                  </a:outerShdw>
                </a:effectLst>
                <a:highlight>
                  <a:srgbClr val="FFFF00"/>
                </a:highlight>
              </a:rPr>
              <a:t>the sign at issue </a:t>
            </a:r>
            <a:r>
              <a:rPr lang="en-US" b="1" dirty="0">
                <a:solidFill>
                  <a:srgbClr val="002060"/>
                </a:solidFill>
                <a:effectLst>
                  <a:outerShdw blurRad="38100" dist="38100" dir="2700000" algn="tl">
                    <a:srgbClr val="000000">
                      <a:alpha val="43137"/>
                    </a:srgbClr>
                  </a:outerShdw>
                </a:effectLst>
              </a:rPr>
              <a:t>has </a:t>
            </a:r>
            <a:r>
              <a:rPr lang="en-US" b="1" u="sng" dirty="0">
                <a:solidFill>
                  <a:srgbClr val="002060"/>
                </a:solidFill>
                <a:effectLst>
                  <a:outerShdw blurRad="38100" dist="38100" dir="2700000" algn="tl">
                    <a:srgbClr val="000000">
                      <a:alpha val="43137"/>
                    </a:srgbClr>
                  </a:outerShdw>
                </a:effectLst>
              </a:rPr>
              <a:t>in the eyes of </a:t>
            </a:r>
            <a:r>
              <a:rPr lang="en-US" b="1" u="sng" dirty="0">
                <a:solidFill>
                  <a:srgbClr val="FF0000"/>
                </a:solidFill>
                <a:effectLst>
                  <a:outerShdw blurRad="38100" dist="38100" dir="2700000" algn="tl">
                    <a:srgbClr val="000000">
                      <a:alpha val="43137"/>
                    </a:srgbClr>
                  </a:outerShdw>
                </a:effectLst>
              </a:rPr>
              <a:t>a beer consumer</a:t>
            </a:r>
            <a:r>
              <a:rPr lang="en-US" b="1" dirty="0">
                <a:solidFill>
                  <a:srgbClr val="FF0000"/>
                </a:solidFill>
                <a:effectLst>
                  <a:outerShdw blurRad="38100" dist="38100" dir="2700000" algn="tl">
                    <a:srgbClr val="000000">
                      <a:alpha val="43137"/>
                    </a:srgbClr>
                  </a:outerShdw>
                </a:effectLst>
              </a:rPr>
              <a:t> and </a:t>
            </a:r>
            <a:r>
              <a:rPr lang="en-US" b="1" dirty="0">
                <a:solidFill>
                  <a:srgbClr val="FF0000"/>
                </a:solidFill>
                <a:effectLst>
                  <a:outerShdw blurRad="38100" dist="38100" dir="2700000" algn="tl">
                    <a:srgbClr val="000000">
                      <a:alpha val="43137"/>
                    </a:srgbClr>
                  </a:outerShdw>
                </a:effectLst>
                <a:highlight>
                  <a:srgbClr val="FFFF00"/>
                </a:highlight>
              </a:rPr>
              <a:t>not</a:t>
            </a:r>
            <a:r>
              <a:rPr lang="en-US" b="1" dirty="0">
                <a:solidFill>
                  <a:srgbClr val="FF0000"/>
                </a:solidFill>
                <a:effectLst>
                  <a:outerShdw blurRad="38100" dist="38100" dir="2700000" algn="tl">
                    <a:srgbClr val="000000">
                      <a:alpha val="43137"/>
                    </a:srgbClr>
                  </a:outerShdw>
                </a:effectLst>
              </a:rPr>
              <a:t> to the definition of the average consumer</a:t>
            </a:r>
            <a:endParaRPr lang="pl-PL" b="1" dirty="0">
              <a:solidFill>
                <a:srgbClr val="FF0000"/>
              </a:solidFill>
              <a:effectLst>
                <a:outerShdw blurRad="38100" dist="38100" dir="2700000" algn="tl">
                  <a:srgbClr val="000000">
                    <a:alpha val="43137"/>
                  </a:srgbClr>
                </a:outerShdw>
              </a:effectLst>
            </a:endParaRPr>
          </a:p>
          <a:p>
            <a:pPr marL="0" indent="0">
              <a:buNone/>
            </a:pPr>
            <a:endParaRPr lang="pl-PL" dirty="0"/>
          </a:p>
        </p:txBody>
      </p:sp>
    </p:spTree>
    <p:extLst>
      <p:ext uri="{BB962C8B-B14F-4D97-AF65-F5344CB8AC3E}">
        <p14:creationId xmlns:p14="http://schemas.microsoft.com/office/powerpoint/2010/main" val="364452588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a:xfrm>
            <a:off x="457200" y="1600200"/>
            <a:ext cx="8229600" cy="4983162"/>
          </a:xfrm>
        </p:spPr>
        <p:txBody>
          <a:bodyPr/>
          <a:lstStyle/>
          <a:p>
            <a:pPr marL="0" indent="0">
              <a:buNone/>
            </a:pPr>
            <a:r>
              <a:rPr lang="pl-PL" b="1" dirty="0">
                <a:solidFill>
                  <a:srgbClr val="FF0000"/>
                </a:solidFill>
                <a:effectLst>
                  <a:outerShdw blurRad="38100" dist="38100" dir="2700000" algn="tl">
                    <a:srgbClr val="000000">
                      <a:alpha val="43137"/>
                    </a:srgbClr>
                  </a:outerShdw>
                </a:effectLst>
                <a:highlight>
                  <a:srgbClr val="00FF00"/>
                </a:highlight>
              </a:rPr>
              <a:t>I</a:t>
            </a:r>
            <a:r>
              <a:rPr lang="en-US" b="1" dirty="0">
                <a:solidFill>
                  <a:srgbClr val="FF0000"/>
                </a:solidFill>
                <a:effectLst>
                  <a:outerShdw blurRad="38100" dist="38100" dir="2700000" algn="tl">
                    <a:srgbClr val="000000">
                      <a:alpha val="43137"/>
                    </a:srgbClr>
                  </a:outerShdw>
                </a:effectLst>
                <a:highlight>
                  <a:srgbClr val="00FF00"/>
                </a:highlight>
              </a:rPr>
              <a:t>t must be ascertained whether </a:t>
            </a:r>
            <a:r>
              <a:rPr lang="en-US" b="1" dirty="0">
                <a:solidFill>
                  <a:srgbClr val="002060"/>
                </a:solidFill>
                <a:effectLst>
                  <a:outerShdw blurRad="38100" dist="38100" dir="2700000" algn="tl">
                    <a:srgbClr val="000000">
                      <a:alpha val="43137"/>
                    </a:srgbClr>
                  </a:outerShdw>
                </a:effectLst>
              </a:rPr>
              <a:t>the </a:t>
            </a:r>
            <a:r>
              <a:rPr lang="en-US" b="1" dirty="0">
                <a:solidFill>
                  <a:srgbClr val="FF0000"/>
                </a:solidFill>
                <a:effectLst>
                  <a:outerShdw blurRad="38100" dist="38100" dir="2700000" algn="tl">
                    <a:srgbClr val="000000">
                      <a:alpha val="43137"/>
                    </a:srgbClr>
                  </a:outerShdw>
                </a:effectLst>
              </a:rPr>
              <a:t>average consumer</a:t>
            </a:r>
            <a:r>
              <a:rPr lang="en-US" b="1" dirty="0">
                <a:solidFill>
                  <a:srgbClr val="002060"/>
                </a:solidFill>
                <a:effectLst>
                  <a:outerShdw blurRad="38100" dist="38100" dir="2700000" algn="tl">
                    <a:srgbClr val="000000">
                      <a:alpha val="43137"/>
                    </a:srgbClr>
                  </a:outerShdw>
                </a:effectLst>
              </a:rPr>
              <a:t>, who is </a:t>
            </a:r>
            <a:r>
              <a:rPr lang="en-US" b="1" u="sng" dirty="0">
                <a:solidFill>
                  <a:srgbClr val="0070C0"/>
                </a:solidFill>
                <a:effectLst>
                  <a:outerShdw blurRad="38100" dist="38100" dir="2700000" algn="tl">
                    <a:srgbClr val="000000">
                      <a:alpha val="43137"/>
                    </a:srgbClr>
                  </a:outerShdw>
                </a:effectLst>
              </a:rPr>
              <a:t>reasonably well informed </a:t>
            </a:r>
            <a:r>
              <a:rPr lang="en-US" b="1" dirty="0">
                <a:solidFill>
                  <a:srgbClr val="0070C0"/>
                </a:solidFill>
                <a:effectLst>
                  <a:outerShdw blurRad="38100" dist="38100" dir="2700000" algn="tl">
                    <a:srgbClr val="000000">
                      <a:alpha val="43137"/>
                    </a:srgbClr>
                  </a:outerShdw>
                </a:effectLst>
              </a:rPr>
              <a:t>and reasonably observant and circumspect</a:t>
            </a:r>
            <a:r>
              <a:rPr lang="en-US" b="1"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may </a:t>
            </a:r>
            <a:r>
              <a:rPr lang="en-US" b="1" dirty="0">
                <a:solidFill>
                  <a:srgbClr val="FF0000"/>
                </a:solidFill>
                <a:effectLst>
                  <a:outerShdw blurRad="38100" dist="38100" dir="2700000" algn="tl">
                    <a:srgbClr val="000000">
                      <a:alpha val="43137"/>
                    </a:srgbClr>
                  </a:outerShdw>
                </a:effectLst>
                <a:highlight>
                  <a:srgbClr val="FFFF00"/>
                </a:highlight>
              </a:rPr>
              <a:t>think, </a:t>
            </a:r>
            <a:r>
              <a:rPr lang="en-US" b="1" dirty="0">
                <a:solidFill>
                  <a:srgbClr val="FF0000"/>
                </a:solidFill>
                <a:effectLst>
                  <a:outerShdw blurRad="38100" dist="38100" dir="2700000" algn="tl">
                    <a:srgbClr val="000000">
                      <a:alpha val="43137"/>
                    </a:srgbClr>
                  </a:outerShdw>
                </a:effectLst>
              </a:rPr>
              <a:t>merely on seeing a beverage which bears as a </a:t>
            </a:r>
            <a:r>
              <a:rPr lang="pl-PL" b="1" dirty="0">
                <a:solidFill>
                  <a:srgbClr val="FF0000"/>
                </a:solidFill>
                <a:effectLst>
                  <a:outerShdw blurRad="38100" dist="38100" dir="2700000" algn="tl">
                    <a:srgbClr val="000000">
                      <a:alpha val="43137"/>
                    </a:srgbClr>
                  </a:outerShdw>
                </a:effectLst>
              </a:rPr>
              <a:t>trademark</a:t>
            </a:r>
            <a:r>
              <a:rPr lang="en-US" b="1" dirty="0">
                <a:solidFill>
                  <a:srgbClr val="FF0000"/>
                </a:solidFill>
                <a:effectLst>
                  <a:outerShdw blurRad="38100" dist="38100" dir="2700000" algn="tl">
                    <a:srgbClr val="000000">
                      <a:alpha val="43137"/>
                    </a:srgbClr>
                  </a:outerShdw>
                </a:effectLst>
              </a:rPr>
              <a:t> the word sign CANNABIS</a:t>
            </a:r>
            <a:r>
              <a:rPr lang="en-US" b="1" dirty="0">
                <a:solidFill>
                  <a:srgbClr val="002060"/>
                </a:solidFill>
                <a:effectLst>
                  <a:outerShdw blurRad="38100" dist="38100" dir="2700000" algn="tl">
                    <a:srgbClr val="000000">
                      <a:alpha val="43137"/>
                    </a:srgbClr>
                  </a:outerShdw>
                </a:effectLst>
              </a:rPr>
              <a:t>, and no other additional element, </a:t>
            </a:r>
            <a:r>
              <a:rPr lang="en-US" b="1" dirty="0">
                <a:solidFill>
                  <a:srgbClr val="FF0000"/>
                </a:solidFill>
                <a:effectLst>
                  <a:outerShdw blurRad="38100" dist="38100" dir="2700000" algn="tl">
                    <a:srgbClr val="000000">
                      <a:alpha val="43137"/>
                    </a:srgbClr>
                  </a:outerShdw>
                </a:effectLst>
                <a:highlight>
                  <a:srgbClr val="FFFF00"/>
                </a:highlight>
              </a:rPr>
              <a:t>that the mark at issue </a:t>
            </a:r>
            <a:r>
              <a:rPr lang="en-US" b="1" u="sng" dirty="0">
                <a:solidFill>
                  <a:srgbClr val="FF0000"/>
                </a:solidFill>
                <a:effectLst>
                  <a:outerShdw blurRad="38100" dist="38100" dir="2700000" algn="tl">
                    <a:srgbClr val="000000">
                      <a:alpha val="43137"/>
                    </a:srgbClr>
                  </a:outerShdw>
                </a:effectLst>
                <a:highlight>
                  <a:srgbClr val="FFFF00"/>
                </a:highlight>
              </a:rPr>
              <a:t>constitutes a description </a:t>
            </a:r>
            <a:r>
              <a:rPr lang="en-US" b="1" u="sng" dirty="0">
                <a:solidFill>
                  <a:srgbClr val="FF0000"/>
                </a:solidFill>
                <a:effectLst>
                  <a:outerShdw blurRad="38100" dist="38100" dir="2700000" algn="tl">
                    <a:srgbClr val="000000">
                      <a:alpha val="43137"/>
                    </a:srgbClr>
                  </a:outerShdw>
                </a:effectLst>
              </a:rPr>
              <a:t>of the </a:t>
            </a:r>
            <a:r>
              <a:rPr lang="en-US" b="1" u="sng" dirty="0">
                <a:solidFill>
                  <a:srgbClr val="FF0000"/>
                </a:solidFill>
                <a:effectLst>
                  <a:outerShdw blurRad="38100" dist="38100" dir="2700000" algn="tl">
                    <a:srgbClr val="000000">
                      <a:alpha val="43137"/>
                    </a:srgbClr>
                  </a:outerShdw>
                </a:effectLst>
                <a:highlight>
                  <a:srgbClr val="FFFF00"/>
                </a:highlight>
              </a:rPr>
              <a:t>characteristics</a:t>
            </a:r>
            <a:r>
              <a:rPr lang="en-US" b="1" u="sng" dirty="0">
                <a:solidFill>
                  <a:srgbClr val="FF000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of the goods in question </a:t>
            </a:r>
            <a:endParaRPr lang="pl-PL" b="1" dirty="0">
              <a:solidFill>
                <a:srgbClr val="FF0000"/>
              </a:solidFill>
              <a:effectLst>
                <a:outerShdw blurRad="38100" dist="38100" dir="2700000" algn="tl">
                  <a:srgbClr val="000000">
                    <a:alpha val="43137"/>
                  </a:srgbClr>
                </a:outerShdw>
              </a:effectLst>
            </a:endParaRPr>
          </a:p>
          <a:p>
            <a:pPr marL="0" indent="0">
              <a:buNone/>
            </a:pPr>
            <a:endParaRPr lang="pl-PL" dirty="0">
              <a:solidFill>
                <a:srgbClr val="002060"/>
              </a:solidFill>
            </a:endParaRPr>
          </a:p>
        </p:txBody>
      </p:sp>
    </p:spTree>
    <p:extLst>
      <p:ext uri="{BB962C8B-B14F-4D97-AF65-F5344CB8AC3E}">
        <p14:creationId xmlns:p14="http://schemas.microsoft.com/office/powerpoint/2010/main" val="6307331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pl-PL" b="1" dirty="0">
                <a:solidFill>
                  <a:srgbClr val="002060"/>
                </a:solidFill>
                <a:effectLst>
                  <a:outerShdw blurRad="38100" dist="38100" dir="2700000" algn="tl">
                    <a:srgbClr val="000000">
                      <a:alpha val="43137"/>
                    </a:srgbClr>
                  </a:outerShdw>
                </a:effectLst>
              </a:rPr>
              <a:t>T</a:t>
            </a:r>
            <a:r>
              <a:rPr lang="en-US" b="1" dirty="0">
                <a:solidFill>
                  <a:srgbClr val="002060"/>
                </a:solidFill>
                <a:effectLst>
                  <a:outerShdw blurRad="38100" dist="38100" dir="2700000" algn="tl">
                    <a:srgbClr val="000000">
                      <a:alpha val="43137"/>
                    </a:srgbClr>
                  </a:outerShdw>
                </a:effectLst>
              </a:rPr>
              <a:t>here is a </a:t>
            </a:r>
            <a:r>
              <a:rPr lang="en-US" b="1" dirty="0">
                <a:solidFill>
                  <a:srgbClr val="FF0000"/>
                </a:solidFill>
                <a:effectLst>
                  <a:outerShdw blurRad="38100" dist="38100" dir="2700000" algn="tl">
                    <a:srgbClr val="000000">
                      <a:alpha val="43137"/>
                    </a:srgbClr>
                  </a:outerShdw>
                </a:effectLst>
              </a:rPr>
              <a:t>material link </a:t>
            </a:r>
            <a:r>
              <a:rPr lang="en-US" b="1" dirty="0">
                <a:solidFill>
                  <a:srgbClr val="002060"/>
                </a:solidFill>
                <a:effectLst>
                  <a:outerShdw blurRad="38100" dist="38100" dir="2700000" algn="tl">
                    <a:srgbClr val="000000">
                      <a:alpha val="43137"/>
                    </a:srgbClr>
                  </a:outerShdw>
                </a:effectLst>
              </a:rPr>
              <a:t>between the sign CANNABIS and certain </a:t>
            </a:r>
            <a:r>
              <a:rPr lang="en-US" b="1" dirty="0">
                <a:solidFill>
                  <a:srgbClr val="FF0000"/>
                </a:solidFill>
                <a:effectLst>
                  <a:outerShdw blurRad="38100" dist="38100" dir="2700000" algn="tl">
                    <a:srgbClr val="000000">
                      <a:alpha val="43137"/>
                    </a:srgbClr>
                  </a:outerShdw>
                </a:effectLst>
              </a:rPr>
              <a:t>characteristics </a:t>
            </a:r>
            <a:r>
              <a:rPr lang="en-US" b="1" dirty="0">
                <a:solidFill>
                  <a:srgbClr val="002060"/>
                </a:solidFill>
                <a:effectLst>
                  <a:outerShdw blurRad="38100" dist="38100" dir="2700000" algn="tl">
                    <a:srgbClr val="000000">
                      <a:alpha val="43137"/>
                    </a:srgbClr>
                  </a:outerShdw>
                </a:effectLst>
              </a:rPr>
              <a:t>of the abovementioned goods</a:t>
            </a:r>
            <a:endParaRPr lang="pl-PL" b="1" dirty="0">
              <a:solidFill>
                <a:srgbClr val="002060"/>
              </a:solidFill>
              <a:effectLst>
                <a:outerShdw blurRad="38100" dist="38100" dir="2700000" algn="tl">
                  <a:srgbClr val="000000">
                    <a:alpha val="43137"/>
                  </a:srgbClr>
                </a:outerShdw>
              </a:effectLst>
            </a:endParaRPr>
          </a:p>
          <a:p>
            <a:pPr marL="0" indent="0">
              <a:buNone/>
            </a:pPr>
            <a:r>
              <a:rPr lang="en-US" b="1" dirty="0">
                <a:solidFill>
                  <a:srgbClr val="FF0000"/>
                </a:solidFill>
                <a:effectLst>
                  <a:outerShdw blurRad="38100" dist="38100" dir="2700000" algn="tl">
                    <a:srgbClr val="000000">
                      <a:alpha val="43137"/>
                    </a:srgbClr>
                  </a:outerShdw>
                </a:effectLst>
              </a:rPr>
              <a:t>cannabis is habitually used in the manufacture of numerous foodstuffs</a:t>
            </a:r>
            <a:r>
              <a:rPr lang="en-US" b="1" dirty="0">
                <a:solidFill>
                  <a:srgbClr val="002060"/>
                </a:solidFill>
                <a:effectLst>
                  <a:outerShdw blurRad="38100" dist="38100" dir="2700000" algn="tl">
                    <a:srgbClr val="000000">
                      <a:alpha val="43137"/>
                    </a:srgbClr>
                  </a:outerShdw>
                </a:effectLst>
              </a:rPr>
              <a:t>, including </a:t>
            </a:r>
            <a:r>
              <a:rPr lang="en-US" b="1" dirty="0">
                <a:solidFill>
                  <a:srgbClr val="FF0000"/>
                </a:solidFill>
                <a:effectLst>
                  <a:outerShdw blurRad="38100" dist="38100" dir="2700000" algn="tl">
                    <a:srgbClr val="000000">
                      <a:alpha val="43137"/>
                    </a:srgbClr>
                  </a:outerShdw>
                </a:effectLst>
              </a:rPr>
              <a:t>beer</a:t>
            </a:r>
            <a:r>
              <a:rPr lang="en-US" b="1" dirty="0">
                <a:solidFill>
                  <a:srgbClr val="002060"/>
                </a:solidFill>
                <a:effectLst>
                  <a:outerShdw blurRad="38100" dist="38100" dir="2700000" algn="tl">
                    <a:srgbClr val="000000">
                      <a:alpha val="43137"/>
                    </a:srgbClr>
                  </a:outerShdw>
                </a:effectLst>
              </a:rPr>
              <a:t> and certain beverages</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080559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pl-PL" b="1" dirty="0">
                <a:solidFill>
                  <a:srgbClr val="002060"/>
                </a:solidFill>
                <a:effectLst>
                  <a:outerShdw blurRad="38100" dist="38100" dir="2700000" algn="tl">
                    <a:srgbClr val="000000">
                      <a:alpha val="43137"/>
                    </a:srgbClr>
                  </a:outerShdw>
                </a:effectLst>
                <a:latin typeface="Arial Black" panose="020B0A04020102020204" pitchFamily="34" charset="0"/>
              </a:rPr>
              <a:t>T</a:t>
            </a:r>
            <a:r>
              <a:rPr lang="en-US" b="1" dirty="0">
                <a:solidFill>
                  <a:srgbClr val="002060"/>
                </a:solidFill>
                <a:effectLst>
                  <a:outerShdw blurRad="38100" dist="38100" dir="2700000" algn="tl">
                    <a:srgbClr val="000000">
                      <a:alpha val="43137"/>
                    </a:srgbClr>
                  </a:outerShdw>
                </a:effectLst>
                <a:latin typeface="Arial Black" panose="020B0A04020102020204" pitchFamily="34" charset="0"/>
              </a:rPr>
              <a:t>he word ‘cannabis’ is </a:t>
            </a:r>
            <a:r>
              <a:rPr lang="en-US" b="1" dirty="0">
                <a:solidFill>
                  <a:srgbClr val="FF0000"/>
                </a:solidFill>
                <a:effectLst>
                  <a:outerShdw blurRad="38100" dist="38100" dir="2700000" algn="tl">
                    <a:srgbClr val="000000">
                      <a:alpha val="43137"/>
                    </a:srgbClr>
                  </a:outerShdw>
                </a:effectLst>
              </a:rPr>
              <a:t>a Latin scientific term </a:t>
            </a:r>
            <a:r>
              <a:rPr lang="en-US" b="1" dirty="0">
                <a:solidFill>
                  <a:srgbClr val="002060"/>
                </a:solidFill>
                <a:effectLst>
                  <a:outerShdw blurRad="38100" dist="38100" dir="2700000" algn="tl">
                    <a:srgbClr val="000000">
                      <a:alpha val="43137"/>
                    </a:srgbClr>
                  </a:outerShdw>
                </a:effectLst>
              </a:rPr>
              <a:t>which is well known, first, in a number of European languages, as is apparent from the contested decision and as the applicant himself demonstrates in the application, and, secondly, </a:t>
            </a:r>
            <a:r>
              <a:rPr lang="en-US" b="1" dirty="0">
                <a:solidFill>
                  <a:srgbClr val="FF0000"/>
                </a:solidFill>
                <a:effectLst>
                  <a:outerShdw blurRad="38100" dist="38100" dir="2700000" algn="tl">
                    <a:srgbClr val="000000">
                      <a:alpha val="43137"/>
                    </a:srgbClr>
                  </a:outerShdw>
                </a:effectLst>
              </a:rPr>
              <a:t>to the general public as a result of media coverage</a:t>
            </a:r>
            <a:r>
              <a:rPr lang="en-US" b="1" dirty="0">
                <a:solidFill>
                  <a:srgbClr val="002060"/>
                </a:solidFill>
                <a:effectLst>
                  <a:outerShdw blurRad="38100" dist="38100" dir="2700000" algn="tl">
                    <a:srgbClr val="000000">
                      <a:alpha val="43137"/>
                    </a:srgbClr>
                  </a:outerShdw>
                </a:effectLst>
              </a:rPr>
              <a:t>, </a:t>
            </a:r>
            <a:r>
              <a:rPr lang="en-US" b="1" dirty="0">
                <a:solidFill>
                  <a:srgbClr val="00B0F0"/>
                </a:solidFill>
                <a:effectLst>
                  <a:outerShdw blurRad="38100" dist="38100" dir="2700000" algn="tl">
                    <a:srgbClr val="000000">
                      <a:alpha val="43137"/>
                    </a:srgbClr>
                  </a:outerShdw>
                </a:effectLst>
              </a:rPr>
              <a:t>rendering it comprehensible to the target consumer throughout the Community</a:t>
            </a:r>
            <a:r>
              <a:rPr lang="en-US" dirty="0">
                <a:solidFill>
                  <a:srgbClr val="00B0F0"/>
                </a:solidFill>
                <a:effectLst>
                  <a:outerShdw blurRad="38100" dist="38100" dir="2700000" algn="tl">
                    <a:srgbClr val="000000">
                      <a:alpha val="43137"/>
                    </a:srgbClr>
                  </a:outerShdw>
                </a:effectLst>
              </a:rPr>
              <a:t> </a:t>
            </a:r>
            <a:endParaRPr lang="pl-PL" dirty="0">
              <a:solidFill>
                <a:srgbClr val="00B0F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2220407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a:xfrm>
            <a:off x="107504" y="1166018"/>
            <a:ext cx="8229600" cy="4525963"/>
          </a:xfrm>
        </p:spPr>
        <p:txBody>
          <a:bodyPr/>
          <a:lstStyle/>
          <a:p>
            <a:pPr marL="0" indent="0">
              <a:buNone/>
            </a:pPr>
            <a:r>
              <a:rPr lang="en-US" b="1" dirty="0">
                <a:solidFill>
                  <a:srgbClr val="002060"/>
                </a:solidFill>
                <a:effectLst>
                  <a:outerShdw blurRad="38100" dist="38100" dir="2700000" algn="tl">
                    <a:srgbClr val="000000">
                      <a:alpha val="43137"/>
                    </a:srgbClr>
                  </a:outerShdw>
                </a:effectLst>
              </a:rPr>
              <a:t>Those circumstances explain why, </a:t>
            </a:r>
            <a:r>
              <a:rPr lang="en-US" b="1" dirty="0">
                <a:solidFill>
                  <a:srgbClr val="FF0000"/>
                </a:solidFill>
                <a:effectLst>
                  <a:outerShdw blurRad="38100" dist="38100" dir="2700000" algn="tl">
                    <a:srgbClr val="000000">
                      <a:alpha val="43137"/>
                    </a:srgbClr>
                  </a:outerShdw>
                </a:effectLst>
              </a:rPr>
              <a:t>when he sees an alcoholic beverage or a beer bearing the </a:t>
            </a:r>
            <a:r>
              <a:rPr lang="pl-PL" b="1" dirty="0">
                <a:solidFill>
                  <a:srgbClr val="FF0000"/>
                </a:solidFill>
                <a:effectLst>
                  <a:outerShdw blurRad="38100" dist="38100" dir="2700000" algn="tl">
                    <a:srgbClr val="000000">
                      <a:alpha val="43137"/>
                    </a:srgbClr>
                  </a:outerShdw>
                </a:effectLst>
              </a:rPr>
              <a:t>trademark</a:t>
            </a:r>
            <a:r>
              <a:rPr lang="en-US" b="1" dirty="0">
                <a:solidFill>
                  <a:srgbClr val="FF0000"/>
                </a:solidFill>
                <a:effectLst>
                  <a:outerShdw blurRad="38100" dist="38100" dir="2700000" algn="tl">
                    <a:srgbClr val="000000">
                      <a:alpha val="43137"/>
                    </a:srgbClr>
                  </a:outerShdw>
                </a:effectLst>
              </a:rPr>
              <a:t> CANNABIS</a:t>
            </a:r>
            <a:r>
              <a:rPr lang="en-US" b="1"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highlight>
                  <a:srgbClr val="00FF00"/>
                </a:highlight>
              </a:rPr>
              <a:t>the average</a:t>
            </a:r>
            <a:r>
              <a:rPr lang="pl-PL" b="1" dirty="0">
                <a:solidFill>
                  <a:srgbClr val="002060"/>
                </a:solidFill>
                <a:effectLst>
                  <a:outerShdw blurRad="38100" dist="38100" dir="2700000" algn="tl">
                    <a:srgbClr val="000000">
                      <a:alpha val="43137"/>
                    </a:srgbClr>
                  </a:outerShdw>
                </a:effectLst>
                <a:highlight>
                  <a:srgbClr val="00FF00"/>
                </a:highlight>
              </a:rPr>
              <a:t> </a:t>
            </a:r>
            <a:r>
              <a:rPr lang="en-US" b="1" dirty="0">
                <a:solidFill>
                  <a:srgbClr val="002060"/>
                </a:solidFill>
                <a:effectLst>
                  <a:outerShdw blurRad="38100" dist="38100" dir="2700000" algn="tl">
                    <a:srgbClr val="000000">
                      <a:alpha val="43137"/>
                    </a:srgbClr>
                  </a:outerShdw>
                </a:effectLst>
                <a:highlight>
                  <a:srgbClr val="00FF00"/>
                </a:highlight>
              </a:rPr>
              <a:t>consumer </a:t>
            </a:r>
            <a:r>
              <a:rPr lang="en-US" b="1" dirty="0">
                <a:solidFill>
                  <a:srgbClr val="FF0000"/>
                </a:solidFill>
                <a:effectLst>
                  <a:outerShdw blurRad="38100" dist="38100" dir="2700000" algn="tl">
                    <a:srgbClr val="000000">
                      <a:alpha val="43137"/>
                    </a:srgbClr>
                  </a:outerShdw>
                </a:effectLst>
                <a:highlight>
                  <a:srgbClr val="00FF00"/>
                </a:highlight>
              </a:rPr>
              <a:t>will immediately perceive</a:t>
            </a:r>
            <a:r>
              <a:rPr lang="en-US" b="1" dirty="0">
                <a:solidFill>
                  <a:srgbClr val="002060"/>
                </a:solidFill>
                <a:effectLst>
                  <a:outerShdw blurRad="38100" dist="38100" dir="2700000" algn="tl">
                    <a:srgbClr val="000000">
                      <a:alpha val="43137"/>
                    </a:srgbClr>
                  </a:outerShdw>
                </a:effectLst>
              </a:rPr>
              <a:t>, without further thought, </a:t>
            </a:r>
            <a:r>
              <a:rPr lang="en-US" b="1" dirty="0">
                <a:solidFill>
                  <a:srgbClr val="FF0000"/>
                </a:solidFill>
                <a:effectLst>
                  <a:outerShdw blurRad="38100" dist="38100" dir="2700000" algn="tl">
                    <a:srgbClr val="000000">
                      <a:alpha val="43137"/>
                    </a:srgbClr>
                  </a:outerShdw>
                </a:effectLst>
                <a:highlight>
                  <a:srgbClr val="00FF00"/>
                </a:highlight>
              </a:rPr>
              <a:t>a description </a:t>
            </a:r>
            <a:r>
              <a:rPr lang="en-US" b="1" dirty="0">
                <a:solidFill>
                  <a:srgbClr val="002060"/>
                </a:solidFill>
                <a:effectLst>
                  <a:outerShdw blurRad="38100" dist="38100" dir="2700000" algn="tl">
                    <a:srgbClr val="000000">
                      <a:alpha val="43137"/>
                    </a:srgbClr>
                  </a:outerShdw>
                </a:effectLst>
              </a:rPr>
              <a:t>of the characteristics of</a:t>
            </a:r>
            <a:r>
              <a:rPr lang="en-US" b="1" dirty="0">
                <a:solidFill>
                  <a:srgbClr val="0070C0"/>
                </a:solidFill>
                <a:effectLst>
                  <a:outerShdw blurRad="38100" dist="38100" dir="2700000" algn="tl">
                    <a:srgbClr val="000000">
                      <a:alpha val="43137"/>
                    </a:srgbClr>
                  </a:outerShdw>
                </a:effectLst>
              </a:rPr>
              <a:t> cannabis</a:t>
            </a:r>
            <a:r>
              <a:rPr lang="en-US" b="1" dirty="0">
                <a:solidFill>
                  <a:srgbClr val="002060"/>
                </a:solidFill>
                <a:effectLst>
                  <a:outerShdw blurRad="38100" dist="38100" dir="2700000" algn="tl">
                    <a:srgbClr val="000000">
                      <a:alpha val="43137"/>
                    </a:srgbClr>
                  </a:outerShdw>
                </a:effectLst>
              </a:rPr>
              <a:t>, which is one of the ingredients </a:t>
            </a:r>
            <a:r>
              <a:rPr lang="pl-PL" b="1" dirty="0">
                <a:solidFill>
                  <a:srgbClr val="002060"/>
                </a:solidFill>
                <a:effectLst>
                  <a:outerShdw blurRad="38100" dist="38100" dir="2700000" algn="tl">
                    <a:srgbClr val="000000">
                      <a:alpha val="43137"/>
                    </a:srgbClr>
                  </a:outerShdw>
                </a:effectLst>
              </a:rPr>
              <a:t>that</a:t>
            </a:r>
            <a:r>
              <a:rPr lang="en-US" b="1" dirty="0">
                <a:solidFill>
                  <a:srgbClr val="002060"/>
                </a:solidFill>
                <a:effectLst>
                  <a:outerShdw blurRad="38100" dist="38100" dir="2700000" algn="tl">
                    <a:srgbClr val="000000">
                      <a:alpha val="43137"/>
                    </a:srgbClr>
                  </a:outerShdw>
                </a:effectLst>
              </a:rPr>
              <a:t> may be used as a flavoring in </a:t>
            </a:r>
            <a:r>
              <a:rPr lang="pl-PL" b="1" dirty="0">
                <a:solidFill>
                  <a:srgbClr val="002060"/>
                </a:solidFill>
                <a:effectLst>
                  <a:outerShdw blurRad="38100" dist="38100" dir="2700000" algn="tl">
                    <a:srgbClr val="000000">
                      <a:alpha val="43137"/>
                    </a:srgbClr>
                  </a:outerShdw>
                </a:effectLst>
              </a:rPr>
              <a:t>its</a:t>
            </a:r>
            <a:r>
              <a:rPr lang="en-US" b="1" dirty="0">
                <a:solidFill>
                  <a:srgbClr val="002060"/>
                </a:solidFill>
                <a:effectLst>
                  <a:outerShdw blurRad="38100" dist="38100" dir="2700000" algn="tl">
                    <a:srgbClr val="000000">
                      <a:alpha val="43137"/>
                    </a:srgbClr>
                  </a:outerShdw>
                </a:effectLst>
              </a:rPr>
              <a:t> manufacture</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945315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a:xfrm>
            <a:off x="457200" y="1600200"/>
            <a:ext cx="8229600" cy="4983162"/>
          </a:xfrm>
        </p:spPr>
        <p:txBody>
          <a:bodyPr/>
          <a:lstStyle/>
          <a:p>
            <a:r>
              <a:rPr lang="en-US" sz="2400" b="1" dirty="0">
                <a:effectLst>
                  <a:outerShdw blurRad="38100" dist="38100" dir="2700000" algn="tl">
                    <a:srgbClr val="000000">
                      <a:alpha val="43137"/>
                    </a:srgbClr>
                  </a:outerShdw>
                </a:effectLst>
              </a:rPr>
              <a:t>That characteristic is not without interest to the relevant consumer</a:t>
            </a:r>
            <a:endParaRPr lang="pl-PL" sz="2400" b="1" dirty="0">
              <a:effectLst>
                <a:outerShdw blurRad="38100" dist="38100" dir="2700000" algn="tl">
                  <a:srgbClr val="000000">
                    <a:alpha val="43137"/>
                  </a:srgbClr>
                </a:outerShdw>
              </a:effectLst>
            </a:endParaRPr>
          </a:p>
          <a:p>
            <a:r>
              <a:rPr lang="en-US" sz="2400" b="1" dirty="0">
                <a:solidFill>
                  <a:srgbClr val="002060"/>
                </a:solidFill>
                <a:effectLst>
                  <a:outerShdw blurRad="38100" dist="38100" dir="2700000" algn="tl">
                    <a:srgbClr val="000000">
                      <a:alpha val="43137"/>
                    </a:srgbClr>
                  </a:outerShdw>
                </a:effectLst>
              </a:rPr>
              <a:t>‘those who purchase a beer bearing the trademark CANNABIS </a:t>
            </a:r>
            <a:r>
              <a:rPr lang="en-US" sz="2400" b="1" dirty="0">
                <a:solidFill>
                  <a:srgbClr val="FF0000"/>
                </a:solidFill>
                <a:effectLst>
                  <a:outerShdw blurRad="38100" dist="38100" dir="2700000" algn="tl">
                    <a:srgbClr val="000000">
                      <a:alpha val="43137"/>
                    </a:srgbClr>
                  </a:outerShdw>
                </a:effectLst>
                <a:highlight>
                  <a:srgbClr val="00FF00"/>
                </a:highlight>
              </a:rPr>
              <a:t>will very probably do so because they are convinced that it contains cannabis</a:t>
            </a:r>
            <a:r>
              <a:rPr lang="en-US" sz="2400" b="1" dirty="0">
                <a:effectLst>
                  <a:outerShdw blurRad="38100" dist="38100" dir="2700000" algn="tl">
                    <a:srgbClr val="000000">
                      <a:alpha val="43137"/>
                    </a:srgbClr>
                  </a:outerShdw>
                </a:effectLst>
                <a:highlight>
                  <a:srgbClr val="00FF00"/>
                </a:highlight>
              </a:rPr>
              <a:t> </a:t>
            </a:r>
            <a:endParaRPr lang="pl-PL" sz="2400" b="1" dirty="0">
              <a:effectLst>
                <a:outerShdw blurRad="38100" dist="38100" dir="2700000" algn="tl">
                  <a:srgbClr val="000000">
                    <a:alpha val="43137"/>
                  </a:srgbClr>
                </a:outerShdw>
              </a:effectLst>
              <a:highlight>
                <a:srgbClr val="00FF00"/>
              </a:highlight>
            </a:endParaRPr>
          </a:p>
          <a:p>
            <a:r>
              <a:rPr lang="en-US" sz="2400" b="1" dirty="0">
                <a:effectLst>
                  <a:outerShdw blurRad="38100" dist="38100" dir="2700000" algn="tl">
                    <a:srgbClr val="000000">
                      <a:alpha val="43137"/>
                    </a:srgbClr>
                  </a:outerShdw>
                </a:effectLst>
              </a:rPr>
              <a:t>and are </a:t>
            </a:r>
            <a:r>
              <a:rPr lang="en-US" sz="2400" b="1" dirty="0">
                <a:solidFill>
                  <a:srgbClr val="002060"/>
                </a:solidFill>
                <a:effectLst>
                  <a:outerShdw blurRad="38100" dist="38100" dir="2700000" algn="tl">
                    <a:srgbClr val="000000">
                      <a:alpha val="43137"/>
                    </a:srgbClr>
                  </a:outerShdw>
                </a:effectLst>
                <a:highlight>
                  <a:srgbClr val="00FFFF"/>
                </a:highlight>
              </a:rPr>
              <a:t>attracted by the possibility of </a:t>
            </a:r>
            <a:r>
              <a:rPr lang="en-US" sz="2400" b="1" dirty="0">
                <a:solidFill>
                  <a:srgbClr val="FF0000"/>
                </a:solidFill>
                <a:effectLst>
                  <a:outerShdw blurRad="38100" dist="38100" dir="2700000" algn="tl">
                    <a:srgbClr val="000000">
                      <a:alpha val="43137"/>
                    </a:srgbClr>
                  </a:outerShdw>
                </a:effectLst>
                <a:highlight>
                  <a:srgbClr val="00FFFF"/>
                </a:highlight>
              </a:rPr>
              <a:t>obtaining</a:t>
            </a:r>
            <a:r>
              <a:rPr lang="en-US" sz="2400" b="1" dirty="0">
                <a:solidFill>
                  <a:srgbClr val="002060"/>
                </a:solidFill>
                <a:effectLst>
                  <a:outerShdw blurRad="38100" dist="38100" dir="2700000" algn="tl">
                    <a:srgbClr val="000000">
                      <a:alpha val="43137"/>
                    </a:srgbClr>
                  </a:outerShdw>
                </a:effectLst>
                <a:highlight>
                  <a:srgbClr val="00FFFF"/>
                </a:highlight>
              </a:rPr>
              <a:t> </a:t>
            </a:r>
            <a:r>
              <a:rPr lang="en-US" sz="2400" b="1" dirty="0">
                <a:effectLst>
                  <a:outerShdw blurRad="38100" dist="38100" dir="2700000" algn="tl">
                    <a:srgbClr val="000000">
                      <a:alpha val="43137"/>
                    </a:srgbClr>
                  </a:outerShdw>
                </a:effectLst>
                <a:highlight>
                  <a:srgbClr val="00FFFF"/>
                </a:highlight>
              </a:rPr>
              <a:t>from the beverage the same, or at the very least similar, </a:t>
            </a:r>
            <a:r>
              <a:rPr lang="en-US" sz="2400" b="1" dirty="0">
                <a:solidFill>
                  <a:srgbClr val="FF0000"/>
                </a:solidFill>
                <a:effectLst>
                  <a:outerShdw blurRad="38100" dist="38100" dir="2700000" algn="tl">
                    <a:srgbClr val="000000">
                      <a:alpha val="43137"/>
                    </a:srgbClr>
                  </a:outerShdw>
                </a:effectLst>
                <a:highlight>
                  <a:srgbClr val="00FFFF"/>
                </a:highlight>
              </a:rPr>
              <a:t>sensations</a:t>
            </a:r>
            <a:r>
              <a:rPr lang="en-US" sz="2400" b="1" dirty="0">
                <a:effectLst>
                  <a:outerShdw blurRad="38100" dist="38100" dir="2700000" algn="tl">
                    <a:srgbClr val="000000">
                      <a:alpha val="43137"/>
                    </a:srgbClr>
                  </a:outerShdw>
                </a:effectLst>
                <a:highlight>
                  <a:srgbClr val="00FFFF"/>
                </a:highlight>
              </a:rPr>
              <a:t> as they obtain from the consumption of cannabis in another form</a:t>
            </a:r>
            <a:r>
              <a:rPr lang="en-US" sz="2400" b="1" dirty="0">
                <a:effectLst>
                  <a:outerShdw blurRad="38100" dist="38100" dir="2700000" algn="tl">
                    <a:srgbClr val="000000">
                      <a:alpha val="43137"/>
                    </a:srgbClr>
                  </a:outerShdw>
                </a:effectLst>
              </a:rPr>
              <a:t>’ </a:t>
            </a:r>
            <a:endParaRPr lang="pl-PL" sz="2400" b="1" dirty="0">
              <a:effectLst>
                <a:outerShdw blurRad="38100" dist="38100" dir="2700000" algn="tl">
                  <a:srgbClr val="000000">
                    <a:alpha val="43137"/>
                  </a:srgbClr>
                </a:outerShdw>
              </a:effectLst>
            </a:endParaRPr>
          </a:p>
          <a:p>
            <a:r>
              <a:rPr lang="en-US" sz="2400" b="1" dirty="0">
                <a:effectLst>
                  <a:outerShdw blurRad="38100" dist="38100" dir="2700000" algn="tl">
                    <a:srgbClr val="000000">
                      <a:alpha val="43137"/>
                    </a:srgbClr>
                  </a:outerShdw>
                </a:effectLst>
              </a:rPr>
              <a:t>Consequently, </a:t>
            </a:r>
            <a:r>
              <a:rPr lang="en-US" sz="2400" b="1" dirty="0">
                <a:solidFill>
                  <a:srgbClr val="FF0000"/>
                </a:solidFill>
                <a:effectLst>
                  <a:outerShdw blurRad="38100" dist="38100" dir="2700000" algn="tl">
                    <a:srgbClr val="000000">
                      <a:alpha val="43137"/>
                    </a:srgbClr>
                  </a:outerShdw>
                </a:effectLst>
              </a:rPr>
              <a:t>the fact that cannabis is one of the components</a:t>
            </a:r>
            <a:r>
              <a:rPr lang="en-US" sz="2400" b="1" dirty="0">
                <a:effectLst>
                  <a:outerShdw blurRad="38100" dist="38100" dir="2700000" algn="tl">
                    <a:srgbClr val="000000">
                      <a:alpha val="43137"/>
                    </a:srgbClr>
                  </a:outerShdw>
                </a:effectLst>
              </a:rPr>
              <a:t> of the beer or alcoholic beverages constitutes a characteristic </a:t>
            </a:r>
            <a:r>
              <a:rPr lang="pl-PL" sz="2400" b="1" dirty="0">
                <a:effectLst>
                  <a:outerShdw blurRad="38100" dist="38100" dir="2700000" algn="tl">
                    <a:srgbClr val="000000">
                      <a:alpha val="43137"/>
                    </a:srgbClr>
                  </a:outerShdw>
                </a:effectLst>
                <a:highlight>
                  <a:srgbClr val="00FF00"/>
                </a:highlight>
              </a:rPr>
              <a:t>that</a:t>
            </a:r>
            <a:r>
              <a:rPr lang="en-US" sz="2400" b="1" dirty="0">
                <a:effectLst>
                  <a:outerShdw blurRad="38100" dist="38100" dir="2700000" algn="tl">
                    <a:srgbClr val="000000">
                      <a:alpha val="43137"/>
                    </a:srgbClr>
                  </a:outerShdw>
                </a:effectLst>
                <a:highlight>
                  <a:srgbClr val="00FF00"/>
                </a:highlight>
              </a:rPr>
              <a:t> </a:t>
            </a:r>
            <a:r>
              <a:rPr lang="en-US" sz="2400" b="1" dirty="0">
                <a:solidFill>
                  <a:srgbClr val="FF0000"/>
                </a:solidFill>
                <a:effectLst>
                  <a:outerShdw blurRad="38100" dist="38100" dir="2700000" algn="tl">
                    <a:srgbClr val="000000">
                      <a:alpha val="43137"/>
                    </a:srgbClr>
                  </a:outerShdw>
                </a:effectLst>
                <a:highlight>
                  <a:srgbClr val="00FF00"/>
                </a:highlight>
              </a:rPr>
              <a:t>determines the decision the consumer </a:t>
            </a:r>
            <a:endParaRPr lang="pl-PL" sz="2400" b="1" dirty="0">
              <a:solidFill>
                <a:srgbClr val="FF0000"/>
              </a:solidFill>
              <a:effectLst>
                <a:outerShdw blurRad="38100" dist="38100" dir="2700000" algn="tl">
                  <a:srgbClr val="000000">
                    <a:alpha val="43137"/>
                  </a:srgbClr>
                </a:outerShdw>
              </a:effectLst>
              <a:highlight>
                <a:srgbClr val="00FF00"/>
              </a:highlight>
            </a:endParaRPr>
          </a:p>
        </p:txBody>
      </p:sp>
    </p:spTree>
    <p:extLst>
      <p:ext uri="{BB962C8B-B14F-4D97-AF65-F5344CB8AC3E}">
        <p14:creationId xmlns:p14="http://schemas.microsoft.com/office/powerpoint/2010/main" val="213141017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r>
              <a:rPr lang="en-US" sz="2800" b="1" dirty="0">
                <a:solidFill>
                  <a:srgbClr val="002060"/>
                </a:solidFill>
                <a:effectLst>
                  <a:outerShdw blurRad="38100" dist="38100" dir="2700000" algn="tl">
                    <a:srgbClr val="000000">
                      <a:alpha val="43137"/>
                    </a:srgbClr>
                  </a:outerShdw>
                </a:effectLst>
              </a:rPr>
              <a:t>The applicant’s argument </a:t>
            </a:r>
            <a:r>
              <a:rPr lang="en-US" sz="2800" b="1" dirty="0">
                <a:effectLst>
                  <a:outerShdw blurRad="38100" dist="38100" dir="2700000" algn="tl">
                    <a:srgbClr val="000000">
                      <a:alpha val="43137"/>
                    </a:srgbClr>
                  </a:outerShdw>
                </a:effectLst>
              </a:rPr>
              <a:t>that the sign </a:t>
            </a:r>
            <a:r>
              <a:rPr lang="en-US" sz="2800" b="1" dirty="0">
                <a:solidFill>
                  <a:srgbClr val="FF0000"/>
                </a:solidFill>
                <a:effectLst>
                  <a:outerShdw blurRad="38100" dist="38100" dir="2700000" algn="tl">
                    <a:srgbClr val="000000">
                      <a:alpha val="43137"/>
                    </a:srgbClr>
                  </a:outerShdw>
                </a:effectLst>
              </a:rPr>
              <a:t>CANNABIS is an </a:t>
            </a:r>
            <a:r>
              <a:rPr lang="en-US" sz="2800" b="1" dirty="0">
                <a:solidFill>
                  <a:srgbClr val="FF0000"/>
                </a:solidFill>
                <a:effectLst>
                  <a:outerShdw blurRad="38100" dist="38100" dir="2700000" algn="tl">
                    <a:srgbClr val="000000">
                      <a:alpha val="43137"/>
                    </a:srgbClr>
                  </a:outerShdw>
                </a:effectLst>
                <a:highlight>
                  <a:srgbClr val="FFFF00"/>
                </a:highlight>
              </a:rPr>
              <a:t>evocative word</a:t>
            </a:r>
            <a:r>
              <a:rPr lang="en-US" sz="2800" b="1" dirty="0">
                <a:effectLst>
                  <a:outerShdw blurRad="38100" dist="38100" dir="2700000" algn="tl">
                    <a:srgbClr val="000000">
                      <a:alpha val="43137"/>
                    </a:srgbClr>
                  </a:outerShdw>
                </a:effectLst>
              </a:rPr>
              <a:t>, which is intended to </a:t>
            </a:r>
            <a:r>
              <a:rPr lang="en-US" sz="2800" b="1" dirty="0">
                <a:solidFill>
                  <a:srgbClr val="FF0000"/>
                </a:solidFill>
                <a:effectLst>
                  <a:outerShdw blurRad="38100" dist="38100" dir="2700000" algn="tl">
                    <a:srgbClr val="000000">
                      <a:alpha val="43137"/>
                    </a:srgbClr>
                  </a:outerShdw>
                </a:effectLst>
                <a:highlight>
                  <a:srgbClr val="FFFF00"/>
                </a:highlight>
              </a:rPr>
              <a:t>attract the attention </a:t>
            </a:r>
            <a:r>
              <a:rPr lang="en-US" sz="2800" b="1" dirty="0">
                <a:effectLst>
                  <a:outerShdw blurRad="38100" dist="38100" dir="2700000" algn="tl">
                    <a:srgbClr val="000000">
                      <a:alpha val="43137"/>
                    </a:srgbClr>
                  </a:outerShdw>
                </a:effectLst>
              </a:rPr>
              <a:t>of consumers </a:t>
            </a:r>
            <a:r>
              <a:rPr lang="en-US" sz="2800" b="1" dirty="0">
                <a:solidFill>
                  <a:srgbClr val="0070C0"/>
                </a:solidFill>
                <a:effectLst>
                  <a:outerShdw blurRad="38100" dist="38100" dir="2700000" algn="tl">
                    <a:srgbClr val="000000">
                      <a:alpha val="43137"/>
                    </a:srgbClr>
                  </a:outerShdw>
                </a:effectLst>
              </a:rPr>
              <a:t>by giving rise to the idea of pleasure, distraction</a:t>
            </a:r>
            <a:r>
              <a:rPr lang="pl-PL" sz="2800" b="1" dirty="0">
                <a:solidFill>
                  <a:srgbClr val="0070C0"/>
                </a:solidFill>
                <a:effectLst>
                  <a:outerShdw blurRad="38100" dist="38100" dir="2700000" algn="tl">
                    <a:srgbClr val="000000">
                      <a:alpha val="43137"/>
                    </a:srgbClr>
                  </a:outerShdw>
                </a:effectLst>
              </a:rPr>
              <a:t>,</a:t>
            </a:r>
            <a:r>
              <a:rPr lang="en-US" sz="2800" b="1" dirty="0">
                <a:solidFill>
                  <a:srgbClr val="0070C0"/>
                </a:solidFill>
                <a:effectLst>
                  <a:outerShdw blurRad="38100" dist="38100" dir="2700000" algn="tl">
                    <a:srgbClr val="000000">
                      <a:alpha val="43137"/>
                    </a:srgbClr>
                  </a:outerShdw>
                </a:effectLst>
              </a:rPr>
              <a:t> or relaxation</a:t>
            </a:r>
            <a:r>
              <a:rPr lang="en-US" sz="2800" b="1" dirty="0">
                <a:effectLst>
                  <a:outerShdw blurRad="38100" dist="38100" dir="2700000" algn="tl">
                    <a:srgbClr val="000000">
                      <a:alpha val="43137"/>
                    </a:srgbClr>
                  </a:outerShdw>
                </a:effectLst>
              </a:rPr>
              <a:t>, </a:t>
            </a:r>
            <a:r>
              <a:rPr lang="en-US" sz="2800" b="1" dirty="0">
                <a:solidFill>
                  <a:srgbClr val="FF0000"/>
                </a:solidFill>
                <a:effectLst>
                  <a:outerShdw blurRad="38100" dist="38100" dir="2700000" algn="tl">
                    <a:srgbClr val="000000">
                      <a:alpha val="43137"/>
                    </a:srgbClr>
                  </a:outerShdw>
                </a:effectLst>
                <a:highlight>
                  <a:srgbClr val="00FFFF"/>
                </a:highlight>
              </a:rPr>
              <a:t>cannot affect the descriptive impressio</a:t>
            </a:r>
            <a:r>
              <a:rPr lang="en-US" sz="2800" b="1" dirty="0">
                <a:solidFill>
                  <a:srgbClr val="FF0000"/>
                </a:solidFill>
                <a:effectLst>
                  <a:outerShdw blurRad="38100" dist="38100" dir="2700000" algn="tl">
                    <a:srgbClr val="000000">
                      <a:alpha val="43137"/>
                    </a:srgbClr>
                  </a:outerShdw>
                </a:effectLst>
              </a:rPr>
              <a:t>n</a:t>
            </a:r>
            <a:r>
              <a:rPr lang="en-US" sz="2800" b="1" dirty="0">
                <a:effectLst>
                  <a:outerShdw blurRad="38100" dist="38100" dir="2700000" algn="tl">
                    <a:srgbClr val="000000">
                      <a:alpha val="43137"/>
                    </a:srgbClr>
                  </a:outerShdw>
                </a:effectLst>
              </a:rPr>
              <a:t> </a:t>
            </a:r>
            <a:r>
              <a:rPr lang="pl-PL" sz="2800" b="1" dirty="0">
                <a:effectLst>
                  <a:outerShdw blurRad="38100" dist="38100" dir="2700000" algn="tl">
                    <a:srgbClr val="000000">
                      <a:alpha val="43137"/>
                    </a:srgbClr>
                  </a:outerShdw>
                </a:effectLst>
              </a:rPr>
              <a:t>that</a:t>
            </a:r>
            <a:r>
              <a:rPr lang="en-US" sz="2800" b="1" dirty="0">
                <a:effectLst>
                  <a:outerShdw blurRad="38100" dist="38100" dir="2700000" algn="tl">
                    <a:srgbClr val="000000">
                      <a:alpha val="43137"/>
                    </a:srgbClr>
                  </a:outerShdw>
                </a:effectLst>
              </a:rPr>
              <a:t> the sign has on them </a:t>
            </a:r>
            <a:endParaRPr lang="pl-PL" sz="2800" b="1" dirty="0">
              <a:effectLst>
                <a:outerShdw blurRad="38100" dist="38100" dir="2700000" algn="tl">
                  <a:srgbClr val="000000">
                    <a:alpha val="43137"/>
                  </a:srgbClr>
                </a:outerShdw>
              </a:effectLst>
            </a:endParaRPr>
          </a:p>
          <a:p>
            <a:r>
              <a:rPr lang="en-US" sz="2800" b="1" dirty="0">
                <a:effectLst>
                  <a:outerShdw blurRad="38100" dist="38100" dir="2700000" algn="tl">
                    <a:srgbClr val="000000">
                      <a:alpha val="43137"/>
                    </a:srgbClr>
                  </a:outerShdw>
                </a:effectLst>
              </a:rPr>
              <a:t>The word sign CANNABIS </a:t>
            </a:r>
            <a:r>
              <a:rPr lang="en-US" sz="2800" b="1" dirty="0">
                <a:solidFill>
                  <a:srgbClr val="FF0000"/>
                </a:solidFill>
                <a:effectLst>
                  <a:outerShdw blurRad="38100" dist="38100" dir="2700000" algn="tl">
                    <a:srgbClr val="000000">
                      <a:alpha val="43137"/>
                    </a:srgbClr>
                  </a:outerShdw>
                </a:effectLst>
                <a:highlight>
                  <a:srgbClr val="00FF00"/>
                </a:highlight>
              </a:rPr>
              <a:t>inherently constitutes</a:t>
            </a:r>
            <a:r>
              <a:rPr lang="en-US" sz="2800" b="1" dirty="0">
                <a:effectLst>
                  <a:outerShdw blurRad="38100" dist="38100" dir="2700000" algn="tl">
                    <a:srgbClr val="000000">
                      <a:alpha val="43137"/>
                    </a:srgbClr>
                  </a:outerShdw>
                </a:effectLst>
              </a:rPr>
              <a:t>, for consumers, </a:t>
            </a:r>
            <a:r>
              <a:rPr lang="en-US" sz="2800" b="1" dirty="0">
                <a:solidFill>
                  <a:srgbClr val="FF0000"/>
                </a:solidFill>
                <a:effectLst>
                  <a:outerShdw blurRad="38100" dist="38100" dir="2700000" algn="tl">
                    <a:srgbClr val="000000">
                      <a:alpha val="43137"/>
                    </a:srgbClr>
                  </a:outerShdw>
                </a:effectLst>
              </a:rPr>
              <a:t>a simple and direct indication </a:t>
            </a:r>
            <a:r>
              <a:rPr lang="en-US" sz="2800" b="1" dirty="0">
                <a:effectLst>
                  <a:outerShdw blurRad="38100" dist="38100" dir="2700000" algn="tl">
                    <a:srgbClr val="000000">
                      <a:alpha val="43137"/>
                    </a:srgbClr>
                  </a:outerShdw>
                </a:effectLst>
              </a:rPr>
              <a:t>of one of </a:t>
            </a:r>
            <a:r>
              <a:rPr lang="en-US" sz="2800" b="1" dirty="0">
                <a:solidFill>
                  <a:srgbClr val="FF0000"/>
                </a:solidFill>
                <a:effectLst>
                  <a:outerShdw blurRad="38100" dist="38100" dir="2700000" algn="tl">
                    <a:srgbClr val="000000">
                      <a:alpha val="43137"/>
                    </a:srgbClr>
                  </a:outerShdw>
                </a:effectLst>
              </a:rPr>
              <a:t>the </a:t>
            </a:r>
            <a:r>
              <a:rPr lang="en-US" sz="2800" b="1" dirty="0">
                <a:solidFill>
                  <a:srgbClr val="FF0000"/>
                </a:solidFill>
                <a:effectLst>
                  <a:outerShdw blurRad="38100" dist="38100" dir="2700000" algn="tl">
                    <a:srgbClr val="000000">
                      <a:alpha val="43137"/>
                    </a:srgbClr>
                  </a:outerShdw>
                </a:effectLst>
                <a:highlight>
                  <a:srgbClr val="00FF00"/>
                </a:highlight>
              </a:rPr>
              <a:t>possible ingredients </a:t>
            </a:r>
            <a:r>
              <a:rPr lang="en-US" sz="2800" b="1" dirty="0">
                <a:effectLst>
                  <a:outerShdw blurRad="38100" dist="38100" dir="2700000" algn="tl">
                    <a:srgbClr val="000000">
                      <a:alpha val="43137"/>
                    </a:srgbClr>
                  </a:outerShdw>
                </a:effectLst>
              </a:rPr>
              <a:t>of the goods for which the mark was registered</a:t>
            </a:r>
            <a:endParaRPr lang="pl-PL"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864202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en-US" sz="3600" b="1" dirty="0">
                <a:solidFill>
                  <a:srgbClr val="002060"/>
                </a:solidFill>
                <a:effectLst>
                  <a:outerShdw blurRad="38100" dist="38100" dir="2700000" algn="tl">
                    <a:srgbClr val="000000">
                      <a:alpha val="43137"/>
                    </a:srgbClr>
                  </a:outerShdw>
                </a:effectLst>
              </a:rPr>
              <a:t>Thus, contrary to the applicant’s arguments, the fact that the word ‘cannabis’ may have </a:t>
            </a:r>
            <a:r>
              <a:rPr lang="en-US" sz="3600" b="1" dirty="0">
                <a:solidFill>
                  <a:srgbClr val="0070C0"/>
                </a:solidFill>
                <a:effectLst>
                  <a:outerShdw blurRad="38100" dist="38100" dir="2700000" algn="tl">
                    <a:srgbClr val="000000">
                      <a:alpha val="43137"/>
                    </a:srgbClr>
                  </a:outerShdw>
                </a:effectLst>
                <a:latin typeface="Arial Black" panose="020B0A04020102020204" pitchFamily="34" charset="0"/>
              </a:rPr>
              <a:t>three different meanings </a:t>
            </a:r>
            <a:r>
              <a:rPr lang="en-US" sz="3600" b="1" dirty="0">
                <a:solidFill>
                  <a:srgbClr val="FF0000"/>
                </a:solidFill>
                <a:effectLst>
                  <a:outerShdw blurRad="38100" dist="38100" dir="2700000" algn="tl">
                    <a:srgbClr val="000000">
                      <a:alpha val="43137"/>
                    </a:srgbClr>
                  </a:outerShdw>
                </a:effectLst>
                <a:latin typeface="Arial Black" panose="020B0A04020102020204" pitchFamily="34" charset="0"/>
              </a:rPr>
              <a:t>has no role to play in ascertaining whether it has a descriptive character</a:t>
            </a:r>
            <a:endParaRPr lang="pl-PL" sz="3600" dirty="0">
              <a:solidFill>
                <a:srgbClr val="FF0000"/>
              </a:solidFill>
              <a:effectLst>
                <a:outerShdw blurRad="38100" dist="38100" dir="2700000" algn="tl">
                  <a:srgbClr val="000000">
                    <a:alpha val="43137"/>
                  </a:srgbClr>
                </a:outerShdw>
              </a:effectLst>
              <a:latin typeface="Arial Black" panose="020B0A04020102020204" pitchFamily="34" charset="0"/>
            </a:endParaRPr>
          </a:p>
        </p:txBody>
      </p:sp>
    </p:spTree>
    <p:extLst>
      <p:ext uri="{BB962C8B-B14F-4D97-AF65-F5344CB8AC3E}">
        <p14:creationId xmlns:p14="http://schemas.microsoft.com/office/powerpoint/2010/main" val="222365636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r>
              <a:rPr lang="pl-PL" sz="2800" b="1" dirty="0">
                <a:solidFill>
                  <a:srgbClr val="FF0000"/>
                </a:solidFill>
                <a:effectLst>
                  <a:outerShdw blurRad="38100" dist="38100" dir="2700000" algn="tl">
                    <a:srgbClr val="000000">
                      <a:alpha val="43137"/>
                    </a:srgbClr>
                  </a:outerShdw>
                </a:effectLst>
              </a:rPr>
              <a:t>T</a:t>
            </a:r>
            <a:r>
              <a:rPr lang="en-US" sz="2800" b="1" dirty="0">
                <a:solidFill>
                  <a:srgbClr val="FF0000"/>
                </a:solidFill>
                <a:effectLst>
                  <a:outerShdw blurRad="38100" dist="38100" dir="2700000" algn="tl">
                    <a:srgbClr val="000000">
                      <a:alpha val="43137"/>
                    </a:srgbClr>
                  </a:outerShdw>
                </a:effectLst>
              </a:rPr>
              <a:t>he sign CANNABIS refers to the cannabis plant, </a:t>
            </a:r>
            <a:r>
              <a:rPr lang="en-US" sz="2800" b="1" dirty="0">
                <a:solidFill>
                  <a:srgbClr val="002060"/>
                </a:solidFill>
                <a:effectLst>
                  <a:outerShdw blurRad="38100" dist="38100" dir="2700000" algn="tl">
                    <a:srgbClr val="000000">
                      <a:alpha val="43137"/>
                    </a:srgbClr>
                  </a:outerShdw>
                </a:effectLst>
              </a:rPr>
              <a:t>which is </a:t>
            </a:r>
            <a:r>
              <a:rPr lang="en-US" sz="2800" b="1" dirty="0">
                <a:solidFill>
                  <a:srgbClr val="0070C0"/>
                </a:solidFill>
                <a:effectLst>
                  <a:outerShdw blurRad="38100" dist="38100" dir="2700000" algn="tl">
                    <a:srgbClr val="000000">
                      <a:alpha val="43137"/>
                    </a:srgbClr>
                  </a:outerShdw>
                </a:effectLst>
              </a:rPr>
              <a:t>well known to the public </a:t>
            </a:r>
            <a:r>
              <a:rPr lang="en-US" sz="2800" b="1" dirty="0">
                <a:solidFill>
                  <a:srgbClr val="002060"/>
                </a:solidFill>
                <a:effectLst>
                  <a:outerShdw blurRad="38100" dist="38100" dir="2700000" algn="tl">
                    <a:srgbClr val="000000">
                      <a:alpha val="43137"/>
                    </a:srgbClr>
                  </a:outerShdw>
                </a:effectLst>
              </a:rPr>
              <a:t>as a result of media coverage and is used in the manufacturing processes of certain foodstuffs and beverages</a:t>
            </a:r>
            <a:endParaRPr lang="pl-PL" sz="2800" b="1" dirty="0">
              <a:solidFill>
                <a:srgbClr val="002060"/>
              </a:solidFill>
              <a:effectLst>
                <a:outerShdw blurRad="38100" dist="38100" dir="2700000" algn="tl">
                  <a:srgbClr val="000000">
                    <a:alpha val="43137"/>
                  </a:srgbClr>
                </a:outerShdw>
              </a:effectLst>
            </a:endParaRPr>
          </a:p>
          <a:p>
            <a:r>
              <a:rPr lang="en-US" sz="2800" b="1" dirty="0">
                <a:solidFill>
                  <a:srgbClr val="FF0000"/>
                </a:solidFill>
                <a:effectLst>
                  <a:outerShdw blurRad="38100" dist="38100" dir="2700000" algn="tl">
                    <a:srgbClr val="000000">
                      <a:alpha val="43137"/>
                    </a:srgbClr>
                  </a:outerShdw>
                </a:effectLst>
                <a:highlight>
                  <a:srgbClr val="FFFF00"/>
                </a:highlight>
              </a:rPr>
              <a:t>The average consumer </a:t>
            </a:r>
            <a:r>
              <a:rPr lang="en-US" sz="2800" b="1" dirty="0">
                <a:solidFill>
                  <a:srgbClr val="002060"/>
                </a:solidFill>
                <a:effectLst>
                  <a:outerShdw blurRad="38100" dist="38100" dir="2700000" algn="tl">
                    <a:srgbClr val="000000">
                      <a:alpha val="43137"/>
                    </a:srgbClr>
                  </a:outerShdw>
                </a:effectLst>
                <a:highlight>
                  <a:srgbClr val="FFFF00"/>
                </a:highlight>
              </a:rPr>
              <a:t>will therefore immediately and without further thought </a:t>
            </a:r>
            <a:r>
              <a:rPr lang="en-US" sz="2800" b="1" dirty="0">
                <a:solidFill>
                  <a:srgbClr val="FF0000"/>
                </a:solidFill>
                <a:effectLst>
                  <a:outerShdw blurRad="38100" dist="38100" dir="2700000" algn="tl">
                    <a:srgbClr val="000000">
                      <a:alpha val="43137"/>
                    </a:srgbClr>
                  </a:outerShdw>
                </a:effectLst>
                <a:highlight>
                  <a:srgbClr val="FFFF00"/>
                </a:highlight>
              </a:rPr>
              <a:t>make a connection </a:t>
            </a:r>
            <a:r>
              <a:rPr lang="en-US" sz="2800" b="1" dirty="0">
                <a:solidFill>
                  <a:srgbClr val="002060"/>
                </a:solidFill>
                <a:effectLst>
                  <a:outerShdw blurRad="38100" dist="38100" dir="2700000" algn="tl">
                    <a:srgbClr val="000000">
                      <a:alpha val="43137"/>
                    </a:srgbClr>
                  </a:outerShdw>
                </a:effectLst>
              </a:rPr>
              <a:t>between the sign in question and the characteristics of the goods in respect of which the mark has been registered, </a:t>
            </a:r>
            <a:r>
              <a:rPr lang="en-US" sz="2800" b="1" dirty="0">
                <a:solidFill>
                  <a:srgbClr val="FF0000"/>
                </a:solidFill>
                <a:effectLst>
                  <a:outerShdw blurRad="38100" dist="38100" dir="2700000" algn="tl">
                    <a:srgbClr val="000000">
                      <a:alpha val="43137"/>
                    </a:srgbClr>
                  </a:outerShdw>
                </a:effectLst>
              </a:rPr>
              <a:t>all of which </a:t>
            </a:r>
            <a:r>
              <a:rPr lang="en-US" sz="2800" b="1" dirty="0">
                <a:solidFill>
                  <a:srgbClr val="FF0000"/>
                </a:solidFill>
                <a:effectLst>
                  <a:outerShdw blurRad="38100" dist="38100" dir="2700000" algn="tl">
                    <a:srgbClr val="000000">
                      <a:alpha val="43137"/>
                    </a:srgbClr>
                  </a:outerShdw>
                </a:effectLst>
                <a:highlight>
                  <a:srgbClr val="FFFF00"/>
                </a:highlight>
              </a:rPr>
              <a:t>renders the sign descriptive</a:t>
            </a:r>
            <a:endParaRPr lang="pl-PL" sz="2800" b="1" dirty="0">
              <a:solidFill>
                <a:srgbClr val="002060"/>
              </a:solidFill>
              <a:effectLst>
                <a:outerShdw blurRad="38100" dist="38100" dir="2700000" algn="tl">
                  <a:srgbClr val="000000">
                    <a:alpha val="43137"/>
                  </a:srgbClr>
                </a:outerShdw>
              </a:effectLst>
              <a:highlight>
                <a:srgbClr val="FFFF00"/>
              </a:highlight>
            </a:endParaRPr>
          </a:p>
          <a:p>
            <a:pPr marL="0" indent="0">
              <a:buNone/>
            </a:pPr>
            <a:endParaRPr lang="pl-PL" dirty="0"/>
          </a:p>
        </p:txBody>
      </p:sp>
    </p:spTree>
    <p:extLst>
      <p:ext uri="{BB962C8B-B14F-4D97-AF65-F5344CB8AC3E}">
        <p14:creationId xmlns:p14="http://schemas.microsoft.com/office/powerpoint/2010/main" val="3541945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r>
              <a:rPr lang="pl-PL" sz="2400" dirty="0"/>
              <a:t>I</a:t>
            </a:r>
            <a:r>
              <a:rPr lang="en-US" sz="2400" dirty="0"/>
              <a:t>n view of OHIM’s decision-making practice, the Board of Appeal infringed the general principle of </a:t>
            </a:r>
            <a:r>
              <a:rPr lang="en-US" sz="2400" b="1" dirty="0">
                <a:solidFill>
                  <a:srgbClr val="FF0000"/>
                </a:solidFill>
                <a:effectLst>
                  <a:outerShdw blurRad="38100" dist="38100" dir="2700000" algn="tl">
                    <a:srgbClr val="000000">
                      <a:alpha val="43137"/>
                    </a:srgbClr>
                  </a:outerShdw>
                </a:effectLst>
              </a:rPr>
              <a:t>equal treatment </a:t>
            </a:r>
            <a:r>
              <a:rPr lang="en-US" sz="2400" dirty="0"/>
              <a:t>must also be rejected as unfounded</a:t>
            </a:r>
            <a:endParaRPr lang="pl-PL" sz="2400" dirty="0"/>
          </a:p>
          <a:p>
            <a:r>
              <a:rPr lang="en-US" sz="2400" dirty="0"/>
              <a:t>The lawfulness of the decisions of the Board of Appeal must be assessed solely on the </a:t>
            </a:r>
            <a:r>
              <a:rPr lang="en-US" sz="2400" b="1" dirty="0">
                <a:solidFill>
                  <a:srgbClr val="FF0000"/>
                </a:solidFill>
                <a:effectLst>
                  <a:outerShdw blurRad="38100" dist="38100" dir="2700000" algn="tl">
                    <a:srgbClr val="000000">
                      <a:alpha val="43137"/>
                    </a:srgbClr>
                  </a:outerShdw>
                </a:effectLst>
              </a:rPr>
              <a:t>basis of Regulation No 40/94 and not on the basis of OHIM’s decision-making practice </a:t>
            </a:r>
            <a:endParaRPr lang="pl-PL" sz="2400" b="1" dirty="0">
              <a:solidFill>
                <a:srgbClr val="FF0000"/>
              </a:solidFill>
              <a:effectLst>
                <a:outerShdw blurRad="38100" dist="38100" dir="2700000" algn="tl">
                  <a:srgbClr val="000000">
                    <a:alpha val="43137"/>
                  </a:srgbClr>
                </a:outerShdw>
              </a:effectLst>
            </a:endParaRPr>
          </a:p>
          <a:p>
            <a:r>
              <a:rPr lang="en-US" sz="2400" b="1" dirty="0"/>
              <a:t>Furthermore, according to settled case-law, the principle of </a:t>
            </a:r>
            <a:r>
              <a:rPr lang="en-US" sz="2400" b="1" dirty="0">
                <a:solidFill>
                  <a:srgbClr val="FF0000"/>
                </a:solidFill>
                <a:effectLst>
                  <a:outerShdw blurRad="38100" dist="38100" dir="2700000" algn="tl">
                    <a:srgbClr val="000000">
                      <a:alpha val="43137"/>
                    </a:srgbClr>
                  </a:outerShdw>
                </a:effectLst>
                <a:highlight>
                  <a:srgbClr val="FFFF00"/>
                </a:highlight>
              </a:rPr>
              <a:t>equal treatment </a:t>
            </a:r>
            <a:r>
              <a:rPr lang="en-US" sz="2400" b="1" u="sng" dirty="0">
                <a:solidFill>
                  <a:srgbClr val="FF0000"/>
                </a:solidFill>
                <a:effectLst>
                  <a:outerShdw blurRad="38100" dist="38100" dir="2700000" algn="tl">
                    <a:srgbClr val="000000">
                      <a:alpha val="43137"/>
                    </a:srgbClr>
                  </a:outerShdw>
                </a:effectLst>
              </a:rPr>
              <a:t>cannot be relied o</a:t>
            </a:r>
            <a:r>
              <a:rPr lang="en-US" sz="2400" b="1" dirty="0">
                <a:solidFill>
                  <a:srgbClr val="FF0000"/>
                </a:solidFill>
                <a:effectLst>
                  <a:outerShdw blurRad="38100" dist="38100" dir="2700000" algn="tl">
                    <a:srgbClr val="000000">
                      <a:alpha val="43137"/>
                    </a:srgbClr>
                  </a:outerShdw>
                </a:effectLst>
              </a:rPr>
              <a:t>n </a:t>
            </a:r>
            <a:r>
              <a:rPr lang="en-US" sz="2400" b="1" dirty="0">
                <a:solidFill>
                  <a:srgbClr val="FF0000"/>
                </a:solidFill>
                <a:effectLst>
                  <a:outerShdw blurRad="38100" dist="38100" dir="2700000" algn="tl">
                    <a:srgbClr val="000000">
                      <a:alpha val="43137"/>
                    </a:srgbClr>
                  </a:outerShdw>
                </a:effectLst>
                <a:highlight>
                  <a:srgbClr val="FFFF00"/>
                </a:highlight>
              </a:rPr>
              <a:t>in cases of illegality</a:t>
            </a:r>
            <a:r>
              <a:rPr lang="en-US" sz="2400" dirty="0">
                <a:solidFill>
                  <a:srgbClr val="FF0000"/>
                </a:solidFill>
                <a:effectLst>
                  <a:outerShdw blurRad="38100" dist="38100" dir="2700000" algn="tl">
                    <a:srgbClr val="000000">
                      <a:alpha val="43137"/>
                    </a:srgbClr>
                  </a:outerShdw>
                </a:effectLst>
                <a:highlight>
                  <a:srgbClr val="FFFF00"/>
                </a:highlight>
              </a:rPr>
              <a:t> </a:t>
            </a:r>
            <a:r>
              <a:rPr lang="en-US" sz="2400" dirty="0"/>
              <a:t>because </a:t>
            </a:r>
            <a:r>
              <a:rPr lang="en-US" sz="2400" b="1" dirty="0">
                <a:solidFill>
                  <a:srgbClr val="FF0000"/>
                </a:solidFill>
                <a:effectLst>
                  <a:outerShdw blurRad="38100" dist="38100" dir="2700000" algn="tl">
                    <a:srgbClr val="000000">
                      <a:alpha val="43137"/>
                    </a:srgbClr>
                  </a:outerShdw>
                </a:effectLst>
              </a:rPr>
              <a:t>no one may rely to his own advantage on an unlawful act committed in favor of a third party </a:t>
            </a:r>
            <a:endParaRPr lang="pl-PL"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0494636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pl-PL" b="1" dirty="0"/>
              <a:t>T</a:t>
            </a:r>
            <a:r>
              <a:rPr lang="en-US" b="1" dirty="0"/>
              <a:t>he applicant’s claim regarding the </a:t>
            </a:r>
            <a:r>
              <a:rPr lang="en-US" b="1" dirty="0">
                <a:solidFill>
                  <a:srgbClr val="FF0000"/>
                </a:solidFill>
                <a:effectLst>
                  <a:outerShdw blurRad="38100" dist="38100" dir="2700000" algn="tl">
                    <a:srgbClr val="000000">
                      <a:alpha val="43137"/>
                    </a:srgbClr>
                  </a:outerShdw>
                </a:effectLst>
              </a:rPr>
              <a:t>reputation of the trad</a:t>
            </a:r>
            <a:r>
              <a:rPr lang="pl-PL" b="1" dirty="0">
                <a:solidFill>
                  <a:srgbClr val="FF0000"/>
                </a:solidFill>
                <a:effectLst>
                  <a:outerShdw blurRad="38100" dist="38100" dir="2700000" algn="tl">
                    <a:srgbClr val="000000">
                      <a:alpha val="43137"/>
                    </a:srgbClr>
                  </a:outerShdw>
                </a:effectLst>
              </a:rPr>
              <a:t>emark</a:t>
            </a:r>
            <a:r>
              <a:rPr lang="en-US" b="1" dirty="0"/>
              <a:t> CANNABIS must be rejected as irrelevant</a:t>
            </a:r>
            <a:endParaRPr lang="pl-PL" dirty="0"/>
          </a:p>
          <a:p>
            <a:pPr marL="0" indent="0">
              <a:buNone/>
            </a:pPr>
            <a:r>
              <a:rPr lang="en-US" dirty="0"/>
              <a:t>In that regard, it must be pointed out that, in the present case, </a:t>
            </a:r>
            <a:r>
              <a:rPr lang="en-US" b="1" dirty="0">
                <a:solidFill>
                  <a:srgbClr val="002060"/>
                </a:solidFill>
                <a:effectLst>
                  <a:outerShdw blurRad="38100" dist="38100" dir="2700000" algn="tl">
                    <a:srgbClr val="000000">
                      <a:alpha val="43137"/>
                    </a:srgbClr>
                  </a:outerShdw>
                </a:effectLst>
              </a:rPr>
              <a:t>the reputation of the sign has no role to play in ascertaining whether the sign in question is descriptive</a:t>
            </a:r>
            <a:endParaRPr lang="pl-PL"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1221607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002060"/>
                </a:solidFill>
                <a:effectLst>
                  <a:outerShdw blurRad="38100" dist="38100" dir="2700000" algn="tl">
                    <a:srgbClr val="000000">
                      <a:alpha val="43137"/>
                    </a:srgbClr>
                  </a:outerShdw>
                </a:effectLst>
              </a:rPr>
              <a:t>Case Cannabis as Trademark</a:t>
            </a:r>
            <a:endParaRPr lang="pl-PL" dirty="0"/>
          </a:p>
        </p:txBody>
      </p:sp>
      <p:sp>
        <p:nvSpPr>
          <p:cNvPr id="3" name="Symbol zastępczy zawartości 2"/>
          <p:cNvSpPr>
            <a:spLocks noGrp="1"/>
          </p:cNvSpPr>
          <p:nvPr>
            <p:ph idx="1"/>
          </p:nvPr>
        </p:nvSpPr>
        <p:spPr/>
        <p:txBody>
          <a:bodyPr/>
          <a:lstStyle/>
          <a:p>
            <a:pPr marL="0" indent="0">
              <a:buNone/>
            </a:pPr>
            <a:r>
              <a:rPr lang="pl-PL" dirty="0">
                <a:effectLst>
                  <a:outerShdw blurRad="38100" dist="38100" dir="2700000" algn="tl">
                    <a:srgbClr val="000000">
                      <a:alpha val="43137"/>
                    </a:srgbClr>
                  </a:outerShdw>
                </a:effectLst>
              </a:rPr>
              <a:t>Paradox: e</a:t>
            </a:r>
            <a:r>
              <a:rPr lang="en-US" dirty="0">
                <a:effectLst>
                  <a:outerShdw blurRad="38100" dist="38100" dir="2700000" algn="tl">
                    <a:srgbClr val="000000">
                      <a:alpha val="43137"/>
                    </a:srgbClr>
                  </a:outerShdw>
                </a:effectLst>
              </a:rPr>
              <a:t>ither the beverages at issue contain or </a:t>
            </a:r>
            <a:r>
              <a:rPr lang="en-US" b="1" dirty="0">
                <a:solidFill>
                  <a:srgbClr val="0070C0"/>
                </a:solidFill>
                <a:effectLst>
                  <a:outerShdw blurRad="38100" dist="38100" dir="2700000" algn="tl">
                    <a:srgbClr val="000000">
                      <a:alpha val="43137"/>
                    </a:srgbClr>
                  </a:outerShdw>
                </a:effectLst>
              </a:rPr>
              <a:t>may contain hemp </a:t>
            </a:r>
            <a:r>
              <a:rPr lang="en-US" dirty="0">
                <a:effectLst>
                  <a:outerShdw blurRad="38100" dist="38100" dir="2700000" algn="tl">
                    <a:srgbClr val="000000">
                      <a:alpha val="43137"/>
                    </a:srgbClr>
                  </a:outerShdw>
                </a:effectLst>
              </a:rPr>
              <a:t>and the mark CANNABIS is </a:t>
            </a:r>
            <a:r>
              <a:rPr lang="en-US" b="1" dirty="0">
                <a:solidFill>
                  <a:srgbClr val="FF0000"/>
                </a:solidFill>
                <a:effectLst>
                  <a:outerShdw blurRad="38100" dist="38100" dir="2700000" algn="tl">
                    <a:srgbClr val="000000">
                      <a:alpha val="43137"/>
                    </a:srgbClr>
                  </a:outerShdw>
                </a:effectLst>
              </a:rPr>
              <a:t>therefore </a:t>
            </a:r>
            <a:r>
              <a:rPr lang="en-US" b="1" dirty="0">
                <a:solidFill>
                  <a:srgbClr val="FF0000"/>
                </a:solidFill>
                <a:effectLst>
                  <a:outerShdw blurRad="38100" dist="38100" dir="2700000" algn="tl">
                    <a:srgbClr val="000000">
                      <a:alpha val="43137"/>
                    </a:srgbClr>
                  </a:outerShdw>
                </a:effectLst>
                <a:highlight>
                  <a:srgbClr val="00FF00"/>
                </a:highlight>
              </a:rPr>
              <a:t>descriptive </a:t>
            </a:r>
            <a:endParaRPr lang="pl-PL" b="1" dirty="0">
              <a:solidFill>
                <a:srgbClr val="FF0000"/>
              </a:solidFill>
              <a:effectLst>
                <a:outerShdw blurRad="38100" dist="38100" dir="2700000" algn="tl">
                  <a:srgbClr val="000000">
                    <a:alpha val="43137"/>
                  </a:srgbClr>
                </a:outerShdw>
              </a:effectLst>
              <a:highlight>
                <a:srgbClr val="00FF00"/>
              </a:highlight>
            </a:endParaRPr>
          </a:p>
          <a:p>
            <a:pPr marL="0" indent="0">
              <a:buNone/>
            </a:pPr>
            <a:r>
              <a:rPr lang="en-US" dirty="0">
                <a:effectLst>
                  <a:outerShdw blurRad="38100" dist="38100" dir="2700000" algn="tl">
                    <a:srgbClr val="000000">
                      <a:alpha val="43137"/>
                    </a:srgbClr>
                  </a:outerShdw>
                </a:effectLst>
              </a:rPr>
              <a:t>or</a:t>
            </a:r>
            <a:endParaRPr lang="pl-PL"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there is no possibility </a:t>
            </a:r>
            <a:r>
              <a:rPr lang="en-US" dirty="0">
                <a:effectLst>
                  <a:outerShdw blurRad="38100" dist="38100" dir="2700000" algn="tl">
                    <a:srgbClr val="000000">
                      <a:alpha val="43137"/>
                    </a:srgbClr>
                  </a:outerShdw>
                </a:effectLst>
              </a:rPr>
              <a:t>of </a:t>
            </a:r>
            <a:r>
              <a:rPr lang="en-US" b="1" dirty="0">
                <a:effectLst>
                  <a:outerShdw blurRad="38100" dist="38100" dir="2700000" algn="tl">
                    <a:srgbClr val="000000">
                      <a:alpha val="43137"/>
                    </a:srgbClr>
                  </a:outerShdw>
                </a:effectLst>
              </a:rPr>
              <a:t>those beverages containing hemp and they do not contain it the mark CANNABIS may </a:t>
            </a:r>
            <a:r>
              <a:rPr lang="pl-PL" b="1" dirty="0">
                <a:effectLst>
                  <a:outerShdw blurRad="38100" dist="38100" dir="2700000" algn="tl">
                    <a:srgbClr val="000000">
                      <a:alpha val="43137"/>
                    </a:srgbClr>
                  </a:outerShdw>
                </a:effectLst>
              </a:rPr>
              <a:t>consequently</a:t>
            </a:r>
            <a:r>
              <a:rPr lang="en-US" b="1" dirty="0">
                <a:effectLst>
                  <a:outerShdw blurRad="38100" dist="38100" dir="2700000" algn="tl">
                    <a:srgbClr val="000000">
                      <a:alpha val="43137"/>
                    </a:srgbClr>
                  </a:outerShdw>
                </a:effectLst>
              </a:rPr>
              <a:t> be regarded as </a:t>
            </a:r>
            <a:r>
              <a:rPr lang="en-US" b="1" dirty="0">
                <a:solidFill>
                  <a:srgbClr val="FF0000"/>
                </a:solidFill>
                <a:effectLst>
                  <a:outerShdw blurRad="38100" dist="38100" dir="2700000" algn="tl">
                    <a:srgbClr val="000000">
                      <a:alpha val="43137"/>
                    </a:srgbClr>
                  </a:outerShdw>
                </a:effectLst>
                <a:highlight>
                  <a:srgbClr val="00FF00"/>
                </a:highlight>
              </a:rPr>
              <a:t>deceptive</a:t>
            </a:r>
            <a:r>
              <a:rPr lang="en-US" b="1" dirty="0">
                <a:effectLst>
                  <a:outerShdw blurRad="38100" dist="38100" dir="2700000" algn="tl">
                    <a:srgbClr val="000000">
                      <a:alpha val="43137"/>
                    </a:srgbClr>
                  </a:outerShdw>
                </a:effectLst>
                <a:highlight>
                  <a:srgbClr val="00FFFF"/>
                </a:highlight>
              </a:rPr>
              <a:t> </a:t>
            </a:r>
            <a:r>
              <a:rPr lang="en-US" b="1" dirty="0">
                <a:effectLst>
                  <a:outerShdw blurRad="38100" dist="38100" dir="2700000" algn="tl">
                    <a:srgbClr val="000000">
                      <a:alpha val="43137"/>
                    </a:srgbClr>
                  </a:outerShdw>
                </a:effectLst>
              </a:rPr>
              <a:t>if it gives rise to </a:t>
            </a:r>
            <a:r>
              <a:rPr lang="en-US" b="1" dirty="0">
                <a:solidFill>
                  <a:srgbClr val="FF0000"/>
                </a:solidFill>
                <a:effectLst>
                  <a:outerShdw blurRad="38100" dist="38100" dir="2700000" algn="tl">
                    <a:srgbClr val="000000">
                      <a:alpha val="43137"/>
                    </a:srgbClr>
                  </a:outerShdw>
                </a:effectLst>
              </a:rPr>
              <a:t>actual deceit </a:t>
            </a:r>
            <a:r>
              <a:rPr lang="en-US" b="1" dirty="0">
                <a:effectLst>
                  <a:outerShdw blurRad="38100" dist="38100" dir="2700000" algn="tl">
                    <a:srgbClr val="000000">
                      <a:alpha val="43137"/>
                    </a:srgbClr>
                  </a:outerShdw>
                </a:effectLst>
              </a:rPr>
              <a:t>or a sufficiently serious risk that the consumer will be deceived</a:t>
            </a:r>
            <a:endParaRPr lang="pl-PL"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515936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latin typeface="Arial Black" panose="020B0A04020102020204" pitchFamily="34" charset="0"/>
              </a:rPr>
              <a:t>Case Apple</a:t>
            </a:r>
          </a:p>
        </p:txBody>
      </p:sp>
      <p:sp>
        <p:nvSpPr>
          <p:cNvPr id="3" name="Symbol zastępczy zawartości 2"/>
          <p:cNvSpPr>
            <a:spLocks noGrp="1"/>
          </p:cNvSpPr>
          <p:nvPr>
            <p:ph idx="1"/>
          </p:nvPr>
        </p:nvSpPr>
        <p:spPr/>
        <p:txBody>
          <a:bodyPr/>
          <a:lstStyle/>
          <a:p>
            <a:r>
              <a:rPr lang="en-US" sz="2800" b="1" dirty="0">
                <a:solidFill>
                  <a:srgbClr val="002060"/>
                </a:solidFill>
                <a:effectLst>
                  <a:outerShdw blurRad="38100" dist="38100" dir="2700000" algn="tl">
                    <a:srgbClr val="000000">
                      <a:alpha val="43137"/>
                    </a:srgbClr>
                  </a:outerShdw>
                </a:effectLst>
              </a:rPr>
              <a:t>Case C- 421/13</a:t>
            </a:r>
            <a:r>
              <a:rPr lang="pl-PL" sz="2800" b="1" dirty="0">
                <a:solidFill>
                  <a:srgbClr val="002060"/>
                </a:solidFill>
                <a:effectLst>
                  <a:outerShdw blurRad="38100" dist="38100" dir="2700000" algn="tl">
                    <a:srgbClr val="000000">
                      <a:alpha val="43137"/>
                    </a:srgbClr>
                  </a:outerShdw>
                </a:effectLst>
              </a:rPr>
              <a:t> </a:t>
            </a:r>
            <a:r>
              <a:rPr lang="pl-PL" sz="2800" b="1" dirty="0">
                <a:solidFill>
                  <a:srgbClr val="00B0F0"/>
                </a:solidFill>
                <a:effectLst>
                  <a:outerShdw blurRad="38100" dist="38100" dir="2700000" algn="tl">
                    <a:srgbClr val="000000">
                      <a:alpha val="43137"/>
                    </a:srgbClr>
                  </a:outerShdw>
                </a:effectLst>
              </a:rPr>
              <a:t>(picture, see the case)</a:t>
            </a:r>
            <a:endParaRPr lang="en-US" sz="2800" b="1" dirty="0">
              <a:solidFill>
                <a:srgbClr val="00B0F0"/>
              </a:solidFill>
              <a:effectLst>
                <a:outerShdw blurRad="38100" dist="38100" dir="2700000" algn="tl">
                  <a:srgbClr val="000000">
                    <a:alpha val="43137"/>
                  </a:srgbClr>
                </a:outerShdw>
              </a:effectLst>
            </a:endParaRPr>
          </a:p>
          <a:p>
            <a:r>
              <a:rPr lang="en-US" sz="2800" b="1" dirty="0">
                <a:solidFill>
                  <a:srgbClr val="002060"/>
                </a:solidFill>
                <a:effectLst>
                  <a:outerShdw blurRad="38100" dist="38100" dir="2700000" algn="tl">
                    <a:srgbClr val="000000">
                      <a:alpha val="43137"/>
                    </a:srgbClr>
                  </a:outerShdw>
                </a:effectLst>
              </a:rPr>
              <a:t>Can </a:t>
            </a:r>
            <a:r>
              <a:rPr lang="en-US" sz="2800" b="1" dirty="0">
                <a:solidFill>
                  <a:srgbClr val="FF0000"/>
                </a:solidFill>
                <a:effectLst>
                  <a:outerShdw blurRad="38100" dist="38100" dir="2700000" algn="tl">
                    <a:srgbClr val="000000">
                      <a:alpha val="43137"/>
                    </a:srgbClr>
                  </a:outerShdw>
                </a:effectLst>
                <a:highlight>
                  <a:srgbClr val="FFFF00"/>
                </a:highlight>
              </a:rPr>
              <a:t>a layout of a store </a:t>
            </a:r>
            <a:r>
              <a:rPr lang="en-US" sz="2800" b="1" dirty="0">
                <a:solidFill>
                  <a:srgbClr val="002060"/>
                </a:solidFill>
                <a:effectLst>
                  <a:outerShdw blurRad="38100" dist="38100" dir="2700000" algn="tl">
                    <a:srgbClr val="000000">
                      <a:alpha val="43137"/>
                    </a:srgbClr>
                  </a:outerShdw>
                </a:effectLst>
              </a:rPr>
              <a:t>be registered as a trademark</a:t>
            </a:r>
          </a:p>
          <a:p>
            <a:r>
              <a:rPr lang="en-US" sz="2800" b="1" dirty="0">
                <a:solidFill>
                  <a:srgbClr val="002060"/>
                </a:solidFill>
                <a:effectLst>
                  <a:outerShdw blurRad="38100" dist="38100" dir="2700000" algn="tl">
                    <a:srgbClr val="000000">
                      <a:alpha val="43137"/>
                    </a:srgbClr>
                  </a:outerShdw>
                </a:effectLst>
              </a:rPr>
              <a:t>In 2010 Apple’s application to register as </a:t>
            </a:r>
            <a:r>
              <a:rPr lang="pl-PL" sz="2800" b="1" dirty="0">
                <a:solidFill>
                  <a:srgbClr val="002060"/>
                </a:solidFill>
                <a:effectLst>
                  <a:outerShdw blurRad="38100" dist="38100" dir="2700000" algn="tl">
                    <a:srgbClr val="000000">
                      <a:alpha val="43137"/>
                    </a:srgbClr>
                  </a:outerShdw>
                </a:effectLst>
              </a:rPr>
              <a:t>a </a:t>
            </a:r>
            <a:r>
              <a:rPr lang="en-US" sz="2800" b="1" dirty="0">
                <a:solidFill>
                  <a:srgbClr val="002060"/>
                </a:solidFill>
                <a:effectLst>
                  <a:outerShdw blurRad="38100" dist="38100" dir="2700000" algn="tl">
                    <a:srgbClr val="000000">
                      <a:alpha val="43137"/>
                    </a:srgbClr>
                  </a:outerShdw>
                </a:effectLst>
              </a:rPr>
              <a:t>trademark was </a:t>
            </a:r>
            <a:r>
              <a:rPr lang="en-US" sz="2800" b="1" dirty="0">
                <a:solidFill>
                  <a:srgbClr val="FF0000"/>
                </a:solidFill>
                <a:effectLst>
                  <a:outerShdw blurRad="38100" dist="38100" dir="2700000" algn="tl">
                    <a:srgbClr val="000000">
                      <a:alpha val="43137"/>
                    </a:srgbClr>
                  </a:outerShdw>
                </a:effectLst>
              </a:rPr>
              <a:t>rejected in Germany</a:t>
            </a:r>
          </a:p>
          <a:p>
            <a:r>
              <a:rPr lang="en-US" sz="2800" b="1" dirty="0">
                <a:solidFill>
                  <a:srgbClr val="002060"/>
                </a:solidFill>
                <a:effectLst>
                  <a:outerShdw blurRad="38100" dist="38100" dir="2700000" algn="tl">
                    <a:srgbClr val="000000">
                      <a:alpha val="43137"/>
                    </a:srgbClr>
                  </a:outerShdw>
                </a:effectLst>
              </a:rPr>
              <a:t>European Court: the layout of </a:t>
            </a:r>
            <a:r>
              <a:rPr lang="pl-PL" sz="2800" b="1" dirty="0">
                <a:solidFill>
                  <a:srgbClr val="002060"/>
                </a:solidFill>
                <a:effectLst>
                  <a:outerShdw blurRad="38100" dist="38100" dir="2700000" algn="tl">
                    <a:srgbClr val="000000">
                      <a:alpha val="43137"/>
                    </a:srgbClr>
                  </a:outerShdw>
                </a:effectLst>
              </a:rPr>
              <a:t>the </a:t>
            </a:r>
            <a:r>
              <a:rPr lang="en-US" sz="2800" b="1" dirty="0">
                <a:solidFill>
                  <a:srgbClr val="002060"/>
                </a:solidFill>
                <a:effectLst>
                  <a:outerShdw blurRad="38100" dist="38100" dir="2700000" algn="tl">
                    <a:srgbClr val="000000">
                      <a:alpha val="43137"/>
                    </a:srgbClr>
                  </a:outerShdw>
                </a:effectLst>
              </a:rPr>
              <a:t>trade su</a:t>
            </a:r>
            <a:r>
              <a:rPr lang="pl-PL" sz="2800" b="1" dirty="0">
                <a:solidFill>
                  <a:srgbClr val="002060"/>
                </a:solidFill>
                <a:effectLst>
                  <a:outerShdw blurRad="38100" dist="38100" dir="2700000" algn="tl">
                    <a:srgbClr val="000000">
                      <a:alpha val="43137"/>
                    </a:srgbClr>
                  </a:outerShdw>
                </a:effectLst>
              </a:rPr>
              <a:t>r</a:t>
            </a:r>
            <a:r>
              <a:rPr lang="en-US" sz="2800" b="1" dirty="0">
                <a:solidFill>
                  <a:srgbClr val="002060"/>
                </a:solidFill>
                <a:effectLst>
                  <a:outerShdw blurRad="38100" dist="38100" dir="2700000" algn="tl">
                    <a:srgbClr val="000000">
                      <a:alpha val="43137"/>
                    </a:srgbClr>
                  </a:outerShdw>
                </a:effectLst>
              </a:rPr>
              <a:t>face </a:t>
            </a:r>
            <a:r>
              <a:rPr lang="en-US" sz="2800" b="1" dirty="0">
                <a:solidFill>
                  <a:srgbClr val="FF0000"/>
                </a:solidFill>
                <a:effectLst>
                  <a:outerShdw blurRad="38100" dist="38100" dir="2700000" algn="tl">
                    <a:srgbClr val="000000">
                      <a:alpha val="43137"/>
                    </a:srgbClr>
                  </a:outerShdw>
                </a:effectLst>
                <a:highlight>
                  <a:srgbClr val="00FF00"/>
                </a:highlight>
              </a:rPr>
              <a:t>can be registered as a trademark</a:t>
            </a:r>
            <a:r>
              <a:rPr lang="en-US" sz="2800" b="1" dirty="0">
                <a:solidFill>
                  <a:srgbClr val="002060"/>
                </a:solidFill>
                <a:effectLst>
                  <a:outerShdw blurRad="38100" dist="38100" dir="2700000" algn="tl">
                    <a:srgbClr val="000000">
                      <a:alpha val="43137"/>
                    </a:srgbClr>
                  </a:outerShdw>
                </a:effectLst>
              </a:rPr>
              <a:t> under </a:t>
            </a:r>
            <a:r>
              <a:rPr lang="pl-PL" sz="2800" b="1" dirty="0">
                <a:solidFill>
                  <a:srgbClr val="002060"/>
                </a:solidFill>
                <a:effectLst>
                  <a:outerShdw blurRad="38100" dist="38100" dir="2700000" algn="tl">
                    <a:srgbClr val="000000">
                      <a:alpha val="43137"/>
                    </a:srgbClr>
                  </a:outerShdw>
                </a:effectLst>
              </a:rPr>
              <a:t>condition</a:t>
            </a:r>
            <a:r>
              <a:rPr lang="en-US" sz="2800" b="1" dirty="0">
                <a:solidFill>
                  <a:srgbClr val="002060"/>
                </a:solidFill>
                <a:effectLst>
                  <a:outerShdw blurRad="38100" dist="38100" dir="2700000" algn="tl">
                    <a:srgbClr val="000000">
                      <a:alpha val="43137"/>
                    </a:srgbClr>
                  </a:outerShdw>
                </a:effectLst>
              </a:rPr>
              <a:t> it </a:t>
            </a:r>
            <a:r>
              <a:rPr lang="en-US" sz="2800" b="1" dirty="0">
                <a:solidFill>
                  <a:srgbClr val="FF0000"/>
                </a:solidFill>
                <a:effectLst>
                  <a:outerShdw blurRad="38100" dist="38100" dir="2700000" algn="tl">
                    <a:srgbClr val="000000">
                      <a:alpha val="43137"/>
                    </a:srgbClr>
                  </a:outerShdw>
                </a:effectLst>
              </a:rPr>
              <a:t>allows to tell apart services </a:t>
            </a:r>
            <a:r>
              <a:rPr lang="en-US" sz="2800" b="1" dirty="0">
                <a:solidFill>
                  <a:srgbClr val="002060"/>
                </a:solidFill>
                <a:effectLst>
                  <a:outerShdw blurRad="38100" dist="38100" dir="2700000" algn="tl">
                    <a:srgbClr val="000000">
                      <a:alpha val="43137"/>
                    </a:srgbClr>
                  </a:outerShdw>
                </a:effectLst>
              </a:rPr>
              <a:t>of this particular enterprise from the services offered by other businesses</a:t>
            </a:r>
          </a:p>
        </p:txBody>
      </p:sp>
    </p:spTree>
    <p:extLst>
      <p:ext uri="{BB962C8B-B14F-4D97-AF65-F5344CB8AC3E}">
        <p14:creationId xmlns:p14="http://schemas.microsoft.com/office/powerpoint/2010/main" val="66707333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00FF00"/>
                </a:highlight>
              </a:rPr>
              <a:t>Shape as trademark</a:t>
            </a:r>
          </a:p>
        </p:txBody>
      </p:sp>
      <p:sp>
        <p:nvSpPr>
          <p:cNvPr id="3" name="Symbol zastępczy zawartości 2"/>
          <p:cNvSpPr>
            <a:spLocks noGrp="1"/>
          </p:cNvSpPr>
          <p:nvPr>
            <p:ph idx="1"/>
          </p:nvPr>
        </p:nvSpPr>
        <p:spPr>
          <a:xfrm>
            <a:off x="457200" y="1600200"/>
            <a:ext cx="8229600" cy="5257800"/>
          </a:xfrm>
        </p:spPr>
        <p:txBody>
          <a:bodyPr/>
          <a:lstStyle/>
          <a:p>
            <a:r>
              <a:rPr lang="pl-PL" dirty="0"/>
              <a:t> </a:t>
            </a:r>
            <a:r>
              <a:rPr lang="en-US" sz="2400" b="1" dirty="0">
                <a:solidFill>
                  <a:srgbClr val="002060"/>
                </a:solidFill>
                <a:effectLst>
                  <a:outerShdw blurRad="38100" dist="38100" dir="2700000" algn="tl">
                    <a:srgbClr val="000000">
                      <a:alpha val="43137"/>
                    </a:srgbClr>
                  </a:outerShdw>
                </a:effectLst>
              </a:rPr>
              <a:t>C-205/13 </a:t>
            </a:r>
          </a:p>
          <a:p>
            <a:r>
              <a:rPr lang="en-US" sz="2400" b="1" dirty="0">
                <a:solidFill>
                  <a:srgbClr val="002060"/>
                </a:solidFill>
                <a:effectLst>
                  <a:outerShdw blurRad="38100" dist="38100" dir="2700000" algn="tl">
                    <a:srgbClr val="000000">
                      <a:alpha val="43137"/>
                    </a:srgbClr>
                  </a:outerShdw>
                </a:effectLst>
              </a:rPr>
              <a:t>The case concerned </a:t>
            </a:r>
            <a:r>
              <a:rPr lang="en-US" sz="2400" b="1" dirty="0">
                <a:solidFill>
                  <a:srgbClr val="FF0000"/>
                </a:solidFill>
                <a:effectLst>
                  <a:outerShdw blurRad="38100" dist="38100" dir="2700000" algn="tl">
                    <a:srgbClr val="000000">
                      <a:alpha val="43137"/>
                    </a:srgbClr>
                  </a:outerShdw>
                </a:effectLst>
                <a:highlight>
                  <a:srgbClr val="FFFF00"/>
                </a:highlight>
              </a:rPr>
              <a:t>a </a:t>
            </a:r>
            <a:r>
              <a:rPr lang="pl-PL" sz="2400" b="1" dirty="0">
                <a:solidFill>
                  <a:srgbClr val="FF0000"/>
                </a:solidFill>
                <a:effectLst>
                  <a:outerShdw blurRad="38100" dist="38100" dir="2700000" algn="tl">
                    <a:srgbClr val="000000">
                      <a:alpha val="43137"/>
                    </a:srgbClr>
                  </a:outerShdw>
                </a:effectLst>
                <a:highlight>
                  <a:srgbClr val="FFFF00"/>
                </a:highlight>
              </a:rPr>
              <a:t>baby</a:t>
            </a:r>
            <a:r>
              <a:rPr lang="en-US" sz="2400" b="1" dirty="0">
                <a:solidFill>
                  <a:srgbClr val="FF0000"/>
                </a:solidFill>
                <a:effectLst>
                  <a:outerShdw blurRad="38100" dist="38100" dir="2700000" algn="tl">
                    <a:srgbClr val="000000">
                      <a:alpha val="43137"/>
                    </a:srgbClr>
                  </a:outerShdw>
                </a:effectLst>
                <a:highlight>
                  <a:srgbClr val="FFFF00"/>
                </a:highlight>
              </a:rPr>
              <a:t> chair </a:t>
            </a:r>
            <a:r>
              <a:rPr lang="en-US" sz="2400" b="1" dirty="0">
                <a:solidFill>
                  <a:srgbClr val="002060"/>
                </a:solidFill>
                <a:effectLst>
                  <a:outerShdw blurRad="38100" dist="38100" dir="2700000" algn="tl">
                    <a:srgbClr val="000000">
                      <a:alpha val="43137"/>
                    </a:srgbClr>
                  </a:outerShdw>
                </a:effectLst>
              </a:rPr>
              <a:t>of a characteristic shape</a:t>
            </a:r>
          </a:p>
          <a:p>
            <a:r>
              <a:rPr lang="en-US" sz="2400" b="1" dirty="0">
                <a:solidFill>
                  <a:srgbClr val="002060"/>
                </a:solidFill>
                <a:effectLst>
                  <a:outerShdw blurRad="38100" dist="38100" dir="2700000" algn="tl">
                    <a:srgbClr val="000000">
                      <a:alpha val="43137"/>
                    </a:srgbClr>
                  </a:outerShdw>
                </a:effectLst>
              </a:rPr>
              <a:t>1988, Stoke ASS tried to register a trademark shaped as a child’s chair „Tripp-Trapp”</a:t>
            </a:r>
          </a:p>
          <a:p>
            <a:r>
              <a:rPr lang="en-US" sz="2400" b="1" dirty="0">
                <a:solidFill>
                  <a:srgbClr val="002060"/>
                </a:solidFill>
                <a:effectLst>
                  <a:outerShdw blurRad="38100" dist="38100" dir="2700000" algn="tl">
                    <a:srgbClr val="000000">
                      <a:alpha val="43137"/>
                    </a:srgbClr>
                  </a:outerShdw>
                </a:effectLst>
              </a:rPr>
              <a:t>Lawsuit against Hauk company, producer of „Alpha Beta” chairs</a:t>
            </a:r>
          </a:p>
          <a:p>
            <a:r>
              <a:rPr lang="en-US" sz="2400" b="1" dirty="0">
                <a:solidFill>
                  <a:srgbClr val="FF0000"/>
                </a:solidFill>
                <a:effectLst>
                  <a:outerShdw blurRad="38100" dist="38100" dir="2700000" algn="tl">
                    <a:srgbClr val="000000">
                      <a:alpha val="43137"/>
                    </a:srgbClr>
                  </a:outerShdw>
                </a:effectLst>
              </a:rPr>
              <a:t>European Court: </a:t>
            </a:r>
            <a:r>
              <a:rPr lang="en-US" sz="2400" b="1" dirty="0">
                <a:solidFill>
                  <a:srgbClr val="FF0000"/>
                </a:solidFill>
                <a:effectLst>
                  <a:outerShdw blurRad="38100" dist="38100" dir="2700000" algn="tl">
                    <a:srgbClr val="000000">
                      <a:alpha val="43137"/>
                    </a:srgbClr>
                  </a:outerShdw>
                </a:effectLst>
                <a:highlight>
                  <a:srgbClr val="00FFFF"/>
                </a:highlight>
              </a:rPr>
              <a:t>shapes that are express functions </a:t>
            </a:r>
            <a:r>
              <a:rPr lang="en-US" sz="2400" b="1" dirty="0">
                <a:solidFill>
                  <a:srgbClr val="FF0000"/>
                </a:solidFill>
                <a:effectLst>
                  <a:outerShdw blurRad="38100" dist="38100" dir="2700000" algn="tl">
                    <a:srgbClr val="000000">
                      <a:alpha val="43137"/>
                    </a:srgbClr>
                  </a:outerShdw>
                </a:effectLst>
                <a:highlight>
                  <a:srgbClr val="00FF00"/>
                </a:highlight>
              </a:rPr>
              <a:t>cannot </a:t>
            </a:r>
            <a:r>
              <a:rPr lang="en-US" sz="2400" b="1" dirty="0">
                <a:solidFill>
                  <a:srgbClr val="FF0000"/>
                </a:solidFill>
                <a:effectLst>
                  <a:outerShdw blurRad="38100" dist="38100" dir="2700000" algn="tl">
                    <a:srgbClr val="000000">
                      <a:alpha val="43137"/>
                    </a:srgbClr>
                  </a:outerShdw>
                </a:effectLst>
                <a:highlight>
                  <a:srgbClr val="FFFF00"/>
                </a:highlight>
              </a:rPr>
              <a:t>be registered so the trademark must be invalidated</a:t>
            </a:r>
          </a:p>
          <a:p>
            <a:r>
              <a:rPr lang="en-US" sz="2400" b="1" dirty="0">
                <a:solidFill>
                  <a:srgbClr val="FF0000"/>
                </a:solidFill>
                <a:effectLst>
                  <a:outerShdw blurRad="38100" dist="38100" dir="2700000" algn="tl">
                    <a:srgbClr val="000000">
                      <a:alpha val="43137"/>
                    </a:srgbClr>
                  </a:outerShdw>
                </a:effectLst>
              </a:rPr>
              <a:t>Otherwise one company could monopolize certain shape and restrain competition</a:t>
            </a:r>
          </a:p>
        </p:txBody>
      </p:sp>
    </p:spTree>
    <p:extLst>
      <p:ext uri="{BB962C8B-B14F-4D97-AF65-F5344CB8AC3E}">
        <p14:creationId xmlns:p14="http://schemas.microsoft.com/office/powerpoint/2010/main" val="212835699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highlight>
                  <a:srgbClr val="00FF00"/>
                </a:highlight>
              </a:rPr>
              <a:t>Renowned brand name</a:t>
            </a:r>
          </a:p>
        </p:txBody>
      </p:sp>
      <p:sp>
        <p:nvSpPr>
          <p:cNvPr id="3" name="Symbol zastępczy zawartości 2"/>
          <p:cNvSpPr>
            <a:spLocks noGrp="1"/>
          </p:cNvSpPr>
          <p:nvPr>
            <p:ph idx="1"/>
          </p:nvPr>
        </p:nvSpPr>
        <p:spPr/>
        <p:txBody>
          <a:bodyPr/>
          <a:lstStyle/>
          <a:p>
            <a:r>
              <a:rPr lang="en-US" b="1" dirty="0">
                <a:solidFill>
                  <a:srgbClr val="002060"/>
                </a:solidFill>
                <a:effectLst>
                  <a:outerShdw blurRad="38100" dist="38100" dir="2700000" algn="tl">
                    <a:srgbClr val="000000">
                      <a:alpha val="43137"/>
                    </a:srgbClr>
                  </a:outerShdw>
                </a:effectLst>
              </a:rPr>
              <a:t>C – 487/07</a:t>
            </a:r>
          </a:p>
          <a:p>
            <a:r>
              <a:rPr lang="en-US" b="1" dirty="0">
                <a:solidFill>
                  <a:srgbClr val="002060"/>
                </a:solidFill>
                <a:effectLst>
                  <a:outerShdw blurRad="38100" dist="38100" dir="2700000" algn="tl">
                    <a:srgbClr val="000000">
                      <a:alpha val="43137"/>
                    </a:srgbClr>
                  </a:outerShdw>
                </a:effectLst>
              </a:rPr>
              <a:t>Cheap brands Mailaika and Starion exploited </a:t>
            </a:r>
            <a:r>
              <a:rPr lang="en-US" b="1" dirty="0">
                <a:solidFill>
                  <a:srgbClr val="FF0000"/>
                </a:solidFill>
                <a:effectLst>
                  <a:outerShdw blurRad="38100" dist="38100" dir="2700000" algn="tl">
                    <a:srgbClr val="000000">
                      <a:alpha val="43137"/>
                    </a:srgbClr>
                  </a:outerShdw>
                </a:effectLst>
              </a:rPr>
              <a:t>comparative advertising with L’Oreal</a:t>
            </a:r>
          </a:p>
          <a:p>
            <a:r>
              <a:rPr lang="en-US" b="1" dirty="0">
                <a:solidFill>
                  <a:srgbClr val="002060"/>
                </a:solidFill>
                <a:effectLst>
                  <a:outerShdw blurRad="38100" dist="38100" dir="2700000" algn="tl">
                    <a:srgbClr val="000000">
                      <a:alpha val="43137"/>
                    </a:srgbClr>
                  </a:outerShdw>
                </a:effectLst>
              </a:rPr>
              <a:t>COURT: the owner of a renowned trade mark may </a:t>
            </a:r>
            <a:r>
              <a:rPr lang="en-US" b="1" dirty="0">
                <a:solidFill>
                  <a:srgbClr val="FF0000"/>
                </a:solidFill>
                <a:effectLst>
                  <a:outerShdw blurRad="38100" dist="38100" dir="2700000" algn="tl">
                    <a:srgbClr val="000000">
                      <a:alpha val="43137"/>
                    </a:srgbClr>
                  </a:outerShdw>
                </a:effectLst>
              </a:rPr>
              <a:t>demand prohibition </a:t>
            </a:r>
            <a:r>
              <a:rPr lang="en-US" b="1" dirty="0">
                <a:solidFill>
                  <a:srgbClr val="002060"/>
                </a:solidFill>
                <a:effectLst>
                  <a:outerShdw blurRad="38100" dist="38100" dir="2700000" algn="tl">
                    <a:srgbClr val="000000">
                      <a:alpha val="43137"/>
                    </a:srgbClr>
                  </a:outerShdw>
                </a:effectLst>
              </a:rPr>
              <a:t>of </a:t>
            </a:r>
            <a:r>
              <a:rPr lang="en-US" b="1" dirty="0">
                <a:solidFill>
                  <a:srgbClr val="FF0000"/>
                </a:solidFill>
                <a:effectLst>
                  <a:outerShdw blurRad="38100" dist="38100" dir="2700000" algn="tl">
                    <a:srgbClr val="000000">
                      <a:alpha val="43137"/>
                    </a:srgbClr>
                  </a:outerShdw>
                </a:effectLst>
                <a:highlight>
                  <a:srgbClr val="FFFF00"/>
                </a:highlight>
              </a:rPr>
              <a:t>comparative advertising</a:t>
            </a:r>
            <a:r>
              <a:rPr lang="en-US" b="1" dirty="0">
                <a:solidFill>
                  <a:srgbClr val="002060"/>
                </a:solidFill>
                <a:effectLst>
                  <a:outerShdw blurRad="38100" dist="38100" dir="2700000" algn="tl">
                    <a:srgbClr val="000000">
                      <a:alpha val="43137"/>
                    </a:srgbClr>
                  </a:outerShdw>
                </a:effectLst>
              </a:rPr>
              <a:t> with the use of its imitation</a:t>
            </a:r>
          </a:p>
        </p:txBody>
      </p:sp>
    </p:spTree>
    <p:extLst>
      <p:ext uri="{BB962C8B-B14F-4D97-AF65-F5344CB8AC3E}">
        <p14:creationId xmlns:p14="http://schemas.microsoft.com/office/powerpoint/2010/main" val="60263305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highlight>
                  <a:srgbClr val="00FF00"/>
                </a:highlight>
              </a:rPr>
              <a:t>Case Volvo</a:t>
            </a:r>
          </a:p>
        </p:txBody>
      </p:sp>
      <p:sp>
        <p:nvSpPr>
          <p:cNvPr id="3" name="Symbol zastępczy zawartości 2"/>
          <p:cNvSpPr>
            <a:spLocks noGrp="1"/>
          </p:cNvSpPr>
          <p:nvPr>
            <p:ph idx="1"/>
          </p:nvPr>
        </p:nvSpPr>
        <p:spPr>
          <a:xfrm>
            <a:off x="457200" y="1600200"/>
            <a:ext cx="8229600" cy="5069160"/>
          </a:xfrm>
        </p:spPr>
        <p:txBody>
          <a:bodyPr/>
          <a:lstStyle/>
          <a:p>
            <a:r>
              <a:rPr lang="en-US" b="1" dirty="0">
                <a:solidFill>
                  <a:srgbClr val="002060"/>
                </a:solidFill>
                <a:effectLst>
                  <a:outerShdw blurRad="38100" dist="38100" dir="2700000" algn="tl">
                    <a:srgbClr val="000000">
                      <a:alpha val="43137"/>
                    </a:srgbClr>
                  </a:outerShdw>
                </a:effectLst>
              </a:rPr>
              <a:t>Case T‑434/07</a:t>
            </a:r>
            <a:endParaRPr lang="pl-PL" b="1" dirty="0">
              <a:solidFill>
                <a:srgbClr val="002060"/>
              </a:solidFill>
              <a:effectLst>
                <a:outerShdw blurRad="38100" dist="38100" dir="2700000" algn="tl">
                  <a:srgbClr val="000000">
                    <a:alpha val="43137"/>
                  </a:srgbClr>
                </a:outerShdw>
              </a:effectLst>
            </a:endParaRPr>
          </a:p>
          <a:p>
            <a:r>
              <a:rPr lang="en-US" b="1" dirty="0">
                <a:solidFill>
                  <a:srgbClr val="FF0000"/>
                </a:solidFill>
                <a:effectLst>
                  <a:outerShdw blurRad="38100" dist="38100" dir="2700000" algn="tl">
                    <a:srgbClr val="000000">
                      <a:alpha val="43137"/>
                    </a:srgbClr>
                  </a:outerShdw>
                </a:effectLst>
              </a:rPr>
              <a:t>Volvo Trademark </a:t>
            </a:r>
            <a:r>
              <a:rPr lang="en-US" b="1" dirty="0">
                <a:solidFill>
                  <a:srgbClr val="002060"/>
                </a:solidFill>
                <a:effectLst>
                  <a:outerShdw blurRad="38100" dist="38100" dir="2700000" algn="tl">
                    <a:srgbClr val="000000">
                      <a:alpha val="43137"/>
                    </a:srgbClr>
                  </a:outerShdw>
                </a:effectLst>
              </a:rPr>
              <a:t>Holding AB</a:t>
            </a:r>
            <a:r>
              <a:rPr lang="pl-PL" b="1"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v</a:t>
            </a:r>
            <a:r>
              <a:rPr lang="pl-PL"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Office for Harmonisation in the Internal Market (Trade Marks and Designs) (OHIM),</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On 26 November 2003, the intervener, Ms Elena Grebenshikova, filed an </a:t>
            </a:r>
            <a:r>
              <a:rPr lang="en-US" b="1" dirty="0">
                <a:solidFill>
                  <a:srgbClr val="002060"/>
                </a:solidFill>
                <a:effectLst>
                  <a:outerShdw blurRad="38100" dist="38100" dir="2700000" algn="tl">
                    <a:srgbClr val="000000">
                      <a:alpha val="43137"/>
                    </a:srgbClr>
                  </a:outerShdw>
                </a:effectLst>
              </a:rPr>
              <a:t>application for a Community trademark</a:t>
            </a:r>
            <a:r>
              <a:rPr lang="en-US" dirty="0">
                <a:solidFill>
                  <a:srgbClr val="002060"/>
                </a:solidFill>
                <a:effectLst>
                  <a:outerShdw blurRad="38100" dist="38100" dir="2700000" algn="tl">
                    <a:srgbClr val="000000">
                      <a:alpha val="43137"/>
                    </a:srgbClr>
                  </a:outerShdw>
                </a:effectLst>
              </a:rPr>
              <a:t> at the O</a:t>
            </a:r>
            <a:r>
              <a:rPr lang="pl-PL" dirty="0">
                <a:solidFill>
                  <a:srgbClr val="002060"/>
                </a:solidFill>
                <a:effectLst>
                  <a:outerShdw blurRad="38100" dist="38100" dir="2700000" algn="tl">
                    <a:srgbClr val="000000">
                      <a:alpha val="43137"/>
                    </a:srgbClr>
                  </a:outerShdw>
                </a:effectLst>
              </a:rPr>
              <a:t>HIM. </a:t>
            </a:r>
            <a:r>
              <a:rPr lang="en-US" b="1" dirty="0">
                <a:solidFill>
                  <a:srgbClr val="002060"/>
                </a:solidFill>
                <a:effectLst>
                  <a:outerShdw blurRad="38100" dist="38100" dir="2700000" algn="tl">
                    <a:srgbClr val="000000">
                      <a:alpha val="43137"/>
                    </a:srgbClr>
                  </a:outerShdw>
                </a:effectLst>
              </a:rPr>
              <a:t>The trade application concerned the following figurative sign</a:t>
            </a:r>
            <a:r>
              <a:rPr lang="pl-PL" b="1" dirty="0">
                <a:solidFill>
                  <a:srgbClr val="002060"/>
                </a:solidFill>
                <a:effectLst>
                  <a:outerShdw blurRad="38100" dist="38100" dir="2700000" algn="tl">
                    <a:srgbClr val="000000">
                      <a:alpha val="43137"/>
                    </a:srgbClr>
                  </a:outerShdw>
                </a:effectLst>
              </a:rPr>
              <a:t> </a:t>
            </a:r>
            <a:r>
              <a:rPr lang="pl-PL" b="1" dirty="0">
                <a:effectLst>
                  <a:outerShdw blurRad="38100" dist="38100" dir="2700000" algn="tl">
                    <a:srgbClr val="000000">
                      <a:alpha val="43137"/>
                    </a:srgbClr>
                  </a:outerShdw>
                </a:effectLst>
              </a:rPr>
              <a:t>(</a:t>
            </a:r>
            <a:r>
              <a:rPr lang="pl-PL" b="1" dirty="0">
                <a:solidFill>
                  <a:srgbClr val="FF0000"/>
                </a:solidFill>
                <a:effectLst>
                  <a:outerShdw blurRad="38100" dist="38100" dir="2700000" algn="tl">
                    <a:srgbClr val="000000">
                      <a:alpha val="43137"/>
                    </a:srgbClr>
                  </a:outerShdw>
                </a:effectLst>
              </a:rPr>
              <a:t>for software</a:t>
            </a:r>
            <a:r>
              <a:rPr lang="pl-PL" b="1" dirty="0">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0295689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pic>
        <p:nvPicPr>
          <p:cNvPr id="4" name="Symbol zastępczy zawartości 3" descr="Image not found"/>
          <p:cNvPicPr>
            <a:picLocks noGrp="1"/>
          </p:cNvPicPr>
          <p:nvPr>
            <p:ph idx="1"/>
          </p:nvPr>
        </p:nvPicPr>
        <p:blipFill>
          <a:blip r:embed="rId2" cstate="print"/>
          <a:srcRect/>
          <a:stretch>
            <a:fillRect/>
          </a:stretch>
        </p:blipFill>
        <p:spPr bwMode="auto">
          <a:xfrm>
            <a:off x="800100" y="2391569"/>
            <a:ext cx="7543800" cy="2943225"/>
          </a:xfrm>
          <a:prstGeom prst="rect">
            <a:avLst/>
          </a:prstGeom>
          <a:noFill/>
          <a:ln w="9525">
            <a:noFill/>
            <a:miter lim="800000"/>
            <a:headEnd/>
            <a:tailEnd/>
          </a:ln>
        </p:spPr>
      </p:pic>
    </p:spTree>
    <p:extLst>
      <p:ext uri="{BB962C8B-B14F-4D97-AF65-F5344CB8AC3E}">
        <p14:creationId xmlns:p14="http://schemas.microsoft.com/office/powerpoint/2010/main" val="352103023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en-US" sz="2800" b="1" dirty="0">
                <a:effectLst>
                  <a:outerShdw blurRad="38100" dist="38100" dir="2700000" algn="tl">
                    <a:srgbClr val="000000">
                      <a:alpha val="43137"/>
                    </a:srgbClr>
                  </a:outerShdw>
                </a:effectLst>
              </a:rPr>
              <a:t>The Community </a:t>
            </a:r>
            <a:r>
              <a:rPr lang="en-US" sz="2800" b="1" dirty="0">
                <a:solidFill>
                  <a:srgbClr val="FF0000"/>
                </a:solidFill>
                <a:effectLst>
                  <a:outerShdw blurRad="38100" dist="38100" dir="2700000" algn="tl">
                    <a:srgbClr val="000000">
                      <a:alpha val="43137"/>
                    </a:srgbClr>
                  </a:outerShdw>
                </a:effectLst>
              </a:rPr>
              <a:t>trade mark application was published </a:t>
            </a:r>
            <a:r>
              <a:rPr lang="en-US" sz="2800" b="1" dirty="0">
                <a:effectLst>
                  <a:outerShdw blurRad="38100" dist="38100" dir="2700000" algn="tl">
                    <a:srgbClr val="000000">
                      <a:alpha val="43137"/>
                    </a:srgbClr>
                  </a:outerShdw>
                </a:effectLst>
              </a:rPr>
              <a:t>in </a:t>
            </a:r>
            <a:r>
              <a:rPr lang="en-US" sz="2800" b="1" i="1" dirty="0">
                <a:effectLst>
                  <a:outerShdw blurRad="38100" dist="38100" dir="2700000" algn="tl">
                    <a:srgbClr val="000000">
                      <a:alpha val="43137"/>
                    </a:srgbClr>
                  </a:outerShdw>
                </a:effectLst>
              </a:rPr>
              <a:t>Community Trade Marks Bulletin</a:t>
            </a:r>
            <a:r>
              <a:rPr lang="en-US" sz="2800" dirty="0">
                <a:effectLst>
                  <a:outerShdw blurRad="38100" dist="38100" dir="2700000" algn="tl">
                    <a:srgbClr val="000000">
                      <a:alpha val="43137"/>
                    </a:srgbClr>
                  </a:outerShdw>
                </a:effectLst>
              </a:rPr>
              <a:t> No 47/2004 of 22 November 2004. </a:t>
            </a:r>
            <a:endParaRPr lang="pl-PL"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 On 17 February 2005, the applicant, </a:t>
            </a:r>
            <a:r>
              <a:rPr lang="en-US" sz="2800" b="1" dirty="0">
                <a:solidFill>
                  <a:srgbClr val="FF0000"/>
                </a:solidFill>
                <a:effectLst>
                  <a:outerShdw blurRad="38100" dist="38100" dir="2700000" algn="tl">
                    <a:srgbClr val="000000">
                      <a:alpha val="43137"/>
                    </a:srgbClr>
                  </a:outerShdw>
                </a:effectLst>
              </a:rPr>
              <a:t>Volvo</a:t>
            </a:r>
            <a:r>
              <a:rPr lang="en-US" sz="2800" dirty="0">
                <a:effectLst>
                  <a:outerShdw blurRad="38100" dist="38100" dir="2700000" algn="tl">
                    <a:srgbClr val="000000">
                      <a:alpha val="43137"/>
                    </a:srgbClr>
                  </a:outerShdw>
                </a:effectLst>
              </a:rPr>
              <a:t> Trademark Holding AB, filed </a:t>
            </a:r>
            <a:r>
              <a:rPr lang="en-US" sz="2800" b="1" dirty="0">
                <a:solidFill>
                  <a:srgbClr val="FF0000"/>
                </a:solidFill>
                <a:effectLst>
                  <a:outerShdw blurRad="38100" dist="38100" dir="2700000" algn="tl">
                    <a:srgbClr val="000000">
                      <a:alpha val="43137"/>
                    </a:srgbClr>
                  </a:outerShdw>
                </a:effectLst>
              </a:rPr>
              <a:t>a notice of opposition </a:t>
            </a:r>
            <a:endParaRPr lang="pl-PL" sz="2800" b="1" dirty="0">
              <a:solidFill>
                <a:srgbClr val="FF0000"/>
              </a:solidFill>
              <a:effectLst>
                <a:outerShdw blurRad="38100" dist="38100" dir="2700000" algn="tl">
                  <a:srgbClr val="000000">
                    <a:alpha val="43137"/>
                  </a:srgbClr>
                </a:outerShdw>
              </a:effectLst>
            </a:endParaRPr>
          </a:p>
          <a:p>
            <a:r>
              <a:rPr lang="en-US" sz="2800" b="1" dirty="0">
                <a:solidFill>
                  <a:srgbClr val="002060"/>
                </a:solidFill>
                <a:effectLst>
                  <a:outerShdw blurRad="38100" dist="38100" dir="2700000" algn="tl">
                    <a:srgbClr val="000000">
                      <a:alpha val="43137"/>
                    </a:srgbClr>
                  </a:outerShdw>
                </a:effectLst>
              </a:rPr>
              <a:t>The opposition was based on the two earlier </a:t>
            </a:r>
            <a:r>
              <a:rPr lang="en-US" sz="2800" dirty="0">
                <a:effectLst>
                  <a:outerShdw blurRad="38100" dist="38100" dir="2700000" algn="tl">
                    <a:srgbClr val="000000">
                      <a:alpha val="43137"/>
                    </a:srgbClr>
                  </a:outerShdw>
                </a:effectLst>
              </a:rPr>
              <a:t>Community </a:t>
            </a:r>
            <a:r>
              <a:rPr lang="en-US" sz="2800" b="1" dirty="0">
                <a:solidFill>
                  <a:srgbClr val="002060"/>
                </a:solidFill>
                <a:effectLst>
                  <a:outerShdw blurRad="38100" dist="38100" dir="2700000" algn="tl">
                    <a:srgbClr val="000000">
                      <a:alpha val="43137"/>
                    </a:srgbClr>
                  </a:outerShdw>
                </a:effectLst>
              </a:rPr>
              <a:t>trade mark registrations </a:t>
            </a:r>
            <a:r>
              <a:rPr lang="en-US" sz="2800" dirty="0">
                <a:effectLst>
                  <a:outerShdw blurRad="38100" dist="38100" dir="2700000" algn="tl">
                    <a:srgbClr val="000000">
                      <a:alpha val="43137"/>
                    </a:srgbClr>
                  </a:outerShdw>
                </a:effectLst>
              </a:rPr>
              <a:t>and on the four earlier United Kingdom registrations </a:t>
            </a:r>
            <a:r>
              <a:rPr lang="en-US" sz="2800" b="1" dirty="0">
                <a:solidFill>
                  <a:srgbClr val="002060"/>
                </a:solidFill>
                <a:effectLst>
                  <a:outerShdw blurRad="38100" dist="38100" dir="2700000" algn="tl">
                    <a:srgbClr val="000000">
                      <a:alpha val="43137"/>
                    </a:srgbClr>
                  </a:outerShdw>
                </a:effectLst>
              </a:rPr>
              <a:t>relating to the word sign VOLVO</a:t>
            </a:r>
            <a:endParaRPr lang="pl-PL" sz="2800" b="1" dirty="0">
              <a:solidFill>
                <a:srgbClr val="002060"/>
              </a:solidFill>
              <a:effectLst>
                <a:outerShdw blurRad="38100" dist="38100" dir="2700000" algn="tl">
                  <a:srgbClr val="000000">
                    <a:alpha val="43137"/>
                  </a:srgbClr>
                </a:outerShdw>
              </a:effectLst>
            </a:endParaRPr>
          </a:p>
          <a:p>
            <a:endParaRPr lang="pl-PL" dirty="0"/>
          </a:p>
        </p:txBody>
      </p:sp>
    </p:spTree>
    <p:extLst>
      <p:ext uri="{BB962C8B-B14F-4D97-AF65-F5344CB8AC3E}">
        <p14:creationId xmlns:p14="http://schemas.microsoft.com/office/powerpoint/2010/main" val="30613198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en-US" dirty="0">
                <a:effectLst>
                  <a:outerShdw blurRad="38100" dist="38100" dir="2700000" algn="tl">
                    <a:srgbClr val="000000">
                      <a:alpha val="43137"/>
                    </a:srgbClr>
                  </a:outerShdw>
                </a:effectLst>
              </a:rPr>
              <a:t>The opposition was also based on the </a:t>
            </a:r>
            <a:r>
              <a:rPr lang="en-US" b="1" dirty="0">
                <a:solidFill>
                  <a:srgbClr val="FF0000"/>
                </a:solidFill>
                <a:effectLst>
                  <a:outerShdw blurRad="38100" dist="38100" dir="2700000" algn="tl">
                    <a:srgbClr val="000000">
                      <a:alpha val="43137"/>
                    </a:srgbClr>
                  </a:outerShdw>
                </a:effectLst>
              </a:rPr>
              <a:t>earlier United Kingdom registration </a:t>
            </a:r>
            <a:r>
              <a:rPr lang="en-US" dirty="0">
                <a:effectLst>
                  <a:outerShdw blurRad="38100" dist="38100" dir="2700000" algn="tl">
                    <a:srgbClr val="000000">
                      <a:alpha val="43137"/>
                    </a:srgbClr>
                  </a:outerShdw>
                </a:effectLst>
              </a:rPr>
              <a:t>No 747 361, relating to the following figurative sign</a:t>
            </a:r>
            <a:r>
              <a:rPr lang="en-US" dirty="0"/>
              <a:t>: </a:t>
            </a:r>
            <a:endParaRPr lang="pl-PL" dirty="0"/>
          </a:p>
          <a:p>
            <a:pPr marL="0" indent="0">
              <a:buNone/>
            </a:pPr>
            <a:endParaRPr lang="pl-PL" dirty="0"/>
          </a:p>
          <a:p>
            <a:pPr marL="0" indent="0">
              <a:buNone/>
            </a:pPr>
            <a:endParaRPr lang="pl-PL" dirty="0"/>
          </a:p>
          <a:p>
            <a:pPr marL="0" indent="0">
              <a:buNone/>
            </a:pPr>
            <a:endParaRPr lang="pl-PL" dirty="0"/>
          </a:p>
        </p:txBody>
      </p:sp>
      <p:pic>
        <p:nvPicPr>
          <p:cNvPr id="13" name="Obraz 12" descr="Image not found"/>
          <p:cNvPicPr/>
          <p:nvPr/>
        </p:nvPicPr>
        <p:blipFill>
          <a:blip r:embed="rId2" cstate="print"/>
          <a:srcRect/>
          <a:stretch>
            <a:fillRect/>
          </a:stretch>
        </p:blipFill>
        <p:spPr bwMode="auto">
          <a:xfrm>
            <a:off x="4000500" y="3501008"/>
            <a:ext cx="1143000" cy="971550"/>
          </a:xfrm>
          <a:prstGeom prst="rect">
            <a:avLst/>
          </a:prstGeom>
          <a:noFill/>
          <a:ln w="9525">
            <a:noFill/>
            <a:miter lim="800000"/>
            <a:headEnd/>
            <a:tailEnd/>
          </a:ln>
        </p:spPr>
      </p:pic>
    </p:spTree>
    <p:extLst>
      <p:ext uri="{BB962C8B-B14F-4D97-AF65-F5344CB8AC3E}">
        <p14:creationId xmlns:p14="http://schemas.microsoft.com/office/powerpoint/2010/main" val="22830726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en-US" sz="2800" dirty="0"/>
              <a:t>By decision of 23 August 2006, the Opposition Division</a:t>
            </a:r>
            <a:r>
              <a:rPr lang="pl-PL" sz="2800" dirty="0"/>
              <a:t> of OHIM </a:t>
            </a:r>
            <a:r>
              <a:rPr lang="en-US" sz="2800" dirty="0"/>
              <a:t> </a:t>
            </a:r>
            <a:r>
              <a:rPr lang="en-US" sz="2800" b="1" dirty="0">
                <a:solidFill>
                  <a:srgbClr val="FF0000"/>
                </a:solidFill>
                <a:effectLst>
                  <a:outerShdw blurRad="38100" dist="38100" dir="2700000" algn="tl">
                    <a:srgbClr val="000000">
                      <a:alpha val="43137"/>
                    </a:srgbClr>
                  </a:outerShdw>
                </a:effectLst>
              </a:rPr>
              <a:t>rejected the opposition </a:t>
            </a:r>
            <a:r>
              <a:rPr lang="en-US" sz="2800" dirty="0"/>
              <a:t>on the ground that the </a:t>
            </a:r>
            <a:r>
              <a:rPr lang="en-US" sz="2800" b="1" dirty="0">
                <a:solidFill>
                  <a:srgbClr val="FF0000"/>
                </a:solidFill>
                <a:effectLst>
                  <a:outerShdw blurRad="38100" dist="38100" dir="2700000" algn="tl">
                    <a:srgbClr val="000000">
                      <a:alpha val="43137"/>
                    </a:srgbClr>
                  </a:outerShdw>
                </a:effectLst>
                <a:highlight>
                  <a:srgbClr val="FFFF00"/>
                </a:highlight>
              </a:rPr>
              <a:t>signs at issue were not similar</a:t>
            </a:r>
            <a:endParaRPr lang="pl-PL" sz="2800" b="1" dirty="0">
              <a:solidFill>
                <a:srgbClr val="FF0000"/>
              </a:solidFill>
              <a:effectLst>
                <a:outerShdw blurRad="38100" dist="38100" dir="2700000" algn="tl">
                  <a:srgbClr val="000000">
                    <a:alpha val="43137"/>
                  </a:srgbClr>
                </a:outerShdw>
              </a:effectLst>
              <a:highlight>
                <a:srgbClr val="FFFF00"/>
              </a:highlight>
            </a:endParaRPr>
          </a:p>
          <a:p>
            <a:r>
              <a:rPr lang="en-US" sz="2800" b="1" dirty="0"/>
              <a:t>taking into consideration only the earlier</a:t>
            </a:r>
            <a:r>
              <a:rPr lang="en-US" sz="2800" dirty="0"/>
              <a:t> Community trade mark No 2361087, which related to the word sign VOLVO and covered goods and services in Classes 9 and 42, </a:t>
            </a:r>
            <a:r>
              <a:rPr lang="en-US" sz="2800" b="1" dirty="0">
                <a:highlight>
                  <a:srgbClr val="FFFF00"/>
                </a:highlight>
              </a:rPr>
              <a:t>holding that that </a:t>
            </a:r>
            <a:r>
              <a:rPr lang="en-US" sz="2800" b="1" dirty="0">
                <a:solidFill>
                  <a:srgbClr val="FF0000"/>
                </a:solidFill>
                <a:effectLst>
                  <a:outerShdw blurRad="38100" dist="38100" dir="2700000" algn="tl">
                    <a:srgbClr val="000000">
                      <a:alpha val="43137"/>
                    </a:srgbClr>
                  </a:outerShdw>
                </a:effectLst>
                <a:highlight>
                  <a:srgbClr val="FFFF00"/>
                </a:highlight>
              </a:rPr>
              <a:t>did not adversely affect the applicant’s position</a:t>
            </a:r>
            <a:endParaRPr lang="pl-PL" sz="2800" dirty="0">
              <a:highlight>
                <a:srgbClr val="FFFF00"/>
              </a:highlight>
            </a:endParaRPr>
          </a:p>
          <a:p>
            <a:r>
              <a:rPr lang="pl-PL" sz="2800" dirty="0"/>
              <a:t>T</a:t>
            </a:r>
            <a:r>
              <a:rPr lang="en-US" sz="2800" dirty="0"/>
              <a:t>he applicant </a:t>
            </a:r>
            <a:r>
              <a:rPr lang="en-US" sz="2800" b="1" dirty="0">
                <a:solidFill>
                  <a:srgbClr val="FF0000"/>
                </a:solidFill>
                <a:effectLst>
                  <a:outerShdw blurRad="38100" dist="38100" dir="2700000" algn="tl">
                    <a:srgbClr val="000000">
                      <a:alpha val="43137"/>
                    </a:srgbClr>
                  </a:outerShdw>
                </a:effectLst>
              </a:rPr>
              <a:t>lodged an appeal </a:t>
            </a:r>
            <a:r>
              <a:rPr lang="en-US" sz="2800" dirty="0"/>
              <a:t>against the Opposition Division’s decision</a:t>
            </a:r>
            <a:endParaRPr lang="pl-PL" sz="2800" dirty="0"/>
          </a:p>
          <a:p>
            <a:pPr marL="0" indent="0">
              <a:buNone/>
            </a:pPr>
            <a:endParaRPr lang="pl-PL" dirty="0"/>
          </a:p>
        </p:txBody>
      </p:sp>
    </p:spTree>
    <p:extLst>
      <p:ext uri="{BB962C8B-B14F-4D97-AF65-F5344CB8AC3E}">
        <p14:creationId xmlns:p14="http://schemas.microsoft.com/office/powerpoint/2010/main" val="165787375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pl-PL" dirty="0"/>
              <a:t>T</a:t>
            </a:r>
            <a:r>
              <a:rPr lang="en-US" dirty="0"/>
              <a:t>he Second Board of Appeal </a:t>
            </a:r>
            <a:r>
              <a:rPr lang="en-US" b="1" dirty="0">
                <a:solidFill>
                  <a:srgbClr val="FF0000"/>
                </a:solidFill>
                <a:effectLst>
                  <a:outerShdw blurRad="38100" dist="38100" dir="2700000" algn="tl">
                    <a:srgbClr val="000000">
                      <a:alpha val="43137"/>
                    </a:srgbClr>
                  </a:outerShdw>
                </a:effectLst>
              </a:rPr>
              <a:t>dismissed the appeal</a:t>
            </a:r>
            <a:endParaRPr lang="pl-PL" b="1" dirty="0">
              <a:solidFill>
                <a:srgbClr val="FF0000"/>
              </a:solidFill>
              <a:effectLst>
                <a:outerShdw blurRad="38100" dist="38100" dir="2700000" algn="tl">
                  <a:srgbClr val="000000">
                    <a:alpha val="43137"/>
                  </a:srgbClr>
                </a:outerShdw>
              </a:effectLst>
            </a:endParaRPr>
          </a:p>
          <a:p>
            <a:r>
              <a:rPr lang="pl-PL" dirty="0"/>
              <a:t>I</a:t>
            </a:r>
            <a:r>
              <a:rPr lang="en-US" dirty="0"/>
              <a:t>t held that the </a:t>
            </a:r>
            <a:r>
              <a:rPr lang="en-US" b="1" dirty="0">
                <a:solidFill>
                  <a:srgbClr val="FF0000"/>
                </a:solidFill>
                <a:effectLst>
                  <a:outerShdw blurRad="38100" dist="38100" dir="2700000" algn="tl">
                    <a:srgbClr val="000000">
                      <a:alpha val="43137"/>
                    </a:srgbClr>
                  </a:outerShdw>
                </a:effectLst>
                <a:highlight>
                  <a:srgbClr val="FFFF00"/>
                </a:highlight>
              </a:rPr>
              <a:t>marks at issue were not similar</a:t>
            </a:r>
            <a:endParaRPr lang="pl-PL" dirty="0">
              <a:highlight>
                <a:srgbClr val="FFFF00"/>
              </a:highlight>
            </a:endParaRPr>
          </a:p>
          <a:p>
            <a:r>
              <a:rPr lang="pl-PL" dirty="0">
                <a:highlight>
                  <a:srgbClr val="FFFF00"/>
                </a:highlight>
              </a:rPr>
              <a:t>T</a:t>
            </a:r>
            <a:r>
              <a:rPr lang="en-US" dirty="0">
                <a:highlight>
                  <a:srgbClr val="FFFF00"/>
                </a:highlight>
              </a:rPr>
              <a:t>here was </a:t>
            </a:r>
            <a:r>
              <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no factor common to both signs </a:t>
            </a:r>
            <a:r>
              <a:rPr lang="en-US" b="1" dirty="0">
                <a:solidFill>
                  <a:srgbClr val="002060"/>
                </a:solidFill>
                <a:effectLst>
                  <a:outerShdw blurRad="38100" dist="38100" dir="2700000" algn="tl">
                    <a:srgbClr val="000000">
                      <a:alpha val="43137"/>
                    </a:srgbClr>
                  </a:outerShdw>
                </a:effectLst>
                <a:highlight>
                  <a:srgbClr val="FFFF00"/>
                </a:highlight>
                <a:latin typeface="Arial Black" panose="020B0A04020102020204" pitchFamily="34" charset="0"/>
              </a:rPr>
              <a:t>which might lead to the belief that there was an economic link </a:t>
            </a:r>
            <a:r>
              <a:rPr lang="en-US" dirty="0">
                <a:solidFill>
                  <a:srgbClr val="002060"/>
                </a:solidFill>
                <a:highlight>
                  <a:srgbClr val="FFFF00"/>
                </a:highlight>
                <a:latin typeface="Arial Black" panose="020B0A04020102020204" pitchFamily="34" charset="0"/>
              </a:rPr>
              <a:t>between them </a:t>
            </a:r>
            <a:endParaRPr lang="pl-PL" dirty="0">
              <a:solidFill>
                <a:srgbClr val="002060"/>
              </a:solidFill>
              <a:highlight>
                <a:srgbClr val="FFFF00"/>
              </a:highlight>
              <a:latin typeface="Arial Black" panose="020B0A04020102020204" pitchFamily="34" charset="0"/>
            </a:endParaRPr>
          </a:p>
          <a:p>
            <a:endParaRPr lang="pl-PL" dirty="0"/>
          </a:p>
        </p:txBody>
      </p:sp>
    </p:spTree>
    <p:extLst>
      <p:ext uri="{BB962C8B-B14F-4D97-AF65-F5344CB8AC3E}">
        <p14:creationId xmlns:p14="http://schemas.microsoft.com/office/powerpoint/2010/main" val="36278354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a:xfrm>
            <a:off x="457200" y="1556792"/>
            <a:ext cx="8075240" cy="4597971"/>
          </a:xfrm>
        </p:spPr>
        <p:txBody>
          <a:bodyPr/>
          <a:lstStyle/>
          <a:p>
            <a:pPr marL="0" indent="0">
              <a:buNone/>
            </a:pPr>
            <a:r>
              <a:rPr lang="pl-PL" b="1" dirty="0">
                <a:solidFill>
                  <a:srgbClr val="002060"/>
                </a:solidFill>
              </a:rPr>
              <a:t>ARGUMENT OF THE PARTIES</a:t>
            </a:r>
            <a:r>
              <a:rPr lang="pl-PL" dirty="0"/>
              <a:t>:</a:t>
            </a:r>
          </a:p>
          <a:p>
            <a:r>
              <a:rPr lang="en-US" sz="2800" b="1" dirty="0">
                <a:solidFill>
                  <a:srgbClr val="FF0000"/>
                </a:solidFill>
                <a:effectLst>
                  <a:outerShdw blurRad="38100" dist="38100" dir="2700000" algn="tl">
                    <a:srgbClr val="000000">
                      <a:alpha val="43137"/>
                    </a:srgbClr>
                  </a:outerShdw>
                </a:effectLst>
              </a:rPr>
              <a:t>The applicant </a:t>
            </a:r>
            <a:r>
              <a:rPr lang="en-US" sz="2800" dirty="0"/>
              <a:t>claims that the Board of Appeal </a:t>
            </a:r>
            <a:r>
              <a:rPr lang="en-US" sz="2800" b="1" dirty="0"/>
              <a:t>wrongly held that the signs at issue were not similar </a:t>
            </a:r>
            <a:r>
              <a:rPr lang="en-US" sz="2800" dirty="0"/>
              <a:t>and puts forward four arguments in this connection. </a:t>
            </a:r>
            <a:endParaRPr lang="pl-PL" sz="2800" dirty="0"/>
          </a:p>
          <a:p>
            <a:r>
              <a:rPr lang="en-US" sz="2800" dirty="0"/>
              <a:t>First, </a:t>
            </a:r>
            <a:r>
              <a:rPr lang="en-US" sz="2800" b="1" dirty="0">
                <a:solidFill>
                  <a:srgbClr val="002060"/>
                </a:solidFill>
                <a:effectLst>
                  <a:outerShdw blurRad="38100" dist="38100" dir="2700000" algn="tl">
                    <a:srgbClr val="000000">
                      <a:alpha val="43137"/>
                    </a:srgbClr>
                  </a:outerShdw>
                </a:effectLst>
              </a:rPr>
              <a:t>the difference of the initial letter of the signs at issue is not sufficient to rule out any similarity </a:t>
            </a:r>
            <a:r>
              <a:rPr lang="en-US" sz="2800" dirty="0"/>
              <a:t>between those signs, having regard to the fact that </a:t>
            </a:r>
            <a:r>
              <a:rPr lang="en-US" sz="2800" b="1" dirty="0">
                <a:solidFill>
                  <a:srgbClr val="002060"/>
                </a:solidFill>
                <a:effectLst>
                  <a:outerShdw blurRad="38100" dist="38100" dir="2700000" algn="tl">
                    <a:srgbClr val="000000">
                      <a:alpha val="43137"/>
                    </a:srgbClr>
                  </a:outerShdw>
                </a:effectLst>
              </a:rPr>
              <a:t>four of the five letters of which they consist are identical</a:t>
            </a:r>
            <a:r>
              <a:rPr lang="en-US" sz="2800" dirty="0"/>
              <a:t> and in the same position. </a:t>
            </a:r>
            <a:endParaRPr lang="pl-PL" sz="2800" dirty="0"/>
          </a:p>
          <a:p>
            <a:endParaRPr lang="pl-PL" dirty="0"/>
          </a:p>
        </p:txBody>
      </p:sp>
    </p:spTree>
    <p:extLst>
      <p:ext uri="{BB962C8B-B14F-4D97-AF65-F5344CB8AC3E}">
        <p14:creationId xmlns:p14="http://schemas.microsoft.com/office/powerpoint/2010/main" val="313480075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en-US" sz="2800" dirty="0">
                <a:effectLst>
                  <a:outerShdw blurRad="38100" dist="38100" dir="2700000" algn="tl">
                    <a:srgbClr val="000000">
                      <a:alpha val="43137"/>
                    </a:srgbClr>
                  </a:outerShdw>
                </a:effectLst>
              </a:rPr>
              <a:t>Secondly, the Board of Appeal </a:t>
            </a:r>
            <a:r>
              <a:rPr lang="en-US" sz="2800" b="1" dirty="0">
                <a:solidFill>
                  <a:srgbClr val="FF0000"/>
                </a:solidFill>
                <a:effectLst>
                  <a:outerShdw blurRad="38100" dist="38100" dir="2700000" algn="tl">
                    <a:srgbClr val="000000">
                      <a:alpha val="43137"/>
                    </a:srgbClr>
                  </a:outerShdw>
                </a:effectLst>
              </a:rPr>
              <a:t>focused on the repetition of the letter </a:t>
            </a:r>
            <a:r>
              <a:rPr lang="en-US" sz="2800" b="1" dirty="0">
                <a:solidFill>
                  <a:srgbClr val="FF0000"/>
                </a:solidFill>
                <a:effectLst>
                  <a:outerShdw blurRad="38100" dist="38100" dir="2700000" algn="tl">
                    <a:srgbClr val="000000">
                      <a:alpha val="43137"/>
                    </a:srgbClr>
                  </a:outerShdw>
                </a:effectLst>
                <a:latin typeface="Arial Black" panose="020B0A04020102020204" pitchFamily="34" charset="0"/>
              </a:rPr>
              <a:t>‘v’</a:t>
            </a:r>
            <a:r>
              <a:rPr lang="en-US" sz="2800" dirty="0">
                <a:effectLst>
                  <a:outerShdw blurRad="38100" dist="38100" dir="2700000" algn="tl">
                    <a:srgbClr val="000000">
                      <a:alpha val="43137"/>
                    </a:srgbClr>
                  </a:outerShdw>
                </a:effectLst>
              </a:rPr>
              <a:t> in the earlier marks </a:t>
            </a:r>
            <a:r>
              <a:rPr lang="en-US" sz="2800" b="1" dirty="0">
                <a:solidFill>
                  <a:srgbClr val="002060"/>
                </a:solidFill>
                <a:effectLst>
                  <a:outerShdw blurRad="38100" dist="38100" dir="2700000" algn="tl">
                    <a:srgbClr val="000000">
                      <a:alpha val="43137"/>
                    </a:srgbClr>
                  </a:outerShdw>
                </a:effectLst>
              </a:rPr>
              <a:t>without attaching any value to the repetition of the vowel </a:t>
            </a:r>
            <a:r>
              <a:rPr lang="en-US" sz="2800" b="1" dirty="0">
                <a:solidFill>
                  <a:srgbClr val="002060"/>
                </a:solidFill>
                <a:effectLst>
                  <a:outerShdw blurRad="38100" dist="38100" dir="2700000" algn="tl">
                    <a:srgbClr val="000000">
                      <a:alpha val="43137"/>
                    </a:srgbClr>
                  </a:outerShdw>
                </a:effectLst>
                <a:latin typeface="Arial Black" panose="020B0A04020102020204" pitchFamily="34" charset="0"/>
              </a:rPr>
              <a:t>‘o’,</a:t>
            </a:r>
            <a:r>
              <a:rPr lang="en-US" sz="2800" dirty="0">
                <a:effectLst>
                  <a:outerShdw blurRad="38100" dist="38100" dir="2700000" algn="tl">
                    <a:srgbClr val="000000">
                      <a:alpha val="43137"/>
                    </a:srgbClr>
                  </a:outerShdw>
                </a:effectLst>
                <a:latin typeface="Arial Black" panose="020B0A04020102020204" pitchFamily="34" charset="0"/>
              </a:rPr>
              <a:t> </a:t>
            </a:r>
            <a:r>
              <a:rPr lang="en-US" sz="2800" dirty="0">
                <a:effectLst>
                  <a:outerShdw blurRad="38100" dist="38100" dir="2700000" algn="tl">
                    <a:srgbClr val="000000">
                      <a:alpha val="43137"/>
                    </a:srgbClr>
                  </a:outerShdw>
                </a:effectLst>
              </a:rPr>
              <a:t>nevertheless present in the signs at issue. </a:t>
            </a:r>
            <a:endParaRPr lang="pl-PL"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Thirdly, the Board of Appeal </a:t>
            </a:r>
            <a:r>
              <a:rPr lang="en-US" sz="2800" b="1" dirty="0">
                <a:solidFill>
                  <a:srgbClr val="FF0000"/>
                </a:solidFill>
                <a:effectLst>
                  <a:outerShdw blurRad="38100" dist="38100" dir="2700000" algn="tl">
                    <a:srgbClr val="000000">
                      <a:alpha val="43137"/>
                    </a:srgbClr>
                  </a:outerShdw>
                </a:effectLst>
              </a:rPr>
              <a:t>incorrectly relied on the </a:t>
            </a:r>
            <a:r>
              <a:rPr lang="en-US" sz="2800" b="1" dirty="0">
                <a:solidFill>
                  <a:srgbClr val="FF0000"/>
                </a:solidFill>
                <a:effectLst>
                  <a:outerShdw blurRad="38100" dist="38100" dir="2700000" algn="tl">
                    <a:srgbClr val="000000">
                      <a:alpha val="43137"/>
                    </a:srgbClr>
                  </a:outerShdw>
                </a:effectLst>
                <a:latin typeface="Arial Black" panose="020B0A04020102020204" pitchFamily="34" charset="0"/>
              </a:rPr>
              <a:t>different script type </a:t>
            </a:r>
            <a:r>
              <a:rPr lang="en-US" sz="2800" dirty="0">
                <a:effectLst>
                  <a:outerShdw blurRad="38100" dist="38100" dir="2700000" algn="tl">
                    <a:srgbClr val="000000">
                      <a:alpha val="43137"/>
                    </a:srgbClr>
                  </a:outerShdw>
                </a:effectLst>
              </a:rPr>
              <a:t>of the trade mark applied for, without taking into consideration the fact that </a:t>
            </a:r>
            <a:r>
              <a:rPr lang="en-US" sz="2800" b="1" dirty="0">
                <a:solidFill>
                  <a:srgbClr val="FF0000"/>
                </a:solidFill>
                <a:effectLst>
                  <a:outerShdw blurRad="38100" dist="38100" dir="2700000" algn="tl">
                    <a:srgbClr val="000000">
                      <a:alpha val="43137"/>
                    </a:srgbClr>
                  </a:outerShdw>
                </a:effectLst>
                <a:latin typeface="Arial Black" panose="020B0A04020102020204" pitchFamily="34" charset="0"/>
              </a:rPr>
              <a:t>the earlier word marks </a:t>
            </a:r>
            <a:r>
              <a:rPr lang="en-US" sz="2800" b="1" dirty="0">
                <a:solidFill>
                  <a:srgbClr val="0070C0"/>
                </a:solidFill>
                <a:effectLst>
                  <a:outerShdw blurRad="38100" dist="38100" dir="2700000" algn="tl">
                    <a:srgbClr val="000000">
                      <a:alpha val="43137"/>
                    </a:srgbClr>
                  </a:outerShdw>
                </a:effectLst>
                <a:latin typeface="Arial Black" panose="020B0A04020102020204" pitchFamily="34" charset="0"/>
              </a:rPr>
              <a:t>might</a:t>
            </a:r>
            <a:r>
              <a:rPr lang="en-US" sz="2800" b="1" dirty="0">
                <a:solidFill>
                  <a:srgbClr val="FF0000"/>
                </a:solidFill>
                <a:effectLst>
                  <a:outerShdw blurRad="38100" dist="38100" dir="2700000" algn="tl">
                    <a:srgbClr val="000000">
                      <a:alpha val="43137"/>
                    </a:srgbClr>
                  </a:outerShdw>
                </a:effectLst>
                <a:latin typeface="Arial Black" panose="020B0A04020102020204" pitchFamily="34" charset="0"/>
              </a:rPr>
              <a:t> also exist in a similar script type</a:t>
            </a:r>
            <a:endParaRPr lang="pl-PL" sz="2800" dirty="0">
              <a:solidFill>
                <a:srgbClr val="FF0000"/>
              </a:solidFill>
              <a:effectLst>
                <a:outerShdw blurRad="38100" dist="38100" dir="2700000" algn="tl">
                  <a:srgbClr val="000000">
                    <a:alpha val="43137"/>
                  </a:srgbClr>
                </a:outerShdw>
              </a:effectLst>
              <a:latin typeface="Arial Black" panose="020B0A04020102020204" pitchFamily="34" charset="0"/>
            </a:endParaRPr>
          </a:p>
        </p:txBody>
      </p:sp>
    </p:spTree>
    <p:extLst>
      <p:ext uri="{BB962C8B-B14F-4D97-AF65-F5344CB8AC3E}">
        <p14:creationId xmlns:p14="http://schemas.microsoft.com/office/powerpoint/2010/main" val="19045617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en-US" sz="4000" dirty="0">
                <a:effectLst>
                  <a:outerShdw blurRad="38100" dist="38100" dir="2700000" algn="tl">
                    <a:srgbClr val="000000">
                      <a:alpha val="43137"/>
                    </a:srgbClr>
                  </a:outerShdw>
                </a:effectLst>
              </a:rPr>
              <a:t>Fourthly</a:t>
            </a:r>
            <a:r>
              <a:rPr lang="pl-PL" sz="4000" dirty="0">
                <a:effectLst>
                  <a:outerShdw blurRad="38100" dist="38100" dir="2700000" algn="tl">
                    <a:srgbClr val="000000">
                      <a:alpha val="43137"/>
                    </a:srgbClr>
                  </a:outerShdw>
                </a:effectLst>
              </a:rPr>
              <a:t>,</a:t>
            </a:r>
            <a:r>
              <a:rPr lang="en-US" sz="4000" dirty="0">
                <a:effectLst>
                  <a:outerShdw blurRad="38100" dist="38100" dir="2700000" algn="tl">
                    <a:srgbClr val="000000">
                      <a:alpha val="43137"/>
                    </a:srgbClr>
                  </a:outerShdw>
                </a:effectLst>
              </a:rPr>
              <a:t> the Board of Appeal granted </a:t>
            </a:r>
            <a:r>
              <a:rPr lang="en-US" sz="4000" b="1" dirty="0">
                <a:solidFill>
                  <a:srgbClr val="002060"/>
                </a:solidFill>
                <a:effectLst>
                  <a:outerShdw blurRad="38100" dist="38100" dir="2700000" algn="tl">
                    <a:srgbClr val="000000">
                      <a:alpha val="43137"/>
                    </a:srgbClr>
                  </a:outerShdw>
                </a:effectLst>
              </a:rPr>
              <a:t>inappropriate importance </a:t>
            </a:r>
            <a:r>
              <a:rPr lang="en-US" sz="4000" dirty="0">
                <a:effectLst>
                  <a:outerShdw blurRad="38100" dist="38100" dir="2700000" algn="tl">
                    <a:srgbClr val="000000">
                      <a:alpha val="43137"/>
                    </a:srgbClr>
                  </a:outerShdw>
                </a:effectLst>
              </a:rPr>
              <a:t>to the </a:t>
            </a:r>
            <a:r>
              <a:rPr lang="en-US" sz="4000" b="1" dirty="0">
                <a:solidFill>
                  <a:srgbClr val="FF0000"/>
                </a:solidFill>
                <a:effectLst>
                  <a:outerShdw blurRad="38100" dist="38100" dir="2700000" algn="tl">
                    <a:srgbClr val="000000">
                      <a:alpha val="43137"/>
                    </a:srgbClr>
                  </a:outerShdw>
                </a:effectLst>
              </a:rPr>
              <a:t>figurative element </a:t>
            </a:r>
            <a:r>
              <a:rPr lang="en-US" sz="4000" dirty="0">
                <a:effectLst>
                  <a:outerShdw blurRad="38100" dist="38100" dir="2700000" algn="tl">
                    <a:srgbClr val="000000">
                      <a:alpha val="43137"/>
                    </a:srgbClr>
                  </a:outerShdw>
                </a:effectLst>
              </a:rPr>
              <a:t>of the mark applied for</a:t>
            </a:r>
            <a:endParaRPr lang="pl-PL" sz="4000" dirty="0">
              <a:effectLst>
                <a:outerShdw blurRad="38100" dist="38100" dir="2700000" algn="tl">
                  <a:srgbClr val="000000">
                    <a:alpha val="43137"/>
                  </a:srgbClr>
                </a:outerShdw>
              </a:effectLst>
            </a:endParaRPr>
          </a:p>
          <a:p>
            <a:endParaRPr lang="pl-PL"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676221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pl-PL" dirty="0">
                <a:solidFill>
                  <a:srgbClr val="002060"/>
                </a:solidFill>
                <a:latin typeface="Arial Black" panose="020B0A04020102020204" pitchFamily="34" charset="0"/>
              </a:rPr>
              <a:t>OHIM’s arguments</a:t>
            </a:r>
            <a:r>
              <a:rPr lang="pl-PL" dirty="0"/>
              <a:t>:</a:t>
            </a:r>
          </a:p>
          <a:p>
            <a:r>
              <a:rPr lang="pl-PL" sz="2400" b="1" dirty="0">
                <a:solidFill>
                  <a:srgbClr val="FF0000"/>
                </a:solidFill>
                <a:effectLst>
                  <a:outerShdw blurRad="38100" dist="38100" dir="2700000" algn="tl">
                    <a:srgbClr val="000000">
                      <a:alpha val="43137"/>
                    </a:srgbClr>
                  </a:outerShdw>
                </a:effectLst>
                <a:latin typeface="Arial Black" panose="020B0A04020102020204" pitchFamily="34" charset="0"/>
              </a:rPr>
              <a:t>S</a:t>
            </a:r>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oftware</a:t>
            </a:r>
            <a:r>
              <a:rPr lang="en-US" sz="2400" dirty="0">
                <a:latin typeface="Arial Black" panose="020B0A04020102020204" pitchFamily="34" charset="0"/>
              </a:rPr>
              <a:t> dedicated to the field of </a:t>
            </a:r>
            <a:r>
              <a:rPr lang="en-US" sz="2400" b="1" dirty="0">
                <a:solidFill>
                  <a:srgbClr val="002060"/>
                </a:solidFill>
                <a:effectLst>
                  <a:outerShdw blurRad="38100" dist="38100" dir="2700000" algn="tl">
                    <a:srgbClr val="000000">
                      <a:alpha val="43137"/>
                    </a:srgbClr>
                  </a:outerShdw>
                </a:effectLst>
                <a:latin typeface="Arial Black" panose="020B0A04020102020204" pitchFamily="34" charset="0"/>
              </a:rPr>
              <a:t>warehouse management and container terminal systems </a:t>
            </a:r>
            <a:r>
              <a:rPr lang="en-US" sz="2400" dirty="0">
                <a:latin typeface="Arial Black" panose="020B0A04020102020204" pitchFamily="34" charset="0"/>
              </a:rPr>
              <a:t>is </a:t>
            </a:r>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aimed at professionals, who will display a relatively high degree of attentiveness</a:t>
            </a:r>
            <a:endParaRPr lang="pl-PL" sz="2400" b="1" dirty="0">
              <a:solidFill>
                <a:srgbClr val="FF0000"/>
              </a:solidFill>
              <a:effectLst>
                <a:outerShdw blurRad="38100" dist="38100" dir="2700000" algn="tl">
                  <a:srgbClr val="000000">
                    <a:alpha val="43137"/>
                  </a:srgbClr>
                </a:outerShdw>
              </a:effectLst>
              <a:latin typeface="Arial Black" panose="020B0A04020102020204" pitchFamily="34" charset="0"/>
            </a:endParaRPr>
          </a:p>
          <a:p>
            <a:r>
              <a:rPr lang="pl-PL" sz="2400" dirty="0"/>
              <a:t>T</a:t>
            </a:r>
            <a:r>
              <a:rPr lang="en-US" sz="2400" dirty="0"/>
              <a:t>he </a:t>
            </a:r>
            <a:r>
              <a:rPr lang="en-US" sz="2400" b="1" dirty="0">
                <a:solidFill>
                  <a:srgbClr val="002060"/>
                </a:solidFill>
                <a:effectLst>
                  <a:outerShdw blurRad="38100" dist="38100" dir="2700000" algn="tl">
                    <a:srgbClr val="000000">
                      <a:alpha val="43137"/>
                    </a:srgbClr>
                  </a:outerShdw>
                </a:effectLst>
              </a:rPr>
              <a:t>visual and phonetic differences </a:t>
            </a:r>
            <a:r>
              <a:rPr lang="en-US" sz="2400" dirty="0"/>
              <a:t>justify the finding that the </a:t>
            </a:r>
            <a:r>
              <a:rPr lang="en-US" sz="2400" b="1" dirty="0">
                <a:solidFill>
                  <a:srgbClr val="FF0000"/>
                </a:solidFill>
                <a:effectLst>
                  <a:outerShdw blurRad="38100" dist="38100" dir="2700000" algn="tl">
                    <a:srgbClr val="000000">
                      <a:alpha val="43137"/>
                    </a:srgbClr>
                  </a:outerShdw>
                </a:effectLst>
              </a:rPr>
              <a:t>signs at issue are not similar</a:t>
            </a:r>
            <a:r>
              <a:rPr lang="en-US" sz="2400" dirty="0"/>
              <a:t>. Thus, so far as the visual similarity of the signs at issue is concerned</a:t>
            </a:r>
            <a:r>
              <a:rPr lang="pl-PL" sz="2400" dirty="0"/>
              <a:t> </a:t>
            </a:r>
            <a:r>
              <a:rPr lang="en-US" sz="2400" b="1" dirty="0">
                <a:solidFill>
                  <a:srgbClr val="FF0000"/>
                </a:solidFill>
                <a:effectLst>
                  <a:outerShdw blurRad="38100" dist="38100" dir="2700000" algn="tl">
                    <a:srgbClr val="000000">
                      <a:alpha val="43137"/>
                    </a:srgbClr>
                  </a:outerShdw>
                </a:effectLst>
              </a:rPr>
              <a:t>the first letter of the signs is different </a:t>
            </a:r>
            <a:r>
              <a:rPr lang="en-US" sz="2400" dirty="0"/>
              <a:t>and that the </a:t>
            </a:r>
            <a:r>
              <a:rPr lang="en-US" sz="2400" b="1" dirty="0">
                <a:solidFill>
                  <a:srgbClr val="FF0000"/>
                </a:solidFill>
                <a:effectLst>
                  <a:outerShdw blurRad="38100" dist="38100" dir="2700000" algn="tl">
                    <a:srgbClr val="000000">
                      <a:alpha val="43137"/>
                    </a:srgbClr>
                  </a:outerShdw>
                </a:effectLst>
              </a:rPr>
              <a:t>script type </a:t>
            </a:r>
            <a:r>
              <a:rPr lang="en-US" sz="2400" dirty="0"/>
              <a:t>of the trade mark applied for </a:t>
            </a:r>
            <a:r>
              <a:rPr lang="en-US" sz="2400" b="1" dirty="0">
                <a:solidFill>
                  <a:srgbClr val="FF0000"/>
                </a:solidFill>
                <a:effectLst>
                  <a:outerShdw blurRad="38100" dist="38100" dir="2700000" algn="tl">
                    <a:srgbClr val="000000">
                      <a:alpha val="43137"/>
                    </a:srgbClr>
                  </a:outerShdw>
                </a:effectLst>
              </a:rPr>
              <a:t>is striking </a:t>
            </a:r>
            <a:r>
              <a:rPr lang="en-US" sz="2400" dirty="0"/>
              <a:t>and </a:t>
            </a:r>
            <a:r>
              <a:rPr lang="en-US" sz="2400" b="1" dirty="0">
                <a:solidFill>
                  <a:srgbClr val="002060"/>
                </a:solidFill>
                <a:effectLst>
                  <a:outerShdw blurRad="38100" dist="38100" dir="2700000" algn="tl">
                    <a:srgbClr val="000000">
                      <a:alpha val="43137"/>
                    </a:srgbClr>
                  </a:outerShdw>
                </a:effectLst>
              </a:rPr>
              <a:t>plays an important role in the overall impression produced by it</a:t>
            </a:r>
            <a:endParaRPr lang="pl-PL" sz="2400" b="1" dirty="0">
              <a:solidFill>
                <a:srgbClr val="002060"/>
              </a:solidFill>
              <a:effectLst>
                <a:outerShdw blurRad="38100" dist="38100" dir="2700000" algn="tl">
                  <a:srgbClr val="000000">
                    <a:alpha val="43137"/>
                  </a:srgbClr>
                </a:outerShdw>
              </a:effectLst>
            </a:endParaRPr>
          </a:p>
          <a:p>
            <a:pPr marL="0" indent="0">
              <a:buNone/>
            </a:pPr>
            <a:endParaRPr lang="pl-PL" dirty="0"/>
          </a:p>
        </p:txBody>
      </p:sp>
    </p:spTree>
    <p:extLst>
      <p:ext uri="{BB962C8B-B14F-4D97-AF65-F5344CB8AC3E}">
        <p14:creationId xmlns:p14="http://schemas.microsoft.com/office/powerpoint/2010/main" val="6844601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pl-PL" dirty="0"/>
              <a:t>OHIM:</a:t>
            </a:r>
          </a:p>
          <a:p>
            <a:r>
              <a:rPr lang="pl-PL" dirty="0"/>
              <a:t>T</a:t>
            </a:r>
            <a:r>
              <a:rPr lang="en-US" dirty="0"/>
              <a:t>he trade mark applied for is dominated by an </a:t>
            </a:r>
            <a:r>
              <a:rPr lang="en-US" b="1" dirty="0">
                <a:solidFill>
                  <a:srgbClr val="FF0000"/>
                </a:solidFill>
                <a:effectLst>
                  <a:outerShdw blurRad="38100" dist="38100" dir="2700000" algn="tl">
                    <a:srgbClr val="000000">
                      <a:alpha val="43137"/>
                    </a:srgbClr>
                  </a:outerShdw>
                </a:effectLst>
              </a:rPr>
              <a:t>impression of dissymmetry</a:t>
            </a:r>
            <a:r>
              <a:rPr lang="en-US" dirty="0"/>
              <a:t>, </a:t>
            </a:r>
            <a:r>
              <a:rPr lang="en-US" b="1" dirty="0">
                <a:solidFill>
                  <a:srgbClr val="002060"/>
                </a:solidFill>
                <a:effectLst>
                  <a:outerShdw blurRad="38100" dist="38100" dir="2700000" algn="tl">
                    <a:srgbClr val="000000">
                      <a:alpha val="43137"/>
                    </a:srgbClr>
                  </a:outerShdw>
                </a:effectLst>
              </a:rPr>
              <a:t>while the earlier word sign gives an </a:t>
            </a:r>
            <a:r>
              <a:rPr lang="en-US" b="1" dirty="0">
                <a:solidFill>
                  <a:srgbClr val="FF0000"/>
                </a:solidFill>
                <a:effectLst>
                  <a:outerShdw blurRad="38100" dist="38100" dir="2700000" algn="tl">
                    <a:srgbClr val="000000">
                      <a:alpha val="43137"/>
                    </a:srgbClr>
                  </a:outerShdw>
                </a:effectLst>
              </a:rPr>
              <a:t>impression of symmetry </a:t>
            </a:r>
            <a:r>
              <a:rPr lang="en-US" dirty="0"/>
              <a:t>because of </a:t>
            </a:r>
            <a:r>
              <a:rPr lang="en-US" b="1" dirty="0">
                <a:solidFill>
                  <a:srgbClr val="0070C0"/>
                </a:solidFill>
                <a:effectLst>
                  <a:outerShdw blurRad="38100" dist="38100" dir="2700000" algn="tl">
                    <a:srgbClr val="000000">
                      <a:alpha val="43137"/>
                    </a:srgbClr>
                  </a:outerShdw>
                </a:effectLst>
              </a:rPr>
              <a:t>the repetition of the group of letters ‘vo’</a:t>
            </a:r>
            <a:endParaRPr lang="pl-PL" b="1" dirty="0">
              <a:solidFill>
                <a:srgbClr val="0070C0"/>
              </a:solidFill>
              <a:effectLst>
                <a:outerShdw blurRad="38100" dist="38100" dir="2700000" algn="tl">
                  <a:srgbClr val="000000">
                    <a:alpha val="43137"/>
                  </a:srgbClr>
                </a:outerShdw>
              </a:effectLst>
            </a:endParaRPr>
          </a:p>
          <a:p>
            <a:endParaRPr lang="pl-PL" dirty="0"/>
          </a:p>
          <a:p>
            <a:endParaRPr lang="pl-PL" dirty="0"/>
          </a:p>
        </p:txBody>
      </p:sp>
    </p:spTree>
    <p:extLst>
      <p:ext uri="{BB962C8B-B14F-4D97-AF65-F5344CB8AC3E}">
        <p14:creationId xmlns:p14="http://schemas.microsoft.com/office/powerpoint/2010/main" val="339744625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pl-PL" dirty="0">
                <a:latin typeface="Arial Black" panose="020B0A04020102020204" pitchFamily="34" charset="0"/>
              </a:rPr>
              <a:t>OHIM:</a:t>
            </a:r>
          </a:p>
          <a:p>
            <a:r>
              <a:rPr lang="pl-PL" b="1" dirty="0">
                <a:solidFill>
                  <a:srgbClr val="FF0000"/>
                </a:solidFill>
                <a:effectLst>
                  <a:outerShdw blurRad="38100" dist="38100" dir="2700000" algn="tl">
                    <a:srgbClr val="000000">
                      <a:alpha val="43137"/>
                    </a:srgbClr>
                  </a:outerShdw>
                </a:effectLst>
              </a:rPr>
              <a:t>T</a:t>
            </a:r>
            <a:r>
              <a:rPr lang="en-US" b="1" dirty="0">
                <a:solidFill>
                  <a:srgbClr val="FF0000"/>
                </a:solidFill>
                <a:effectLst>
                  <a:outerShdw blurRad="38100" dist="38100" dir="2700000" algn="tl">
                    <a:srgbClr val="000000">
                      <a:alpha val="43137"/>
                    </a:srgbClr>
                  </a:outerShdw>
                </a:effectLst>
              </a:rPr>
              <a:t>he figurative element </a:t>
            </a:r>
            <a:r>
              <a:rPr lang="en-US" dirty="0"/>
              <a:t>in the trade mark applied for </a:t>
            </a:r>
            <a:r>
              <a:rPr lang="en-US" b="1" dirty="0">
                <a:solidFill>
                  <a:srgbClr val="002060"/>
                </a:solidFill>
              </a:rPr>
              <a:t>is an important element of </a:t>
            </a:r>
            <a:r>
              <a:rPr lang="en-US" b="1" dirty="0">
                <a:solidFill>
                  <a:srgbClr val="0070C0"/>
                </a:solidFill>
                <a:effectLst>
                  <a:outerShdw blurRad="38100" dist="38100" dir="2700000" algn="tl">
                    <a:srgbClr val="000000">
                      <a:alpha val="43137"/>
                    </a:srgbClr>
                  </a:outerShdw>
                </a:effectLst>
              </a:rPr>
              <a:t>visual differentiation</a:t>
            </a:r>
            <a:endParaRPr lang="pl-PL" b="1" dirty="0">
              <a:solidFill>
                <a:srgbClr val="0070C0"/>
              </a:solidFill>
              <a:effectLst>
                <a:outerShdw blurRad="38100" dist="38100" dir="2700000" algn="tl">
                  <a:srgbClr val="000000">
                    <a:alpha val="43137"/>
                  </a:srgbClr>
                </a:outerShdw>
              </a:effectLst>
            </a:endParaRPr>
          </a:p>
          <a:p>
            <a:r>
              <a:rPr lang="en-US" dirty="0"/>
              <a:t> As regards the </a:t>
            </a:r>
            <a:r>
              <a:rPr lang="en-US" b="1" dirty="0">
                <a:solidFill>
                  <a:srgbClr val="FF0000"/>
                </a:solidFill>
                <a:effectLst>
                  <a:outerShdw blurRad="38100" dist="38100" dir="2700000" algn="tl">
                    <a:srgbClr val="000000">
                      <a:alpha val="43137"/>
                    </a:srgbClr>
                  </a:outerShdw>
                </a:effectLst>
              </a:rPr>
              <a:t>phonetic similarity</a:t>
            </a:r>
            <a:r>
              <a:rPr lang="en-US" dirty="0"/>
              <a:t>, the</a:t>
            </a:r>
            <a:r>
              <a:rPr lang="pl-PL" dirty="0"/>
              <a:t> </a:t>
            </a:r>
            <a:r>
              <a:rPr lang="en-US" dirty="0"/>
              <a:t>the </a:t>
            </a:r>
            <a:r>
              <a:rPr lang="en-US" b="1" dirty="0">
                <a:solidFill>
                  <a:srgbClr val="002060"/>
                </a:solidFill>
              </a:rPr>
              <a:t>difference of the </a:t>
            </a:r>
            <a:r>
              <a:rPr lang="en-US" b="1" dirty="0">
                <a:solidFill>
                  <a:srgbClr val="002060"/>
                </a:solidFill>
                <a:effectLst>
                  <a:outerShdw blurRad="38100" dist="38100" dir="2700000" algn="tl">
                    <a:srgbClr val="000000">
                      <a:alpha val="43137"/>
                    </a:srgbClr>
                  </a:outerShdw>
                </a:effectLst>
              </a:rPr>
              <a:t>first letter of the signs </a:t>
            </a:r>
            <a:r>
              <a:rPr lang="en-US" dirty="0"/>
              <a:t>at issue is </a:t>
            </a:r>
            <a:r>
              <a:rPr lang="en-US" b="1" dirty="0">
                <a:solidFill>
                  <a:srgbClr val="002060"/>
                </a:solidFill>
              </a:rPr>
              <a:t>sufficient f</a:t>
            </a:r>
            <a:r>
              <a:rPr lang="en-US" dirty="0"/>
              <a:t>or them </a:t>
            </a:r>
            <a:r>
              <a:rPr lang="en-US" b="1" dirty="0">
                <a:solidFill>
                  <a:srgbClr val="002060"/>
                </a:solidFill>
                <a:effectLst>
                  <a:outerShdw blurRad="38100" dist="38100" dir="2700000" algn="tl">
                    <a:srgbClr val="000000">
                      <a:alpha val="43137"/>
                    </a:srgbClr>
                  </a:outerShdw>
                </a:effectLst>
              </a:rPr>
              <a:t>not</a:t>
            </a:r>
            <a:r>
              <a:rPr lang="en-US" dirty="0"/>
              <a:t> to be considered to </a:t>
            </a:r>
            <a:r>
              <a:rPr lang="en-US" b="1" dirty="0">
                <a:solidFill>
                  <a:srgbClr val="002060"/>
                </a:solidFill>
                <a:effectLst>
                  <a:outerShdw blurRad="38100" dist="38100" dir="2700000" algn="tl">
                    <a:srgbClr val="000000">
                      <a:alpha val="43137"/>
                    </a:srgbClr>
                  </a:outerShdw>
                </a:effectLst>
              </a:rPr>
              <a:t>be similar </a:t>
            </a:r>
            <a:endParaRPr lang="pl-PL" b="1" dirty="0">
              <a:solidFill>
                <a:srgbClr val="002060"/>
              </a:solidFill>
              <a:effectLst>
                <a:outerShdw blurRad="38100" dist="38100" dir="2700000" algn="tl">
                  <a:srgbClr val="000000">
                    <a:alpha val="43137"/>
                  </a:srgbClr>
                </a:outerShdw>
              </a:effectLst>
            </a:endParaRPr>
          </a:p>
          <a:p>
            <a:pPr marL="0" indent="0">
              <a:buNone/>
            </a:pPr>
            <a:endParaRPr lang="pl-PL" dirty="0"/>
          </a:p>
        </p:txBody>
      </p:sp>
    </p:spTree>
    <p:extLst>
      <p:ext uri="{BB962C8B-B14F-4D97-AF65-F5344CB8AC3E}">
        <p14:creationId xmlns:p14="http://schemas.microsoft.com/office/powerpoint/2010/main" val="104792794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pl-PL" sz="2800" dirty="0"/>
              <a:t>INTERVINER</a:t>
            </a:r>
          </a:p>
          <a:p>
            <a:r>
              <a:rPr lang="pl-PL" sz="2800" b="1" dirty="0">
                <a:effectLst>
                  <a:outerShdw blurRad="38100" dist="38100" dir="2700000" algn="tl">
                    <a:srgbClr val="000000">
                      <a:alpha val="43137"/>
                    </a:srgbClr>
                  </a:outerShdw>
                </a:effectLst>
              </a:rPr>
              <a:t>T</a:t>
            </a:r>
            <a:r>
              <a:rPr lang="en-US" sz="2800" b="1" dirty="0">
                <a:solidFill>
                  <a:srgbClr val="002060"/>
                </a:solidFill>
                <a:effectLst>
                  <a:outerShdw blurRad="38100" dist="38100" dir="2700000" algn="tl">
                    <a:srgbClr val="000000">
                      <a:alpha val="43137"/>
                    </a:srgbClr>
                  </a:outerShdw>
                </a:effectLst>
              </a:rPr>
              <a:t>he phenomenon whereby if a trade mark is very </a:t>
            </a:r>
            <a:r>
              <a:rPr lang="en-US" sz="2800" b="1" dirty="0">
                <a:solidFill>
                  <a:srgbClr val="FF0000"/>
                </a:solidFill>
                <a:effectLst>
                  <a:outerShdw blurRad="38100" dist="38100" dir="2700000" algn="tl">
                    <a:srgbClr val="000000">
                      <a:alpha val="43137"/>
                    </a:srgbClr>
                  </a:outerShdw>
                </a:effectLst>
              </a:rPr>
              <a:t>well known by consumers, they are, paradoxically, more likely to distinguish </a:t>
            </a:r>
            <a:r>
              <a:rPr lang="en-US" sz="2800" dirty="0"/>
              <a:t>it from other marks by </a:t>
            </a:r>
            <a:r>
              <a:rPr lang="en-US" sz="2800" b="1" dirty="0">
                <a:solidFill>
                  <a:srgbClr val="FF0000"/>
                </a:solidFill>
                <a:effectLst>
                  <a:outerShdw blurRad="38100" dist="38100" dir="2700000" algn="tl">
                    <a:srgbClr val="000000">
                      <a:alpha val="43137"/>
                    </a:srgbClr>
                  </a:outerShdw>
                </a:effectLst>
              </a:rPr>
              <a:t>noting their slight differences </a:t>
            </a:r>
            <a:r>
              <a:rPr lang="en-US" sz="2800" dirty="0"/>
              <a:t>from it, which has the effect of </a:t>
            </a:r>
            <a:r>
              <a:rPr lang="en-US" sz="2800" b="1" dirty="0">
                <a:solidFill>
                  <a:srgbClr val="002060"/>
                </a:solidFill>
                <a:effectLst>
                  <a:outerShdw blurRad="38100" dist="38100" dir="2700000" algn="tl">
                    <a:srgbClr val="000000">
                      <a:alpha val="43137"/>
                    </a:srgbClr>
                  </a:outerShdw>
                </a:effectLst>
              </a:rPr>
              <a:t>reducing the likelihood of confusion</a:t>
            </a:r>
            <a:r>
              <a:rPr lang="en-US" sz="2800" dirty="0"/>
              <a:t>. </a:t>
            </a:r>
            <a:endParaRPr lang="pl-PL" sz="2800" dirty="0"/>
          </a:p>
          <a:p>
            <a:r>
              <a:rPr lang="pl-PL" sz="2800" dirty="0"/>
              <a:t>T</a:t>
            </a:r>
            <a:r>
              <a:rPr lang="en-US" sz="2800" dirty="0"/>
              <a:t>he marks at issue are </a:t>
            </a:r>
            <a:r>
              <a:rPr lang="en-US" sz="2800" b="1" dirty="0">
                <a:solidFill>
                  <a:srgbClr val="FF0000"/>
                </a:solidFill>
                <a:effectLst>
                  <a:outerShdw blurRad="38100" dist="38100" dir="2700000" algn="tl">
                    <a:srgbClr val="000000">
                      <a:alpha val="43137"/>
                    </a:srgbClr>
                  </a:outerShdw>
                </a:effectLst>
              </a:rPr>
              <a:t>conceptually dissimilar </a:t>
            </a:r>
            <a:r>
              <a:rPr lang="en-US" sz="2800" dirty="0"/>
              <a:t>on account of the </a:t>
            </a:r>
            <a:r>
              <a:rPr lang="en-US" sz="2800" b="1" dirty="0">
                <a:solidFill>
                  <a:srgbClr val="FF0000"/>
                </a:solidFill>
                <a:effectLst>
                  <a:outerShdw blurRad="38100" dist="38100" dir="2700000" algn="tl">
                    <a:srgbClr val="000000">
                      <a:alpha val="43137"/>
                    </a:srgbClr>
                  </a:outerShdw>
                </a:effectLst>
              </a:rPr>
              <a:t>different meanings </a:t>
            </a:r>
            <a:r>
              <a:rPr lang="en-US" sz="2800" dirty="0"/>
              <a:t>which the terms ‘solvo’ and ‘volvo’ are likely to suggest in Latin</a:t>
            </a:r>
            <a:endParaRPr lang="pl-PL" sz="2800" dirty="0"/>
          </a:p>
        </p:txBody>
      </p:sp>
    </p:spTree>
    <p:extLst>
      <p:ext uri="{BB962C8B-B14F-4D97-AF65-F5344CB8AC3E}">
        <p14:creationId xmlns:p14="http://schemas.microsoft.com/office/powerpoint/2010/main" val="578195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pl-PL" dirty="0">
                <a:solidFill>
                  <a:srgbClr val="FF0000"/>
                </a:solidFill>
                <a:latin typeface="Arial Black" panose="020B0A04020102020204" pitchFamily="34" charset="0"/>
              </a:rPr>
              <a:t>COURT</a:t>
            </a:r>
            <a:r>
              <a:rPr lang="pl-PL" dirty="0"/>
              <a:t>:</a:t>
            </a:r>
          </a:p>
          <a:p>
            <a:r>
              <a:rPr lang="en-US" dirty="0">
                <a:effectLst>
                  <a:outerShdw blurRad="38100" dist="38100" dir="2700000" algn="tl">
                    <a:srgbClr val="000000">
                      <a:alpha val="43137"/>
                    </a:srgbClr>
                  </a:outerShdw>
                </a:effectLst>
              </a:rPr>
              <a:t>the trade mark applied for </a:t>
            </a:r>
            <a:r>
              <a:rPr lang="en-US" b="1" dirty="0">
                <a:solidFill>
                  <a:srgbClr val="FF0000"/>
                </a:solidFill>
                <a:effectLst>
                  <a:outerShdw blurRad="38100" dist="38100" dir="2700000" algn="tl">
                    <a:srgbClr val="000000">
                      <a:alpha val="43137"/>
                    </a:srgbClr>
                  </a:outerShdw>
                </a:effectLst>
              </a:rPr>
              <a:t>is not to be registered if</a:t>
            </a:r>
            <a:r>
              <a:rPr lang="en-US" dirty="0">
                <a:solidFill>
                  <a:srgbClr val="FF0000"/>
                </a:solidFill>
                <a:effectLst>
                  <a:outerShdw blurRad="38100" dist="38100" dir="2700000" algn="tl">
                    <a:srgbClr val="000000">
                      <a:alpha val="43137"/>
                    </a:srgbClr>
                  </a:outerShdw>
                </a:effectLst>
              </a:rPr>
              <a:t>,</a:t>
            </a:r>
            <a:r>
              <a:rPr lang="en-US" dirty="0">
                <a:effectLst>
                  <a:outerShdw blurRad="38100" dist="38100" dir="2700000" algn="tl">
                    <a:srgbClr val="000000">
                      <a:alpha val="43137"/>
                    </a:srgbClr>
                  </a:outerShdw>
                </a:effectLst>
              </a:rPr>
              <a:t> because of its identity with or </a:t>
            </a:r>
            <a:r>
              <a:rPr lang="en-US" b="1" dirty="0">
                <a:solidFill>
                  <a:srgbClr val="002060"/>
                </a:solidFill>
                <a:effectLst>
                  <a:outerShdw blurRad="38100" dist="38100" dir="2700000" algn="tl">
                    <a:srgbClr val="000000">
                      <a:alpha val="43137"/>
                    </a:srgbClr>
                  </a:outerShdw>
                </a:effectLst>
              </a:rPr>
              <a:t>similarity to an earlier trade mark </a:t>
            </a:r>
            <a:r>
              <a:rPr lang="en-US" dirty="0">
                <a:effectLst>
                  <a:outerShdw blurRad="38100" dist="38100" dir="2700000" algn="tl">
                    <a:srgbClr val="000000">
                      <a:alpha val="43137"/>
                    </a:srgbClr>
                  </a:outerShdw>
                </a:effectLst>
              </a:rPr>
              <a:t>and the identity or similarity of the goods or services covered by the trade marks there exists a </a:t>
            </a:r>
            <a:r>
              <a:rPr lang="en-US" b="1" dirty="0">
                <a:solidFill>
                  <a:srgbClr val="FF0000"/>
                </a:solidFill>
                <a:effectLst>
                  <a:outerShdw blurRad="38100" dist="38100" dir="2700000" algn="tl">
                    <a:srgbClr val="000000">
                      <a:alpha val="43137"/>
                    </a:srgbClr>
                  </a:outerShdw>
                </a:effectLst>
              </a:rPr>
              <a:t>likelihood of confusion </a:t>
            </a:r>
            <a:r>
              <a:rPr lang="en-US" dirty="0">
                <a:effectLst>
                  <a:outerShdw blurRad="38100" dist="38100" dir="2700000" algn="tl">
                    <a:srgbClr val="000000">
                      <a:alpha val="43137"/>
                    </a:srgbClr>
                  </a:outerShdw>
                </a:effectLst>
              </a:rPr>
              <a:t>on the part of the </a:t>
            </a:r>
            <a:r>
              <a:rPr lang="en-US" b="1" dirty="0">
                <a:solidFill>
                  <a:srgbClr val="002060"/>
                </a:solidFill>
                <a:effectLst>
                  <a:outerShdw blurRad="38100" dist="38100" dir="2700000" algn="tl">
                    <a:srgbClr val="000000">
                      <a:alpha val="43137"/>
                    </a:srgbClr>
                  </a:outerShdw>
                </a:effectLst>
              </a:rPr>
              <a:t>public in the territory in which the earlier trade mark is protected</a:t>
            </a:r>
            <a:endParaRPr lang="pl-PL"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905072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pl-PL" b="1" dirty="0">
                <a:solidFill>
                  <a:srgbClr val="FF0000"/>
                </a:solidFill>
                <a:effectLst>
                  <a:outerShdw blurRad="38100" dist="38100" dir="2700000" algn="tl">
                    <a:srgbClr val="000000">
                      <a:alpha val="43137"/>
                    </a:srgbClr>
                  </a:outerShdw>
                </a:effectLst>
                <a:highlight>
                  <a:srgbClr val="FFFF00"/>
                </a:highlight>
              </a:rPr>
              <a:t>T</a:t>
            </a:r>
            <a:r>
              <a:rPr lang="en-US" b="1" dirty="0">
                <a:solidFill>
                  <a:srgbClr val="FF0000"/>
                </a:solidFill>
                <a:effectLst>
                  <a:outerShdw blurRad="38100" dist="38100" dir="2700000" algn="tl">
                    <a:srgbClr val="000000">
                      <a:alpha val="43137"/>
                    </a:srgbClr>
                  </a:outerShdw>
                </a:effectLst>
                <a:highlight>
                  <a:srgbClr val="FFFF00"/>
                </a:highlight>
              </a:rPr>
              <a:t>he likelihood of confusion </a:t>
            </a:r>
            <a:r>
              <a:rPr lang="en-US" b="1" dirty="0">
                <a:effectLst>
                  <a:outerShdw blurRad="38100" dist="38100" dir="2700000" algn="tl">
                    <a:srgbClr val="000000">
                      <a:alpha val="43137"/>
                    </a:srgbClr>
                  </a:outerShdw>
                </a:effectLst>
                <a:highlight>
                  <a:srgbClr val="00FFFF"/>
                </a:highlight>
              </a:rPr>
              <a:t>must be assessed </a:t>
            </a:r>
            <a:r>
              <a:rPr lang="en-US" b="1" dirty="0">
                <a:solidFill>
                  <a:srgbClr val="FF0000"/>
                </a:solidFill>
                <a:effectLst>
                  <a:outerShdw blurRad="38100" dist="38100" dir="2700000" algn="tl">
                    <a:srgbClr val="000000">
                      <a:alpha val="43137"/>
                    </a:srgbClr>
                  </a:outerShdw>
                </a:effectLst>
                <a:highlight>
                  <a:srgbClr val="00FFFF"/>
                </a:highlight>
              </a:rPr>
              <a:t>globally</a:t>
            </a:r>
            <a:r>
              <a:rPr lang="en-US" b="1" dirty="0">
                <a:solidFill>
                  <a:srgbClr val="FF0000"/>
                </a:solidFill>
                <a:effectLst>
                  <a:outerShdw blurRad="38100" dist="38100" dir="2700000" algn="tl">
                    <a:srgbClr val="000000">
                      <a:alpha val="43137"/>
                    </a:srgbClr>
                  </a:outerShdw>
                </a:effectLst>
              </a:rPr>
              <a:t>,</a:t>
            </a:r>
            <a:r>
              <a:rPr lang="en-US" dirty="0"/>
              <a:t> according to the </a:t>
            </a:r>
            <a:r>
              <a:rPr lang="en-US" b="1" dirty="0">
                <a:solidFill>
                  <a:srgbClr val="FF0000"/>
                </a:solidFill>
                <a:effectLst>
                  <a:outerShdw blurRad="38100" dist="38100" dir="2700000" algn="tl">
                    <a:srgbClr val="000000">
                      <a:alpha val="43137"/>
                    </a:srgbClr>
                  </a:outerShdw>
                </a:effectLst>
              </a:rPr>
              <a:t>relevant public’s perception </a:t>
            </a:r>
            <a:r>
              <a:rPr lang="en-US" dirty="0"/>
              <a:t>of </a:t>
            </a:r>
            <a:r>
              <a:rPr lang="en-US" b="1" dirty="0"/>
              <a:t>the signs and goods or services </a:t>
            </a:r>
            <a:r>
              <a:rPr lang="en-US" dirty="0"/>
              <a:t>concerned, taking into account </a:t>
            </a:r>
            <a:r>
              <a:rPr lang="en-US" b="1" dirty="0">
                <a:effectLst>
                  <a:outerShdw blurRad="38100" dist="38100" dir="2700000" algn="tl">
                    <a:srgbClr val="000000">
                      <a:alpha val="43137"/>
                    </a:srgbClr>
                  </a:outerShdw>
                </a:effectLst>
              </a:rPr>
              <a:t>all factors </a:t>
            </a:r>
            <a:r>
              <a:rPr lang="en-US" dirty="0"/>
              <a:t>relevant to the circumstances of the case </a:t>
            </a:r>
            <a:endParaRPr lang="pl-PL" dirty="0"/>
          </a:p>
        </p:txBody>
      </p:sp>
    </p:spTree>
    <p:extLst>
      <p:ext uri="{BB962C8B-B14F-4D97-AF65-F5344CB8AC3E}">
        <p14:creationId xmlns:p14="http://schemas.microsoft.com/office/powerpoint/2010/main" val="21817348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en-US" sz="2800" dirty="0">
                <a:effectLst>
                  <a:outerShdw blurRad="38100" dist="38100" dir="2700000" algn="tl">
                    <a:srgbClr val="000000">
                      <a:alpha val="43137"/>
                    </a:srgbClr>
                  </a:outerShdw>
                </a:effectLst>
              </a:rPr>
              <a:t>That </a:t>
            </a:r>
            <a:r>
              <a:rPr lang="en-US" sz="2800" b="1" dirty="0">
                <a:solidFill>
                  <a:srgbClr val="FF0000"/>
                </a:solidFill>
                <a:effectLst>
                  <a:outerShdw blurRad="38100" dist="38100" dir="2700000" algn="tl">
                    <a:srgbClr val="000000">
                      <a:alpha val="43137"/>
                    </a:srgbClr>
                  </a:outerShdw>
                </a:effectLst>
              </a:rPr>
              <a:t>global assessment </a:t>
            </a:r>
            <a:r>
              <a:rPr lang="en-US" sz="2800" dirty="0">
                <a:effectLst>
                  <a:outerShdw blurRad="38100" dist="38100" dir="2700000" algn="tl">
                    <a:srgbClr val="000000">
                      <a:alpha val="43137"/>
                    </a:srgbClr>
                  </a:outerShdw>
                </a:effectLst>
              </a:rPr>
              <a:t>takes account, in particular, of </a:t>
            </a:r>
            <a:r>
              <a:rPr lang="en-US" sz="2800" b="1" dirty="0">
                <a:solidFill>
                  <a:srgbClr val="0070C0"/>
                </a:solidFill>
                <a:effectLst>
                  <a:outerShdw blurRad="38100" dist="38100" dir="2700000" algn="tl">
                    <a:srgbClr val="000000">
                      <a:alpha val="43137"/>
                    </a:srgbClr>
                  </a:outerShdw>
                </a:effectLst>
              </a:rPr>
              <a:t>recognition of the mark </a:t>
            </a:r>
            <a:r>
              <a:rPr lang="en-US" sz="2800" dirty="0">
                <a:effectLst>
                  <a:outerShdw blurRad="38100" dist="38100" dir="2700000" algn="tl">
                    <a:srgbClr val="000000">
                      <a:alpha val="43137"/>
                    </a:srgbClr>
                  </a:outerShdw>
                </a:effectLst>
              </a:rPr>
              <a:t>on the market, and of the </a:t>
            </a:r>
            <a:r>
              <a:rPr lang="en-US" sz="2800" b="1" dirty="0">
                <a:solidFill>
                  <a:srgbClr val="0070C0"/>
                </a:solidFill>
                <a:effectLst>
                  <a:outerShdw blurRad="38100" dist="38100" dir="2700000" algn="tl">
                    <a:srgbClr val="000000">
                      <a:alpha val="43137"/>
                    </a:srgbClr>
                  </a:outerShdw>
                </a:effectLst>
              </a:rPr>
              <a:t>degree of similarity </a:t>
            </a:r>
            <a:r>
              <a:rPr lang="en-US" sz="2800" dirty="0">
                <a:effectLst>
                  <a:outerShdw blurRad="38100" dist="38100" dir="2700000" algn="tl">
                    <a:srgbClr val="000000">
                      <a:alpha val="43137"/>
                    </a:srgbClr>
                  </a:outerShdw>
                </a:effectLst>
              </a:rPr>
              <a:t>between the marks and between the goods or services covered </a:t>
            </a:r>
            <a:endParaRPr lang="pl-PL" sz="2800" dirty="0">
              <a:effectLst>
                <a:outerShdw blurRad="38100" dist="38100" dir="2700000" algn="tl">
                  <a:srgbClr val="000000">
                    <a:alpha val="43137"/>
                  </a:srgbClr>
                </a:outerShdw>
              </a:effectLst>
            </a:endParaRPr>
          </a:p>
          <a:p>
            <a:r>
              <a:rPr lang="pl-PL" sz="2800" b="1" dirty="0">
                <a:solidFill>
                  <a:srgbClr val="0070C0"/>
                </a:solidFill>
                <a:effectLst>
                  <a:outerShdw blurRad="38100" dist="38100" dir="2700000" algn="tl">
                    <a:srgbClr val="000000">
                      <a:alpha val="43137"/>
                    </a:srgbClr>
                  </a:outerShdw>
                </a:effectLst>
              </a:rPr>
              <a:t>I</a:t>
            </a:r>
            <a:r>
              <a:rPr lang="en-US" sz="2800" b="1" dirty="0">
                <a:solidFill>
                  <a:srgbClr val="0070C0"/>
                </a:solidFill>
                <a:effectLst>
                  <a:outerShdw blurRad="38100" dist="38100" dir="2700000" algn="tl">
                    <a:srgbClr val="000000">
                      <a:alpha val="43137"/>
                    </a:srgbClr>
                  </a:outerShdw>
                </a:effectLst>
              </a:rPr>
              <a:t>t implies some interdependence between the factors taken into account</a:t>
            </a:r>
            <a:r>
              <a:rPr lang="en-US" sz="2800" dirty="0">
                <a:effectLst>
                  <a:outerShdw blurRad="38100" dist="38100" dir="2700000" algn="tl">
                    <a:srgbClr val="000000">
                      <a:alpha val="43137"/>
                    </a:srgbClr>
                  </a:outerShdw>
                </a:effectLst>
              </a:rPr>
              <a:t>, so that a </a:t>
            </a:r>
            <a:r>
              <a:rPr lang="en-US" sz="2800" b="1" dirty="0">
                <a:solidFill>
                  <a:srgbClr val="FF0000"/>
                </a:solidFill>
                <a:effectLst>
                  <a:outerShdw blurRad="38100" dist="38100" dir="2700000" algn="tl">
                    <a:srgbClr val="000000">
                      <a:alpha val="43137"/>
                    </a:srgbClr>
                  </a:outerShdw>
                </a:effectLst>
              </a:rPr>
              <a:t>low degree of similarity between the goods or services covered may be offset by </a:t>
            </a:r>
            <a:r>
              <a:rPr lang="en-US" sz="2800" b="1" dirty="0">
                <a:solidFill>
                  <a:srgbClr val="002060"/>
                </a:solidFill>
                <a:effectLst>
                  <a:outerShdw blurRad="38100" dist="38100" dir="2700000" algn="tl">
                    <a:srgbClr val="000000">
                      <a:alpha val="43137"/>
                    </a:srgbClr>
                  </a:outerShdw>
                </a:effectLst>
              </a:rPr>
              <a:t>a high degree of similarity between the marks, and vice versa </a:t>
            </a:r>
            <a:endParaRPr lang="pl-PL" sz="2800"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0169991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pl-PL" sz="2800" dirty="0"/>
              <a:t>T</a:t>
            </a:r>
            <a:r>
              <a:rPr lang="en-US" sz="2800" dirty="0"/>
              <a:t>he applicant relies in support of its opposition on </a:t>
            </a:r>
            <a:r>
              <a:rPr lang="en-US" sz="2800" b="1" dirty="0">
                <a:solidFill>
                  <a:srgbClr val="002060"/>
                </a:solidFill>
                <a:effectLst>
                  <a:outerShdw blurRad="38100" dist="38100" dir="2700000" algn="tl">
                    <a:srgbClr val="000000">
                      <a:alpha val="43137"/>
                    </a:srgbClr>
                  </a:outerShdw>
                </a:effectLst>
              </a:rPr>
              <a:t>seven earlier marks</a:t>
            </a:r>
            <a:r>
              <a:rPr lang="en-US" sz="2800" dirty="0"/>
              <a:t>, relating to both the word sign VOLVO and the figurative sign </a:t>
            </a:r>
            <a:endParaRPr lang="pl-PL" sz="2800" dirty="0"/>
          </a:p>
          <a:p>
            <a:r>
              <a:rPr lang="en-US" sz="2800" dirty="0"/>
              <a:t>However, the applicant does not contest the approach of the Opposition Division and of the Board of Appeal which was to examine whether there is a likelihood of confusion by taking into consideration </a:t>
            </a:r>
            <a:r>
              <a:rPr lang="en-US" sz="2800" b="1" dirty="0">
                <a:solidFill>
                  <a:srgbClr val="002060"/>
                </a:solidFill>
                <a:effectLst>
                  <a:outerShdw blurRad="38100" dist="38100" dir="2700000" algn="tl">
                    <a:srgbClr val="000000">
                      <a:alpha val="43137"/>
                    </a:srgbClr>
                  </a:outerShdw>
                </a:effectLst>
              </a:rPr>
              <a:t>only the earlier Community trade mark No 2361087, </a:t>
            </a:r>
            <a:r>
              <a:rPr lang="en-US" sz="2800" dirty="0"/>
              <a:t>relating to the word sign VOLVO</a:t>
            </a:r>
            <a:endParaRPr lang="pl-PL" sz="2800" dirty="0"/>
          </a:p>
        </p:txBody>
      </p:sp>
    </p:spTree>
    <p:extLst>
      <p:ext uri="{BB962C8B-B14F-4D97-AF65-F5344CB8AC3E}">
        <p14:creationId xmlns:p14="http://schemas.microsoft.com/office/powerpoint/2010/main" val="111368502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en-US" sz="2800" dirty="0"/>
              <a:t>Since that </a:t>
            </a:r>
            <a:r>
              <a:rPr lang="en-US" sz="2800" b="1" dirty="0">
                <a:solidFill>
                  <a:srgbClr val="0070C0"/>
                </a:solidFill>
                <a:effectLst>
                  <a:outerShdw blurRad="38100" dist="38100" dir="2700000" algn="tl">
                    <a:srgbClr val="000000">
                      <a:alpha val="43137"/>
                    </a:srgbClr>
                  </a:outerShdw>
                </a:effectLst>
              </a:rPr>
              <a:t>word sign </a:t>
            </a:r>
            <a:r>
              <a:rPr lang="en-US" sz="2800" dirty="0"/>
              <a:t>is the one </a:t>
            </a:r>
            <a:r>
              <a:rPr lang="en-US" sz="2800" b="1" dirty="0">
                <a:effectLst>
                  <a:outerShdw blurRad="38100" dist="38100" dir="2700000" algn="tl">
                    <a:srgbClr val="000000">
                      <a:alpha val="43137"/>
                    </a:srgbClr>
                  </a:outerShdw>
                </a:effectLst>
              </a:rPr>
              <a:t>which is closest to the mark </a:t>
            </a:r>
            <a:r>
              <a:rPr lang="en-US" sz="2800" dirty="0"/>
              <a:t>applied for and that registration covers, amongst other goods and services, computer software, and thus also goods identical to those covered by the mark applied for, namely computer programs for warehouse management and container terminal systems, </a:t>
            </a:r>
            <a:r>
              <a:rPr lang="en-US" sz="2800" b="1" dirty="0">
                <a:solidFill>
                  <a:srgbClr val="FF0000"/>
                </a:solidFill>
                <a:effectLst>
                  <a:outerShdw blurRad="38100" dist="38100" dir="2700000" algn="tl">
                    <a:srgbClr val="000000">
                      <a:alpha val="43137"/>
                    </a:srgbClr>
                  </a:outerShdw>
                </a:effectLst>
              </a:rPr>
              <a:t>the Court finds that the fact that only that earlier mark was taken into account was not such as to prejudice the applicant’s interests</a:t>
            </a:r>
            <a:r>
              <a:rPr lang="en-US" sz="2800" dirty="0"/>
              <a:t> </a:t>
            </a:r>
            <a:endParaRPr lang="pl-PL" sz="2800" dirty="0"/>
          </a:p>
          <a:p>
            <a:pPr marL="0" indent="0">
              <a:buNone/>
            </a:pPr>
            <a:endParaRPr lang="pl-PL" dirty="0"/>
          </a:p>
        </p:txBody>
      </p:sp>
    </p:spTree>
    <p:extLst>
      <p:ext uri="{BB962C8B-B14F-4D97-AF65-F5344CB8AC3E}">
        <p14:creationId xmlns:p14="http://schemas.microsoft.com/office/powerpoint/2010/main" val="122752246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pl-PL" b="1" dirty="0">
                <a:solidFill>
                  <a:srgbClr val="002060"/>
                </a:solidFill>
                <a:effectLst>
                  <a:outerShdw blurRad="38100" dist="38100" dir="2700000" algn="tl">
                    <a:srgbClr val="000000">
                      <a:alpha val="43137"/>
                    </a:srgbClr>
                  </a:outerShdw>
                </a:effectLst>
              </a:rPr>
              <a:t>T</a:t>
            </a:r>
            <a:r>
              <a:rPr lang="en-US" b="1" dirty="0">
                <a:solidFill>
                  <a:srgbClr val="002060"/>
                </a:solidFill>
                <a:effectLst>
                  <a:outerShdw blurRad="38100" dist="38100" dir="2700000" algn="tl">
                    <a:srgbClr val="000000">
                      <a:alpha val="43137"/>
                    </a:srgbClr>
                  </a:outerShdw>
                </a:effectLst>
              </a:rPr>
              <a:t>he global assessment of the likelihood of confusion </a:t>
            </a:r>
            <a:r>
              <a:rPr lang="en-US" dirty="0">
                <a:solidFill>
                  <a:srgbClr val="002060"/>
                </a:solidFill>
                <a:effectLst>
                  <a:outerShdw blurRad="38100" dist="38100" dir="2700000" algn="tl">
                    <a:srgbClr val="000000">
                      <a:alpha val="43137"/>
                    </a:srgbClr>
                  </a:outerShdw>
                </a:effectLst>
              </a:rPr>
              <a:t>must be </a:t>
            </a:r>
            <a:r>
              <a:rPr lang="en-US" b="1" dirty="0">
                <a:solidFill>
                  <a:srgbClr val="FF0000"/>
                </a:solidFill>
                <a:effectLst>
                  <a:outerShdw blurRad="38100" dist="38100" dir="2700000" algn="tl">
                    <a:srgbClr val="000000">
                      <a:alpha val="43137"/>
                    </a:srgbClr>
                  </a:outerShdw>
                </a:effectLst>
              </a:rPr>
              <a:t>based on the overall impression</a:t>
            </a:r>
            <a:r>
              <a:rPr lang="en-US" b="1"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given by the signs, bearing in mind, in particular, </a:t>
            </a:r>
            <a:r>
              <a:rPr lang="en-US" b="1" dirty="0">
                <a:solidFill>
                  <a:srgbClr val="FF0000"/>
                </a:solidFill>
                <a:effectLst>
                  <a:outerShdw blurRad="38100" dist="38100" dir="2700000" algn="tl">
                    <a:srgbClr val="000000">
                      <a:alpha val="43137"/>
                    </a:srgbClr>
                  </a:outerShdw>
                </a:effectLst>
              </a:rPr>
              <a:t>their distinctive and dominant elements</a:t>
            </a:r>
            <a:endParaRPr lang="pl-PL" b="1" dirty="0">
              <a:solidFill>
                <a:srgbClr val="FF0000"/>
              </a:solidFill>
              <a:effectLst>
                <a:outerShdw blurRad="38100" dist="38100" dir="2700000" algn="tl">
                  <a:srgbClr val="000000">
                    <a:alpha val="43137"/>
                  </a:srgbClr>
                </a:outerShdw>
              </a:effectLst>
            </a:endParaRPr>
          </a:p>
          <a:p>
            <a:r>
              <a:rPr lang="en-US" b="1" dirty="0">
                <a:solidFill>
                  <a:srgbClr val="002060"/>
                </a:solidFill>
                <a:effectLst>
                  <a:outerShdw blurRad="38100" dist="38100" dir="2700000" algn="tl">
                    <a:srgbClr val="000000">
                      <a:alpha val="43137"/>
                    </a:srgbClr>
                  </a:outerShdw>
                </a:effectLst>
                <a:highlight>
                  <a:srgbClr val="FFFF00"/>
                </a:highlight>
              </a:rPr>
              <a:t>two marks are similar when, from the point of view of the relevant public, they are </a:t>
            </a:r>
            <a:r>
              <a:rPr lang="en-US" b="1" dirty="0">
                <a:solidFill>
                  <a:srgbClr val="FF0000"/>
                </a:solidFill>
                <a:effectLst>
                  <a:outerShdw blurRad="38100" dist="38100" dir="2700000" algn="tl">
                    <a:srgbClr val="000000">
                      <a:alpha val="43137"/>
                    </a:srgbClr>
                  </a:outerShdw>
                </a:effectLst>
                <a:highlight>
                  <a:srgbClr val="FFFF00"/>
                </a:highlight>
              </a:rPr>
              <a:t>at least partially identical </a:t>
            </a:r>
            <a:r>
              <a:rPr lang="en-US" b="1" dirty="0">
                <a:solidFill>
                  <a:srgbClr val="002060"/>
                </a:solidFill>
                <a:effectLst>
                  <a:outerShdw blurRad="38100" dist="38100" dir="2700000" algn="tl">
                    <a:srgbClr val="000000">
                      <a:alpha val="43137"/>
                    </a:srgbClr>
                  </a:outerShdw>
                </a:effectLst>
                <a:highlight>
                  <a:srgbClr val="FFFF00"/>
                </a:highlight>
              </a:rPr>
              <a:t>as regards one or more visual, phonetic and conceptual aspects</a:t>
            </a:r>
            <a:endParaRPr lang="pl-PL" dirty="0">
              <a:solidFill>
                <a:srgbClr val="002060"/>
              </a:solidFill>
              <a:effectLst>
                <a:outerShdw blurRad="38100" dist="38100" dir="2700000" algn="tl">
                  <a:srgbClr val="000000">
                    <a:alpha val="43137"/>
                  </a:srgbClr>
                </a:outerShdw>
              </a:effectLst>
              <a:highlight>
                <a:srgbClr val="FFFF00"/>
              </a:highlight>
            </a:endParaRPr>
          </a:p>
        </p:txBody>
      </p:sp>
    </p:spTree>
    <p:extLst>
      <p:ext uri="{BB962C8B-B14F-4D97-AF65-F5344CB8AC3E}">
        <p14:creationId xmlns:p14="http://schemas.microsoft.com/office/powerpoint/2010/main" val="200601864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pl-PL" b="1" dirty="0">
                <a:solidFill>
                  <a:srgbClr val="002060"/>
                </a:solidFill>
                <a:effectLst>
                  <a:outerShdw blurRad="38100" dist="38100" dir="2700000" algn="tl">
                    <a:srgbClr val="000000">
                      <a:alpha val="43137"/>
                    </a:srgbClr>
                  </a:outerShdw>
                </a:effectLst>
              </a:rPr>
              <a:t>T</a:t>
            </a:r>
            <a:r>
              <a:rPr lang="en-US" b="1" dirty="0">
                <a:solidFill>
                  <a:srgbClr val="002060"/>
                </a:solidFill>
                <a:effectLst>
                  <a:outerShdw blurRad="38100" dist="38100" dir="2700000" algn="tl">
                    <a:srgbClr val="000000">
                      <a:alpha val="43137"/>
                    </a:srgbClr>
                  </a:outerShdw>
                </a:effectLst>
              </a:rPr>
              <a:t>he </a:t>
            </a:r>
            <a:r>
              <a:rPr lang="en-US" b="1" dirty="0">
                <a:solidFill>
                  <a:srgbClr val="FF0000"/>
                </a:solidFill>
                <a:effectLst>
                  <a:outerShdw blurRad="38100" dist="38100" dir="2700000" algn="tl">
                    <a:srgbClr val="000000">
                      <a:alpha val="43137"/>
                    </a:srgbClr>
                  </a:outerShdw>
                </a:effectLst>
              </a:rPr>
              <a:t>word element</a:t>
            </a:r>
            <a:r>
              <a:rPr lang="en-US"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of the mark applied for </a:t>
            </a:r>
            <a:r>
              <a:rPr lang="en-US" b="1" dirty="0">
                <a:solidFill>
                  <a:srgbClr val="FF0000"/>
                </a:solidFill>
                <a:effectLst>
                  <a:outerShdw blurRad="38100" dist="38100" dir="2700000" algn="tl">
                    <a:srgbClr val="000000">
                      <a:alpha val="43137"/>
                    </a:srgbClr>
                  </a:outerShdw>
                </a:effectLst>
              </a:rPr>
              <a:t>dominates</a:t>
            </a:r>
            <a:r>
              <a:rPr lang="en-US" dirty="0">
                <a:solidFill>
                  <a:srgbClr val="002060"/>
                </a:solidFill>
                <a:effectLst>
                  <a:outerShdw blurRad="38100" dist="38100" dir="2700000" algn="tl">
                    <a:srgbClr val="000000">
                      <a:alpha val="43137"/>
                    </a:srgbClr>
                  </a:outerShdw>
                </a:effectLst>
              </a:rPr>
              <a:t>, by itself, the image of that sign which the relevant public keeps in mind, with the result that the </a:t>
            </a:r>
            <a:r>
              <a:rPr lang="en-US" b="1" dirty="0">
                <a:solidFill>
                  <a:srgbClr val="FF0000"/>
                </a:solidFill>
                <a:effectLst>
                  <a:outerShdw blurRad="38100" dist="38100" dir="2700000" algn="tl">
                    <a:srgbClr val="000000">
                      <a:alpha val="43137"/>
                    </a:srgbClr>
                  </a:outerShdw>
                </a:effectLst>
              </a:rPr>
              <a:t>figurative element </a:t>
            </a:r>
            <a:r>
              <a:rPr lang="en-US" dirty="0">
                <a:solidFill>
                  <a:srgbClr val="002060"/>
                </a:solidFill>
                <a:effectLst>
                  <a:outerShdw blurRad="38100" dist="38100" dir="2700000" algn="tl">
                    <a:srgbClr val="000000">
                      <a:alpha val="43137"/>
                    </a:srgbClr>
                  </a:outerShdw>
                </a:effectLst>
              </a:rPr>
              <a:t>to the right of the word element </a:t>
            </a:r>
            <a:r>
              <a:rPr lang="en-US" b="1" dirty="0">
                <a:solidFill>
                  <a:srgbClr val="FF0000"/>
                </a:solidFill>
                <a:effectLst>
                  <a:outerShdw blurRad="38100" dist="38100" dir="2700000" algn="tl">
                    <a:srgbClr val="000000">
                      <a:alpha val="43137"/>
                    </a:srgbClr>
                  </a:outerShdw>
                </a:effectLst>
              </a:rPr>
              <a:t>is not predominant </a:t>
            </a:r>
            <a:r>
              <a:rPr lang="en-US" b="1" dirty="0">
                <a:solidFill>
                  <a:srgbClr val="0070C0"/>
                </a:solidFill>
                <a:effectLst>
                  <a:outerShdw blurRad="38100" dist="38100" dir="2700000" algn="tl">
                    <a:srgbClr val="000000">
                      <a:alpha val="43137"/>
                    </a:srgbClr>
                  </a:outerShdw>
                </a:effectLst>
              </a:rPr>
              <a:t>within the global impression </a:t>
            </a:r>
            <a:r>
              <a:rPr lang="en-US" dirty="0">
                <a:solidFill>
                  <a:srgbClr val="002060"/>
                </a:solidFill>
                <a:effectLst>
                  <a:outerShdw blurRad="38100" dist="38100" dir="2700000" algn="tl">
                    <a:srgbClr val="000000">
                      <a:alpha val="43137"/>
                    </a:srgbClr>
                  </a:outerShdw>
                </a:effectLst>
              </a:rPr>
              <a:t>created by that sign. </a:t>
            </a:r>
            <a:endParaRPr lang="pl-PL" dirty="0">
              <a:solidFill>
                <a:srgbClr val="002060"/>
              </a:solidFill>
              <a:effectLst>
                <a:outerShdw blurRad="38100" dist="38100" dir="2700000" algn="tl">
                  <a:srgbClr val="000000">
                    <a:alpha val="43137"/>
                  </a:srgbClr>
                </a:outerShdw>
              </a:effectLst>
            </a:endParaRPr>
          </a:p>
          <a:p>
            <a:endParaRPr lang="pl-PL" dirty="0"/>
          </a:p>
        </p:txBody>
      </p:sp>
    </p:spTree>
    <p:extLst>
      <p:ext uri="{BB962C8B-B14F-4D97-AF65-F5344CB8AC3E}">
        <p14:creationId xmlns:p14="http://schemas.microsoft.com/office/powerpoint/2010/main" val="33197243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pl-PL" b="1" dirty="0">
                <a:solidFill>
                  <a:srgbClr val="0070C0"/>
                </a:solidFill>
                <a:effectLst>
                  <a:outerShdw blurRad="38100" dist="38100" dir="2700000" algn="tl">
                    <a:srgbClr val="000000">
                      <a:alpha val="43137"/>
                    </a:srgbClr>
                  </a:outerShdw>
                </a:effectLst>
              </a:rPr>
              <a:t>T</a:t>
            </a:r>
            <a:r>
              <a:rPr lang="en-US" b="1" dirty="0">
                <a:solidFill>
                  <a:srgbClr val="0070C0"/>
                </a:solidFill>
                <a:effectLst>
                  <a:outerShdw blurRad="38100" dist="38100" dir="2700000" algn="tl">
                    <a:srgbClr val="000000">
                      <a:alpha val="43137"/>
                    </a:srgbClr>
                  </a:outerShdw>
                </a:effectLst>
              </a:rPr>
              <a:t>he Board of Appeal was right to find </a:t>
            </a:r>
            <a:r>
              <a:rPr lang="en-US" dirty="0">
                <a:solidFill>
                  <a:srgbClr val="002060"/>
                </a:solidFill>
                <a:effectLst>
                  <a:outerShdw blurRad="38100" dist="38100" dir="2700000" algn="tl">
                    <a:srgbClr val="000000">
                      <a:alpha val="43137"/>
                    </a:srgbClr>
                  </a:outerShdw>
                </a:effectLst>
              </a:rPr>
              <a:t>that the </a:t>
            </a:r>
            <a:r>
              <a:rPr lang="en-US" b="1" dirty="0">
                <a:solidFill>
                  <a:srgbClr val="FF0000"/>
                </a:solidFill>
                <a:effectLst>
                  <a:outerShdw blurRad="38100" dist="38100" dir="2700000" algn="tl">
                    <a:srgbClr val="000000">
                      <a:alpha val="43137"/>
                    </a:srgbClr>
                  </a:outerShdw>
                </a:effectLst>
                <a:highlight>
                  <a:srgbClr val="FFFF00"/>
                </a:highlight>
              </a:rPr>
              <a:t>styled font of the mark </a:t>
            </a:r>
            <a:r>
              <a:rPr lang="en-US" b="1" dirty="0">
                <a:solidFill>
                  <a:srgbClr val="FF0000"/>
                </a:solidFill>
                <a:effectLst>
                  <a:outerShdw blurRad="38100" dist="38100" dir="2700000" algn="tl">
                    <a:srgbClr val="000000">
                      <a:alpha val="43137"/>
                    </a:srgbClr>
                  </a:outerShdw>
                </a:effectLst>
              </a:rPr>
              <a:t>applied for was a highly distinctive element</a:t>
            </a:r>
            <a:r>
              <a:rPr lang="en-US" dirty="0">
                <a:solidFill>
                  <a:srgbClr val="002060"/>
                </a:solidFill>
                <a:effectLst>
                  <a:outerShdw blurRad="38100" dist="38100" dir="2700000" algn="tl">
                    <a:srgbClr val="000000">
                      <a:alpha val="43137"/>
                    </a:srgbClr>
                  </a:outerShdw>
                </a:effectLst>
              </a:rPr>
              <a:t>, which distances that mark considerably </a:t>
            </a:r>
            <a:r>
              <a:rPr lang="en-US" b="1" dirty="0">
                <a:solidFill>
                  <a:srgbClr val="002060"/>
                </a:solidFill>
                <a:effectLst>
                  <a:outerShdw blurRad="38100" dist="38100" dir="2700000" algn="tl">
                    <a:srgbClr val="000000">
                      <a:alpha val="43137"/>
                    </a:srgbClr>
                  </a:outerShdw>
                </a:effectLst>
              </a:rPr>
              <a:t>from the earlier word mark VOLVO.</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pl-PL" dirty="0">
                <a:solidFill>
                  <a:srgbClr val="FF0000"/>
                </a:solidFill>
                <a:effectLst>
                  <a:outerShdw blurRad="38100" dist="38100" dir="2700000" algn="tl">
                    <a:srgbClr val="000000">
                      <a:alpha val="43137"/>
                    </a:srgbClr>
                  </a:outerShdw>
                </a:effectLst>
              </a:rPr>
              <a:t>T</a:t>
            </a:r>
            <a:r>
              <a:rPr lang="en-US" b="1" dirty="0">
                <a:solidFill>
                  <a:srgbClr val="FF0000"/>
                </a:solidFill>
                <a:effectLst>
                  <a:outerShdw blurRad="38100" dist="38100" dir="2700000" algn="tl">
                    <a:srgbClr val="000000">
                      <a:alpha val="43137"/>
                    </a:srgbClr>
                  </a:outerShdw>
                </a:effectLst>
              </a:rPr>
              <a:t>hat font influences </a:t>
            </a:r>
            <a:r>
              <a:rPr lang="en-US" dirty="0">
                <a:solidFill>
                  <a:srgbClr val="002060"/>
                </a:solidFill>
                <a:effectLst>
                  <a:outerShdw blurRad="38100" dist="38100" dir="2700000" algn="tl">
                    <a:srgbClr val="000000">
                      <a:alpha val="43137"/>
                    </a:srgbClr>
                  </a:outerShdw>
                </a:effectLst>
              </a:rPr>
              <a:t>to a large extent the </a:t>
            </a:r>
            <a:r>
              <a:rPr lang="en-US" b="1" dirty="0">
                <a:solidFill>
                  <a:srgbClr val="FF0000"/>
                </a:solidFill>
                <a:effectLst>
                  <a:outerShdw blurRad="38100" dist="38100" dir="2700000" algn="tl">
                    <a:srgbClr val="000000">
                      <a:alpha val="43137"/>
                    </a:srgbClr>
                  </a:outerShdw>
                </a:effectLst>
              </a:rPr>
              <a:t>overall impression </a:t>
            </a:r>
            <a:r>
              <a:rPr lang="en-US" dirty="0">
                <a:solidFill>
                  <a:srgbClr val="002060"/>
                </a:solidFill>
                <a:effectLst>
                  <a:outerShdw blurRad="38100" dist="38100" dir="2700000" algn="tl">
                    <a:srgbClr val="000000">
                      <a:alpha val="43137"/>
                    </a:srgbClr>
                  </a:outerShdw>
                </a:effectLst>
              </a:rPr>
              <a:t>created by the mark since it </a:t>
            </a:r>
            <a:r>
              <a:rPr lang="pl-PL" dirty="0">
                <a:solidFill>
                  <a:srgbClr val="002060"/>
                </a:solidFill>
                <a:effectLst>
                  <a:outerShdw blurRad="38100" dist="38100" dir="2700000" algn="tl">
                    <a:srgbClr val="000000">
                      <a:alpha val="43137"/>
                    </a:srgbClr>
                  </a:outerShdw>
                </a:effectLst>
              </a:rPr>
              <a:t>characterizes</a:t>
            </a:r>
            <a:r>
              <a:rPr lang="en-US" dirty="0">
                <a:solidFill>
                  <a:srgbClr val="002060"/>
                </a:solidFill>
                <a:effectLst>
                  <a:outerShdw blurRad="38100" dist="38100" dir="2700000" algn="tl">
                    <a:srgbClr val="000000">
                      <a:alpha val="43137"/>
                    </a:srgbClr>
                  </a:outerShdw>
                </a:effectLst>
              </a:rPr>
              <a:t> its dominant word element. </a:t>
            </a:r>
            <a:endParaRPr lang="pl-PL" dirty="0">
              <a:solidFill>
                <a:srgbClr val="002060"/>
              </a:solidFill>
              <a:effectLst>
                <a:outerShdw blurRad="38100" dist="38100" dir="2700000" algn="tl">
                  <a:srgbClr val="000000">
                    <a:alpha val="43137"/>
                  </a:srgbClr>
                </a:outerShdw>
              </a:effectLst>
            </a:endParaRPr>
          </a:p>
          <a:p>
            <a:endParaRPr lang="pl-PL" dirty="0"/>
          </a:p>
        </p:txBody>
      </p:sp>
    </p:spTree>
    <p:extLst>
      <p:ext uri="{BB962C8B-B14F-4D97-AF65-F5344CB8AC3E}">
        <p14:creationId xmlns:p14="http://schemas.microsoft.com/office/powerpoint/2010/main" val="82226941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rPr>
              <a:t>The</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significant difference created by that specific font</a:t>
            </a:r>
            <a:r>
              <a:rPr lang="en-US" dirty="0">
                <a:solidFill>
                  <a:srgbClr val="002060"/>
                </a:solidFill>
                <a:effectLst>
                  <a:outerShdw blurRad="38100" dist="38100" dir="2700000" algn="tl">
                    <a:srgbClr val="000000">
                      <a:alpha val="43137"/>
                    </a:srgbClr>
                  </a:outerShdw>
                </a:effectLst>
              </a:rPr>
              <a:t> is</a:t>
            </a:r>
            <a:r>
              <a:rPr lang="pl-PL"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reinforced</a:t>
            </a:r>
            <a:r>
              <a:rPr lang="en-US" b="1" dirty="0">
                <a:solidFill>
                  <a:srgbClr val="002060"/>
                </a:solidFill>
                <a:effectLst>
                  <a:outerShdw blurRad="38100" dist="38100" dir="2700000" algn="tl">
                    <a:srgbClr val="000000">
                      <a:alpha val="43137"/>
                    </a:srgbClr>
                  </a:outerShdw>
                </a:effectLst>
              </a:rPr>
              <a:t> by the presence of the figurative element </a:t>
            </a:r>
            <a:r>
              <a:rPr lang="en-US" dirty="0">
                <a:solidFill>
                  <a:srgbClr val="002060"/>
                </a:solidFill>
                <a:effectLst>
                  <a:outerShdw blurRad="38100" dist="38100" dir="2700000" algn="tl">
                    <a:srgbClr val="000000">
                      <a:alpha val="43137"/>
                    </a:srgbClr>
                  </a:outerShdw>
                </a:effectLst>
              </a:rPr>
              <a:t>of the mark applied for</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The applicant</a:t>
            </a:r>
            <a:r>
              <a:rPr lang="pl-PL" dirty="0">
                <a:solidFill>
                  <a:srgbClr val="002060"/>
                </a:solidFill>
                <a:effectLst>
                  <a:outerShdw blurRad="38100" dist="38100" dir="2700000" algn="tl">
                    <a:srgbClr val="000000">
                      <a:alpha val="43137"/>
                    </a:srgbClr>
                  </a:outerShdw>
                </a:effectLst>
              </a:rPr>
              <a:t> (Volvo)</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cannot</a:t>
            </a:r>
            <a:r>
              <a:rPr lang="en-US" dirty="0">
                <a:solidFill>
                  <a:srgbClr val="002060"/>
                </a:solidFill>
                <a:effectLst>
                  <a:outerShdw blurRad="38100" dist="38100" dir="2700000" algn="tl">
                    <a:srgbClr val="000000">
                      <a:alpha val="43137"/>
                    </a:srgbClr>
                  </a:outerShdw>
                </a:effectLst>
              </a:rPr>
              <a:t> in this respect submit that the Board of Appeal attached </a:t>
            </a:r>
            <a:r>
              <a:rPr lang="en-US" b="1" dirty="0">
                <a:solidFill>
                  <a:srgbClr val="FF0000"/>
                </a:solidFill>
                <a:effectLst>
                  <a:outerShdw blurRad="38100" dist="38100" dir="2700000" algn="tl">
                    <a:srgbClr val="000000">
                      <a:alpha val="43137"/>
                    </a:srgbClr>
                  </a:outerShdw>
                </a:effectLst>
              </a:rPr>
              <a:t>inappropriate importance </a:t>
            </a:r>
            <a:r>
              <a:rPr lang="en-US" dirty="0">
                <a:solidFill>
                  <a:srgbClr val="002060"/>
                </a:solidFill>
                <a:effectLst>
                  <a:outerShdw blurRad="38100" dist="38100" dir="2700000" algn="tl">
                    <a:srgbClr val="000000">
                      <a:alpha val="43137"/>
                    </a:srgbClr>
                  </a:outerShdw>
                </a:effectLst>
              </a:rPr>
              <a:t>to that figurative element</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9265295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en-US" dirty="0">
                <a:effectLst>
                  <a:outerShdw blurRad="38100" dist="38100" dir="2700000" algn="tl">
                    <a:srgbClr val="000000">
                      <a:alpha val="43137"/>
                    </a:srgbClr>
                  </a:outerShdw>
                </a:effectLst>
              </a:rPr>
              <a:t>The applicant</a:t>
            </a:r>
            <a:r>
              <a:rPr lang="pl-PL" dirty="0">
                <a:effectLst>
                  <a:outerShdw blurRad="38100" dist="38100" dir="2700000" algn="tl">
                    <a:srgbClr val="000000">
                      <a:alpha val="43137"/>
                    </a:srgbClr>
                  </a:outerShdw>
                </a:effectLst>
              </a:rPr>
              <a:t> (Volvo)</a:t>
            </a:r>
            <a:r>
              <a:rPr lang="en-US" dirty="0">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cannot</a:t>
            </a:r>
            <a:r>
              <a:rPr lang="en-US" dirty="0">
                <a:effectLst>
                  <a:outerShdw blurRad="38100" dist="38100" dir="2700000" algn="tl">
                    <a:srgbClr val="000000">
                      <a:alpha val="43137"/>
                    </a:srgbClr>
                  </a:outerShdw>
                </a:effectLst>
              </a:rPr>
              <a:t>, moreover, assert that </a:t>
            </a:r>
            <a:r>
              <a:rPr lang="en-US" b="1" dirty="0">
                <a:solidFill>
                  <a:srgbClr val="FF0000"/>
                </a:solidFill>
                <a:effectLst>
                  <a:outerShdw blurRad="38100" dist="38100" dir="2700000" algn="tl">
                    <a:srgbClr val="000000">
                      <a:alpha val="43137"/>
                    </a:srgbClr>
                  </a:outerShdw>
                </a:effectLst>
              </a:rPr>
              <a:t>the earlier word sign </a:t>
            </a:r>
            <a:r>
              <a:rPr lang="en-US" b="1" dirty="0">
                <a:solidFill>
                  <a:srgbClr val="0070C0"/>
                </a:solidFill>
                <a:effectLst>
                  <a:outerShdw blurRad="38100" dist="38100" dir="2700000" algn="tl">
                    <a:srgbClr val="000000">
                      <a:alpha val="43137"/>
                    </a:srgbClr>
                  </a:outerShdw>
                </a:effectLst>
              </a:rPr>
              <a:t>might</a:t>
            </a:r>
            <a:r>
              <a:rPr lang="en-US" b="1" dirty="0">
                <a:solidFill>
                  <a:srgbClr val="FF0000"/>
                </a:solidFill>
                <a:effectLst>
                  <a:outerShdw blurRad="38100" dist="38100" dir="2700000" algn="tl">
                    <a:srgbClr val="000000">
                      <a:alpha val="43137"/>
                    </a:srgbClr>
                  </a:outerShdw>
                </a:effectLst>
              </a:rPr>
              <a:t> exist in a script type comparable</a:t>
            </a:r>
            <a:r>
              <a:rPr lang="en-US" dirty="0">
                <a:effectLst>
                  <a:outerShdw blurRad="38100" dist="38100" dir="2700000" algn="tl">
                    <a:srgbClr val="000000">
                      <a:alpha val="43137"/>
                    </a:srgbClr>
                  </a:outerShdw>
                </a:effectLst>
              </a:rPr>
              <a:t> to that of the mark applied for </a:t>
            </a:r>
            <a:endParaRPr lang="pl-PL" dirty="0">
              <a:effectLst>
                <a:outerShdw blurRad="38100" dist="38100" dir="2700000" algn="tl">
                  <a:srgbClr val="000000">
                    <a:alpha val="43137"/>
                  </a:srgbClr>
                </a:outerShdw>
              </a:effectLst>
            </a:endParaRPr>
          </a:p>
          <a:p>
            <a:r>
              <a:rPr lang="pl-PL" dirty="0">
                <a:effectLst>
                  <a:outerShdw blurRad="38100" dist="38100" dir="2700000" algn="tl">
                    <a:srgbClr val="000000">
                      <a:alpha val="43137"/>
                    </a:srgbClr>
                  </a:outerShdw>
                </a:effectLst>
              </a:rPr>
              <a:t>T</a:t>
            </a:r>
            <a:r>
              <a:rPr lang="en-US" dirty="0">
                <a:effectLst>
                  <a:outerShdw blurRad="38100" dist="38100" dir="2700000" algn="tl">
                    <a:srgbClr val="000000">
                      <a:alpha val="43137"/>
                    </a:srgbClr>
                  </a:outerShdw>
                </a:effectLst>
              </a:rPr>
              <a:t>he examination of the similarity of the marks at issue takes into consideration those marks in their entirety, </a:t>
            </a:r>
            <a:r>
              <a:rPr lang="en-US" b="1" dirty="0">
                <a:solidFill>
                  <a:srgbClr val="FF0000"/>
                </a:solidFill>
                <a:effectLst>
                  <a:outerShdw blurRad="38100" dist="38100" dir="2700000" algn="tl">
                    <a:srgbClr val="000000">
                      <a:alpha val="43137"/>
                    </a:srgbClr>
                  </a:outerShdw>
                </a:effectLst>
              </a:rPr>
              <a:t>as they have been registered </a:t>
            </a:r>
            <a:r>
              <a:rPr lang="en-US" dirty="0">
                <a:effectLst>
                  <a:outerShdw blurRad="38100" dist="38100" dir="2700000" algn="tl">
                    <a:srgbClr val="000000">
                      <a:alpha val="43137"/>
                    </a:srgbClr>
                  </a:outerShdw>
                </a:effectLst>
              </a:rPr>
              <a:t>or as they have been applied for</a:t>
            </a:r>
            <a:endParaRPr lang="pl-PL"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5695441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highlight>
                  <a:srgbClr val="FFFF00"/>
                </a:highlight>
              </a:rPr>
              <a:t>The protection </a:t>
            </a:r>
            <a:r>
              <a:rPr lang="en-US" dirty="0">
                <a:solidFill>
                  <a:srgbClr val="002060"/>
                </a:solidFill>
                <a:effectLst>
                  <a:outerShdw blurRad="38100" dist="38100" dir="2700000" algn="tl">
                    <a:srgbClr val="000000">
                      <a:alpha val="43137"/>
                    </a:srgbClr>
                  </a:outerShdw>
                </a:effectLst>
              </a:rPr>
              <a:t>which results from registration </a:t>
            </a:r>
            <a:r>
              <a:rPr lang="en-US" b="1" dirty="0">
                <a:solidFill>
                  <a:srgbClr val="FF0000"/>
                </a:solidFill>
                <a:effectLst>
                  <a:outerShdw blurRad="38100" dist="38100" dir="2700000" algn="tl">
                    <a:srgbClr val="000000">
                      <a:alpha val="43137"/>
                    </a:srgbClr>
                  </a:outerShdw>
                </a:effectLst>
              </a:rPr>
              <a:t>of a word mark </a:t>
            </a:r>
            <a:r>
              <a:rPr lang="en-US" b="1" dirty="0">
                <a:solidFill>
                  <a:srgbClr val="002060"/>
                </a:solidFill>
                <a:effectLst>
                  <a:outerShdw blurRad="38100" dist="38100" dir="2700000" algn="tl">
                    <a:srgbClr val="000000">
                      <a:alpha val="43137"/>
                    </a:srgbClr>
                  </a:outerShdw>
                </a:effectLst>
                <a:highlight>
                  <a:srgbClr val="FFFF00"/>
                </a:highlight>
              </a:rPr>
              <a:t>relates to the </a:t>
            </a:r>
            <a:r>
              <a:rPr lang="en-US" b="1" dirty="0">
                <a:solidFill>
                  <a:srgbClr val="FF0000"/>
                </a:solidFill>
                <a:effectLst>
                  <a:outerShdw blurRad="38100" dist="38100" dir="2700000" algn="tl">
                    <a:srgbClr val="000000">
                      <a:alpha val="43137"/>
                    </a:srgbClr>
                  </a:outerShdw>
                </a:effectLst>
                <a:highlight>
                  <a:srgbClr val="FFFF00"/>
                </a:highlight>
              </a:rPr>
              <a:t>word </a:t>
            </a:r>
            <a:r>
              <a:rPr lang="en-US" dirty="0">
                <a:solidFill>
                  <a:srgbClr val="002060"/>
                </a:solidFill>
                <a:effectLst>
                  <a:outerShdw blurRad="38100" dist="38100" dir="2700000" algn="tl">
                    <a:srgbClr val="000000">
                      <a:alpha val="43137"/>
                    </a:srgbClr>
                  </a:outerShdw>
                </a:effectLst>
              </a:rPr>
              <a:t>mentioned in the application for registration and </a:t>
            </a:r>
            <a:r>
              <a:rPr lang="en-US" b="1" dirty="0">
                <a:solidFill>
                  <a:srgbClr val="FF0000"/>
                </a:solidFill>
                <a:effectLst>
                  <a:outerShdw blurRad="38100" dist="38100" dir="2700000" algn="tl">
                    <a:srgbClr val="000000">
                      <a:alpha val="43137"/>
                    </a:srgbClr>
                  </a:outerShdw>
                </a:effectLst>
                <a:highlight>
                  <a:srgbClr val="FFFF00"/>
                </a:highlight>
              </a:rPr>
              <a:t>not the specific figurative or stylistic aspects </a:t>
            </a:r>
            <a:r>
              <a:rPr lang="en-US" dirty="0">
                <a:solidFill>
                  <a:srgbClr val="002060"/>
                </a:solidFill>
                <a:effectLst>
                  <a:outerShdw blurRad="38100" dist="38100" dir="2700000" algn="tl">
                    <a:srgbClr val="000000">
                      <a:alpha val="43137"/>
                    </a:srgbClr>
                  </a:outerShdw>
                </a:effectLst>
              </a:rPr>
              <a:t>which that mark might have</a:t>
            </a:r>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3704429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en-US" sz="3600" dirty="0">
                <a:effectLst>
                  <a:outerShdw blurRad="38100" dist="38100" dir="2700000" algn="tl">
                    <a:srgbClr val="000000">
                      <a:alpha val="43137"/>
                    </a:srgbClr>
                  </a:outerShdw>
                </a:effectLst>
              </a:rPr>
              <a:t>As regards </a:t>
            </a:r>
            <a:r>
              <a:rPr lang="en-US" sz="3600" b="1" dirty="0">
                <a:solidFill>
                  <a:srgbClr val="FF0000"/>
                </a:solidFill>
                <a:effectLst>
                  <a:outerShdw blurRad="38100" dist="38100" dir="2700000" algn="tl">
                    <a:srgbClr val="000000">
                      <a:alpha val="43137"/>
                    </a:srgbClr>
                  </a:outerShdw>
                </a:effectLst>
              </a:rPr>
              <a:t>phonetic similarity</a:t>
            </a:r>
            <a:r>
              <a:rPr lang="en-US" sz="3600" dirty="0">
                <a:effectLst>
                  <a:outerShdw blurRad="38100" dist="38100" dir="2700000" algn="tl">
                    <a:srgbClr val="000000">
                      <a:alpha val="43137"/>
                    </a:srgbClr>
                  </a:outerShdw>
                </a:effectLst>
              </a:rPr>
              <a:t>, the Board of Appeal found that the signs were different in the way that their </a:t>
            </a:r>
            <a:r>
              <a:rPr lang="en-US" sz="3600" b="1" dirty="0">
                <a:solidFill>
                  <a:srgbClr val="FF0000"/>
                </a:solidFill>
                <a:effectLst>
                  <a:outerShdw blurRad="38100" dist="38100" dir="2700000" algn="tl">
                    <a:srgbClr val="000000">
                      <a:alpha val="43137"/>
                    </a:srgbClr>
                  </a:outerShdw>
                </a:effectLst>
              </a:rPr>
              <a:t>first letter was sounded, since the ‘s’ of the ‘solvo’</a:t>
            </a:r>
            <a:r>
              <a:rPr lang="en-US" sz="3600" dirty="0">
                <a:effectLst>
                  <a:outerShdw blurRad="38100" dist="38100" dir="2700000" algn="tl">
                    <a:srgbClr val="000000">
                      <a:alpha val="43137"/>
                    </a:srgbClr>
                  </a:outerShdw>
                </a:effectLst>
              </a:rPr>
              <a:t> element of the mark applied for is </a:t>
            </a:r>
            <a:r>
              <a:rPr lang="en-US" sz="3600" b="1" dirty="0">
                <a:solidFill>
                  <a:srgbClr val="002060"/>
                </a:solidFill>
                <a:effectLst>
                  <a:outerShdw blurRad="38100" dist="38100" dir="2700000" algn="tl">
                    <a:srgbClr val="000000">
                      <a:alpha val="43137"/>
                    </a:srgbClr>
                  </a:outerShdw>
                </a:effectLst>
              </a:rPr>
              <a:t>a sibilant</a:t>
            </a:r>
            <a:r>
              <a:rPr lang="en-US" sz="3600" dirty="0">
                <a:effectLst>
                  <a:outerShdw blurRad="38100" dist="38100" dir="2700000" algn="tl">
                    <a:srgbClr val="000000">
                      <a:alpha val="43137"/>
                    </a:srgbClr>
                  </a:outerShdw>
                </a:effectLst>
              </a:rPr>
              <a:t>, whereas the </a:t>
            </a:r>
            <a:r>
              <a:rPr lang="en-US" sz="3600" dirty="0">
                <a:solidFill>
                  <a:srgbClr val="FF0000"/>
                </a:solidFill>
                <a:effectLst>
                  <a:outerShdw blurRad="38100" dist="38100" dir="2700000" algn="tl">
                    <a:srgbClr val="000000">
                      <a:alpha val="43137"/>
                    </a:srgbClr>
                  </a:outerShdw>
                </a:effectLst>
                <a:latin typeface="Arial Black" panose="020B0A04020102020204" pitchFamily="34" charset="0"/>
              </a:rPr>
              <a:t>‘v’</a:t>
            </a:r>
            <a:r>
              <a:rPr lang="en-US" sz="3600" dirty="0">
                <a:solidFill>
                  <a:srgbClr val="FF0000"/>
                </a:solidFill>
                <a:effectLst>
                  <a:outerShdw blurRad="38100" dist="38100" dir="2700000" algn="tl">
                    <a:srgbClr val="000000">
                      <a:alpha val="43137"/>
                    </a:srgbClr>
                  </a:outerShdw>
                </a:effectLst>
              </a:rPr>
              <a:t> </a:t>
            </a:r>
            <a:r>
              <a:rPr lang="en-US" sz="3600" dirty="0">
                <a:effectLst>
                  <a:outerShdw blurRad="38100" dist="38100" dir="2700000" algn="tl">
                    <a:srgbClr val="000000">
                      <a:alpha val="43137"/>
                    </a:srgbClr>
                  </a:outerShdw>
                </a:effectLst>
              </a:rPr>
              <a:t>of the mark VOLVO is </a:t>
            </a:r>
            <a:r>
              <a:rPr lang="en-US" sz="3600" b="1" dirty="0">
                <a:solidFill>
                  <a:srgbClr val="FF0000"/>
                </a:solidFill>
                <a:effectLst>
                  <a:outerShdw blurRad="38100" dist="38100" dir="2700000" algn="tl">
                    <a:srgbClr val="000000">
                      <a:alpha val="43137"/>
                    </a:srgbClr>
                  </a:outerShdw>
                </a:effectLst>
              </a:rPr>
              <a:t>a fricative</a:t>
            </a:r>
            <a:endParaRPr lang="pl-PL" sz="36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1002864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pl-PL" sz="3600" dirty="0">
                <a:effectLst>
                  <a:outerShdw blurRad="38100" dist="38100" dir="2700000" algn="tl">
                    <a:srgbClr val="000000">
                      <a:alpha val="43137"/>
                    </a:srgbClr>
                  </a:outerShdw>
                </a:effectLst>
              </a:rPr>
              <a:t>A</a:t>
            </a:r>
            <a:r>
              <a:rPr lang="en-US" sz="3600" dirty="0">
                <a:effectLst>
                  <a:outerShdw blurRad="38100" dist="38100" dir="2700000" algn="tl">
                    <a:srgbClr val="000000">
                      <a:alpha val="43137"/>
                    </a:srgbClr>
                  </a:outerShdw>
                </a:effectLst>
              </a:rPr>
              <a:t>lthough the difference in </a:t>
            </a:r>
            <a:r>
              <a:rPr lang="en-US" sz="3600" b="1" dirty="0">
                <a:solidFill>
                  <a:srgbClr val="00B0F0"/>
                </a:solidFill>
                <a:effectLst>
                  <a:outerShdw blurRad="38100" dist="38100" dir="2700000" algn="tl">
                    <a:srgbClr val="000000">
                      <a:alpha val="43137"/>
                    </a:srgbClr>
                  </a:outerShdw>
                </a:effectLst>
              </a:rPr>
              <a:t>the first letter of the signs at issue creates a phonetic dissimilarity</a:t>
            </a:r>
            <a:r>
              <a:rPr lang="en-US" sz="3600" dirty="0">
                <a:effectLst>
                  <a:outerShdw blurRad="38100" dist="38100" dir="2700000" algn="tl">
                    <a:srgbClr val="000000">
                      <a:alpha val="43137"/>
                    </a:srgbClr>
                  </a:outerShdw>
                </a:effectLst>
              </a:rPr>
              <a:t>, </a:t>
            </a:r>
            <a:r>
              <a:rPr lang="en-US" sz="3600" b="1" dirty="0">
                <a:solidFill>
                  <a:srgbClr val="002060"/>
                </a:solidFill>
                <a:effectLst>
                  <a:outerShdw blurRad="38100" dist="38100" dir="2700000" algn="tl">
                    <a:srgbClr val="000000">
                      <a:alpha val="43137"/>
                    </a:srgbClr>
                  </a:outerShdw>
                </a:effectLst>
              </a:rPr>
              <a:t>the pronunciation of the group of the following </a:t>
            </a:r>
            <a:r>
              <a:rPr lang="en-US" sz="3600" dirty="0">
                <a:effectLst>
                  <a:outerShdw blurRad="38100" dist="38100" dir="2700000" algn="tl">
                    <a:srgbClr val="000000">
                      <a:alpha val="43137"/>
                    </a:srgbClr>
                  </a:outerShdw>
                </a:effectLst>
              </a:rPr>
              <a:t>four letters, </a:t>
            </a:r>
            <a:r>
              <a:rPr lang="en-US" sz="3600"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‘olvo’, </a:t>
            </a:r>
            <a:r>
              <a:rPr lang="en-US" sz="3600" dirty="0">
                <a:solidFill>
                  <a:srgbClr val="0070C0"/>
                </a:solidFill>
                <a:effectLst>
                  <a:outerShdw blurRad="38100" dist="38100" dir="2700000" algn="tl">
                    <a:srgbClr val="000000">
                      <a:alpha val="43137"/>
                    </a:srgbClr>
                  </a:outerShdw>
                </a:effectLst>
                <a:highlight>
                  <a:srgbClr val="FFFF00"/>
                </a:highlight>
                <a:latin typeface="Arial Black" panose="020B0A04020102020204" pitchFamily="34" charset="0"/>
              </a:rPr>
              <a:t>remains strictly identical </a:t>
            </a:r>
            <a:r>
              <a:rPr lang="en-US" sz="3600" dirty="0">
                <a:effectLst>
                  <a:outerShdw blurRad="38100" dist="38100" dir="2700000" algn="tl">
                    <a:srgbClr val="000000">
                      <a:alpha val="43137"/>
                    </a:srgbClr>
                  </a:outerShdw>
                </a:effectLst>
              </a:rPr>
              <a:t>and thus necessarily maintains a </a:t>
            </a:r>
            <a:r>
              <a:rPr lang="en-US" sz="3600" b="1" dirty="0">
                <a:solidFill>
                  <a:srgbClr val="002060"/>
                </a:solidFill>
                <a:effectLst>
                  <a:outerShdw blurRad="38100" dist="38100" dir="2700000" algn="tl">
                    <a:srgbClr val="000000">
                      <a:alpha val="43137"/>
                    </a:srgbClr>
                  </a:outerShdw>
                </a:effectLst>
              </a:rPr>
              <a:t>degree of similarity </a:t>
            </a:r>
            <a:endParaRPr lang="pl-PL" sz="3600" b="1" dirty="0">
              <a:solidFill>
                <a:srgbClr val="002060"/>
              </a:solidFill>
              <a:effectLst>
                <a:outerShdw blurRad="38100" dist="38100" dir="2700000" algn="tl">
                  <a:srgbClr val="000000">
                    <a:alpha val="43137"/>
                  </a:srgbClr>
                </a:outerShdw>
              </a:effectLst>
            </a:endParaRPr>
          </a:p>
          <a:p>
            <a:pPr marL="0" indent="0">
              <a:buNone/>
            </a:pPr>
            <a:endParaRPr lang="pl-PL" dirty="0"/>
          </a:p>
        </p:txBody>
      </p:sp>
    </p:spTree>
    <p:extLst>
      <p:ext uri="{BB962C8B-B14F-4D97-AF65-F5344CB8AC3E}">
        <p14:creationId xmlns:p14="http://schemas.microsoft.com/office/powerpoint/2010/main" val="272034786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en-US" sz="4800" dirty="0">
                <a:highlight>
                  <a:srgbClr val="FFFF00"/>
                </a:highlight>
              </a:rPr>
              <a:t>The Board of Appeal </a:t>
            </a:r>
            <a:r>
              <a:rPr lang="en-US" sz="4800" b="1" dirty="0">
                <a:solidFill>
                  <a:srgbClr val="FF0000"/>
                </a:solidFill>
                <a:effectLst>
                  <a:outerShdw blurRad="38100" dist="38100" dir="2700000" algn="tl">
                    <a:srgbClr val="000000">
                      <a:alpha val="43137"/>
                    </a:srgbClr>
                  </a:outerShdw>
                </a:effectLst>
                <a:highlight>
                  <a:srgbClr val="FFFF00"/>
                </a:highlight>
              </a:rPr>
              <a:t>made an error </a:t>
            </a:r>
            <a:r>
              <a:rPr lang="en-US" sz="4800" dirty="0"/>
              <a:t>of assessment in </a:t>
            </a:r>
            <a:r>
              <a:rPr lang="en-US" sz="4800" b="1" dirty="0">
                <a:solidFill>
                  <a:srgbClr val="0070C0"/>
                </a:solidFill>
                <a:effectLst>
                  <a:outerShdw blurRad="38100" dist="38100" dir="2700000" algn="tl">
                    <a:srgbClr val="000000">
                      <a:alpha val="43137"/>
                    </a:srgbClr>
                  </a:outerShdw>
                </a:effectLst>
              </a:rPr>
              <a:t>not recogni</a:t>
            </a:r>
            <a:r>
              <a:rPr lang="pl-PL" sz="4800" b="1" dirty="0">
                <a:solidFill>
                  <a:srgbClr val="0070C0"/>
                </a:solidFill>
                <a:effectLst>
                  <a:outerShdw blurRad="38100" dist="38100" dir="2700000" algn="tl">
                    <a:srgbClr val="000000">
                      <a:alpha val="43137"/>
                    </a:srgbClr>
                  </a:outerShdw>
                </a:effectLst>
              </a:rPr>
              <a:t>z</a:t>
            </a:r>
            <a:r>
              <a:rPr lang="en-US" sz="4800" b="1" dirty="0">
                <a:solidFill>
                  <a:srgbClr val="0070C0"/>
                </a:solidFill>
                <a:effectLst>
                  <a:outerShdw blurRad="38100" dist="38100" dir="2700000" algn="tl">
                    <a:srgbClr val="000000">
                      <a:alpha val="43137"/>
                    </a:srgbClr>
                  </a:outerShdw>
                </a:effectLst>
              </a:rPr>
              <a:t>ing that there is a certain </a:t>
            </a:r>
            <a:r>
              <a:rPr lang="en-US" sz="4800" b="1" dirty="0">
                <a:solidFill>
                  <a:srgbClr val="0070C0"/>
                </a:solidFill>
                <a:effectLst>
                  <a:outerShdw blurRad="38100" dist="38100" dir="2700000" algn="tl">
                    <a:srgbClr val="000000">
                      <a:alpha val="43137"/>
                    </a:srgbClr>
                  </a:outerShdw>
                </a:effectLst>
                <a:highlight>
                  <a:srgbClr val="FFFF00"/>
                </a:highlight>
              </a:rPr>
              <a:t>degree of </a:t>
            </a:r>
            <a:r>
              <a:rPr lang="en-US" sz="4800" b="1" dirty="0">
                <a:solidFill>
                  <a:srgbClr val="FF0000"/>
                </a:solidFill>
                <a:effectLst>
                  <a:outerShdw blurRad="38100" dist="38100" dir="2700000" algn="tl">
                    <a:srgbClr val="000000">
                      <a:alpha val="43137"/>
                    </a:srgbClr>
                  </a:outerShdw>
                </a:effectLst>
                <a:highlight>
                  <a:srgbClr val="FFFF00"/>
                </a:highlight>
              </a:rPr>
              <a:t>phonetic similarit</a:t>
            </a:r>
            <a:r>
              <a:rPr lang="en-US" sz="4800" b="1" dirty="0">
                <a:solidFill>
                  <a:srgbClr val="FF0000"/>
                </a:solidFill>
                <a:highlight>
                  <a:srgbClr val="FFFF00"/>
                </a:highlight>
              </a:rPr>
              <a:t>y</a:t>
            </a:r>
            <a:r>
              <a:rPr lang="en-US" sz="4800" dirty="0">
                <a:solidFill>
                  <a:srgbClr val="FF0000"/>
                </a:solidFill>
                <a:highlight>
                  <a:srgbClr val="FFFF00"/>
                </a:highlight>
              </a:rPr>
              <a:t> </a:t>
            </a:r>
            <a:r>
              <a:rPr lang="en-US" sz="4800" dirty="0"/>
              <a:t>between the signs </a:t>
            </a:r>
            <a:endParaRPr lang="pl-PL" sz="4800" dirty="0"/>
          </a:p>
          <a:p>
            <a:pPr marL="0" indent="0">
              <a:buNone/>
            </a:pPr>
            <a:endParaRPr lang="pl-PL" dirty="0"/>
          </a:p>
        </p:txBody>
      </p:sp>
    </p:spTree>
    <p:extLst>
      <p:ext uri="{BB962C8B-B14F-4D97-AF65-F5344CB8AC3E}">
        <p14:creationId xmlns:p14="http://schemas.microsoft.com/office/powerpoint/2010/main" val="7148275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en-US" dirty="0"/>
              <a:t>As regards </a:t>
            </a:r>
            <a:r>
              <a:rPr lang="en-US" b="1" dirty="0">
                <a:solidFill>
                  <a:srgbClr val="FF0000"/>
                </a:solidFill>
                <a:effectLst>
                  <a:outerShdw blurRad="38100" dist="38100" dir="2700000" algn="tl">
                    <a:srgbClr val="000000">
                      <a:alpha val="43137"/>
                    </a:srgbClr>
                  </a:outerShdw>
                </a:effectLst>
              </a:rPr>
              <a:t>conceptual similarity</a:t>
            </a:r>
            <a:r>
              <a:rPr lang="en-US" dirty="0"/>
              <a:t>, the applicant agrees with the Board of Appeal’s analysis </a:t>
            </a:r>
            <a:r>
              <a:rPr lang="en-US" b="1" dirty="0"/>
              <a:t>that </a:t>
            </a:r>
            <a:r>
              <a:rPr lang="en-US" b="1" dirty="0">
                <a:solidFill>
                  <a:srgbClr val="FF0000"/>
                </a:solidFill>
                <a:effectLst>
                  <a:outerShdw blurRad="38100" dist="38100" dir="2700000" algn="tl">
                    <a:srgbClr val="000000">
                      <a:alpha val="43137"/>
                    </a:srgbClr>
                  </a:outerShdw>
                </a:effectLst>
              </a:rPr>
              <a:t>consumers are unlikely to have sufficient knowledge to discern the Latin roots </a:t>
            </a:r>
            <a:r>
              <a:rPr lang="en-US" b="1" dirty="0"/>
              <a:t>of the signs at issue</a:t>
            </a:r>
            <a:r>
              <a:rPr lang="en-US" dirty="0"/>
              <a:t> </a:t>
            </a:r>
            <a:endParaRPr lang="pl-PL" dirty="0"/>
          </a:p>
          <a:p>
            <a:pPr marL="0" indent="0">
              <a:buNone/>
            </a:pPr>
            <a:r>
              <a:rPr lang="en-US" b="1" dirty="0">
                <a:solidFill>
                  <a:srgbClr val="FF0000"/>
                </a:solidFill>
                <a:effectLst>
                  <a:outerShdw blurRad="38100" dist="38100" dir="2700000" algn="tl">
                    <a:srgbClr val="000000">
                      <a:alpha val="43137"/>
                    </a:srgbClr>
                  </a:outerShdw>
                </a:effectLst>
              </a:rPr>
              <a:t>Only the intervener </a:t>
            </a:r>
            <a:r>
              <a:rPr lang="en-US" dirty="0"/>
              <a:t>contends that the Latin roots of the marks in question tend to create a </a:t>
            </a:r>
            <a:r>
              <a:rPr lang="en-US" b="1" dirty="0">
                <a:solidFill>
                  <a:srgbClr val="002060"/>
                </a:solidFill>
              </a:rPr>
              <a:t>conceptual dissimilarity</a:t>
            </a:r>
            <a:r>
              <a:rPr lang="en-US" dirty="0">
                <a:solidFill>
                  <a:srgbClr val="002060"/>
                </a:solidFill>
              </a:rPr>
              <a:t> </a:t>
            </a:r>
            <a:endParaRPr lang="pl-PL" dirty="0">
              <a:solidFill>
                <a:srgbClr val="002060"/>
              </a:solidFill>
            </a:endParaRPr>
          </a:p>
          <a:p>
            <a:pPr marL="0" indent="0">
              <a:buNone/>
            </a:pPr>
            <a:endParaRPr lang="pl-PL" dirty="0"/>
          </a:p>
        </p:txBody>
      </p:sp>
    </p:spTree>
    <p:extLst>
      <p:ext uri="{BB962C8B-B14F-4D97-AF65-F5344CB8AC3E}">
        <p14:creationId xmlns:p14="http://schemas.microsoft.com/office/powerpoint/2010/main" val="33512804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pl-PL" dirty="0">
                <a:solidFill>
                  <a:srgbClr val="002060"/>
                </a:solidFill>
              </a:rPr>
              <a:t>I</a:t>
            </a:r>
            <a:r>
              <a:rPr lang="en-US" dirty="0">
                <a:solidFill>
                  <a:srgbClr val="002060"/>
                </a:solidFill>
              </a:rPr>
              <a:t>t is </a:t>
            </a:r>
            <a:r>
              <a:rPr lang="en-US" b="1" dirty="0">
                <a:solidFill>
                  <a:srgbClr val="FF0000"/>
                </a:solidFill>
                <a:effectLst>
                  <a:outerShdw blurRad="38100" dist="38100" dir="2700000" algn="tl">
                    <a:srgbClr val="000000">
                      <a:alpha val="43137"/>
                    </a:srgbClr>
                  </a:outerShdw>
                </a:effectLst>
              </a:rPr>
              <a:t>unlikely </a:t>
            </a:r>
            <a:r>
              <a:rPr lang="en-US" dirty="0">
                <a:solidFill>
                  <a:srgbClr val="002060"/>
                </a:solidFill>
              </a:rPr>
              <a:t>that the consumer in question will </a:t>
            </a:r>
            <a:r>
              <a:rPr lang="en-US" b="1" dirty="0">
                <a:solidFill>
                  <a:srgbClr val="002060"/>
                </a:solidFill>
              </a:rPr>
              <a:t>perceive the meaning </a:t>
            </a:r>
            <a:r>
              <a:rPr lang="en-US" dirty="0">
                <a:solidFill>
                  <a:srgbClr val="002060"/>
                </a:solidFill>
              </a:rPr>
              <a:t>that the marks at issue might have </a:t>
            </a:r>
            <a:r>
              <a:rPr lang="en-US" b="1" dirty="0">
                <a:solidFill>
                  <a:srgbClr val="002060"/>
                </a:solidFill>
              </a:rPr>
              <a:t>in the light of their </a:t>
            </a:r>
            <a:r>
              <a:rPr lang="en-US" b="1" dirty="0">
                <a:solidFill>
                  <a:srgbClr val="FF0000"/>
                </a:solidFill>
                <a:effectLst>
                  <a:outerShdw blurRad="38100" dist="38100" dir="2700000" algn="tl">
                    <a:srgbClr val="000000">
                      <a:alpha val="43137"/>
                    </a:srgbClr>
                  </a:outerShdw>
                </a:effectLst>
              </a:rPr>
              <a:t>Latin roots</a:t>
            </a:r>
            <a:r>
              <a:rPr lang="en-US" dirty="0">
                <a:solidFill>
                  <a:srgbClr val="002060"/>
                </a:solidFill>
              </a:rPr>
              <a:t>, since it is in general unlikely that a significant proportion of consumers would make the connection between the terms referred to by those marks and Latin. </a:t>
            </a:r>
            <a:endParaRPr lang="pl-PL" dirty="0">
              <a:solidFill>
                <a:srgbClr val="002060"/>
              </a:solidFill>
            </a:endParaRPr>
          </a:p>
          <a:p>
            <a:r>
              <a:rPr lang="en-US" b="1" dirty="0">
                <a:solidFill>
                  <a:srgbClr val="002060"/>
                </a:solidFill>
                <a:effectLst>
                  <a:outerShdw blurRad="38100" dist="38100" dir="2700000" algn="tl">
                    <a:srgbClr val="000000">
                      <a:alpha val="43137"/>
                    </a:srgbClr>
                  </a:outerShdw>
                </a:effectLst>
              </a:rPr>
              <a:t>The Court therefore holds that </a:t>
            </a:r>
            <a:r>
              <a:rPr lang="en-US" b="1" dirty="0">
                <a:solidFill>
                  <a:srgbClr val="FF0000"/>
                </a:solidFill>
                <a:effectLst>
                  <a:outerShdw blurRad="38100" dist="38100" dir="2700000" algn="tl">
                    <a:srgbClr val="000000">
                      <a:alpha val="43137"/>
                    </a:srgbClr>
                  </a:outerShdw>
                </a:effectLst>
              </a:rPr>
              <a:t>conceptual similarity plays only a very minor role</a:t>
            </a:r>
            <a:endParaRPr lang="pl-PL" dirty="0">
              <a:solidFill>
                <a:srgbClr val="002060"/>
              </a:solidFill>
            </a:endParaRPr>
          </a:p>
          <a:p>
            <a:pPr marL="0" indent="0">
              <a:buNone/>
            </a:pPr>
            <a:endParaRPr lang="pl-PL" dirty="0"/>
          </a:p>
        </p:txBody>
      </p:sp>
    </p:spTree>
    <p:extLst>
      <p:ext uri="{BB962C8B-B14F-4D97-AF65-F5344CB8AC3E}">
        <p14:creationId xmlns:p14="http://schemas.microsoft.com/office/powerpoint/2010/main" val="37720187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a:xfrm>
            <a:off x="457200" y="1600200"/>
            <a:ext cx="8229600" cy="5141168"/>
          </a:xfrm>
        </p:spPr>
        <p:txBody>
          <a:bodyPr/>
          <a:lstStyle/>
          <a:p>
            <a:r>
              <a:rPr lang="pl-PL" b="1" dirty="0">
                <a:effectLst>
                  <a:outerShdw blurRad="38100" dist="38100" dir="2700000" algn="tl">
                    <a:srgbClr val="000000">
                      <a:alpha val="43137"/>
                    </a:srgbClr>
                  </a:outerShdw>
                </a:effectLst>
              </a:rPr>
              <a:t>A</a:t>
            </a:r>
            <a:r>
              <a:rPr lang="en-US" b="1" dirty="0">
                <a:effectLst>
                  <a:outerShdw blurRad="38100" dist="38100" dir="2700000" algn="tl">
                    <a:srgbClr val="000000">
                      <a:alpha val="43137"/>
                    </a:srgbClr>
                  </a:outerShdw>
                </a:effectLst>
              </a:rPr>
              <a:t>lthough </a:t>
            </a:r>
            <a:r>
              <a:rPr lang="en-US" dirty="0">
                <a:effectLst>
                  <a:outerShdw blurRad="38100" dist="38100" dir="2700000" algn="tl">
                    <a:srgbClr val="000000">
                      <a:alpha val="43137"/>
                    </a:srgbClr>
                  </a:outerShdw>
                </a:effectLst>
              </a:rPr>
              <a:t>the Board of Appeal </a:t>
            </a:r>
            <a:r>
              <a:rPr lang="en-US" b="1" dirty="0">
                <a:solidFill>
                  <a:srgbClr val="0070C0"/>
                </a:solidFill>
                <a:effectLst>
                  <a:outerShdw blurRad="38100" dist="38100" dir="2700000" algn="tl">
                    <a:srgbClr val="000000">
                      <a:alpha val="43137"/>
                    </a:srgbClr>
                  </a:outerShdw>
                </a:effectLst>
              </a:rPr>
              <a:t>was right to find </a:t>
            </a:r>
            <a:r>
              <a:rPr lang="en-US" dirty="0">
                <a:effectLst>
                  <a:outerShdw blurRad="38100" dist="38100" dir="2700000" algn="tl">
                    <a:srgbClr val="000000">
                      <a:alpha val="43137"/>
                    </a:srgbClr>
                  </a:outerShdw>
                </a:effectLst>
              </a:rPr>
              <a:t>that the mark applied for SOLVO and the earlier word sign VOLVO are </a:t>
            </a:r>
            <a:r>
              <a:rPr lang="en-US" b="1" dirty="0">
                <a:solidFill>
                  <a:srgbClr val="FF0000"/>
                </a:solidFill>
                <a:effectLst>
                  <a:outerShdw blurRad="38100" dist="38100" dir="2700000" algn="tl">
                    <a:srgbClr val="000000">
                      <a:alpha val="43137"/>
                    </a:srgbClr>
                  </a:outerShdw>
                </a:effectLst>
                <a:highlight>
                  <a:srgbClr val="FFFF00"/>
                </a:highlight>
                <a:latin typeface="Arial Black" panose="020B0A04020102020204" pitchFamily="34" charset="0"/>
              </a:rPr>
              <a:t>not visually and conceptually similar</a:t>
            </a:r>
            <a:r>
              <a:rPr lang="en-US" dirty="0">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highlight>
                  <a:srgbClr val="00FFFF"/>
                </a:highlight>
                <a:latin typeface="Arial Black" panose="020B0A04020102020204" pitchFamily="34" charset="0"/>
              </a:rPr>
              <a:t>it made an error of assessment in </a:t>
            </a:r>
            <a:r>
              <a:rPr lang="en-US" b="1" dirty="0">
                <a:solidFill>
                  <a:srgbClr val="FF0000"/>
                </a:solidFill>
                <a:effectLst>
                  <a:outerShdw blurRad="38100" dist="38100" dir="2700000" algn="tl">
                    <a:srgbClr val="000000">
                      <a:alpha val="43137"/>
                    </a:srgbClr>
                  </a:outerShdw>
                </a:effectLst>
                <a:highlight>
                  <a:srgbClr val="00FFFF"/>
                </a:highlight>
                <a:latin typeface="Arial Black" panose="020B0A04020102020204" pitchFamily="34" charset="0"/>
              </a:rPr>
              <a:t>precluding any phonetic similarity</a:t>
            </a:r>
            <a:endParaRPr lang="pl-PL" dirty="0">
              <a:effectLst>
                <a:outerShdw blurRad="38100" dist="38100" dir="2700000" algn="tl">
                  <a:srgbClr val="000000">
                    <a:alpha val="43137"/>
                  </a:srgbClr>
                </a:outerShdw>
              </a:effectLst>
              <a:highlight>
                <a:srgbClr val="00FFFF"/>
              </a:highlight>
              <a:latin typeface="Arial Black" panose="020B0A04020102020204" pitchFamily="34" charset="0"/>
            </a:endParaRPr>
          </a:p>
          <a:p>
            <a:r>
              <a:rPr lang="pl-PL" dirty="0"/>
              <a:t>T</a:t>
            </a:r>
            <a:r>
              <a:rPr lang="en-US" dirty="0"/>
              <a:t>he Board of Appeal </a:t>
            </a:r>
            <a:r>
              <a:rPr lang="en-US" b="1" dirty="0"/>
              <a:t>failed to take into consideration</a:t>
            </a:r>
            <a:r>
              <a:rPr lang="en-US" dirty="0"/>
              <a:t> </a:t>
            </a:r>
            <a:r>
              <a:rPr lang="en-US" b="1" dirty="0">
                <a:solidFill>
                  <a:srgbClr val="FF0000"/>
                </a:solidFill>
                <a:effectLst>
                  <a:outerShdw blurRad="38100" dist="38100" dir="2700000" algn="tl">
                    <a:srgbClr val="000000">
                      <a:alpha val="43137"/>
                    </a:srgbClr>
                  </a:outerShdw>
                </a:effectLst>
              </a:rPr>
              <a:t>the target public </a:t>
            </a:r>
            <a:r>
              <a:rPr lang="pl-PL" dirty="0"/>
              <a:t>in</a:t>
            </a:r>
            <a:r>
              <a:rPr lang="pl-PL" b="1" dirty="0">
                <a:solidFill>
                  <a:srgbClr val="FF0000"/>
                </a:solidFill>
                <a:effectLst>
                  <a:outerShdw blurRad="38100" dist="38100" dir="2700000" algn="tl">
                    <a:srgbClr val="000000">
                      <a:alpha val="43137"/>
                    </a:srgbClr>
                  </a:outerShdw>
                </a:effectLst>
              </a:rPr>
              <a:t> </a:t>
            </a:r>
            <a:r>
              <a:rPr lang="en-US" dirty="0"/>
              <a:t>assessing the similarity of the signs at issue</a:t>
            </a:r>
            <a:r>
              <a:rPr lang="pl-PL" dirty="0"/>
              <a:t> (!) </a:t>
            </a:r>
            <a:endParaRPr lang="pl-PL" dirty="0">
              <a:effectLst>
                <a:outerShdw blurRad="38100" dist="38100" dir="2700000" algn="tl">
                  <a:srgbClr val="000000">
                    <a:alpha val="43137"/>
                  </a:srgbClr>
                </a:outerShdw>
              </a:effectLst>
            </a:endParaRPr>
          </a:p>
          <a:p>
            <a:endParaRPr lang="pl-PL" dirty="0">
              <a:effectLst>
                <a:outerShdw blurRad="38100" dist="38100" dir="2700000" algn="tl">
                  <a:srgbClr val="000000">
                    <a:alpha val="43137"/>
                  </a:srgbClr>
                </a:outerShdw>
              </a:effectLst>
            </a:endParaRPr>
          </a:p>
          <a:p>
            <a:pPr marL="0" indent="0">
              <a:buNone/>
            </a:pPr>
            <a:endParaRPr lang="pl-PL" dirty="0"/>
          </a:p>
        </p:txBody>
      </p:sp>
    </p:spTree>
    <p:extLst>
      <p:ext uri="{BB962C8B-B14F-4D97-AF65-F5344CB8AC3E}">
        <p14:creationId xmlns:p14="http://schemas.microsoft.com/office/powerpoint/2010/main" val="255004906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pl-PL" sz="4800" dirty="0"/>
              <a:t>I</a:t>
            </a:r>
            <a:r>
              <a:rPr lang="en-US" sz="4800" dirty="0"/>
              <a:t>n principle, </a:t>
            </a:r>
            <a:r>
              <a:rPr lang="en-US" sz="4800" b="1" dirty="0">
                <a:solidFill>
                  <a:srgbClr val="FF0000"/>
                </a:solidFill>
                <a:effectLst>
                  <a:outerShdw blurRad="38100" dist="38100" dir="2700000" algn="tl">
                    <a:srgbClr val="000000">
                      <a:alpha val="43137"/>
                    </a:srgbClr>
                  </a:outerShdw>
                </a:effectLst>
                <a:highlight>
                  <a:srgbClr val="FFFF00"/>
                </a:highlight>
              </a:rPr>
              <a:t>the more distinctive the earlier mark</a:t>
            </a:r>
            <a:r>
              <a:rPr lang="en-US" sz="4800" b="1" dirty="0">
                <a:solidFill>
                  <a:srgbClr val="FF0000"/>
                </a:solidFill>
                <a:effectLst>
                  <a:outerShdw blurRad="38100" dist="38100" dir="2700000" algn="tl">
                    <a:srgbClr val="000000">
                      <a:alpha val="43137"/>
                    </a:srgbClr>
                  </a:outerShdw>
                </a:effectLst>
              </a:rPr>
              <a:t>, </a:t>
            </a:r>
            <a:r>
              <a:rPr lang="en-US" sz="4800" b="1" dirty="0">
                <a:solidFill>
                  <a:srgbClr val="FF0000"/>
                </a:solidFill>
                <a:effectLst>
                  <a:outerShdw blurRad="38100" dist="38100" dir="2700000" algn="tl">
                    <a:srgbClr val="000000">
                      <a:alpha val="43137"/>
                    </a:srgbClr>
                  </a:outerShdw>
                </a:effectLst>
                <a:highlight>
                  <a:srgbClr val="00FFFF"/>
                </a:highlight>
              </a:rPr>
              <a:t>the greater will be the likelihood of confusion </a:t>
            </a:r>
            <a:endParaRPr lang="pl-PL" sz="4800" b="1" dirty="0">
              <a:solidFill>
                <a:srgbClr val="FF0000"/>
              </a:solidFill>
              <a:effectLst>
                <a:outerShdw blurRad="38100" dist="38100" dir="2700000" algn="tl">
                  <a:srgbClr val="000000">
                    <a:alpha val="43137"/>
                  </a:srgbClr>
                </a:outerShdw>
              </a:effectLst>
              <a:highlight>
                <a:srgbClr val="00FFFF"/>
              </a:highlight>
            </a:endParaRPr>
          </a:p>
          <a:p>
            <a:endParaRPr lang="pl-PL" dirty="0"/>
          </a:p>
        </p:txBody>
      </p:sp>
    </p:spTree>
    <p:extLst>
      <p:ext uri="{BB962C8B-B14F-4D97-AF65-F5344CB8AC3E}">
        <p14:creationId xmlns:p14="http://schemas.microsoft.com/office/powerpoint/2010/main" val="29837642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pPr marL="0" indent="0">
              <a:buNone/>
            </a:pPr>
            <a:r>
              <a:rPr lang="en-US" sz="4000" dirty="0">
                <a:effectLst>
                  <a:outerShdw blurRad="38100" dist="38100" dir="2700000" algn="tl">
                    <a:srgbClr val="000000">
                      <a:alpha val="43137"/>
                    </a:srgbClr>
                  </a:outerShdw>
                </a:effectLst>
              </a:rPr>
              <a:t>It is apparent from the examination of the first plea that </a:t>
            </a:r>
            <a:r>
              <a:rPr lang="en-US" sz="4000" b="1" dirty="0">
                <a:effectLst>
                  <a:outerShdw blurRad="38100" dist="38100" dir="2700000" algn="tl">
                    <a:srgbClr val="000000">
                      <a:alpha val="43137"/>
                    </a:srgbClr>
                  </a:outerShdw>
                </a:effectLst>
              </a:rPr>
              <a:t>the Board of Appeal made an </a:t>
            </a:r>
            <a:r>
              <a:rPr lang="en-US" sz="4000" b="1" dirty="0">
                <a:solidFill>
                  <a:srgbClr val="FF0000"/>
                </a:solidFill>
                <a:effectLst>
                  <a:outerShdw blurRad="38100" dist="38100" dir="2700000" algn="tl">
                    <a:srgbClr val="000000">
                      <a:alpha val="43137"/>
                    </a:srgbClr>
                  </a:outerShdw>
                </a:effectLst>
              </a:rPr>
              <a:t>error</a:t>
            </a:r>
            <a:r>
              <a:rPr lang="en-US" sz="4000" b="1" dirty="0">
                <a:effectLst>
                  <a:outerShdw blurRad="38100" dist="38100" dir="2700000" algn="tl">
                    <a:srgbClr val="000000">
                      <a:alpha val="43137"/>
                    </a:srgbClr>
                  </a:outerShdw>
                </a:effectLst>
              </a:rPr>
              <a:t> of assessment </a:t>
            </a:r>
            <a:r>
              <a:rPr lang="en-US" sz="4000" b="1" dirty="0">
                <a:solidFill>
                  <a:srgbClr val="0070C0"/>
                </a:solidFill>
                <a:effectLst>
                  <a:outerShdw blurRad="38100" dist="38100" dir="2700000" algn="tl">
                    <a:srgbClr val="000000">
                      <a:alpha val="43137"/>
                    </a:srgbClr>
                  </a:outerShdw>
                </a:effectLst>
              </a:rPr>
              <a:t>in finding that the signs at issue were devoid of any similarity</a:t>
            </a:r>
            <a:r>
              <a:rPr lang="en-US" sz="4000" b="1" dirty="0">
                <a:effectLst>
                  <a:outerShdw blurRad="38100" dist="38100" dir="2700000" algn="tl">
                    <a:srgbClr val="000000">
                      <a:alpha val="43137"/>
                    </a:srgbClr>
                  </a:outerShdw>
                </a:effectLst>
              </a:rPr>
              <a:t>, </a:t>
            </a:r>
            <a:r>
              <a:rPr lang="en-US" sz="4000" b="1" dirty="0">
                <a:solidFill>
                  <a:srgbClr val="FF0000"/>
                </a:solidFill>
                <a:effectLst>
                  <a:outerShdw blurRad="38100" dist="38100" dir="2700000" algn="tl">
                    <a:srgbClr val="000000">
                      <a:alpha val="43137"/>
                    </a:srgbClr>
                  </a:outerShdw>
                </a:effectLst>
              </a:rPr>
              <a:t>since they share a degree of </a:t>
            </a:r>
            <a:r>
              <a:rPr lang="en-US" sz="4000" b="1" dirty="0">
                <a:solidFill>
                  <a:srgbClr val="FF0000"/>
                </a:solidFill>
                <a:effectLst>
                  <a:outerShdw blurRad="38100" dist="38100" dir="2700000" algn="tl">
                    <a:srgbClr val="000000">
                      <a:alpha val="43137"/>
                    </a:srgbClr>
                  </a:outerShdw>
                </a:effectLst>
                <a:latin typeface="Arial Black" panose="020B0A04020102020204" pitchFamily="34" charset="0"/>
              </a:rPr>
              <a:t>phonetic similarity</a:t>
            </a:r>
            <a:endParaRPr lang="pl-PL" sz="4000" dirty="0">
              <a:solidFill>
                <a:srgbClr val="FF0000"/>
              </a:solidFill>
              <a:effectLst>
                <a:outerShdw blurRad="38100" dist="38100" dir="2700000" algn="tl">
                  <a:srgbClr val="000000">
                    <a:alpha val="43137"/>
                  </a:srgbClr>
                </a:outerShdw>
              </a:effectLst>
              <a:latin typeface="Arial Black" panose="020B0A04020102020204" pitchFamily="34" charset="0"/>
            </a:endParaRPr>
          </a:p>
        </p:txBody>
      </p:sp>
    </p:spTree>
    <p:extLst>
      <p:ext uri="{BB962C8B-B14F-4D97-AF65-F5344CB8AC3E}">
        <p14:creationId xmlns:p14="http://schemas.microsoft.com/office/powerpoint/2010/main" val="238945711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Case Volvo</a:t>
            </a:r>
          </a:p>
        </p:txBody>
      </p:sp>
      <p:sp>
        <p:nvSpPr>
          <p:cNvPr id="3" name="Symbol zastępczy zawartości 2"/>
          <p:cNvSpPr>
            <a:spLocks noGrp="1"/>
          </p:cNvSpPr>
          <p:nvPr>
            <p:ph idx="1"/>
          </p:nvPr>
        </p:nvSpPr>
        <p:spPr/>
        <p:txBody>
          <a:bodyPr/>
          <a:lstStyle/>
          <a:p>
            <a:r>
              <a:rPr lang="en-US" sz="4000" b="1" dirty="0">
                <a:solidFill>
                  <a:srgbClr val="002060"/>
                </a:solidFill>
                <a:effectLst>
                  <a:outerShdw blurRad="38100" dist="38100" dir="2700000" algn="tl">
                    <a:srgbClr val="000000">
                      <a:alpha val="43137"/>
                    </a:srgbClr>
                  </a:outerShdw>
                </a:effectLst>
              </a:rPr>
              <a:t>The court </a:t>
            </a:r>
            <a:r>
              <a:rPr lang="en-US" sz="4000" b="1" dirty="0">
                <a:solidFill>
                  <a:srgbClr val="FF0000"/>
                </a:solidFill>
                <a:effectLst>
                  <a:outerShdw blurRad="38100" dist="38100" dir="2700000" algn="tl">
                    <a:srgbClr val="000000">
                      <a:alpha val="43137"/>
                    </a:srgbClr>
                  </a:outerShdw>
                </a:effectLst>
              </a:rPr>
              <a:t>annulled the OHIM decision </a:t>
            </a:r>
            <a:r>
              <a:rPr lang="en-US" sz="4000" b="1" dirty="0">
                <a:solidFill>
                  <a:srgbClr val="002060"/>
                </a:solidFill>
                <a:effectLst>
                  <a:outerShdw blurRad="38100" dist="38100" dir="2700000" algn="tl">
                    <a:srgbClr val="000000">
                      <a:alpha val="43137"/>
                    </a:srgbClr>
                  </a:outerShdw>
                </a:effectLst>
              </a:rPr>
              <a:t>because of methodological mistakes in the assessment of similarity, particularly not taking into account the opinions of the customer</a:t>
            </a:r>
          </a:p>
          <a:p>
            <a:r>
              <a:rPr lang="en-US" sz="4000" b="1" dirty="0">
                <a:solidFill>
                  <a:srgbClr val="FF0000"/>
                </a:solidFill>
                <a:effectLst>
                  <a:outerShdw blurRad="38100" dist="38100" dir="2700000" algn="tl">
                    <a:srgbClr val="000000">
                      <a:alpha val="43137"/>
                    </a:srgbClr>
                  </a:outerShdw>
                </a:effectLst>
                <a:highlight>
                  <a:srgbClr val="FFFF00"/>
                </a:highlight>
              </a:rPr>
              <a:t>Volvo was the winner of the case</a:t>
            </a:r>
          </a:p>
        </p:txBody>
      </p:sp>
    </p:spTree>
    <p:extLst>
      <p:ext uri="{BB962C8B-B14F-4D97-AF65-F5344CB8AC3E}">
        <p14:creationId xmlns:p14="http://schemas.microsoft.com/office/powerpoint/2010/main" val="1351128493"/>
      </p:ext>
    </p:extLst>
  </p:cSld>
  <p:clrMapOvr>
    <a:masterClrMapping/>
  </p:clrMapOvr>
</p:sld>
</file>

<file path=ppt/theme/theme1.xml><?xml version="1.0" encoding="utf-8"?>
<a:theme xmlns:a="http://schemas.openxmlformats.org/drawingml/2006/main" name="wzor_prezentacji_english_biala">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waldemarhoff xmlns="631a6e70-9f0c-41a4-a6bc-701bc4b7572b">
      <UserInfo>
        <DisplayName/>
        <AccountId xsi:nil="true"/>
        <AccountType/>
      </UserInfo>
    </waldemarhof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5D0351C22CE7E441BEC9C9B4FA111FAA" ma:contentTypeVersion="5" ma:contentTypeDescription="Utwórz nowy dokument." ma:contentTypeScope="" ma:versionID="abc5f5c83ada32888bcff0c314f6455f">
  <xsd:schema xmlns:xsd="http://www.w3.org/2001/XMLSchema" xmlns:xs="http://www.w3.org/2001/XMLSchema" xmlns:p="http://schemas.microsoft.com/office/2006/metadata/properties" xmlns:ns2="631a6e70-9f0c-41a4-a6bc-701bc4b7572b" targetNamespace="http://schemas.microsoft.com/office/2006/metadata/properties" ma:root="true" ma:fieldsID="dec1770cb065a7aa5ce09e98d846757a" ns2:_="">
    <xsd:import namespace="631a6e70-9f0c-41a4-a6bc-701bc4b757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waldemarhof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1a6e70-9f0c-41a4-a6bc-701bc4b757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waldemarhoff" ma:index="12" nillable="true" ma:displayName="waldemar hoff" ma:format="Dropdown" ma:list="UserInfo" ma:SharePointGroup="0" ma:internalName="waldemarhoff">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5DB1968-0D56-479E-AFC2-3AC61727F163}">
  <ds:schemaRefs>
    <ds:schemaRef ds:uri="http://schemas.microsoft.com/sharepoint/v3/contenttype/forms"/>
  </ds:schemaRefs>
</ds:datastoreItem>
</file>

<file path=customXml/itemProps2.xml><?xml version="1.0" encoding="utf-8"?>
<ds:datastoreItem xmlns:ds="http://schemas.openxmlformats.org/officeDocument/2006/customXml" ds:itemID="{456F7D4C-7CF8-41B4-9498-F7865910FB2D}">
  <ds:schemaRefs>
    <ds:schemaRef ds:uri="http://schemas.microsoft.com/office/2006/metadata/properties"/>
    <ds:schemaRef ds:uri="http://schemas.microsoft.com/office/infopath/2007/PartnerControls"/>
    <ds:schemaRef ds:uri="631a6e70-9f0c-41a4-a6bc-701bc4b7572b"/>
  </ds:schemaRefs>
</ds:datastoreItem>
</file>

<file path=customXml/itemProps3.xml><?xml version="1.0" encoding="utf-8"?>
<ds:datastoreItem xmlns:ds="http://schemas.openxmlformats.org/officeDocument/2006/customXml" ds:itemID="{18246122-DD2E-4EFB-9F91-EEF640D771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1a6e70-9f0c-41a4-a6bc-701bc4b757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wzor_prezentacji_english_biala</Template>
  <TotalTime>83</TotalTime>
  <Words>7902</Words>
  <Application>Microsoft Office PowerPoint</Application>
  <PresentationFormat>Pokaz na ekranie (4:3)</PresentationFormat>
  <Paragraphs>508</Paragraphs>
  <Slides>137</Slides>
  <Notes>0</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137</vt:i4>
      </vt:variant>
    </vt:vector>
  </HeadingPairs>
  <TitlesOfParts>
    <vt:vector size="142" baseType="lpstr">
      <vt:lpstr>Aptos Black</vt:lpstr>
      <vt:lpstr>Arial</vt:lpstr>
      <vt:lpstr>Arial Black</vt:lpstr>
      <vt:lpstr>Calibri</vt:lpstr>
      <vt:lpstr>wzor_prezentacji_english_biala</vt:lpstr>
      <vt:lpstr>Intellectual Property</vt:lpstr>
      <vt:lpstr>Two types of IP</vt:lpstr>
      <vt:lpstr>Copyright Poland</vt:lpstr>
      <vt:lpstr>General definition</vt:lpstr>
      <vt:lpstr>General definition</vt:lpstr>
      <vt:lpstr>Establishment</vt:lpstr>
      <vt:lpstr>Exhaustion of rights (copyright)</vt:lpstr>
      <vt:lpstr>Exhaustion of rights (patents)</vt:lpstr>
      <vt:lpstr>Copyrights include:</vt:lpstr>
      <vt:lpstr>Copyrights include:</vt:lpstr>
      <vt:lpstr>Exclusions</vt:lpstr>
      <vt:lpstr>Exclusions</vt:lpstr>
      <vt:lpstr>Anthologies</vt:lpstr>
      <vt:lpstr>Ownership of work</vt:lpstr>
      <vt:lpstr>Ownership of work Author not disclosed</vt:lpstr>
      <vt:lpstr>Co-authors </vt:lpstr>
      <vt:lpstr>Co-authors</vt:lpstr>
      <vt:lpstr>Employ   </vt:lpstr>
      <vt:lpstr>Employ</vt:lpstr>
      <vt:lpstr>Moral rights</vt:lpstr>
      <vt:lpstr>Economic rights art. 17</vt:lpstr>
      <vt:lpstr>Students</vt:lpstr>
      <vt:lpstr>Professional resale</vt:lpstr>
      <vt:lpstr>Professional resale</vt:lpstr>
      <vt:lpstr>Producers and importers</vt:lpstr>
      <vt:lpstr>Xerox operators</vt:lpstr>
      <vt:lpstr>Radio, TV broadcasting </vt:lpstr>
      <vt:lpstr>Cable networks</vt:lpstr>
      <vt:lpstr>Public domain  (art. 23-35)</vt:lpstr>
      <vt:lpstr>Public domain</vt:lpstr>
      <vt:lpstr>Public domain</vt:lpstr>
      <vt:lpstr>Public domain  (26)</vt:lpstr>
      <vt:lpstr>Public domain  (27)</vt:lpstr>
      <vt:lpstr>Public domain (28)</vt:lpstr>
      <vt:lpstr>Public domain (29)</vt:lpstr>
      <vt:lpstr>Public domain (31)</vt:lpstr>
      <vt:lpstr>Public domain (33)</vt:lpstr>
      <vt:lpstr>Public domain (33)</vt:lpstr>
      <vt:lpstr>Public domain (33 (1))</vt:lpstr>
      <vt:lpstr>Public domain (33(2))</vt:lpstr>
      <vt:lpstr>Public domain</vt:lpstr>
      <vt:lpstr>Public domain</vt:lpstr>
      <vt:lpstr>Expiration</vt:lpstr>
      <vt:lpstr>Expiration</vt:lpstr>
      <vt:lpstr>Expiration</vt:lpstr>
      <vt:lpstr>Expiration</vt:lpstr>
      <vt:lpstr>Transfer of rights</vt:lpstr>
      <vt:lpstr>Transfer</vt:lpstr>
      <vt:lpstr>Transfer</vt:lpstr>
      <vt:lpstr>Transfer</vt:lpstr>
      <vt:lpstr>Transfer</vt:lpstr>
      <vt:lpstr>Transfer</vt:lpstr>
      <vt:lpstr>Image protection</vt:lpstr>
      <vt:lpstr>Mail protection</vt:lpstr>
      <vt:lpstr>Industrial property</vt:lpstr>
      <vt:lpstr>Legal basis</vt:lpstr>
      <vt:lpstr>Patent</vt:lpstr>
      <vt:lpstr>Patent </vt:lpstr>
      <vt:lpstr>Patent</vt:lpstr>
      <vt:lpstr>Not patentable 1</vt:lpstr>
      <vt:lpstr>Not patentable 2</vt:lpstr>
      <vt:lpstr>Patent</vt:lpstr>
      <vt:lpstr>Additional protection - SPC</vt:lpstr>
      <vt:lpstr>License</vt:lpstr>
      <vt:lpstr>License</vt:lpstr>
      <vt:lpstr>License - mandatory</vt:lpstr>
      <vt:lpstr>Secret invention</vt:lpstr>
      <vt:lpstr>Abuse of patent</vt:lpstr>
      <vt:lpstr>Utility model</vt:lpstr>
      <vt:lpstr>Industrial design</vt:lpstr>
      <vt:lpstr>Trademark [Polish: Znak towarowy]</vt:lpstr>
      <vt:lpstr>Trademark</vt:lpstr>
      <vt:lpstr>Trademark Case Adidas vs Nike</vt:lpstr>
      <vt:lpstr>Geographical origin</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Cannabis as Trademark</vt:lpstr>
      <vt:lpstr>Case Apple</vt:lpstr>
      <vt:lpstr>Shape as trademark</vt:lpstr>
      <vt:lpstr>Renowned brand name</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lpstr>Case Volvo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Intellectual Property</dc:title>
  <dc:creator>Waldemar Hoff</dc:creator>
  <cp:lastModifiedBy>Waldemar Hoff</cp:lastModifiedBy>
  <cp:revision>19</cp:revision>
  <dcterms:created xsi:type="dcterms:W3CDTF">2014-01-05T21:25:19Z</dcterms:created>
  <dcterms:modified xsi:type="dcterms:W3CDTF">2025-10-10T05:39:10Z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0x0101005D0351C22CE7E441BEC9C9B4FA111FAA</vt:lpwstr>
  </property>
</Properties>
</file>