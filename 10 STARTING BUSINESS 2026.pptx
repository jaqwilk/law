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4"/>
    <p:sldMasterId id="2147483742" r:id="rId5"/>
  </p:sldMasterIdLst>
  <p:notesMasterIdLst>
    <p:notesMasterId r:id="rId41"/>
  </p:notesMasterIdLst>
  <p:sldIdLst>
    <p:sldId id="256" r:id="rId6"/>
    <p:sldId id="291" r:id="rId7"/>
    <p:sldId id="311" r:id="rId8"/>
    <p:sldId id="313" r:id="rId9"/>
    <p:sldId id="318" r:id="rId10"/>
    <p:sldId id="327" r:id="rId11"/>
    <p:sldId id="319" r:id="rId12"/>
    <p:sldId id="320" r:id="rId13"/>
    <p:sldId id="321" r:id="rId14"/>
    <p:sldId id="314" r:id="rId15"/>
    <p:sldId id="315" r:id="rId16"/>
    <p:sldId id="316" r:id="rId17"/>
    <p:sldId id="323" r:id="rId18"/>
    <p:sldId id="325" r:id="rId19"/>
    <p:sldId id="326" r:id="rId20"/>
    <p:sldId id="324" r:id="rId21"/>
    <p:sldId id="317" r:id="rId22"/>
    <p:sldId id="312" r:id="rId23"/>
    <p:sldId id="322" r:id="rId24"/>
    <p:sldId id="299" r:id="rId25"/>
    <p:sldId id="284" r:id="rId26"/>
    <p:sldId id="285" r:id="rId27"/>
    <p:sldId id="308" r:id="rId28"/>
    <p:sldId id="309" r:id="rId29"/>
    <p:sldId id="272" r:id="rId30"/>
    <p:sldId id="310" r:id="rId31"/>
    <p:sldId id="292" r:id="rId32"/>
    <p:sldId id="293" r:id="rId33"/>
    <p:sldId id="275" r:id="rId34"/>
    <p:sldId id="276" r:id="rId35"/>
    <p:sldId id="277" r:id="rId36"/>
    <p:sldId id="273" r:id="rId37"/>
    <p:sldId id="274" r:id="rId38"/>
    <p:sldId id="278" r:id="rId39"/>
    <p:sldId id="279" r:id="rId40"/>
  </p:sldIdLst>
  <p:sldSz cx="12192000" cy="6858000"/>
  <p:notesSz cx="6858000" cy="9947275"/>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5F38A2-D9BA-4EA3-9A0F-97BB97034F4E}" v="64" dt="2026-01-25T22:05:42.9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78" d="100"/>
          <a:sy n="78" d="100"/>
        </p:scale>
        <p:origin x="92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demar Hoff" userId="bacb8968-6b42-45e3-b232-453b0d6bde59" providerId="ADAL" clId="{F8C1E58B-402C-4ED2-AD69-E062B24CC05A}"/>
    <pc:docChg chg="undo custSel addSld delSld modSld sldOrd delMainMaster">
      <pc:chgData name="Waldemar Hoff" userId="bacb8968-6b42-45e3-b232-453b0d6bde59" providerId="ADAL" clId="{F8C1E58B-402C-4ED2-AD69-E062B24CC05A}" dt="2026-01-25T22:06:29.644" v="5458" actId="12"/>
      <pc:docMkLst>
        <pc:docMk/>
      </pc:docMkLst>
      <pc:sldChg chg="modSp mod">
        <pc:chgData name="Waldemar Hoff" userId="bacb8968-6b42-45e3-b232-453b0d6bde59" providerId="ADAL" clId="{F8C1E58B-402C-4ED2-AD69-E062B24CC05A}" dt="2026-01-06T19:37:15.697" v="4" actId="20577"/>
        <pc:sldMkLst>
          <pc:docMk/>
          <pc:sldMk cId="1198763015" sldId="256"/>
        </pc:sldMkLst>
        <pc:spChg chg="mod">
          <ac:chgData name="Waldemar Hoff" userId="bacb8968-6b42-45e3-b232-453b0d6bde59" providerId="ADAL" clId="{F8C1E58B-402C-4ED2-AD69-E062B24CC05A}" dt="2026-01-06T19:37:15.697" v="4" actId="20577"/>
          <ac:spMkLst>
            <pc:docMk/>
            <pc:sldMk cId="1198763015" sldId="256"/>
            <ac:spMk id="2" creationId="{D2AD49E6-41B8-E1E7-8A6C-5606B353AD9B}"/>
          </ac:spMkLst>
        </pc:spChg>
      </pc:sldChg>
      <pc:sldChg chg="modSp mod">
        <pc:chgData name="Waldemar Hoff" userId="bacb8968-6b42-45e3-b232-453b0d6bde59" providerId="ADAL" clId="{F8C1E58B-402C-4ED2-AD69-E062B24CC05A}" dt="2026-01-25T15:57:02.809" v="5030" actId="27636"/>
        <pc:sldMkLst>
          <pc:docMk/>
          <pc:sldMk cId="2306336298" sldId="284"/>
        </pc:sldMkLst>
        <pc:spChg chg="mod">
          <ac:chgData name="Waldemar Hoff" userId="bacb8968-6b42-45e3-b232-453b0d6bde59" providerId="ADAL" clId="{F8C1E58B-402C-4ED2-AD69-E062B24CC05A}" dt="2026-01-25T15:57:02.809" v="5030" actId="27636"/>
          <ac:spMkLst>
            <pc:docMk/>
            <pc:sldMk cId="2306336298" sldId="284"/>
            <ac:spMk id="3" creationId="{B6336E12-B0D7-B138-3161-62F7EE3808D2}"/>
          </ac:spMkLst>
        </pc:spChg>
      </pc:sldChg>
      <pc:sldChg chg="modSp mod">
        <pc:chgData name="Waldemar Hoff" userId="bacb8968-6b42-45e3-b232-453b0d6bde59" providerId="ADAL" clId="{F8C1E58B-402C-4ED2-AD69-E062B24CC05A}" dt="2026-01-25T14:34:00.624" v="1236" actId="207"/>
        <pc:sldMkLst>
          <pc:docMk/>
          <pc:sldMk cId="2438801950" sldId="285"/>
        </pc:sldMkLst>
        <pc:spChg chg="mod">
          <ac:chgData name="Waldemar Hoff" userId="bacb8968-6b42-45e3-b232-453b0d6bde59" providerId="ADAL" clId="{F8C1E58B-402C-4ED2-AD69-E062B24CC05A}" dt="2026-01-25T14:33:48.310" v="1234" actId="207"/>
          <ac:spMkLst>
            <pc:docMk/>
            <pc:sldMk cId="2438801950" sldId="285"/>
            <ac:spMk id="2" creationId="{7EE7FCF1-61BC-C81C-D908-B79644C83BDD}"/>
          </ac:spMkLst>
        </pc:spChg>
        <pc:spChg chg="mod">
          <ac:chgData name="Waldemar Hoff" userId="bacb8968-6b42-45e3-b232-453b0d6bde59" providerId="ADAL" clId="{F8C1E58B-402C-4ED2-AD69-E062B24CC05A}" dt="2026-01-25T14:34:00.624" v="1236" actId="207"/>
          <ac:spMkLst>
            <pc:docMk/>
            <pc:sldMk cId="2438801950" sldId="285"/>
            <ac:spMk id="3" creationId="{A6C7758A-C66A-CA67-29F5-18036971A1D1}"/>
          </ac:spMkLst>
        </pc:spChg>
      </pc:sldChg>
      <pc:sldChg chg="modSp mod">
        <pc:chgData name="Waldemar Hoff" userId="bacb8968-6b42-45e3-b232-453b0d6bde59" providerId="ADAL" clId="{F8C1E58B-402C-4ED2-AD69-E062B24CC05A}" dt="2026-01-06T20:48:07.821" v="902" actId="20577"/>
        <pc:sldMkLst>
          <pc:docMk/>
          <pc:sldMk cId="3672304863" sldId="291"/>
        </pc:sldMkLst>
        <pc:spChg chg="mod">
          <ac:chgData name="Waldemar Hoff" userId="bacb8968-6b42-45e3-b232-453b0d6bde59" providerId="ADAL" clId="{F8C1E58B-402C-4ED2-AD69-E062B24CC05A}" dt="2026-01-06T20:48:07.821" v="902" actId="20577"/>
          <ac:spMkLst>
            <pc:docMk/>
            <pc:sldMk cId="3672304863" sldId="291"/>
            <ac:spMk id="2" creationId="{BB4DC17B-DF40-C00A-0DCA-DCEE5B4DDF97}"/>
          </ac:spMkLst>
        </pc:spChg>
        <pc:spChg chg="mod">
          <ac:chgData name="Waldemar Hoff" userId="bacb8968-6b42-45e3-b232-453b0d6bde59" providerId="ADAL" clId="{F8C1E58B-402C-4ED2-AD69-E062B24CC05A}" dt="2026-01-06T20:47:45.187" v="899" actId="20577"/>
          <ac:spMkLst>
            <pc:docMk/>
            <pc:sldMk cId="3672304863" sldId="291"/>
            <ac:spMk id="3" creationId="{CBEDA39D-93CD-D770-EFAC-0BDB91DBEAD1}"/>
          </ac:spMkLst>
        </pc:spChg>
      </pc:sldChg>
      <pc:sldChg chg="modSp mod">
        <pc:chgData name="Waldemar Hoff" userId="bacb8968-6b42-45e3-b232-453b0d6bde59" providerId="ADAL" clId="{F8C1E58B-402C-4ED2-AD69-E062B24CC05A}" dt="2026-01-25T14:38:55.341" v="1523" actId="20577"/>
        <pc:sldMkLst>
          <pc:docMk/>
          <pc:sldMk cId="2950544119" sldId="292"/>
        </pc:sldMkLst>
        <pc:graphicFrameChg chg="modGraphic">
          <ac:chgData name="Waldemar Hoff" userId="bacb8968-6b42-45e3-b232-453b0d6bde59" providerId="ADAL" clId="{F8C1E58B-402C-4ED2-AD69-E062B24CC05A}" dt="2026-01-25T14:38:55.341" v="1523" actId="20577"/>
          <ac:graphicFrameMkLst>
            <pc:docMk/>
            <pc:sldMk cId="2950544119" sldId="292"/>
            <ac:graphicFrameMk id="4" creationId="{234B362A-2EB2-6677-3169-75D2BCC8B39C}"/>
          </ac:graphicFrameMkLst>
        </pc:graphicFrameChg>
      </pc:sldChg>
      <pc:sldChg chg="modSp mod">
        <pc:chgData name="Waldemar Hoff" userId="bacb8968-6b42-45e3-b232-453b0d6bde59" providerId="ADAL" clId="{F8C1E58B-402C-4ED2-AD69-E062B24CC05A}" dt="2026-01-25T14:40:01.093" v="1632" actId="20577"/>
        <pc:sldMkLst>
          <pc:docMk/>
          <pc:sldMk cId="1684803607" sldId="293"/>
        </pc:sldMkLst>
        <pc:graphicFrameChg chg="modGraphic">
          <ac:chgData name="Waldemar Hoff" userId="bacb8968-6b42-45e3-b232-453b0d6bde59" providerId="ADAL" clId="{F8C1E58B-402C-4ED2-AD69-E062B24CC05A}" dt="2026-01-25T14:40:01.093" v="1632" actId="20577"/>
          <ac:graphicFrameMkLst>
            <pc:docMk/>
            <pc:sldMk cId="1684803607" sldId="293"/>
            <ac:graphicFrameMk id="4" creationId="{BF9E91D8-E5E7-DDB4-4F9B-E16E62E75050}"/>
          </ac:graphicFrameMkLst>
        </pc:graphicFrameChg>
      </pc:sldChg>
      <pc:sldChg chg="modSp mod">
        <pc:chgData name="Waldemar Hoff" userId="bacb8968-6b42-45e3-b232-453b0d6bde59" providerId="ADAL" clId="{F8C1E58B-402C-4ED2-AD69-E062B24CC05A}" dt="2026-01-25T14:31:58.313" v="1174" actId="113"/>
        <pc:sldMkLst>
          <pc:docMk/>
          <pc:sldMk cId="171633165" sldId="299"/>
        </pc:sldMkLst>
        <pc:spChg chg="mod">
          <ac:chgData name="Waldemar Hoff" userId="bacb8968-6b42-45e3-b232-453b0d6bde59" providerId="ADAL" clId="{F8C1E58B-402C-4ED2-AD69-E062B24CC05A}" dt="2026-01-25T14:31:58.313" v="1174" actId="113"/>
          <ac:spMkLst>
            <pc:docMk/>
            <pc:sldMk cId="171633165" sldId="299"/>
            <ac:spMk id="3" creationId="{990C7761-4739-375A-51AD-4C5BD2CCA419}"/>
          </ac:spMkLst>
        </pc:spChg>
      </pc:sldChg>
      <pc:sldChg chg="modSp mod">
        <pc:chgData name="Waldemar Hoff" userId="bacb8968-6b42-45e3-b232-453b0d6bde59" providerId="ADAL" clId="{F8C1E58B-402C-4ED2-AD69-E062B24CC05A}" dt="2026-01-25T14:34:58.259" v="1244" actId="13926"/>
        <pc:sldMkLst>
          <pc:docMk/>
          <pc:sldMk cId="1147837839" sldId="308"/>
        </pc:sldMkLst>
        <pc:spChg chg="mod">
          <ac:chgData name="Waldemar Hoff" userId="bacb8968-6b42-45e3-b232-453b0d6bde59" providerId="ADAL" clId="{F8C1E58B-402C-4ED2-AD69-E062B24CC05A}" dt="2026-01-25T14:34:58.259" v="1244" actId="13926"/>
          <ac:spMkLst>
            <pc:docMk/>
            <pc:sldMk cId="1147837839" sldId="308"/>
            <ac:spMk id="3" creationId="{BDF9F718-6060-5204-D72C-9FD3C6382B30}"/>
          </ac:spMkLst>
        </pc:spChg>
      </pc:sldChg>
      <pc:sldChg chg="modSp mod">
        <pc:chgData name="Waldemar Hoff" userId="bacb8968-6b42-45e3-b232-453b0d6bde59" providerId="ADAL" clId="{F8C1E58B-402C-4ED2-AD69-E062B24CC05A}" dt="2026-01-25T14:37:52.239" v="1497" actId="13926"/>
        <pc:sldMkLst>
          <pc:docMk/>
          <pc:sldMk cId="1792066483" sldId="309"/>
        </pc:sldMkLst>
        <pc:spChg chg="mod">
          <ac:chgData name="Waldemar Hoff" userId="bacb8968-6b42-45e3-b232-453b0d6bde59" providerId="ADAL" clId="{F8C1E58B-402C-4ED2-AD69-E062B24CC05A}" dt="2026-01-25T14:37:52.239" v="1497" actId="13926"/>
          <ac:spMkLst>
            <pc:docMk/>
            <pc:sldMk cId="1792066483" sldId="309"/>
            <ac:spMk id="3" creationId="{41D95133-360C-4D44-7838-1C9EE97D6660}"/>
          </ac:spMkLst>
        </pc:spChg>
      </pc:sldChg>
      <pc:sldChg chg="modSp new mod">
        <pc:chgData name="Waldemar Hoff" userId="bacb8968-6b42-45e3-b232-453b0d6bde59" providerId="ADAL" clId="{F8C1E58B-402C-4ED2-AD69-E062B24CC05A}" dt="2026-01-25T14:49:54.665" v="2066" actId="20577"/>
        <pc:sldMkLst>
          <pc:docMk/>
          <pc:sldMk cId="3674162983" sldId="311"/>
        </pc:sldMkLst>
        <pc:spChg chg="mod">
          <ac:chgData name="Waldemar Hoff" userId="bacb8968-6b42-45e3-b232-453b0d6bde59" providerId="ADAL" clId="{F8C1E58B-402C-4ED2-AD69-E062B24CC05A}" dt="2026-01-25T13:55:34.716" v="989" actId="20577"/>
          <ac:spMkLst>
            <pc:docMk/>
            <pc:sldMk cId="3674162983" sldId="311"/>
            <ac:spMk id="2" creationId="{771779DE-F673-5FA7-F5EF-94630FCC3B47}"/>
          </ac:spMkLst>
        </pc:spChg>
        <pc:spChg chg="mod">
          <ac:chgData name="Waldemar Hoff" userId="bacb8968-6b42-45e3-b232-453b0d6bde59" providerId="ADAL" clId="{F8C1E58B-402C-4ED2-AD69-E062B24CC05A}" dt="2026-01-25T14:49:54.665" v="2066" actId="20577"/>
          <ac:spMkLst>
            <pc:docMk/>
            <pc:sldMk cId="3674162983" sldId="311"/>
            <ac:spMk id="3" creationId="{24808740-21D7-160C-AD66-7B0E12D5B3F3}"/>
          </ac:spMkLst>
        </pc:spChg>
      </pc:sldChg>
      <pc:sldChg chg="modSp new mod ord">
        <pc:chgData name="Waldemar Hoff" userId="bacb8968-6b42-45e3-b232-453b0d6bde59" providerId="ADAL" clId="{F8C1E58B-402C-4ED2-AD69-E062B24CC05A}" dt="2026-01-25T15:31:40.090" v="3708" actId="20577"/>
        <pc:sldMkLst>
          <pc:docMk/>
          <pc:sldMk cId="2993680879" sldId="312"/>
        </pc:sldMkLst>
        <pc:spChg chg="mod">
          <ac:chgData name="Waldemar Hoff" userId="bacb8968-6b42-45e3-b232-453b0d6bde59" providerId="ADAL" clId="{F8C1E58B-402C-4ED2-AD69-E062B24CC05A}" dt="2026-01-25T15:31:40.090" v="3708" actId="20577"/>
          <ac:spMkLst>
            <pc:docMk/>
            <pc:sldMk cId="2993680879" sldId="312"/>
            <ac:spMk id="2" creationId="{8258122D-35E0-FF58-D40D-BD8EDBB43105}"/>
          </ac:spMkLst>
        </pc:spChg>
        <pc:spChg chg="mod">
          <ac:chgData name="Waldemar Hoff" userId="bacb8968-6b42-45e3-b232-453b0d6bde59" providerId="ADAL" clId="{F8C1E58B-402C-4ED2-AD69-E062B24CC05A}" dt="2026-01-25T14:48:16.869" v="2016" actId="207"/>
          <ac:spMkLst>
            <pc:docMk/>
            <pc:sldMk cId="2993680879" sldId="312"/>
            <ac:spMk id="3" creationId="{4A0DC836-AA19-46C6-166A-FA45866AB184}"/>
          </ac:spMkLst>
        </pc:spChg>
      </pc:sldChg>
      <pc:sldChg chg="modSp new mod">
        <pc:chgData name="Waldemar Hoff" userId="bacb8968-6b42-45e3-b232-453b0d6bde59" providerId="ADAL" clId="{F8C1E58B-402C-4ED2-AD69-E062B24CC05A}" dt="2026-01-25T15:37:54.789" v="4228" actId="790"/>
        <pc:sldMkLst>
          <pc:docMk/>
          <pc:sldMk cId="919932052" sldId="313"/>
        </pc:sldMkLst>
        <pc:spChg chg="mod">
          <ac:chgData name="Waldemar Hoff" userId="bacb8968-6b42-45e3-b232-453b0d6bde59" providerId="ADAL" clId="{F8C1E58B-402C-4ED2-AD69-E062B24CC05A}" dt="2026-01-25T14:50:48.794" v="2102"/>
          <ac:spMkLst>
            <pc:docMk/>
            <pc:sldMk cId="919932052" sldId="313"/>
            <ac:spMk id="2" creationId="{589A5BFC-3B14-727A-4ADA-9CAA0BC07AB1}"/>
          </ac:spMkLst>
        </pc:spChg>
        <pc:spChg chg="mod">
          <ac:chgData name="Waldemar Hoff" userId="bacb8968-6b42-45e3-b232-453b0d6bde59" providerId="ADAL" clId="{F8C1E58B-402C-4ED2-AD69-E062B24CC05A}" dt="2026-01-25T15:37:54.789" v="4228" actId="790"/>
          <ac:spMkLst>
            <pc:docMk/>
            <pc:sldMk cId="919932052" sldId="313"/>
            <ac:spMk id="3" creationId="{6D087C18-32A4-FE0D-B76C-11C573BECC8A}"/>
          </ac:spMkLst>
        </pc:spChg>
      </pc:sldChg>
      <pc:sldChg chg="modSp new mod">
        <pc:chgData name="Waldemar Hoff" userId="bacb8968-6b42-45e3-b232-453b0d6bde59" providerId="ADAL" clId="{F8C1E58B-402C-4ED2-AD69-E062B24CC05A}" dt="2026-01-25T15:04:20.388" v="2913" actId="255"/>
        <pc:sldMkLst>
          <pc:docMk/>
          <pc:sldMk cId="2980554185" sldId="314"/>
        </pc:sldMkLst>
        <pc:spChg chg="mod">
          <ac:chgData name="Waldemar Hoff" userId="bacb8968-6b42-45e3-b232-453b0d6bde59" providerId="ADAL" clId="{F8C1E58B-402C-4ED2-AD69-E062B24CC05A}" dt="2026-01-25T15:01:21.616" v="2675"/>
          <ac:spMkLst>
            <pc:docMk/>
            <pc:sldMk cId="2980554185" sldId="314"/>
            <ac:spMk id="2" creationId="{B38BAFDC-D030-76B1-9134-CF361E85AB52}"/>
          </ac:spMkLst>
        </pc:spChg>
        <pc:spChg chg="mod">
          <ac:chgData name="Waldemar Hoff" userId="bacb8968-6b42-45e3-b232-453b0d6bde59" providerId="ADAL" clId="{F8C1E58B-402C-4ED2-AD69-E062B24CC05A}" dt="2026-01-25T15:04:20.388" v="2913" actId="255"/>
          <ac:spMkLst>
            <pc:docMk/>
            <pc:sldMk cId="2980554185" sldId="314"/>
            <ac:spMk id="3" creationId="{8601926C-5E7B-28AC-5B89-E4C7D800D0DD}"/>
          </ac:spMkLst>
        </pc:spChg>
      </pc:sldChg>
      <pc:sldChg chg="modSp new mod">
        <pc:chgData name="Waldemar Hoff" userId="bacb8968-6b42-45e3-b232-453b0d6bde59" providerId="ADAL" clId="{F8C1E58B-402C-4ED2-AD69-E062B24CC05A}" dt="2026-01-25T15:05:27.975" v="2944"/>
        <pc:sldMkLst>
          <pc:docMk/>
          <pc:sldMk cId="2644933025" sldId="315"/>
        </pc:sldMkLst>
        <pc:spChg chg="mod">
          <ac:chgData name="Waldemar Hoff" userId="bacb8968-6b42-45e3-b232-453b0d6bde59" providerId="ADAL" clId="{F8C1E58B-402C-4ED2-AD69-E062B24CC05A}" dt="2026-01-25T15:05:27.975" v="2944"/>
          <ac:spMkLst>
            <pc:docMk/>
            <pc:sldMk cId="2644933025" sldId="315"/>
            <ac:spMk id="2" creationId="{C2502215-16B2-DDB9-5AFC-6494C2214FBE}"/>
          </ac:spMkLst>
        </pc:spChg>
        <pc:spChg chg="mod">
          <ac:chgData name="Waldemar Hoff" userId="bacb8968-6b42-45e3-b232-453b0d6bde59" providerId="ADAL" clId="{F8C1E58B-402C-4ED2-AD69-E062B24CC05A}" dt="2026-01-25T15:05:15.622" v="2914"/>
          <ac:spMkLst>
            <pc:docMk/>
            <pc:sldMk cId="2644933025" sldId="315"/>
            <ac:spMk id="3" creationId="{48B02E2C-0618-09C8-8318-B0390A3387FD}"/>
          </ac:spMkLst>
        </pc:spChg>
      </pc:sldChg>
      <pc:sldChg chg="modSp new mod">
        <pc:chgData name="Waldemar Hoff" userId="bacb8968-6b42-45e3-b232-453b0d6bde59" providerId="ADAL" clId="{F8C1E58B-402C-4ED2-AD69-E062B24CC05A}" dt="2026-01-25T15:26:50.478" v="3359" actId="20577"/>
        <pc:sldMkLst>
          <pc:docMk/>
          <pc:sldMk cId="3775809506" sldId="316"/>
        </pc:sldMkLst>
        <pc:spChg chg="mod">
          <ac:chgData name="Waldemar Hoff" userId="bacb8968-6b42-45e3-b232-453b0d6bde59" providerId="ADAL" clId="{F8C1E58B-402C-4ED2-AD69-E062B24CC05A}" dt="2026-01-25T15:05:38.052" v="2947"/>
          <ac:spMkLst>
            <pc:docMk/>
            <pc:sldMk cId="3775809506" sldId="316"/>
            <ac:spMk id="2" creationId="{915CCAE7-C59D-E620-B29E-2B9DDB3CF184}"/>
          </ac:spMkLst>
        </pc:spChg>
        <pc:spChg chg="mod">
          <ac:chgData name="Waldemar Hoff" userId="bacb8968-6b42-45e3-b232-453b0d6bde59" providerId="ADAL" clId="{F8C1E58B-402C-4ED2-AD69-E062B24CC05A}" dt="2026-01-25T15:26:50.478" v="3359" actId="20577"/>
          <ac:spMkLst>
            <pc:docMk/>
            <pc:sldMk cId="3775809506" sldId="316"/>
            <ac:spMk id="3" creationId="{8E5FDDBA-E23E-3FAE-A2E0-AB86F161A800}"/>
          </ac:spMkLst>
        </pc:spChg>
      </pc:sldChg>
      <pc:sldChg chg="modSp new mod">
        <pc:chgData name="Waldemar Hoff" userId="bacb8968-6b42-45e3-b232-453b0d6bde59" providerId="ADAL" clId="{F8C1E58B-402C-4ED2-AD69-E062B24CC05A}" dt="2026-01-25T15:29:48.032" v="3548" actId="207"/>
        <pc:sldMkLst>
          <pc:docMk/>
          <pc:sldMk cId="1409716636" sldId="317"/>
        </pc:sldMkLst>
        <pc:spChg chg="mod">
          <ac:chgData name="Waldemar Hoff" userId="bacb8968-6b42-45e3-b232-453b0d6bde59" providerId="ADAL" clId="{F8C1E58B-402C-4ED2-AD69-E062B24CC05A}" dt="2026-01-25T15:28:17.895" v="3404"/>
          <ac:spMkLst>
            <pc:docMk/>
            <pc:sldMk cId="1409716636" sldId="317"/>
            <ac:spMk id="2" creationId="{7880CCEC-D4E9-F301-BAB4-B9338A8F0255}"/>
          </ac:spMkLst>
        </pc:spChg>
        <pc:spChg chg="mod">
          <ac:chgData name="Waldemar Hoff" userId="bacb8968-6b42-45e3-b232-453b0d6bde59" providerId="ADAL" clId="{F8C1E58B-402C-4ED2-AD69-E062B24CC05A}" dt="2026-01-25T15:29:48.032" v="3548" actId="207"/>
          <ac:spMkLst>
            <pc:docMk/>
            <pc:sldMk cId="1409716636" sldId="317"/>
            <ac:spMk id="3" creationId="{EC5E9CBE-A938-8192-447B-F0257E19877B}"/>
          </ac:spMkLst>
        </pc:spChg>
      </pc:sldChg>
      <pc:sldChg chg="modSp new mod">
        <pc:chgData name="Waldemar Hoff" userId="bacb8968-6b42-45e3-b232-453b0d6bde59" providerId="ADAL" clId="{F8C1E58B-402C-4ED2-AD69-E062B24CC05A}" dt="2026-01-25T15:34:13.635" v="3942" actId="20577"/>
        <pc:sldMkLst>
          <pc:docMk/>
          <pc:sldMk cId="2611526673" sldId="318"/>
        </pc:sldMkLst>
        <pc:spChg chg="mod">
          <ac:chgData name="Waldemar Hoff" userId="bacb8968-6b42-45e3-b232-453b0d6bde59" providerId="ADAL" clId="{F8C1E58B-402C-4ED2-AD69-E062B24CC05A}" dt="2026-01-25T15:32:19.744" v="3714"/>
          <ac:spMkLst>
            <pc:docMk/>
            <pc:sldMk cId="2611526673" sldId="318"/>
            <ac:spMk id="2" creationId="{8708DD9C-ABF7-FC17-E266-2318BA5B8C75}"/>
          </ac:spMkLst>
        </pc:spChg>
        <pc:spChg chg="mod">
          <ac:chgData name="Waldemar Hoff" userId="bacb8968-6b42-45e3-b232-453b0d6bde59" providerId="ADAL" clId="{F8C1E58B-402C-4ED2-AD69-E062B24CC05A}" dt="2026-01-25T15:34:13.635" v="3942" actId="20577"/>
          <ac:spMkLst>
            <pc:docMk/>
            <pc:sldMk cId="2611526673" sldId="318"/>
            <ac:spMk id="3" creationId="{C3C5365D-25D7-64A5-FBF1-BCF30E572805}"/>
          </ac:spMkLst>
        </pc:spChg>
      </pc:sldChg>
      <pc:sldChg chg="modSp new mod">
        <pc:chgData name="Waldemar Hoff" userId="bacb8968-6b42-45e3-b232-453b0d6bde59" providerId="ADAL" clId="{F8C1E58B-402C-4ED2-AD69-E062B24CC05A}" dt="2026-01-25T15:46:15.948" v="4350" actId="20577"/>
        <pc:sldMkLst>
          <pc:docMk/>
          <pc:sldMk cId="3824827820" sldId="319"/>
        </pc:sldMkLst>
        <pc:spChg chg="mod">
          <ac:chgData name="Waldemar Hoff" userId="bacb8968-6b42-45e3-b232-453b0d6bde59" providerId="ADAL" clId="{F8C1E58B-402C-4ED2-AD69-E062B24CC05A}" dt="2026-01-25T15:46:15.948" v="4350" actId="20577"/>
          <ac:spMkLst>
            <pc:docMk/>
            <pc:sldMk cId="3824827820" sldId="319"/>
            <ac:spMk id="2" creationId="{BBBE5E00-3D1E-3753-25B9-711891C4D228}"/>
          </ac:spMkLst>
        </pc:spChg>
        <pc:spChg chg="mod">
          <ac:chgData name="Waldemar Hoff" userId="bacb8968-6b42-45e3-b232-453b0d6bde59" providerId="ADAL" clId="{F8C1E58B-402C-4ED2-AD69-E062B24CC05A}" dt="2026-01-25T15:45:57.549" v="4323" actId="20577"/>
          <ac:spMkLst>
            <pc:docMk/>
            <pc:sldMk cId="3824827820" sldId="319"/>
            <ac:spMk id="3" creationId="{EB3D31B5-4B05-A649-3737-23E00A25F392}"/>
          </ac:spMkLst>
        </pc:spChg>
      </pc:sldChg>
      <pc:sldChg chg="modSp new mod">
        <pc:chgData name="Waldemar Hoff" userId="bacb8968-6b42-45e3-b232-453b0d6bde59" providerId="ADAL" clId="{F8C1E58B-402C-4ED2-AD69-E062B24CC05A}" dt="2026-01-25T15:48:38.917" v="4361"/>
        <pc:sldMkLst>
          <pc:docMk/>
          <pc:sldMk cId="83437970" sldId="320"/>
        </pc:sldMkLst>
        <pc:spChg chg="mod">
          <ac:chgData name="Waldemar Hoff" userId="bacb8968-6b42-45e3-b232-453b0d6bde59" providerId="ADAL" clId="{F8C1E58B-402C-4ED2-AD69-E062B24CC05A}" dt="2026-01-25T15:47:11.295" v="4354"/>
          <ac:spMkLst>
            <pc:docMk/>
            <pc:sldMk cId="83437970" sldId="320"/>
            <ac:spMk id="2" creationId="{FFDDF2CE-FDCD-349A-D43D-6A463F109340}"/>
          </ac:spMkLst>
        </pc:spChg>
        <pc:spChg chg="mod">
          <ac:chgData name="Waldemar Hoff" userId="bacb8968-6b42-45e3-b232-453b0d6bde59" providerId="ADAL" clId="{F8C1E58B-402C-4ED2-AD69-E062B24CC05A}" dt="2026-01-25T15:48:38.917" v="4361"/>
          <ac:spMkLst>
            <pc:docMk/>
            <pc:sldMk cId="83437970" sldId="320"/>
            <ac:spMk id="3" creationId="{E93198A3-A4C0-9033-A539-72BAC20EBF26}"/>
          </ac:spMkLst>
        </pc:spChg>
      </pc:sldChg>
      <pc:sldChg chg="modSp new">
        <pc:chgData name="Waldemar Hoff" userId="bacb8968-6b42-45e3-b232-453b0d6bde59" providerId="ADAL" clId="{F8C1E58B-402C-4ED2-AD69-E062B24CC05A}" dt="2026-01-25T15:49:24.506" v="4363"/>
        <pc:sldMkLst>
          <pc:docMk/>
          <pc:sldMk cId="1655558456" sldId="321"/>
        </pc:sldMkLst>
        <pc:spChg chg="mod">
          <ac:chgData name="Waldemar Hoff" userId="bacb8968-6b42-45e3-b232-453b0d6bde59" providerId="ADAL" clId="{F8C1E58B-402C-4ED2-AD69-E062B24CC05A}" dt="2026-01-25T15:49:24.506" v="4363"/>
          <ac:spMkLst>
            <pc:docMk/>
            <pc:sldMk cId="1655558456" sldId="321"/>
            <ac:spMk id="2" creationId="{2FB3440F-CDEA-BB4D-9A2E-A847E287EB52}"/>
          </ac:spMkLst>
        </pc:spChg>
        <pc:spChg chg="mod">
          <ac:chgData name="Waldemar Hoff" userId="bacb8968-6b42-45e3-b232-453b0d6bde59" providerId="ADAL" clId="{F8C1E58B-402C-4ED2-AD69-E062B24CC05A}" dt="2026-01-25T15:49:15.048" v="4362"/>
          <ac:spMkLst>
            <pc:docMk/>
            <pc:sldMk cId="1655558456" sldId="321"/>
            <ac:spMk id="3" creationId="{214D9970-6F3D-FA99-4B9F-C43E785F09AA}"/>
          </ac:spMkLst>
        </pc:spChg>
      </pc:sldChg>
      <pc:sldChg chg="modSp new mod">
        <pc:chgData name="Waldemar Hoff" userId="bacb8968-6b42-45e3-b232-453b0d6bde59" providerId="ADAL" clId="{F8C1E58B-402C-4ED2-AD69-E062B24CC05A}" dt="2026-01-25T15:56:49.857" v="5028" actId="20577"/>
        <pc:sldMkLst>
          <pc:docMk/>
          <pc:sldMk cId="1778510496" sldId="322"/>
        </pc:sldMkLst>
        <pc:spChg chg="mod">
          <ac:chgData name="Waldemar Hoff" userId="bacb8968-6b42-45e3-b232-453b0d6bde59" providerId="ADAL" clId="{F8C1E58B-402C-4ED2-AD69-E062B24CC05A}" dt="2026-01-25T15:51:08.960" v="4408" actId="207"/>
          <ac:spMkLst>
            <pc:docMk/>
            <pc:sldMk cId="1778510496" sldId="322"/>
            <ac:spMk id="2" creationId="{8A57CA7C-C5E4-4662-8717-0CCEA77B95EE}"/>
          </ac:spMkLst>
        </pc:spChg>
        <pc:spChg chg="mod">
          <ac:chgData name="Waldemar Hoff" userId="bacb8968-6b42-45e3-b232-453b0d6bde59" providerId="ADAL" clId="{F8C1E58B-402C-4ED2-AD69-E062B24CC05A}" dt="2026-01-25T15:56:49.857" v="5028" actId="20577"/>
          <ac:spMkLst>
            <pc:docMk/>
            <pc:sldMk cId="1778510496" sldId="322"/>
            <ac:spMk id="3" creationId="{CD84C156-49D5-5989-A167-4FE857DE558F}"/>
          </ac:spMkLst>
        </pc:spChg>
      </pc:sldChg>
      <pc:sldChg chg="modSp new mod">
        <pc:chgData name="Waldemar Hoff" userId="bacb8968-6b42-45e3-b232-453b0d6bde59" providerId="ADAL" clId="{F8C1E58B-402C-4ED2-AD69-E062B24CC05A}" dt="2026-01-25T21:43:57.893" v="5113" actId="20577"/>
        <pc:sldMkLst>
          <pc:docMk/>
          <pc:sldMk cId="3645365956" sldId="323"/>
        </pc:sldMkLst>
        <pc:spChg chg="mod">
          <ac:chgData name="Waldemar Hoff" userId="bacb8968-6b42-45e3-b232-453b0d6bde59" providerId="ADAL" clId="{F8C1E58B-402C-4ED2-AD69-E062B24CC05A}" dt="2026-01-25T21:39:19.245" v="5051"/>
          <ac:spMkLst>
            <pc:docMk/>
            <pc:sldMk cId="3645365956" sldId="323"/>
            <ac:spMk id="2" creationId="{8A80D8D1-AB28-735D-18A6-51E581E76BE0}"/>
          </ac:spMkLst>
        </pc:spChg>
        <pc:spChg chg="mod">
          <ac:chgData name="Waldemar Hoff" userId="bacb8968-6b42-45e3-b232-453b0d6bde59" providerId="ADAL" clId="{F8C1E58B-402C-4ED2-AD69-E062B24CC05A}" dt="2026-01-25T21:43:57.893" v="5113" actId="20577"/>
          <ac:spMkLst>
            <pc:docMk/>
            <pc:sldMk cId="3645365956" sldId="323"/>
            <ac:spMk id="3" creationId="{A320C3C2-A580-088B-A26C-3A743A0DDDD5}"/>
          </ac:spMkLst>
        </pc:spChg>
      </pc:sldChg>
      <pc:sldChg chg="modSp new mod">
        <pc:chgData name="Waldemar Hoff" userId="bacb8968-6b42-45e3-b232-453b0d6bde59" providerId="ADAL" clId="{F8C1E58B-402C-4ED2-AD69-E062B24CC05A}" dt="2026-01-25T21:46:23.130" v="5216" actId="113"/>
        <pc:sldMkLst>
          <pc:docMk/>
          <pc:sldMk cId="2940326439" sldId="324"/>
        </pc:sldMkLst>
        <pc:spChg chg="mod">
          <ac:chgData name="Waldemar Hoff" userId="bacb8968-6b42-45e3-b232-453b0d6bde59" providerId="ADAL" clId="{F8C1E58B-402C-4ED2-AD69-E062B24CC05A}" dt="2026-01-25T21:44:26.644" v="5127"/>
          <ac:spMkLst>
            <pc:docMk/>
            <pc:sldMk cId="2940326439" sldId="324"/>
            <ac:spMk id="2" creationId="{C3EB9CA3-5393-F0C2-BF50-1170D971DE5B}"/>
          </ac:spMkLst>
        </pc:spChg>
        <pc:spChg chg="mod">
          <ac:chgData name="Waldemar Hoff" userId="bacb8968-6b42-45e3-b232-453b0d6bde59" providerId="ADAL" clId="{F8C1E58B-402C-4ED2-AD69-E062B24CC05A}" dt="2026-01-25T21:46:23.130" v="5216" actId="113"/>
          <ac:spMkLst>
            <pc:docMk/>
            <pc:sldMk cId="2940326439" sldId="324"/>
            <ac:spMk id="3" creationId="{B76F8CEA-E755-7D2F-AB73-69E15D06E29F}"/>
          </ac:spMkLst>
        </pc:spChg>
      </pc:sldChg>
      <pc:sldChg chg="modSp new mod ord">
        <pc:chgData name="Waldemar Hoff" userId="bacb8968-6b42-45e3-b232-453b0d6bde59" providerId="ADAL" clId="{F8C1E58B-402C-4ED2-AD69-E062B24CC05A}" dt="2026-01-25T21:56:32.311" v="5343" actId="113"/>
        <pc:sldMkLst>
          <pc:docMk/>
          <pc:sldMk cId="1146014819" sldId="325"/>
        </pc:sldMkLst>
        <pc:spChg chg="mod">
          <ac:chgData name="Waldemar Hoff" userId="bacb8968-6b42-45e3-b232-453b0d6bde59" providerId="ADAL" clId="{F8C1E58B-402C-4ED2-AD69-E062B24CC05A}" dt="2026-01-25T21:49:11.964" v="5249"/>
          <ac:spMkLst>
            <pc:docMk/>
            <pc:sldMk cId="1146014819" sldId="325"/>
            <ac:spMk id="2" creationId="{A44AC0FF-1D15-220A-EEFE-7D047BAB031F}"/>
          </ac:spMkLst>
        </pc:spChg>
        <pc:spChg chg="mod">
          <ac:chgData name="Waldemar Hoff" userId="bacb8968-6b42-45e3-b232-453b0d6bde59" providerId="ADAL" clId="{F8C1E58B-402C-4ED2-AD69-E062B24CC05A}" dt="2026-01-25T21:56:32.311" v="5343" actId="113"/>
          <ac:spMkLst>
            <pc:docMk/>
            <pc:sldMk cId="1146014819" sldId="325"/>
            <ac:spMk id="3" creationId="{53057C16-851B-45CC-6DCF-3F4F7D64E5EF}"/>
          </ac:spMkLst>
        </pc:spChg>
      </pc:sldChg>
      <pc:sldChg chg="modSp new mod">
        <pc:chgData name="Waldemar Hoff" userId="bacb8968-6b42-45e3-b232-453b0d6bde59" providerId="ADAL" clId="{F8C1E58B-402C-4ED2-AD69-E062B24CC05A}" dt="2026-01-25T22:06:29.644" v="5458" actId="12"/>
        <pc:sldMkLst>
          <pc:docMk/>
          <pc:sldMk cId="4099188785" sldId="326"/>
        </pc:sldMkLst>
        <pc:spChg chg="mod">
          <ac:chgData name="Waldemar Hoff" userId="bacb8968-6b42-45e3-b232-453b0d6bde59" providerId="ADAL" clId="{F8C1E58B-402C-4ED2-AD69-E062B24CC05A}" dt="2026-01-25T22:03:27.822" v="5382"/>
          <ac:spMkLst>
            <pc:docMk/>
            <pc:sldMk cId="4099188785" sldId="326"/>
            <ac:spMk id="2" creationId="{C56E6555-7601-C596-1484-877753D3A4C9}"/>
          </ac:spMkLst>
        </pc:spChg>
        <pc:spChg chg="mod">
          <ac:chgData name="Waldemar Hoff" userId="bacb8968-6b42-45e3-b232-453b0d6bde59" providerId="ADAL" clId="{F8C1E58B-402C-4ED2-AD69-E062B24CC05A}" dt="2026-01-25T22:06:29.644" v="5458" actId="12"/>
          <ac:spMkLst>
            <pc:docMk/>
            <pc:sldMk cId="4099188785" sldId="326"/>
            <ac:spMk id="3" creationId="{A4B7B8D2-66F7-2A5A-A1C9-A1800FB33AD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99091"/>
          </a:xfrm>
          <a:prstGeom prst="rect">
            <a:avLst/>
          </a:prstGeom>
        </p:spPr>
        <p:txBody>
          <a:bodyPr vert="horz" lIns="91440" tIns="45720" rIns="91440" bIns="45720" rtlCol="0"/>
          <a:lstStyle>
            <a:lvl1pPr algn="r">
              <a:defRPr sz="1200"/>
            </a:lvl1pPr>
          </a:lstStyle>
          <a:p>
            <a:fld id="{B8D8CFF5-5C10-4C16-9825-696E5D4383CA}" type="datetimeFigureOut">
              <a:rPr lang="pl-PL" smtClean="0"/>
              <a:t>26.01.2026</a:t>
            </a:fld>
            <a:endParaRPr lang="pl-PL"/>
          </a:p>
        </p:txBody>
      </p:sp>
      <p:sp>
        <p:nvSpPr>
          <p:cNvPr id="4" name="Symbol zastępczy obrazu slajdu 3"/>
          <p:cNvSpPr>
            <a:spLocks noGrp="1" noRot="1" noChangeAspect="1"/>
          </p:cNvSpPr>
          <p:nvPr>
            <p:ph type="sldImg" idx="2"/>
          </p:nvPr>
        </p:nvSpPr>
        <p:spPr>
          <a:xfrm>
            <a:off x="444500" y="1243013"/>
            <a:ext cx="5969000" cy="3357562"/>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787126"/>
            <a:ext cx="5486400" cy="391674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9448185"/>
            <a:ext cx="2971800" cy="499090"/>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9448185"/>
            <a:ext cx="2971800" cy="499090"/>
          </a:xfrm>
          <a:prstGeom prst="rect">
            <a:avLst/>
          </a:prstGeom>
        </p:spPr>
        <p:txBody>
          <a:bodyPr vert="horz" lIns="91440" tIns="45720" rIns="91440" bIns="45720" rtlCol="0" anchor="b"/>
          <a:lstStyle>
            <a:lvl1pPr algn="r">
              <a:defRPr sz="1200"/>
            </a:lvl1pPr>
          </a:lstStyle>
          <a:p>
            <a:fld id="{76B97909-B918-40EB-B611-C038E08EF89B}" type="slidenum">
              <a:rPr lang="pl-PL" smtClean="0"/>
              <a:t>‹#›</a:t>
            </a:fld>
            <a:endParaRPr lang="pl-PL"/>
          </a:p>
        </p:txBody>
      </p:sp>
    </p:spTree>
    <p:extLst>
      <p:ext uri="{BB962C8B-B14F-4D97-AF65-F5344CB8AC3E}">
        <p14:creationId xmlns:p14="http://schemas.microsoft.com/office/powerpoint/2010/main" val="1548459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a:extLst>
              <a:ext uri="{FF2B5EF4-FFF2-40B4-BE49-F238E27FC236}">
                <a16:creationId xmlns:a16="http://schemas.microsoft.com/office/drawing/2014/main" id="{55412549-76D1-EED2-E263-4BCCCBD6DE01}"/>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95FC3512-5F94-5F92-3308-51FE27F27B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62F1C30-3162-BDB2-54DE-BD83777DA311}"/>
              </a:ext>
            </a:extLst>
          </p:cNvPr>
          <p:cNvSpPr>
            <a:spLocks noGrp="1"/>
          </p:cNvSpPr>
          <p:nvPr>
            <p:ph type="sldNum" sz="quarter" idx="12"/>
          </p:nvPr>
        </p:nvSpPr>
        <p:spPr/>
        <p:txBody>
          <a:bodyPr/>
          <a:lstStyle>
            <a:lvl1pPr>
              <a:defRPr/>
            </a:lvl1pPr>
          </a:lstStyle>
          <a:p>
            <a:pPr>
              <a:defRPr/>
            </a:pPr>
            <a:fld id="{84D81C19-45E4-4181-B410-15F08B45D9B9}" type="slidenum">
              <a:rPr lang="en-US" altLang="pl-PL"/>
              <a:pPr>
                <a:defRPr/>
              </a:pPr>
              <a:t>‹#›</a:t>
            </a:fld>
            <a:endParaRPr lang="en-US" altLang="pl-PL" dirty="0"/>
          </a:p>
        </p:txBody>
      </p:sp>
    </p:spTree>
    <p:extLst>
      <p:ext uri="{BB962C8B-B14F-4D97-AF65-F5344CB8AC3E}">
        <p14:creationId xmlns:p14="http://schemas.microsoft.com/office/powerpoint/2010/main" val="1222967624"/>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800C600-8FF6-7A97-2012-46DEF47AF826}"/>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8F0D444D-85FB-D98D-75A1-81F88B069C94}"/>
              </a:ext>
            </a:extLst>
          </p:cNvPr>
          <p:cNvSpPr>
            <a:spLocks noGrp="1"/>
          </p:cNvSpPr>
          <p:nvPr>
            <p:ph type="subTitle" idx="1"/>
          </p:nvPr>
        </p:nvSpPr>
        <p:spPr>
          <a:xfrm>
            <a:off x="1524000" y="3602038"/>
            <a:ext cx="9144000" cy="1655762"/>
          </a:xfrm>
        </p:spPr>
        <p:txBody>
          <a:bodyPr/>
          <a:lstStyle>
            <a:lvl1pPr marL="0" indent="0" algn="ctr">
              <a:buNone/>
              <a:defRPr sz="2400">
                <a:solidFill>
                  <a:schemeClr val="accent6">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pl-PL" dirty="0"/>
          </a:p>
        </p:txBody>
      </p:sp>
    </p:spTree>
    <p:extLst>
      <p:ext uri="{BB962C8B-B14F-4D97-AF65-F5344CB8AC3E}">
        <p14:creationId xmlns:p14="http://schemas.microsoft.com/office/powerpoint/2010/main" val="1029669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4784C1-997B-6A92-4BC4-BCD892812850}"/>
              </a:ext>
            </a:extLst>
          </p:cNvPr>
          <p:cNvSpPr>
            <a:spLocks noGrp="1"/>
          </p:cNvSpPr>
          <p:nvPr>
            <p:ph type="title"/>
          </p:nvPr>
        </p:nvSpPr>
        <p:spPr/>
        <p:txBody>
          <a:bodyPr>
            <a:normAutofit/>
          </a:bodyPr>
          <a:lstStyle>
            <a:lvl1pPr>
              <a:defRPr sz="2800"/>
            </a:lvl1pPr>
          </a:lstStyle>
          <a:p>
            <a:r>
              <a:rPr lang="pl-PL"/>
              <a:t>Kliknij, aby edytować styl</a:t>
            </a:r>
            <a:endParaRPr lang="pl-PL" dirty="0"/>
          </a:p>
        </p:txBody>
      </p:sp>
      <p:sp>
        <p:nvSpPr>
          <p:cNvPr id="3" name="Symbol zastępczy zawartości 2">
            <a:extLst>
              <a:ext uri="{FF2B5EF4-FFF2-40B4-BE49-F238E27FC236}">
                <a16:creationId xmlns:a16="http://schemas.microsoft.com/office/drawing/2014/main" id="{6B99B5A7-48DC-CADF-2818-03921E6E12B0}"/>
              </a:ext>
            </a:extLst>
          </p:cNvPr>
          <p:cNvSpPr>
            <a:spLocks noGrp="1"/>
          </p:cNvSpPr>
          <p:nvPr>
            <p:ph idx="1"/>
          </p:nvPr>
        </p:nvSpPr>
        <p:spPr/>
        <p:txBody>
          <a:bodyPr/>
          <a:lstStyle>
            <a:lvl1pPr>
              <a:defRPr sz="2400"/>
            </a:lvl1pPr>
            <a:lvl2pPr>
              <a:defRPr sz="2400"/>
            </a:lvl2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4" name="Symbol zastępczy daty 3">
            <a:extLst>
              <a:ext uri="{FF2B5EF4-FFF2-40B4-BE49-F238E27FC236}">
                <a16:creationId xmlns:a16="http://schemas.microsoft.com/office/drawing/2014/main" id="{DC83CB1A-D62D-A919-3935-8AFFB23B4137}"/>
              </a:ext>
            </a:extLst>
          </p:cNvPr>
          <p:cNvSpPr>
            <a:spLocks noGrp="1"/>
          </p:cNvSpPr>
          <p:nvPr>
            <p:ph type="dt" sz="half" idx="10"/>
          </p:nvPr>
        </p:nvSpPr>
        <p:spPr/>
        <p:txBody>
          <a:bodyPr/>
          <a:lstStyle/>
          <a:p>
            <a:fld id="{495643F8-85DF-4C73-9E90-80F4D6D0E137}" type="datetimeFigureOut">
              <a:rPr lang="pl-PL" smtClean="0"/>
              <a:t>26.01.2026</a:t>
            </a:fld>
            <a:endParaRPr lang="pl-PL"/>
          </a:p>
        </p:txBody>
      </p:sp>
      <p:sp>
        <p:nvSpPr>
          <p:cNvPr id="5" name="Symbol zastępczy stopki 4">
            <a:extLst>
              <a:ext uri="{FF2B5EF4-FFF2-40B4-BE49-F238E27FC236}">
                <a16:creationId xmlns:a16="http://schemas.microsoft.com/office/drawing/2014/main" id="{076CFBA1-B5B0-D735-B002-C627687AA228}"/>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B000279D-0C8E-26F0-EFA2-94A51FB537C2}"/>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34005630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A7FEC98-68AE-A17A-3E4C-B79FBF374F67}"/>
              </a:ext>
            </a:extLst>
          </p:cNvPr>
          <p:cNvSpPr>
            <a:spLocks noGrp="1"/>
          </p:cNvSpPr>
          <p:nvPr>
            <p:ph type="title"/>
          </p:nvPr>
        </p:nvSpPr>
        <p:spPr>
          <a:xfrm>
            <a:off x="831850" y="1709738"/>
            <a:ext cx="10515600" cy="2852737"/>
          </a:xfrm>
        </p:spPr>
        <p:txBody>
          <a:bodyPr anchor="b">
            <a:normAutofit/>
          </a:bodyPr>
          <a:lstStyle>
            <a:lvl1pPr>
              <a:defRPr sz="3600"/>
            </a:lvl1pPr>
          </a:lstStyle>
          <a:p>
            <a:r>
              <a:rPr lang="pl-PL"/>
              <a:t>Kliknij, aby edytować styl</a:t>
            </a:r>
            <a:endParaRPr lang="pl-PL" dirty="0"/>
          </a:p>
        </p:txBody>
      </p:sp>
      <p:sp>
        <p:nvSpPr>
          <p:cNvPr id="3" name="Symbol zastępczy tekstu 2">
            <a:extLst>
              <a:ext uri="{FF2B5EF4-FFF2-40B4-BE49-F238E27FC236}">
                <a16:creationId xmlns:a16="http://schemas.microsoft.com/office/drawing/2014/main" id="{5144E67D-61BE-DD61-B543-B99C2CE3C8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D9F15712-CCFE-7FC2-DABD-5619C5DE5E31}"/>
              </a:ext>
            </a:extLst>
          </p:cNvPr>
          <p:cNvSpPr>
            <a:spLocks noGrp="1"/>
          </p:cNvSpPr>
          <p:nvPr>
            <p:ph type="dt" sz="half" idx="10"/>
          </p:nvPr>
        </p:nvSpPr>
        <p:spPr/>
        <p:txBody>
          <a:bodyPr/>
          <a:lstStyle/>
          <a:p>
            <a:fld id="{495643F8-85DF-4C73-9E90-80F4D6D0E137}" type="datetimeFigureOut">
              <a:rPr lang="pl-PL" smtClean="0"/>
              <a:t>26.01.2026</a:t>
            </a:fld>
            <a:endParaRPr lang="pl-PL"/>
          </a:p>
        </p:txBody>
      </p:sp>
      <p:sp>
        <p:nvSpPr>
          <p:cNvPr id="5" name="Symbol zastępczy stopki 4">
            <a:extLst>
              <a:ext uri="{FF2B5EF4-FFF2-40B4-BE49-F238E27FC236}">
                <a16:creationId xmlns:a16="http://schemas.microsoft.com/office/drawing/2014/main" id="{4AF4D2D5-A54C-7FF4-68ED-61D95E6EE9CB}"/>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B40500A8-07FB-A348-3ED9-3CD4B53B86C7}"/>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39583268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DA08300-10BB-8B35-1299-C9A38D046390}"/>
              </a:ext>
            </a:extLst>
          </p:cNvPr>
          <p:cNvSpPr>
            <a:spLocks noGrp="1"/>
          </p:cNvSpPr>
          <p:nvPr>
            <p:ph type="title"/>
          </p:nvPr>
        </p:nvSpPr>
        <p:spPr/>
        <p:txBody>
          <a:bodyPr>
            <a:normAutofit/>
          </a:bodyPr>
          <a:lstStyle>
            <a:lvl1pPr>
              <a:defRPr sz="2800"/>
            </a:lvl1pPr>
          </a:lstStyle>
          <a:p>
            <a:r>
              <a:rPr lang="pl-PL"/>
              <a:t>Kliknij, aby edytować styl</a:t>
            </a:r>
            <a:endParaRPr lang="pl-PL" dirty="0"/>
          </a:p>
        </p:txBody>
      </p:sp>
      <p:sp>
        <p:nvSpPr>
          <p:cNvPr id="3" name="Symbol zastępczy zawartości 2">
            <a:extLst>
              <a:ext uri="{FF2B5EF4-FFF2-40B4-BE49-F238E27FC236}">
                <a16:creationId xmlns:a16="http://schemas.microsoft.com/office/drawing/2014/main" id="{FDC44532-FF0A-D2D9-7B6A-59A309165220}"/>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765A82E4-DEF8-BBC5-32CE-C6679EA9FB30}"/>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71428BC0-A5A4-557F-B513-CE7B1D5AB9B2}"/>
              </a:ext>
            </a:extLst>
          </p:cNvPr>
          <p:cNvSpPr>
            <a:spLocks noGrp="1"/>
          </p:cNvSpPr>
          <p:nvPr>
            <p:ph type="dt" sz="half" idx="10"/>
          </p:nvPr>
        </p:nvSpPr>
        <p:spPr/>
        <p:txBody>
          <a:bodyPr/>
          <a:lstStyle/>
          <a:p>
            <a:fld id="{495643F8-85DF-4C73-9E90-80F4D6D0E137}" type="datetimeFigureOut">
              <a:rPr lang="pl-PL" smtClean="0"/>
              <a:t>26.01.2026</a:t>
            </a:fld>
            <a:endParaRPr lang="pl-PL"/>
          </a:p>
        </p:txBody>
      </p:sp>
      <p:sp>
        <p:nvSpPr>
          <p:cNvPr id="6" name="Symbol zastępczy stopki 5">
            <a:extLst>
              <a:ext uri="{FF2B5EF4-FFF2-40B4-BE49-F238E27FC236}">
                <a16:creationId xmlns:a16="http://schemas.microsoft.com/office/drawing/2014/main" id="{B03FF53E-3CD7-777B-1D3F-30F9677B1830}"/>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66F1D7E5-C72F-2172-2148-037BEFA1E423}"/>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8954869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8682DB6-0262-619C-15C7-E0E5A10DC624}"/>
              </a:ext>
            </a:extLst>
          </p:cNvPr>
          <p:cNvSpPr>
            <a:spLocks noGrp="1"/>
          </p:cNvSpPr>
          <p:nvPr>
            <p:ph type="title"/>
          </p:nvPr>
        </p:nvSpPr>
        <p:spPr>
          <a:xfrm>
            <a:off x="839788" y="365125"/>
            <a:ext cx="10515600" cy="1325563"/>
          </a:xfrm>
        </p:spPr>
        <p:txBody>
          <a:bodyPr>
            <a:normAutofit/>
          </a:bodyPr>
          <a:lstStyle>
            <a:lvl1pPr>
              <a:defRPr sz="2800"/>
            </a:lvl1pPr>
          </a:lstStyle>
          <a:p>
            <a:r>
              <a:rPr lang="pl-PL"/>
              <a:t>Kliknij, aby edytować styl</a:t>
            </a:r>
            <a:endParaRPr lang="pl-PL" dirty="0"/>
          </a:p>
        </p:txBody>
      </p:sp>
      <p:sp>
        <p:nvSpPr>
          <p:cNvPr id="3" name="Symbol zastępczy tekstu 2">
            <a:extLst>
              <a:ext uri="{FF2B5EF4-FFF2-40B4-BE49-F238E27FC236}">
                <a16:creationId xmlns:a16="http://schemas.microsoft.com/office/drawing/2014/main" id="{F810DB0A-BC88-E08A-C66A-ACA091E704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E6A2EF2E-41DA-BAB7-6AAA-4F16A66B2AA1}"/>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AEC169F7-DDC9-2134-BD09-F35D4C56BC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A4CF6FF1-DCC8-7F35-8D3E-AF860417C5D4}"/>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9E3233AD-71D6-A5DE-E079-E930485776DE}"/>
              </a:ext>
            </a:extLst>
          </p:cNvPr>
          <p:cNvSpPr>
            <a:spLocks noGrp="1"/>
          </p:cNvSpPr>
          <p:nvPr>
            <p:ph type="dt" sz="half" idx="10"/>
          </p:nvPr>
        </p:nvSpPr>
        <p:spPr/>
        <p:txBody>
          <a:bodyPr/>
          <a:lstStyle/>
          <a:p>
            <a:fld id="{495643F8-85DF-4C73-9E90-80F4D6D0E137}" type="datetimeFigureOut">
              <a:rPr lang="pl-PL" smtClean="0"/>
              <a:t>26.01.2026</a:t>
            </a:fld>
            <a:endParaRPr lang="pl-PL"/>
          </a:p>
        </p:txBody>
      </p:sp>
      <p:sp>
        <p:nvSpPr>
          <p:cNvPr id="8" name="Symbol zastępczy stopki 7">
            <a:extLst>
              <a:ext uri="{FF2B5EF4-FFF2-40B4-BE49-F238E27FC236}">
                <a16:creationId xmlns:a16="http://schemas.microsoft.com/office/drawing/2014/main" id="{FE27CEC9-E93D-F7F6-E605-4316652BA229}"/>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55B63DCE-61CF-180A-A13E-512FEB6A6C67}"/>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27490568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9B391DE-6D7E-5529-13A9-D252894D9D52}"/>
              </a:ext>
            </a:extLst>
          </p:cNvPr>
          <p:cNvSpPr>
            <a:spLocks noGrp="1"/>
          </p:cNvSpPr>
          <p:nvPr>
            <p:ph type="title"/>
          </p:nvPr>
        </p:nvSpPr>
        <p:spPr/>
        <p:txBody>
          <a:bodyPr>
            <a:normAutofit/>
          </a:bodyPr>
          <a:lstStyle>
            <a:lvl1pPr>
              <a:defRPr sz="2800"/>
            </a:lvl1pPr>
          </a:lstStyle>
          <a:p>
            <a:r>
              <a:rPr lang="pl-PL"/>
              <a:t>Kliknij, aby edytować styl</a:t>
            </a:r>
            <a:endParaRPr lang="pl-PL" dirty="0"/>
          </a:p>
        </p:txBody>
      </p:sp>
      <p:sp>
        <p:nvSpPr>
          <p:cNvPr id="3" name="Symbol zastępczy daty 2">
            <a:extLst>
              <a:ext uri="{FF2B5EF4-FFF2-40B4-BE49-F238E27FC236}">
                <a16:creationId xmlns:a16="http://schemas.microsoft.com/office/drawing/2014/main" id="{779351F6-ACF3-E6EB-9ECD-76299856AD0E}"/>
              </a:ext>
            </a:extLst>
          </p:cNvPr>
          <p:cNvSpPr>
            <a:spLocks noGrp="1"/>
          </p:cNvSpPr>
          <p:nvPr>
            <p:ph type="dt" sz="half" idx="10"/>
          </p:nvPr>
        </p:nvSpPr>
        <p:spPr/>
        <p:txBody>
          <a:bodyPr/>
          <a:lstStyle/>
          <a:p>
            <a:fld id="{495643F8-85DF-4C73-9E90-80F4D6D0E137}" type="datetimeFigureOut">
              <a:rPr lang="pl-PL" smtClean="0"/>
              <a:t>26.01.2026</a:t>
            </a:fld>
            <a:endParaRPr lang="pl-PL"/>
          </a:p>
        </p:txBody>
      </p:sp>
      <p:sp>
        <p:nvSpPr>
          <p:cNvPr id="4" name="Symbol zastępczy stopki 3">
            <a:extLst>
              <a:ext uri="{FF2B5EF4-FFF2-40B4-BE49-F238E27FC236}">
                <a16:creationId xmlns:a16="http://schemas.microsoft.com/office/drawing/2014/main" id="{B16E8048-344D-C9C5-4A95-516A7B83FDD9}"/>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A77A23A4-7CEE-A89A-AEDA-8E119CE2E3D8}"/>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15298619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11E8E01F-F574-FDEB-D48F-D0A01381A4FB}"/>
              </a:ext>
            </a:extLst>
          </p:cNvPr>
          <p:cNvSpPr>
            <a:spLocks noGrp="1"/>
          </p:cNvSpPr>
          <p:nvPr>
            <p:ph type="dt" sz="half" idx="10"/>
          </p:nvPr>
        </p:nvSpPr>
        <p:spPr/>
        <p:txBody>
          <a:bodyPr/>
          <a:lstStyle/>
          <a:p>
            <a:fld id="{495643F8-85DF-4C73-9E90-80F4D6D0E137}" type="datetimeFigureOut">
              <a:rPr lang="pl-PL" smtClean="0"/>
              <a:t>26.01.2026</a:t>
            </a:fld>
            <a:endParaRPr lang="pl-PL"/>
          </a:p>
        </p:txBody>
      </p:sp>
      <p:sp>
        <p:nvSpPr>
          <p:cNvPr id="3" name="Symbol zastępczy stopki 2">
            <a:extLst>
              <a:ext uri="{FF2B5EF4-FFF2-40B4-BE49-F238E27FC236}">
                <a16:creationId xmlns:a16="http://schemas.microsoft.com/office/drawing/2014/main" id="{EF71F7EB-DB47-CB23-3AED-BE559900E773}"/>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B18E8E7C-8373-E77F-9964-4EA50BE607A2}"/>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3330343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5223A87-C7B6-45A9-E7D1-DA969C867794}"/>
              </a:ext>
            </a:extLst>
          </p:cNvPr>
          <p:cNvSpPr>
            <a:spLocks noGrp="1"/>
          </p:cNvSpPr>
          <p:nvPr>
            <p:ph type="title"/>
          </p:nvPr>
        </p:nvSpPr>
        <p:spPr>
          <a:xfrm>
            <a:off x="839788" y="457200"/>
            <a:ext cx="3932237" cy="1600200"/>
          </a:xfrm>
        </p:spPr>
        <p:txBody>
          <a:bodyPr anchor="b">
            <a:normAutofit/>
          </a:bodyPr>
          <a:lstStyle>
            <a:lvl1pPr>
              <a:defRPr sz="2800"/>
            </a:lvl1pPr>
          </a:lstStyle>
          <a:p>
            <a:r>
              <a:rPr lang="pl-PL"/>
              <a:t>Kliknij, aby edytować styl</a:t>
            </a:r>
            <a:endParaRPr lang="pl-PL" dirty="0"/>
          </a:p>
        </p:txBody>
      </p:sp>
      <p:sp>
        <p:nvSpPr>
          <p:cNvPr id="3" name="Symbol zastępczy zawartości 2">
            <a:extLst>
              <a:ext uri="{FF2B5EF4-FFF2-40B4-BE49-F238E27FC236}">
                <a16:creationId xmlns:a16="http://schemas.microsoft.com/office/drawing/2014/main" id="{47CA3F37-968F-654B-1DB7-B9B5C1B4CE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084A5BC2-A2DA-F657-0DC7-A08C4984EB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0B7363BF-C7BF-F582-C148-A4BA0A290900}"/>
              </a:ext>
            </a:extLst>
          </p:cNvPr>
          <p:cNvSpPr>
            <a:spLocks noGrp="1"/>
          </p:cNvSpPr>
          <p:nvPr>
            <p:ph type="dt" sz="half" idx="10"/>
          </p:nvPr>
        </p:nvSpPr>
        <p:spPr/>
        <p:txBody>
          <a:bodyPr/>
          <a:lstStyle/>
          <a:p>
            <a:fld id="{495643F8-85DF-4C73-9E90-80F4D6D0E137}" type="datetimeFigureOut">
              <a:rPr lang="pl-PL" smtClean="0"/>
              <a:t>26.01.2026</a:t>
            </a:fld>
            <a:endParaRPr lang="pl-PL"/>
          </a:p>
        </p:txBody>
      </p:sp>
      <p:sp>
        <p:nvSpPr>
          <p:cNvPr id="6" name="Symbol zastępczy stopki 5">
            <a:extLst>
              <a:ext uri="{FF2B5EF4-FFF2-40B4-BE49-F238E27FC236}">
                <a16:creationId xmlns:a16="http://schemas.microsoft.com/office/drawing/2014/main" id="{D3A24784-3E5C-2007-12D8-DFDF98E95409}"/>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3CFE686C-EA9E-43E0-6069-39455DFC9618}"/>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5934013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EBF02C6-A6D2-FF1C-6B4A-B8B107048769}"/>
              </a:ext>
            </a:extLst>
          </p:cNvPr>
          <p:cNvSpPr>
            <a:spLocks noGrp="1"/>
          </p:cNvSpPr>
          <p:nvPr>
            <p:ph type="title"/>
          </p:nvPr>
        </p:nvSpPr>
        <p:spPr>
          <a:xfrm>
            <a:off x="839788" y="457200"/>
            <a:ext cx="3932237" cy="1600200"/>
          </a:xfrm>
        </p:spPr>
        <p:txBody>
          <a:bodyPr anchor="b">
            <a:normAutofit/>
          </a:bodyPr>
          <a:lstStyle>
            <a:lvl1pPr>
              <a:defRPr sz="2800"/>
            </a:lvl1pPr>
          </a:lstStyle>
          <a:p>
            <a:r>
              <a:rPr lang="pl-PL"/>
              <a:t>Kliknij, aby edytować styl</a:t>
            </a:r>
            <a:endParaRPr lang="pl-PL" dirty="0"/>
          </a:p>
        </p:txBody>
      </p:sp>
      <p:sp>
        <p:nvSpPr>
          <p:cNvPr id="3" name="Symbol zastępczy obrazu 2">
            <a:extLst>
              <a:ext uri="{FF2B5EF4-FFF2-40B4-BE49-F238E27FC236}">
                <a16:creationId xmlns:a16="http://schemas.microsoft.com/office/drawing/2014/main" id="{02FEBA59-63E7-3B39-3736-183495937C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l-PL"/>
              <a:t>Kliknij ikonę, aby dodać obraz</a:t>
            </a:r>
          </a:p>
        </p:txBody>
      </p:sp>
      <p:sp>
        <p:nvSpPr>
          <p:cNvPr id="4" name="Symbol zastępczy tekstu 3">
            <a:extLst>
              <a:ext uri="{FF2B5EF4-FFF2-40B4-BE49-F238E27FC236}">
                <a16:creationId xmlns:a16="http://schemas.microsoft.com/office/drawing/2014/main" id="{2CC5F966-3644-137D-94D3-BE4B3145F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9632053C-DEE4-B9A7-F3E4-8F14362BEA72}"/>
              </a:ext>
            </a:extLst>
          </p:cNvPr>
          <p:cNvSpPr>
            <a:spLocks noGrp="1"/>
          </p:cNvSpPr>
          <p:nvPr>
            <p:ph type="dt" sz="half" idx="10"/>
          </p:nvPr>
        </p:nvSpPr>
        <p:spPr/>
        <p:txBody>
          <a:bodyPr/>
          <a:lstStyle/>
          <a:p>
            <a:fld id="{495643F8-85DF-4C73-9E90-80F4D6D0E137}" type="datetimeFigureOut">
              <a:rPr lang="pl-PL" smtClean="0"/>
              <a:t>26.01.2026</a:t>
            </a:fld>
            <a:endParaRPr lang="pl-PL"/>
          </a:p>
        </p:txBody>
      </p:sp>
      <p:sp>
        <p:nvSpPr>
          <p:cNvPr id="6" name="Symbol zastępczy stopki 5">
            <a:extLst>
              <a:ext uri="{FF2B5EF4-FFF2-40B4-BE49-F238E27FC236}">
                <a16:creationId xmlns:a16="http://schemas.microsoft.com/office/drawing/2014/main" id="{6352A1D4-25C1-A263-F37D-3D51B945E85B}"/>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2989E317-0255-0D92-DCA2-71DEE2883259}"/>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13362124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3B4610B-74C9-8D98-B107-8C500DCBF75C}"/>
              </a:ext>
            </a:extLst>
          </p:cNvPr>
          <p:cNvSpPr>
            <a:spLocks noGrp="1"/>
          </p:cNvSpPr>
          <p:nvPr>
            <p:ph type="title"/>
          </p:nvPr>
        </p:nvSpPr>
        <p:spPr/>
        <p:txBody>
          <a:bodyPr>
            <a:normAutofit/>
          </a:bodyPr>
          <a:lstStyle>
            <a:lvl1pPr>
              <a:defRPr sz="2800"/>
            </a:lvl1pPr>
          </a:lstStyle>
          <a:p>
            <a:r>
              <a:rPr lang="pl-PL"/>
              <a:t>Kliknij, aby edytować styl</a:t>
            </a:r>
            <a:endParaRPr lang="pl-PL" dirty="0"/>
          </a:p>
        </p:txBody>
      </p:sp>
      <p:sp>
        <p:nvSpPr>
          <p:cNvPr id="3" name="Symbol zastępczy tytułu pionowego 2">
            <a:extLst>
              <a:ext uri="{FF2B5EF4-FFF2-40B4-BE49-F238E27FC236}">
                <a16:creationId xmlns:a16="http://schemas.microsoft.com/office/drawing/2014/main" id="{E1548815-6368-F86D-7B0F-8FFCEE5EC8E6}"/>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DF3A208B-EF84-9317-B8D6-950B3816CA7D}"/>
              </a:ext>
            </a:extLst>
          </p:cNvPr>
          <p:cNvSpPr>
            <a:spLocks noGrp="1"/>
          </p:cNvSpPr>
          <p:nvPr>
            <p:ph type="dt" sz="half" idx="10"/>
          </p:nvPr>
        </p:nvSpPr>
        <p:spPr/>
        <p:txBody>
          <a:bodyPr/>
          <a:lstStyle/>
          <a:p>
            <a:fld id="{495643F8-85DF-4C73-9E90-80F4D6D0E137}" type="datetimeFigureOut">
              <a:rPr lang="pl-PL" smtClean="0"/>
              <a:t>26.01.2026</a:t>
            </a:fld>
            <a:endParaRPr lang="pl-PL"/>
          </a:p>
        </p:txBody>
      </p:sp>
      <p:sp>
        <p:nvSpPr>
          <p:cNvPr id="5" name="Symbol zastępczy stopki 4">
            <a:extLst>
              <a:ext uri="{FF2B5EF4-FFF2-40B4-BE49-F238E27FC236}">
                <a16:creationId xmlns:a16="http://schemas.microsoft.com/office/drawing/2014/main" id="{775AA465-2E19-FF4D-A81F-773B4A2FD221}"/>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146A29DE-825A-79D4-5825-D4A5E19E34F9}"/>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34091665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2B1B4A3D-6B2A-AA3C-4E40-40EEBC324EBE}"/>
              </a:ext>
            </a:extLst>
          </p:cNvPr>
          <p:cNvSpPr>
            <a:spLocks noGrp="1"/>
          </p:cNvSpPr>
          <p:nvPr>
            <p:ph type="title" orient="vert"/>
          </p:nvPr>
        </p:nvSpPr>
        <p:spPr>
          <a:xfrm>
            <a:off x="8724900" y="365125"/>
            <a:ext cx="2628900" cy="5811838"/>
          </a:xfrm>
        </p:spPr>
        <p:txBody>
          <a:bodyPr vert="eaVert">
            <a:normAutofit/>
          </a:bodyPr>
          <a:lstStyle>
            <a:lvl1pPr>
              <a:defRPr sz="2800"/>
            </a:lvl1pPr>
          </a:lstStyle>
          <a:p>
            <a:r>
              <a:rPr lang="pl-PL"/>
              <a:t>Kliknij, aby edytować styl</a:t>
            </a:r>
            <a:endParaRPr lang="pl-PL" dirty="0"/>
          </a:p>
        </p:txBody>
      </p:sp>
      <p:sp>
        <p:nvSpPr>
          <p:cNvPr id="3" name="Symbol zastępczy tytułu pionowego 2">
            <a:extLst>
              <a:ext uri="{FF2B5EF4-FFF2-40B4-BE49-F238E27FC236}">
                <a16:creationId xmlns:a16="http://schemas.microsoft.com/office/drawing/2014/main" id="{A6462A6D-B658-E7AE-6FEB-55CC04A8213D}"/>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A1931249-CE0B-F3C2-36BD-9F7A5607E6AC}"/>
              </a:ext>
            </a:extLst>
          </p:cNvPr>
          <p:cNvSpPr>
            <a:spLocks noGrp="1"/>
          </p:cNvSpPr>
          <p:nvPr>
            <p:ph type="dt" sz="half" idx="10"/>
          </p:nvPr>
        </p:nvSpPr>
        <p:spPr/>
        <p:txBody>
          <a:bodyPr/>
          <a:lstStyle/>
          <a:p>
            <a:fld id="{495643F8-85DF-4C73-9E90-80F4D6D0E137}" type="datetimeFigureOut">
              <a:rPr lang="pl-PL" smtClean="0"/>
              <a:t>26.01.2026</a:t>
            </a:fld>
            <a:endParaRPr lang="pl-PL"/>
          </a:p>
        </p:txBody>
      </p:sp>
      <p:sp>
        <p:nvSpPr>
          <p:cNvPr id="5" name="Symbol zastępczy stopki 4">
            <a:extLst>
              <a:ext uri="{FF2B5EF4-FFF2-40B4-BE49-F238E27FC236}">
                <a16:creationId xmlns:a16="http://schemas.microsoft.com/office/drawing/2014/main" id="{DB6F213C-CB12-1D41-C48C-D98201B72BF2}"/>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D068A6BF-2D89-5E91-2B1E-2FE5040BE517}"/>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27597469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A0B67CB-CA71-91D9-79F7-C6021F683675}"/>
              </a:ext>
            </a:extLst>
          </p:cNvPr>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l-PL" altLang="pl-PL"/>
              <a:t>Kliknij, aby edytować styl</a:t>
            </a:r>
            <a:endParaRPr lang="en-US" altLang="pl-PL"/>
          </a:p>
        </p:txBody>
      </p:sp>
      <p:sp>
        <p:nvSpPr>
          <p:cNvPr id="1027" name="Text Placeholder 2">
            <a:extLst>
              <a:ext uri="{FF2B5EF4-FFF2-40B4-BE49-F238E27FC236}">
                <a16:creationId xmlns:a16="http://schemas.microsoft.com/office/drawing/2014/main" id="{2529F9EE-A516-E915-FC29-8A650F923E7F}"/>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ltLang="pl-PL"/>
              <a:t>Edytuj style wzorca tekstu</a:t>
            </a:r>
          </a:p>
          <a:p>
            <a:pPr lvl="1"/>
            <a:r>
              <a:rPr lang="pl-PL" altLang="pl-PL"/>
              <a:t>Drugi poziom</a:t>
            </a:r>
          </a:p>
          <a:p>
            <a:pPr lvl="2"/>
            <a:r>
              <a:rPr lang="pl-PL" altLang="pl-PL"/>
              <a:t>Trzeci poziom</a:t>
            </a:r>
          </a:p>
          <a:p>
            <a:pPr lvl="3"/>
            <a:r>
              <a:rPr lang="pl-PL" altLang="pl-PL"/>
              <a:t>Czwarty poziom</a:t>
            </a:r>
          </a:p>
          <a:p>
            <a:pPr lvl="4"/>
            <a:r>
              <a:rPr lang="pl-PL" altLang="pl-PL"/>
              <a:t>Piąty poziom</a:t>
            </a:r>
            <a:endParaRPr lang="en-US" altLang="pl-PL"/>
          </a:p>
        </p:txBody>
      </p:sp>
      <p:sp>
        <p:nvSpPr>
          <p:cNvPr id="4" name="Date Placeholder 3">
            <a:extLst>
              <a:ext uri="{FF2B5EF4-FFF2-40B4-BE49-F238E27FC236}">
                <a16:creationId xmlns:a16="http://schemas.microsoft.com/office/drawing/2014/main" id="{EB336981-A788-7D4D-4EF7-6C4C4EA230C4}"/>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endParaRPr lang="en-US"/>
          </a:p>
        </p:txBody>
      </p:sp>
      <p:sp>
        <p:nvSpPr>
          <p:cNvPr id="5" name="Footer Placeholder 4">
            <a:extLst>
              <a:ext uri="{FF2B5EF4-FFF2-40B4-BE49-F238E27FC236}">
                <a16:creationId xmlns:a16="http://schemas.microsoft.com/office/drawing/2014/main" id="{F8526139-CB35-AB85-7C0C-AFB95FF5E6B2}"/>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C5553B39-E425-EC15-4E2D-DB15148C4056}"/>
              </a:ext>
            </a:extLst>
          </p:cNvPr>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a:defRPr/>
            </a:pPr>
            <a:fld id="{4DFD8F39-A296-4245-998A-CD1121C29BAD}" type="slidenum">
              <a:rPr lang="en-US" altLang="pl-PL"/>
              <a:pPr>
                <a:defRPr/>
              </a:pPr>
              <a:t>‹#›</a:t>
            </a:fld>
            <a:endParaRPr lang="en-US" altLang="pl-PL" dirty="0"/>
          </a:p>
        </p:txBody>
      </p:sp>
    </p:spTree>
  </p:cSld>
  <p:clrMap bg1="lt1" tx1="dk1" bg2="lt2" tx2="dk2" accent1="accent1" accent2="accent2" accent3="accent3" accent4="accent4" accent5="accent5" accent6="accent6" hlink="hlink" folHlink="folHlink"/>
  <p:sldLayoutIdLst>
    <p:sldLayoutId id="2147483717" r:id="rId1"/>
  </p:sldLayoutIdLst>
  <p:transition>
    <p:zoom/>
  </p:transition>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8A8ED001-1A35-B962-25E5-5BC770DA3B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A7B18F7B-AD4E-3756-D770-80C1466389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AC6B7FBB-357F-100F-5CA0-3664DAFB1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defRPr/>
            </a:pPr>
            <a:endParaRPr lang="en-US"/>
          </a:p>
        </p:txBody>
      </p:sp>
      <p:sp>
        <p:nvSpPr>
          <p:cNvPr id="5" name="Symbol zastępczy stopki 4">
            <a:extLst>
              <a:ext uri="{FF2B5EF4-FFF2-40B4-BE49-F238E27FC236}">
                <a16:creationId xmlns:a16="http://schemas.microsoft.com/office/drawing/2014/main" id="{BD340CE9-A27D-7E3C-09B5-29DEDD6AA6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lang="en-US"/>
          </a:p>
        </p:txBody>
      </p:sp>
      <p:sp>
        <p:nvSpPr>
          <p:cNvPr id="6" name="Symbol zastępczy numeru slajdu 5">
            <a:extLst>
              <a:ext uri="{FF2B5EF4-FFF2-40B4-BE49-F238E27FC236}">
                <a16:creationId xmlns:a16="http://schemas.microsoft.com/office/drawing/2014/main" id="{B9AE6980-B34F-8DF3-BA3B-E899AA09D7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defRPr/>
            </a:pPr>
            <a:fld id="{4DFD8F39-A296-4245-998A-CD1121C29BAD}" type="slidenum">
              <a:rPr lang="en-US" altLang="pl-PL" smtClean="0"/>
              <a:pPr>
                <a:defRPr/>
              </a:pPr>
              <a:t>‹#›</a:t>
            </a:fld>
            <a:endParaRPr lang="en-US" altLang="pl-PL" dirty="0"/>
          </a:p>
        </p:txBody>
      </p:sp>
    </p:spTree>
    <p:extLst>
      <p:ext uri="{BB962C8B-B14F-4D97-AF65-F5344CB8AC3E}">
        <p14:creationId xmlns:p14="http://schemas.microsoft.com/office/powerpoint/2010/main" val="2180111013"/>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www.biznes.gov.pl/pl/portal/00806" TargetMode="External"/><Relationship Id="rId2" Type="http://schemas.openxmlformats.org/officeDocument/2006/relationships/hyperlink" Target="https://www.biznes.gov.pl/pl/portal/004330"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AD49E6-41B8-E1E7-8A6C-5606B353AD9B}"/>
              </a:ext>
            </a:extLst>
          </p:cNvPr>
          <p:cNvSpPr>
            <a:spLocks noGrp="1"/>
          </p:cNvSpPr>
          <p:nvPr>
            <p:ph type="ctrTitle"/>
          </p:nvPr>
        </p:nvSpPr>
        <p:spPr/>
        <p:txBody>
          <a:bodyPr/>
          <a:lstStyle/>
          <a:p>
            <a:r>
              <a:rPr lang="pl-PL" dirty="0" err="1">
                <a:solidFill>
                  <a:srgbClr val="002060"/>
                </a:solidFill>
                <a:effectLst>
                  <a:outerShdw blurRad="38100" dist="38100" dir="2700000" algn="tl">
                    <a:srgbClr val="000000">
                      <a:alpha val="43137"/>
                    </a:srgbClr>
                  </a:outerShdw>
                </a:effectLst>
              </a:rPr>
              <a:t>Starting</a:t>
            </a:r>
            <a:r>
              <a:rPr lang="pl-PL" dirty="0">
                <a:solidFill>
                  <a:srgbClr val="002060"/>
                </a:solidFill>
                <a:effectLst>
                  <a:outerShdw blurRad="38100" dist="38100" dir="2700000" algn="tl">
                    <a:srgbClr val="000000">
                      <a:alpha val="43137"/>
                    </a:srgbClr>
                  </a:outerShdw>
                </a:effectLst>
              </a:rPr>
              <a:t> Business in Poland</a:t>
            </a:r>
          </a:p>
        </p:txBody>
      </p:sp>
      <p:sp>
        <p:nvSpPr>
          <p:cNvPr id="3" name="Podtytuł 2">
            <a:extLst>
              <a:ext uri="{FF2B5EF4-FFF2-40B4-BE49-F238E27FC236}">
                <a16:creationId xmlns:a16="http://schemas.microsoft.com/office/drawing/2014/main" id="{C7AD3945-CE92-E149-EA5E-C4F5935A814F}"/>
              </a:ext>
            </a:extLst>
          </p:cNvPr>
          <p:cNvSpPr>
            <a:spLocks noGrp="1"/>
          </p:cNvSpPr>
          <p:nvPr>
            <p:ph type="subTitle" idx="1"/>
          </p:nvPr>
        </p:nvSpPr>
        <p:spPr/>
        <p:txBody>
          <a:bodyPr/>
          <a:lstStyle/>
          <a:p>
            <a:endParaRPr lang="pl-PL" dirty="0"/>
          </a:p>
          <a:p>
            <a:endParaRPr lang="pl-PL" dirty="0"/>
          </a:p>
          <a:p>
            <a:r>
              <a:rPr lang="pl-PL" b="1" dirty="0">
                <a:solidFill>
                  <a:srgbClr val="002060"/>
                </a:solidFill>
              </a:rPr>
              <a:t>KU </a:t>
            </a:r>
            <a:r>
              <a:rPr lang="pl-PL" b="1" err="1">
                <a:solidFill>
                  <a:srgbClr val="002060"/>
                </a:solidFill>
              </a:rPr>
              <a:t>prof</a:t>
            </a:r>
            <a:r>
              <a:rPr lang="pl-PL" b="1">
                <a:solidFill>
                  <a:srgbClr val="002060"/>
                </a:solidFill>
              </a:rPr>
              <a:t>. Waldemar </a:t>
            </a:r>
            <a:r>
              <a:rPr lang="pl-PL" b="1" dirty="0">
                <a:solidFill>
                  <a:srgbClr val="002060"/>
                </a:solidFill>
              </a:rPr>
              <a:t>Hoff</a:t>
            </a:r>
          </a:p>
        </p:txBody>
      </p:sp>
    </p:spTree>
    <p:extLst>
      <p:ext uri="{BB962C8B-B14F-4D97-AF65-F5344CB8AC3E}">
        <p14:creationId xmlns:p14="http://schemas.microsoft.com/office/powerpoint/2010/main" val="1198763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B4DC17B-DF40-C00A-0DCA-DCEE5B4DDF97}"/>
              </a:ext>
            </a:extLst>
          </p:cNvPr>
          <p:cNvSpPr>
            <a:spLocks noGrp="1"/>
          </p:cNvSpPr>
          <p:nvPr>
            <p:ph type="title"/>
          </p:nvPr>
        </p:nvSpPr>
        <p:spPr/>
        <p:txBody>
          <a:bodyPr>
            <a:normAutofit/>
          </a:bodyPr>
          <a:lstStyle/>
          <a:p>
            <a:r>
              <a:rPr lang="pl-PL" sz="3600" dirty="0" err="1">
                <a:solidFill>
                  <a:srgbClr val="FF0000"/>
                </a:solidFill>
                <a:effectLst>
                  <a:outerShdw blurRad="38100" dist="38100" dir="2700000" algn="tl">
                    <a:srgbClr val="000000">
                      <a:alpha val="43137"/>
                    </a:srgbClr>
                  </a:outerShdw>
                </a:effectLst>
              </a:rPr>
              <a:t>Authorisation</a:t>
            </a:r>
            <a:r>
              <a:rPr lang="pl-PL" sz="3600" dirty="0">
                <a:solidFill>
                  <a:srgbClr val="FF0000"/>
                </a:solidFill>
                <a:effectLst>
                  <a:outerShdw blurRad="38100" dist="38100" dir="2700000" algn="tl">
                    <a:srgbClr val="000000">
                      <a:alpha val="43137"/>
                    </a:srgbClr>
                  </a:outerShdw>
                </a:effectLst>
              </a:rPr>
              <a:t> to </a:t>
            </a:r>
            <a:r>
              <a:rPr lang="pl-PL" sz="3600" dirty="0" err="1">
                <a:solidFill>
                  <a:srgbClr val="FF0000"/>
                </a:solidFill>
                <a:effectLst>
                  <a:outerShdw blurRad="38100" dist="38100" dir="2700000" algn="tl">
                    <a:srgbClr val="000000">
                      <a:alpha val="43137"/>
                    </a:srgbClr>
                  </a:outerShdw>
                </a:effectLst>
              </a:rPr>
              <a:t>perform</a:t>
            </a:r>
            <a:r>
              <a:rPr lang="pl-PL" sz="3600" dirty="0">
                <a:solidFill>
                  <a:srgbClr val="FF0000"/>
                </a:solidFill>
                <a:effectLst>
                  <a:outerShdw blurRad="38100" dist="38100" dir="2700000" algn="tl">
                    <a:srgbClr val="000000">
                      <a:alpha val="43137"/>
                    </a:srgbClr>
                  </a:outerShdw>
                </a:effectLst>
              </a:rPr>
              <a:t> business </a:t>
            </a:r>
            <a:r>
              <a:rPr lang="pl-PL" sz="3600" dirty="0" err="1">
                <a:solidFill>
                  <a:srgbClr val="FF0000"/>
                </a:solidFill>
                <a:effectLst>
                  <a:outerShdw blurRad="38100" dist="38100" dir="2700000" algn="tl">
                    <a:srgbClr val="000000">
                      <a:alpha val="43137"/>
                    </a:srgbClr>
                  </a:outerShdw>
                </a:effectLst>
              </a:rPr>
              <a:t>activity</a:t>
            </a:r>
            <a:endParaRPr lang="pl-PL" sz="3600"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CBEDA39D-93CD-D770-EFAC-0BDB91DBEAD1}"/>
              </a:ext>
            </a:extLst>
          </p:cNvPr>
          <p:cNvSpPr>
            <a:spLocks noGrp="1"/>
          </p:cNvSpPr>
          <p:nvPr>
            <p:ph idx="1"/>
          </p:nvPr>
        </p:nvSpPr>
        <p:spPr/>
        <p:txBody>
          <a:bodyPr>
            <a:normAutofit fontScale="92500" lnSpcReduction="10000"/>
          </a:bodyPr>
          <a:lstStyle/>
          <a:p>
            <a:r>
              <a:rPr lang="en-US" sz="3600" b="1" dirty="0">
                <a:solidFill>
                  <a:srgbClr val="FF0000"/>
                </a:solidFill>
                <a:effectLst>
                  <a:outerShdw blurRad="38100" dist="38100" dir="2700000" algn="tl">
                    <a:srgbClr val="000000">
                      <a:alpha val="43137"/>
                    </a:srgbClr>
                  </a:outerShdw>
                </a:effectLst>
                <a:highlight>
                  <a:srgbClr val="FFFF00"/>
                </a:highlight>
              </a:rPr>
              <a:t>S</a:t>
            </a:r>
            <a:r>
              <a:rPr lang="pl-PL" sz="3600" b="1" dirty="0" err="1">
                <a:solidFill>
                  <a:srgbClr val="FF0000"/>
                </a:solidFill>
                <a:effectLst>
                  <a:outerShdw blurRad="38100" dist="38100" dir="2700000" algn="tl">
                    <a:srgbClr val="000000">
                      <a:alpha val="43137"/>
                    </a:srgbClr>
                  </a:outerShdw>
                </a:effectLst>
                <a:highlight>
                  <a:srgbClr val="FFFF00"/>
                </a:highlight>
              </a:rPr>
              <a:t>etting</a:t>
            </a:r>
            <a:r>
              <a:rPr lang="pl-PL" sz="3600" b="1" dirty="0">
                <a:solidFill>
                  <a:srgbClr val="FF0000"/>
                </a:solidFill>
                <a:effectLst>
                  <a:outerShdw blurRad="38100" dist="38100" dir="2700000" algn="tl">
                    <a:srgbClr val="000000">
                      <a:alpha val="43137"/>
                    </a:srgbClr>
                  </a:outerShdw>
                </a:effectLst>
                <a:highlight>
                  <a:srgbClr val="FFFF00"/>
                </a:highlight>
              </a:rPr>
              <a:t> </a:t>
            </a:r>
            <a:r>
              <a:rPr lang="pl-PL" sz="3600" b="1" dirty="0" err="1">
                <a:solidFill>
                  <a:srgbClr val="FF0000"/>
                </a:solidFill>
                <a:effectLst>
                  <a:outerShdw blurRad="38100" dist="38100" dir="2700000" algn="tl">
                    <a:srgbClr val="000000">
                      <a:alpha val="43137"/>
                    </a:srgbClr>
                  </a:outerShdw>
                </a:effectLst>
                <a:highlight>
                  <a:srgbClr val="FFFF00"/>
                </a:highlight>
              </a:rPr>
              <a:t>up</a:t>
            </a:r>
            <a:r>
              <a:rPr lang="en-US" sz="3600" b="1" dirty="0">
                <a:solidFill>
                  <a:srgbClr val="FF0000"/>
                </a:solidFill>
                <a:effectLst>
                  <a:outerShdw blurRad="38100" dist="38100" dir="2700000" algn="tl">
                    <a:srgbClr val="000000">
                      <a:alpha val="43137"/>
                    </a:srgbClr>
                  </a:outerShdw>
                </a:effectLst>
                <a:highlight>
                  <a:srgbClr val="FFFF00"/>
                </a:highlight>
              </a:rPr>
              <a:t> a business</a:t>
            </a:r>
            <a:r>
              <a:rPr lang="pl-PL" sz="3600" b="1" dirty="0">
                <a:solidFill>
                  <a:srgbClr val="FF0000"/>
                </a:solidFill>
                <a:effectLst>
                  <a:outerShdw blurRad="38100" dist="38100" dir="2700000" algn="tl">
                    <a:srgbClr val="000000">
                      <a:alpha val="43137"/>
                    </a:srgbClr>
                  </a:outerShdw>
                </a:effectLst>
                <a:highlight>
                  <a:srgbClr val="FFFF00"/>
                </a:highlight>
              </a:rPr>
              <a:t> </a:t>
            </a:r>
            <a:r>
              <a:rPr lang="pl-PL" sz="3600" dirty="0">
                <a:solidFill>
                  <a:srgbClr val="002060"/>
                </a:solidFill>
                <a:effectLst>
                  <a:outerShdw blurRad="38100" dist="38100" dir="2700000" algn="tl">
                    <a:srgbClr val="000000">
                      <a:alpha val="43137"/>
                    </a:srgbClr>
                  </a:outerShdw>
                </a:effectLst>
                <a:highlight>
                  <a:srgbClr val="FFFF00"/>
                </a:highlight>
              </a:rPr>
              <a:t>(</a:t>
            </a:r>
            <a:r>
              <a:rPr lang="pl-PL" sz="3600" b="1" dirty="0">
                <a:solidFill>
                  <a:srgbClr val="FF0000"/>
                </a:solidFill>
                <a:effectLst>
                  <a:outerShdw blurRad="38100" dist="38100" dir="2700000" algn="tl">
                    <a:srgbClr val="000000">
                      <a:alpha val="43137"/>
                    </a:srgbClr>
                  </a:outerShdw>
                </a:effectLst>
                <a:highlight>
                  <a:srgbClr val="FFFF00"/>
                </a:highlight>
              </a:rPr>
              <a:t>forming</a:t>
            </a:r>
            <a:r>
              <a:rPr lang="pl-PL" sz="3600" dirty="0">
                <a:solidFill>
                  <a:srgbClr val="002060"/>
                </a:solidFill>
                <a:effectLst>
                  <a:outerShdw blurRad="38100" dist="38100" dir="2700000" algn="tl">
                    <a:srgbClr val="000000">
                      <a:alpha val="43137"/>
                    </a:srgbClr>
                  </a:outerShdw>
                </a:effectLst>
                <a:highlight>
                  <a:srgbClr val="FFFF00"/>
                </a:highlight>
              </a:rPr>
              <a:t> a sole </a:t>
            </a:r>
            <a:r>
              <a:rPr lang="pl-PL" sz="3600" dirty="0" err="1">
                <a:solidFill>
                  <a:srgbClr val="002060"/>
                </a:solidFill>
                <a:effectLst>
                  <a:outerShdw blurRad="38100" dist="38100" dir="2700000" algn="tl">
                    <a:srgbClr val="000000">
                      <a:alpha val="43137"/>
                    </a:srgbClr>
                  </a:outerShdw>
                </a:effectLst>
                <a:highlight>
                  <a:srgbClr val="FFFF00"/>
                </a:highlight>
              </a:rPr>
              <a:t>proprietorship</a:t>
            </a:r>
            <a:r>
              <a:rPr lang="pl-PL" sz="3600" dirty="0">
                <a:solidFill>
                  <a:srgbClr val="002060"/>
                </a:solidFill>
                <a:effectLst>
                  <a:outerShdw blurRad="38100" dist="38100" dir="2700000" algn="tl">
                    <a:srgbClr val="000000">
                      <a:alpha val="43137"/>
                    </a:srgbClr>
                  </a:outerShdw>
                </a:effectLst>
                <a:highlight>
                  <a:srgbClr val="FFFF00"/>
                </a:highlight>
              </a:rPr>
              <a:t> </a:t>
            </a:r>
            <a:r>
              <a:rPr lang="pl-PL" sz="3600" dirty="0" err="1">
                <a:solidFill>
                  <a:srgbClr val="002060"/>
                </a:solidFill>
                <a:effectLst>
                  <a:outerShdw blurRad="38100" dist="38100" dir="2700000" algn="tl">
                    <a:srgbClr val="000000">
                      <a:alpha val="43137"/>
                    </a:srgbClr>
                  </a:outerShdw>
                </a:effectLst>
                <a:highlight>
                  <a:srgbClr val="FFFF00"/>
                </a:highlight>
              </a:rPr>
              <a:t>or</a:t>
            </a:r>
            <a:r>
              <a:rPr lang="pl-PL" sz="3600" dirty="0">
                <a:solidFill>
                  <a:srgbClr val="002060"/>
                </a:solidFill>
                <a:effectLst>
                  <a:outerShdw blurRad="38100" dist="38100" dir="2700000" algn="tl">
                    <a:srgbClr val="000000">
                      <a:alpha val="43137"/>
                    </a:srgbClr>
                  </a:outerShdw>
                </a:effectLst>
                <a:highlight>
                  <a:srgbClr val="FFFF00"/>
                </a:highlight>
              </a:rPr>
              <a:t> a </a:t>
            </a:r>
            <a:r>
              <a:rPr lang="pl-PL" sz="3600" dirty="0" err="1">
                <a:solidFill>
                  <a:srgbClr val="002060"/>
                </a:solidFill>
                <a:effectLst>
                  <a:outerShdw blurRad="38100" dist="38100" dir="2700000" algn="tl">
                    <a:srgbClr val="000000">
                      <a:alpha val="43137"/>
                    </a:srgbClr>
                  </a:outerShdw>
                </a:effectLst>
                <a:highlight>
                  <a:srgbClr val="FFFF00"/>
                </a:highlight>
              </a:rPr>
              <a:t>company</a:t>
            </a:r>
            <a:r>
              <a:rPr lang="pl-PL" sz="3600" dirty="0">
                <a:solidFill>
                  <a:srgbClr val="002060"/>
                </a:solidFill>
                <a:effectLst>
                  <a:outerShdw blurRad="38100" dist="38100" dir="2700000" algn="tl">
                    <a:srgbClr val="000000">
                      <a:alpha val="43137"/>
                    </a:srgbClr>
                  </a:outerShdw>
                </a:effectLst>
                <a:highlight>
                  <a:srgbClr val="FFFF00"/>
                </a:highlight>
              </a:rPr>
              <a:t>)</a:t>
            </a:r>
            <a:r>
              <a:rPr lang="en-US" sz="3600" dirty="0">
                <a:solidFill>
                  <a:srgbClr val="002060"/>
                </a:solidFill>
                <a:effectLst>
                  <a:outerShdw blurRad="38100" dist="38100" dir="2700000" algn="tl">
                    <a:srgbClr val="000000">
                      <a:alpha val="43137"/>
                    </a:srgbClr>
                  </a:outerShdw>
                </a:effectLst>
                <a:highlight>
                  <a:srgbClr val="FFFF00"/>
                </a:highlight>
              </a:rPr>
              <a:t> is </a:t>
            </a:r>
            <a:r>
              <a:rPr lang="pl-PL" sz="3600" b="1" dirty="0">
                <a:solidFill>
                  <a:srgbClr val="002060"/>
                </a:solidFill>
                <a:effectLst>
                  <a:outerShdw blurRad="38100" dist="38100" dir="2700000" algn="tl">
                    <a:srgbClr val="000000">
                      <a:alpha val="43137"/>
                    </a:srgbClr>
                  </a:outerShdw>
                </a:effectLst>
                <a:highlight>
                  <a:srgbClr val="FFFF00"/>
                </a:highlight>
              </a:rPr>
              <a:t>a </a:t>
            </a:r>
            <a:r>
              <a:rPr lang="pl-PL" sz="3600" b="1" dirty="0" err="1">
                <a:solidFill>
                  <a:srgbClr val="002060"/>
                </a:solidFill>
                <a:effectLst>
                  <a:outerShdw blurRad="38100" dist="38100" dir="2700000" algn="tl">
                    <a:srgbClr val="000000">
                      <a:alpha val="43137"/>
                    </a:srgbClr>
                  </a:outerShdw>
                </a:effectLst>
                <a:highlight>
                  <a:srgbClr val="FFFF00"/>
                </a:highlight>
              </a:rPr>
              <a:t>separate</a:t>
            </a:r>
            <a:r>
              <a:rPr lang="pl-PL" sz="3600" b="1" dirty="0">
                <a:solidFill>
                  <a:srgbClr val="002060"/>
                </a:solidFill>
                <a:effectLst>
                  <a:outerShdw blurRad="38100" dist="38100" dir="2700000" algn="tl">
                    <a:srgbClr val="000000">
                      <a:alpha val="43137"/>
                    </a:srgbClr>
                  </a:outerShdw>
                </a:effectLst>
                <a:highlight>
                  <a:srgbClr val="FFFF00"/>
                </a:highlight>
              </a:rPr>
              <a:t> </a:t>
            </a:r>
            <a:r>
              <a:rPr lang="pl-PL" sz="3600" b="1" dirty="0" err="1">
                <a:solidFill>
                  <a:srgbClr val="002060"/>
                </a:solidFill>
                <a:effectLst>
                  <a:outerShdw blurRad="38100" dist="38100" dir="2700000" algn="tl">
                    <a:srgbClr val="000000">
                      <a:alpha val="43137"/>
                    </a:srgbClr>
                  </a:outerShdw>
                </a:effectLst>
                <a:highlight>
                  <a:srgbClr val="FFFF00"/>
                </a:highlight>
              </a:rPr>
              <a:t>act</a:t>
            </a:r>
            <a:r>
              <a:rPr lang="pl-PL" sz="3600" b="1" dirty="0">
                <a:solidFill>
                  <a:srgbClr val="002060"/>
                </a:solidFill>
                <a:effectLst>
                  <a:outerShdw blurRad="38100" dist="38100" dir="2700000" algn="tl">
                    <a:srgbClr val="000000">
                      <a:alpha val="43137"/>
                    </a:srgbClr>
                  </a:outerShdw>
                </a:effectLst>
                <a:highlight>
                  <a:srgbClr val="FFFF00"/>
                </a:highlight>
              </a:rPr>
              <a:t> from</a:t>
            </a:r>
            <a:r>
              <a:rPr lang="en-US" sz="3600" dirty="0">
                <a:solidFill>
                  <a:srgbClr val="002060"/>
                </a:solidFill>
                <a:effectLst>
                  <a:outerShdw blurRad="38100" dist="38100" dir="2700000" algn="tl">
                    <a:srgbClr val="000000">
                      <a:alpha val="43137"/>
                    </a:srgbClr>
                  </a:outerShdw>
                </a:effectLst>
                <a:highlight>
                  <a:srgbClr val="FFFF00"/>
                </a:highlight>
              </a:rPr>
              <a:t> </a:t>
            </a:r>
            <a:r>
              <a:rPr lang="pl-PL" sz="3600" dirty="0" err="1">
                <a:solidFill>
                  <a:srgbClr val="002060"/>
                </a:solidFill>
                <a:effectLst>
                  <a:outerShdw blurRad="38100" dist="38100" dir="2700000" algn="tl">
                    <a:srgbClr val="000000">
                      <a:alpha val="43137"/>
                    </a:srgbClr>
                  </a:outerShdw>
                </a:effectLst>
                <a:highlight>
                  <a:srgbClr val="FFFF00"/>
                </a:highlight>
              </a:rPr>
              <a:t>getting</a:t>
            </a:r>
            <a:r>
              <a:rPr lang="pl-PL" sz="3600" dirty="0">
                <a:solidFill>
                  <a:srgbClr val="002060"/>
                </a:solidFill>
                <a:effectLst>
                  <a:outerShdw blurRad="38100" dist="38100" dir="2700000" algn="tl">
                    <a:srgbClr val="000000">
                      <a:alpha val="43137"/>
                    </a:srgbClr>
                  </a:outerShdw>
                </a:effectLst>
                <a:highlight>
                  <a:srgbClr val="FFFF00"/>
                </a:highlight>
              </a:rPr>
              <a:t> </a:t>
            </a:r>
            <a:r>
              <a:rPr lang="pl-PL" sz="3600" dirty="0" err="1">
                <a:solidFill>
                  <a:srgbClr val="002060"/>
                </a:solidFill>
                <a:effectLst>
                  <a:outerShdw blurRad="38100" dist="38100" dir="2700000" algn="tl">
                    <a:srgbClr val="000000">
                      <a:alpha val="43137"/>
                    </a:srgbClr>
                  </a:outerShdw>
                </a:effectLst>
                <a:highlight>
                  <a:srgbClr val="FFFF00"/>
                </a:highlight>
              </a:rPr>
              <a:t>an</a:t>
            </a:r>
            <a:r>
              <a:rPr lang="en-US" sz="3600" dirty="0">
                <a:solidFill>
                  <a:srgbClr val="002060"/>
                </a:solidFill>
                <a:effectLst>
                  <a:outerShdw blurRad="38100" dist="38100" dir="2700000" algn="tl">
                    <a:srgbClr val="000000">
                      <a:alpha val="43137"/>
                    </a:srgbClr>
                  </a:outerShdw>
                </a:effectLst>
                <a:highlight>
                  <a:srgbClr val="FFFF00"/>
                </a:highlight>
              </a:rPr>
              <a:t> </a:t>
            </a:r>
            <a:r>
              <a:rPr lang="en-US" sz="3600" b="1" dirty="0">
                <a:solidFill>
                  <a:srgbClr val="002060"/>
                </a:solidFill>
                <a:effectLst>
                  <a:outerShdw blurRad="38100" dist="38100" dir="2700000" algn="tl">
                    <a:srgbClr val="000000">
                      <a:alpha val="43137"/>
                    </a:srgbClr>
                  </a:outerShdw>
                </a:effectLst>
                <a:highlight>
                  <a:srgbClr val="FFFF00"/>
                </a:highlight>
              </a:rPr>
              <a:t>authorization</a:t>
            </a:r>
            <a:r>
              <a:rPr lang="en-US" sz="3600" dirty="0">
                <a:solidFill>
                  <a:srgbClr val="002060"/>
                </a:solidFill>
                <a:effectLst>
                  <a:outerShdw blurRad="38100" dist="38100" dir="2700000" algn="tl">
                    <a:srgbClr val="000000">
                      <a:alpha val="43137"/>
                    </a:srgbClr>
                  </a:outerShdw>
                </a:effectLst>
                <a:highlight>
                  <a:srgbClr val="FFFF00"/>
                </a:highlight>
              </a:rPr>
              <a:t> to perform a particular form of business</a:t>
            </a:r>
            <a:endParaRPr lang="pl-PL" sz="3600" dirty="0">
              <a:solidFill>
                <a:srgbClr val="002060"/>
              </a:solidFill>
              <a:effectLst>
                <a:outerShdw blurRad="38100" dist="38100" dir="2700000" algn="tl">
                  <a:srgbClr val="000000">
                    <a:alpha val="43137"/>
                  </a:srgbClr>
                </a:outerShdw>
              </a:effectLst>
              <a:highlight>
                <a:srgbClr val="FFFF00"/>
              </a:highlight>
            </a:endParaRPr>
          </a:p>
          <a:p>
            <a:r>
              <a:rPr lang="pl-PL" sz="3600" dirty="0">
                <a:solidFill>
                  <a:srgbClr val="002060"/>
                </a:solidFill>
                <a:effectLst>
                  <a:outerShdw blurRad="38100" dist="38100" dir="2700000" algn="tl">
                    <a:srgbClr val="000000">
                      <a:alpha val="43137"/>
                    </a:srgbClr>
                  </a:outerShdw>
                </a:effectLst>
              </a:rPr>
              <a:t>As a </a:t>
            </a:r>
            <a:r>
              <a:rPr lang="pl-PL" sz="3600" dirty="0" err="1">
                <a:solidFill>
                  <a:srgbClr val="002060"/>
                </a:solidFill>
                <a:effectLst>
                  <a:outerShdw blurRad="38100" dist="38100" dir="2700000" algn="tl">
                    <a:srgbClr val="000000">
                      <a:alpha val="43137"/>
                    </a:srgbClr>
                  </a:outerShdw>
                </a:effectLst>
              </a:rPr>
              <a:t>matter</a:t>
            </a:r>
            <a:r>
              <a:rPr lang="pl-PL" sz="3600" dirty="0">
                <a:solidFill>
                  <a:srgbClr val="002060"/>
                </a:solidFill>
                <a:effectLst>
                  <a:outerShdw blurRad="38100" dist="38100" dir="2700000" algn="tl">
                    <a:srgbClr val="000000">
                      <a:alpha val="43137"/>
                    </a:srgbClr>
                  </a:outerShdw>
                </a:effectLst>
              </a:rPr>
              <a:t> of Constitutional </a:t>
            </a:r>
            <a:r>
              <a:rPr lang="pl-PL" sz="3600" dirty="0" err="1">
                <a:solidFill>
                  <a:srgbClr val="002060"/>
                </a:solidFill>
                <a:effectLst>
                  <a:outerShdw blurRad="38100" dist="38100" dir="2700000" algn="tl">
                    <a:srgbClr val="000000">
                      <a:alpha val="43137"/>
                    </a:srgbClr>
                  </a:outerShdw>
                </a:effectLst>
              </a:rPr>
              <a:t>principle</a:t>
            </a:r>
            <a:r>
              <a:rPr lang="pl-PL" sz="3600" dirty="0">
                <a:solidFill>
                  <a:srgbClr val="002060"/>
                </a:solidFill>
                <a:effectLst>
                  <a:outerShdw blurRad="38100" dist="38100" dir="2700000" algn="tl">
                    <a:srgbClr val="000000">
                      <a:alpha val="43137"/>
                    </a:srgbClr>
                  </a:outerShdw>
                </a:effectLst>
              </a:rPr>
              <a:t>, a business </a:t>
            </a:r>
            <a:r>
              <a:rPr lang="pl-PL" sz="3600" dirty="0" err="1">
                <a:solidFill>
                  <a:srgbClr val="002060"/>
                </a:solidFill>
                <a:effectLst>
                  <a:outerShdw blurRad="38100" dist="38100" dir="2700000" algn="tl">
                    <a:srgbClr val="000000">
                      <a:alpha val="43137"/>
                    </a:srgbClr>
                  </a:outerShdw>
                </a:effectLst>
              </a:rPr>
              <a:t>can</a:t>
            </a:r>
            <a:r>
              <a:rPr lang="pl-PL" sz="3600" dirty="0">
                <a:solidFill>
                  <a:srgbClr val="002060"/>
                </a:solidFill>
                <a:effectLst>
                  <a:outerShdw blurRad="38100" dist="38100" dir="2700000" algn="tl">
                    <a:srgbClr val="000000">
                      <a:alpha val="43137"/>
                    </a:srgbClr>
                  </a:outerShdw>
                </a:effectLst>
              </a:rPr>
              <a:t> </a:t>
            </a:r>
            <a:r>
              <a:rPr lang="pl-PL" sz="3600" dirty="0" err="1">
                <a:solidFill>
                  <a:srgbClr val="002060"/>
                </a:solidFill>
                <a:effectLst>
                  <a:outerShdw blurRad="38100" dist="38100" dir="2700000" algn="tl">
                    <a:srgbClr val="000000">
                      <a:alpha val="43137"/>
                    </a:srgbClr>
                  </a:outerShdw>
                </a:effectLst>
              </a:rPr>
              <a:t>undertake</a:t>
            </a:r>
            <a:r>
              <a:rPr lang="pl-PL" sz="3600" dirty="0">
                <a:solidFill>
                  <a:srgbClr val="002060"/>
                </a:solidFill>
                <a:effectLst>
                  <a:outerShdw blurRad="38100" dist="38100" dir="2700000" algn="tl">
                    <a:srgbClr val="000000">
                      <a:alpha val="43137"/>
                    </a:srgbClr>
                  </a:outerShdw>
                </a:effectLst>
              </a:rPr>
              <a:t> a business </a:t>
            </a:r>
            <a:r>
              <a:rPr lang="pl-PL" sz="3600" dirty="0" err="1">
                <a:solidFill>
                  <a:srgbClr val="002060"/>
                </a:solidFill>
                <a:effectLst>
                  <a:outerShdw blurRad="38100" dist="38100" dir="2700000" algn="tl">
                    <a:srgbClr val="000000">
                      <a:alpha val="43137"/>
                    </a:srgbClr>
                  </a:outerShdw>
                </a:effectLst>
              </a:rPr>
              <a:t>activity</a:t>
            </a:r>
            <a:r>
              <a:rPr lang="pl-PL" sz="3600" dirty="0">
                <a:solidFill>
                  <a:srgbClr val="002060"/>
                </a:solidFill>
                <a:effectLst>
                  <a:outerShdw blurRad="38100" dist="38100" dir="2700000" algn="tl">
                    <a:srgbClr val="000000">
                      <a:alpha val="43137"/>
                    </a:srgbClr>
                  </a:outerShdw>
                </a:effectLst>
              </a:rPr>
              <a:t> </a:t>
            </a:r>
            <a:r>
              <a:rPr lang="pl-PL" sz="3600" dirty="0" err="1">
                <a:solidFill>
                  <a:srgbClr val="002060"/>
                </a:solidFill>
                <a:effectLst>
                  <a:outerShdw blurRad="38100" dist="38100" dir="2700000" algn="tl">
                    <a:srgbClr val="000000">
                      <a:alpha val="43137"/>
                    </a:srgbClr>
                  </a:outerShdw>
                </a:effectLst>
              </a:rPr>
              <a:t>if</a:t>
            </a:r>
            <a:r>
              <a:rPr lang="pl-PL" sz="3600" dirty="0">
                <a:solidFill>
                  <a:srgbClr val="002060"/>
                </a:solidFill>
                <a:effectLst>
                  <a:outerShdw blurRad="38100" dist="38100" dir="2700000" algn="tl">
                    <a:srgbClr val="000000">
                      <a:alpha val="43137"/>
                    </a:srgbClr>
                  </a:outerShdw>
                </a:effectLst>
              </a:rPr>
              <a:t> the law </a:t>
            </a:r>
            <a:r>
              <a:rPr lang="pl-PL" sz="3600" dirty="0" err="1">
                <a:solidFill>
                  <a:srgbClr val="002060"/>
                </a:solidFill>
                <a:effectLst>
                  <a:outerShdw blurRad="38100" dist="38100" dir="2700000" algn="tl">
                    <a:srgbClr val="000000">
                      <a:alpha val="43137"/>
                    </a:srgbClr>
                  </a:outerShdw>
                </a:effectLst>
              </a:rPr>
              <a:t>does</a:t>
            </a:r>
            <a:r>
              <a:rPr lang="pl-PL" sz="3600" dirty="0">
                <a:solidFill>
                  <a:srgbClr val="002060"/>
                </a:solidFill>
                <a:effectLst>
                  <a:outerShdw blurRad="38100" dist="38100" dir="2700000" algn="tl">
                    <a:srgbClr val="000000">
                      <a:alpha val="43137"/>
                    </a:srgbClr>
                  </a:outerShdw>
                </a:effectLst>
              </a:rPr>
              <a:t> not </a:t>
            </a:r>
            <a:r>
              <a:rPr lang="pl-PL" sz="3600" dirty="0" err="1">
                <a:solidFill>
                  <a:srgbClr val="002060"/>
                </a:solidFill>
                <a:effectLst>
                  <a:outerShdw blurRad="38100" dist="38100" dir="2700000" algn="tl">
                    <a:srgbClr val="000000">
                      <a:alpha val="43137"/>
                    </a:srgbClr>
                  </a:outerShdw>
                </a:effectLst>
              </a:rPr>
              <a:t>require</a:t>
            </a:r>
            <a:r>
              <a:rPr lang="pl-PL" sz="3600" dirty="0">
                <a:solidFill>
                  <a:srgbClr val="002060"/>
                </a:solidFill>
                <a:effectLst>
                  <a:outerShdw blurRad="38100" dist="38100" dir="2700000" algn="tl">
                    <a:srgbClr val="000000">
                      <a:alpha val="43137"/>
                    </a:srgbClr>
                  </a:outerShdw>
                </a:effectLst>
              </a:rPr>
              <a:t> </a:t>
            </a:r>
            <a:r>
              <a:rPr lang="pl-PL" sz="3600" b="1" dirty="0">
                <a:solidFill>
                  <a:srgbClr val="FF0000"/>
                </a:solidFill>
                <a:effectLst>
                  <a:outerShdw blurRad="38100" dist="38100" dir="2700000" algn="tl">
                    <a:srgbClr val="000000">
                      <a:alpha val="43137"/>
                    </a:srgbClr>
                  </a:outerShdw>
                </a:effectLst>
              </a:rPr>
              <a:t>a </a:t>
            </a:r>
            <a:r>
              <a:rPr lang="pl-PL" sz="3600" b="1" dirty="0" err="1">
                <a:solidFill>
                  <a:srgbClr val="FF0000"/>
                </a:solidFill>
                <a:effectLst>
                  <a:outerShdw blurRad="38100" dist="38100" dir="2700000" algn="tl">
                    <a:srgbClr val="000000">
                      <a:alpha val="43137"/>
                    </a:srgbClr>
                  </a:outerShdw>
                </a:effectLst>
              </a:rPr>
              <a:t>license</a:t>
            </a:r>
            <a:r>
              <a:rPr lang="pl-PL" sz="3600" b="1" dirty="0">
                <a:solidFill>
                  <a:srgbClr val="FF0000"/>
                </a:solidFill>
                <a:effectLst>
                  <a:outerShdw blurRad="38100" dist="38100" dir="2700000" algn="tl">
                    <a:srgbClr val="000000">
                      <a:alpha val="43137"/>
                    </a:srgbClr>
                  </a:outerShdw>
                </a:effectLst>
              </a:rPr>
              <a:t>, </a:t>
            </a:r>
            <a:r>
              <a:rPr lang="pl-PL" sz="3600" b="1" dirty="0" err="1">
                <a:solidFill>
                  <a:srgbClr val="FF0000"/>
                </a:solidFill>
                <a:effectLst>
                  <a:outerShdw blurRad="38100" dist="38100" dir="2700000" algn="tl">
                    <a:srgbClr val="000000">
                      <a:alpha val="43137"/>
                    </a:srgbClr>
                  </a:outerShdw>
                </a:effectLst>
              </a:rPr>
              <a:t>permit</a:t>
            </a:r>
            <a:r>
              <a:rPr lang="pl-PL" sz="3600" b="1" dirty="0">
                <a:solidFill>
                  <a:srgbClr val="FF0000"/>
                </a:solidFill>
                <a:effectLst>
                  <a:outerShdw blurRad="38100" dist="38100" dir="2700000" algn="tl">
                    <a:srgbClr val="000000">
                      <a:alpha val="43137"/>
                    </a:srgbClr>
                  </a:outerShdw>
                </a:effectLst>
              </a:rPr>
              <a:t>, </a:t>
            </a:r>
            <a:r>
              <a:rPr lang="pl-PL" sz="3600" b="1" dirty="0" err="1">
                <a:solidFill>
                  <a:srgbClr val="FF0000"/>
                </a:solidFill>
                <a:effectLst>
                  <a:outerShdw blurRad="38100" dist="38100" dir="2700000" algn="tl">
                    <a:srgbClr val="000000">
                      <a:alpha val="43137"/>
                    </a:srgbClr>
                  </a:outerShdw>
                </a:effectLst>
              </a:rPr>
              <a:t>or</a:t>
            </a:r>
            <a:r>
              <a:rPr lang="pl-PL" sz="3600" b="1" dirty="0">
                <a:solidFill>
                  <a:srgbClr val="FF0000"/>
                </a:solidFill>
                <a:effectLst>
                  <a:outerShdw blurRad="38100" dist="38100" dir="2700000" algn="tl">
                    <a:srgbClr val="000000">
                      <a:alpha val="43137"/>
                    </a:srgbClr>
                  </a:outerShdw>
                </a:effectLst>
              </a:rPr>
              <a:t> </a:t>
            </a:r>
            <a:r>
              <a:rPr lang="pl-PL" sz="3600" b="1" dirty="0" err="1">
                <a:solidFill>
                  <a:srgbClr val="FF0000"/>
                </a:solidFill>
                <a:effectLst>
                  <a:outerShdw blurRad="38100" dist="38100" dir="2700000" algn="tl">
                    <a:srgbClr val="000000">
                      <a:alpha val="43137"/>
                    </a:srgbClr>
                  </a:outerShdw>
                </a:effectLst>
              </a:rPr>
              <a:t>notification</a:t>
            </a:r>
            <a:r>
              <a:rPr lang="pl-PL" sz="3600" b="1" dirty="0">
                <a:solidFill>
                  <a:srgbClr val="FF0000"/>
                </a:solidFill>
                <a:effectLst>
                  <a:outerShdw blurRad="38100" dist="38100" dir="2700000" algn="tl">
                    <a:srgbClr val="000000">
                      <a:alpha val="43137"/>
                    </a:srgbClr>
                  </a:outerShdw>
                </a:effectLst>
              </a:rPr>
              <a:t> </a:t>
            </a:r>
            <a:r>
              <a:rPr lang="pl-PL" sz="3600" dirty="0">
                <a:solidFill>
                  <a:srgbClr val="002060"/>
                </a:solidFill>
                <a:effectLst>
                  <a:outerShdw blurRad="38100" dist="38100" dir="2700000" algn="tl">
                    <a:srgbClr val="000000">
                      <a:alpha val="43137"/>
                    </a:srgbClr>
                  </a:outerShdw>
                </a:effectLst>
              </a:rPr>
              <a:t>to the </a:t>
            </a:r>
            <a:r>
              <a:rPr lang="pl-PL" sz="3600" dirty="0" err="1">
                <a:solidFill>
                  <a:srgbClr val="002060"/>
                </a:solidFill>
                <a:effectLst>
                  <a:outerShdw blurRad="38100" dist="38100" dir="2700000" algn="tl">
                    <a:srgbClr val="000000">
                      <a:alpha val="43137"/>
                    </a:srgbClr>
                  </a:outerShdw>
                </a:effectLst>
              </a:rPr>
              <a:t>authorities</a:t>
            </a:r>
            <a:r>
              <a:rPr lang="pl-PL" sz="3600" dirty="0">
                <a:solidFill>
                  <a:srgbClr val="002060"/>
                </a:solidFill>
                <a:effectLst>
                  <a:outerShdw blurRad="38100" dist="38100" dir="2700000" algn="tl">
                    <a:srgbClr val="000000">
                      <a:alpha val="43137"/>
                    </a:srgbClr>
                  </a:outerShdw>
                </a:effectLst>
              </a:rPr>
              <a:t> (</a:t>
            </a:r>
            <a:r>
              <a:rPr lang="pl-PL" sz="3600" dirty="0" err="1">
                <a:solidFill>
                  <a:srgbClr val="002060"/>
                </a:solidFill>
                <a:effectLst>
                  <a:outerShdw blurRad="38100" dist="38100" dir="2700000" algn="tl">
                    <a:srgbClr val="000000">
                      <a:alpha val="43137"/>
                    </a:srgbClr>
                  </a:outerShdw>
                </a:effectLst>
              </a:rPr>
              <a:t>free</a:t>
            </a:r>
            <a:r>
              <a:rPr lang="pl-PL" sz="3600" dirty="0">
                <a:solidFill>
                  <a:srgbClr val="002060"/>
                </a:solidFill>
                <a:effectLst>
                  <a:outerShdw blurRad="38100" dist="38100" dir="2700000" algn="tl">
                    <a:srgbClr val="000000">
                      <a:alpha val="43137"/>
                    </a:srgbClr>
                  </a:outerShdw>
                </a:effectLst>
              </a:rPr>
              <a:t> business </a:t>
            </a:r>
            <a:r>
              <a:rPr lang="pl-PL" sz="3600" dirty="0" err="1">
                <a:solidFill>
                  <a:srgbClr val="002060"/>
                </a:solidFill>
                <a:effectLst>
                  <a:outerShdw blurRad="38100" dist="38100" dir="2700000" algn="tl">
                    <a:srgbClr val="000000">
                      <a:alpha val="43137"/>
                    </a:srgbClr>
                  </a:outerShdw>
                </a:effectLst>
              </a:rPr>
              <a:t>activity</a:t>
            </a:r>
            <a:r>
              <a:rPr lang="pl-PL" sz="3600" dirty="0">
                <a:solidFill>
                  <a:srgbClr val="002060"/>
                </a:solidFill>
                <a:effectLst>
                  <a:outerShdw blurRad="38100" dist="38100" dir="2700000" algn="tl">
                    <a:srgbClr val="000000">
                      <a:alpha val="43137"/>
                    </a:srgbClr>
                  </a:outerShdw>
                </a:effectLst>
              </a:rPr>
              <a:t>)</a:t>
            </a:r>
            <a:endParaRPr lang="en-US" sz="3600" dirty="0">
              <a:solidFill>
                <a:srgbClr val="002060"/>
              </a:solidFill>
              <a:effectLst>
                <a:outerShdw blurRad="38100" dist="38100" dir="2700000" algn="tl">
                  <a:srgbClr val="000000">
                    <a:alpha val="43137"/>
                  </a:srgbClr>
                </a:outerShdw>
              </a:effectLst>
            </a:endParaRPr>
          </a:p>
          <a:p>
            <a:pPr marL="0" indent="0">
              <a:buNone/>
            </a:pPr>
            <a:r>
              <a:rPr lang="pl-PL" sz="3600" dirty="0">
                <a:highlight>
                  <a:srgbClr val="FFFF00"/>
                </a:highlight>
              </a:rPr>
              <a:t> </a:t>
            </a:r>
          </a:p>
          <a:p>
            <a:endParaRPr lang="pl-PL" dirty="0"/>
          </a:p>
        </p:txBody>
      </p:sp>
    </p:spTree>
    <p:extLst>
      <p:ext uri="{BB962C8B-B14F-4D97-AF65-F5344CB8AC3E}">
        <p14:creationId xmlns:p14="http://schemas.microsoft.com/office/powerpoint/2010/main" val="3672304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71779DE-F673-5FA7-F5EF-94630FCC3B47}"/>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License versus </a:t>
            </a:r>
            <a:r>
              <a:rPr lang="pl-PL" dirty="0" err="1">
                <a:solidFill>
                  <a:srgbClr val="FF0000"/>
                </a:solidFill>
                <a:effectLst>
                  <a:outerShdw blurRad="38100" dist="38100" dir="2700000" algn="tl">
                    <a:srgbClr val="000000">
                      <a:alpha val="43137"/>
                    </a:srgbClr>
                  </a:outerShdw>
                </a:effectLst>
              </a:rPr>
              <a:t>permission</a:t>
            </a:r>
            <a:r>
              <a:rPr lang="pl-PL" dirty="0">
                <a:solidFill>
                  <a:srgbClr val="FF0000"/>
                </a:solidFill>
                <a:effectLst>
                  <a:outerShdw blurRad="38100" dist="38100" dir="2700000" algn="tl">
                    <a:srgbClr val="000000">
                      <a:alpha val="43137"/>
                    </a:srgbClr>
                  </a:outerShdw>
                </a:effectLst>
              </a:rPr>
              <a:t> (</a:t>
            </a:r>
            <a:r>
              <a:rPr lang="pl-PL" dirty="0" err="1">
                <a:solidFill>
                  <a:srgbClr val="FF0000"/>
                </a:solidFill>
                <a:effectLst>
                  <a:outerShdw blurRad="38100" dist="38100" dir="2700000" algn="tl">
                    <a:srgbClr val="000000">
                      <a:alpha val="43137"/>
                    </a:srgbClr>
                  </a:outerShdw>
                </a:effectLst>
              </a:rPr>
              <a:t>permit</a:t>
            </a:r>
            <a:r>
              <a:rPr lang="pl-PL" dirty="0">
                <a:solidFill>
                  <a:srgbClr val="FF0000"/>
                </a:solidFill>
                <a:effectLst>
                  <a:outerShdw blurRad="38100" dist="38100" dir="2700000" algn="tl">
                    <a:srgbClr val="000000">
                      <a:alpha val="43137"/>
                    </a:srgbClr>
                  </a:outerShdw>
                </a:effectLst>
              </a:rPr>
              <a:t>)</a:t>
            </a:r>
            <a:endParaRPr lang="en-US"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24808740-21D7-160C-AD66-7B0E12D5B3F3}"/>
              </a:ext>
            </a:extLst>
          </p:cNvPr>
          <p:cNvSpPr>
            <a:spLocks noGrp="1"/>
          </p:cNvSpPr>
          <p:nvPr>
            <p:ph idx="1"/>
          </p:nvPr>
        </p:nvSpPr>
        <p:spPr/>
        <p:txBody>
          <a:bodyPr>
            <a:normAutofit fontScale="92500" lnSpcReduction="10000"/>
          </a:bodyPr>
          <a:lstStyle/>
          <a:p>
            <a:r>
              <a:rPr lang="en-US" noProof="0" dirty="0">
                <a:solidFill>
                  <a:srgbClr val="002060"/>
                </a:solidFill>
                <a:effectLst>
                  <a:outerShdw blurRad="38100" dist="38100" dir="2700000" algn="tl">
                    <a:srgbClr val="000000">
                      <a:alpha val="43137"/>
                    </a:srgbClr>
                  </a:outerShdw>
                </a:effectLst>
              </a:rPr>
              <a:t>The law uses the names „</a:t>
            </a:r>
            <a:r>
              <a:rPr lang="en-US" b="1" noProof="0" dirty="0">
                <a:solidFill>
                  <a:srgbClr val="002060"/>
                </a:solidFill>
                <a:effectLst>
                  <a:outerShdw blurRad="38100" dist="38100" dir="2700000" algn="tl">
                    <a:srgbClr val="000000">
                      <a:alpha val="43137"/>
                    </a:srgbClr>
                  </a:outerShdw>
                </a:effectLst>
              </a:rPr>
              <a:t>license</a:t>
            </a:r>
            <a:r>
              <a:rPr lang="en-US" noProof="0" dirty="0">
                <a:solidFill>
                  <a:srgbClr val="002060"/>
                </a:solidFill>
                <a:effectLst>
                  <a:outerShdw blurRad="38100" dist="38100" dir="2700000" algn="tl">
                    <a:srgbClr val="000000">
                      <a:alpha val="43137"/>
                    </a:srgbClr>
                  </a:outerShdw>
                </a:effectLst>
              </a:rPr>
              <a:t> </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Polish: </a:t>
            </a:r>
            <a:r>
              <a:rPr lang="en-US" noProof="0" dirty="0" err="1">
                <a:solidFill>
                  <a:srgbClr val="002060"/>
                </a:solidFill>
                <a:effectLst>
                  <a:outerShdw blurRad="38100" dist="38100" dir="2700000" algn="tl">
                    <a:srgbClr val="000000">
                      <a:alpha val="43137"/>
                    </a:srgbClr>
                  </a:outerShdw>
                </a:effectLst>
              </a:rPr>
              <a:t>koncesja</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or </a:t>
            </a:r>
            <a:r>
              <a:rPr lang="en-US" b="1" noProof="0" dirty="0">
                <a:solidFill>
                  <a:srgbClr val="002060"/>
                </a:solidFill>
                <a:effectLst>
                  <a:outerShdw blurRad="38100" dist="38100" dir="2700000" algn="tl">
                    <a:srgbClr val="000000">
                      <a:alpha val="43137"/>
                    </a:srgbClr>
                  </a:outerShdw>
                </a:effectLst>
              </a:rPr>
              <a:t>permission </a:t>
            </a:r>
            <a:r>
              <a:rPr lang="en-US" b="1" noProof="0" dirty="0">
                <a:solidFill>
                  <a:srgbClr val="FF0000"/>
                </a:solidFill>
                <a:effectLst>
                  <a:outerShdw blurRad="38100" dist="38100" dir="2700000" algn="tl">
                    <a:srgbClr val="000000">
                      <a:alpha val="43137"/>
                    </a:srgbClr>
                  </a:outerShdw>
                </a:effectLst>
              </a:rPr>
              <a:t>interchangeably,</a:t>
            </a:r>
            <a:r>
              <a:rPr lang="en-US" noProof="0" dirty="0">
                <a:solidFill>
                  <a:srgbClr val="002060"/>
                </a:solidFill>
                <a:effectLst>
                  <a:outerShdw blurRad="38100" dist="38100" dir="2700000" algn="tl">
                    <a:srgbClr val="000000">
                      <a:alpha val="43137"/>
                    </a:srgbClr>
                  </a:outerShdw>
                </a:effectLst>
              </a:rPr>
              <a:t> despite </a:t>
            </a:r>
            <a:r>
              <a:rPr lang="en-US" b="1" noProof="0" dirty="0">
                <a:solidFill>
                  <a:srgbClr val="FF0000"/>
                </a:solidFill>
                <a:effectLst>
                  <a:outerShdw blurRad="38100" dist="38100" dir="2700000" algn="tl">
                    <a:srgbClr val="000000">
                      <a:alpha val="43137"/>
                    </a:srgbClr>
                  </a:outerShdw>
                </a:effectLst>
              </a:rPr>
              <a:t>textbook differences</a:t>
            </a:r>
            <a:r>
              <a:rPr lang="en-US" noProof="0" dirty="0">
                <a:solidFill>
                  <a:srgbClr val="002060"/>
                </a:solidFill>
                <a:effectLst>
                  <a:outerShdw blurRad="38100" dist="38100" dir="2700000" algn="tl">
                    <a:srgbClr val="000000">
                      <a:alpha val="43137"/>
                    </a:srgbClr>
                  </a:outerShdw>
                </a:effectLst>
              </a:rPr>
              <a:t>. </a:t>
            </a:r>
          </a:p>
          <a:p>
            <a:r>
              <a:rPr lang="en-US" noProof="0" dirty="0">
                <a:solidFill>
                  <a:srgbClr val="002060"/>
                </a:solidFill>
                <a:effectLst>
                  <a:outerShdw blurRad="38100" dist="38100" dir="2700000" algn="tl">
                    <a:srgbClr val="000000">
                      <a:alpha val="43137"/>
                    </a:srgbClr>
                  </a:outerShdw>
                </a:effectLst>
              </a:rPr>
              <a:t>According to textbooks, </a:t>
            </a:r>
            <a:r>
              <a:rPr lang="en-US" b="1" noProof="0" dirty="0">
                <a:solidFill>
                  <a:srgbClr val="FF0000"/>
                </a:solidFill>
                <a:effectLst>
                  <a:outerShdw blurRad="38100" dist="38100" dir="2700000" algn="tl">
                    <a:srgbClr val="000000">
                      <a:alpha val="43137"/>
                    </a:srgbClr>
                  </a:outerShdw>
                </a:effectLst>
              </a:rPr>
              <a:t>a license </a:t>
            </a:r>
            <a:r>
              <a:rPr lang="en-US" noProof="0" dirty="0">
                <a:solidFill>
                  <a:srgbClr val="002060"/>
                </a:solidFill>
                <a:effectLst>
                  <a:outerShdw blurRad="38100" dist="38100" dir="2700000" algn="tl">
                    <a:srgbClr val="000000">
                      <a:alpha val="43137"/>
                    </a:srgbClr>
                  </a:outerShdw>
                </a:effectLst>
              </a:rPr>
              <a:t>covers the </a:t>
            </a:r>
            <a:r>
              <a:rPr lang="en-US" b="1" noProof="0" dirty="0">
                <a:solidFill>
                  <a:srgbClr val="FF0000"/>
                </a:solidFill>
                <a:effectLst>
                  <a:outerShdw blurRad="38100" dist="38100" dir="2700000" algn="tl">
                    <a:srgbClr val="000000">
                      <a:alpha val="43137"/>
                    </a:srgbClr>
                  </a:outerShdw>
                </a:effectLst>
              </a:rPr>
              <a:t>most critical or risky </a:t>
            </a:r>
            <a:r>
              <a:rPr lang="en-US" noProof="0" dirty="0">
                <a:solidFill>
                  <a:srgbClr val="002060"/>
                </a:solidFill>
                <a:effectLst>
                  <a:outerShdw blurRad="38100" dist="38100" dir="2700000" algn="tl">
                    <a:srgbClr val="000000">
                      <a:alpha val="43137"/>
                    </a:srgbClr>
                  </a:outerShdw>
                </a:effectLst>
              </a:rPr>
              <a:t>business activities, such as operating </a:t>
            </a:r>
            <a:r>
              <a:rPr lang="en-US" b="1" noProof="0" dirty="0">
                <a:solidFill>
                  <a:srgbClr val="002060"/>
                </a:solidFill>
                <a:effectLst>
                  <a:outerShdw blurRad="38100" dist="38100" dir="2700000" algn="tl">
                    <a:srgbClr val="000000">
                      <a:alpha val="43137"/>
                    </a:srgbClr>
                  </a:outerShdw>
                </a:effectLst>
              </a:rPr>
              <a:t>an airline</a:t>
            </a:r>
            <a:r>
              <a:rPr lang="pl-PL" b="1" noProof="0" dirty="0">
                <a:solidFill>
                  <a:srgbClr val="002060"/>
                </a:solidFill>
                <a:effectLst>
                  <a:outerShdw blurRad="38100" dist="38100" dir="2700000" algn="tl">
                    <a:srgbClr val="000000">
                      <a:alpha val="43137"/>
                    </a:srgbClr>
                  </a:outerShdw>
                </a:effectLst>
              </a:rPr>
              <a:t> (but not </a:t>
            </a:r>
            <a:r>
              <a:rPr lang="pl-PL" b="1" noProof="0" dirty="0" err="1">
                <a:solidFill>
                  <a:srgbClr val="002060"/>
                </a:solidFill>
                <a:effectLst>
                  <a:outerShdw blurRad="38100" dist="38100" dir="2700000" algn="tl">
                    <a:srgbClr val="000000">
                      <a:alpha val="43137"/>
                    </a:srgbClr>
                  </a:outerShdw>
                </a:effectLst>
              </a:rPr>
              <a:t>an</a:t>
            </a:r>
            <a:r>
              <a:rPr lang="pl-PL" b="1" noProof="0" dirty="0">
                <a:solidFill>
                  <a:srgbClr val="002060"/>
                </a:solidFill>
                <a:effectLst>
                  <a:outerShdw blurRad="38100" dist="38100" dir="2700000" algn="tl">
                    <a:srgbClr val="000000">
                      <a:alpha val="43137"/>
                    </a:srgbClr>
                  </a:outerShdw>
                </a:effectLst>
              </a:rPr>
              <a:t> </a:t>
            </a:r>
            <a:r>
              <a:rPr lang="pl-PL" b="1" noProof="0" dirty="0" err="1">
                <a:solidFill>
                  <a:srgbClr val="002060"/>
                </a:solidFill>
                <a:effectLst>
                  <a:outerShdw blurRad="38100" dist="38100" dir="2700000" algn="tl">
                    <a:srgbClr val="000000">
                      <a:alpha val="43137"/>
                    </a:srgbClr>
                  </a:outerShdw>
                </a:effectLst>
              </a:rPr>
              <a:t>airport</a:t>
            </a:r>
            <a:r>
              <a:rPr lang="pl-PL" b="1" noProof="0" dirty="0">
                <a:solidFill>
                  <a:srgbClr val="002060"/>
                </a:solidFill>
                <a:effectLst>
                  <a:outerShdw blurRad="38100" dist="38100" dir="2700000" algn="tl">
                    <a:srgbClr val="000000">
                      <a:alpha val="43137"/>
                    </a:srgbClr>
                  </a:outerShdw>
                </a:effectLst>
              </a:rPr>
              <a:t> </a:t>
            </a:r>
            <a:r>
              <a:rPr lang="pl-PL" b="1" noProof="0" dirty="0" err="1">
                <a:solidFill>
                  <a:srgbClr val="002060"/>
                </a:solidFill>
                <a:effectLst>
                  <a:outerShdw blurRad="38100" dist="38100" dir="2700000" algn="tl">
                    <a:srgbClr val="000000">
                      <a:alpha val="43137"/>
                    </a:srgbClr>
                  </a:outerShdw>
                </a:effectLst>
              </a:rPr>
              <a:t>which</a:t>
            </a:r>
            <a:r>
              <a:rPr lang="pl-PL" b="1" noProof="0" dirty="0">
                <a:solidFill>
                  <a:srgbClr val="002060"/>
                </a:solidFill>
                <a:effectLst>
                  <a:outerShdw blurRad="38100" dist="38100" dir="2700000" algn="tl">
                    <a:srgbClr val="000000">
                      <a:alpha val="43137"/>
                    </a:srgbClr>
                  </a:outerShdw>
                </a:effectLst>
              </a:rPr>
              <a:t> </a:t>
            </a:r>
            <a:r>
              <a:rPr lang="pl-PL" b="1" noProof="0" dirty="0" err="1">
                <a:solidFill>
                  <a:srgbClr val="002060"/>
                </a:solidFill>
                <a:effectLst>
                  <a:outerShdw blurRad="38100" dist="38100" dir="2700000" algn="tl">
                    <a:srgbClr val="000000">
                      <a:alpha val="43137"/>
                    </a:srgbClr>
                  </a:outerShdw>
                </a:effectLst>
              </a:rPr>
              <a:t>requires</a:t>
            </a:r>
            <a:r>
              <a:rPr lang="pl-PL" b="1" noProof="0" dirty="0">
                <a:solidFill>
                  <a:srgbClr val="002060"/>
                </a:solidFill>
                <a:effectLst>
                  <a:outerShdw blurRad="38100" dist="38100" dir="2700000" algn="tl">
                    <a:srgbClr val="000000">
                      <a:alpha val="43137"/>
                    </a:srgbClr>
                  </a:outerShdw>
                </a:effectLst>
              </a:rPr>
              <a:t> </a:t>
            </a:r>
            <a:r>
              <a:rPr lang="pl-PL" b="1" noProof="0" dirty="0" err="1">
                <a:solidFill>
                  <a:srgbClr val="002060"/>
                </a:solidFill>
                <a:effectLst>
                  <a:outerShdw blurRad="38100" dist="38100" dir="2700000" algn="tl">
                    <a:srgbClr val="000000">
                      <a:alpha val="43137"/>
                    </a:srgbClr>
                  </a:outerShdw>
                </a:effectLst>
              </a:rPr>
              <a:t>permission</a:t>
            </a:r>
            <a:r>
              <a:rPr lang="pl-PL" b="1" noProof="0" dirty="0">
                <a:solidFill>
                  <a:srgbClr val="002060"/>
                </a:solidFill>
                <a:effectLst>
                  <a:outerShdw blurRad="38100" dist="38100" dir="2700000" algn="tl">
                    <a:srgbClr val="000000">
                      <a:alpha val="43137"/>
                    </a:srgbClr>
                  </a:outerShdw>
                </a:effectLst>
              </a:rPr>
              <a:t>)</a:t>
            </a:r>
            <a:r>
              <a:rPr lang="en-US" b="1" noProof="0" dirty="0">
                <a:solidFill>
                  <a:srgbClr val="002060"/>
                </a:solidFill>
                <a:effectLst>
                  <a:outerShdw blurRad="38100" dist="38100" dir="2700000" algn="tl">
                    <a:srgbClr val="000000">
                      <a:alpha val="43137"/>
                    </a:srgbClr>
                  </a:outerShdw>
                </a:effectLst>
              </a:rPr>
              <a:t>. </a:t>
            </a:r>
          </a:p>
          <a:p>
            <a:r>
              <a:rPr lang="en-US" noProof="0" dirty="0">
                <a:solidFill>
                  <a:srgbClr val="002060"/>
                </a:solidFill>
                <a:effectLst>
                  <a:outerShdw blurRad="38100" dist="38100" dir="2700000" algn="tl">
                    <a:srgbClr val="000000">
                      <a:alpha val="43137"/>
                    </a:srgbClr>
                  </a:outerShdw>
                </a:effectLst>
              </a:rPr>
              <a:t>However, an overview of legislation does not confirm such a distinction.</a:t>
            </a:r>
          </a:p>
          <a:p>
            <a:r>
              <a:rPr lang="en-US" noProof="0" dirty="0">
                <a:solidFill>
                  <a:srgbClr val="002060"/>
                </a:solidFill>
                <a:effectLst>
                  <a:outerShdw blurRad="38100" dist="38100" dir="2700000" algn="tl">
                    <a:srgbClr val="000000">
                      <a:alpha val="43137"/>
                    </a:srgbClr>
                  </a:outerShdw>
                </a:effectLst>
              </a:rPr>
              <a:t>Legislative practice does not confirm another difference that a license involves </a:t>
            </a:r>
            <a:r>
              <a:rPr lang="en-US" b="1" noProof="0" dirty="0">
                <a:solidFill>
                  <a:srgbClr val="FF0000"/>
                </a:solidFill>
                <a:effectLst>
                  <a:outerShdw blurRad="38100" dist="38100" dir="2700000" algn="tl">
                    <a:srgbClr val="000000">
                      <a:alpha val="43137"/>
                    </a:srgbClr>
                  </a:outerShdw>
                </a:effectLst>
              </a:rPr>
              <a:t>discretionary powers </a:t>
            </a:r>
            <a:r>
              <a:rPr lang="en-US" noProof="0" dirty="0">
                <a:solidFill>
                  <a:srgbClr val="002060"/>
                </a:solidFill>
                <a:effectLst>
                  <a:outerShdw blurRad="38100" dist="38100" dir="2700000" algn="tl">
                    <a:srgbClr val="000000">
                      <a:alpha val="43137"/>
                    </a:srgbClr>
                  </a:outerShdw>
                </a:effectLst>
              </a:rPr>
              <a:t>granted to the issuing authority.</a:t>
            </a:r>
          </a:p>
          <a:p>
            <a:r>
              <a:rPr lang="en-US" noProof="0" dirty="0">
                <a:solidFill>
                  <a:srgbClr val="002060"/>
                </a:solidFill>
                <a:effectLst>
                  <a:outerShdw blurRad="38100" dist="38100" dir="2700000" algn="tl">
                    <a:srgbClr val="000000">
                      <a:alpha val="43137"/>
                    </a:srgbClr>
                  </a:outerShdw>
                </a:effectLst>
              </a:rPr>
              <a:t>Some business activities require </a:t>
            </a:r>
            <a:r>
              <a:rPr lang="en-US" b="1" noProof="0" dirty="0">
                <a:solidFill>
                  <a:srgbClr val="FF0000"/>
                </a:solidFill>
                <a:effectLst>
                  <a:outerShdw blurRad="38100" dist="38100" dir="2700000" algn="tl">
                    <a:srgbClr val="000000">
                      <a:alpha val="43137"/>
                    </a:srgbClr>
                  </a:outerShdw>
                </a:effectLst>
              </a:rPr>
              <a:t>a license </a:t>
            </a:r>
            <a:r>
              <a:rPr lang="en-US" noProof="0" dirty="0">
                <a:solidFill>
                  <a:srgbClr val="002060"/>
                </a:solidFill>
                <a:effectLst>
                  <a:outerShdw blurRad="38100" dist="38100" dir="2700000" algn="tl">
                    <a:srgbClr val="000000">
                      <a:alpha val="43137"/>
                    </a:srgbClr>
                  </a:outerShdw>
                </a:effectLst>
              </a:rPr>
              <a:t>(e.g., security services) – authorities have certain </a:t>
            </a:r>
            <a:r>
              <a:rPr lang="en-US" b="1" noProof="0" dirty="0">
                <a:solidFill>
                  <a:srgbClr val="002060"/>
                </a:solidFill>
                <a:effectLst>
                  <a:outerShdw blurRad="38100" dist="38100" dir="2700000" algn="tl">
                    <a:srgbClr val="000000">
                      <a:alpha val="43137"/>
                    </a:srgbClr>
                  </a:outerShdw>
                </a:effectLst>
              </a:rPr>
              <a:t>discretionary powers </a:t>
            </a:r>
            <a:r>
              <a:rPr lang="en-US" noProof="0" dirty="0">
                <a:solidFill>
                  <a:srgbClr val="002060"/>
                </a:solidFill>
                <a:effectLst>
                  <a:outerShdw blurRad="38100" dist="38100" dir="2700000" algn="tl">
                    <a:srgbClr val="000000">
                      <a:alpha val="43137"/>
                    </a:srgbClr>
                  </a:outerShdw>
                </a:effectLst>
              </a:rPr>
              <a:t>as to granting a license or not, or imposing conditions.</a:t>
            </a:r>
          </a:p>
          <a:p>
            <a:r>
              <a:rPr lang="en-US" noProof="0" dirty="0">
                <a:solidFill>
                  <a:srgbClr val="002060"/>
                </a:solidFill>
                <a:effectLst>
                  <a:outerShdw blurRad="38100" dist="38100" dir="2700000" algn="tl">
                    <a:srgbClr val="000000">
                      <a:alpha val="43137"/>
                    </a:srgbClr>
                  </a:outerShdw>
                </a:effectLst>
              </a:rPr>
              <a:t>Some business activities require </a:t>
            </a:r>
            <a:r>
              <a:rPr lang="en-US" b="1" noProof="0" dirty="0">
                <a:solidFill>
                  <a:srgbClr val="FF0000"/>
                </a:solidFill>
                <a:effectLst>
                  <a:outerShdw blurRad="38100" dist="38100" dir="2700000" algn="tl">
                    <a:srgbClr val="000000">
                      <a:alpha val="43137"/>
                    </a:srgbClr>
                  </a:outerShdw>
                </a:effectLst>
              </a:rPr>
              <a:t>permission</a:t>
            </a:r>
            <a:r>
              <a:rPr lang="en-US" noProof="0" dirty="0">
                <a:solidFill>
                  <a:srgbClr val="002060"/>
                </a:solidFill>
                <a:effectLst>
                  <a:outerShdw blurRad="38100" dist="38100" dir="2700000" algn="tl">
                    <a:srgbClr val="000000">
                      <a:alpha val="43137"/>
                    </a:srgbClr>
                  </a:outerShdw>
                </a:effectLst>
              </a:rPr>
              <a:t> (e.g., selling alcohol or GMO products) </a:t>
            </a:r>
          </a:p>
          <a:p>
            <a:endParaRPr lang="en-US" dirty="0"/>
          </a:p>
        </p:txBody>
      </p:sp>
    </p:spTree>
    <p:extLst>
      <p:ext uri="{BB962C8B-B14F-4D97-AF65-F5344CB8AC3E}">
        <p14:creationId xmlns:p14="http://schemas.microsoft.com/office/powerpoint/2010/main" val="3674162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89A5BFC-3B14-727A-4ADA-9CAA0BC07AB1}"/>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Types</a:t>
            </a:r>
            <a:r>
              <a:rPr lang="pl-PL" dirty="0">
                <a:solidFill>
                  <a:srgbClr val="002060"/>
                </a:solidFill>
                <a:effectLst>
                  <a:outerShdw blurRad="38100" dist="38100" dir="2700000" algn="tl">
                    <a:srgbClr val="000000">
                      <a:alpha val="43137"/>
                    </a:srgbClr>
                  </a:outerShdw>
                </a:effectLst>
              </a:rPr>
              <a:t> of business </a:t>
            </a:r>
            <a:r>
              <a:rPr lang="pl-PL" dirty="0" err="1">
                <a:solidFill>
                  <a:srgbClr val="002060"/>
                </a:solidFill>
                <a:effectLst>
                  <a:outerShdw blurRad="38100" dist="38100" dir="2700000" algn="tl">
                    <a:srgbClr val="000000">
                      <a:alpha val="43137"/>
                    </a:srgbClr>
                  </a:outerShdw>
                </a:effectLst>
              </a:rPr>
              <a:t>authorization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6D087C18-32A4-FE0D-B76C-11C573BECC8A}"/>
              </a:ext>
            </a:extLst>
          </p:cNvPr>
          <p:cNvSpPr>
            <a:spLocks noGrp="1"/>
          </p:cNvSpPr>
          <p:nvPr>
            <p:ph idx="1"/>
          </p:nvPr>
        </p:nvSpPr>
        <p:spPr/>
        <p:txBody>
          <a:bodyPr>
            <a:normAutofit fontScale="92500"/>
          </a:bodyPr>
          <a:lstStyle/>
          <a:p>
            <a:r>
              <a:rPr lang="en-US" b="1" noProof="0" dirty="0">
                <a:solidFill>
                  <a:srgbClr val="FF0000"/>
                </a:solidFill>
                <a:effectLst>
                  <a:outerShdw blurRad="38100" dist="38100" dir="2700000" algn="tl">
                    <a:srgbClr val="000000">
                      <a:alpha val="43137"/>
                    </a:srgbClr>
                  </a:outerShdw>
                </a:effectLst>
              </a:rPr>
              <a:t>Licenses</a:t>
            </a:r>
            <a:r>
              <a:rPr lang="en-US" noProof="0" dirty="0">
                <a:solidFill>
                  <a:srgbClr val="002060"/>
                </a:solidFill>
                <a:effectLst>
                  <a:outerShdw blurRad="38100" dist="38100" dir="2700000" algn="tl">
                    <a:srgbClr val="000000">
                      <a:alpha val="43137"/>
                    </a:srgbClr>
                  </a:outerShdw>
                </a:effectLst>
              </a:rPr>
              <a:t> [Polish: </a:t>
            </a:r>
            <a:r>
              <a:rPr lang="en-US" noProof="0" dirty="0" err="1">
                <a:solidFill>
                  <a:srgbClr val="002060"/>
                </a:solidFill>
                <a:effectLst>
                  <a:outerShdw blurRad="38100" dist="38100" dir="2700000" algn="tl">
                    <a:srgbClr val="000000">
                      <a:alpha val="43137"/>
                    </a:srgbClr>
                  </a:outerShdw>
                </a:effectLst>
              </a:rPr>
              <a:t>koncesja</a:t>
            </a:r>
            <a:r>
              <a:rPr lang="en-US" noProof="0" dirty="0">
                <a:solidFill>
                  <a:srgbClr val="002060"/>
                </a:solidFill>
                <a:effectLst>
                  <a:outerShdw blurRad="38100" dist="38100" dir="2700000" algn="tl">
                    <a:srgbClr val="000000">
                      <a:alpha val="43137"/>
                    </a:srgbClr>
                  </a:outerShdw>
                </a:effectLst>
              </a:rPr>
              <a:t>] – </a:t>
            </a:r>
            <a:r>
              <a:rPr lang="pl-PL" noProof="0" dirty="0" err="1">
                <a:solidFill>
                  <a:srgbClr val="002060"/>
                </a:solidFill>
                <a:effectLst>
                  <a:outerShdw blurRad="38100" dist="38100" dir="2700000" algn="tl">
                    <a:srgbClr val="000000">
                      <a:alpha val="43137"/>
                    </a:srgbClr>
                  </a:outerShdw>
                </a:effectLst>
              </a:rPr>
              <a:t>gives</a:t>
            </a:r>
            <a:r>
              <a:rPr lang="pl-PL" noProof="0" dirty="0">
                <a:solidFill>
                  <a:srgbClr val="002060"/>
                </a:solidFill>
                <a:effectLst>
                  <a:outerShdw blurRad="38100" dist="38100" dir="2700000" algn="tl">
                    <a:srgbClr val="000000">
                      <a:alpha val="43137"/>
                    </a:srgbClr>
                  </a:outerShdw>
                </a:effectLst>
              </a:rPr>
              <a:t> public authority </a:t>
            </a:r>
            <a:r>
              <a:rPr lang="en-US" noProof="0" dirty="0">
                <a:solidFill>
                  <a:srgbClr val="002060"/>
                </a:solidFill>
                <a:effectLst>
                  <a:outerShdw blurRad="38100" dist="38100" dir="2700000" algn="tl">
                    <a:srgbClr val="000000">
                      <a:alpha val="43137"/>
                    </a:srgbClr>
                  </a:outerShdw>
                </a:effectLst>
              </a:rPr>
              <a:t>broad </a:t>
            </a:r>
            <a:r>
              <a:rPr lang="en-US" b="1" noProof="0" dirty="0">
                <a:solidFill>
                  <a:srgbClr val="0070C0"/>
                </a:solidFill>
                <a:effectLst>
                  <a:outerShdw blurRad="38100" dist="38100" dir="2700000" algn="tl">
                    <a:srgbClr val="000000">
                      <a:alpha val="43137"/>
                    </a:srgbClr>
                  </a:outerShdw>
                </a:effectLst>
              </a:rPr>
              <a:t>discretionary powers</a:t>
            </a:r>
            <a:r>
              <a:rPr lang="en-US" noProof="0" dirty="0">
                <a:solidFill>
                  <a:srgbClr val="0070C0"/>
                </a:solidFill>
                <a:effectLst>
                  <a:outerShdw blurRad="38100" dist="38100" dir="2700000" algn="tl">
                    <a:srgbClr val="000000">
                      <a:alpha val="43137"/>
                    </a:srgbClr>
                  </a:outerShdw>
                </a:effectLst>
              </a:rPr>
              <a:t> </a:t>
            </a:r>
          </a:p>
          <a:p>
            <a:r>
              <a:rPr lang="en-US" b="1" noProof="0" dirty="0">
                <a:solidFill>
                  <a:srgbClr val="FF0000"/>
                </a:solidFill>
                <a:effectLst>
                  <a:outerShdw blurRad="38100" dist="38100" dir="2700000" algn="tl">
                    <a:srgbClr val="000000">
                      <a:alpha val="43137"/>
                    </a:srgbClr>
                  </a:outerShdw>
                </a:effectLst>
              </a:rPr>
              <a:t>Permits</a:t>
            </a:r>
            <a:r>
              <a:rPr lang="en-US" noProof="0" dirty="0">
                <a:solidFill>
                  <a:srgbClr val="002060"/>
                </a:solidFill>
                <a:effectLst>
                  <a:outerShdw blurRad="38100" dist="38100" dir="2700000" algn="tl">
                    <a:srgbClr val="000000">
                      <a:alpha val="43137"/>
                    </a:srgbClr>
                  </a:outerShdw>
                </a:effectLst>
              </a:rPr>
              <a:t> (also known as licenses, consents, approvals). </a:t>
            </a:r>
            <a:r>
              <a:rPr lang="en-US" b="1" noProof="0" dirty="0">
                <a:solidFill>
                  <a:srgbClr val="0070C0"/>
                </a:solidFill>
                <a:effectLst>
                  <a:outerShdw blurRad="38100" dist="38100" dir="2700000" algn="tl">
                    <a:srgbClr val="000000">
                      <a:alpha val="43137"/>
                    </a:srgbClr>
                  </a:outerShdw>
                </a:effectLst>
              </a:rPr>
              <a:t>Must be granted </a:t>
            </a:r>
            <a:r>
              <a:rPr lang="en-US" b="1" noProof="0" dirty="0">
                <a:solidFill>
                  <a:srgbClr val="002060"/>
                </a:solidFill>
                <a:effectLst>
                  <a:outerShdw blurRad="38100" dist="38100" dir="2700000" algn="tl">
                    <a:srgbClr val="000000">
                      <a:alpha val="43137"/>
                    </a:srgbClr>
                  </a:outerShdw>
                </a:effectLst>
              </a:rPr>
              <a:t>if the petitioner meets the statutory requirements </a:t>
            </a:r>
            <a:r>
              <a:rPr lang="en-US" noProof="0" dirty="0">
                <a:solidFill>
                  <a:srgbClr val="002060"/>
                </a:solidFill>
                <a:effectLst>
                  <a:outerShdw blurRad="38100" dist="38100" dir="2700000" algn="tl">
                    <a:srgbClr val="000000">
                      <a:alpha val="43137"/>
                    </a:srgbClr>
                  </a:outerShdw>
                </a:effectLst>
              </a:rPr>
              <a:t>(theoretical model. In practice, authorities have some discretionary powers.</a:t>
            </a:r>
          </a:p>
          <a:p>
            <a:r>
              <a:rPr lang="en-US" b="1" noProof="0" dirty="0">
                <a:solidFill>
                  <a:srgbClr val="FF0000"/>
                </a:solidFill>
                <a:effectLst>
                  <a:outerShdw blurRad="38100" dist="38100" dir="2700000" algn="tl">
                    <a:srgbClr val="000000">
                      <a:alpha val="43137"/>
                    </a:srgbClr>
                  </a:outerShdw>
                </a:effectLst>
              </a:rPr>
              <a:t>Notification</a:t>
            </a:r>
            <a:r>
              <a:rPr lang="en-US" noProof="0" dirty="0">
                <a:solidFill>
                  <a:srgbClr val="002060"/>
                </a:solidFill>
                <a:effectLst>
                  <a:outerShdw blurRad="38100" dist="38100" dir="2700000" algn="tl">
                    <a:srgbClr val="000000">
                      <a:alpha val="43137"/>
                    </a:srgbClr>
                  </a:outerShdw>
                </a:effectLst>
              </a:rPr>
              <a:t> for „regulated activity” (not to be confused with a specific sector in infrastructure services, where regulators balance the interests of market players through administrative decisions, e.g., granting access to the Energy or a telecom network)</a:t>
            </a:r>
          </a:p>
          <a:p>
            <a:r>
              <a:rPr lang="en-US" noProof="0" dirty="0">
                <a:solidFill>
                  <a:srgbClr val="002060"/>
                </a:solidFill>
                <a:effectLst>
                  <a:outerShdw blurRad="38100" dist="38100" dir="2700000" algn="tl">
                    <a:srgbClr val="000000">
                      <a:alpha val="43137"/>
                    </a:srgbClr>
                  </a:outerShdw>
                </a:effectLst>
              </a:rPr>
              <a:t>The above </a:t>
            </a:r>
            <a:r>
              <a:rPr lang="pl-PL" dirty="0" err="1">
                <a:solidFill>
                  <a:srgbClr val="002060"/>
                </a:solidFill>
                <a:effectLst>
                  <a:outerShdw blurRad="38100" dist="38100" dir="2700000" algn="tl">
                    <a:srgbClr val="000000">
                      <a:alpha val="43137"/>
                    </a:srgbClr>
                  </a:outerShdw>
                </a:effectLst>
              </a:rPr>
              <a:t>are</a:t>
            </a:r>
            <a:r>
              <a:rPr lang="en-US" noProof="0" dirty="0">
                <a:solidFill>
                  <a:srgbClr val="002060"/>
                </a:solidFill>
                <a:effectLst>
                  <a:outerShdw blurRad="38100" dist="38100" dir="2700000" algn="tl">
                    <a:srgbClr val="000000">
                      <a:alpha val="43137"/>
                    </a:srgbClr>
                  </a:outerShdw>
                </a:effectLst>
              </a:rPr>
              <a:t> issued under the Code of Administrative Procedure</a:t>
            </a:r>
          </a:p>
          <a:p>
            <a:r>
              <a:rPr lang="en-US" b="1" noProof="0" dirty="0">
                <a:solidFill>
                  <a:srgbClr val="FF0000"/>
                </a:solidFill>
                <a:effectLst>
                  <a:outerShdw blurRad="38100" dist="38100" dir="2700000" algn="tl">
                    <a:srgbClr val="000000">
                      <a:alpha val="43137"/>
                    </a:srgbClr>
                  </a:outerShdw>
                </a:effectLst>
              </a:rPr>
              <a:t>Presumption of business freedom </a:t>
            </a:r>
            <a:r>
              <a:rPr lang="en-US" noProof="0" dirty="0">
                <a:solidFill>
                  <a:srgbClr val="002060"/>
                </a:solidFill>
                <a:effectLst>
                  <a:outerShdw blurRad="38100" dist="38100" dir="2700000" algn="tl">
                    <a:srgbClr val="000000">
                      <a:alpha val="43137"/>
                    </a:srgbClr>
                  </a:outerShdw>
                </a:effectLst>
              </a:rPr>
              <a:t>(the Constitution, EU law, and human rights).</a:t>
            </a:r>
            <a:endParaRPr lang="pl-PL" noProof="0"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919932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708DD9C-ABF7-FC17-E266-2318BA5B8C75}"/>
              </a:ext>
            </a:extLst>
          </p:cNvPr>
          <p:cNvSpPr>
            <a:spLocks noGrp="1"/>
          </p:cNvSpPr>
          <p:nvPr>
            <p:ph type="title"/>
          </p:nvPr>
        </p:nvSpPr>
        <p:spPr/>
        <p:txBody>
          <a:bodyPr/>
          <a:lstStyle/>
          <a:p>
            <a:r>
              <a:rPr lang="pl-PL" b="1" dirty="0" err="1">
                <a:solidFill>
                  <a:srgbClr val="FF0000"/>
                </a:solidFill>
                <a:effectLst>
                  <a:outerShdw blurRad="38100" dist="38100" dir="2700000" algn="tl">
                    <a:srgbClr val="000000">
                      <a:alpha val="43137"/>
                    </a:srgbClr>
                  </a:outerShdw>
                </a:effectLst>
              </a:rPr>
              <a:t>Indirect</a:t>
            </a:r>
            <a:r>
              <a:rPr lang="en-US" b="1" dirty="0">
                <a:solidFill>
                  <a:srgbClr val="FF0000"/>
                </a:solidFill>
                <a:effectLst>
                  <a:outerShdw blurRad="38100" dist="38100" dir="2700000" algn="tl">
                    <a:srgbClr val="000000">
                      <a:alpha val="43137"/>
                    </a:srgbClr>
                  </a:outerShdw>
                </a:effectLst>
              </a:rPr>
              <a:t> forms of </a:t>
            </a:r>
            <a:r>
              <a:rPr lang="pl-PL" b="1" dirty="0">
                <a:solidFill>
                  <a:srgbClr val="FF0000"/>
                </a:solidFill>
                <a:effectLst>
                  <a:outerShdw blurRad="38100" dist="38100" dir="2700000" algn="tl">
                    <a:srgbClr val="000000">
                      <a:alpha val="43137"/>
                    </a:srgbClr>
                  </a:outerShdw>
                </a:effectLst>
              </a:rPr>
              <a:t>business </a:t>
            </a:r>
            <a:r>
              <a:rPr lang="pl-PL" b="1" dirty="0" err="1">
                <a:solidFill>
                  <a:srgbClr val="FF0000"/>
                </a:solidFill>
                <a:effectLst>
                  <a:outerShdw blurRad="38100" dist="38100" dir="2700000" algn="tl">
                    <a:srgbClr val="000000">
                      <a:alpha val="43137"/>
                    </a:srgbClr>
                  </a:outerShdw>
                </a:effectLst>
              </a:rPr>
              <a:t>authorization</a:t>
            </a:r>
            <a:r>
              <a:rPr lang="pl-PL" b="1" dirty="0">
                <a:solidFill>
                  <a:srgbClr val="FF0000"/>
                </a:solidFill>
                <a:effectLst>
                  <a:outerShdw blurRad="38100" dist="38100" dir="2700000" algn="tl">
                    <a:srgbClr val="000000">
                      <a:alpha val="43137"/>
                    </a:srgbClr>
                  </a:outerShdw>
                </a:effectLst>
              </a:rPr>
              <a:t>: </a:t>
            </a:r>
            <a:br>
              <a:rPr lang="pl-PL" b="1" dirty="0">
                <a:solidFill>
                  <a:srgbClr val="FF0000"/>
                </a:solidFill>
                <a:effectLst>
                  <a:outerShdw blurRad="38100" dist="38100" dir="2700000" algn="tl">
                    <a:srgbClr val="000000">
                      <a:alpha val="43137"/>
                    </a:srgbClr>
                  </a:outerShdw>
                </a:effectLst>
              </a:rPr>
            </a:br>
            <a:endParaRPr lang="en-US" dirty="0"/>
          </a:p>
        </p:txBody>
      </p:sp>
      <p:sp>
        <p:nvSpPr>
          <p:cNvPr id="3" name="Symbol zastępczy zawartości 2">
            <a:extLst>
              <a:ext uri="{FF2B5EF4-FFF2-40B4-BE49-F238E27FC236}">
                <a16:creationId xmlns:a16="http://schemas.microsoft.com/office/drawing/2014/main" id="{C3C5365D-25D7-64A5-FBF1-BCF30E572805}"/>
              </a:ext>
            </a:extLst>
          </p:cNvPr>
          <p:cNvSpPr>
            <a:spLocks noGrp="1"/>
          </p:cNvSpPr>
          <p:nvPr>
            <p:ph idx="1"/>
          </p:nvPr>
        </p:nvSpPr>
        <p:spPr/>
        <p:txBody>
          <a:bodyPr/>
          <a:lstStyle/>
          <a:p>
            <a:pPr>
              <a:buFont typeface="Courier New" panose="02070309020205020404" pitchFamily="49" charset="0"/>
              <a:buChar char="o"/>
            </a:pPr>
            <a:r>
              <a:rPr lang="pl-PL" sz="2800" b="1" dirty="0">
                <a:solidFill>
                  <a:srgbClr val="FF0000"/>
                </a:solidFill>
                <a:effectLst>
                  <a:outerShdw blurRad="38100" dist="38100" dir="2700000" algn="tl">
                    <a:srgbClr val="000000">
                      <a:alpha val="43137"/>
                    </a:srgbClr>
                  </a:outerShdw>
                </a:effectLst>
              </a:rPr>
              <a:t>P</a:t>
            </a:r>
            <a:r>
              <a:rPr lang="en-US" sz="2800" b="1" dirty="0">
                <a:solidFill>
                  <a:srgbClr val="FF0000"/>
                </a:solidFill>
                <a:effectLst>
                  <a:outerShdw blurRad="38100" dist="38100" dir="2700000" algn="tl">
                    <a:srgbClr val="000000">
                      <a:alpha val="43137"/>
                    </a:srgbClr>
                  </a:outerShdw>
                </a:effectLst>
              </a:rPr>
              <a:t>lans</a:t>
            </a:r>
            <a:r>
              <a:rPr lang="en-US" sz="2800" dirty="0">
                <a:solidFill>
                  <a:srgbClr val="002060"/>
                </a:solidFill>
                <a:effectLst>
                  <a:outerShdw blurRad="38100" dist="38100" dir="2700000" algn="tl">
                    <a:srgbClr val="000000">
                      <a:alpha val="43137"/>
                    </a:srgbClr>
                  </a:outerShdw>
                </a:effectLst>
              </a:rPr>
              <a:t>, strategies, conceptual programs, assumptions, studies, reports, analyses, assessments, </a:t>
            </a:r>
            <a:r>
              <a:rPr lang="pl-PL" sz="2800" dirty="0">
                <a:solidFill>
                  <a:srgbClr val="002060"/>
                </a:solidFill>
                <a:effectLst>
                  <a:outerShdw blurRad="38100" dist="38100" dir="2700000" algn="tl">
                    <a:srgbClr val="000000">
                      <a:alpha val="43137"/>
                    </a:srgbClr>
                  </a:outerShdw>
                </a:effectLst>
              </a:rPr>
              <a:t>and </a:t>
            </a:r>
            <a:r>
              <a:rPr lang="en-US" sz="2800" dirty="0">
                <a:solidFill>
                  <a:srgbClr val="002060"/>
                </a:solidFill>
                <a:effectLst>
                  <a:outerShdw blurRad="38100" dist="38100" dir="2700000" algn="tl">
                    <a:srgbClr val="000000">
                      <a:alpha val="43137"/>
                    </a:srgbClr>
                  </a:outerShdw>
                </a:effectLst>
              </a:rPr>
              <a:t>radio frequency allocation</a:t>
            </a:r>
          </a:p>
          <a:p>
            <a:pPr>
              <a:buFont typeface="Courier New" panose="02070309020205020404" pitchFamily="49" charset="0"/>
              <a:buChar char="o"/>
            </a:pPr>
            <a:r>
              <a:rPr lang="en-US" sz="2800" b="1" dirty="0">
                <a:solidFill>
                  <a:srgbClr val="FF0000"/>
                </a:solidFill>
                <a:effectLst>
                  <a:outerShdw blurRad="38100" dist="38100" dir="2700000" algn="tl">
                    <a:srgbClr val="000000">
                      <a:alpha val="43137"/>
                    </a:srgbClr>
                  </a:outerShdw>
                </a:effectLst>
              </a:rPr>
              <a:t>Qualification acts </a:t>
            </a:r>
            <a:r>
              <a:rPr lang="en-US" sz="2800" dirty="0">
                <a:solidFill>
                  <a:srgbClr val="002060"/>
                </a:solidFill>
                <a:effectLst>
                  <a:outerShdw blurRad="38100" dist="38100" dir="2700000" algn="tl">
                    <a:srgbClr val="000000">
                      <a:alpha val="43137"/>
                    </a:srgbClr>
                  </a:outerShdw>
                </a:effectLst>
              </a:rPr>
              <a:t>– certificates</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important</a:t>
            </a:r>
            <a:r>
              <a:rPr lang="pl-PL" sz="2800" dirty="0">
                <a:solidFill>
                  <a:srgbClr val="002060"/>
                </a:solidFill>
                <a:effectLst>
                  <a:outerShdw blurRad="38100" dist="38100" dir="2700000" algn="tl">
                    <a:srgbClr val="000000">
                      <a:alpha val="43137"/>
                    </a:srgbClr>
                  </a:outerShdw>
                </a:effectLst>
              </a:rPr>
              <a:t> for the pharmaceutical and </a:t>
            </a:r>
            <a:r>
              <a:rPr lang="pl-PL" sz="2800" dirty="0" err="1">
                <a:solidFill>
                  <a:srgbClr val="002060"/>
                </a:solidFill>
                <a:effectLst>
                  <a:outerShdw blurRad="38100" dist="38100" dir="2700000" algn="tl">
                    <a:srgbClr val="000000">
                      <a:alpha val="43137"/>
                    </a:srgbClr>
                  </a:outerShdw>
                </a:effectLst>
              </a:rPr>
              <a:t>medical</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industry</a:t>
            </a:r>
            <a:r>
              <a:rPr lang="pl-PL" sz="2800" dirty="0">
                <a:solidFill>
                  <a:srgbClr val="002060"/>
                </a:solidFill>
                <a:effectLst>
                  <a:outerShdw blurRad="38100" dist="38100" dir="2700000" algn="tl">
                    <a:srgbClr val="000000">
                      <a:alpha val="43137"/>
                    </a:srgbClr>
                  </a:outerShdw>
                </a:effectLst>
              </a:rPr>
              <a:t>, and </a:t>
            </a:r>
            <a:r>
              <a:rPr lang="pl-PL" sz="2800" dirty="0" err="1">
                <a:solidFill>
                  <a:srgbClr val="002060"/>
                </a:solidFill>
                <a:effectLst>
                  <a:outerShdw blurRad="38100" dist="38100" dir="2700000" algn="tl">
                    <a:srgbClr val="000000">
                      <a:alpha val="43137"/>
                    </a:srgbClr>
                  </a:outerShdw>
                </a:effectLst>
              </a:rPr>
              <a:t>many</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others</a:t>
            </a:r>
            <a:r>
              <a:rPr lang="pl-PL" sz="2800" dirty="0">
                <a:solidFill>
                  <a:srgbClr val="002060"/>
                </a:solidFill>
                <a:effectLst>
                  <a:outerShdw blurRad="38100" dist="38100" dir="2700000" algn="tl">
                    <a:srgbClr val="000000">
                      <a:alpha val="43137"/>
                    </a:srgbClr>
                  </a:outerShdw>
                </a:effectLst>
              </a:rPr>
              <a:t>)</a:t>
            </a:r>
            <a:endParaRPr lang="en-US" sz="2800" dirty="0">
              <a:solidFill>
                <a:srgbClr val="002060"/>
              </a:solidFill>
              <a:effectLst>
                <a:outerShdw blurRad="38100" dist="38100" dir="2700000" algn="tl">
                  <a:srgbClr val="000000">
                    <a:alpha val="43137"/>
                  </a:srgbClr>
                </a:outerShdw>
              </a:effectLst>
            </a:endParaRPr>
          </a:p>
          <a:p>
            <a:pPr>
              <a:buFont typeface="Courier New" panose="02070309020205020404" pitchFamily="49" charset="0"/>
              <a:buChar char="o"/>
            </a:pPr>
            <a:r>
              <a:rPr lang="en-US" sz="2800" b="1" dirty="0">
                <a:solidFill>
                  <a:srgbClr val="FF0000"/>
                </a:solidFill>
                <a:effectLst>
                  <a:outerShdw blurRad="38100" dist="38100" dir="2700000" algn="tl">
                    <a:srgbClr val="000000">
                      <a:alpha val="43137"/>
                    </a:srgbClr>
                  </a:outerShdw>
                </a:effectLst>
              </a:rPr>
              <a:t>Free activity </a:t>
            </a:r>
            <a:r>
              <a:rPr lang="en-US" sz="2800" dirty="0">
                <a:solidFill>
                  <a:srgbClr val="002060"/>
                </a:solidFill>
                <a:effectLst>
                  <a:outerShdw blurRad="38100" dist="38100" dir="2700000" algn="tl">
                    <a:srgbClr val="000000">
                      <a:alpha val="43137"/>
                    </a:srgbClr>
                  </a:outerShdw>
                </a:effectLst>
              </a:rPr>
              <a:t>(no regulation of business or other activity – but </a:t>
            </a:r>
            <a:r>
              <a:rPr lang="en-US" sz="2800" b="1" dirty="0">
                <a:solidFill>
                  <a:srgbClr val="002060"/>
                </a:solidFill>
                <a:effectLst>
                  <a:outerShdw blurRad="38100" dist="38100" dir="2700000" algn="tl">
                    <a:srgbClr val="000000">
                      <a:alpha val="43137"/>
                    </a:srgbClr>
                  </a:outerShdw>
                </a:effectLst>
              </a:rPr>
              <a:t>remains registered as a company</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also</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subject</a:t>
            </a:r>
            <a:r>
              <a:rPr lang="pl-PL" sz="2800" dirty="0">
                <a:solidFill>
                  <a:srgbClr val="002060"/>
                </a:solidFill>
                <a:effectLst>
                  <a:outerShdw blurRad="38100" dist="38100" dir="2700000" algn="tl">
                    <a:srgbClr val="000000">
                      <a:alpha val="43137"/>
                    </a:srgbClr>
                  </a:outerShdw>
                </a:effectLst>
              </a:rPr>
              <a:t> to </a:t>
            </a:r>
            <a:r>
              <a:rPr lang="pl-PL" sz="2800" b="1" dirty="0" err="1">
                <a:solidFill>
                  <a:srgbClr val="002060"/>
                </a:solidFill>
                <a:effectLst>
                  <a:outerShdw blurRad="38100" dist="38100" dir="2700000" algn="tl">
                    <a:srgbClr val="000000">
                      <a:alpha val="43137"/>
                    </a:srgbClr>
                  </a:outerShdw>
                </a:effectLst>
              </a:rPr>
              <a:t>control</a:t>
            </a:r>
            <a:r>
              <a:rPr lang="pl-PL" sz="2800" b="1" dirty="0">
                <a:solidFill>
                  <a:srgbClr val="002060"/>
                </a:solidFill>
                <a:effectLst>
                  <a:outerShdw blurRad="38100" dist="38100" dir="2700000" algn="tl">
                    <a:srgbClr val="000000">
                      <a:alpha val="43137"/>
                    </a:srgbClr>
                  </a:outerShdw>
                </a:effectLst>
              </a:rPr>
              <a:t> </a:t>
            </a:r>
            <a:r>
              <a:rPr lang="pl-PL" sz="2800" dirty="0">
                <a:solidFill>
                  <a:srgbClr val="002060"/>
                </a:solidFill>
                <a:effectLst>
                  <a:outerShdw blurRad="38100" dist="38100" dir="2700000" algn="tl">
                    <a:srgbClr val="000000">
                      <a:alpha val="43137"/>
                    </a:srgbClr>
                  </a:outerShdw>
                </a:effectLst>
              </a:rPr>
              <a:t>from the point of </a:t>
            </a:r>
            <a:r>
              <a:rPr lang="pl-PL" sz="2800" dirty="0" err="1">
                <a:solidFill>
                  <a:srgbClr val="002060"/>
                </a:solidFill>
                <a:effectLst>
                  <a:outerShdw blurRad="38100" dist="38100" dir="2700000" algn="tl">
                    <a:srgbClr val="000000">
                      <a:alpha val="43137"/>
                    </a:srgbClr>
                  </a:outerShdw>
                </a:effectLst>
              </a:rPr>
              <a:t>view</a:t>
            </a:r>
            <a:r>
              <a:rPr lang="pl-PL" sz="2800" dirty="0">
                <a:solidFill>
                  <a:srgbClr val="002060"/>
                </a:solidFill>
                <a:effectLst>
                  <a:outerShdw blurRad="38100" dist="38100" dir="2700000" algn="tl">
                    <a:srgbClr val="000000">
                      <a:alpha val="43137"/>
                    </a:srgbClr>
                  </a:outerShdw>
                </a:effectLst>
              </a:rPr>
              <a:t> of </a:t>
            </a:r>
            <a:r>
              <a:rPr lang="pl-PL" sz="2800" dirty="0" err="1">
                <a:solidFill>
                  <a:srgbClr val="002060"/>
                </a:solidFill>
                <a:effectLst>
                  <a:outerShdw blurRad="38100" dist="38100" dir="2700000" algn="tl">
                    <a:srgbClr val="000000">
                      <a:alpha val="43137"/>
                    </a:srgbClr>
                  </a:outerShdw>
                </a:effectLst>
              </a:rPr>
              <a:t>sanitation</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workers</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rights</a:t>
            </a:r>
            <a:r>
              <a:rPr lang="pl-PL" sz="2800" dirty="0">
                <a:solidFill>
                  <a:srgbClr val="002060"/>
                </a:solidFill>
                <a:effectLst>
                  <a:outerShdw blurRad="38100" dist="38100" dir="2700000" algn="tl">
                    <a:srgbClr val="000000">
                      <a:alpha val="43137"/>
                    </a:srgbClr>
                  </a:outerShdw>
                </a:effectLst>
              </a:rPr>
              <a:t>, and </a:t>
            </a:r>
            <a:r>
              <a:rPr lang="pl-PL" sz="2800" dirty="0" err="1">
                <a:solidFill>
                  <a:srgbClr val="002060"/>
                </a:solidFill>
                <a:effectLst>
                  <a:outerShdw blurRad="38100" dist="38100" dir="2700000" algn="tl">
                    <a:srgbClr val="000000">
                      <a:alpha val="43137"/>
                    </a:srgbClr>
                  </a:outerShdw>
                </a:effectLst>
              </a:rPr>
              <a:t>many</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other</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issues</a:t>
            </a:r>
            <a:r>
              <a:rPr lang="pl-PL" sz="2800" dirty="0">
                <a:solidFill>
                  <a:srgbClr val="002060"/>
                </a:solidFill>
                <a:effectLst>
                  <a:outerShdw blurRad="38100" dist="38100" dir="2700000" algn="tl">
                    <a:srgbClr val="000000">
                      <a:alpha val="43137"/>
                    </a:srgbClr>
                  </a:outerShdw>
                </a:effectLst>
              </a:rPr>
              <a:t> – </a:t>
            </a:r>
            <a:r>
              <a:rPr lang="pl-PL" sz="2800" dirty="0" err="1">
                <a:solidFill>
                  <a:srgbClr val="002060"/>
                </a:solidFill>
                <a:effectLst>
                  <a:outerShdw blurRad="38100" dist="38100" dir="2700000" algn="tl">
                    <a:srgbClr val="000000">
                      <a:alpha val="43137"/>
                    </a:srgbClr>
                  </a:outerShdw>
                </a:effectLst>
              </a:rPr>
              <a:t>there</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are</a:t>
            </a:r>
            <a:r>
              <a:rPr lang="pl-PL" sz="2800" dirty="0">
                <a:solidFill>
                  <a:srgbClr val="002060"/>
                </a:solidFill>
                <a:effectLst>
                  <a:outerShdw blurRad="38100" dist="38100" dir="2700000" algn="tl">
                    <a:srgbClr val="000000">
                      <a:alpha val="43137"/>
                    </a:srgbClr>
                  </a:outerShdw>
                </a:effectLst>
              </a:rPr>
              <a:t> </a:t>
            </a:r>
            <a:r>
              <a:rPr lang="pl-PL" sz="2800" dirty="0" err="1">
                <a:solidFill>
                  <a:srgbClr val="002060"/>
                </a:solidFill>
                <a:effectLst>
                  <a:outerShdw blurRad="38100" dist="38100" dir="2700000" algn="tl">
                    <a:srgbClr val="000000">
                      <a:alpha val="43137"/>
                    </a:srgbClr>
                  </a:outerShdw>
                </a:effectLst>
              </a:rPr>
              <a:t>about</a:t>
            </a:r>
            <a:r>
              <a:rPr lang="pl-PL" sz="2800" dirty="0">
                <a:solidFill>
                  <a:srgbClr val="002060"/>
                </a:solidFill>
                <a:effectLst>
                  <a:outerShdw blurRad="38100" dist="38100" dir="2700000" algn="tl">
                    <a:srgbClr val="000000">
                      <a:alpha val="43137"/>
                    </a:srgbClr>
                  </a:outerShdw>
                </a:effectLst>
              </a:rPr>
              <a:t> 50 </a:t>
            </a:r>
            <a:r>
              <a:rPr lang="pl-PL" sz="2800" dirty="0" err="1">
                <a:solidFill>
                  <a:srgbClr val="002060"/>
                </a:solidFill>
                <a:effectLst>
                  <a:outerShdw blurRad="38100" dist="38100" dir="2700000" algn="tl">
                    <a:srgbClr val="000000">
                      <a:alpha val="43137"/>
                    </a:srgbClr>
                  </a:outerShdw>
                </a:effectLst>
              </a:rPr>
              <a:t>inspectorates</a:t>
            </a:r>
            <a:r>
              <a:rPr lang="pl-PL" sz="2800" dirty="0">
                <a:solidFill>
                  <a:srgbClr val="002060"/>
                </a:solidFill>
                <a:effectLst>
                  <a:outerShdw blurRad="38100" dist="38100" dir="2700000" algn="tl">
                    <a:srgbClr val="000000">
                      <a:alpha val="43137"/>
                    </a:srgbClr>
                  </a:outerShdw>
                </a:effectLst>
              </a:rPr>
              <a:t>)</a:t>
            </a:r>
            <a:endParaRPr lang="en-US" sz="2800"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61152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E5149E1-1B68-A68F-EB11-21E681C958FC}"/>
              </a:ext>
            </a:extLst>
          </p:cNvPr>
          <p:cNvSpPr>
            <a:spLocks noGrp="1"/>
          </p:cNvSpPr>
          <p:nvPr>
            <p:ph type="title"/>
          </p:nvPr>
        </p:nvSpPr>
        <p:spPr/>
        <p:txBody>
          <a:bodyPr/>
          <a:lstStyle/>
          <a:p>
            <a:r>
              <a:rPr lang="pl-PL" dirty="0" err="1">
                <a:solidFill>
                  <a:srgbClr val="FF0000"/>
                </a:solidFill>
                <a:effectLst>
                  <a:outerShdw blurRad="38100" dist="38100" dir="2700000" algn="tl">
                    <a:srgbClr val="000000">
                      <a:alpha val="43137"/>
                    </a:srgbClr>
                  </a:outerShdw>
                </a:effectLst>
                <a:highlight>
                  <a:srgbClr val="00FF00"/>
                </a:highlight>
              </a:rPr>
              <a:t>State</a:t>
            </a:r>
            <a:r>
              <a:rPr lang="pl-PL" dirty="0">
                <a:solidFill>
                  <a:srgbClr val="FF0000"/>
                </a:solidFill>
                <a:effectLst>
                  <a:outerShdw blurRad="38100" dist="38100" dir="2700000" algn="tl">
                    <a:srgbClr val="000000">
                      <a:alpha val="43137"/>
                    </a:srgbClr>
                  </a:outerShdw>
                </a:effectLst>
                <a:highlight>
                  <a:srgbClr val="00FF00"/>
                </a:highlight>
              </a:rPr>
              <a:t> </a:t>
            </a:r>
            <a:r>
              <a:rPr lang="pl-PL" dirty="0" err="1">
                <a:solidFill>
                  <a:srgbClr val="FF0000"/>
                </a:solidFill>
                <a:effectLst>
                  <a:outerShdw blurRad="38100" dist="38100" dir="2700000" algn="tl">
                    <a:srgbClr val="000000">
                      <a:alpha val="43137"/>
                    </a:srgbClr>
                  </a:outerShdw>
                </a:effectLst>
                <a:highlight>
                  <a:srgbClr val="00FF00"/>
                </a:highlight>
              </a:rPr>
              <a:t>monopoly</a:t>
            </a:r>
            <a:endParaRPr lang="en-US" dirty="0">
              <a:solidFill>
                <a:srgbClr val="FF0000"/>
              </a:solidFill>
              <a:effectLst>
                <a:outerShdw blurRad="38100" dist="38100" dir="2700000" algn="tl">
                  <a:srgbClr val="000000">
                    <a:alpha val="43137"/>
                  </a:srgbClr>
                </a:outerShdw>
              </a:effectLst>
              <a:highlight>
                <a:srgbClr val="00FF00"/>
              </a:highlight>
            </a:endParaRPr>
          </a:p>
        </p:txBody>
      </p:sp>
      <p:sp>
        <p:nvSpPr>
          <p:cNvPr id="3" name="Symbol zastępczy zawartości 2">
            <a:extLst>
              <a:ext uri="{FF2B5EF4-FFF2-40B4-BE49-F238E27FC236}">
                <a16:creationId xmlns:a16="http://schemas.microsoft.com/office/drawing/2014/main" id="{CBC8BE17-175A-89C4-B167-6DEFBF1DDF23}"/>
              </a:ext>
            </a:extLst>
          </p:cNvPr>
          <p:cNvSpPr>
            <a:spLocks noGrp="1"/>
          </p:cNvSpPr>
          <p:nvPr>
            <p:ph idx="1"/>
          </p:nvPr>
        </p:nvSpPr>
        <p:spPr/>
        <p:txBody>
          <a:bodyPr>
            <a:normAutofit lnSpcReduction="10000"/>
          </a:bodyPr>
          <a:lstStyle/>
          <a:p>
            <a:r>
              <a:rPr lang="en-US" b="1" dirty="0">
                <a:solidFill>
                  <a:srgbClr val="002060"/>
                </a:solidFill>
              </a:rPr>
              <a:t>Some areas of economic activity are subject to </a:t>
            </a:r>
            <a:r>
              <a:rPr lang="en-US" b="1" dirty="0">
                <a:solidFill>
                  <a:srgbClr val="FF0000"/>
                </a:solidFill>
                <a:effectLst>
                  <a:outerShdw blurRad="38100" dist="38100" dir="2700000" algn="tl">
                    <a:srgbClr val="000000">
                      <a:alpha val="43137"/>
                    </a:srgbClr>
                  </a:outerShdw>
                </a:effectLst>
                <a:highlight>
                  <a:srgbClr val="00FF00"/>
                </a:highlight>
              </a:rPr>
              <a:t>state monopoly</a:t>
            </a:r>
            <a:r>
              <a:rPr lang="en-US" b="1" dirty="0">
                <a:solidFill>
                  <a:srgbClr val="002060"/>
                </a:solidFill>
              </a:rPr>
              <a:t>.</a:t>
            </a:r>
          </a:p>
          <a:p>
            <a:pPr marL="0" indent="0">
              <a:buNone/>
            </a:pPr>
            <a:r>
              <a:rPr lang="en-US" dirty="0">
                <a:solidFill>
                  <a:srgbClr val="002060"/>
                </a:solidFill>
                <a:effectLst>
                  <a:outerShdw blurRad="38100" dist="38100" dir="2700000" algn="tl">
                    <a:srgbClr val="000000">
                      <a:alpha val="43137"/>
                    </a:srgbClr>
                  </a:outerShdw>
                </a:effectLst>
              </a:rPr>
              <a:t>Gambling and lotteries</a:t>
            </a:r>
          </a:p>
          <a:p>
            <a:r>
              <a:rPr lang="en-US" dirty="0">
                <a:solidFill>
                  <a:srgbClr val="002060"/>
                </a:solidFill>
                <a:effectLst>
                  <a:outerShdw blurRad="38100" dist="38100" dir="2700000" algn="tl">
                    <a:srgbClr val="000000">
                      <a:alpha val="43137"/>
                    </a:srgbClr>
                  </a:outerShdw>
                </a:effectLst>
              </a:rPr>
              <a:t>This is the most formalized area of ​​monopoly, regulated by the Gambling Act. The state has exclusive rights to:</a:t>
            </a:r>
          </a:p>
          <a:p>
            <a:r>
              <a:rPr lang="en-US" dirty="0">
                <a:solidFill>
                  <a:srgbClr val="002060"/>
                </a:solidFill>
                <a:effectLst>
                  <a:outerShdw blurRad="38100" dist="38100" dir="2700000" algn="tl">
                    <a:srgbClr val="000000">
                      <a:alpha val="43137"/>
                    </a:srgbClr>
                  </a:outerShdw>
                </a:effectLst>
              </a:rPr>
              <a:t>Drawing games and cash lotteries: This includes popular games like Lotto, organized by Totalizator </a:t>
            </a:r>
            <a:r>
              <a:rPr lang="en-US" dirty="0" err="1">
                <a:solidFill>
                  <a:srgbClr val="002060"/>
                </a:solidFill>
                <a:effectLst>
                  <a:outerShdw blurRad="38100" dist="38100" dir="2700000" algn="tl">
                    <a:srgbClr val="000000">
                      <a:alpha val="43137"/>
                    </a:srgbClr>
                  </a:outerShdw>
                </a:effectLst>
              </a:rPr>
              <a:t>Sportowy</a:t>
            </a:r>
            <a:r>
              <a:rPr lang="en-US"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Slot machine games outside casinos: May only be operated in gaming halls owned by a state-owned company.</a:t>
            </a:r>
          </a:p>
          <a:p>
            <a:r>
              <a:rPr lang="en-US" dirty="0">
                <a:solidFill>
                  <a:srgbClr val="002060"/>
                </a:solidFill>
                <a:effectLst>
                  <a:outerShdw blurRad="38100" dist="38100" dir="2700000" algn="tl">
                    <a:srgbClr val="000000">
                      <a:alpha val="43137"/>
                    </a:srgbClr>
                  </a:outerShdw>
                </a:effectLst>
              </a:rPr>
              <a:t>Online casinos: The operation of online casino games (excluding mutual betting and promotional lotteries) is reserved for the state.</a:t>
            </a:r>
            <a:endParaRPr lang="pl-PL" dirty="0">
              <a:solidFill>
                <a:srgbClr val="002060"/>
              </a:solidFill>
              <a:effectLst>
                <a:outerShdw blurRad="38100" dist="38100" dir="2700000" algn="tl">
                  <a:srgbClr val="000000">
                    <a:alpha val="43137"/>
                  </a:srgbClr>
                </a:outerShdw>
              </a:effectLst>
            </a:endParaRPr>
          </a:p>
          <a:p>
            <a:r>
              <a:rPr lang="pl-PL" b="1" dirty="0" err="1">
                <a:solidFill>
                  <a:srgbClr val="FF0000"/>
                </a:solidFill>
                <a:effectLst>
                  <a:outerShdw blurRad="38100" dist="38100" dir="2700000" algn="tl">
                    <a:srgbClr val="000000">
                      <a:alpha val="43137"/>
                    </a:srgbClr>
                  </a:outerShdw>
                </a:effectLst>
              </a:rPr>
              <a:t>Poststamps</a:t>
            </a:r>
            <a:r>
              <a:rPr lang="pl-PL" b="1" dirty="0">
                <a:solidFill>
                  <a:srgbClr val="FF000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monopoly</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conducted</a:t>
            </a:r>
            <a:r>
              <a:rPr lang="pl-PL" dirty="0">
                <a:solidFill>
                  <a:srgbClr val="002060"/>
                </a:solidFill>
                <a:effectLst>
                  <a:outerShdw blurRad="38100" dist="38100" dir="2700000" algn="tl">
                    <a:srgbClr val="000000">
                      <a:alpha val="43137"/>
                    </a:srgbClr>
                  </a:outerShdw>
                </a:effectLst>
              </a:rPr>
              <a:t> by the </a:t>
            </a:r>
            <a:r>
              <a:rPr lang="pl-PL" dirty="0" err="1">
                <a:solidFill>
                  <a:srgbClr val="002060"/>
                </a:solidFill>
                <a:effectLst>
                  <a:outerShdw blurRad="38100" dist="38100" dir="2700000" algn="tl">
                    <a:srgbClr val="000000">
                      <a:alpha val="43137"/>
                    </a:srgbClr>
                  </a:outerShdw>
                </a:effectLst>
              </a:rPr>
              <a:t>state</a:t>
            </a:r>
            <a:r>
              <a:rPr lang="pl-PL" dirty="0">
                <a:solidFill>
                  <a:srgbClr val="002060"/>
                </a:solidFill>
                <a:effectLst>
                  <a:outerShdw blurRad="38100" dist="38100" dir="2700000" algn="tl">
                    <a:srgbClr val="000000">
                      <a:alpha val="43137"/>
                    </a:srgbClr>
                  </a:outerShdw>
                </a:effectLst>
              </a:rPr>
              <a:t> Post Office</a:t>
            </a:r>
            <a:endParaRPr lang="en-US"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1611627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BBE5E00-3D1E-3753-25B9-711891C4D228}"/>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highlight>
                  <a:srgbClr val="00FF00"/>
                </a:highlight>
              </a:rPr>
              <a:t>PERMITS (</a:t>
            </a:r>
            <a:r>
              <a:rPr lang="pl-PL" dirty="0" err="1">
                <a:solidFill>
                  <a:srgbClr val="FF0000"/>
                </a:solidFill>
                <a:effectLst>
                  <a:outerShdw blurRad="38100" dist="38100" dir="2700000" algn="tl">
                    <a:srgbClr val="000000">
                      <a:alpha val="43137"/>
                    </a:srgbClr>
                  </a:outerShdw>
                </a:effectLst>
                <a:highlight>
                  <a:srgbClr val="00FF00"/>
                </a:highlight>
              </a:rPr>
              <a:t>examples</a:t>
            </a:r>
            <a:r>
              <a:rPr lang="pl-PL" dirty="0">
                <a:solidFill>
                  <a:srgbClr val="FF0000"/>
                </a:solidFill>
                <a:effectLst>
                  <a:outerShdw blurRad="38100" dist="38100" dir="2700000" algn="tl">
                    <a:srgbClr val="000000">
                      <a:alpha val="43137"/>
                    </a:srgbClr>
                  </a:outerShdw>
                </a:effectLst>
                <a:highlight>
                  <a:srgbClr val="00FF00"/>
                </a:highlight>
              </a:rPr>
              <a:t>)</a:t>
            </a:r>
            <a:endParaRPr lang="en-US" dirty="0">
              <a:solidFill>
                <a:srgbClr val="FF0000"/>
              </a:solidFill>
              <a:effectLst>
                <a:outerShdw blurRad="38100" dist="38100" dir="2700000" algn="tl">
                  <a:srgbClr val="000000">
                    <a:alpha val="43137"/>
                  </a:srgbClr>
                </a:outerShdw>
              </a:effectLst>
              <a:highlight>
                <a:srgbClr val="00FF00"/>
              </a:highlight>
            </a:endParaRPr>
          </a:p>
        </p:txBody>
      </p:sp>
      <p:sp>
        <p:nvSpPr>
          <p:cNvPr id="3" name="Symbol zastępczy zawartości 2">
            <a:extLst>
              <a:ext uri="{FF2B5EF4-FFF2-40B4-BE49-F238E27FC236}">
                <a16:creationId xmlns:a16="http://schemas.microsoft.com/office/drawing/2014/main" id="{EB3D31B5-4B05-A649-3737-23E00A25F392}"/>
              </a:ext>
            </a:extLst>
          </p:cNvPr>
          <p:cNvSpPr>
            <a:spLocks noGrp="1"/>
          </p:cNvSpPr>
          <p:nvPr>
            <p:ph idx="1"/>
          </p:nvPr>
        </p:nvSpPr>
        <p:spPr/>
        <p:txBody>
          <a:bodyPr>
            <a:normAutofit/>
          </a:bodyPr>
          <a:lstStyle/>
          <a:p>
            <a:pPr marL="0" indent="0">
              <a:buNone/>
            </a:pPr>
            <a:r>
              <a:rPr lang="pl-PL" b="1" dirty="0" err="1">
                <a:solidFill>
                  <a:srgbClr val="002060"/>
                </a:solidFill>
                <a:effectLst>
                  <a:outerShdw blurRad="38100" dist="38100" dir="2700000" algn="tl">
                    <a:srgbClr val="000000">
                      <a:alpha val="43137"/>
                    </a:srgbClr>
                  </a:outerShdw>
                </a:effectLst>
              </a:rPr>
              <a:t>Examples</a:t>
            </a:r>
            <a:r>
              <a:rPr lang="pl-PL" b="1" dirty="0">
                <a:solidFill>
                  <a:srgbClr val="002060"/>
                </a:solidFill>
                <a:effectLst>
                  <a:outerShdw blurRad="38100" dist="38100" dir="2700000" algn="tl">
                    <a:srgbClr val="000000">
                      <a:alpha val="43137"/>
                    </a:srgbClr>
                  </a:outerShdw>
                </a:effectLst>
              </a:rPr>
              <a:t> of business </a:t>
            </a:r>
            <a:r>
              <a:rPr lang="pl-PL" b="1" dirty="0" err="1">
                <a:solidFill>
                  <a:srgbClr val="002060"/>
                </a:solidFill>
                <a:effectLst>
                  <a:outerShdw blurRad="38100" dist="38100" dir="2700000" algn="tl">
                    <a:srgbClr val="000000">
                      <a:alpha val="43137"/>
                    </a:srgbClr>
                  </a:outerShdw>
                </a:effectLst>
              </a:rPr>
              <a:t>activities</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that</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require</a:t>
            </a:r>
            <a:r>
              <a:rPr lang="pl-PL" b="1" dirty="0">
                <a:solidFill>
                  <a:srgbClr val="002060"/>
                </a:solidFill>
                <a:effectLst>
                  <a:outerShdw blurRad="38100" dist="38100" dir="2700000" algn="tl">
                    <a:srgbClr val="000000">
                      <a:alpha val="43137"/>
                    </a:srgbClr>
                  </a:outerShdw>
                </a:effectLst>
              </a:rPr>
              <a:t> </a:t>
            </a:r>
            <a:r>
              <a:rPr lang="pl-PL" b="1" dirty="0">
                <a:solidFill>
                  <a:srgbClr val="FF0000"/>
                </a:solidFill>
                <a:effectLst>
                  <a:outerShdw blurRad="38100" dist="38100" dir="2700000" algn="tl">
                    <a:srgbClr val="000000">
                      <a:alpha val="43137"/>
                    </a:srgbClr>
                  </a:outerShdw>
                </a:effectLst>
              </a:rPr>
              <a:t>a </a:t>
            </a:r>
            <a:r>
              <a:rPr lang="pl-PL" b="1" dirty="0" err="1">
                <a:solidFill>
                  <a:srgbClr val="FF0000"/>
                </a:solidFill>
                <a:effectLst>
                  <a:outerShdw blurRad="38100" dist="38100" dir="2700000" algn="tl">
                    <a:srgbClr val="000000">
                      <a:alpha val="43137"/>
                    </a:srgbClr>
                  </a:outerShdw>
                </a:effectLst>
              </a:rPr>
              <a:t>permit</a:t>
            </a:r>
            <a:r>
              <a:rPr lang="pl-PL" b="1" dirty="0">
                <a:solidFill>
                  <a:srgbClr val="FF000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Retail sale of </a:t>
            </a:r>
            <a:r>
              <a:rPr lang="en-US" b="1" dirty="0">
                <a:solidFill>
                  <a:srgbClr val="002060"/>
                </a:solidFill>
                <a:effectLst>
                  <a:outerShdw blurRad="38100" dist="38100" dir="2700000" algn="tl">
                    <a:srgbClr val="000000">
                      <a:alpha val="43137"/>
                    </a:srgbClr>
                  </a:outerShdw>
                </a:effectLst>
              </a:rPr>
              <a:t>alcohol</a:t>
            </a:r>
          </a:p>
          <a:p>
            <a:r>
              <a:rPr lang="en-US" dirty="0">
                <a:solidFill>
                  <a:srgbClr val="002060"/>
                </a:solidFill>
                <a:effectLst>
                  <a:outerShdw blurRad="38100" dist="38100" dir="2700000" algn="tl">
                    <a:srgbClr val="000000">
                      <a:alpha val="43137"/>
                    </a:srgbClr>
                  </a:outerShdw>
                </a:effectLst>
              </a:rPr>
              <a:t>Wholesale sale of alcohol up to 18% alcohol</a:t>
            </a:r>
          </a:p>
          <a:p>
            <a:r>
              <a:rPr lang="en-US" dirty="0">
                <a:solidFill>
                  <a:srgbClr val="002060"/>
                </a:solidFill>
                <a:effectLst>
                  <a:outerShdw blurRad="38100" dist="38100" dir="2700000" algn="tl">
                    <a:srgbClr val="000000">
                      <a:alpha val="43137"/>
                    </a:srgbClr>
                  </a:outerShdw>
                </a:effectLst>
              </a:rPr>
              <a:t>Wholesale sale of alcohol above 18% alcohol</a:t>
            </a:r>
          </a:p>
          <a:p>
            <a:r>
              <a:rPr lang="en-US" dirty="0">
                <a:solidFill>
                  <a:srgbClr val="002060"/>
                </a:solidFill>
                <a:effectLst>
                  <a:outerShdw blurRad="38100" dist="38100" dir="2700000" algn="tl">
                    <a:srgbClr val="000000">
                      <a:alpha val="43137"/>
                    </a:srgbClr>
                  </a:outerShdw>
                </a:effectLst>
              </a:rPr>
              <a:t>Sale of alcohol at private events</a:t>
            </a:r>
          </a:p>
          <a:p>
            <a:r>
              <a:rPr lang="en-US" dirty="0">
                <a:solidFill>
                  <a:srgbClr val="002060"/>
                </a:solidFill>
                <a:effectLst>
                  <a:outerShdw blurRad="38100" dist="38100" dir="2700000" algn="tl">
                    <a:srgbClr val="000000">
                      <a:alpha val="43137"/>
                    </a:srgbClr>
                  </a:outerShdw>
                </a:effectLst>
              </a:rPr>
              <a:t>Wholesale sale of alcoholic beverages up to 18% alcohol</a:t>
            </a:r>
          </a:p>
          <a:p>
            <a:r>
              <a:rPr lang="en-US" dirty="0">
                <a:solidFill>
                  <a:srgbClr val="002060"/>
                </a:solidFill>
                <a:effectLst>
                  <a:outerShdw blurRad="38100" dist="38100" dir="2700000" algn="tl">
                    <a:srgbClr val="000000">
                      <a:alpha val="43137"/>
                    </a:srgbClr>
                  </a:outerShdw>
                </a:effectLst>
              </a:rPr>
              <a:t>Retail sale of alcoholic beverages intended for consumption on or off the premises</a:t>
            </a:r>
          </a:p>
          <a:p>
            <a:r>
              <a:rPr lang="en-US" dirty="0">
                <a:solidFill>
                  <a:srgbClr val="002060"/>
                </a:solidFill>
                <a:effectLst>
                  <a:outerShdw blurRad="38100" dist="38100" dir="2700000" algn="tl">
                    <a:srgbClr val="000000">
                      <a:alpha val="43137"/>
                    </a:srgbClr>
                  </a:outerShdw>
                </a:effectLst>
              </a:rPr>
              <a:t>Wholesale sale of alcoholic beverages above 18% alcohol</a:t>
            </a:r>
            <a:endParaRPr lang="pl-PL" dirty="0">
              <a:solidFill>
                <a:srgbClr val="002060"/>
              </a:solidFill>
              <a:effectLst>
                <a:outerShdw blurRad="38100" dist="38100" dir="2700000" algn="tl">
                  <a:srgbClr val="000000">
                    <a:alpha val="43137"/>
                  </a:srgbClr>
                </a:outerShdw>
              </a:effectLst>
            </a:endParaRPr>
          </a:p>
          <a:p>
            <a:endParaRPr lang="en-US" dirty="0"/>
          </a:p>
          <a:p>
            <a:pPr marL="0" indent="0">
              <a:buNone/>
            </a:pPr>
            <a:endParaRPr lang="en-US" dirty="0"/>
          </a:p>
        </p:txBody>
      </p:sp>
    </p:spTree>
    <p:extLst>
      <p:ext uri="{BB962C8B-B14F-4D97-AF65-F5344CB8AC3E}">
        <p14:creationId xmlns:p14="http://schemas.microsoft.com/office/powerpoint/2010/main" val="3824827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DDF2CE-FDCD-349A-D43D-6A463F109340}"/>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PERMITS (</a:t>
            </a:r>
            <a:r>
              <a:rPr lang="pl-PL" dirty="0" err="1">
                <a:solidFill>
                  <a:srgbClr val="FF0000"/>
                </a:solidFill>
                <a:effectLst>
                  <a:outerShdw blurRad="38100" dist="38100" dir="2700000" algn="tl">
                    <a:srgbClr val="000000">
                      <a:alpha val="43137"/>
                    </a:srgbClr>
                  </a:outerShdw>
                </a:effectLst>
              </a:rPr>
              <a:t>examples</a:t>
            </a:r>
            <a:r>
              <a:rPr lang="pl-PL" dirty="0">
                <a:solidFill>
                  <a:srgbClr val="FF0000"/>
                </a:solidFill>
                <a:effectLst>
                  <a:outerShdw blurRad="38100" dist="38100" dir="2700000" algn="tl">
                    <a:srgbClr val="000000">
                      <a:alpha val="43137"/>
                    </a:srgbClr>
                  </a:outerShdw>
                </a:effectLst>
              </a:rPr>
              <a:t>)</a:t>
            </a:r>
            <a:endParaRPr lang="en-US" dirty="0"/>
          </a:p>
        </p:txBody>
      </p:sp>
      <p:sp>
        <p:nvSpPr>
          <p:cNvPr id="3" name="Symbol zastępczy zawartości 2">
            <a:extLst>
              <a:ext uri="{FF2B5EF4-FFF2-40B4-BE49-F238E27FC236}">
                <a16:creationId xmlns:a16="http://schemas.microsoft.com/office/drawing/2014/main" id="{E93198A3-A4C0-9033-A539-72BAC20EBF26}"/>
              </a:ext>
            </a:extLst>
          </p:cNvPr>
          <p:cNvSpPr>
            <a:spLocks noGrp="1"/>
          </p:cNvSpPr>
          <p:nvPr>
            <p:ph idx="1"/>
          </p:nvPr>
        </p:nvSpPr>
        <p:spPr/>
        <p:txBody>
          <a:bodyPr>
            <a:normAutofit fontScale="92500"/>
          </a:bodyPr>
          <a:lstStyle/>
          <a:p>
            <a:r>
              <a:rPr lang="en-US" dirty="0">
                <a:effectLst>
                  <a:outerShdw blurRad="38100" dist="38100" dir="2700000" algn="tl">
                    <a:srgbClr val="000000">
                      <a:alpha val="43137"/>
                    </a:srgbClr>
                  </a:outerShdw>
                </a:effectLst>
              </a:rPr>
              <a:t>Operating a </a:t>
            </a:r>
            <a:r>
              <a:rPr lang="en-US" b="1" dirty="0">
                <a:effectLst>
                  <a:outerShdw blurRad="38100" dist="38100" dir="2700000" algn="tl">
                    <a:srgbClr val="000000">
                      <a:alpha val="43137"/>
                    </a:srgbClr>
                  </a:outerShdw>
                </a:effectLst>
              </a:rPr>
              <a:t>public pharmacy</a:t>
            </a:r>
          </a:p>
          <a:p>
            <a:r>
              <a:rPr lang="en-US" dirty="0">
                <a:effectLst>
                  <a:outerShdw blurRad="38100" dist="38100" dir="2700000" algn="tl">
                    <a:srgbClr val="000000">
                      <a:alpha val="43137"/>
                    </a:srgbClr>
                  </a:outerShdw>
                </a:effectLst>
              </a:rPr>
              <a:t>Operating a </a:t>
            </a:r>
            <a:r>
              <a:rPr lang="en-US" b="1" dirty="0">
                <a:effectLst>
                  <a:outerShdw blurRad="38100" dist="38100" dir="2700000" algn="tl">
                    <a:srgbClr val="000000">
                      <a:alpha val="43137"/>
                    </a:srgbClr>
                  </a:outerShdw>
                </a:effectLst>
              </a:rPr>
              <a:t>pharmaceutical wholesaler</a:t>
            </a:r>
          </a:p>
          <a:p>
            <a:r>
              <a:rPr lang="en-US" dirty="0">
                <a:effectLst>
                  <a:outerShdw blurRad="38100" dist="38100" dir="2700000" algn="tl">
                    <a:srgbClr val="000000">
                      <a:alpha val="43137"/>
                    </a:srgbClr>
                  </a:outerShdw>
                </a:effectLst>
              </a:rPr>
              <a:t>Operating a pharmacy point</a:t>
            </a:r>
          </a:p>
          <a:p>
            <a:r>
              <a:rPr lang="en-US" dirty="0">
                <a:effectLst>
                  <a:outerShdw blurRad="38100" dist="38100" dir="2700000" algn="tl">
                    <a:srgbClr val="000000">
                      <a:alpha val="43137"/>
                    </a:srgbClr>
                  </a:outerShdw>
                </a:effectLst>
              </a:rPr>
              <a:t>Operating a </a:t>
            </a:r>
            <a:r>
              <a:rPr lang="en-US" b="1" dirty="0">
                <a:effectLst>
                  <a:outerShdw blurRad="38100" dist="38100" dir="2700000" algn="tl">
                    <a:srgbClr val="000000">
                      <a:alpha val="43137"/>
                    </a:srgbClr>
                  </a:outerShdw>
                </a:effectLst>
              </a:rPr>
              <a:t>pharmaceutical wholesaler </a:t>
            </a:r>
            <a:r>
              <a:rPr lang="en-US" dirty="0">
                <a:effectLst>
                  <a:outerShdw blurRad="38100" dist="38100" dir="2700000" algn="tl">
                    <a:srgbClr val="000000">
                      <a:alpha val="43137"/>
                    </a:srgbClr>
                  </a:outerShdw>
                </a:effectLst>
              </a:rPr>
              <a:t>of veterinary medicinal products</a:t>
            </a:r>
          </a:p>
          <a:p>
            <a:r>
              <a:rPr lang="en-US" dirty="0">
                <a:effectLst>
                  <a:outerShdw blurRad="38100" dist="38100" dir="2700000" algn="tl">
                    <a:srgbClr val="000000">
                      <a:alpha val="43137"/>
                    </a:srgbClr>
                  </a:outerShdw>
                </a:effectLst>
              </a:rPr>
              <a:t>One-time purchase of excise goods as a registered consignee</a:t>
            </a:r>
          </a:p>
          <a:p>
            <a:r>
              <a:rPr lang="en-US" dirty="0">
                <a:effectLst>
                  <a:outerShdw blurRad="38100" dist="38100" dir="2700000" algn="tl">
                    <a:srgbClr val="000000">
                      <a:alpha val="43137"/>
                    </a:srgbClr>
                  </a:outerShdw>
                </a:effectLst>
              </a:rPr>
              <a:t>Purchase of excise goods as a </a:t>
            </a:r>
            <a:r>
              <a:rPr lang="en-US" b="1" dirty="0">
                <a:effectLst>
                  <a:outerShdw blurRad="38100" dist="38100" dir="2700000" algn="tl">
                    <a:srgbClr val="000000">
                      <a:alpha val="43137"/>
                    </a:srgbClr>
                  </a:outerShdw>
                </a:effectLst>
              </a:rPr>
              <a:t>registered consignee</a:t>
            </a:r>
          </a:p>
          <a:p>
            <a:r>
              <a:rPr lang="en-US" dirty="0">
                <a:effectLst>
                  <a:outerShdw blurRad="38100" dist="38100" dir="2700000" algn="tl">
                    <a:srgbClr val="000000">
                      <a:alpha val="43137"/>
                    </a:srgbClr>
                  </a:outerShdw>
                </a:effectLst>
              </a:rPr>
              <a:t>Operating as an intermediary</a:t>
            </a:r>
          </a:p>
          <a:p>
            <a:r>
              <a:rPr lang="en-US" dirty="0">
                <a:effectLst>
                  <a:outerShdw blurRad="38100" dist="38100" dir="2700000" algn="tl">
                    <a:srgbClr val="000000">
                      <a:alpha val="43137"/>
                    </a:srgbClr>
                  </a:outerShdw>
                </a:effectLst>
              </a:rPr>
              <a:t>Operating a </a:t>
            </a:r>
            <a:r>
              <a:rPr lang="en-US" b="1" dirty="0">
                <a:solidFill>
                  <a:srgbClr val="FF0000"/>
                </a:solidFill>
                <a:effectLst>
                  <a:outerShdw blurRad="38100" dist="38100" dir="2700000" algn="tl">
                    <a:srgbClr val="000000">
                      <a:alpha val="43137"/>
                    </a:srgbClr>
                  </a:outerShdw>
                </a:effectLst>
              </a:rPr>
              <a:t>tax warehouse</a:t>
            </a:r>
          </a:p>
          <a:p>
            <a:r>
              <a:rPr lang="en-US" dirty="0">
                <a:effectLst>
                  <a:outerShdw blurRad="38100" dist="38100" dir="2700000" algn="tl">
                    <a:srgbClr val="000000">
                      <a:alpha val="43137"/>
                    </a:srgbClr>
                  </a:outerShdw>
                </a:effectLst>
              </a:rPr>
              <a:t>Performing activities as a </a:t>
            </a:r>
            <a:r>
              <a:rPr lang="en-US" b="1" dirty="0">
                <a:effectLst>
                  <a:outerShdw blurRad="38100" dist="38100" dir="2700000" algn="tl">
                    <a:srgbClr val="000000">
                      <a:alpha val="43137"/>
                    </a:srgbClr>
                  </a:outerShdw>
                </a:effectLst>
              </a:rPr>
              <a:t>tax representative</a:t>
            </a:r>
          </a:p>
          <a:p>
            <a:r>
              <a:rPr lang="en-US" dirty="0">
                <a:effectLst>
                  <a:outerShdw blurRad="38100" dist="38100" dir="2700000" algn="tl">
                    <a:srgbClr val="000000">
                      <a:alpha val="43137"/>
                    </a:srgbClr>
                  </a:outerShdw>
                </a:effectLst>
              </a:rPr>
              <a:t>Sending </a:t>
            </a:r>
            <a:r>
              <a:rPr lang="en-US" b="1" dirty="0">
                <a:effectLst>
                  <a:outerShdw blurRad="38100" dist="38100" dir="2700000" algn="tl">
                    <a:srgbClr val="000000">
                      <a:alpha val="43137"/>
                    </a:srgbClr>
                  </a:outerShdw>
                </a:effectLst>
              </a:rPr>
              <a:t>excise goods </a:t>
            </a:r>
            <a:r>
              <a:rPr lang="en-US" dirty="0">
                <a:effectLst>
                  <a:outerShdw blurRad="38100" dist="38100" dir="2700000" algn="tl">
                    <a:srgbClr val="000000">
                      <a:alpha val="43137"/>
                    </a:srgbClr>
                  </a:outerShdw>
                </a:effectLst>
              </a:rPr>
              <a:t>as a registered consignor</a:t>
            </a:r>
          </a:p>
          <a:p>
            <a:endParaRPr lang="en-US" dirty="0"/>
          </a:p>
        </p:txBody>
      </p:sp>
    </p:spTree>
    <p:extLst>
      <p:ext uri="{BB962C8B-B14F-4D97-AF65-F5344CB8AC3E}">
        <p14:creationId xmlns:p14="http://schemas.microsoft.com/office/powerpoint/2010/main" val="83437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FB3440F-CDEA-BB4D-9A2E-A847E287EB52}"/>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PERMITS (</a:t>
            </a:r>
            <a:r>
              <a:rPr lang="pl-PL" dirty="0" err="1">
                <a:solidFill>
                  <a:srgbClr val="FF0000"/>
                </a:solidFill>
                <a:effectLst>
                  <a:outerShdw blurRad="38100" dist="38100" dir="2700000" algn="tl">
                    <a:srgbClr val="000000">
                      <a:alpha val="43137"/>
                    </a:srgbClr>
                  </a:outerShdw>
                </a:effectLst>
              </a:rPr>
              <a:t>examples</a:t>
            </a:r>
            <a:r>
              <a:rPr lang="pl-PL" dirty="0">
                <a:solidFill>
                  <a:srgbClr val="FF0000"/>
                </a:solidFill>
                <a:effectLst>
                  <a:outerShdw blurRad="38100" dist="38100" dir="2700000" algn="tl">
                    <a:srgbClr val="000000">
                      <a:alpha val="43137"/>
                    </a:srgbClr>
                  </a:outerShdw>
                </a:effectLst>
              </a:rPr>
              <a:t>)</a:t>
            </a:r>
            <a:endParaRPr lang="en-US" dirty="0"/>
          </a:p>
        </p:txBody>
      </p:sp>
      <p:sp>
        <p:nvSpPr>
          <p:cNvPr id="3" name="Symbol zastępczy zawartości 2">
            <a:extLst>
              <a:ext uri="{FF2B5EF4-FFF2-40B4-BE49-F238E27FC236}">
                <a16:creationId xmlns:a16="http://schemas.microsoft.com/office/drawing/2014/main" id="{214D9970-6F3D-FA99-4B9F-C43E785F09AA}"/>
              </a:ext>
            </a:extLst>
          </p:cNvPr>
          <p:cNvSpPr>
            <a:spLocks noGrp="1"/>
          </p:cNvSpPr>
          <p:nvPr>
            <p:ph idx="1"/>
          </p:nvPr>
        </p:nvSpPr>
        <p:spPr/>
        <p:txBody>
          <a:bodyPr/>
          <a:lstStyle/>
          <a:p>
            <a:r>
              <a:rPr lang="en-US" dirty="0"/>
              <a:t>Waste processing</a:t>
            </a:r>
          </a:p>
          <a:p>
            <a:r>
              <a:rPr lang="en-US" b="1" dirty="0"/>
              <a:t>Waste collection</a:t>
            </a:r>
          </a:p>
          <a:p>
            <a:r>
              <a:rPr lang="en-US" dirty="0"/>
              <a:t>Waste collection for a vehicle collection point operator</a:t>
            </a:r>
          </a:p>
          <a:p>
            <a:endParaRPr lang="en-US" dirty="0"/>
          </a:p>
        </p:txBody>
      </p:sp>
    </p:spTree>
    <p:extLst>
      <p:ext uri="{BB962C8B-B14F-4D97-AF65-F5344CB8AC3E}">
        <p14:creationId xmlns:p14="http://schemas.microsoft.com/office/powerpoint/2010/main" val="1655558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38BAFDC-D030-76B1-9134-CF361E85AB52}"/>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highlight>
                  <a:srgbClr val="00FF00"/>
                </a:highlight>
              </a:rPr>
              <a:t>LICENSE</a:t>
            </a:r>
            <a:r>
              <a:rPr lang="pl-PL" dirty="0">
                <a:solidFill>
                  <a:srgbClr val="FF0000"/>
                </a:solidFill>
                <a:effectLst>
                  <a:outerShdw blurRad="38100" dist="38100" dir="2700000" algn="tl">
                    <a:srgbClr val="000000">
                      <a:alpha val="43137"/>
                    </a:srgbClr>
                  </a:outerShdw>
                </a:effectLst>
              </a:rPr>
              <a:t>: </a:t>
            </a:r>
            <a:r>
              <a:rPr lang="pl-PL" dirty="0" err="1">
                <a:solidFill>
                  <a:srgbClr val="FF0000"/>
                </a:solidFill>
                <a:effectLst>
                  <a:outerShdw blurRad="38100" dist="38100" dir="2700000" algn="tl">
                    <a:srgbClr val="000000">
                      <a:alpha val="43137"/>
                    </a:srgbClr>
                  </a:outerShdw>
                </a:effectLst>
              </a:rPr>
              <a:t>different</a:t>
            </a:r>
            <a:r>
              <a:rPr lang="pl-PL" dirty="0">
                <a:solidFill>
                  <a:srgbClr val="FF0000"/>
                </a:solidFill>
                <a:effectLst>
                  <a:outerShdw blurRad="38100" dist="38100" dir="2700000" algn="tl">
                    <a:srgbClr val="000000">
                      <a:alpha val="43137"/>
                    </a:srgbClr>
                  </a:outerShdw>
                </a:effectLst>
              </a:rPr>
              <a:t> </a:t>
            </a:r>
            <a:r>
              <a:rPr lang="pl-PL" dirty="0" err="1">
                <a:solidFill>
                  <a:srgbClr val="FF0000"/>
                </a:solidFill>
                <a:effectLst>
                  <a:outerShdw blurRad="38100" dist="38100" dir="2700000" algn="tl">
                    <a:srgbClr val="000000">
                      <a:alpha val="43137"/>
                    </a:srgbClr>
                  </a:outerShdw>
                </a:effectLst>
              </a:rPr>
              <a:t>models</a:t>
            </a:r>
            <a:r>
              <a:rPr lang="pl-PL" dirty="0">
                <a:solidFill>
                  <a:srgbClr val="FF0000"/>
                </a:solidFill>
                <a:effectLst>
                  <a:outerShdw blurRad="38100" dist="38100" dir="2700000" algn="tl">
                    <a:srgbClr val="000000">
                      <a:alpha val="43137"/>
                    </a:srgbClr>
                  </a:outerShdw>
                </a:effectLst>
              </a:rPr>
              <a:t> of a </a:t>
            </a:r>
            <a:r>
              <a:rPr lang="pl-PL" dirty="0" err="1">
                <a:solidFill>
                  <a:srgbClr val="FF0000"/>
                </a:solidFill>
                <a:effectLst>
                  <a:outerShdw blurRad="38100" dist="38100" dir="2700000" algn="tl">
                    <a:srgbClr val="000000">
                      <a:alpha val="43137"/>
                    </a:srgbClr>
                  </a:outerShdw>
                </a:effectLst>
              </a:rPr>
              <a:t>license</a:t>
            </a:r>
            <a:endParaRPr lang="en-US"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8601926C-5E7B-28AC-5B89-E4C7D800D0DD}"/>
              </a:ext>
            </a:extLst>
          </p:cNvPr>
          <p:cNvSpPr>
            <a:spLocks noGrp="1"/>
          </p:cNvSpPr>
          <p:nvPr>
            <p:ph idx="1"/>
          </p:nvPr>
        </p:nvSpPr>
        <p:spPr/>
        <p:txBody>
          <a:bodyPr/>
          <a:lstStyle/>
          <a:p>
            <a:r>
              <a:rPr lang="en-US" sz="2800" b="1" noProof="0" dirty="0">
                <a:solidFill>
                  <a:srgbClr val="FF0000"/>
                </a:solidFill>
                <a:effectLst>
                  <a:outerShdw blurRad="38100" dist="38100" dir="2700000" algn="tl">
                    <a:srgbClr val="000000">
                      <a:alpha val="43137"/>
                    </a:srgbClr>
                  </a:outerShdw>
                </a:effectLst>
              </a:rPr>
              <a:t>French model </a:t>
            </a:r>
            <a:r>
              <a:rPr lang="en-US" sz="2800" noProof="0" dirty="0">
                <a:effectLst>
                  <a:outerShdw blurRad="38100" dist="38100" dir="2700000" algn="tl">
                    <a:srgbClr val="000000">
                      <a:alpha val="43137"/>
                    </a:srgbClr>
                  </a:outerShdw>
                </a:effectLst>
              </a:rPr>
              <a:t>– with permission, </a:t>
            </a:r>
            <a:r>
              <a:rPr lang="en-US" sz="2800" b="1" noProof="0" dirty="0">
                <a:solidFill>
                  <a:srgbClr val="FF0000"/>
                </a:solidFill>
                <a:effectLst>
                  <a:outerShdw blurRad="38100" dist="38100" dir="2700000" algn="tl">
                    <a:srgbClr val="000000">
                      <a:alpha val="43137"/>
                    </a:srgbClr>
                  </a:outerShdw>
                </a:effectLst>
              </a:rPr>
              <a:t>transfer of some public authority </a:t>
            </a:r>
            <a:r>
              <a:rPr lang="en-US" sz="2800" noProof="0" dirty="0">
                <a:effectLst>
                  <a:outerShdw blurRad="38100" dist="38100" dir="2700000" algn="tl">
                    <a:srgbClr val="000000">
                      <a:alpha val="43137"/>
                    </a:srgbClr>
                  </a:outerShdw>
                </a:effectLst>
              </a:rPr>
              <a:t>along with the right to do business, e.g., the right to expropriate property to build a bridge and collect duty for using the bridge  (non-existent in modern France)</a:t>
            </a:r>
          </a:p>
          <a:p>
            <a:r>
              <a:rPr lang="en-US" sz="2800" b="1" noProof="0" dirty="0">
                <a:solidFill>
                  <a:srgbClr val="FF0000"/>
                </a:solidFill>
                <a:effectLst>
                  <a:outerShdw blurRad="38100" dist="38100" dir="2700000" algn="tl">
                    <a:srgbClr val="000000">
                      <a:alpha val="43137"/>
                    </a:srgbClr>
                  </a:outerShdw>
                </a:effectLst>
              </a:rPr>
              <a:t>German model </a:t>
            </a:r>
            <a:r>
              <a:rPr lang="en-US" sz="2800" noProof="0" dirty="0">
                <a:effectLst>
                  <a:outerShdw blurRad="38100" dist="38100" dir="2700000" algn="tl">
                    <a:srgbClr val="000000">
                      <a:alpha val="43137"/>
                    </a:srgbClr>
                  </a:outerShdw>
                </a:effectLst>
              </a:rPr>
              <a:t>– authorization to do business without the transfer of public authority, goal: relinquishing part of the state monopoly, or for security/public interest reasons</a:t>
            </a:r>
          </a:p>
          <a:p>
            <a:r>
              <a:rPr lang="en-US" sz="2800" b="1" noProof="0" dirty="0">
                <a:solidFill>
                  <a:srgbClr val="FF0000"/>
                </a:solidFill>
                <a:effectLst>
                  <a:outerShdw blurRad="38100" dist="38100" dir="2700000" algn="tl">
                    <a:srgbClr val="000000">
                      <a:alpha val="43137"/>
                    </a:srgbClr>
                  </a:outerShdw>
                </a:effectLst>
              </a:rPr>
              <a:t>American model </a:t>
            </a:r>
            <a:r>
              <a:rPr lang="en-US" sz="2800" noProof="0" dirty="0">
                <a:effectLst>
                  <a:outerShdw blurRad="38100" dist="38100" dir="2700000" algn="tl">
                    <a:srgbClr val="000000">
                      <a:alpha val="43137"/>
                    </a:srgbClr>
                  </a:outerShdw>
                </a:effectLst>
              </a:rPr>
              <a:t>– like the old French model – private prisons as enterprises, bounty hunters</a:t>
            </a:r>
          </a:p>
          <a:p>
            <a:endParaRPr lang="en-US" dirty="0"/>
          </a:p>
        </p:txBody>
      </p:sp>
    </p:spTree>
    <p:extLst>
      <p:ext uri="{BB962C8B-B14F-4D97-AF65-F5344CB8AC3E}">
        <p14:creationId xmlns:p14="http://schemas.microsoft.com/office/powerpoint/2010/main" val="2980554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2502215-16B2-DDB9-5AFC-6494C2214FBE}"/>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License </a:t>
            </a:r>
            <a:r>
              <a:rPr lang="pl-PL" dirty="0" err="1">
                <a:solidFill>
                  <a:srgbClr val="FF0000"/>
                </a:solidFill>
                <a:effectLst>
                  <a:outerShdw blurRad="38100" dist="38100" dir="2700000" algn="tl">
                    <a:srgbClr val="000000">
                      <a:alpha val="43137"/>
                    </a:srgbClr>
                  </a:outerShdw>
                </a:effectLst>
              </a:rPr>
              <a:t>under</a:t>
            </a:r>
            <a:r>
              <a:rPr lang="pl-PL" dirty="0">
                <a:solidFill>
                  <a:srgbClr val="FF0000"/>
                </a:solidFill>
                <a:effectLst>
                  <a:outerShdw blurRad="38100" dist="38100" dir="2700000" algn="tl">
                    <a:srgbClr val="000000">
                      <a:alpha val="43137"/>
                    </a:srgbClr>
                  </a:outerShdw>
                </a:effectLst>
              </a:rPr>
              <a:t> the </a:t>
            </a:r>
            <a:r>
              <a:rPr lang="pl-PL" dirty="0" err="1">
                <a:solidFill>
                  <a:srgbClr val="FF0000"/>
                </a:solidFill>
                <a:effectLst>
                  <a:outerShdw blurRad="38100" dist="38100" dir="2700000" algn="tl">
                    <a:srgbClr val="000000">
                      <a:alpha val="43137"/>
                    </a:srgbClr>
                  </a:outerShdw>
                </a:effectLst>
              </a:rPr>
              <a:t>Polish</a:t>
            </a:r>
            <a:r>
              <a:rPr lang="pl-PL" dirty="0">
                <a:solidFill>
                  <a:srgbClr val="FF0000"/>
                </a:solidFill>
                <a:effectLst>
                  <a:outerShdw blurRad="38100" dist="38100" dir="2700000" algn="tl">
                    <a:srgbClr val="000000">
                      <a:alpha val="43137"/>
                    </a:srgbClr>
                  </a:outerShdw>
                </a:effectLst>
              </a:rPr>
              <a:t> law</a:t>
            </a:r>
            <a:endParaRPr lang="en-US"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48B02E2C-0618-09C8-8318-B0390A3387FD}"/>
              </a:ext>
            </a:extLst>
          </p:cNvPr>
          <p:cNvSpPr>
            <a:spLocks noGrp="1"/>
          </p:cNvSpPr>
          <p:nvPr>
            <p:ph idx="1"/>
          </p:nvPr>
        </p:nvSpPr>
        <p:spPr/>
        <p:txBody>
          <a:bodyPr/>
          <a:lstStyle/>
          <a:p>
            <a:r>
              <a:rPr lang="pl-PL" dirty="0">
                <a:solidFill>
                  <a:srgbClr val="002060"/>
                </a:solidFill>
                <a:effectLst>
                  <a:outerShdw blurRad="38100" dist="38100" dir="2700000" algn="tl">
                    <a:srgbClr val="000000">
                      <a:alpha val="43137"/>
                    </a:srgbClr>
                  </a:outerShdw>
                </a:effectLst>
                <a:latin typeface="Times New Roman" panose="02020603050405020304" pitchFamily="18" charset="0"/>
              </a:rPr>
              <a:t>Wykonywanie działalności gospodarczej w dziedzinach mających </a:t>
            </a:r>
            <a:r>
              <a:rPr lang="pl-PL" b="1" dirty="0">
                <a:solidFill>
                  <a:srgbClr val="FF0000"/>
                </a:solidFill>
                <a:effectLst>
                  <a:outerShdw blurRad="38100" dist="38100" dir="2700000" algn="tl">
                    <a:srgbClr val="000000">
                      <a:alpha val="43137"/>
                    </a:srgbClr>
                  </a:outerShdw>
                </a:effectLst>
                <a:latin typeface="Times New Roman" panose="02020603050405020304" pitchFamily="18" charset="0"/>
              </a:rPr>
              <a:t>szczególne znaczenie </a:t>
            </a:r>
            <a:r>
              <a:rPr lang="pl-PL" dirty="0">
                <a:solidFill>
                  <a:srgbClr val="002060"/>
                </a:solidFill>
                <a:effectLst>
                  <a:outerShdw blurRad="38100" dist="38100" dir="2700000" algn="tl">
                    <a:srgbClr val="000000">
                      <a:alpha val="43137"/>
                    </a:srgbClr>
                  </a:outerShdw>
                </a:effectLst>
                <a:latin typeface="Times New Roman" panose="02020603050405020304" pitchFamily="18" charset="0"/>
              </a:rPr>
              <a:t>ze względu na </a:t>
            </a:r>
            <a:r>
              <a:rPr lang="pl-PL" b="1" dirty="0">
                <a:solidFill>
                  <a:srgbClr val="FF0000"/>
                </a:solidFill>
                <a:effectLst>
                  <a:outerShdw blurRad="38100" dist="38100" dir="2700000" algn="tl">
                    <a:srgbClr val="000000">
                      <a:alpha val="43137"/>
                    </a:srgbClr>
                  </a:outerShdw>
                </a:effectLst>
                <a:latin typeface="Times New Roman" panose="02020603050405020304" pitchFamily="18" charset="0"/>
              </a:rPr>
              <a:t>bezpieczeństwo państwa </a:t>
            </a:r>
            <a:r>
              <a:rPr lang="pl-PL" dirty="0">
                <a:solidFill>
                  <a:srgbClr val="002060"/>
                </a:solidFill>
                <a:effectLst>
                  <a:outerShdw blurRad="38100" dist="38100" dir="2700000" algn="tl">
                    <a:srgbClr val="000000">
                      <a:alpha val="43137"/>
                    </a:srgbClr>
                  </a:outerShdw>
                </a:effectLst>
                <a:latin typeface="Times New Roman" panose="02020603050405020304" pitchFamily="18" charset="0"/>
              </a:rPr>
              <a:t>lub </a:t>
            </a:r>
            <a:r>
              <a:rPr lang="pl-PL" b="1" dirty="0">
                <a:solidFill>
                  <a:srgbClr val="FF0000"/>
                </a:solidFill>
                <a:effectLst>
                  <a:outerShdw blurRad="38100" dist="38100" dir="2700000" algn="tl">
                    <a:srgbClr val="000000">
                      <a:alpha val="43137"/>
                    </a:srgbClr>
                  </a:outerShdw>
                </a:effectLst>
                <a:latin typeface="Times New Roman" panose="02020603050405020304" pitchFamily="18" charset="0"/>
              </a:rPr>
              <a:t>obywateli </a:t>
            </a:r>
            <a:r>
              <a:rPr lang="pl-PL" dirty="0">
                <a:solidFill>
                  <a:srgbClr val="002060"/>
                </a:solidFill>
                <a:effectLst>
                  <a:outerShdw blurRad="38100" dist="38100" dir="2700000" algn="tl">
                    <a:srgbClr val="000000">
                      <a:alpha val="43137"/>
                    </a:srgbClr>
                  </a:outerShdw>
                </a:effectLst>
                <a:latin typeface="Times New Roman" panose="02020603050405020304" pitchFamily="18" charset="0"/>
              </a:rPr>
              <a:t>albo inny </a:t>
            </a:r>
            <a:r>
              <a:rPr lang="pl-PL" b="1" dirty="0">
                <a:solidFill>
                  <a:srgbClr val="FF0000"/>
                </a:solidFill>
                <a:effectLst>
                  <a:outerShdw blurRad="38100" dist="38100" dir="2700000" algn="tl">
                    <a:srgbClr val="000000">
                      <a:alpha val="43137"/>
                    </a:srgbClr>
                  </a:outerShdw>
                </a:effectLst>
                <a:latin typeface="Times New Roman" panose="02020603050405020304" pitchFamily="18" charset="0"/>
              </a:rPr>
              <a:t>ważny interes publiczny </a:t>
            </a:r>
          </a:p>
          <a:p>
            <a:r>
              <a:rPr lang="pl-PL" dirty="0">
                <a:solidFill>
                  <a:srgbClr val="002060"/>
                </a:solidFill>
                <a:effectLst>
                  <a:outerShdw blurRad="38100" dist="38100" dir="2700000" algn="tl">
                    <a:srgbClr val="000000">
                      <a:alpha val="43137"/>
                    </a:srgbClr>
                  </a:outerShdw>
                </a:effectLst>
                <a:latin typeface="Times New Roman" panose="02020603050405020304" pitchFamily="18" charset="0"/>
              </a:rPr>
              <a:t>Np. koncesja na prowadzenie k</a:t>
            </a:r>
            <a:r>
              <a:rPr lang="pl-PL" b="1" dirty="0">
                <a:solidFill>
                  <a:srgbClr val="002060"/>
                </a:solidFill>
                <a:effectLst>
                  <a:outerShdw blurRad="38100" dist="38100" dir="2700000" algn="tl">
                    <a:srgbClr val="000000">
                      <a:alpha val="43137"/>
                    </a:srgbClr>
                  </a:outerShdw>
                </a:effectLst>
                <a:latin typeface="Times New Roman" panose="02020603050405020304" pitchFamily="18" charset="0"/>
              </a:rPr>
              <a:t>asyna gry, handel bronią, transport lotniczy [lotnisko – zezwolenie]</a:t>
            </a:r>
            <a:endParaRPr lang="pl-PL" dirty="0">
              <a:solidFill>
                <a:srgbClr val="002060"/>
              </a:solidFill>
              <a:effectLst>
                <a:outerShdw blurRad="38100" dist="38100" dir="2700000" algn="tl">
                  <a:srgbClr val="000000">
                    <a:alpha val="43137"/>
                  </a:srgbClr>
                </a:outerShdw>
              </a:effectLst>
              <a:latin typeface="Times New Roman" panose="02020603050405020304" pitchFamily="18" charset="0"/>
            </a:endParaRPr>
          </a:p>
          <a:p>
            <a:r>
              <a:rPr lang="pl-PL" dirty="0">
                <a:solidFill>
                  <a:srgbClr val="002060"/>
                </a:solidFill>
                <a:effectLst>
                  <a:outerShdw blurRad="38100" dist="38100" dir="2700000" algn="tl">
                    <a:srgbClr val="000000">
                      <a:alpha val="43137"/>
                    </a:srgbClr>
                  </a:outerShdw>
                </a:effectLst>
                <a:latin typeface="Times New Roman" panose="02020603050405020304" pitchFamily="18" charset="0"/>
              </a:rPr>
              <a:t>Warunki uzyskania koncesji są </a:t>
            </a:r>
            <a:r>
              <a:rPr lang="pl-PL" b="1" dirty="0">
                <a:solidFill>
                  <a:srgbClr val="002060"/>
                </a:solidFill>
                <a:effectLst>
                  <a:outerShdw blurRad="38100" dist="38100" dir="2700000" algn="tl">
                    <a:srgbClr val="000000">
                      <a:alpha val="43137"/>
                    </a:srgbClr>
                  </a:outerShdw>
                </a:effectLst>
                <a:latin typeface="Times New Roman" panose="02020603050405020304" pitchFamily="18" charset="0"/>
              </a:rPr>
              <a:t>publikowane w BIP</a:t>
            </a:r>
          </a:p>
          <a:p>
            <a:r>
              <a:rPr lang="pl-PL" dirty="0">
                <a:solidFill>
                  <a:srgbClr val="002060"/>
                </a:solidFill>
                <a:effectLst>
                  <a:outerShdw blurRad="38100" dist="38100" dir="2700000" algn="tl">
                    <a:srgbClr val="000000">
                      <a:alpha val="43137"/>
                    </a:srgbClr>
                  </a:outerShdw>
                </a:effectLst>
                <a:latin typeface="Times New Roman" panose="02020603050405020304" pitchFamily="18" charset="0"/>
              </a:rPr>
              <a:t>Organ może nałożyć </a:t>
            </a:r>
            <a:r>
              <a:rPr lang="pl-PL" b="1" dirty="0">
                <a:solidFill>
                  <a:srgbClr val="FF0000"/>
                </a:solidFill>
                <a:effectLst>
                  <a:outerShdw blurRad="38100" dist="38100" dir="2700000" algn="tl">
                    <a:srgbClr val="000000">
                      <a:alpha val="43137"/>
                    </a:srgbClr>
                  </a:outerShdw>
                </a:effectLst>
                <a:latin typeface="Times New Roman" panose="02020603050405020304" pitchFamily="18" charset="0"/>
              </a:rPr>
              <a:t>dodatkowe zobowiązania</a:t>
            </a:r>
          </a:p>
          <a:p>
            <a:r>
              <a:rPr lang="pl-PL" dirty="0">
                <a:solidFill>
                  <a:srgbClr val="002060"/>
                </a:solidFill>
                <a:effectLst>
                  <a:outerShdw blurRad="38100" dist="38100" dir="2700000" algn="tl">
                    <a:srgbClr val="000000">
                      <a:alpha val="43137"/>
                    </a:srgbClr>
                  </a:outerShdw>
                </a:effectLst>
                <a:latin typeface="Times New Roman" panose="02020603050405020304" pitchFamily="18" charset="0"/>
              </a:rPr>
              <a:t>Możliwość uznaniowego wydania decyzji (nie jest to cech wyróżniająca koncesji)</a:t>
            </a:r>
          </a:p>
          <a:p>
            <a:endParaRPr lang="en-US" dirty="0"/>
          </a:p>
        </p:txBody>
      </p:sp>
    </p:spTree>
    <p:extLst>
      <p:ext uri="{BB962C8B-B14F-4D97-AF65-F5344CB8AC3E}">
        <p14:creationId xmlns:p14="http://schemas.microsoft.com/office/powerpoint/2010/main" val="2644933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5CCAE7-C59D-E620-B29E-2B9DDB3CF184}"/>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License </a:t>
            </a:r>
            <a:r>
              <a:rPr lang="pl-PL" dirty="0" err="1">
                <a:solidFill>
                  <a:srgbClr val="FF0000"/>
                </a:solidFill>
                <a:effectLst>
                  <a:outerShdw blurRad="38100" dist="38100" dir="2700000" algn="tl">
                    <a:srgbClr val="000000">
                      <a:alpha val="43137"/>
                    </a:srgbClr>
                  </a:outerShdw>
                </a:effectLst>
              </a:rPr>
              <a:t>under</a:t>
            </a:r>
            <a:r>
              <a:rPr lang="pl-PL" dirty="0">
                <a:solidFill>
                  <a:srgbClr val="FF0000"/>
                </a:solidFill>
                <a:effectLst>
                  <a:outerShdw blurRad="38100" dist="38100" dir="2700000" algn="tl">
                    <a:srgbClr val="000000">
                      <a:alpha val="43137"/>
                    </a:srgbClr>
                  </a:outerShdw>
                </a:effectLst>
              </a:rPr>
              <a:t> the </a:t>
            </a:r>
            <a:r>
              <a:rPr lang="pl-PL" dirty="0" err="1">
                <a:solidFill>
                  <a:srgbClr val="FF0000"/>
                </a:solidFill>
                <a:effectLst>
                  <a:outerShdw blurRad="38100" dist="38100" dir="2700000" algn="tl">
                    <a:srgbClr val="000000">
                      <a:alpha val="43137"/>
                    </a:srgbClr>
                  </a:outerShdw>
                </a:effectLst>
              </a:rPr>
              <a:t>Polish</a:t>
            </a:r>
            <a:r>
              <a:rPr lang="pl-PL" dirty="0">
                <a:solidFill>
                  <a:srgbClr val="FF0000"/>
                </a:solidFill>
                <a:effectLst>
                  <a:outerShdw blurRad="38100" dist="38100" dir="2700000" algn="tl">
                    <a:srgbClr val="000000">
                      <a:alpha val="43137"/>
                    </a:srgbClr>
                  </a:outerShdw>
                </a:effectLst>
              </a:rPr>
              <a:t> law</a:t>
            </a:r>
            <a:endParaRPr lang="en-US" dirty="0"/>
          </a:p>
        </p:txBody>
      </p:sp>
      <p:sp>
        <p:nvSpPr>
          <p:cNvPr id="3" name="Symbol zastępczy zawartości 2">
            <a:extLst>
              <a:ext uri="{FF2B5EF4-FFF2-40B4-BE49-F238E27FC236}">
                <a16:creationId xmlns:a16="http://schemas.microsoft.com/office/drawing/2014/main" id="{8E5FDDBA-E23E-3FAE-A2E0-AB86F161A800}"/>
              </a:ext>
            </a:extLst>
          </p:cNvPr>
          <p:cNvSpPr>
            <a:spLocks noGrp="1"/>
          </p:cNvSpPr>
          <p:nvPr>
            <p:ph idx="1"/>
          </p:nvPr>
        </p:nvSpPr>
        <p:spPr/>
        <p:txBody>
          <a:bodyPr>
            <a:normAutofit fontScale="92500" lnSpcReduction="20000"/>
          </a:bodyPr>
          <a:lstStyle/>
          <a:p>
            <a:r>
              <a:rPr lang="en-US" dirty="0">
                <a:effectLst>
                  <a:outerShdw blurRad="38100" dist="38100" dir="2700000" algn="tl">
                    <a:srgbClr val="000000">
                      <a:alpha val="43137"/>
                    </a:srgbClr>
                  </a:outerShdw>
                </a:effectLst>
              </a:rPr>
              <a:t>Conducting business activities in areas of </a:t>
            </a:r>
            <a:r>
              <a:rPr lang="en-US" b="1" dirty="0">
                <a:solidFill>
                  <a:srgbClr val="FF0000"/>
                </a:solidFill>
                <a:effectLst>
                  <a:outerShdw blurRad="38100" dist="38100" dir="2700000" algn="tl">
                    <a:srgbClr val="000000">
                      <a:alpha val="43137"/>
                    </a:srgbClr>
                  </a:outerShdw>
                </a:effectLst>
              </a:rPr>
              <a:t>particular importance for the security of the state or its citizens</a:t>
            </a:r>
            <a:r>
              <a:rPr lang="en-US" dirty="0">
                <a:effectLst>
                  <a:outerShdw blurRad="38100" dist="38100" dir="2700000" algn="tl">
                    <a:srgbClr val="000000">
                      <a:alpha val="43137"/>
                    </a:srgbClr>
                  </a:outerShdw>
                </a:effectLst>
              </a:rPr>
              <a:t>, or other </a:t>
            </a:r>
            <a:r>
              <a:rPr lang="en-US" b="1" dirty="0">
                <a:solidFill>
                  <a:srgbClr val="FF0000"/>
                </a:solidFill>
                <a:effectLst>
                  <a:outerShdw blurRad="38100" dist="38100" dir="2700000" algn="tl">
                    <a:srgbClr val="000000">
                      <a:alpha val="43137"/>
                    </a:srgbClr>
                  </a:outerShdw>
                </a:effectLst>
              </a:rPr>
              <a:t>important public interests.</a:t>
            </a:r>
            <a:r>
              <a:rPr lang="pl-PL" b="1" dirty="0">
                <a:solidFill>
                  <a:srgbClr val="FF0000"/>
                </a:solidFill>
                <a:effectLst>
                  <a:outerShdw blurRad="38100" dist="38100" dir="2700000" algn="tl">
                    <a:srgbClr val="000000">
                      <a:alpha val="43137"/>
                    </a:srgbClr>
                  </a:outerShdw>
                </a:effectLst>
              </a:rPr>
              <a:t> In </a:t>
            </a:r>
            <a:r>
              <a:rPr lang="pl-PL" b="1" dirty="0" err="1">
                <a:solidFill>
                  <a:srgbClr val="FF0000"/>
                </a:solidFill>
                <a:effectLst>
                  <a:outerShdw blurRad="38100" dist="38100" dir="2700000" algn="tl">
                    <a:srgbClr val="000000">
                      <a:alpha val="43137"/>
                    </a:srgbClr>
                  </a:outerShdw>
                </a:effectLst>
              </a:rPr>
              <a:t>reality</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some</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risky</a:t>
            </a:r>
            <a:r>
              <a:rPr lang="pl-PL" b="1" dirty="0">
                <a:solidFill>
                  <a:srgbClr val="FF0000"/>
                </a:solidFill>
                <a:effectLst>
                  <a:outerShdw blurRad="38100" dist="38100" dir="2700000" algn="tl">
                    <a:srgbClr val="000000">
                      <a:alpha val="43137"/>
                    </a:srgbClr>
                  </a:outerShdw>
                </a:effectLst>
              </a:rPr>
              <a:t> business </a:t>
            </a:r>
            <a:r>
              <a:rPr lang="pl-PL" b="1" dirty="0" err="1">
                <a:solidFill>
                  <a:srgbClr val="FF0000"/>
                </a:solidFill>
                <a:effectLst>
                  <a:outerShdw blurRad="38100" dist="38100" dir="2700000" algn="tl">
                    <a:srgbClr val="000000">
                      <a:alpha val="43137"/>
                    </a:srgbClr>
                  </a:outerShdw>
                </a:effectLst>
              </a:rPr>
              <a:t>activities</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are</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conducted</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under</a:t>
            </a:r>
            <a:r>
              <a:rPr lang="pl-PL" b="1" dirty="0">
                <a:solidFill>
                  <a:srgbClr val="FF0000"/>
                </a:solidFill>
                <a:effectLst>
                  <a:outerShdw blurRad="38100" dist="38100" dir="2700000" algn="tl">
                    <a:srgbClr val="000000">
                      <a:alpha val="43137"/>
                    </a:srgbClr>
                  </a:outerShdw>
                </a:effectLst>
              </a:rPr>
              <a:t> a </a:t>
            </a:r>
            <a:r>
              <a:rPr lang="pl-PL" b="1" dirty="0" err="1">
                <a:solidFill>
                  <a:srgbClr val="FF0000"/>
                </a:solidFill>
                <a:effectLst>
                  <a:outerShdw blurRad="38100" dist="38100" dir="2700000" algn="tl">
                    <a:srgbClr val="000000">
                      <a:alpha val="43137"/>
                    </a:srgbClr>
                  </a:outerShdw>
                </a:effectLst>
              </a:rPr>
              <a:t>license</a:t>
            </a:r>
            <a:r>
              <a:rPr lang="pl-PL" b="1" dirty="0">
                <a:solidFill>
                  <a:srgbClr val="FF0000"/>
                </a:solidFill>
                <a:effectLst>
                  <a:outerShdw blurRad="38100" dist="38100" dir="2700000" algn="tl">
                    <a:srgbClr val="000000">
                      <a:alpha val="43137"/>
                    </a:srgbClr>
                  </a:outerShdw>
                </a:effectLst>
              </a:rPr>
              <a:t> </a:t>
            </a:r>
            <a:r>
              <a:rPr lang="pl-PL" dirty="0">
                <a:effectLst>
                  <a:outerShdw blurRad="38100" dist="38100" dir="2700000" algn="tl">
                    <a:srgbClr val="000000">
                      <a:alpha val="43137"/>
                    </a:srgbClr>
                  </a:outerShdw>
                </a:effectLst>
              </a:rPr>
              <a:t>(GMO products and trade)</a:t>
            </a:r>
            <a:endParaRPr lang="en-US" dirty="0">
              <a:effectLst>
                <a:outerShdw blurRad="38100" dist="38100" dir="2700000" algn="tl">
                  <a:srgbClr val="000000">
                    <a:alpha val="43137"/>
                  </a:srgbClr>
                </a:outerShdw>
              </a:effectLst>
            </a:endParaRPr>
          </a:p>
          <a:p>
            <a:endParaRPr lang="en-US" b="1" dirty="0">
              <a:solidFill>
                <a:srgbClr val="FF0000"/>
              </a:solidFill>
              <a:effectLst>
                <a:outerShdw blurRad="38100" dist="38100" dir="2700000" algn="tl">
                  <a:srgbClr val="000000">
                    <a:alpha val="43137"/>
                  </a:srgbClr>
                </a:outerShdw>
              </a:effectLst>
            </a:endParaRPr>
          </a:p>
          <a:p>
            <a:r>
              <a:rPr lang="en-US" dirty="0" err="1">
                <a:effectLst>
                  <a:outerShdw blurRad="38100" dist="38100" dir="2700000" algn="tl">
                    <a:srgbClr val="000000">
                      <a:alpha val="43137"/>
                    </a:srgbClr>
                  </a:outerShdw>
                </a:effectLst>
              </a:rPr>
              <a:t>E.g</a:t>
            </a:r>
            <a:r>
              <a:rPr lang="en-US" dirty="0">
                <a:effectLst>
                  <a:outerShdw blurRad="38100" dist="38100" dir="2700000" algn="tl">
                    <a:srgbClr val="000000">
                      <a:alpha val="43137"/>
                    </a:srgbClr>
                  </a:outerShdw>
                </a:effectLst>
              </a:rPr>
              <a:t>, a license to operate a </a:t>
            </a:r>
            <a:r>
              <a:rPr lang="en-US" b="1" dirty="0">
                <a:effectLst>
                  <a:outerShdw blurRad="38100" dist="38100" dir="2700000" algn="tl">
                    <a:srgbClr val="000000">
                      <a:alpha val="43137"/>
                    </a:srgbClr>
                  </a:outerShdw>
                </a:effectLst>
              </a:rPr>
              <a:t>casino, arms trade, or air transport </a:t>
            </a:r>
            <a:r>
              <a:rPr lang="en-US" dirty="0">
                <a:effectLst>
                  <a:outerShdw blurRad="38100" dist="38100" dir="2700000" algn="tl">
                    <a:srgbClr val="000000">
                      <a:alpha val="43137"/>
                    </a:srgbClr>
                  </a:outerShdw>
                </a:effectLst>
              </a:rPr>
              <a:t>[airport permit].</a:t>
            </a:r>
          </a:p>
          <a:p>
            <a:r>
              <a:rPr lang="en-US" dirty="0">
                <a:effectLst>
                  <a:outerShdw blurRad="38100" dist="38100" dir="2700000" algn="tl">
                    <a:srgbClr val="000000">
                      <a:alpha val="43137"/>
                    </a:srgbClr>
                  </a:outerShdw>
                </a:effectLst>
              </a:rPr>
              <a:t>Conditions for obtaining a license are </a:t>
            </a:r>
            <a:r>
              <a:rPr lang="en-US" b="1" dirty="0">
                <a:solidFill>
                  <a:srgbClr val="FF0000"/>
                </a:solidFill>
                <a:effectLst>
                  <a:outerShdw blurRad="38100" dist="38100" dir="2700000" algn="tl">
                    <a:srgbClr val="000000">
                      <a:alpha val="43137"/>
                    </a:srgbClr>
                  </a:outerShdw>
                </a:effectLst>
              </a:rPr>
              <a:t>published</a:t>
            </a:r>
            <a:r>
              <a:rPr lang="en-US" dirty="0">
                <a:effectLst>
                  <a:outerShdw blurRad="38100" dist="38100" dir="2700000" algn="tl">
                    <a:srgbClr val="000000">
                      <a:alpha val="43137"/>
                    </a:srgbClr>
                  </a:outerShdw>
                </a:effectLst>
              </a:rPr>
              <a:t> in the Public Information Bulletin (BIP).</a:t>
            </a:r>
          </a:p>
          <a:p>
            <a:r>
              <a:rPr lang="en-US" dirty="0">
                <a:effectLst>
                  <a:outerShdw blurRad="38100" dist="38100" dir="2700000" algn="tl">
                    <a:srgbClr val="000000">
                      <a:alpha val="43137"/>
                    </a:srgbClr>
                  </a:outerShdw>
                </a:effectLst>
              </a:rPr>
              <a:t>The authority may impose </a:t>
            </a:r>
            <a:r>
              <a:rPr lang="en-US" b="1" dirty="0">
                <a:solidFill>
                  <a:srgbClr val="FF0000"/>
                </a:solidFill>
                <a:effectLst>
                  <a:outerShdw blurRad="38100" dist="38100" dir="2700000" algn="tl">
                    <a:srgbClr val="000000">
                      <a:alpha val="43137"/>
                    </a:srgbClr>
                  </a:outerShdw>
                </a:effectLst>
              </a:rPr>
              <a:t>additional obligations</a:t>
            </a:r>
            <a:r>
              <a:rPr lang="en-US" dirty="0">
                <a:effectLst>
                  <a:outerShdw blurRad="38100" dist="38100" dir="2700000" algn="tl">
                    <a:srgbClr val="000000">
                      <a:alpha val="43137"/>
                    </a:srgbClr>
                  </a:outerShdw>
                </a:effectLst>
              </a:rPr>
              <a:t>.</a:t>
            </a:r>
          </a:p>
          <a:p>
            <a:r>
              <a:rPr lang="en-US" b="1" dirty="0">
                <a:solidFill>
                  <a:srgbClr val="FF0000"/>
                </a:solidFill>
                <a:effectLst>
                  <a:outerShdw blurRad="38100" dist="38100" dir="2700000" algn="tl">
                    <a:srgbClr val="000000">
                      <a:alpha val="43137"/>
                    </a:srgbClr>
                  </a:outerShdw>
                </a:effectLst>
              </a:rPr>
              <a:t>Discretionary</a:t>
            </a:r>
            <a:r>
              <a:rPr lang="en-US" dirty="0">
                <a:effectLst>
                  <a:outerShdw blurRad="38100" dist="38100" dir="2700000" algn="tl">
                    <a:srgbClr val="000000">
                      <a:alpha val="43137"/>
                    </a:srgbClr>
                  </a:outerShdw>
                </a:effectLst>
              </a:rPr>
              <a:t> decision-making is possible (this is not a distinguishing feature of a license).</a:t>
            </a:r>
            <a:endParaRPr lang="pl-PL" dirty="0">
              <a:effectLst>
                <a:outerShdw blurRad="38100" dist="38100" dir="2700000" algn="tl">
                  <a:srgbClr val="000000">
                    <a:alpha val="43137"/>
                  </a:srgbClr>
                </a:outerShdw>
              </a:effectLst>
            </a:endParaRPr>
          </a:p>
          <a:p>
            <a:r>
              <a:rPr lang="pl-PL" dirty="0">
                <a:effectLst>
                  <a:outerShdw blurRad="38100" dist="38100" dir="2700000" algn="tl">
                    <a:srgbClr val="000000">
                      <a:alpha val="43137"/>
                    </a:srgbClr>
                  </a:outerShdw>
                </a:effectLst>
              </a:rPr>
              <a:t>In </a:t>
            </a:r>
            <a:r>
              <a:rPr lang="pl-PL" dirty="0" err="1">
                <a:effectLst>
                  <a:outerShdw blurRad="38100" dist="38100" dir="2700000" algn="tl">
                    <a:srgbClr val="000000">
                      <a:alpha val="43137"/>
                    </a:srgbClr>
                  </a:outerShdw>
                </a:effectLst>
              </a:rPr>
              <a:t>principle</a:t>
            </a:r>
            <a:r>
              <a:rPr lang="pl-PL" dirty="0">
                <a:effectLst>
                  <a:outerShdw blurRad="38100" dist="38100" dir="2700000" algn="tl">
                    <a:srgbClr val="000000">
                      <a:alpha val="43137"/>
                    </a:srgbClr>
                  </a:outerShdw>
                </a:effectLst>
              </a:rPr>
              <a:t> </a:t>
            </a:r>
            <a:r>
              <a:rPr lang="pl-PL" dirty="0" err="1">
                <a:effectLst>
                  <a:outerShdw blurRad="38100" dist="38100" dir="2700000" algn="tl">
                    <a:srgbClr val="000000">
                      <a:alpha val="43137"/>
                    </a:srgbClr>
                  </a:outerShdw>
                </a:effectLst>
              </a:rPr>
              <a:t>should</a:t>
            </a:r>
            <a:r>
              <a:rPr lang="pl-PL" dirty="0">
                <a:effectLst>
                  <a:outerShdw blurRad="38100" dist="38100" dir="2700000" algn="tl">
                    <a:srgbClr val="000000">
                      <a:alpha val="43137"/>
                    </a:srgbClr>
                  </a:outerShdw>
                </a:effectLst>
              </a:rPr>
              <a:t> be </a:t>
            </a:r>
            <a:r>
              <a:rPr lang="pl-PL" dirty="0" err="1">
                <a:effectLst>
                  <a:outerShdw blurRad="38100" dist="38100" dir="2700000" algn="tl">
                    <a:srgbClr val="000000">
                      <a:alpha val="43137"/>
                    </a:srgbClr>
                  </a:outerShdw>
                </a:effectLst>
              </a:rPr>
              <a:t>granted</a:t>
            </a:r>
            <a:r>
              <a:rPr lang="pl-PL" dirty="0">
                <a:effectLst>
                  <a:outerShdw blurRad="38100" dist="38100" dir="2700000" algn="tl">
                    <a:srgbClr val="000000">
                      <a:alpha val="43137"/>
                    </a:srgbClr>
                  </a:outerShdw>
                </a:effectLst>
              </a:rPr>
              <a:t> by the </a:t>
            </a:r>
            <a:r>
              <a:rPr lang="pl-PL" b="1" dirty="0">
                <a:solidFill>
                  <a:srgbClr val="FF0000"/>
                </a:solidFill>
                <a:effectLst>
                  <a:outerShdw blurRad="38100" dist="38100" dir="2700000" algn="tl">
                    <a:srgbClr val="000000">
                      <a:alpha val="43137"/>
                    </a:srgbClr>
                  </a:outerShdw>
                </a:effectLst>
              </a:rPr>
              <a:t>central authority (minister), </a:t>
            </a:r>
            <a:r>
              <a:rPr lang="pl-PL" dirty="0">
                <a:effectLst>
                  <a:outerShdw blurRad="38100" dist="38100" dir="2700000" algn="tl">
                    <a:srgbClr val="000000">
                      <a:alpha val="43137"/>
                    </a:srgbClr>
                  </a:outerShdw>
                </a:effectLst>
              </a:rPr>
              <a:t>but in </a:t>
            </a:r>
            <a:r>
              <a:rPr lang="pl-PL" dirty="0" err="1">
                <a:effectLst>
                  <a:outerShdw blurRad="38100" dist="38100" dir="2700000" algn="tl">
                    <a:srgbClr val="000000">
                      <a:alpha val="43137"/>
                    </a:srgbClr>
                  </a:outerShdw>
                </a:effectLst>
              </a:rPr>
              <a:t>reality</a:t>
            </a:r>
            <a:r>
              <a:rPr lang="pl-PL" dirty="0">
                <a:effectLst>
                  <a:outerShdw blurRad="38100" dist="38100" dir="2700000" algn="tl">
                    <a:srgbClr val="000000">
                      <a:alpha val="43137"/>
                    </a:srgbClr>
                  </a:outerShdw>
                </a:effectLst>
              </a:rPr>
              <a:t>, </a:t>
            </a:r>
            <a:r>
              <a:rPr lang="pl-PL" dirty="0" err="1">
                <a:effectLst>
                  <a:outerShdw blurRad="38100" dist="38100" dir="2700000" algn="tl">
                    <a:srgbClr val="000000">
                      <a:alpha val="43137"/>
                    </a:srgbClr>
                  </a:outerShdw>
                </a:effectLst>
              </a:rPr>
              <a:t>important</a:t>
            </a:r>
            <a:r>
              <a:rPr lang="pl-PL" dirty="0">
                <a:effectLst>
                  <a:outerShdw blurRad="38100" dist="38100" dir="2700000" algn="tl">
                    <a:srgbClr val="000000">
                      <a:alpha val="43137"/>
                    </a:srgbClr>
                  </a:outerShdw>
                </a:effectLst>
              </a:rPr>
              <a:t> </a:t>
            </a:r>
            <a:r>
              <a:rPr lang="pl-PL" dirty="0" err="1">
                <a:effectLst>
                  <a:outerShdw blurRad="38100" dist="38100" dir="2700000" algn="tl">
                    <a:srgbClr val="000000">
                      <a:alpha val="43137"/>
                    </a:srgbClr>
                  </a:outerShdw>
                </a:effectLst>
              </a:rPr>
              <a:t>ares</a:t>
            </a:r>
            <a:r>
              <a:rPr lang="pl-PL" dirty="0">
                <a:effectLst>
                  <a:outerShdw blurRad="38100" dist="38100" dir="2700000" algn="tl">
                    <a:srgbClr val="000000">
                      <a:alpha val="43137"/>
                    </a:srgbClr>
                  </a:outerShdw>
                </a:effectLst>
              </a:rPr>
              <a:t> of business </a:t>
            </a:r>
            <a:r>
              <a:rPr lang="pl-PL" dirty="0" err="1">
                <a:effectLst>
                  <a:outerShdw blurRad="38100" dist="38100" dir="2700000" algn="tl">
                    <a:srgbClr val="000000">
                      <a:alpha val="43137"/>
                    </a:srgbClr>
                  </a:outerShdw>
                </a:effectLst>
              </a:rPr>
              <a:t>are</a:t>
            </a:r>
            <a:r>
              <a:rPr lang="pl-PL" dirty="0">
                <a:effectLst>
                  <a:outerShdw blurRad="38100" dist="38100" dir="2700000" algn="tl">
                    <a:srgbClr val="000000">
                      <a:alpha val="43137"/>
                    </a:srgbClr>
                  </a:outerShdw>
                </a:effectLst>
              </a:rPr>
              <a:t> </a:t>
            </a:r>
            <a:r>
              <a:rPr lang="pl-PL" dirty="0" err="1">
                <a:effectLst>
                  <a:outerShdw blurRad="38100" dist="38100" dir="2700000" algn="tl">
                    <a:srgbClr val="000000">
                      <a:alpha val="43137"/>
                    </a:srgbClr>
                  </a:outerShdw>
                </a:effectLst>
              </a:rPr>
              <a:t>authorized</a:t>
            </a:r>
            <a:r>
              <a:rPr lang="pl-PL" dirty="0">
                <a:effectLst>
                  <a:outerShdw blurRad="38100" dist="38100" dir="2700000" algn="tl">
                    <a:srgbClr val="000000">
                      <a:alpha val="43137"/>
                    </a:srgbClr>
                  </a:outerShdw>
                </a:effectLst>
              </a:rPr>
              <a:t> by </a:t>
            </a:r>
            <a:r>
              <a:rPr lang="pl-PL" dirty="0" err="1">
                <a:effectLst>
                  <a:outerShdw blurRad="38100" dist="38100" dir="2700000" algn="tl">
                    <a:srgbClr val="000000">
                      <a:alpha val="43137"/>
                    </a:srgbClr>
                  </a:outerShdw>
                </a:effectLst>
              </a:rPr>
              <a:t>lower</a:t>
            </a:r>
            <a:r>
              <a:rPr lang="pl-PL" dirty="0">
                <a:effectLst>
                  <a:outerShdw blurRad="38100" dist="38100" dir="2700000" algn="tl">
                    <a:srgbClr val="000000">
                      <a:alpha val="43137"/>
                    </a:srgbClr>
                  </a:outerShdw>
                </a:effectLst>
              </a:rPr>
              <a:t> </a:t>
            </a:r>
            <a:r>
              <a:rPr lang="pl-PL" dirty="0" err="1">
                <a:effectLst>
                  <a:outerShdw blurRad="38100" dist="38100" dir="2700000" algn="tl">
                    <a:srgbClr val="000000">
                      <a:alpha val="43137"/>
                    </a:srgbClr>
                  </a:outerShdw>
                </a:effectLst>
              </a:rPr>
              <a:t>level</a:t>
            </a:r>
            <a:r>
              <a:rPr lang="pl-PL" dirty="0">
                <a:effectLst>
                  <a:outerShdw blurRad="38100" dist="38100" dir="2700000" algn="tl">
                    <a:srgbClr val="000000">
                      <a:alpha val="43137"/>
                    </a:srgbClr>
                  </a:outerShdw>
                </a:effectLst>
              </a:rPr>
              <a:t> </a:t>
            </a:r>
            <a:r>
              <a:rPr lang="pl-PL" dirty="0" err="1">
                <a:effectLst>
                  <a:outerShdw blurRad="38100" dist="38100" dir="2700000" algn="tl">
                    <a:srgbClr val="000000">
                      <a:alpha val="43137"/>
                    </a:srgbClr>
                  </a:outerShdw>
                </a:effectLst>
              </a:rPr>
              <a:t>authorities</a:t>
            </a:r>
            <a:r>
              <a:rPr lang="pl-PL" dirty="0">
                <a:effectLst>
                  <a:outerShdw blurRad="38100" dist="38100" dir="2700000" algn="tl">
                    <a:srgbClr val="000000">
                      <a:alpha val="43137"/>
                    </a:srgbClr>
                  </a:outerShdw>
                </a:effectLst>
              </a:rPr>
              <a:t>.</a:t>
            </a:r>
            <a:endParaRPr lang="en-US" dirty="0"/>
          </a:p>
        </p:txBody>
      </p:sp>
    </p:spTree>
    <p:extLst>
      <p:ext uri="{BB962C8B-B14F-4D97-AF65-F5344CB8AC3E}">
        <p14:creationId xmlns:p14="http://schemas.microsoft.com/office/powerpoint/2010/main" val="3775809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A80D8D1-AB28-735D-18A6-51E581E76BE0}"/>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License - </a:t>
            </a:r>
            <a:r>
              <a:rPr lang="pl-PL" dirty="0" err="1">
                <a:solidFill>
                  <a:srgbClr val="FF0000"/>
                </a:solidFill>
                <a:effectLst>
                  <a:outerShdw blurRad="38100" dist="38100" dir="2700000" algn="tl">
                    <a:srgbClr val="000000">
                      <a:alpha val="43137"/>
                    </a:srgbClr>
                  </a:outerShdw>
                </a:effectLst>
              </a:rPr>
              <a:t>examples</a:t>
            </a:r>
            <a:endParaRPr lang="en-US"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A320C3C2-A580-088B-A26C-3A743A0DDDD5}"/>
              </a:ext>
            </a:extLst>
          </p:cNvPr>
          <p:cNvSpPr>
            <a:spLocks noGrp="1"/>
          </p:cNvSpPr>
          <p:nvPr>
            <p:ph idx="1"/>
          </p:nvPr>
        </p:nvSpPr>
        <p:spPr/>
        <p:txBody>
          <a:bodyPr/>
          <a:lstStyle/>
          <a:p>
            <a:pPr marL="0" indent="0">
              <a:buNone/>
            </a:pPr>
            <a:r>
              <a:rPr lang="pl-PL" b="1" dirty="0">
                <a:solidFill>
                  <a:srgbClr val="002060"/>
                </a:solidFill>
                <a:effectLst>
                  <a:outerShdw blurRad="38100" dist="38100" dir="2700000" algn="tl">
                    <a:srgbClr val="000000">
                      <a:alpha val="43137"/>
                    </a:srgbClr>
                  </a:outerShdw>
                </a:effectLst>
              </a:rPr>
              <a:t>WEAPONS</a:t>
            </a:r>
          </a:p>
          <a:p>
            <a:r>
              <a:rPr lang="pl-PL" dirty="0">
                <a:solidFill>
                  <a:srgbClr val="002060"/>
                </a:solidFill>
                <a:effectLst>
                  <a:outerShdw blurRad="38100" dist="38100" dir="2700000" algn="tl">
                    <a:srgbClr val="000000">
                      <a:alpha val="43137"/>
                    </a:srgbClr>
                  </a:outerShdw>
                </a:effectLst>
              </a:rPr>
              <a:t>License </a:t>
            </a:r>
            <a:r>
              <a:rPr lang="en-US" dirty="0">
                <a:solidFill>
                  <a:srgbClr val="002060"/>
                </a:solidFill>
                <a:effectLst>
                  <a:outerShdw blurRad="38100" dist="38100" dir="2700000" algn="tl">
                    <a:srgbClr val="000000">
                      <a:alpha val="43137"/>
                    </a:srgbClr>
                  </a:outerShdw>
                </a:effectLst>
              </a:rPr>
              <a:t>for the production and trade in explosives, weapons, ammunition</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and products and technology for military or police purposes</a:t>
            </a:r>
            <a:endParaRPr lang="pl-PL" dirty="0">
              <a:solidFill>
                <a:srgbClr val="002060"/>
              </a:solidFill>
              <a:effectLst>
                <a:outerShdw blurRad="38100" dist="38100" dir="2700000" algn="tl">
                  <a:srgbClr val="000000">
                    <a:alpha val="43137"/>
                  </a:srgbClr>
                </a:outerShdw>
              </a:effectLst>
            </a:endParaRPr>
          </a:p>
          <a:p>
            <a:pPr marL="0" indent="0">
              <a:buNone/>
            </a:pPr>
            <a:r>
              <a:rPr lang="pl-PL" b="1" dirty="0">
                <a:solidFill>
                  <a:srgbClr val="002060"/>
                </a:solidFill>
                <a:effectLst>
                  <a:outerShdw blurRad="38100" dist="38100" dir="2700000" algn="tl">
                    <a:srgbClr val="000000">
                      <a:alpha val="43137"/>
                    </a:srgbClr>
                  </a:outerShdw>
                </a:effectLst>
              </a:rPr>
              <a:t>MINING</a:t>
            </a:r>
          </a:p>
          <a:p>
            <a:r>
              <a:rPr lang="pl-PL" dirty="0">
                <a:solidFill>
                  <a:srgbClr val="002060"/>
                </a:solidFill>
                <a:effectLst>
                  <a:outerShdw blurRad="38100" dist="38100" dir="2700000" algn="tl">
                    <a:srgbClr val="000000">
                      <a:alpha val="43137"/>
                    </a:srgbClr>
                  </a:outerShdw>
                </a:effectLst>
              </a:rPr>
              <a:t>License </a:t>
            </a:r>
            <a:r>
              <a:rPr lang="en-US" dirty="0">
                <a:solidFill>
                  <a:srgbClr val="002060"/>
                </a:solidFill>
                <a:effectLst>
                  <a:outerShdw blurRad="38100" dist="38100" dir="2700000" algn="tl">
                    <a:srgbClr val="000000">
                      <a:alpha val="43137"/>
                    </a:srgbClr>
                  </a:outerShdw>
                </a:effectLst>
              </a:rPr>
              <a:t>for prospecting or exploration of mineral deposits (excluding hydrocarbons)</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License</a:t>
            </a:r>
            <a:r>
              <a:rPr lang="en-US" dirty="0">
                <a:solidFill>
                  <a:srgbClr val="002060"/>
                </a:solidFill>
                <a:effectLst>
                  <a:outerShdw blurRad="38100" dist="38100" dir="2700000" algn="tl">
                    <a:srgbClr val="000000">
                      <a:alpha val="43137"/>
                    </a:srgbClr>
                  </a:outerShdw>
                </a:effectLst>
              </a:rPr>
              <a:t> for the exploration and recognition of hydrocarbon deposits and the extraction of hydrocarbons from deposits</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License </a:t>
            </a:r>
            <a:r>
              <a:rPr lang="en-US" dirty="0">
                <a:solidFill>
                  <a:srgbClr val="002060"/>
                </a:solidFill>
                <a:effectLst>
                  <a:outerShdw blurRad="38100" dist="38100" dir="2700000" algn="tl">
                    <a:srgbClr val="000000">
                      <a:alpha val="43137"/>
                    </a:srgbClr>
                  </a:outerShdw>
                </a:effectLst>
              </a:rPr>
              <a:t>or underground tankless storage of substances or underground storage of waste</a:t>
            </a:r>
          </a:p>
          <a:p>
            <a:endParaRPr lang="en-US" dirty="0"/>
          </a:p>
          <a:p>
            <a:endParaRPr lang="en-US" dirty="0"/>
          </a:p>
        </p:txBody>
      </p:sp>
    </p:spTree>
    <p:extLst>
      <p:ext uri="{BB962C8B-B14F-4D97-AF65-F5344CB8AC3E}">
        <p14:creationId xmlns:p14="http://schemas.microsoft.com/office/powerpoint/2010/main" val="3645365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44AC0FF-1D15-220A-EEFE-7D047BAB031F}"/>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License - </a:t>
            </a:r>
            <a:r>
              <a:rPr lang="pl-PL" dirty="0" err="1">
                <a:solidFill>
                  <a:srgbClr val="FF0000"/>
                </a:solidFill>
                <a:effectLst>
                  <a:outerShdw blurRad="38100" dist="38100" dir="2700000" algn="tl">
                    <a:srgbClr val="000000">
                      <a:alpha val="43137"/>
                    </a:srgbClr>
                  </a:outerShdw>
                </a:effectLst>
              </a:rPr>
              <a:t>examples</a:t>
            </a:r>
            <a:endParaRPr lang="en-US" dirty="0"/>
          </a:p>
        </p:txBody>
      </p:sp>
      <p:sp>
        <p:nvSpPr>
          <p:cNvPr id="3" name="Symbol zastępczy zawartości 2">
            <a:extLst>
              <a:ext uri="{FF2B5EF4-FFF2-40B4-BE49-F238E27FC236}">
                <a16:creationId xmlns:a16="http://schemas.microsoft.com/office/drawing/2014/main" id="{53057C16-851B-45CC-6DCF-3F4F7D64E5EF}"/>
              </a:ext>
            </a:extLst>
          </p:cNvPr>
          <p:cNvSpPr>
            <a:spLocks noGrp="1"/>
          </p:cNvSpPr>
          <p:nvPr>
            <p:ph idx="1"/>
          </p:nvPr>
        </p:nvSpPr>
        <p:spPr/>
        <p:txBody>
          <a:bodyPr/>
          <a:lstStyle/>
          <a:p>
            <a:r>
              <a:rPr lang="pl-PL" dirty="0">
                <a:solidFill>
                  <a:srgbClr val="002060"/>
                </a:solidFill>
                <a:effectLst>
                  <a:outerShdw blurRad="38100" dist="38100" dir="2700000" algn="tl">
                    <a:srgbClr val="000000">
                      <a:alpha val="43137"/>
                    </a:srgbClr>
                  </a:outerShdw>
                </a:effectLst>
              </a:rPr>
              <a:t>License for business </a:t>
            </a:r>
            <a:r>
              <a:rPr lang="pl-PL" dirty="0" err="1">
                <a:solidFill>
                  <a:srgbClr val="002060"/>
                </a:solidFill>
                <a:effectLst>
                  <a:outerShdw blurRad="38100" dist="38100" dir="2700000" algn="tl">
                    <a:srgbClr val="000000">
                      <a:alpha val="43137"/>
                    </a:srgbClr>
                  </a:outerShdw>
                </a:effectLst>
              </a:rPr>
              <a:t>activity</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in the field of personal and property protection services</a:t>
            </a:r>
            <a:r>
              <a:rPr lang="pl-PL" dirty="0">
                <a:solidFill>
                  <a:srgbClr val="00206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security</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agency</a:t>
            </a:r>
            <a:r>
              <a:rPr lang="pl-PL" dirty="0">
                <a:solidFill>
                  <a:srgbClr val="002060"/>
                </a:solidFill>
                <a:effectLst>
                  <a:outerShdw blurRad="38100" dist="38100" dir="2700000" algn="tl">
                    <a:srgbClr val="000000">
                      <a:alpha val="43137"/>
                    </a:srgbClr>
                  </a:outerShdw>
                </a:effectLst>
              </a:rPr>
              <a:t>)</a:t>
            </a:r>
          </a:p>
          <a:p>
            <a:r>
              <a:rPr lang="pl-PL" dirty="0">
                <a:solidFill>
                  <a:srgbClr val="002060"/>
                </a:solidFill>
                <a:effectLst>
                  <a:outerShdw blurRad="38100" dist="38100" dir="2700000" algn="tl">
                    <a:srgbClr val="000000">
                      <a:alpha val="43137"/>
                    </a:srgbClr>
                  </a:outerShdw>
                </a:effectLst>
              </a:rPr>
              <a:t>License for </a:t>
            </a:r>
            <a:r>
              <a:rPr lang="en-US" dirty="0">
                <a:solidFill>
                  <a:srgbClr val="002060"/>
                </a:solidFill>
                <a:effectLst>
                  <a:outerShdw blurRad="38100" dist="38100" dir="2700000" algn="tl">
                    <a:srgbClr val="000000">
                      <a:alpha val="43137"/>
                    </a:srgbClr>
                  </a:outerShdw>
                </a:effectLst>
              </a:rPr>
              <a:t>distribution of </a:t>
            </a:r>
            <a:r>
              <a:rPr lang="en-US" b="1" dirty="0">
                <a:solidFill>
                  <a:srgbClr val="FF0000"/>
                </a:solidFill>
                <a:effectLst>
                  <a:outerShdw blurRad="38100" dist="38100" dir="2700000" algn="tl">
                    <a:srgbClr val="000000">
                      <a:alpha val="43137"/>
                    </a:srgbClr>
                  </a:outerShdw>
                </a:effectLst>
              </a:rPr>
              <a:t>radio and television </a:t>
            </a:r>
            <a:r>
              <a:rPr lang="en-US" b="1" dirty="0" err="1">
                <a:solidFill>
                  <a:srgbClr val="FF0000"/>
                </a:solidFill>
                <a:effectLst>
                  <a:outerShdw blurRad="38100" dist="38100" dir="2700000" algn="tl">
                    <a:srgbClr val="000000">
                      <a:alpha val="43137"/>
                    </a:srgbClr>
                  </a:outerShdw>
                </a:effectLst>
              </a:rPr>
              <a:t>programmes</a:t>
            </a:r>
            <a:r>
              <a:rPr lang="en-US" dirty="0">
                <a:solidFill>
                  <a:srgbClr val="002060"/>
                </a:solidFill>
                <a:effectLst>
                  <a:outerShdw blurRad="38100" dist="38100" dir="2700000" algn="tl">
                    <a:srgbClr val="000000">
                      <a:alpha val="43137"/>
                    </a:srgbClr>
                  </a:outerShdw>
                </a:effectLst>
              </a:rPr>
              <a:t>, excluding programs distributed exclusively in the </a:t>
            </a:r>
            <a:r>
              <a:rPr lang="en-US" dirty="0" err="1">
                <a:solidFill>
                  <a:srgbClr val="002060"/>
                </a:solidFill>
                <a:effectLst>
                  <a:outerShdw blurRad="38100" dist="38100" dir="2700000" algn="tl">
                    <a:srgbClr val="000000">
                      <a:alpha val="43137"/>
                    </a:srgbClr>
                  </a:outerShdw>
                </a:effectLst>
              </a:rPr>
              <a:t>teleinformatic</a:t>
            </a:r>
            <a:r>
              <a:rPr lang="en-US" dirty="0">
                <a:solidFill>
                  <a:srgbClr val="002060"/>
                </a:solidFill>
                <a:effectLst>
                  <a:outerShdw blurRad="38100" dist="38100" dir="2700000" algn="tl">
                    <a:srgbClr val="000000">
                      <a:alpha val="43137"/>
                    </a:srgbClr>
                  </a:outerShdw>
                </a:effectLst>
              </a:rPr>
              <a:t> system, which are not distributed terrestrially, by satellite</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or in cable networks</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License for </a:t>
            </a:r>
            <a:r>
              <a:rPr lang="pl-PL" b="1" dirty="0" err="1">
                <a:solidFill>
                  <a:srgbClr val="FF0000"/>
                </a:solidFill>
                <a:effectLst>
                  <a:outerShdw blurRad="38100" dist="38100" dir="2700000" algn="tl">
                    <a:srgbClr val="000000">
                      <a:alpha val="43137"/>
                    </a:srgbClr>
                  </a:outerShdw>
                </a:effectLst>
              </a:rPr>
              <a:t>casino</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also</a:t>
            </a:r>
            <a:r>
              <a:rPr lang="pl-PL" dirty="0">
                <a:solidFill>
                  <a:srgbClr val="002060"/>
                </a:solidFill>
                <a:effectLst>
                  <a:outerShdw blurRad="38100" dist="38100" dir="2700000" algn="tl">
                    <a:srgbClr val="000000">
                      <a:alpha val="43137"/>
                    </a:srgbClr>
                  </a:outerShdw>
                </a:effectLst>
              </a:rPr>
              <a:t> poker)</a:t>
            </a:r>
          </a:p>
          <a:p>
            <a:r>
              <a:rPr lang="pl-PL" dirty="0">
                <a:solidFill>
                  <a:srgbClr val="002060"/>
                </a:solidFill>
                <a:effectLst>
                  <a:outerShdw blurRad="38100" dist="38100" dir="2700000" algn="tl">
                    <a:srgbClr val="000000">
                      <a:alpha val="43137"/>
                    </a:srgbClr>
                  </a:outerShdw>
                </a:effectLst>
              </a:rPr>
              <a:t>License for </a:t>
            </a:r>
            <a:r>
              <a:rPr lang="pl-PL" dirty="0" err="1">
                <a:solidFill>
                  <a:srgbClr val="002060"/>
                </a:solidFill>
                <a:effectLst>
                  <a:outerShdw blurRad="38100" dist="38100" dir="2700000" algn="tl">
                    <a:srgbClr val="000000">
                      <a:alpha val="43137"/>
                    </a:srgbClr>
                  </a:outerShdw>
                </a:effectLst>
              </a:rPr>
              <a:t>an</a:t>
            </a:r>
            <a:r>
              <a:rPr lang="pl-PL" dirty="0">
                <a:solidFill>
                  <a:srgbClr val="00206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airline</a:t>
            </a:r>
            <a:endParaRPr lang="pl-PL" b="1" dirty="0">
              <a:solidFill>
                <a:srgbClr val="FF0000"/>
              </a:solidFill>
              <a:effectLst>
                <a:outerShdw blurRad="38100" dist="38100" dir="2700000" algn="tl">
                  <a:srgbClr val="000000">
                    <a:alpha val="43137"/>
                  </a:srgbClr>
                </a:outerShdw>
              </a:effectLst>
            </a:endParaRPr>
          </a:p>
          <a:p>
            <a:endParaRPr lang="en-US" dirty="0"/>
          </a:p>
          <a:p>
            <a:endParaRPr lang="en-US" dirty="0"/>
          </a:p>
          <a:p>
            <a:endParaRPr lang="en-US" dirty="0"/>
          </a:p>
        </p:txBody>
      </p:sp>
    </p:spTree>
    <p:extLst>
      <p:ext uri="{BB962C8B-B14F-4D97-AF65-F5344CB8AC3E}">
        <p14:creationId xmlns:p14="http://schemas.microsoft.com/office/powerpoint/2010/main" val="1146014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56E6555-7601-C596-1484-877753D3A4C9}"/>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License - </a:t>
            </a:r>
            <a:r>
              <a:rPr lang="pl-PL" dirty="0" err="1">
                <a:solidFill>
                  <a:srgbClr val="FF0000"/>
                </a:solidFill>
                <a:effectLst>
                  <a:outerShdw blurRad="38100" dist="38100" dir="2700000" algn="tl">
                    <a:srgbClr val="000000">
                      <a:alpha val="43137"/>
                    </a:srgbClr>
                  </a:outerShdw>
                </a:effectLst>
              </a:rPr>
              <a:t>examples</a:t>
            </a:r>
            <a:endParaRPr lang="en-US" dirty="0"/>
          </a:p>
        </p:txBody>
      </p:sp>
      <p:sp>
        <p:nvSpPr>
          <p:cNvPr id="3" name="Symbol zastępczy zawartości 2">
            <a:extLst>
              <a:ext uri="{FF2B5EF4-FFF2-40B4-BE49-F238E27FC236}">
                <a16:creationId xmlns:a16="http://schemas.microsoft.com/office/drawing/2014/main" id="{A4B7B8D2-66F7-2A5A-A1C9-A1800FB33AD9}"/>
              </a:ext>
            </a:extLst>
          </p:cNvPr>
          <p:cNvSpPr>
            <a:spLocks noGrp="1"/>
          </p:cNvSpPr>
          <p:nvPr>
            <p:ph idx="1"/>
          </p:nvPr>
        </p:nvSpPr>
        <p:spPr/>
        <p:txBody>
          <a:bodyPr>
            <a:normAutofit fontScale="85000" lnSpcReduction="20000"/>
          </a:bodyPr>
          <a:lstStyle/>
          <a:p>
            <a:pPr marL="0" indent="0">
              <a:buNone/>
            </a:pPr>
            <a:r>
              <a:rPr lang="pl-PL" b="1" dirty="0">
                <a:solidFill>
                  <a:srgbClr val="FF0000"/>
                </a:solidFill>
                <a:effectLst>
                  <a:outerShdw blurRad="38100" dist="38100" dir="2700000" algn="tl">
                    <a:srgbClr val="000000">
                      <a:alpha val="43137"/>
                    </a:srgbClr>
                  </a:outerShdw>
                </a:effectLst>
              </a:rPr>
              <a:t>MEDIA – RADIO &amp; TV</a:t>
            </a:r>
          </a:p>
          <a:p>
            <a:r>
              <a:rPr lang="pl-PL" dirty="0">
                <a:solidFill>
                  <a:srgbClr val="002060"/>
                </a:solidFill>
                <a:effectLst>
                  <a:outerShdw blurRad="38100" dist="38100" dir="2700000" algn="tl">
                    <a:srgbClr val="000000">
                      <a:alpha val="43137"/>
                    </a:srgbClr>
                  </a:outerShdw>
                </a:effectLst>
              </a:rPr>
              <a:t>License</a:t>
            </a:r>
            <a:r>
              <a:rPr lang="en-US" dirty="0">
                <a:solidFill>
                  <a:srgbClr val="002060"/>
                </a:solidFill>
                <a:effectLst>
                  <a:outerShdw blurRad="38100" dist="38100" dir="2700000" algn="tl">
                    <a:srgbClr val="000000">
                      <a:alpha val="43137"/>
                    </a:srgbClr>
                  </a:outerShdw>
                </a:effectLst>
              </a:rPr>
              <a:t> is granted for a period of </a:t>
            </a:r>
            <a:r>
              <a:rPr lang="en-US" b="1" dirty="0">
                <a:solidFill>
                  <a:srgbClr val="002060"/>
                </a:solidFill>
                <a:effectLst>
                  <a:outerShdw blurRad="38100" dist="38100" dir="2700000" algn="tl">
                    <a:srgbClr val="000000">
                      <a:alpha val="43137"/>
                    </a:srgbClr>
                  </a:outerShdw>
                </a:effectLst>
              </a:rPr>
              <a:t>10 years to entities based or resident in Poland</a:t>
            </a:r>
            <a:r>
              <a:rPr lang="en-US" dirty="0">
                <a:solidFill>
                  <a:srgbClr val="002060"/>
                </a:solidFill>
                <a:effectLst>
                  <a:outerShdw blurRad="38100" dist="38100" dir="2700000" algn="tl">
                    <a:srgbClr val="000000">
                      <a:alpha val="43137"/>
                    </a:srgbClr>
                  </a:outerShdw>
                </a:effectLst>
              </a:rPr>
              <a:t>. Costs depend on the coverage and type (satellite/terrestrial), ranging from PLN 500 to several dozen million.</a:t>
            </a:r>
            <a:endParaRPr lang="pl-PL" dirty="0">
              <a:solidFill>
                <a:srgbClr val="002060"/>
              </a:solidFill>
              <a:effectLst>
                <a:outerShdw blurRad="38100" dist="38100" dir="2700000" algn="tl">
                  <a:srgbClr val="000000">
                    <a:alpha val="43137"/>
                  </a:srgbClr>
                </a:outerShdw>
              </a:effectLst>
            </a:endParaRPr>
          </a:p>
          <a:p>
            <a:r>
              <a:rPr lang="pl-PL" b="1" dirty="0">
                <a:solidFill>
                  <a:srgbClr val="FF0000"/>
                </a:solidFill>
                <a:effectLst>
                  <a:outerShdw blurRad="38100" dist="38100" dir="2700000" algn="tl">
                    <a:srgbClr val="000000">
                      <a:alpha val="43137"/>
                    </a:srgbClr>
                  </a:outerShdw>
                </a:effectLst>
              </a:rPr>
              <a:t>Case TVN + Agora</a:t>
            </a:r>
          </a:p>
          <a:p>
            <a:r>
              <a:rPr lang="en-US" dirty="0">
                <a:solidFill>
                  <a:srgbClr val="002060"/>
                </a:solidFill>
                <a:effectLst>
                  <a:outerShdw blurRad="38100" dist="38100" dir="2700000" algn="tl">
                    <a:srgbClr val="000000">
                      <a:alpha val="43137"/>
                    </a:srgbClr>
                  </a:outerShdw>
                </a:effectLst>
              </a:rPr>
              <a:t>Key </a:t>
            </a:r>
            <a:r>
              <a:rPr lang="pl-PL" dirty="0" err="1">
                <a:solidFill>
                  <a:srgbClr val="002060"/>
                </a:solidFill>
                <a:effectLst>
                  <a:outerShdw blurRad="38100" dist="38100" dir="2700000" algn="tl">
                    <a:srgbClr val="000000">
                      <a:alpha val="43137"/>
                    </a:srgbClr>
                  </a:outerShdw>
                </a:effectLst>
              </a:rPr>
              <a:t>conditions</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Articles 33-40 of the Broadcasting Act:</a:t>
            </a:r>
          </a:p>
          <a:p>
            <a:pPr>
              <a:buFont typeface="Wingdings" panose="05000000000000000000" pitchFamily="2" charset="2"/>
              <a:buChar char="Ø"/>
            </a:pPr>
            <a:r>
              <a:rPr lang="en-US" dirty="0">
                <a:solidFill>
                  <a:srgbClr val="002060"/>
                </a:solidFill>
                <a:effectLst>
                  <a:outerShdw blurRad="38100" dist="38100" dir="2700000" algn="tl">
                    <a:srgbClr val="000000">
                      <a:alpha val="43137"/>
                    </a:srgbClr>
                  </a:outerShdw>
                </a:effectLst>
              </a:rPr>
              <a:t>Requirement: Required for terrestrial, satellite, and cable broadcasting. Internet radio/TV typically </a:t>
            </a:r>
            <a:r>
              <a:rPr lang="pl-PL" dirty="0" err="1">
                <a:solidFill>
                  <a:srgbClr val="002060"/>
                </a:solidFill>
                <a:effectLst>
                  <a:outerShdw blurRad="38100" dist="38100" dir="2700000" algn="tl">
                    <a:srgbClr val="000000">
                      <a:alpha val="43137"/>
                    </a:srgbClr>
                  </a:outerShdw>
                </a:effectLst>
              </a:rPr>
              <a:t>does</a:t>
            </a:r>
            <a:r>
              <a:rPr lang="en-US" dirty="0">
                <a:solidFill>
                  <a:srgbClr val="002060"/>
                </a:solidFill>
                <a:effectLst>
                  <a:outerShdw blurRad="38100" dist="38100" dir="2700000" algn="tl">
                    <a:srgbClr val="000000">
                      <a:alpha val="43137"/>
                    </a:srgbClr>
                  </a:outerShdw>
                </a:effectLst>
              </a:rPr>
              <a:t> not require a license from the National Broadcasting Council.</a:t>
            </a:r>
          </a:p>
          <a:p>
            <a:pPr>
              <a:buFont typeface="Wingdings" panose="05000000000000000000" pitchFamily="2" charset="2"/>
              <a:buChar char="Ø"/>
            </a:pPr>
            <a:r>
              <a:rPr lang="en-US" dirty="0">
                <a:solidFill>
                  <a:srgbClr val="002060"/>
                </a:solidFill>
                <a:effectLst>
                  <a:outerShdw blurRad="38100" dist="38100" dir="2700000" algn="tl">
                    <a:srgbClr val="000000">
                      <a:alpha val="43137"/>
                    </a:srgbClr>
                  </a:outerShdw>
                </a:effectLst>
              </a:rPr>
              <a:t>Authority: Decisions are made by the Chairman of the National Broadcasting Council based on a resolution of the Council.</a:t>
            </a:r>
          </a:p>
          <a:p>
            <a:pPr>
              <a:buFont typeface="Wingdings" panose="05000000000000000000" pitchFamily="2" charset="2"/>
              <a:buChar char="Ø"/>
            </a:pPr>
            <a:r>
              <a:rPr lang="en-US" dirty="0">
                <a:solidFill>
                  <a:srgbClr val="002060"/>
                </a:solidFill>
                <a:effectLst>
                  <a:outerShdw blurRad="38100" dist="38100" dir="2700000" algn="tl">
                    <a:srgbClr val="000000">
                      <a:alpha val="43137"/>
                    </a:srgbClr>
                  </a:outerShdw>
                </a:effectLst>
              </a:rPr>
              <a:t>Application evaluation criteria: Compliance with the program objectives (information, culture, education), financial capacity, and the presence of Polish production.</a:t>
            </a:r>
          </a:p>
          <a:p>
            <a:pPr>
              <a:buFont typeface="Wingdings" panose="05000000000000000000" pitchFamily="2" charset="2"/>
              <a:buChar char="Ø"/>
            </a:pPr>
            <a:r>
              <a:rPr lang="en-US" dirty="0">
                <a:solidFill>
                  <a:srgbClr val="002060"/>
                </a:solidFill>
                <a:effectLst>
                  <a:outerShdw blurRad="38100" dist="38100" dir="2700000" algn="tl">
                    <a:srgbClr val="000000">
                      <a:alpha val="43137"/>
                    </a:srgbClr>
                  </a:outerShdw>
                </a:effectLst>
              </a:rPr>
              <a:t>Ownership structure: The license may be revoked if control of the broadcaster is taken over by an entity from outside the European Economic Area, and its shareholding exceeds 49%.</a:t>
            </a:r>
          </a:p>
          <a:p>
            <a:endParaRPr lang="pl-PL" dirty="0">
              <a:solidFill>
                <a:srgbClr val="002060"/>
              </a:solidFill>
              <a:effectLst>
                <a:outerShdw blurRad="38100" dist="38100" dir="2700000" algn="tl">
                  <a:srgbClr val="000000">
                    <a:alpha val="43137"/>
                  </a:srgbClr>
                </a:outerShdw>
              </a:effectLst>
            </a:endParaRPr>
          </a:p>
          <a:p>
            <a:endParaRPr lang="en-US" dirty="0"/>
          </a:p>
          <a:p>
            <a:pPr marL="0" indent="0">
              <a:buNone/>
            </a:pPr>
            <a:endParaRPr lang="pl-PL" dirty="0"/>
          </a:p>
        </p:txBody>
      </p:sp>
    </p:spTree>
    <p:extLst>
      <p:ext uri="{BB962C8B-B14F-4D97-AF65-F5344CB8AC3E}">
        <p14:creationId xmlns:p14="http://schemas.microsoft.com/office/powerpoint/2010/main" val="4099188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3EB9CA3-5393-F0C2-BF50-1170D971DE5B}"/>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License - </a:t>
            </a:r>
            <a:r>
              <a:rPr lang="pl-PL" dirty="0" err="1">
                <a:solidFill>
                  <a:srgbClr val="FF0000"/>
                </a:solidFill>
                <a:effectLst>
                  <a:outerShdw blurRad="38100" dist="38100" dir="2700000" algn="tl">
                    <a:srgbClr val="000000">
                      <a:alpha val="43137"/>
                    </a:srgbClr>
                  </a:outerShdw>
                </a:effectLst>
              </a:rPr>
              <a:t>examples</a:t>
            </a:r>
            <a:endParaRPr lang="en-US" dirty="0"/>
          </a:p>
        </p:txBody>
      </p:sp>
      <p:sp>
        <p:nvSpPr>
          <p:cNvPr id="3" name="Symbol zastępczy zawartości 2">
            <a:extLst>
              <a:ext uri="{FF2B5EF4-FFF2-40B4-BE49-F238E27FC236}">
                <a16:creationId xmlns:a16="http://schemas.microsoft.com/office/drawing/2014/main" id="{B76F8CEA-E755-7D2F-AB73-69E15D06E29F}"/>
              </a:ext>
            </a:extLst>
          </p:cNvPr>
          <p:cNvSpPr>
            <a:spLocks noGrp="1"/>
          </p:cNvSpPr>
          <p:nvPr>
            <p:ph idx="1"/>
          </p:nvPr>
        </p:nvSpPr>
        <p:spPr/>
        <p:txBody>
          <a:bodyPr>
            <a:normAutofit fontScale="62500" lnSpcReduction="20000"/>
          </a:bodyPr>
          <a:lstStyle/>
          <a:p>
            <a:pPr marL="0" indent="0">
              <a:buNone/>
            </a:pPr>
            <a:r>
              <a:rPr lang="en-US" noProof="0" dirty="0">
                <a:solidFill>
                  <a:srgbClr val="002060"/>
                </a:solidFill>
                <a:effectLst>
                  <a:outerShdw blurRad="38100" dist="38100" dir="2700000" algn="tl">
                    <a:srgbClr val="000000">
                      <a:alpha val="43137"/>
                    </a:srgbClr>
                  </a:outerShdw>
                </a:effectLst>
              </a:rPr>
              <a:t>ENERGY</a:t>
            </a:r>
          </a:p>
          <a:p>
            <a:r>
              <a:rPr lang="en-US" noProof="0" dirty="0">
                <a:solidFill>
                  <a:srgbClr val="002060"/>
                </a:solidFill>
                <a:effectLst>
                  <a:outerShdw blurRad="38100" dist="38100" dir="2700000" algn="tl">
                    <a:srgbClr val="000000">
                      <a:alpha val="43137"/>
                    </a:srgbClr>
                  </a:outerShdw>
                </a:effectLst>
              </a:rPr>
              <a:t>Electricity distribution </a:t>
            </a:r>
          </a:p>
          <a:p>
            <a:r>
              <a:rPr lang="en-US" noProof="0" dirty="0">
                <a:solidFill>
                  <a:srgbClr val="002060"/>
                </a:solidFill>
                <a:effectLst>
                  <a:outerShdw blurRad="38100" dist="38100" dir="2700000" algn="tl">
                    <a:srgbClr val="000000">
                      <a:alpha val="43137"/>
                    </a:srgbClr>
                  </a:outerShdw>
                </a:effectLst>
              </a:rPr>
              <a:t>Gas fuel distribution</a:t>
            </a:r>
          </a:p>
          <a:p>
            <a:r>
              <a:rPr lang="en-US" b="1" noProof="0" dirty="0">
                <a:solidFill>
                  <a:srgbClr val="002060"/>
                </a:solidFill>
                <a:effectLst>
                  <a:outerShdw blurRad="38100" dist="38100" dir="2700000" algn="tl">
                    <a:srgbClr val="000000">
                      <a:alpha val="43137"/>
                    </a:srgbClr>
                  </a:outerShdw>
                </a:effectLst>
              </a:rPr>
              <a:t>Electricity trade</a:t>
            </a:r>
          </a:p>
          <a:p>
            <a:r>
              <a:rPr lang="en-US" noProof="0" dirty="0">
                <a:solidFill>
                  <a:srgbClr val="002060"/>
                </a:solidFill>
                <a:effectLst>
                  <a:outerShdw blurRad="38100" dist="38100" dir="2700000" algn="tl">
                    <a:srgbClr val="000000">
                      <a:alpha val="43137"/>
                    </a:srgbClr>
                  </a:outerShdw>
                </a:effectLst>
              </a:rPr>
              <a:t>International natural gas trade</a:t>
            </a:r>
          </a:p>
          <a:p>
            <a:r>
              <a:rPr lang="en-US" b="1" noProof="0" dirty="0">
                <a:solidFill>
                  <a:srgbClr val="002060"/>
                </a:solidFill>
                <a:effectLst>
                  <a:outerShdw blurRad="38100" dist="38100" dir="2700000" algn="tl">
                    <a:srgbClr val="000000">
                      <a:alpha val="43137"/>
                    </a:srgbClr>
                  </a:outerShdw>
                </a:effectLst>
              </a:rPr>
              <a:t>Liquid fuel trade</a:t>
            </a:r>
          </a:p>
          <a:p>
            <a:r>
              <a:rPr lang="en-US" noProof="0" dirty="0">
                <a:solidFill>
                  <a:srgbClr val="002060"/>
                </a:solidFill>
                <a:effectLst>
                  <a:outerShdw blurRad="38100" dist="38100" dir="2700000" algn="tl">
                    <a:srgbClr val="000000">
                      <a:alpha val="43137"/>
                    </a:srgbClr>
                  </a:outerShdw>
                </a:effectLst>
              </a:rPr>
              <a:t>International liquid fuel trade</a:t>
            </a:r>
          </a:p>
          <a:p>
            <a:r>
              <a:rPr lang="en-US" b="1" noProof="0" dirty="0">
                <a:solidFill>
                  <a:srgbClr val="002060"/>
                </a:solidFill>
                <a:effectLst>
                  <a:outerShdw blurRad="38100" dist="38100" dir="2700000" algn="tl">
                    <a:srgbClr val="000000">
                      <a:alpha val="43137"/>
                    </a:srgbClr>
                  </a:outerShdw>
                </a:effectLst>
              </a:rPr>
              <a:t>Gas fuel trade</a:t>
            </a:r>
          </a:p>
          <a:p>
            <a:r>
              <a:rPr lang="en-US" noProof="0" dirty="0">
                <a:solidFill>
                  <a:srgbClr val="002060"/>
                </a:solidFill>
                <a:effectLst>
                  <a:outerShdw blurRad="38100" dist="38100" dir="2700000" algn="tl">
                    <a:srgbClr val="000000">
                      <a:alpha val="43137"/>
                    </a:srgbClr>
                  </a:outerShdw>
                </a:effectLst>
              </a:rPr>
              <a:t>Heat transmission and distribution</a:t>
            </a:r>
          </a:p>
          <a:p>
            <a:r>
              <a:rPr lang="en-US" noProof="0" dirty="0">
                <a:solidFill>
                  <a:srgbClr val="002060"/>
                </a:solidFill>
                <a:effectLst>
                  <a:outerShdw blurRad="38100" dist="38100" dir="2700000" algn="tl">
                    <a:srgbClr val="000000">
                      <a:alpha val="43137"/>
                    </a:srgbClr>
                  </a:outerShdw>
                </a:effectLst>
              </a:rPr>
              <a:t>Natural gas liquefaction and regasification in liquefied gas installations</a:t>
            </a:r>
          </a:p>
          <a:p>
            <a:r>
              <a:rPr lang="en-US" noProof="0" dirty="0">
                <a:solidFill>
                  <a:srgbClr val="002060"/>
                </a:solidFill>
                <a:effectLst>
                  <a:outerShdw blurRad="38100" dist="38100" dir="2700000" algn="tl">
                    <a:srgbClr val="000000">
                      <a:alpha val="43137"/>
                    </a:srgbClr>
                  </a:outerShdw>
                </a:effectLst>
              </a:rPr>
              <a:t>Heat generation</a:t>
            </a:r>
          </a:p>
          <a:p>
            <a:r>
              <a:rPr lang="en-US" noProof="0" dirty="0">
                <a:solidFill>
                  <a:srgbClr val="002060"/>
                </a:solidFill>
                <a:effectLst>
                  <a:outerShdw blurRad="38100" dist="38100" dir="2700000" algn="tl">
                    <a:srgbClr val="000000">
                      <a:alpha val="43137"/>
                    </a:srgbClr>
                  </a:outerShdw>
                </a:effectLst>
              </a:rPr>
              <a:t>Electricity generation</a:t>
            </a:r>
          </a:p>
          <a:p>
            <a:r>
              <a:rPr lang="en-US" noProof="0" dirty="0">
                <a:solidFill>
                  <a:srgbClr val="002060"/>
                </a:solidFill>
                <a:effectLst>
                  <a:outerShdw blurRad="38100" dist="38100" dir="2700000" algn="tl">
                    <a:srgbClr val="000000">
                      <a:alpha val="43137"/>
                    </a:srgbClr>
                  </a:outerShdw>
                </a:effectLst>
              </a:rPr>
              <a:t>Electricity generation in cogeneration</a:t>
            </a:r>
          </a:p>
          <a:p>
            <a:r>
              <a:rPr lang="en-US" noProof="0" dirty="0">
                <a:solidFill>
                  <a:srgbClr val="002060"/>
                </a:solidFill>
                <a:effectLst>
                  <a:outerShdw blurRad="38100" dist="38100" dir="2700000" algn="tl">
                    <a:srgbClr val="000000">
                      <a:alpha val="43137"/>
                    </a:srgbClr>
                  </a:outerShdw>
                </a:effectLst>
              </a:rPr>
              <a:t>Electricity generation from renewable energy sources</a:t>
            </a:r>
          </a:p>
          <a:p>
            <a:r>
              <a:rPr lang="en-US" noProof="0" dirty="0">
                <a:solidFill>
                  <a:srgbClr val="002060"/>
                </a:solidFill>
                <a:effectLst>
                  <a:outerShdw blurRad="38100" dist="38100" dir="2700000" algn="tl">
                    <a:srgbClr val="000000">
                      <a:alpha val="43137"/>
                    </a:srgbClr>
                  </a:outerShdw>
                </a:effectLst>
              </a:rPr>
              <a:t>Liquid fuel production</a:t>
            </a:r>
          </a:p>
          <a:p>
            <a:endParaRPr lang="en-US" dirty="0"/>
          </a:p>
        </p:txBody>
      </p:sp>
    </p:spTree>
    <p:extLst>
      <p:ext uri="{BB962C8B-B14F-4D97-AF65-F5344CB8AC3E}">
        <p14:creationId xmlns:p14="http://schemas.microsoft.com/office/powerpoint/2010/main" val="2940326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880CCEC-D4E9-F301-BAB4-B9338A8F0255}"/>
              </a:ext>
            </a:extLst>
          </p:cNvPr>
          <p:cNvSpPr>
            <a:spLocks noGrp="1"/>
          </p:cNvSpPr>
          <p:nvPr>
            <p:ph type="title"/>
          </p:nvPr>
        </p:nvSpPr>
        <p:spPr/>
        <p:txBody>
          <a:bodyPr/>
          <a:lstStyle/>
          <a:p>
            <a:r>
              <a:rPr lang="pl-PL" dirty="0" err="1">
                <a:solidFill>
                  <a:srgbClr val="FF0000"/>
                </a:solidFill>
                <a:effectLst>
                  <a:outerShdw blurRad="38100" dist="38100" dir="2700000" algn="tl">
                    <a:srgbClr val="000000">
                      <a:alpha val="43137"/>
                    </a:srgbClr>
                  </a:outerShdw>
                </a:effectLst>
              </a:rPr>
              <a:t>Refusal</a:t>
            </a:r>
            <a:r>
              <a:rPr lang="pl-PL" dirty="0">
                <a:solidFill>
                  <a:srgbClr val="FF0000"/>
                </a:solidFill>
                <a:effectLst>
                  <a:outerShdw blurRad="38100" dist="38100" dir="2700000" algn="tl">
                    <a:srgbClr val="000000">
                      <a:alpha val="43137"/>
                    </a:srgbClr>
                  </a:outerShdw>
                </a:effectLst>
              </a:rPr>
              <a:t> to grant a </a:t>
            </a:r>
            <a:r>
              <a:rPr lang="pl-PL" dirty="0" err="1">
                <a:solidFill>
                  <a:srgbClr val="FF0000"/>
                </a:solidFill>
                <a:effectLst>
                  <a:outerShdw blurRad="38100" dist="38100" dir="2700000" algn="tl">
                    <a:srgbClr val="000000">
                      <a:alpha val="43137"/>
                    </a:srgbClr>
                  </a:outerShdw>
                </a:effectLst>
              </a:rPr>
              <a:t>license</a:t>
            </a:r>
            <a:endParaRPr lang="en-US"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EC5E9CBE-A938-8192-447B-F0257E19877B}"/>
              </a:ext>
            </a:extLst>
          </p:cNvPr>
          <p:cNvSpPr>
            <a:spLocks noGrp="1"/>
          </p:cNvSpPr>
          <p:nvPr>
            <p:ph idx="1"/>
          </p:nvPr>
        </p:nvSpPr>
        <p:spPr/>
        <p:txBody>
          <a:bodyPr>
            <a:normAutofit fontScale="92500" lnSpcReduction="10000"/>
          </a:bodyPr>
          <a:lstStyle/>
          <a:p>
            <a:pPr marL="0" indent="0">
              <a:buNone/>
            </a:pPr>
            <a:r>
              <a:rPr lang="pl-PL" b="1" dirty="0">
                <a:solidFill>
                  <a:srgbClr val="FF0000"/>
                </a:solidFill>
                <a:effectLst>
                  <a:outerShdw blurRad="38100" dist="38100" dir="2700000" algn="tl">
                    <a:srgbClr val="000000">
                      <a:alpha val="43137"/>
                    </a:srgbClr>
                  </a:outerShdw>
                </a:effectLst>
              </a:rPr>
              <a:t>A </a:t>
            </a:r>
            <a:r>
              <a:rPr lang="pl-PL" b="1" dirty="0" err="1">
                <a:solidFill>
                  <a:srgbClr val="FF0000"/>
                </a:solidFill>
                <a:effectLst>
                  <a:outerShdw blurRad="38100" dist="38100" dir="2700000" algn="tl">
                    <a:srgbClr val="000000">
                      <a:alpha val="43137"/>
                    </a:srgbClr>
                  </a:outerShdw>
                </a:effectLst>
              </a:rPr>
              <a:t>license</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is</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denied</a:t>
            </a:r>
            <a:r>
              <a:rPr lang="pl-PL" b="1" dirty="0">
                <a:solidFill>
                  <a:srgbClr val="FF0000"/>
                </a:solidFill>
                <a:effectLst>
                  <a:outerShdw blurRad="38100" dist="38100" dir="2700000" algn="tl">
                    <a:srgbClr val="000000">
                      <a:alpha val="43137"/>
                    </a:srgbClr>
                  </a:outerShdw>
                </a:effectLst>
              </a:rPr>
              <a:t>:</a:t>
            </a:r>
          </a:p>
          <a:p>
            <a:pPr marL="0" indent="0">
              <a:buNone/>
            </a:pPr>
            <a:r>
              <a:rPr lang="en-US" dirty="0">
                <a:effectLst>
                  <a:outerShdw blurRad="38100" dist="38100" dir="2700000" algn="tl">
                    <a:srgbClr val="000000">
                      <a:alpha val="43137"/>
                    </a:srgbClr>
                  </a:outerShdw>
                </a:effectLst>
              </a:rPr>
              <a:t>1) if the conditions for granting a license are not met [e.g., lack of capital];</a:t>
            </a:r>
          </a:p>
          <a:p>
            <a:pPr marL="0" indent="0">
              <a:buNone/>
            </a:pPr>
            <a:r>
              <a:rPr lang="en-US" dirty="0">
                <a:effectLst>
                  <a:outerShdw blurRad="38100" dist="38100" dir="2700000" algn="tl">
                    <a:srgbClr val="000000">
                      <a:alpha val="43137"/>
                    </a:srgbClr>
                  </a:outerShdw>
                </a:effectLst>
              </a:rPr>
              <a:t>2) due to a threat to the defense or security of the state or its citizens;</a:t>
            </a:r>
          </a:p>
          <a:p>
            <a:pPr marL="0" indent="0">
              <a:buNone/>
            </a:pPr>
            <a:r>
              <a:rPr lang="en-US" dirty="0">
                <a:effectLst>
                  <a:outerShdw blurRad="38100" dist="38100" dir="2700000" algn="tl">
                    <a:srgbClr val="000000">
                      <a:alpha val="43137"/>
                    </a:srgbClr>
                  </a:outerShdw>
                </a:effectLst>
              </a:rPr>
              <a:t>3) if, as a result of a hearing or tender, a license is granted to another entrepreneur or entrepreneurs;</a:t>
            </a:r>
          </a:p>
          <a:p>
            <a:pPr marL="0" indent="0">
              <a:buNone/>
            </a:pPr>
            <a:r>
              <a:rPr lang="en-US" dirty="0">
                <a:effectLst>
                  <a:outerShdw blurRad="38100" dist="38100" dir="2700000" algn="tl">
                    <a:srgbClr val="000000">
                      <a:alpha val="43137"/>
                    </a:srgbClr>
                  </a:outerShdw>
                </a:effectLst>
              </a:rPr>
              <a:t>4) if a decision has been issued declaring the exercise of rights attached to the entrepreneur's shares inadmissible, pursuant to the provisions of the Act of 24 July 2015 on the Control of Certain Investments (...), if this is in the public interest;</a:t>
            </a:r>
          </a:p>
          <a:p>
            <a:pPr marL="0" indent="0">
              <a:buNone/>
            </a:pPr>
            <a:r>
              <a:rPr lang="en-US" dirty="0">
                <a:effectLst>
                  <a:outerShdw blurRad="38100" dist="38100" dir="2700000" algn="tl">
                    <a:srgbClr val="000000">
                      <a:alpha val="43137"/>
                    </a:srgbClr>
                  </a:outerShdw>
                </a:effectLst>
              </a:rPr>
              <a:t>5) in cases specified in separate regulations.</a:t>
            </a:r>
          </a:p>
          <a:p>
            <a:r>
              <a:rPr lang="en-US" dirty="0">
                <a:effectLst>
                  <a:outerShdw blurRad="38100" dist="38100" dir="2700000" algn="tl">
                    <a:srgbClr val="000000">
                      <a:alpha val="43137"/>
                    </a:srgbClr>
                  </a:outerShdw>
                </a:effectLst>
              </a:rPr>
              <a:t>The licensing authority may temporarily suspend the granting of a license for the </a:t>
            </a:r>
            <a:r>
              <a:rPr lang="pl-PL" dirty="0" err="1">
                <a:effectLst>
                  <a:outerShdw blurRad="38100" dist="38100" dir="2700000" algn="tl">
                    <a:srgbClr val="000000">
                      <a:alpha val="43137"/>
                    </a:srgbClr>
                  </a:outerShdw>
                </a:effectLst>
              </a:rPr>
              <a:t>above</a:t>
            </a:r>
            <a:r>
              <a:rPr lang="pl-PL"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reasons</a:t>
            </a:r>
            <a:r>
              <a:rPr lang="pl-PL" dirty="0">
                <a:effectLst>
                  <a:outerShdw blurRad="38100" dist="38100" dir="2700000" algn="tl">
                    <a:srgbClr val="000000">
                      <a:alpha val="43137"/>
                    </a:srgbClr>
                  </a:outerShdw>
                </a:effectLst>
              </a:rPr>
              <a:t>.</a:t>
            </a:r>
            <a:endParaRPr lang="en-US" dirty="0">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1409716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258122D-35E0-FF58-D40D-BD8EDBB43105}"/>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highlight>
                  <a:srgbClr val="00FF00"/>
                </a:highlight>
              </a:rPr>
              <a:t>Notification </a:t>
            </a:r>
            <a:r>
              <a:rPr lang="pl-PL" dirty="0">
                <a:solidFill>
                  <a:srgbClr val="FF0000"/>
                </a:solidFill>
                <a:effectLst>
                  <a:outerShdw blurRad="38100" dist="38100" dir="2700000" algn="tl">
                    <a:srgbClr val="000000">
                      <a:alpha val="43137"/>
                    </a:srgbClr>
                  </a:outerShdw>
                </a:effectLst>
              </a:rPr>
              <a:t>(a </a:t>
            </a:r>
            <a:r>
              <a:rPr lang="pl-PL" dirty="0" err="1">
                <a:solidFill>
                  <a:srgbClr val="FF0000"/>
                </a:solidFill>
                <a:effectLst>
                  <a:outerShdw blurRad="38100" dist="38100" dir="2700000" algn="tl">
                    <a:srgbClr val="000000">
                      <a:alpha val="43137"/>
                    </a:srgbClr>
                  </a:outerShdw>
                </a:effectLst>
              </a:rPr>
              <a:t>variation</a:t>
            </a:r>
            <a:r>
              <a:rPr lang="pl-PL" dirty="0">
                <a:solidFill>
                  <a:srgbClr val="FF0000"/>
                </a:solidFill>
                <a:effectLst>
                  <a:outerShdw blurRad="38100" dist="38100" dir="2700000" algn="tl">
                    <a:srgbClr val="000000">
                      <a:alpha val="43137"/>
                    </a:srgbClr>
                  </a:outerShdw>
                </a:effectLst>
              </a:rPr>
              <a:t> of the </a:t>
            </a:r>
            <a:r>
              <a:rPr lang="pl-PL" dirty="0" err="1">
                <a:solidFill>
                  <a:srgbClr val="FF0000"/>
                </a:solidFill>
                <a:effectLst>
                  <a:outerShdw blurRad="38100" dist="38100" dir="2700000" algn="tl">
                    <a:srgbClr val="000000">
                      <a:alpha val="43137"/>
                    </a:srgbClr>
                  </a:outerShdw>
                </a:effectLst>
              </a:rPr>
              <a:t>permit</a:t>
            </a:r>
            <a:r>
              <a:rPr lang="pl-PL" dirty="0">
                <a:solidFill>
                  <a:srgbClr val="FF0000"/>
                </a:solidFill>
                <a:effectLst>
                  <a:outerShdw blurRad="38100" dist="38100" dir="2700000" algn="tl">
                    <a:srgbClr val="000000">
                      <a:alpha val="43137"/>
                    </a:srgbClr>
                  </a:outerShdw>
                </a:effectLst>
              </a:rPr>
              <a:t> system) </a:t>
            </a:r>
            <a:endParaRPr lang="en-US" dirty="0"/>
          </a:p>
        </p:txBody>
      </p:sp>
      <p:sp>
        <p:nvSpPr>
          <p:cNvPr id="3" name="Symbol zastępczy zawartości 2">
            <a:extLst>
              <a:ext uri="{FF2B5EF4-FFF2-40B4-BE49-F238E27FC236}">
                <a16:creationId xmlns:a16="http://schemas.microsoft.com/office/drawing/2014/main" id="{4A0DC836-AA19-46C6-166A-FA45866AB184}"/>
              </a:ext>
            </a:extLst>
          </p:cNvPr>
          <p:cNvSpPr>
            <a:spLocks noGrp="1"/>
          </p:cNvSpPr>
          <p:nvPr>
            <p:ph idx="1"/>
          </p:nvPr>
        </p:nvSpPr>
        <p:spPr/>
        <p:txBody>
          <a:bodyPr>
            <a:normAutofit fontScale="77500" lnSpcReduction="20000"/>
          </a:bodyPr>
          <a:lstStyle/>
          <a:p>
            <a:r>
              <a:rPr lang="en-US" sz="3500" noProof="0" dirty="0">
                <a:solidFill>
                  <a:srgbClr val="002060"/>
                </a:solidFill>
                <a:effectLst>
                  <a:outerShdw blurRad="38100" dist="38100" dir="2700000" algn="tl">
                    <a:srgbClr val="000000">
                      <a:alpha val="43137"/>
                    </a:srgbClr>
                  </a:outerShdw>
                </a:effectLst>
              </a:rPr>
              <a:t>Some business activities require </a:t>
            </a:r>
            <a:r>
              <a:rPr lang="en-US" sz="3500" b="1" noProof="0" dirty="0">
                <a:solidFill>
                  <a:srgbClr val="FF0000"/>
                </a:solidFill>
                <a:effectLst>
                  <a:outerShdw blurRad="38100" dist="38100" dir="2700000" algn="tl">
                    <a:srgbClr val="000000">
                      <a:alpha val="43137"/>
                    </a:srgbClr>
                  </a:outerShdw>
                </a:effectLst>
              </a:rPr>
              <a:t>notification</a:t>
            </a:r>
            <a:r>
              <a:rPr lang="en-US" sz="3500" noProof="0" dirty="0">
                <a:solidFill>
                  <a:srgbClr val="002060"/>
                </a:solidFill>
                <a:effectLst>
                  <a:outerShdw blurRad="38100" dist="38100" dir="2700000" algn="tl">
                    <a:srgbClr val="000000">
                      <a:alpha val="43137"/>
                    </a:srgbClr>
                  </a:outerShdw>
                </a:effectLst>
              </a:rPr>
              <a:t> to the relevant authority of the intention to undertake business activity (e.g., tourist services)</a:t>
            </a:r>
          </a:p>
          <a:p>
            <a:r>
              <a:rPr lang="pl-PL" sz="3500" dirty="0">
                <a:solidFill>
                  <a:srgbClr val="002060"/>
                </a:solidFill>
                <a:effectLst>
                  <a:outerShdw blurRad="38100" dist="38100" dir="2700000" algn="tl">
                    <a:srgbClr val="000000">
                      <a:alpha val="43137"/>
                    </a:srgbClr>
                  </a:outerShdw>
                </a:effectLst>
              </a:rPr>
              <a:t>Notification as </a:t>
            </a:r>
            <a:r>
              <a:rPr lang="pl-PL" sz="3500" dirty="0" err="1">
                <a:solidFill>
                  <a:srgbClr val="002060"/>
                </a:solidFill>
                <a:effectLst>
                  <a:outerShdw blurRad="38100" dist="38100" dir="2700000" algn="tl">
                    <a:srgbClr val="000000">
                      <a:alpha val="43137"/>
                    </a:srgbClr>
                  </a:outerShdw>
                </a:effectLst>
              </a:rPr>
              <a:t>an</a:t>
            </a:r>
            <a:r>
              <a:rPr lang="pl-PL" sz="3500" dirty="0">
                <a:solidFill>
                  <a:srgbClr val="002060"/>
                </a:solidFill>
                <a:effectLst>
                  <a:outerShdw blurRad="38100" dist="38100" dir="2700000" algn="tl">
                    <a:srgbClr val="000000">
                      <a:alpha val="43137"/>
                    </a:srgbClr>
                  </a:outerShdw>
                </a:effectLst>
              </a:rPr>
              <a:t> a</a:t>
            </a:r>
            <a:r>
              <a:rPr lang="en-US" sz="3500" noProof="0" dirty="0" err="1">
                <a:solidFill>
                  <a:srgbClr val="002060"/>
                </a:solidFill>
                <a:effectLst>
                  <a:outerShdw blurRad="38100" dist="38100" dir="2700000" algn="tl">
                    <a:srgbClr val="000000">
                      <a:alpha val="43137"/>
                    </a:srgbClr>
                  </a:outerShdw>
                </a:effectLst>
              </a:rPr>
              <a:t>uthorisation</a:t>
            </a:r>
            <a:r>
              <a:rPr lang="en-US" sz="3500" noProof="0" dirty="0">
                <a:solidFill>
                  <a:srgbClr val="002060"/>
                </a:solidFill>
                <a:effectLst>
                  <a:outerShdw blurRad="38100" dist="38100" dir="2700000" algn="tl">
                    <a:srgbClr val="000000">
                      <a:alpha val="43137"/>
                    </a:srgbClr>
                  </a:outerShdw>
                </a:effectLst>
              </a:rPr>
              <a:t> to do business is believed to be a restriction </a:t>
            </a:r>
            <a:r>
              <a:rPr lang="en-US" sz="3500" b="1" noProof="0" dirty="0">
                <a:solidFill>
                  <a:srgbClr val="FF0000"/>
                </a:solidFill>
                <a:effectLst>
                  <a:outerShdw blurRad="38100" dist="38100" dir="2700000" algn="tl">
                    <a:srgbClr val="000000">
                      <a:alpha val="43137"/>
                    </a:srgbClr>
                  </a:outerShdw>
                </a:effectLst>
              </a:rPr>
              <a:t>milder</a:t>
            </a:r>
            <a:r>
              <a:rPr lang="en-US" sz="3500" noProof="0" dirty="0">
                <a:solidFill>
                  <a:srgbClr val="002060"/>
                </a:solidFill>
                <a:effectLst>
                  <a:outerShdw blurRad="38100" dist="38100" dir="2700000" algn="tl">
                    <a:srgbClr val="000000">
                      <a:alpha val="43137"/>
                    </a:srgbClr>
                  </a:outerShdw>
                </a:effectLst>
              </a:rPr>
              <a:t> than permission in terms of business freedom. It is debatable because the entrepreneur has to meet the same statutory standards as under the permission system. </a:t>
            </a:r>
          </a:p>
          <a:p>
            <a:r>
              <a:rPr lang="en-US" sz="3500" noProof="0" dirty="0">
                <a:solidFill>
                  <a:srgbClr val="002060"/>
                </a:solidFill>
                <a:effectLst>
                  <a:outerShdw blurRad="38100" dist="38100" dir="2700000" algn="tl">
                    <a:srgbClr val="000000">
                      <a:alpha val="43137"/>
                    </a:srgbClr>
                  </a:outerShdw>
                </a:effectLst>
              </a:rPr>
              <a:t>The founder </a:t>
            </a:r>
            <a:r>
              <a:rPr lang="en-US" sz="3500" b="1" noProof="0" dirty="0">
                <a:solidFill>
                  <a:srgbClr val="FF0000"/>
                </a:solidFill>
                <a:effectLst>
                  <a:outerShdw blurRad="38100" dist="38100" dir="2700000" algn="tl">
                    <a:srgbClr val="000000">
                      <a:alpha val="43137"/>
                    </a:srgbClr>
                  </a:outerShdw>
                </a:effectLst>
              </a:rPr>
              <a:t>declares</a:t>
            </a:r>
            <a:r>
              <a:rPr lang="en-US" sz="3500" noProof="0" dirty="0">
                <a:solidFill>
                  <a:srgbClr val="002060"/>
                </a:solidFill>
                <a:effectLst>
                  <a:outerShdw blurRad="38100" dist="38100" dir="2700000" algn="tl">
                    <a:srgbClr val="000000">
                      <a:alpha val="43137"/>
                    </a:srgbClr>
                  </a:outerShdw>
                </a:effectLst>
              </a:rPr>
              <a:t> that statutory requirements have been met. </a:t>
            </a:r>
          </a:p>
          <a:p>
            <a:r>
              <a:rPr lang="en-US" sz="3500" noProof="0" dirty="0">
                <a:solidFill>
                  <a:srgbClr val="002060"/>
                </a:solidFill>
                <a:effectLst>
                  <a:outerShdw blurRad="38100" dist="38100" dir="2700000" algn="tl">
                    <a:srgbClr val="000000">
                      <a:alpha val="43137"/>
                    </a:srgbClr>
                  </a:outerShdw>
                </a:effectLst>
              </a:rPr>
              <a:t>The authority has the right to </a:t>
            </a:r>
            <a:r>
              <a:rPr lang="en-US" sz="3500" b="1" noProof="0" dirty="0">
                <a:solidFill>
                  <a:srgbClr val="FF0000"/>
                </a:solidFill>
                <a:effectLst>
                  <a:outerShdw blurRad="38100" dist="38100" dir="2700000" algn="tl">
                    <a:srgbClr val="000000">
                      <a:alpha val="43137"/>
                    </a:srgbClr>
                  </a:outerShdw>
                </a:effectLst>
              </a:rPr>
              <a:t>object (veto)</a:t>
            </a:r>
            <a:r>
              <a:rPr lang="en-US" sz="3500" noProof="0" dirty="0">
                <a:solidFill>
                  <a:srgbClr val="002060"/>
                </a:solidFill>
                <a:effectLst>
                  <a:outerShdw blurRad="38100" dist="38100" dir="2700000" algn="tl">
                    <a:srgbClr val="000000">
                      <a:alpha val="43137"/>
                    </a:srgbClr>
                  </a:outerShdw>
                </a:effectLst>
              </a:rPr>
              <a:t>; After 14 days of silence, the entrepreneur has the right to perform a given activity</a:t>
            </a:r>
            <a:r>
              <a:rPr lang="pl-PL" sz="3500" dirty="0">
                <a:solidFill>
                  <a:srgbClr val="002060"/>
                </a:solidFill>
                <a:effectLst>
                  <a:outerShdw blurRad="38100" dist="38100" dir="2700000" algn="tl">
                    <a:srgbClr val="000000">
                      <a:alpha val="43137"/>
                    </a:srgbClr>
                  </a:outerShdw>
                </a:effectLst>
              </a:rPr>
              <a:t>.</a:t>
            </a:r>
            <a:endParaRPr lang="en-US" sz="3500"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993680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A57CA7C-C5E4-4662-8717-0CCEA77B95EE}"/>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Administrative</a:t>
            </a:r>
            <a:r>
              <a:rPr lang="pl-PL" dirty="0">
                <a:solidFill>
                  <a:srgbClr val="002060"/>
                </a:solidFill>
                <a:effectLst>
                  <a:outerShdw blurRad="38100" dist="38100" dir="2700000" algn="tl">
                    <a:srgbClr val="000000">
                      <a:alpha val="43137"/>
                    </a:srgbClr>
                  </a:outerShdw>
                </a:effectLst>
              </a:rPr>
              <a:t> </a:t>
            </a:r>
            <a:r>
              <a:rPr lang="pl-PL" dirty="0" err="1">
                <a:solidFill>
                  <a:srgbClr val="FF0000"/>
                </a:solidFill>
                <a:effectLst>
                  <a:outerShdw blurRad="38100" dist="38100" dir="2700000" algn="tl">
                    <a:srgbClr val="000000">
                      <a:alpha val="43137"/>
                    </a:srgbClr>
                  </a:outerShdw>
                </a:effectLst>
                <a:highlight>
                  <a:srgbClr val="00FF00"/>
                </a:highlight>
              </a:rPr>
              <a:t>promise</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Polish</a:t>
            </a:r>
            <a:r>
              <a:rPr lang="pl-PL" dirty="0">
                <a:solidFill>
                  <a:srgbClr val="002060"/>
                </a:solidFill>
                <a:effectLst>
                  <a:outerShdw blurRad="38100" dist="38100" dir="2700000" algn="tl">
                    <a:srgbClr val="000000">
                      <a:alpha val="43137"/>
                    </a:srgbClr>
                  </a:outerShdw>
                </a:effectLst>
              </a:rPr>
              <a:t>: promesa]</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CD84C156-49D5-5989-A167-4FE857DE558F}"/>
              </a:ext>
            </a:extLst>
          </p:cNvPr>
          <p:cNvSpPr>
            <a:spLocks noGrp="1"/>
          </p:cNvSpPr>
          <p:nvPr>
            <p:ph idx="1"/>
          </p:nvPr>
        </p:nvSpPr>
        <p:spPr/>
        <p:txBody>
          <a:bodyPr>
            <a:normAutofit fontScale="77500" lnSpcReduction="20000"/>
          </a:bodyPr>
          <a:lstStyle/>
          <a:p>
            <a:r>
              <a:rPr lang="en-US" noProof="0" dirty="0">
                <a:solidFill>
                  <a:srgbClr val="002060"/>
                </a:solidFill>
                <a:effectLst>
                  <a:outerShdw blurRad="38100" dist="38100" dir="2700000" algn="tl">
                    <a:srgbClr val="000000">
                      <a:alpha val="43137"/>
                    </a:srgbClr>
                  </a:outerShdw>
                </a:effectLst>
              </a:rPr>
              <a:t>An entrepreneur who intends to undertake business activity in the area covered by the permit or a license may apply for </a:t>
            </a:r>
            <a:r>
              <a:rPr lang="en-US" b="1" noProof="0" dirty="0">
                <a:solidFill>
                  <a:srgbClr val="FF0000"/>
                </a:solidFill>
                <a:effectLst>
                  <a:outerShdw blurRad="38100" dist="38100" dir="2700000" algn="tl">
                    <a:srgbClr val="000000">
                      <a:alpha val="43137"/>
                    </a:srgbClr>
                  </a:outerShdw>
                </a:effectLst>
              </a:rPr>
              <a:t>a promise to issue a permit or a license</a:t>
            </a:r>
            <a:r>
              <a:rPr lang="en-US" noProof="0" dirty="0">
                <a:solidFill>
                  <a:srgbClr val="002060"/>
                </a:solidFill>
                <a:effectLst>
                  <a:outerShdw blurRad="38100" dist="38100" dir="2700000" algn="tl">
                    <a:srgbClr val="000000">
                      <a:alpha val="43137"/>
                    </a:srgbClr>
                  </a:outerShdw>
                </a:effectLst>
              </a:rPr>
              <a:t>.„</a:t>
            </a:r>
          </a:p>
          <a:p>
            <a:r>
              <a:rPr lang="en-US" b="1" noProof="0" dirty="0">
                <a:solidFill>
                  <a:srgbClr val="FF0000"/>
                </a:solidFill>
                <a:effectLst>
                  <a:outerShdw blurRad="38100" dist="38100" dir="2700000" algn="tl">
                    <a:srgbClr val="000000">
                      <a:alpha val="43137"/>
                    </a:srgbClr>
                  </a:outerShdw>
                </a:effectLst>
              </a:rPr>
              <a:t>The purpose of a promise </a:t>
            </a:r>
            <a:r>
              <a:rPr lang="en-US" noProof="0" dirty="0">
                <a:solidFill>
                  <a:srgbClr val="002060"/>
                </a:solidFill>
                <a:effectLst>
                  <a:outerShdw blurRad="38100" dist="38100" dir="2700000" algn="tl">
                    <a:srgbClr val="000000">
                      <a:alpha val="43137"/>
                    </a:srgbClr>
                  </a:outerShdw>
                </a:effectLst>
              </a:rPr>
              <a:t>is to allow an entrepreneur to make preparations (sometimes expensive) while having a stable prospect to be able to operate such a business</a:t>
            </a:r>
          </a:p>
          <a:p>
            <a:r>
              <a:rPr lang="en-US" noProof="0" dirty="0">
                <a:solidFill>
                  <a:srgbClr val="002060"/>
                </a:solidFill>
                <a:effectLst>
                  <a:outerShdw blurRad="38100" dist="38100" dir="2700000" algn="tl">
                    <a:srgbClr val="000000">
                      <a:alpha val="43137"/>
                    </a:srgbClr>
                  </a:outerShdw>
                </a:effectLst>
              </a:rPr>
              <a:t>The promise may condition the granting of the permit on meeting the conditions for conducting the business activity covered by the permit.</a:t>
            </a:r>
          </a:p>
          <a:p>
            <a:r>
              <a:rPr lang="en-US" b="1" noProof="0" dirty="0">
                <a:solidFill>
                  <a:srgbClr val="002060"/>
                </a:solidFill>
                <a:effectLst>
                  <a:outerShdw blurRad="38100" dist="38100" dir="2700000" algn="tl">
                    <a:srgbClr val="000000">
                      <a:alpha val="43137"/>
                    </a:srgbClr>
                  </a:outerShdw>
                </a:effectLst>
              </a:rPr>
              <a:t>The same procedure and authority </a:t>
            </a:r>
            <a:r>
              <a:rPr lang="en-US" noProof="0" dirty="0">
                <a:solidFill>
                  <a:srgbClr val="002060"/>
                </a:solidFill>
                <a:effectLst>
                  <a:outerShdw blurRad="38100" dist="38100" dir="2700000" algn="tl">
                    <a:srgbClr val="000000">
                      <a:alpha val="43137"/>
                    </a:srgbClr>
                  </a:outerShdw>
                </a:effectLst>
              </a:rPr>
              <a:t>as with the final act</a:t>
            </a:r>
          </a:p>
          <a:p>
            <a:r>
              <a:rPr lang="en-US" noProof="0" dirty="0">
                <a:solidFill>
                  <a:srgbClr val="002060"/>
                </a:solidFill>
                <a:effectLst>
                  <a:outerShdw blurRad="38100" dist="38100" dir="2700000" algn="tl">
                    <a:srgbClr val="000000">
                      <a:alpha val="43137"/>
                    </a:srgbClr>
                  </a:outerShdw>
                </a:effectLst>
              </a:rPr>
              <a:t>Promise is issued for at least six months</a:t>
            </a:r>
          </a:p>
          <a:p>
            <a:r>
              <a:rPr lang="en-US" noProof="0" dirty="0">
                <a:solidFill>
                  <a:srgbClr val="002060"/>
                </a:solidFill>
                <a:effectLst>
                  <a:outerShdw blurRad="38100" dist="38100" dir="2700000" algn="tl">
                    <a:srgbClr val="000000">
                      <a:alpha val="43137"/>
                    </a:srgbClr>
                  </a:outerShdw>
                </a:effectLst>
              </a:rPr>
              <a:t>During the validity period of the promise, a permit to conduct the business activity specified in the promise </a:t>
            </a:r>
            <a:r>
              <a:rPr lang="en-US" b="1" noProof="0" dirty="0">
                <a:solidFill>
                  <a:srgbClr val="FF0000"/>
                </a:solidFill>
                <a:effectLst>
                  <a:outerShdw blurRad="38100" dist="38100" dir="2700000" algn="tl">
                    <a:srgbClr val="000000">
                      <a:alpha val="43137"/>
                    </a:srgbClr>
                  </a:outerShdw>
                </a:effectLst>
              </a:rPr>
              <a:t>may not be refused </a:t>
            </a:r>
            <a:r>
              <a:rPr lang="en-US" b="1" noProof="0" dirty="0">
                <a:solidFill>
                  <a:srgbClr val="0070C0"/>
                </a:solidFill>
                <a:effectLst>
                  <a:outerShdw blurRad="38100" dist="38100" dir="2700000" algn="tl">
                    <a:srgbClr val="000000">
                      <a:alpha val="43137"/>
                    </a:srgbClr>
                  </a:outerShdw>
                </a:effectLst>
              </a:rPr>
              <a:t>unless</a:t>
            </a:r>
            <a:r>
              <a:rPr lang="en-US" noProof="0" dirty="0">
                <a:solidFill>
                  <a:srgbClr val="002060"/>
                </a:solidFill>
                <a:effectLst>
                  <a:outerShdw blurRad="38100" dist="38100" dir="2700000" algn="tl">
                    <a:srgbClr val="000000">
                      <a:alpha val="43137"/>
                    </a:srgbClr>
                  </a:outerShdw>
                </a:effectLst>
              </a:rPr>
              <a:t>:</a:t>
            </a:r>
          </a:p>
          <a:p>
            <a:pPr marL="0" indent="0">
              <a:buNone/>
            </a:pPr>
            <a:r>
              <a:rPr lang="en-US" noProof="0" dirty="0">
                <a:solidFill>
                  <a:srgbClr val="002060"/>
                </a:solidFill>
                <a:effectLst>
                  <a:outerShdw blurRad="38100" dist="38100" dir="2700000" algn="tl">
                    <a:srgbClr val="000000">
                      <a:alpha val="43137"/>
                    </a:srgbClr>
                  </a:outerShdw>
                </a:effectLst>
              </a:rPr>
              <a:t>1) the data contained in the application for the promise </a:t>
            </a:r>
            <a:r>
              <a:rPr lang="pl-PL" noProof="0" dirty="0" err="1">
                <a:solidFill>
                  <a:srgbClr val="002060"/>
                </a:solidFill>
                <a:effectLst>
                  <a:outerShdw blurRad="38100" dist="38100" dir="2700000" algn="tl">
                    <a:srgbClr val="000000">
                      <a:alpha val="43137"/>
                    </a:srgbClr>
                  </a:outerShdw>
                </a:effectLst>
              </a:rPr>
              <a:t>has</a:t>
            </a:r>
            <a:r>
              <a:rPr lang="en-US" noProof="0" dirty="0">
                <a:solidFill>
                  <a:srgbClr val="002060"/>
                </a:solidFill>
                <a:effectLst>
                  <a:outerShdw blurRad="38100" dist="38100" dir="2700000" algn="tl">
                    <a:srgbClr val="000000">
                      <a:alpha val="43137"/>
                    </a:srgbClr>
                  </a:outerShdw>
                </a:effectLst>
              </a:rPr>
              <a:t> changed, or</a:t>
            </a:r>
          </a:p>
          <a:p>
            <a:pPr marL="0" indent="0">
              <a:buNone/>
            </a:pPr>
            <a:r>
              <a:rPr lang="en-US" noProof="0" dirty="0">
                <a:solidFill>
                  <a:srgbClr val="002060"/>
                </a:solidFill>
                <a:effectLst>
                  <a:outerShdw blurRad="38100" dist="38100" dir="2700000" algn="tl">
                    <a:srgbClr val="000000">
                      <a:alpha val="43137"/>
                    </a:srgbClr>
                  </a:outerShdw>
                </a:effectLst>
              </a:rPr>
              <a:t>2) the applicant has failed to meet all the conditions specified in the promise, or</a:t>
            </a:r>
          </a:p>
          <a:p>
            <a:pPr marL="0" indent="0">
              <a:buNone/>
            </a:pPr>
            <a:r>
              <a:rPr lang="en-US" noProof="0" dirty="0">
                <a:solidFill>
                  <a:srgbClr val="002060"/>
                </a:solidFill>
                <a:effectLst>
                  <a:outerShdw blurRad="38100" dist="38100" dir="2700000" algn="tl">
                    <a:srgbClr val="000000">
                      <a:alpha val="43137"/>
                    </a:srgbClr>
                  </a:outerShdw>
                </a:effectLst>
              </a:rPr>
              <a:t>3) the applicant does not meet the conditions for conducting the business activity covered by the permit, or</a:t>
            </a:r>
          </a:p>
          <a:p>
            <a:pPr marL="0" indent="0">
              <a:buNone/>
            </a:pPr>
            <a:r>
              <a:rPr lang="en-US" noProof="0" dirty="0">
                <a:solidFill>
                  <a:srgbClr val="002060"/>
                </a:solidFill>
                <a:effectLst>
                  <a:outerShdw blurRad="38100" dist="38100" dir="2700000" algn="tl">
                    <a:srgbClr val="000000">
                      <a:alpha val="43137"/>
                    </a:srgbClr>
                  </a:outerShdw>
                </a:effectLst>
              </a:rPr>
              <a:t>4) it is justified by a threat to national defense or security or other important public interest.</a:t>
            </a:r>
          </a:p>
          <a:p>
            <a:endParaRPr lang="en-US" dirty="0"/>
          </a:p>
        </p:txBody>
      </p:sp>
    </p:spTree>
    <p:extLst>
      <p:ext uri="{BB962C8B-B14F-4D97-AF65-F5344CB8AC3E}">
        <p14:creationId xmlns:p14="http://schemas.microsoft.com/office/powerpoint/2010/main" val="1778510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3068C79-15BC-15A0-B8F1-C7DF39BDDFB3}"/>
              </a:ext>
            </a:extLst>
          </p:cNvPr>
          <p:cNvSpPr>
            <a:spLocks noGrp="1"/>
          </p:cNvSpPr>
          <p:nvPr>
            <p:ph type="title"/>
          </p:nvPr>
        </p:nvSpPr>
        <p:spPr/>
        <p:txBody>
          <a:bodyPr/>
          <a:lstStyle/>
          <a:p>
            <a:r>
              <a:rPr lang="pl-PL" b="1" dirty="0" err="1">
                <a:solidFill>
                  <a:srgbClr val="FF0000"/>
                </a:solidFill>
                <a:effectLst>
                  <a:outerShdw blurRad="38100" dist="38100" dir="2700000" algn="tl">
                    <a:srgbClr val="000000">
                      <a:alpha val="43137"/>
                    </a:srgbClr>
                  </a:outerShdw>
                </a:effectLst>
                <a:highlight>
                  <a:srgbClr val="00FF00"/>
                </a:highlight>
              </a:rPr>
              <a:t>Unregistered</a:t>
            </a:r>
            <a:r>
              <a:rPr lang="pl-PL" b="1" dirty="0">
                <a:solidFill>
                  <a:srgbClr val="FF0000"/>
                </a:solidFill>
                <a:effectLst>
                  <a:outerShdw blurRad="38100" dist="38100" dir="2700000" algn="tl">
                    <a:srgbClr val="000000">
                      <a:alpha val="43137"/>
                    </a:srgbClr>
                  </a:outerShdw>
                </a:effectLst>
              </a:rPr>
              <a:t> Business Activity</a:t>
            </a:r>
          </a:p>
        </p:txBody>
      </p:sp>
      <p:sp>
        <p:nvSpPr>
          <p:cNvPr id="3" name="Symbol zastępczy zawartości 2">
            <a:extLst>
              <a:ext uri="{FF2B5EF4-FFF2-40B4-BE49-F238E27FC236}">
                <a16:creationId xmlns:a16="http://schemas.microsoft.com/office/drawing/2014/main" id="{990C7761-4739-375A-51AD-4C5BD2CCA419}"/>
              </a:ext>
            </a:extLst>
          </p:cNvPr>
          <p:cNvSpPr>
            <a:spLocks noGrp="1"/>
          </p:cNvSpPr>
          <p:nvPr>
            <p:ph idx="1"/>
          </p:nvPr>
        </p:nvSpPr>
        <p:spPr/>
        <p:txBody>
          <a:bodyPr>
            <a:normAutofit fontScale="92500" lnSpcReduction="20000"/>
          </a:bodyPr>
          <a:lstStyle/>
          <a:p>
            <a:pPr marL="571500" indent="-571500">
              <a:buFont typeface="Arial" panose="020B0604020202020204" pitchFamily="34" charset="0"/>
              <a:buChar char="•"/>
            </a:pPr>
            <a:r>
              <a:rPr lang="pl-PL" sz="3100" b="1" dirty="0">
                <a:solidFill>
                  <a:srgbClr val="FF0000"/>
                </a:solidFill>
                <a:effectLst>
                  <a:outerShdw blurRad="38100" dist="38100" dir="2700000" algn="tl">
                    <a:srgbClr val="000000">
                      <a:alpha val="43137"/>
                    </a:srgbClr>
                  </a:outerShdw>
                </a:effectLst>
              </a:rPr>
              <a:t>No </a:t>
            </a:r>
            <a:r>
              <a:rPr lang="pl-PL" sz="3100" b="1" dirty="0" err="1">
                <a:solidFill>
                  <a:srgbClr val="FF0000"/>
                </a:solidFill>
                <a:effectLst>
                  <a:outerShdw blurRad="38100" dist="38100" dir="2700000" algn="tl">
                    <a:srgbClr val="000000">
                      <a:alpha val="43137"/>
                    </a:srgbClr>
                  </a:outerShdw>
                </a:effectLst>
              </a:rPr>
              <a:t>registration</a:t>
            </a:r>
            <a:r>
              <a:rPr lang="pl-PL" sz="3100" b="1" dirty="0">
                <a:solidFill>
                  <a:srgbClr val="FF0000"/>
                </a:solidFill>
                <a:effectLst>
                  <a:outerShdw blurRad="38100" dist="38100" dir="2700000" algn="tl">
                    <a:srgbClr val="000000">
                      <a:alpha val="43137"/>
                    </a:srgbClr>
                  </a:outerShdw>
                </a:effectLst>
              </a:rPr>
              <a:t> </a:t>
            </a:r>
            <a:r>
              <a:rPr lang="pl-PL" sz="3100" b="1" dirty="0" err="1">
                <a:solidFill>
                  <a:srgbClr val="FF0000"/>
                </a:solidFill>
                <a:effectLst>
                  <a:outerShdw blurRad="38100" dist="38100" dir="2700000" algn="tl">
                    <a:srgbClr val="000000">
                      <a:alpha val="43137"/>
                    </a:srgbClr>
                  </a:outerShdw>
                </a:effectLst>
              </a:rPr>
              <a:t>requirement</a:t>
            </a:r>
            <a:r>
              <a:rPr lang="pl-PL" sz="3100" b="1" dirty="0">
                <a:solidFill>
                  <a:srgbClr val="002060"/>
                </a:solidFill>
                <a:effectLst>
                  <a:outerShdw blurRad="38100" dist="38100" dir="2700000" algn="tl">
                    <a:srgbClr val="000000">
                      <a:alpha val="43137"/>
                    </a:srgbClr>
                  </a:outerShdw>
                </a:effectLst>
              </a:rPr>
              <a:t> </a:t>
            </a:r>
            <a:r>
              <a:rPr lang="pl-PL" sz="3100" dirty="0">
                <a:solidFill>
                  <a:srgbClr val="002060"/>
                </a:solidFill>
                <a:effectLst>
                  <a:outerShdw blurRad="38100" dist="38100" dir="2700000" algn="tl">
                    <a:srgbClr val="000000">
                      <a:alpha val="43137"/>
                    </a:srgbClr>
                  </a:outerShdw>
                </a:effectLst>
              </a:rPr>
              <a:t>for a </a:t>
            </a:r>
            <a:r>
              <a:rPr lang="pl-PL" sz="3100" b="1" dirty="0" err="1">
                <a:solidFill>
                  <a:srgbClr val="002060"/>
                </a:solidFill>
                <a:effectLst>
                  <a:outerShdw blurRad="38100" dist="38100" dir="2700000" algn="tl">
                    <a:srgbClr val="000000">
                      <a:alpha val="43137"/>
                    </a:srgbClr>
                  </a:outerShdw>
                </a:effectLst>
              </a:rPr>
              <a:t>natural</a:t>
            </a:r>
            <a:r>
              <a:rPr lang="pl-PL" sz="3100" b="1" dirty="0">
                <a:solidFill>
                  <a:srgbClr val="002060"/>
                </a:solidFill>
                <a:effectLst>
                  <a:outerShdw blurRad="38100" dist="38100" dir="2700000" algn="tl">
                    <a:srgbClr val="000000">
                      <a:alpha val="43137"/>
                    </a:srgbClr>
                  </a:outerShdw>
                </a:effectLst>
              </a:rPr>
              <a:t> person </a:t>
            </a:r>
            <a:r>
              <a:rPr lang="pl-PL" sz="3100" dirty="0">
                <a:solidFill>
                  <a:srgbClr val="002060"/>
                </a:solidFill>
                <a:effectLst>
                  <a:outerShdw blurRad="38100" dist="38100" dir="2700000" algn="tl">
                    <a:srgbClr val="000000">
                      <a:alpha val="43137"/>
                    </a:srgbClr>
                  </a:outerShdw>
                </a:effectLst>
              </a:rPr>
              <a:t>(not </a:t>
            </a:r>
            <a:r>
              <a:rPr lang="pl-PL" sz="3100" dirty="0" err="1">
                <a:solidFill>
                  <a:srgbClr val="002060"/>
                </a:solidFill>
                <a:effectLst>
                  <a:outerShdw blurRad="38100" dist="38100" dir="2700000" algn="tl">
                    <a:srgbClr val="000000">
                      <a:alpha val="43137"/>
                    </a:srgbClr>
                  </a:outerShdw>
                </a:effectLst>
              </a:rPr>
              <a:t>organized</a:t>
            </a:r>
            <a:r>
              <a:rPr lang="pl-PL" sz="3100" dirty="0">
                <a:solidFill>
                  <a:srgbClr val="002060"/>
                </a:solidFill>
                <a:effectLst>
                  <a:outerShdw blurRad="38100" dist="38100" dir="2700000" algn="tl">
                    <a:srgbClr val="000000">
                      <a:alpha val="43137"/>
                    </a:srgbClr>
                  </a:outerShdw>
                </a:effectLst>
              </a:rPr>
              <a:t> in a </a:t>
            </a:r>
            <a:r>
              <a:rPr lang="pl-PL" sz="3100" dirty="0" err="1">
                <a:solidFill>
                  <a:srgbClr val="002060"/>
                </a:solidFill>
                <a:effectLst>
                  <a:outerShdw blurRad="38100" dist="38100" dir="2700000" algn="tl">
                    <a:srgbClr val="000000">
                      <a:alpha val="43137"/>
                    </a:srgbClr>
                  </a:outerShdw>
                </a:effectLst>
              </a:rPr>
              <a:t>civil</a:t>
            </a:r>
            <a:r>
              <a:rPr lang="pl-PL" sz="3100" dirty="0">
                <a:solidFill>
                  <a:srgbClr val="002060"/>
                </a:solidFill>
                <a:effectLst>
                  <a:outerShdw blurRad="38100" dist="38100" dir="2700000" algn="tl">
                    <a:srgbClr val="000000">
                      <a:alpha val="43137"/>
                    </a:srgbClr>
                  </a:outerShdw>
                </a:effectLst>
              </a:rPr>
              <a:t>-law </a:t>
            </a:r>
            <a:r>
              <a:rPr lang="pl-PL" sz="3100" dirty="0" err="1">
                <a:solidFill>
                  <a:srgbClr val="002060"/>
                </a:solidFill>
                <a:effectLst>
                  <a:outerShdw blurRad="38100" dist="38100" dir="2700000" algn="tl">
                    <a:srgbClr val="000000">
                      <a:alpha val="43137"/>
                    </a:srgbClr>
                  </a:outerShdw>
                </a:effectLst>
              </a:rPr>
              <a:t>partnership</a:t>
            </a:r>
            <a:r>
              <a:rPr lang="pl-PL" sz="3100" dirty="0">
                <a:solidFill>
                  <a:srgbClr val="002060"/>
                </a:solidFill>
                <a:effectLst>
                  <a:outerShdw blurRad="38100" dist="38100" dir="2700000" algn="tl">
                    <a:srgbClr val="000000">
                      <a:alpha val="43137"/>
                    </a:srgbClr>
                  </a:outerShdw>
                </a:effectLst>
              </a:rPr>
              <a:t>) with </a:t>
            </a:r>
            <a:r>
              <a:rPr lang="pl-PL" sz="3100" dirty="0" err="1">
                <a:solidFill>
                  <a:srgbClr val="002060"/>
                </a:solidFill>
                <a:effectLst>
                  <a:outerShdw blurRad="38100" dist="38100" dir="2700000" algn="tl">
                    <a:srgbClr val="000000">
                      <a:alpha val="43137"/>
                    </a:srgbClr>
                  </a:outerShdw>
                </a:effectLst>
              </a:rPr>
              <a:t>revenue</a:t>
            </a:r>
            <a:r>
              <a:rPr lang="pl-PL" sz="3100" dirty="0">
                <a:solidFill>
                  <a:srgbClr val="002060"/>
                </a:solidFill>
                <a:effectLst>
                  <a:outerShdw blurRad="38100" dist="38100" dir="2700000" algn="tl">
                    <a:srgbClr val="000000">
                      <a:alpha val="43137"/>
                    </a:srgbClr>
                  </a:outerShdw>
                </a:effectLst>
              </a:rPr>
              <a:t> </a:t>
            </a:r>
            <a:r>
              <a:rPr lang="pl-PL" sz="3100" dirty="0" err="1">
                <a:solidFill>
                  <a:srgbClr val="002060"/>
                </a:solidFill>
                <a:effectLst>
                  <a:outerShdw blurRad="38100" dist="38100" dir="2700000" algn="tl">
                    <a:srgbClr val="000000">
                      <a:alpha val="43137"/>
                    </a:srgbClr>
                  </a:outerShdw>
                </a:effectLst>
              </a:rPr>
              <a:t>under</a:t>
            </a:r>
            <a:r>
              <a:rPr lang="pl-PL" sz="3100" dirty="0">
                <a:solidFill>
                  <a:srgbClr val="002060"/>
                </a:solidFill>
                <a:effectLst>
                  <a:outerShdw blurRad="38100" dist="38100" dir="2700000" algn="tl">
                    <a:srgbClr val="000000">
                      <a:alpha val="43137"/>
                    </a:srgbClr>
                  </a:outerShdw>
                </a:effectLst>
              </a:rPr>
              <a:t> </a:t>
            </a:r>
            <a:r>
              <a:rPr lang="pl-PL" sz="3100" b="1" dirty="0">
                <a:solidFill>
                  <a:srgbClr val="FF0000"/>
                </a:solidFill>
                <a:effectLst>
                  <a:outerShdw blurRad="38100" dist="38100" dir="2700000" algn="tl">
                    <a:srgbClr val="000000">
                      <a:alpha val="43137"/>
                    </a:srgbClr>
                  </a:outerShdw>
                </a:effectLst>
              </a:rPr>
              <a:t>75%</a:t>
            </a:r>
            <a:r>
              <a:rPr lang="pl-PL" sz="3100" dirty="0">
                <a:solidFill>
                  <a:srgbClr val="002060"/>
                </a:solidFill>
                <a:effectLst>
                  <a:outerShdw blurRad="38100" dist="38100" dir="2700000" algn="tl">
                    <a:srgbClr val="000000">
                      <a:alpha val="43137"/>
                    </a:srgbClr>
                  </a:outerShdw>
                </a:effectLst>
              </a:rPr>
              <a:t> of the minimum </a:t>
            </a:r>
            <a:r>
              <a:rPr lang="pl-PL" sz="3100" dirty="0" err="1">
                <a:solidFill>
                  <a:srgbClr val="002060"/>
                </a:solidFill>
                <a:effectLst>
                  <a:outerShdw blurRad="38100" dist="38100" dir="2700000" algn="tl">
                    <a:srgbClr val="000000">
                      <a:alpha val="43137"/>
                    </a:srgbClr>
                  </a:outerShdw>
                </a:effectLst>
              </a:rPr>
              <a:t>salary</a:t>
            </a:r>
            <a:r>
              <a:rPr lang="pl-PL" sz="3100" dirty="0">
                <a:solidFill>
                  <a:srgbClr val="002060"/>
                </a:solidFill>
                <a:effectLst>
                  <a:outerShdw blurRad="38100" dist="38100" dir="2700000" algn="tl">
                    <a:srgbClr val="000000">
                      <a:alpha val="43137"/>
                    </a:srgbClr>
                  </a:outerShdw>
                </a:effectLst>
              </a:rPr>
              <a:t> and </a:t>
            </a:r>
            <a:r>
              <a:rPr lang="pl-PL" sz="3100" dirty="0" err="1">
                <a:solidFill>
                  <a:srgbClr val="002060"/>
                </a:solidFill>
                <a:effectLst>
                  <a:outerShdw blurRad="38100" dist="38100" dir="2700000" algn="tl">
                    <a:srgbClr val="000000">
                      <a:alpha val="43137"/>
                    </a:srgbClr>
                  </a:outerShdw>
                </a:effectLst>
              </a:rPr>
              <a:t>who</a:t>
            </a:r>
            <a:r>
              <a:rPr lang="pl-PL" sz="3100" dirty="0">
                <a:solidFill>
                  <a:srgbClr val="002060"/>
                </a:solidFill>
                <a:effectLst>
                  <a:outerShdw blurRad="38100" dist="38100" dir="2700000" algn="tl">
                    <a:srgbClr val="000000">
                      <a:alpha val="43137"/>
                    </a:srgbClr>
                  </a:outerShdw>
                </a:effectLst>
              </a:rPr>
              <a:t> </a:t>
            </a:r>
            <a:r>
              <a:rPr lang="pl-PL" sz="3100" dirty="0" err="1">
                <a:solidFill>
                  <a:srgbClr val="002060"/>
                </a:solidFill>
                <a:effectLst>
                  <a:outerShdw blurRad="38100" dist="38100" dir="2700000" algn="tl">
                    <a:srgbClr val="000000">
                      <a:alpha val="43137"/>
                    </a:srgbClr>
                  </a:outerShdw>
                </a:effectLst>
              </a:rPr>
              <a:t>has</a:t>
            </a:r>
            <a:r>
              <a:rPr lang="pl-PL" sz="3100" dirty="0">
                <a:solidFill>
                  <a:srgbClr val="002060"/>
                </a:solidFill>
                <a:effectLst>
                  <a:outerShdw blurRad="38100" dist="38100" dir="2700000" algn="tl">
                    <a:srgbClr val="000000">
                      <a:alpha val="43137"/>
                    </a:srgbClr>
                  </a:outerShdw>
                </a:effectLst>
              </a:rPr>
              <a:t> </a:t>
            </a:r>
            <a:r>
              <a:rPr lang="pl-PL" sz="3100" b="1" dirty="0">
                <a:solidFill>
                  <a:srgbClr val="002060"/>
                </a:solidFill>
                <a:effectLst>
                  <a:outerShdw blurRad="38100" dist="38100" dir="2700000" algn="tl">
                    <a:srgbClr val="000000">
                      <a:alpha val="43137"/>
                    </a:srgbClr>
                  </a:outerShdw>
                </a:effectLst>
              </a:rPr>
              <a:t>not </a:t>
            </a:r>
            <a:r>
              <a:rPr lang="pl-PL" sz="3100" b="1" dirty="0" err="1">
                <a:solidFill>
                  <a:srgbClr val="002060"/>
                </a:solidFill>
                <a:effectLst>
                  <a:outerShdw blurRad="38100" dist="38100" dir="2700000" algn="tl">
                    <a:srgbClr val="000000">
                      <a:alpha val="43137"/>
                    </a:srgbClr>
                  </a:outerShdw>
                </a:effectLst>
              </a:rPr>
              <a:t>performed</a:t>
            </a:r>
            <a:r>
              <a:rPr lang="pl-PL" sz="3100" b="1" dirty="0">
                <a:solidFill>
                  <a:srgbClr val="002060"/>
                </a:solidFill>
                <a:effectLst>
                  <a:outerShdw blurRad="38100" dist="38100" dir="2700000" algn="tl">
                    <a:srgbClr val="000000">
                      <a:alpha val="43137"/>
                    </a:srgbClr>
                  </a:outerShdw>
                </a:effectLst>
              </a:rPr>
              <a:t> </a:t>
            </a:r>
            <a:r>
              <a:rPr lang="pl-PL" sz="3100" dirty="0">
                <a:solidFill>
                  <a:srgbClr val="002060"/>
                </a:solidFill>
                <a:effectLst>
                  <a:outerShdw blurRad="38100" dist="38100" dir="2700000" algn="tl">
                    <a:srgbClr val="000000">
                      <a:alpha val="43137"/>
                    </a:srgbClr>
                  </a:outerShdw>
                </a:effectLst>
              </a:rPr>
              <a:t>business </a:t>
            </a:r>
            <a:r>
              <a:rPr lang="pl-PL" sz="3100" dirty="0" err="1">
                <a:solidFill>
                  <a:srgbClr val="002060"/>
                </a:solidFill>
                <a:effectLst>
                  <a:outerShdw blurRad="38100" dist="38100" dir="2700000" algn="tl">
                    <a:srgbClr val="000000">
                      <a:alpha val="43137"/>
                    </a:srgbClr>
                  </a:outerShdw>
                </a:effectLst>
              </a:rPr>
              <a:t>activity</a:t>
            </a:r>
            <a:r>
              <a:rPr lang="pl-PL" sz="3100" dirty="0">
                <a:solidFill>
                  <a:srgbClr val="002060"/>
                </a:solidFill>
                <a:effectLst>
                  <a:outerShdw blurRad="38100" dist="38100" dir="2700000" algn="tl">
                    <a:srgbClr val="000000">
                      <a:alpha val="43137"/>
                    </a:srgbClr>
                  </a:outerShdw>
                </a:effectLst>
              </a:rPr>
              <a:t> for the </a:t>
            </a:r>
            <a:r>
              <a:rPr lang="pl-PL" sz="3100" dirty="0" err="1">
                <a:solidFill>
                  <a:srgbClr val="002060"/>
                </a:solidFill>
                <a:effectLst>
                  <a:outerShdw blurRad="38100" dist="38100" dir="2700000" algn="tl">
                    <a:srgbClr val="000000">
                      <a:alpha val="43137"/>
                    </a:srgbClr>
                  </a:outerShdw>
                </a:effectLst>
              </a:rPr>
              <a:t>last</a:t>
            </a:r>
            <a:r>
              <a:rPr lang="pl-PL" sz="3100" dirty="0">
                <a:solidFill>
                  <a:srgbClr val="002060"/>
                </a:solidFill>
                <a:effectLst>
                  <a:outerShdw blurRad="38100" dist="38100" dir="2700000" algn="tl">
                    <a:srgbClr val="000000">
                      <a:alpha val="43137"/>
                    </a:srgbClr>
                  </a:outerShdw>
                </a:effectLst>
              </a:rPr>
              <a:t> </a:t>
            </a:r>
            <a:r>
              <a:rPr lang="pl-PL" sz="3100" b="1" dirty="0">
                <a:solidFill>
                  <a:srgbClr val="FF0000"/>
                </a:solidFill>
                <a:effectLst>
                  <a:outerShdw blurRad="38100" dist="38100" dir="2700000" algn="tl">
                    <a:srgbClr val="000000">
                      <a:alpha val="43137"/>
                    </a:srgbClr>
                  </a:outerShdw>
                </a:effectLst>
              </a:rPr>
              <a:t>60</a:t>
            </a:r>
            <a:r>
              <a:rPr lang="pl-PL" sz="3100" dirty="0">
                <a:solidFill>
                  <a:srgbClr val="002060"/>
                </a:solidFill>
                <a:effectLst>
                  <a:outerShdw blurRad="38100" dist="38100" dir="2700000" algn="tl">
                    <a:srgbClr val="000000">
                      <a:alpha val="43137"/>
                    </a:srgbClr>
                  </a:outerShdw>
                </a:effectLst>
              </a:rPr>
              <a:t> </a:t>
            </a:r>
            <a:r>
              <a:rPr lang="pl-PL" sz="3100" dirty="0" err="1">
                <a:solidFill>
                  <a:srgbClr val="002060"/>
                </a:solidFill>
                <a:effectLst>
                  <a:outerShdw blurRad="38100" dist="38100" dir="2700000" algn="tl">
                    <a:srgbClr val="000000">
                      <a:alpha val="43137"/>
                    </a:srgbClr>
                  </a:outerShdw>
                </a:effectLst>
              </a:rPr>
              <a:t>months</a:t>
            </a:r>
            <a:endParaRPr lang="pl-PL" sz="3100" dirty="0">
              <a:solidFill>
                <a:srgbClr val="002060"/>
              </a:solidFill>
              <a:effectLst>
                <a:outerShdw blurRad="38100" dist="38100" dir="2700000" algn="tl">
                  <a:srgbClr val="000000">
                    <a:alpha val="43137"/>
                  </a:srgbClr>
                </a:outerShdw>
              </a:effectLst>
            </a:endParaRPr>
          </a:p>
          <a:p>
            <a:pPr marL="571500" indent="-571500">
              <a:buFont typeface="Arial" panose="020B0604020202020204" pitchFamily="34" charset="0"/>
              <a:buChar char="•"/>
            </a:pPr>
            <a:r>
              <a:rPr lang="pl-PL" sz="3100" dirty="0">
                <a:solidFill>
                  <a:srgbClr val="002060"/>
                </a:solidFill>
                <a:effectLst>
                  <a:outerShdw blurRad="38100" dist="38100" dir="2700000" algn="tl">
                    <a:srgbClr val="000000">
                      <a:alpha val="43137"/>
                    </a:srgbClr>
                  </a:outerShdw>
                </a:effectLst>
              </a:rPr>
              <a:t>It </a:t>
            </a:r>
            <a:r>
              <a:rPr lang="pl-PL" sz="3100" b="1" dirty="0" err="1">
                <a:solidFill>
                  <a:srgbClr val="FF0000"/>
                </a:solidFill>
                <a:effectLst>
                  <a:outerShdw blurRad="38100" dist="38100" dir="2700000" algn="tl">
                    <a:srgbClr val="000000">
                      <a:alpha val="43137"/>
                    </a:srgbClr>
                  </a:outerShdw>
                </a:effectLst>
              </a:rPr>
              <a:t>becomes</a:t>
            </a:r>
            <a:r>
              <a:rPr lang="pl-PL" sz="3100" b="1" dirty="0">
                <a:solidFill>
                  <a:srgbClr val="FF0000"/>
                </a:solidFill>
                <a:effectLst>
                  <a:outerShdw blurRad="38100" dist="38100" dir="2700000" algn="tl">
                    <a:srgbClr val="000000">
                      <a:alpha val="43137"/>
                    </a:srgbClr>
                  </a:outerShdw>
                </a:effectLst>
              </a:rPr>
              <a:t> a </a:t>
            </a:r>
            <a:r>
              <a:rPr lang="pl-PL" sz="3100" b="1" dirty="0" err="1">
                <a:solidFill>
                  <a:srgbClr val="FF0000"/>
                </a:solidFill>
                <a:effectLst>
                  <a:outerShdw blurRad="38100" dist="38100" dir="2700000" algn="tl">
                    <a:srgbClr val="000000">
                      <a:alpha val="43137"/>
                    </a:srgbClr>
                  </a:outerShdw>
                </a:effectLst>
              </a:rPr>
              <a:t>registrable</a:t>
            </a:r>
            <a:r>
              <a:rPr lang="pl-PL" sz="3100" b="1" dirty="0">
                <a:solidFill>
                  <a:srgbClr val="FF0000"/>
                </a:solidFill>
                <a:effectLst>
                  <a:outerShdw blurRad="38100" dist="38100" dir="2700000" algn="tl">
                    <a:srgbClr val="000000">
                      <a:alpha val="43137"/>
                    </a:srgbClr>
                  </a:outerShdw>
                </a:effectLst>
              </a:rPr>
              <a:t> business </a:t>
            </a:r>
            <a:r>
              <a:rPr lang="pl-PL" sz="3100" b="1" dirty="0" err="1">
                <a:solidFill>
                  <a:srgbClr val="FF0000"/>
                </a:solidFill>
                <a:effectLst>
                  <a:outerShdw blurRad="38100" dist="38100" dir="2700000" algn="tl">
                    <a:srgbClr val="000000">
                      <a:alpha val="43137"/>
                    </a:srgbClr>
                  </a:outerShdw>
                </a:effectLst>
              </a:rPr>
              <a:t>activity</a:t>
            </a:r>
            <a:r>
              <a:rPr lang="pl-PL" sz="3100" b="1" dirty="0">
                <a:solidFill>
                  <a:srgbClr val="FF0000"/>
                </a:solidFill>
                <a:effectLst>
                  <a:outerShdw blurRad="38100" dist="38100" dir="2700000" algn="tl">
                    <a:srgbClr val="000000">
                      <a:alpha val="43137"/>
                    </a:srgbClr>
                  </a:outerShdw>
                </a:effectLst>
              </a:rPr>
              <a:t> </a:t>
            </a:r>
            <a:r>
              <a:rPr lang="pl-PL" sz="3100" dirty="0">
                <a:solidFill>
                  <a:srgbClr val="002060"/>
                </a:solidFill>
                <a:effectLst>
                  <a:outerShdw blurRad="38100" dist="38100" dir="2700000" algn="tl">
                    <a:srgbClr val="000000">
                      <a:alpha val="43137"/>
                    </a:srgbClr>
                  </a:outerShdw>
                </a:effectLst>
              </a:rPr>
              <a:t>upon </a:t>
            </a:r>
            <a:r>
              <a:rPr lang="pl-PL" sz="3100" dirty="0" err="1">
                <a:solidFill>
                  <a:srgbClr val="002060"/>
                </a:solidFill>
                <a:effectLst>
                  <a:outerShdw blurRad="38100" dist="38100" dir="2700000" algn="tl">
                    <a:srgbClr val="000000">
                      <a:alpha val="43137"/>
                    </a:srgbClr>
                  </a:outerShdw>
                </a:effectLst>
              </a:rPr>
              <a:t>exceeding</a:t>
            </a:r>
            <a:r>
              <a:rPr lang="pl-PL" sz="3100" dirty="0">
                <a:solidFill>
                  <a:srgbClr val="002060"/>
                </a:solidFill>
                <a:effectLst>
                  <a:outerShdw blurRad="38100" dist="38100" dir="2700000" algn="tl">
                    <a:srgbClr val="000000">
                      <a:alpha val="43137"/>
                    </a:srgbClr>
                  </a:outerShdw>
                </a:effectLst>
              </a:rPr>
              <a:t> the 75% </a:t>
            </a:r>
            <a:r>
              <a:rPr lang="pl-PL" sz="3100" dirty="0" err="1">
                <a:solidFill>
                  <a:srgbClr val="002060"/>
                </a:solidFill>
                <a:effectLst>
                  <a:outerShdw blurRad="38100" dist="38100" dir="2700000" algn="tl">
                    <a:srgbClr val="000000">
                      <a:alpha val="43137"/>
                    </a:srgbClr>
                  </a:outerShdw>
                </a:effectLst>
              </a:rPr>
              <a:t>threshold</a:t>
            </a:r>
            <a:r>
              <a:rPr lang="pl-PL" sz="3100" dirty="0">
                <a:solidFill>
                  <a:srgbClr val="002060"/>
                </a:solidFill>
                <a:effectLst>
                  <a:outerShdw blurRad="38100" dist="38100" dir="2700000" algn="tl">
                    <a:srgbClr val="000000">
                      <a:alpha val="43137"/>
                    </a:srgbClr>
                  </a:outerShdw>
                </a:effectLst>
              </a:rPr>
              <a:t>.</a:t>
            </a:r>
          </a:p>
          <a:p>
            <a:pPr algn="l">
              <a:buFont typeface="Arial" panose="020B0604020202020204" pitchFamily="34" charset="0"/>
              <a:buChar char="•"/>
            </a:pP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     </a:t>
            </a:r>
            <a:r>
              <a:rPr lang="en-US" sz="3100" b="1" dirty="0">
                <a:solidFill>
                  <a:srgbClr val="FF0000"/>
                </a:solidFill>
                <a:effectLst>
                  <a:outerShdw blurRad="38100" dist="38100" dir="2700000" algn="tl">
                    <a:srgbClr val="000000">
                      <a:alpha val="43137"/>
                    </a:srgbClr>
                  </a:outerShdw>
                </a:effectLst>
                <a:latin typeface="Roboto" panose="02000000000000000000" pitchFamily="2" charset="0"/>
              </a:rPr>
              <a:t>Only </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a </a:t>
            </a:r>
            <a:r>
              <a:rPr lang="en-US" sz="3100" b="1" dirty="0">
                <a:solidFill>
                  <a:srgbClr val="FF0000"/>
                </a:solidFill>
                <a:effectLst>
                  <a:outerShdw blurRad="38100" dist="38100" dir="2700000" algn="tl">
                    <a:srgbClr val="000000">
                      <a:alpha val="43137"/>
                    </a:srgbClr>
                  </a:outerShdw>
                </a:effectLst>
                <a:latin typeface="Roboto" panose="02000000000000000000" pitchFamily="2" charset="0"/>
              </a:rPr>
              <a:t>natural person </a:t>
            </a:r>
            <a:r>
              <a:rPr lang="en-US" sz="3100" dirty="0">
                <a:solidFill>
                  <a:srgbClr val="002060"/>
                </a:solidFill>
                <a:effectLst>
                  <a:outerShdw blurRad="38100" dist="38100" dir="2700000" algn="tl">
                    <a:srgbClr val="000000">
                      <a:alpha val="43137"/>
                    </a:srgbClr>
                  </a:outerShdw>
                </a:effectLst>
                <a:latin typeface="Roboto" panose="02000000000000000000" pitchFamily="2" charset="0"/>
              </a:rPr>
              <a:t>can perform the economic activity – </a:t>
            </a:r>
            <a:r>
              <a:rPr lang="pl-PL" sz="3100" dirty="0">
                <a:solidFill>
                  <a:srgbClr val="002060"/>
                </a:solidFill>
                <a:effectLst>
                  <a:outerShdw blurRad="38100" dist="38100" dir="2700000" algn="tl">
                    <a:srgbClr val="000000">
                      <a:alpha val="43137"/>
                    </a:srgbClr>
                  </a:outerShdw>
                </a:effectLst>
                <a:latin typeface="Roboto" panose="02000000000000000000" pitchFamily="2" charset="0"/>
              </a:rPr>
              <a:t>	</a:t>
            </a:r>
            <a:r>
              <a:rPr lang="en-US" sz="3100" dirty="0">
                <a:solidFill>
                  <a:srgbClr val="002060"/>
                </a:solidFill>
                <a:effectLst>
                  <a:outerShdw blurRad="38100" dist="38100" dir="2700000" algn="tl">
                    <a:srgbClr val="000000">
                      <a:alpha val="43137"/>
                    </a:srgbClr>
                  </a:outerShdw>
                </a:effectLst>
                <a:latin typeface="Roboto" panose="02000000000000000000" pitchFamily="2" charset="0"/>
              </a:rPr>
              <a:t>limitations </a:t>
            </a:r>
            <a:r>
              <a:rPr lang="pl-PL" sz="3100" dirty="0">
                <a:solidFill>
                  <a:srgbClr val="002060"/>
                </a:solidFill>
                <a:effectLst>
                  <a:outerShdw blurRad="38100" dist="38100" dir="2700000" algn="tl">
                    <a:srgbClr val="000000">
                      <a:alpha val="43137"/>
                    </a:srgbClr>
                  </a:outerShdw>
                </a:effectLst>
                <a:latin typeface="Roboto" panose="02000000000000000000" pitchFamily="2" charset="0"/>
              </a:rPr>
              <a:t>	</a:t>
            </a:r>
            <a:r>
              <a:rPr lang="en-US" sz="3100" dirty="0">
                <a:solidFill>
                  <a:srgbClr val="002060"/>
                </a:solidFill>
                <a:effectLst>
                  <a:outerShdw blurRad="38100" dist="38100" dir="2700000" algn="tl">
                    <a:srgbClr val="000000">
                      <a:alpha val="43137"/>
                    </a:srgbClr>
                  </a:outerShdw>
                </a:effectLst>
                <a:latin typeface="Roboto" panose="02000000000000000000" pitchFamily="2" charset="0"/>
              </a:rPr>
              <a:t>apply to individuals being underage, </a:t>
            </a:r>
            <a:r>
              <a:rPr lang="pl-PL" sz="3100" dirty="0">
                <a:solidFill>
                  <a:srgbClr val="002060"/>
                </a:solidFill>
                <a:effectLst>
                  <a:outerShdw blurRad="38100" dist="38100" dir="2700000" algn="tl">
                    <a:srgbClr val="000000">
                      <a:alpha val="43137"/>
                    </a:srgbClr>
                  </a:outerShdw>
                </a:effectLst>
                <a:latin typeface="Roboto" panose="02000000000000000000" pitchFamily="2" charset="0"/>
              </a:rPr>
              <a:t>	</a:t>
            </a:r>
            <a:r>
              <a:rPr lang="en-US" sz="3100" dirty="0">
                <a:solidFill>
                  <a:srgbClr val="002060"/>
                </a:solidFill>
                <a:effectLst>
                  <a:outerShdw blurRad="38100" dist="38100" dir="2700000" algn="tl">
                    <a:srgbClr val="000000">
                      <a:alpha val="43137"/>
                    </a:srgbClr>
                  </a:outerShdw>
                </a:effectLst>
                <a:latin typeface="Roboto" panose="02000000000000000000" pitchFamily="2" charset="0"/>
              </a:rPr>
              <a:t>unemployed, farmers, officials, </a:t>
            </a:r>
            <a:r>
              <a:rPr lang="pl-PL" sz="3100" dirty="0">
                <a:solidFill>
                  <a:srgbClr val="002060"/>
                </a:solidFill>
                <a:effectLst>
                  <a:outerShdw blurRad="38100" dist="38100" dir="2700000" algn="tl">
                    <a:srgbClr val="000000">
                      <a:alpha val="43137"/>
                    </a:srgbClr>
                  </a:outerShdw>
                </a:effectLst>
                <a:latin typeface="Roboto" panose="02000000000000000000" pitchFamily="2" charset="0"/>
              </a:rPr>
              <a:t>	</a:t>
            </a:r>
            <a:r>
              <a:rPr lang="en-US" sz="3100" dirty="0">
                <a:solidFill>
                  <a:srgbClr val="002060"/>
                </a:solidFill>
                <a:effectLst>
                  <a:outerShdw blurRad="38100" dist="38100" dir="2700000" algn="tl">
                    <a:srgbClr val="000000">
                      <a:alpha val="43137"/>
                    </a:srgbClr>
                  </a:outerShdw>
                </a:effectLst>
                <a:latin typeface="Roboto" panose="02000000000000000000" pitchFamily="2" charset="0"/>
              </a:rPr>
              <a:t>and foreigners </a:t>
            </a:r>
            <a:endParaRPr lang="pl-PL" sz="3100" dirty="0">
              <a:solidFill>
                <a:srgbClr val="002060"/>
              </a:solidFill>
              <a:effectLst>
                <a:outerShdw blurRad="38100" dist="38100" dir="2700000" algn="tl">
                  <a:srgbClr val="000000">
                    <a:alpha val="43137"/>
                  </a:srgbClr>
                </a:outerShdw>
              </a:effectLst>
              <a:latin typeface="Roboto" panose="02000000000000000000" pitchFamily="2" charset="0"/>
            </a:endParaRPr>
          </a:p>
          <a:p>
            <a:pPr lvl="1"/>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Not for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partners</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 in a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civil</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–law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partnership</a:t>
            </a:r>
            <a:endParaRPr lang="pl-PL" sz="3100" b="1" dirty="0">
              <a:solidFill>
                <a:srgbClr val="FF0000"/>
              </a:solidFill>
              <a:effectLst>
                <a:outerShdw blurRad="38100" dist="38100" dir="2700000" algn="tl">
                  <a:srgbClr val="000000">
                    <a:alpha val="43137"/>
                  </a:srgbClr>
                </a:outerShdw>
              </a:effectLst>
              <a:latin typeface="Roboto" panose="02000000000000000000" pitchFamily="2" charset="0"/>
            </a:endParaRPr>
          </a:p>
          <a:p>
            <a:pPr lvl="1"/>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Not for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regulated</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activity</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 (one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that</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needs</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any</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orm</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 of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permission</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or</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 a </a:t>
            </a:r>
            <a:r>
              <a:rPr lang="pl-PL" sz="3100" b="1" dirty="0" err="1">
                <a:solidFill>
                  <a:srgbClr val="FF0000"/>
                </a:solidFill>
                <a:effectLst>
                  <a:outerShdw blurRad="38100" dist="38100" dir="2700000" algn="tl">
                    <a:srgbClr val="000000">
                      <a:alpha val="43137"/>
                    </a:srgbClr>
                  </a:outerShdw>
                </a:effectLst>
                <a:latin typeface="Roboto" panose="02000000000000000000" pitchFamily="2" charset="0"/>
              </a:rPr>
              <a:t>license</a:t>
            </a:r>
            <a:r>
              <a:rPr lang="pl-PL" sz="3100" b="1" dirty="0">
                <a:solidFill>
                  <a:srgbClr val="FF0000"/>
                </a:solidFill>
                <a:effectLst>
                  <a:outerShdw blurRad="38100" dist="38100" dir="2700000" algn="tl">
                    <a:srgbClr val="000000">
                      <a:alpha val="43137"/>
                    </a:srgbClr>
                  </a:outerShdw>
                </a:effectLst>
                <a:latin typeface="Roboto" panose="02000000000000000000" pitchFamily="2" charset="0"/>
              </a:rPr>
              <a:t>)</a:t>
            </a:r>
          </a:p>
          <a:p>
            <a:pPr marL="571500" indent="-571500">
              <a:buFont typeface="Arial" panose="020B0604020202020204" pitchFamily="34" charset="0"/>
              <a:buChar char="•"/>
            </a:pPr>
            <a:endParaRPr lang="pl-PL" sz="3600" dirty="0">
              <a:solidFill>
                <a:srgbClr val="002060"/>
              </a:solidFill>
              <a:effectLst>
                <a:outerShdw blurRad="38100" dist="38100" dir="2700000" algn="tl">
                  <a:srgbClr val="000000">
                    <a:alpha val="43137"/>
                  </a:srgbClr>
                </a:outerShdw>
              </a:effectLst>
            </a:endParaRPr>
          </a:p>
          <a:p>
            <a:endParaRPr lang="pl-PL" dirty="0"/>
          </a:p>
        </p:txBody>
      </p:sp>
    </p:spTree>
    <p:extLst>
      <p:ext uri="{BB962C8B-B14F-4D97-AF65-F5344CB8AC3E}">
        <p14:creationId xmlns:p14="http://schemas.microsoft.com/office/powerpoint/2010/main" val="171633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5CBF053-5B13-F60A-4A02-3E0ED228547C}"/>
              </a:ext>
            </a:extLst>
          </p:cNvPr>
          <p:cNvSpPr>
            <a:spLocks noGrp="1"/>
          </p:cNvSpPr>
          <p:nvPr>
            <p:ph type="title"/>
          </p:nvPr>
        </p:nvSpPr>
        <p:spPr/>
        <p:txBody>
          <a:bodyPr/>
          <a:lstStyle/>
          <a:p>
            <a:r>
              <a:rPr lang="pl-PL" b="1" dirty="0" err="1">
                <a:solidFill>
                  <a:srgbClr val="FF0000"/>
                </a:solidFill>
                <a:effectLst>
                  <a:outerShdw blurRad="38100" dist="38100" dir="2700000" algn="tl">
                    <a:srgbClr val="000000">
                      <a:alpha val="43137"/>
                    </a:srgbClr>
                  </a:outerShdw>
                </a:effectLst>
              </a:rPr>
              <a:t>Benefits</a:t>
            </a:r>
            <a:r>
              <a:rPr lang="pl-PL" b="1" dirty="0">
                <a:solidFill>
                  <a:srgbClr val="FF000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of </a:t>
            </a:r>
            <a:r>
              <a:rPr lang="pl-PL" dirty="0" err="1">
                <a:solidFill>
                  <a:srgbClr val="002060"/>
                </a:solidFill>
                <a:effectLst>
                  <a:outerShdw blurRad="38100" dist="38100" dir="2700000" algn="tl">
                    <a:srgbClr val="000000">
                      <a:alpha val="43137"/>
                    </a:srgbClr>
                  </a:outerShdw>
                </a:effectLst>
              </a:rPr>
              <a:t>an</a:t>
            </a:r>
            <a:r>
              <a:rPr lang="pl-PL" dirty="0">
                <a:solidFill>
                  <a:srgbClr val="00206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unregistered</a:t>
            </a:r>
            <a:r>
              <a:rPr lang="pl-PL" dirty="0">
                <a:solidFill>
                  <a:srgbClr val="002060"/>
                </a:solidFill>
                <a:effectLst>
                  <a:outerShdw blurRad="38100" dist="38100" dir="2700000" algn="tl">
                    <a:srgbClr val="000000">
                      <a:alpha val="43137"/>
                    </a:srgbClr>
                  </a:outerShdw>
                </a:effectLst>
              </a:rPr>
              <a:t> business </a:t>
            </a:r>
            <a:r>
              <a:rPr lang="pl-PL" dirty="0" err="1">
                <a:solidFill>
                  <a:srgbClr val="002060"/>
                </a:solidFill>
                <a:effectLst>
                  <a:outerShdw blurRad="38100" dist="38100" dir="2700000" algn="tl">
                    <a:srgbClr val="000000">
                      <a:alpha val="43137"/>
                    </a:srgbClr>
                  </a:outerShdw>
                </a:effectLst>
              </a:rPr>
              <a:t>activity</a:t>
            </a:r>
            <a:endParaRPr lang="pl-PL"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B6336E12-B0D7-B138-3161-62F7EE3808D2}"/>
              </a:ext>
            </a:extLst>
          </p:cNvPr>
          <p:cNvSpPr>
            <a:spLocks noGrp="1"/>
          </p:cNvSpPr>
          <p:nvPr>
            <p:ph idx="1"/>
          </p:nvPr>
        </p:nvSpPr>
        <p:spPr/>
        <p:txBody>
          <a:bodyPr>
            <a:normAutofit/>
          </a:bodyPr>
          <a:lstStyle/>
          <a:p>
            <a:r>
              <a:rPr lang="en-US" sz="2600" dirty="0">
                <a:solidFill>
                  <a:srgbClr val="002060"/>
                </a:solidFill>
                <a:effectLst>
                  <a:outerShdw blurRad="38100" dist="38100" dir="2700000" algn="tl">
                    <a:srgbClr val="000000">
                      <a:alpha val="43137"/>
                    </a:srgbClr>
                  </a:outerShdw>
                </a:effectLst>
                <a:latin typeface="Roboto" panose="02000000000000000000" pitchFamily="2" charset="0"/>
              </a:rPr>
              <a:t>No need to register business activity in</a:t>
            </a:r>
            <a:r>
              <a:rPr lang="en-US" sz="2600" b="0" i="0" dirty="0">
                <a:solidFill>
                  <a:srgbClr val="002060"/>
                </a:solidFill>
                <a:effectLst>
                  <a:outerShdw blurRad="38100" dist="38100" dir="2700000" algn="tl">
                    <a:srgbClr val="000000">
                      <a:alpha val="43137"/>
                    </a:srgbClr>
                  </a:outerShdw>
                </a:effectLst>
                <a:latin typeface="Roboto" panose="02000000000000000000" pitchFamily="2" charset="0"/>
              </a:rPr>
              <a:t> CEIDG</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[a register]</a:t>
            </a:r>
            <a:r>
              <a:rPr lang="en-US" sz="2600" b="0" i="0" dirty="0">
                <a:solidFill>
                  <a:srgbClr val="002060"/>
                </a:solidFill>
                <a:effectLst>
                  <a:outerShdw blurRad="38100" dist="38100" dir="2700000" algn="tl">
                    <a:srgbClr val="000000">
                      <a:alpha val="43137"/>
                    </a:srgbClr>
                  </a:outerShdw>
                </a:effectLst>
                <a:latin typeface="Roboto" panose="02000000000000000000" pitchFamily="2" charset="0"/>
              </a:rPr>
              <a:t>, Tax Administration (NIP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number</a:t>
            </a:r>
            <a:r>
              <a:rPr lang="en-US" sz="2600" b="0" i="0" dirty="0">
                <a:solidFill>
                  <a:srgbClr val="002060"/>
                </a:solidFill>
                <a:effectLst>
                  <a:outerShdw blurRad="38100" dist="38100" dir="2700000" algn="tl">
                    <a:srgbClr val="000000">
                      <a:alpha val="43137"/>
                    </a:srgbClr>
                  </a:outerShdw>
                </a:effectLst>
                <a:latin typeface="Roboto" panose="02000000000000000000" pitchFamily="2" charset="0"/>
              </a:rPr>
              <a:t>), and </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the</a:t>
            </a:r>
            <a:r>
              <a:rPr lang="en-US" sz="2600" b="0" i="0" dirty="0">
                <a:solidFill>
                  <a:srgbClr val="002060"/>
                </a:solidFill>
                <a:effectLst>
                  <a:outerShdw blurRad="38100" dist="38100" dir="2700000" algn="tl">
                    <a:srgbClr val="000000">
                      <a:alpha val="43137"/>
                    </a:srgbClr>
                  </a:outerShdw>
                </a:effectLst>
                <a:latin typeface="Roboto" panose="02000000000000000000" pitchFamily="2" charset="0"/>
              </a:rPr>
              <a:t> Main Office for Statistics (GUS) to obtain REGON (statistical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number</a:t>
            </a:r>
            <a:r>
              <a:rPr lang="en-US" sz="2600" b="0" i="0" dirty="0">
                <a:solidFill>
                  <a:srgbClr val="002060"/>
                </a:solidFill>
                <a:effectLst>
                  <a:outerShdw blurRad="38100" dist="38100" dir="2700000" algn="tl">
                    <a:srgbClr val="000000">
                      <a:alpha val="43137"/>
                    </a:srgbClr>
                  </a:outerShdw>
                </a:effectLst>
                <a:latin typeface="Roboto" panose="02000000000000000000" pitchFamily="2" charset="0"/>
              </a:rPr>
              <a:t>)</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or</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choose</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PKD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numerical</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classification</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of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areas</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of business,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e.g</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making</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movies</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video </a:t>
            </a:r>
            <a:r>
              <a:rPr lang="pl-PL" sz="2600" b="0" i="0" dirty="0" err="1">
                <a:solidFill>
                  <a:srgbClr val="002060"/>
                </a:solidFill>
                <a:effectLst>
                  <a:outerShdw blurRad="38100" dist="38100" dir="2700000" algn="tl">
                    <a:srgbClr val="000000">
                      <a:alpha val="43137"/>
                    </a:srgbClr>
                  </a:outerShdw>
                </a:effectLst>
                <a:latin typeface="Roboto" panose="02000000000000000000" pitchFamily="2" charset="0"/>
              </a:rPr>
              <a:t>recordings</a:t>
            </a:r>
            <a:r>
              <a:rPr lang="pl-PL" sz="2600" b="0" i="0" dirty="0">
                <a:solidFill>
                  <a:srgbClr val="002060"/>
                </a:solidFill>
                <a:effectLst>
                  <a:outerShdw blurRad="38100" dist="38100" dir="2700000" algn="tl">
                    <a:srgbClr val="000000">
                      <a:alpha val="43137"/>
                    </a:srgbClr>
                  </a:outerShdw>
                </a:effectLst>
                <a:latin typeface="Roboto" panose="02000000000000000000" pitchFamily="2" charset="0"/>
              </a:rPr>
              <a:t> </a:t>
            </a:r>
            <a:r>
              <a:rPr lang="pl-PL" sz="2600" b="1" i="0" dirty="0">
                <a:solidFill>
                  <a:srgbClr val="002060"/>
                </a:solidFill>
                <a:latin typeface="Roboto" panose="02000000000000000000" pitchFamily="2" charset="0"/>
              </a:rPr>
              <a:t>- </a:t>
            </a:r>
            <a:r>
              <a:rPr lang="pl-PL" sz="2600" b="1" i="0" dirty="0">
                <a:solidFill>
                  <a:srgbClr val="002060"/>
                </a:solidFill>
                <a:latin typeface="Google Sans"/>
              </a:rPr>
              <a:t>59.1 59.11) </a:t>
            </a:r>
            <a:endParaRPr lang="en-US" sz="2600" b="1" i="0" dirty="0">
              <a:solidFill>
                <a:srgbClr val="002060"/>
              </a:solidFill>
              <a:latin typeface="Roboto" panose="02000000000000000000" pitchFamily="2" charset="0"/>
            </a:endParaRPr>
          </a:p>
          <a:p>
            <a:pPr algn="l">
              <a:buFont typeface="Arial" panose="020B0604020202020204" pitchFamily="34" charset="0"/>
              <a:buChar char="•"/>
            </a:pPr>
            <a:r>
              <a:rPr lang="en-US" sz="2600" b="1" dirty="0">
                <a:solidFill>
                  <a:srgbClr val="002060"/>
                </a:solidFill>
                <a:effectLst>
                  <a:outerShdw blurRad="38100" dist="38100" dir="2700000" algn="tl">
                    <a:srgbClr val="000000">
                      <a:alpha val="43137"/>
                    </a:srgbClr>
                  </a:outerShdw>
                </a:effectLst>
                <a:latin typeface="Roboto" panose="02000000000000000000" pitchFamily="2" charset="0"/>
              </a:rPr>
              <a:t>No social security, nor health security payments</a:t>
            </a:r>
            <a:r>
              <a:rPr lang="en-US" sz="2600" b="1" i="0" dirty="0">
                <a:solidFill>
                  <a:srgbClr val="002060"/>
                </a:solidFill>
                <a:effectLst>
                  <a:outerShdw blurRad="38100" dist="38100" dir="2700000" algn="tl">
                    <a:srgbClr val="000000">
                      <a:alpha val="43137"/>
                    </a:srgbClr>
                  </a:outerShdw>
                </a:effectLst>
                <a:latin typeface="Roboto" panose="02000000000000000000" pitchFamily="2" charset="0"/>
              </a:rPr>
              <a:t> </a:t>
            </a:r>
          </a:p>
          <a:p>
            <a:pPr algn="l">
              <a:buFont typeface="Arial" panose="020B0604020202020204" pitchFamily="34" charset="0"/>
              <a:buChar char="•"/>
            </a:pPr>
            <a:r>
              <a:rPr lang="en-US" sz="2600" b="0" i="0" dirty="0">
                <a:solidFill>
                  <a:srgbClr val="002060"/>
                </a:solidFill>
                <a:effectLst>
                  <a:outerShdw blurRad="38100" dist="38100" dir="2700000" algn="tl">
                    <a:srgbClr val="000000">
                      <a:alpha val="43137"/>
                    </a:srgbClr>
                  </a:outerShdw>
                </a:effectLst>
                <a:latin typeface="Roboto" panose="02000000000000000000" pitchFamily="2" charset="0"/>
              </a:rPr>
              <a:t>No monthly or quarterly</a:t>
            </a:r>
            <a:r>
              <a:rPr lang="en-US" sz="2600" dirty="0">
                <a:solidFill>
                  <a:srgbClr val="002060"/>
                </a:solidFill>
                <a:effectLst>
                  <a:outerShdw blurRad="38100" dist="38100" dir="2700000" algn="tl">
                    <a:srgbClr val="000000">
                      <a:alpha val="43137"/>
                    </a:srgbClr>
                  </a:outerShdw>
                </a:effectLst>
                <a:latin typeface="Roboto" panose="02000000000000000000" pitchFamily="2" charset="0"/>
              </a:rPr>
              <a:t> </a:t>
            </a:r>
            <a:r>
              <a:rPr lang="en-US" sz="2600" b="1" dirty="0">
                <a:solidFill>
                  <a:srgbClr val="002060"/>
                </a:solidFill>
                <a:effectLst>
                  <a:outerShdw blurRad="38100" dist="38100" dir="2700000" algn="tl">
                    <a:srgbClr val="000000">
                      <a:alpha val="43137"/>
                    </a:srgbClr>
                  </a:outerShdw>
                </a:effectLst>
                <a:latin typeface="Roboto" panose="02000000000000000000" pitchFamily="2" charset="0"/>
              </a:rPr>
              <a:t>tax advance </a:t>
            </a:r>
            <a:r>
              <a:rPr lang="en-US" sz="2600" dirty="0">
                <a:solidFill>
                  <a:srgbClr val="002060"/>
                </a:solidFill>
                <a:effectLst>
                  <a:outerShdw blurRad="38100" dist="38100" dir="2700000" algn="tl">
                    <a:srgbClr val="000000">
                      <a:alpha val="43137"/>
                    </a:srgbClr>
                  </a:outerShdw>
                </a:effectLst>
                <a:latin typeface="Roboto" panose="02000000000000000000" pitchFamily="2" charset="0"/>
              </a:rPr>
              <a:t>payments</a:t>
            </a:r>
            <a:endParaRPr lang="en-US" sz="2600" b="0" i="0" dirty="0">
              <a:solidFill>
                <a:srgbClr val="002060"/>
              </a:solidFill>
              <a:effectLst>
                <a:outerShdw blurRad="38100" dist="38100" dir="2700000" algn="tl">
                  <a:srgbClr val="000000">
                    <a:alpha val="43137"/>
                  </a:srgbClr>
                </a:outerShdw>
              </a:effectLst>
              <a:latin typeface="Roboto" panose="02000000000000000000" pitchFamily="2" charset="0"/>
            </a:endParaRPr>
          </a:p>
          <a:p>
            <a:pPr algn="l">
              <a:buFont typeface="Arial" panose="020B0604020202020204" pitchFamily="34" charset="0"/>
              <a:buChar char="•"/>
            </a:pPr>
            <a:r>
              <a:rPr lang="en-US" sz="2600" b="1" i="0" dirty="0">
                <a:solidFill>
                  <a:srgbClr val="002060"/>
                </a:solidFill>
                <a:effectLst>
                  <a:outerShdw blurRad="38100" dist="38100" dir="2700000" algn="tl">
                    <a:srgbClr val="000000">
                      <a:alpha val="43137"/>
                    </a:srgbClr>
                  </a:outerShdw>
                </a:effectLst>
                <a:latin typeface="Roboto" panose="02000000000000000000" pitchFamily="2" charset="0"/>
              </a:rPr>
              <a:t>NO VAT </a:t>
            </a:r>
            <a:r>
              <a:rPr lang="en-US" sz="2600" b="0" i="0" dirty="0">
                <a:solidFill>
                  <a:srgbClr val="002060"/>
                </a:solidFill>
                <a:effectLst>
                  <a:outerShdw blurRad="38100" dist="38100" dir="2700000" algn="tl">
                    <a:srgbClr val="000000">
                      <a:alpha val="43137"/>
                    </a:srgbClr>
                  </a:outerShdw>
                </a:effectLst>
                <a:latin typeface="Roboto" panose="02000000000000000000" pitchFamily="2" charset="0"/>
              </a:rPr>
              <a:t>– unless goods are subject to VAT by law</a:t>
            </a:r>
          </a:p>
          <a:p>
            <a:pPr algn="l">
              <a:buFont typeface="Arial" panose="020B0604020202020204" pitchFamily="34" charset="0"/>
              <a:buChar char="•"/>
            </a:pPr>
            <a:r>
              <a:rPr lang="en-US" sz="2600" dirty="0">
                <a:solidFill>
                  <a:srgbClr val="002060"/>
                </a:solidFill>
                <a:effectLst>
                  <a:outerShdw blurRad="38100" dist="38100" dir="2700000" algn="tl">
                    <a:srgbClr val="000000">
                      <a:alpha val="43137"/>
                    </a:srgbClr>
                  </a:outerShdw>
                </a:effectLst>
                <a:latin typeface="Roboto" panose="02000000000000000000" pitchFamily="2" charset="0"/>
              </a:rPr>
              <a:t>Instead of full-scale bookkeeping – </a:t>
            </a:r>
            <a:r>
              <a:rPr lang="en-US" sz="2600" b="1" dirty="0">
                <a:solidFill>
                  <a:srgbClr val="002060"/>
                </a:solidFill>
                <a:effectLst>
                  <a:outerShdw blurRad="38100" dist="38100" dir="2700000" algn="tl">
                    <a:srgbClr val="000000">
                      <a:alpha val="43137"/>
                    </a:srgbClr>
                  </a:outerShdw>
                </a:effectLst>
                <a:latin typeface="Roboto" panose="02000000000000000000" pitchFamily="2" charset="0"/>
              </a:rPr>
              <a:t>sales record</a:t>
            </a:r>
            <a:endParaRPr lang="en-US" sz="2600" b="1" i="0" dirty="0">
              <a:solidFill>
                <a:srgbClr val="002060"/>
              </a:solidFill>
              <a:effectLst>
                <a:outerShdw blurRad="38100" dist="38100" dir="2700000" algn="tl">
                  <a:srgbClr val="000000">
                    <a:alpha val="43137"/>
                  </a:srgbClr>
                </a:outerShdw>
              </a:effectLst>
              <a:latin typeface="Roboto" panose="02000000000000000000" pitchFamily="2" charset="0"/>
            </a:endParaRPr>
          </a:p>
          <a:p>
            <a:endParaRPr lang="pl-PL" dirty="0"/>
          </a:p>
        </p:txBody>
      </p:sp>
    </p:spTree>
    <p:extLst>
      <p:ext uri="{BB962C8B-B14F-4D97-AF65-F5344CB8AC3E}">
        <p14:creationId xmlns:p14="http://schemas.microsoft.com/office/powerpoint/2010/main" val="2306336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EE7FCF1-61BC-C81C-D908-B79644C83BDD}"/>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Obligations</a:t>
            </a:r>
            <a:r>
              <a:rPr lang="pl-PL" dirty="0">
                <a:solidFill>
                  <a:srgbClr val="002060"/>
                </a:solidFill>
                <a:effectLst>
                  <a:outerShdw blurRad="38100" dist="38100" dir="2700000" algn="tl">
                    <a:srgbClr val="000000">
                      <a:alpha val="43137"/>
                    </a:srgbClr>
                  </a:outerShdw>
                </a:effectLst>
              </a:rPr>
              <a:t> in </a:t>
            </a:r>
            <a:r>
              <a:rPr lang="pl-PL" dirty="0" err="1">
                <a:solidFill>
                  <a:srgbClr val="002060"/>
                </a:solidFill>
                <a:effectLst>
                  <a:outerShdw blurRad="38100" dist="38100" dir="2700000" algn="tl">
                    <a:srgbClr val="000000">
                      <a:alpha val="43137"/>
                    </a:srgbClr>
                  </a:outerShdw>
                </a:effectLst>
              </a:rPr>
              <a:t>an</a:t>
            </a:r>
            <a:r>
              <a:rPr lang="pl-PL" dirty="0">
                <a:solidFill>
                  <a:srgbClr val="002060"/>
                </a:solidFill>
                <a:effectLst>
                  <a:outerShdw blurRad="38100" dist="38100" dir="2700000" algn="tl">
                    <a:srgbClr val="000000">
                      <a:alpha val="43137"/>
                    </a:srgbClr>
                  </a:outerShdw>
                </a:effectLst>
              </a:rPr>
              <a:t> </a:t>
            </a:r>
            <a:r>
              <a:rPr lang="pl-PL" dirty="0" err="1">
                <a:solidFill>
                  <a:srgbClr val="FF0000"/>
                </a:solidFill>
                <a:effectLst>
                  <a:outerShdw blurRad="38100" dist="38100" dir="2700000" algn="tl">
                    <a:srgbClr val="000000">
                      <a:alpha val="43137"/>
                    </a:srgbClr>
                  </a:outerShdw>
                </a:effectLst>
              </a:rPr>
              <a:t>unregistered</a:t>
            </a:r>
            <a:r>
              <a:rPr lang="pl-PL" dirty="0">
                <a:solidFill>
                  <a:srgbClr val="002060"/>
                </a:solidFill>
                <a:effectLst>
                  <a:outerShdw blurRad="38100" dist="38100" dir="2700000" algn="tl">
                    <a:srgbClr val="000000">
                      <a:alpha val="43137"/>
                    </a:srgbClr>
                  </a:outerShdw>
                </a:effectLst>
              </a:rPr>
              <a:t> business </a:t>
            </a:r>
            <a:r>
              <a:rPr lang="pl-PL" dirty="0" err="1">
                <a:solidFill>
                  <a:srgbClr val="002060"/>
                </a:solidFill>
                <a:effectLst>
                  <a:outerShdw blurRad="38100" dist="38100" dir="2700000" algn="tl">
                    <a:srgbClr val="000000">
                      <a:alpha val="43137"/>
                    </a:srgbClr>
                  </a:outerShdw>
                </a:effectLst>
              </a:rPr>
              <a:t>activity</a:t>
            </a:r>
            <a:endParaRPr lang="pl-PL"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A6C7758A-C66A-CA67-29F5-18036971A1D1}"/>
              </a:ext>
            </a:extLst>
          </p:cNvPr>
          <p:cNvSpPr>
            <a:spLocks noGrp="1"/>
          </p:cNvSpPr>
          <p:nvPr>
            <p:ph idx="1"/>
          </p:nvPr>
        </p:nvSpPr>
        <p:spPr>
          <a:xfrm>
            <a:off x="838200" y="1825625"/>
            <a:ext cx="10515600" cy="4840646"/>
          </a:xfrm>
        </p:spPr>
        <p:txBody>
          <a:bodyPr>
            <a:normAutofit/>
          </a:bodyPr>
          <a:lstStyle/>
          <a:p>
            <a:pPr algn="l">
              <a:buFont typeface="Arial" panose="020B0604020202020204" pitchFamily="34" charset="0"/>
              <a:buChar char="•"/>
            </a:pPr>
            <a:r>
              <a:rPr lang="en-US" dirty="0">
                <a:solidFill>
                  <a:srgbClr val="002060"/>
                </a:solidFill>
                <a:effectLst>
                  <a:outerShdw blurRad="38100" dist="38100" dir="2700000" algn="tl">
                    <a:srgbClr val="000000">
                      <a:alpha val="43137"/>
                    </a:srgbClr>
                  </a:outerShdw>
                </a:effectLst>
                <a:latin typeface="Roboto" panose="02000000000000000000" pitchFamily="2" charset="0"/>
              </a:rPr>
              <a:t>A Tax form PIT-36</a:t>
            </a:r>
            <a:endParaRPr lang="en-US" b="0" i="0" dirty="0">
              <a:solidFill>
                <a:srgbClr val="002060"/>
              </a:solidFill>
              <a:effectLst>
                <a:outerShdw blurRad="38100" dist="38100" dir="2700000" algn="tl">
                  <a:srgbClr val="000000">
                    <a:alpha val="43137"/>
                  </a:srgbClr>
                </a:outerShdw>
              </a:effectLst>
              <a:latin typeface="Roboto" panose="02000000000000000000" pitchFamily="2" charset="0"/>
            </a:endParaRPr>
          </a:p>
          <a:p>
            <a:pPr algn="l">
              <a:buFont typeface="Arial" panose="020B0604020202020204" pitchFamily="34" charset="0"/>
              <a:buChar char="•"/>
            </a:pPr>
            <a:r>
              <a:rPr lang="en-US" dirty="0">
                <a:solidFill>
                  <a:srgbClr val="002060"/>
                </a:solidFill>
                <a:effectLst>
                  <a:outerShdw blurRad="38100" dist="38100" dir="2700000" algn="tl">
                    <a:srgbClr val="000000">
                      <a:alpha val="43137"/>
                    </a:srgbClr>
                  </a:outerShdw>
                </a:effectLst>
                <a:latin typeface="Roboto" panose="02000000000000000000" pitchFamily="2" charset="0"/>
              </a:rPr>
              <a:t>Abide by </a:t>
            </a:r>
            <a:r>
              <a:rPr lang="en-US" b="1" dirty="0">
                <a:solidFill>
                  <a:srgbClr val="002060"/>
                </a:solidFill>
                <a:effectLst>
                  <a:outerShdw blurRad="38100" dist="38100" dir="2700000" algn="tl">
                    <a:srgbClr val="000000">
                      <a:alpha val="43137"/>
                    </a:srgbClr>
                  </a:outerShdw>
                </a:effectLst>
                <a:latin typeface="Roboto" panose="02000000000000000000" pitchFamily="2" charset="0"/>
              </a:rPr>
              <a:t>consumer law, claims, </a:t>
            </a:r>
            <a:r>
              <a:rPr lang="pl-PL" b="1" dirty="0">
                <a:solidFill>
                  <a:srgbClr val="002060"/>
                </a:solidFill>
                <a:effectLst>
                  <a:outerShdw blurRad="38100" dist="38100" dir="2700000" algn="tl">
                    <a:srgbClr val="000000">
                      <a:alpha val="43137"/>
                    </a:srgbClr>
                  </a:outerShdw>
                </a:effectLst>
                <a:latin typeface="Roboto" panose="02000000000000000000" pitchFamily="2" charset="0"/>
              </a:rPr>
              <a:t>and </a:t>
            </a:r>
            <a:r>
              <a:rPr lang="en-US" b="1" dirty="0">
                <a:solidFill>
                  <a:srgbClr val="002060"/>
                </a:solidFill>
                <a:effectLst>
                  <a:outerShdw blurRad="38100" dist="38100" dir="2700000" algn="tl">
                    <a:srgbClr val="000000">
                      <a:alpha val="43137"/>
                    </a:srgbClr>
                  </a:outerShdw>
                </a:effectLst>
                <a:latin typeface="Roboto" panose="02000000000000000000" pitchFamily="2" charset="0"/>
              </a:rPr>
              <a:t>returns</a:t>
            </a:r>
            <a:r>
              <a:rPr lang="pl-PL" b="1" dirty="0">
                <a:solidFill>
                  <a:srgbClr val="002060"/>
                </a:solidFill>
                <a:effectLst>
                  <a:outerShdw blurRad="38100" dist="38100" dir="2700000" algn="tl">
                    <a:srgbClr val="000000">
                      <a:alpha val="43137"/>
                    </a:srgbClr>
                  </a:outerShdw>
                </a:effectLst>
                <a:latin typeface="Roboto" panose="02000000000000000000" pitchFamily="2" charset="0"/>
              </a:rPr>
              <a:t> law</a:t>
            </a:r>
            <a:r>
              <a:rPr lang="en-US" b="1" dirty="0">
                <a:solidFill>
                  <a:srgbClr val="002060"/>
                </a:solidFill>
                <a:effectLst>
                  <a:outerShdw blurRad="38100" dist="38100" dir="2700000" algn="tl">
                    <a:srgbClr val="000000">
                      <a:alpha val="43137"/>
                    </a:srgbClr>
                  </a:outerShdw>
                </a:effectLst>
                <a:latin typeface="Roboto" panose="02000000000000000000" pitchFamily="2" charset="0"/>
              </a:rPr>
              <a:t> </a:t>
            </a:r>
            <a:r>
              <a:rPr lang="en-US" dirty="0">
                <a:solidFill>
                  <a:srgbClr val="002060"/>
                </a:solidFill>
                <a:effectLst>
                  <a:outerShdw blurRad="38100" dist="38100" dir="2700000" algn="tl">
                    <a:srgbClr val="000000">
                      <a:alpha val="43137"/>
                    </a:srgbClr>
                  </a:outerShdw>
                </a:effectLst>
                <a:latin typeface="Roboto" panose="02000000000000000000" pitchFamily="2" charset="0"/>
              </a:rPr>
              <a:t>(14 day</a:t>
            </a:r>
            <a:r>
              <a:rPr lang="pl-PL" dirty="0">
                <a:solidFill>
                  <a:srgbClr val="002060"/>
                </a:solidFill>
                <a:effectLst>
                  <a:outerShdw blurRad="38100" dist="38100" dir="2700000" algn="tl">
                    <a:srgbClr val="000000">
                      <a:alpha val="43137"/>
                    </a:srgbClr>
                  </a:outerShdw>
                </a:effectLst>
                <a:latin typeface="Roboto" panose="02000000000000000000" pitchFamily="2" charset="0"/>
              </a:rPr>
              <a:t>s</a:t>
            </a:r>
            <a:r>
              <a:rPr lang="en-US" dirty="0">
                <a:solidFill>
                  <a:srgbClr val="002060"/>
                </a:solidFill>
                <a:effectLst>
                  <a:outerShdw blurRad="38100" dist="38100" dir="2700000" algn="tl">
                    <a:srgbClr val="000000">
                      <a:alpha val="43137"/>
                    </a:srgbClr>
                  </a:outerShdw>
                </a:effectLst>
                <a:latin typeface="Roboto" panose="02000000000000000000" pitchFamily="2" charset="0"/>
              </a:rPr>
              <a:t> to avoid agreement in the case of online sales)</a:t>
            </a:r>
          </a:p>
          <a:p>
            <a:pPr algn="l">
              <a:buFont typeface="Arial" panose="020B0604020202020204" pitchFamily="34" charset="0"/>
              <a:buChar char="•"/>
            </a:pPr>
            <a:r>
              <a:rPr lang="en-US" b="0" i="0" dirty="0">
                <a:solidFill>
                  <a:srgbClr val="002060"/>
                </a:solidFill>
                <a:effectLst>
                  <a:outerShdw blurRad="38100" dist="38100" dir="2700000" algn="tl">
                    <a:srgbClr val="000000">
                      <a:alpha val="43137"/>
                    </a:srgbClr>
                  </a:outerShdw>
                </a:effectLst>
                <a:latin typeface="Roboto" panose="02000000000000000000" pitchFamily="2" charset="0"/>
              </a:rPr>
              <a:t>Give out </a:t>
            </a:r>
            <a:r>
              <a:rPr lang="en-US" b="1" i="0" dirty="0">
                <a:solidFill>
                  <a:srgbClr val="002060"/>
                </a:solidFill>
                <a:effectLst>
                  <a:outerShdw blurRad="38100" dist="38100" dir="2700000" algn="tl">
                    <a:srgbClr val="000000">
                      <a:alpha val="43137"/>
                    </a:srgbClr>
                  </a:outerShdw>
                </a:effectLst>
                <a:latin typeface="Roboto" panose="02000000000000000000" pitchFamily="2" charset="0"/>
              </a:rPr>
              <a:t>invoices </a:t>
            </a:r>
            <a:r>
              <a:rPr lang="en-US" b="0" i="0" dirty="0">
                <a:solidFill>
                  <a:srgbClr val="002060"/>
                </a:solidFill>
                <a:effectLst>
                  <a:outerShdw blurRad="38100" dist="38100" dir="2700000" algn="tl">
                    <a:srgbClr val="000000">
                      <a:alpha val="43137"/>
                    </a:srgbClr>
                  </a:outerShdw>
                </a:effectLst>
                <a:latin typeface="Roboto" panose="02000000000000000000" pitchFamily="2" charset="0"/>
              </a:rPr>
              <a:t>and </a:t>
            </a:r>
            <a:r>
              <a:rPr lang="en-US" b="1" i="0" dirty="0">
                <a:solidFill>
                  <a:srgbClr val="002060"/>
                </a:solidFill>
                <a:effectLst>
                  <a:outerShdw blurRad="38100" dist="38100" dir="2700000" algn="tl">
                    <a:srgbClr val="000000">
                      <a:alpha val="43137"/>
                    </a:srgbClr>
                  </a:outerShdw>
                </a:effectLst>
                <a:latin typeface="Roboto" panose="02000000000000000000" pitchFamily="2" charset="0"/>
              </a:rPr>
              <a:t>sales receipts </a:t>
            </a:r>
            <a:r>
              <a:rPr lang="en-US" b="0" i="0" dirty="0">
                <a:solidFill>
                  <a:srgbClr val="002060"/>
                </a:solidFill>
                <a:effectLst>
                  <a:outerShdw blurRad="38100" dist="38100" dir="2700000" algn="tl">
                    <a:srgbClr val="000000">
                      <a:alpha val="43137"/>
                    </a:srgbClr>
                  </a:outerShdw>
                </a:effectLst>
                <a:latin typeface="Roboto" panose="02000000000000000000" pitchFamily="2" charset="0"/>
              </a:rPr>
              <a:t>on demand</a:t>
            </a:r>
          </a:p>
          <a:p>
            <a:r>
              <a:rPr lang="en-US" b="1" dirty="0">
                <a:solidFill>
                  <a:srgbClr val="002060"/>
                </a:solidFill>
                <a:effectLst>
                  <a:outerShdw blurRad="38100" dist="38100" dir="2700000" algn="tl">
                    <a:srgbClr val="000000">
                      <a:alpha val="43137"/>
                    </a:srgbClr>
                  </a:outerShdw>
                </a:effectLst>
                <a:latin typeface="Roboto" panose="02000000000000000000" pitchFamily="2" charset="0"/>
              </a:rPr>
              <a:t>One is not an entrepreneur, therefore agreements are order/mandate contracts </a:t>
            </a:r>
            <a:r>
              <a:rPr lang="en-US" dirty="0">
                <a:solidFill>
                  <a:srgbClr val="002060"/>
                </a:solidFill>
                <a:effectLst>
                  <a:outerShdw blurRad="38100" dist="38100" dir="2700000" algn="tl">
                    <a:srgbClr val="000000">
                      <a:alpha val="43137"/>
                    </a:srgbClr>
                  </a:outerShdw>
                </a:effectLst>
                <a:latin typeface="Roboto" panose="02000000000000000000" pitchFamily="2" charset="0"/>
              </a:rPr>
              <a:t>[</a:t>
            </a:r>
            <a:r>
              <a:rPr lang="en-US" dirty="0" err="1">
                <a:solidFill>
                  <a:srgbClr val="002060"/>
                </a:solidFill>
                <a:effectLst>
                  <a:outerShdw blurRad="38100" dist="38100" dir="2700000" algn="tl">
                    <a:srgbClr val="000000">
                      <a:alpha val="43137"/>
                    </a:srgbClr>
                  </a:outerShdw>
                </a:effectLst>
                <a:latin typeface="Roboto" panose="02000000000000000000" pitchFamily="2" charset="0"/>
              </a:rPr>
              <a:t>umowa</a:t>
            </a:r>
            <a:r>
              <a:rPr lang="en-US" dirty="0">
                <a:solidFill>
                  <a:srgbClr val="002060"/>
                </a:solidFill>
                <a:effectLst>
                  <a:outerShdw blurRad="38100" dist="38100" dir="2700000" algn="tl">
                    <a:srgbClr val="000000">
                      <a:alpha val="43137"/>
                    </a:srgbClr>
                  </a:outerShdw>
                </a:effectLst>
                <a:latin typeface="Roboto" panose="02000000000000000000" pitchFamily="2" charset="0"/>
              </a:rPr>
              <a:t> </a:t>
            </a:r>
            <a:r>
              <a:rPr lang="en-US" dirty="0" err="1">
                <a:solidFill>
                  <a:srgbClr val="002060"/>
                </a:solidFill>
                <a:effectLst>
                  <a:outerShdw blurRad="38100" dist="38100" dir="2700000" algn="tl">
                    <a:srgbClr val="000000">
                      <a:alpha val="43137"/>
                    </a:srgbClr>
                  </a:outerShdw>
                </a:effectLst>
                <a:latin typeface="Roboto" panose="02000000000000000000" pitchFamily="2" charset="0"/>
              </a:rPr>
              <a:t>zlecenie</a:t>
            </a:r>
            <a:r>
              <a:rPr lang="en-US" dirty="0">
                <a:solidFill>
                  <a:srgbClr val="002060"/>
                </a:solidFill>
                <a:effectLst>
                  <a:outerShdw blurRad="38100" dist="38100" dir="2700000" algn="tl">
                    <a:srgbClr val="000000">
                      <a:alpha val="43137"/>
                    </a:srgbClr>
                  </a:outerShdw>
                </a:effectLst>
                <a:latin typeface="Roboto" panose="02000000000000000000" pitchFamily="2" charset="0"/>
              </a:rPr>
              <a:t>] of which the </a:t>
            </a:r>
            <a:r>
              <a:rPr lang="en-US" b="1" dirty="0">
                <a:solidFill>
                  <a:srgbClr val="FF0000"/>
                </a:solidFill>
                <a:effectLst>
                  <a:outerShdw blurRad="38100" dist="38100" dir="2700000" algn="tl">
                    <a:srgbClr val="000000">
                      <a:alpha val="43137"/>
                    </a:srgbClr>
                  </a:outerShdw>
                </a:effectLst>
                <a:latin typeface="Roboto" panose="02000000000000000000" pitchFamily="2" charset="0"/>
              </a:rPr>
              <a:t>ordering party pays social insurance contributions (ZUS)</a:t>
            </a:r>
            <a:endParaRPr lang="pl-PL" b="1" i="0" dirty="0">
              <a:solidFill>
                <a:srgbClr val="FF0000"/>
              </a:solidFill>
              <a:effectLst/>
              <a:latin typeface="Roboto" panose="02000000000000000000" pitchFamily="2" charset="0"/>
            </a:endParaRPr>
          </a:p>
          <a:p>
            <a:pPr algn="l">
              <a:buFont typeface="Arial" panose="020B0604020202020204" pitchFamily="34" charset="0"/>
              <a:buChar char="•"/>
            </a:pPr>
            <a:r>
              <a:rPr lang="en-US" dirty="0">
                <a:solidFill>
                  <a:srgbClr val="002060"/>
                </a:solidFill>
                <a:effectLst>
                  <a:outerShdw blurRad="38100" dist="38100" dir="2700000" algn="tl">
                    <a:srgbClr val="000000">
                      <a:alpha val="43137"/>
                    </a:srgbClr>
                  </a:outerShdw>
                </a:effectLst>
                <a:latin typeface="Roboto" panose="02000000000000000000" pitchFamily="2" charset="0"/>
              </a:rPr>
              <a:t>[for the business </a:t>
            </a:r>
            <a:r>
              <a:rPr lang="en-US" b="1" dirty="0">
                <a:solidFill>
                  <a:srgbClr val="002060"/>
                </a:solidFill>
                <a:effectLst>
                  <a:outerShdw blurRad="38100" dist="38100" dir="2700000" algn="tl">
                    <a:srgbClr val="000000">
                      <a:alpha val="43137"/>
                    </a:srgbClr>
                  </a:outerShdw>
                </a:effectLst>
                <a:latin typeface="Roboto" panose="02000000000000000000" pitchFamily="2" charset="0"/>
              </a:rPr>
              <a:t>status of foreigners </a:t>
            </a:r>
            <a:r>
              <a:rPr lang="en-US" dirty="0">
                <a:solidFill>
                  <a:srgbClr val="002060"/>
                </a:solidFill>
                <a:effectLst>
                  <a:outerShdw blurRad="38100" dist="38100" dir="2700000" algn="tl">
                    <a:srgbClr val="000000">
                      <a:alpha val="43137"/>
                    </a:srgbClr>
                  </a:outerShdw>
                </a:effectLst>
                <a:latin typeface="Roboto" panose="02000000000000000000" pitchFamily="2" charset="0"/>
              </a:rPr>
              <a:t>see here: </a:t>
            </a:r>
            <a:r>
              <a:rPr lang="en-US" b="0" i="1" dirty="0" err="1">
                <a:solidFill>
                  <a:srgbClr val="002060"/>
                </a:solidFill>
                <a:effectLst>
                  <a:outerShdw blurRad="38100" dist="38100" dir="2700000" algn="tl">
                    <a:srgbClr val="000000">
                      <a:alpha val="43137"/>
                    </a:srgbClr>
                  </a:outerShdw>
                </a:effectLst>
                <a:latin typeface="Roboto" panose="02000000000000000000" pitchFamily="2" charset="0"/>
              </a:rPr>
              <a:t>Sprawdź</a:t>
            </a:r>
            <a:r>
              <a:rPr lang="en-US" b="0" i="1" dirty="0">
                <a:solidFill>
                  <a:srgbClr val="002060"/>
                </a:solidFill>
                <a:effectLst>
                  <a:outerShdw blurRad="38100" dist="38100" dir="2700000" algn="tl">
                    <a:srgbClr val="000000">
                      <a:alpha val="43137"/>
                    </a:srgbClr>
                  </a:outerShdw>
                </a:effectLst>
                <a:latin typeface="Roboto" panose="02000000000000000000" pitchFamily="2" charset="0"/>
              </a:rPr>
              <a:t>, </a:t>
            </a:r>
            <a:r>
              <a:rPr lang="en-US" b="0" i="1" u="sng" dirty="0" err="1">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kiedy</a:t>
            </a:r>
            <a:r>
              <a:rPr lang="en-US" b="0" i="1" u="sng" dirty="0">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 </a:t>
            </a:r>
            <a:r>
              <a:rPr lang="en-US" b="0" i="1" u="sng" dirty="0" err="1">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cudzoziemiec</a:t>
            </a:r>
            <a:r>
              <a:rPr lang="en-US" b="0" i="1" u="sng" dirty="0">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 </a:t>
            </a:r>
            <a:r>
              <a:rPr lang="en-US" b="0" i="1" u="sng" dirty="0" err="1">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może</a:t>
            </a:r>
            <a:r>
              <a:rPr lang="en-US" b="0" i="1" u="sng" dirty="0">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 </a:t>
            </a:r>
            <a:r>
              <a:rPr lang="en-US" b="0" i="1" u="sng" dirty="0" err="1">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legalnie</a:t>
            </a:r>
            <a:r>
              <a:rPr lang="en-US" b="0" i="1" u="sng" dirty="0">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 </a:t>
            </a:r>
            <a:r>
              <a:rPr lang="en-US" b="0" i="1" u="sng" dirty="0" err="1">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pracować</a:t>
            </a:r>
            <a:r>
              <a:rPr lang="en-US" b="0" i="1" u="sng" dirty="0">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 w </a:t>
            </a:r>
            <a:r>
              <a:rPr lang="en-US" b="0" i="1" u="sng" dirty="0" err="1">
                <a:solidFill>
                  <a:srgbClr val="002060"/>
                </a:solidFill>
                <a:effectLst>
                  <a:outerShdw blurRad="38100" dist="38100" dir="2700000" algn="tl">
                    <a:srgbClr val="000000">
                      <a:alpha val="43137"/>
                    </a:srgbClr>
                  </a:outerShdw>
                </a:effectLst>
                <a:latin typeface="Roboto" panose="02000000000000000000" pitchFamily="2" charset="0"/>
                <a:hlinkClick r:id="rId2" tooltip="Link otworzy się w nowym oknie">
                  <a:extLst>
                    <a:ext uri="{A12FA001-AC4F-418D-AE19-62706E023703}">
                      <ahyp:hlinkClr xmlns:ahyp="http://schemas.microsoft.com/office/drawing/2018/hyperlinkcolor" val="tx"/>
                    </a:ext>
                  </a:extLst>
                </a:hlinkClick>
              </a:rPr>
              <a:t>Polsce</a:t>
            </a:r>
            <a:endParaRPr lang="pl-PL" b="0" i="1" u="sng" dirty="0">
              <a:solidFill>
                <a:srgbClr val="002060"/>
              </a:solidFill>
              <a:effectLst>
                <a:outerShdw blurRad="38100" dist="38100" dir="2700000" algn="tl">
                  <a:srgbClr val="000000">
                    <a:alpha val="43137"/>
                  </a:srgbClr>
                </a:outerShdw>
              </a:effectLst>
              <a:latin typeface="Roboto" panose="02000000000000000000" pitchFamily="2" charset="0"/>
            </a:endParaRPr>
          </a:p>
          <a:p>
            <a:r>
              <a:rPr lang="pl-PL" dirty="0">
                <a:solidFill>
                  <a:srgbClr val="002060"/>
                </a:solidFill>
                <a:effectLst>
                  <a:outerShdw blurRad="38100" dist="38100" dir="2700000" algn="tl">
                    <a:srgbClr val="000000">
                      <a:alpha val="43137"/>
                    </a:srgbClr>
                  </a:outerShdw>
                </a:effectLst>
                <a:latin typeface="Roboto" panose="02000000000000000000" pitchFamily="2" charset="0"/>
              </a:rPr>
              <a:t>And </a:t>
            </a:r>
            <a:r>
              <a:rPr lang="pl-PL" b="0" i="1" u="sng" dirty="0">
                <a:solidFill>
                  <a:srgbClr val="002060"/>
                </a:solidFill>
                <a:effectLst/>
                <a:latin typeface="Roboto" panose="02000000000000000000" pitchFamily="2" charset="0"/>
                <a:hlinkClick r:id="rId3" tooltip="Link otworzy się w nowym oknie">
                  <a:extLst>
                    <a:ext uri="{A12FA001-AC4F-418D-AE19-62706E023703}">
                      <ahyp:hlinkClr xmlns:ahyp="http://schemas.microsoft.com/office/drawing/2018/hyperlinkcolor" val="tx"/>
                    </a:ext>
                  </a:extLst>
                </a:hlinkClick>
              </a:rPr>
              <a:t>jaką działalność gospodarczą może w Polsce prowadzić cudzoziemiec</a:t>
            </a:r>
            <a:r>
              <a:rPr lang="en-US" i="1" dirty="0">
                <a:solidFill>
                  <a:srgbClr val="002060"/>
                </a:solidFill>
                <a:effectLst>
                  <a:outerShdw blurRad="38100" dist="38100" dir="2700000" algn="tl">
                    <a:srgbClr val="000000">
                      <a:alpha val="43137"/>
                    </a:srgbClr>
                  </a:outerShdw>
                </a:effectLst>
                <a:latin typeface="Roboto" panose="02000000000000000000" pitchFamily="2" charset="0"/>
              </a:rPr>
              <a:t>]</a:t>
            </a:r>
          </a:p>
          <a:p>
            <a:pPr algn="l">
              <a:buFont typeface="Arial" panose="020B0604020202020204" pitchFamily="34" charset="0"/>
              <a:buChar char="•"/>
            </a:pPr>
            <a:endParaRPr lang="pl-PL" b="0" i="0" dirty="0">
              <a:solidFill>
                <a:srgbClr val="1A1A1A"/>
              </a:solidFill>
              <a:effectLst/>
              <a:latin typeface="Roboto" panose="02000000000000000000" pitchFamily="2" charset="0"/>
            </a:endParaRPr>
          </a:p>
          <a:p>
            <a:endParaRPr lang="pl-PL" dirty="0"/>
          </a:p>
        </p:txBody>
      </p:sp>
    </p:spTree>
    <p:extLst>
      <p:ext uri="{BB962C8B-B14F-4D97-AF65-F5344CB8AC3E}">
        <p14:creationId xmlns:p14="http://schemas.microsoft.com/office/powerpoint/2010/main" val="2438801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F538A1B-0057-CE6B-0C01-9A23B713D41D}"/>
              </a:ext>
            </a:extLst>
          </p:cNvPr>
          <p:cNvSpPr>
            <a:spLocks noGrp="1"/>
          </p:cNvSpPr>
          <p:nvPr>
            <p:ph type="title"/>
          </p:nvPr>
        </p:nvSpPr>
        <p:spPr/>
        <p:txBody>
          <a:bodyPr/>
          <a:lstStyle/>
          <a:p>
            <a:r>
              <a:rPr lang="pl-PL" sz="4800" b="1" dirty="0" err="1">
                <a:solidFill>
                  <a:srgbClr val="FF0000"/>
                </a:solidFill>
                <a:effectLst>
                  <a:outerShdw blurRad="38100" dist="38100" dir="2700000" algn="tl">
                    <a:srgbClr val="000000">
                      <a:alpha val="43137"/>
                    </a:srgbClr>
                  </a:outerShdw>
                </a:effectLst>
              </a:rPr>
              <a:t>Registration</a:t>
            </a:r>
            <a:endParaRPr lang="pl-PL" sz="4800" b="1" dirty="0">
              <a:solidFill>
                <a:srgbClr val="FF0000"/>
              </a:solidFill>
            </a:endParaRPr>
          </a:p>
        </p:txBody>
      </p:sp>
      <p:sp>
        <p:nvSpPr>
          <p:cNvPr id="3" name="Symbol zastępczy zawartości 2">
            <a:extLst>
              <a:ext uri="{FF2B5EF4-FFF2-40B4-BE49-F238E27FC236}">
                <a16:creationId xmlns:a16="http://schemas.microsoft.com/office/drawing/2014/main" id="{BDF9F718-6060-5204-D72C-9FD3C6382B30}"/>
              </a:ext>
            </a:extLst>
          </p:cNvPr>
          <p:cNvSpPr>
            <a:spLocks noGrp="1"/>
          </p:cNvSpPr>
          <p:nvPr>
            <p:ph idx="1"/>
          </p:nvPr>
        </p:nvSpPr>
        <p:spPr/>
        <p:txBody>
          <a:bodyPr/>
          <a:lstStyle/>
          <a:p>
            <a:pPr marL="0" indent="0" algn="l" rtl="0" eaLnBrk="1" fontAlgn="ctr" latinLnBrk="0" hangingPunct="1">
              <a:buNone/>
            </a:pPr>
            <a:r>
              <a:rPr lang="pl-PL" sz="32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SOLE PROPRIETORSHIP </a:t>
            </a:r>
            <a:r>
              <a:rPr lang="pl-PL" sz="3200" b="1"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-One-person business </a:t>
            </a:r>
            <a:r>
              <a:rPr lang="pl-PL" sz="3200" b="1" i="0" u="none" strike="noStrike" kern="1200" dirty="0" err="1">
                <a:solidFill>
                  <a:srgbClr val="002060"/>
                </a:solidFill>
                <a:effectLst>
                  <a:outerShdw blurRad="38100" dist="38100" dir="2700000" algn="tl">
                    <a:srgbClr val="000000">
                      <a:alpha val="43137"/>
                    </a:srgbClr>
                  </a:outerShdw>
                </a:effectLst>
                <a:latin typeface="Aptos" panose="020B0004020202020204" pitchFamily="34" charset="0"/>
              </a:rPr>
              <a:t>activity</a:t>
            </a:r>
            <a:endParaRPr lang="pl-PL" sz="32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algn="l" rtl="0" eaLnBrk="1" fontAlgn="ctr" latinLnBrk="0" hangingPunct="1"/>
            <a:r>
              <a:rPr lang="pl-PL" sz="3200" b="0" i="0" u="none" strike="noStrike" kern="1200" dirty="0" err="1">
                <a:solidFill>
                  <a:srgbClr val="002060"/>
                </a:solidFill>
                <a:effectLst>
                  <a:outerShdw blurRad="38100" dist="38100" dir="2700000" algn="tl">
                    <a:srgbClr val="000000">
                      <a:alpha val="43137"/>
                    </a:srgbClr>
                  </a:outerShdw>
                </a:effectLst>
                <a:latin typeface="Aptos" panose="020B0004020202020204" pitchFamily="34" charset="0"/>
              </a:rPr>
              <a:t>Is</a:t>
            </a:r>
            <a:r>
              <a:rPr lang="pl-PL" sz="32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3200" b="0" i="0" u="none" strike="noStrike" kern="1200" dirty="0" err="1">
                <a:solidFill>
                  <a:srgbClr val="002060"/>
                </a:solidFill>
                <a:effectLst>
                  <a:outerShdw blurRad="38100" dist="38100" dir="2700000" algn="tl">
                    <a:srgbClr val="000000">
                      <a:alpha val="43137"/>
                    </a:srgbClr>
                  </a:outerShdw>
                </a:effectLst>
                <a:latin typeface="Aptos" panose="020B0004020202020204" pitchFamily="34" charset="0"/>
              </a:rPr>
              <a:t>registered</a:t>
            </a:r>
            <a:r>
              <a:rPr lang="pl-PL" sz="32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 in the </a:t>
            </a:r>
            <a:r>
              <a:rPr lang="en-US" sz="3200" b="0" i="0" u="none" strike="noStrike" kern="1200" dirty="0">
                <a:solidFill>
                  <a:srgbClr val="002060"/>
                </a:solidFill>
                <a:effectLst>
                  <a:outerShdw blurRad="38100" dist="38100" dir="2700000" algn="tl">
                    <a:srgbClr val="000000">
                      <a:alpha val="43137"/>
                    </a:srgbClr>
                  </a:outerShdw>
                </a:effectLst>
                <a:highlight>
                  <a:srgbClr val="00FF00"/>
                </a:highlight>
                <a:latin typeface="Aptos" panose="020B0004020202020204" pitchFamily="34" charset="0"/>
              </a:rPr>
              <a:t>Central Register and Information on Economic Activity </a:t>
            </a:r>
            <a:r>
              <a:rPr lang="en-US" sz="3200" b="0" i="0" u="none" strike="noStrike" kern="1200" dirty="0">
                <a:solidFill>
                  <a:srgbClr val="FF0000"/>
                </a:solidFill>
                <a:effectLst>
                  <a:outerShdw blurRad="38100" dist="38100" dir="2700000" algn="tl">
                    <a:srgbClr val="000000">
                      <a:alpha val="43137"/>
                    </a:srgbClr>
                  </a:outerShdw>
                </a:effectLst>
                <a:highlight>
                  <a:srgbClr val="00FF00"/>
                </a:highlight>
                <a:latin typeface="Aptos" panose="020B0004020202020204" pitchFamily="34" charset="0"/>
              </a:rPr>
              <a:t>(CEIDG)</a:t>
            </a:r>
            <a:endParaRPr lang="pl-PL" sz="3200" b="0" i="0" u="none" strike="noStrike" dirty="0">
              <a:solidFill>
                <a:srgbClr val="002060"/>
              </a:solidFill>
              <a:effectLst>
                <a:outerShdw blurRad="38100" dist="38100" dir="2700000" algn="tl">
                  <a:srgbClr val="000000">
                    <a:alpha val="43137"/>
                  </a:srgbClr>
                </a:outerShdw>
              </a:effectLst>
              <a:highlight>
                <a:srgbClr val="00FF00"/>
              </a:highlight>
              <a:latin typeface="Arial" panose="020B0604020202020204" pitchFamily="34" charset="0"/>
            </a:endParaRPr>
          </a:p>
          <a:p>
            <a:pPr marL="0" indent="0" algn="l" rtl="0" eaLnBrk="1" fontAlgn="ctr" latinLnBrk="0" hangingPunct="1">
              <a:buNone/>
            </a:pPr>
            <a:r>
              <a:rPr lang="pl-PL" sz="32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CIVIL</a:t>
            </a:r>
            <a:r>
              <a:rPr lang="pl-PL" sz="3200" b="1"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32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LAW PARTNERSHIP</a:t>
            </a:r>
            <a:endParaRPr lang="pl-PL" sz="3200" b="0" i="0" u="none" strike="noStrike" dirty="0">
              <a:solidFill>
                <a:srgbClr val="FF0000"/>
              </a:solidFill>
              <a:effectLst>
                <a:outerShdw blurRad="38100" dist="38100" dir="2700000" algn="tl">
                  <a:srgbClr val="000000">
                    <a:alpha val="43137"/>
                  </a:srgbClr>
                </a:outerShdw>
              </a:effectLst>
              <a:latin typeface="Arial" panose="020B0604020202020204" pitchFamily="34" charset="0"/>
            </a:endParaRPr>
          </a:p>
          <a:p>
            <a:pPr eaLnBrk="1" fontAlgn="ctr" hangingPunct="1"/>
            <a:r>
              <a:rPr lang="en-US" sz="3200" b="1" i="0"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Each shareholder </a:t>
            </a:r>
            <a:r>
              <a:rPr lang="en-US" sz="3200" i="0"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must register </a:t>
            </a:r>
            <a:r>
              <a:rPr lang="en-US" sz="3200" dirty="0">
                <a:solidFill>
                  <a:srgbClr val="002060"/>
                </a:solidFill>
                <a:effectLst>
                  <a:outerShdw blurRad="38100" dist="38100" dir="2700000" algn="tl">
                    <a:srgbClr val="000000">
                      <a:alpha val="43137"/>
                    </a:srgbClr>
                  </a:outerShdw>
                </a:effectLst>
                <a:latin typeface="Aptos" panose="020B0004020202020204" pitchFamily="34" charset="0"/>
              </a:rPr>
              <a:t>their business activity in CEIDG, because each</a:t>
            </a:r>
            <a:r>
              <a:rPr lang="pl-PL" sz="3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3200" dirty="0" err="1">
                <a:solidFill>
                  <a:srgbClr val="002060"/>
                </a:solidFill>
                <a:effectLst>
                  <a:outerShdw blurRad="38100" dist="38100" dir="2700000" algn="tl">
                    <a:srgbClr val="000000">
                      <a:alpha val="43137"/>
                    </a:srgbClr>
                  </a:outerShdw>
                </a:effectLst>
                <a:latin typeface="Aptos" panose="020B0004020202020204" pitchFamily="34" charset="0"/>
              </a:rPr>
              <a:t>shareholder</a:t>
            </a:r>
            <a:r>
              <a:rPr lang="pl-PL" sz="3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3200" dirty="0" err="1">
                <a:solidFill>
                  <a:srgbClr val="002060"/>
                </a:solidFill>
                <a:effectLst>
                  <a:outerShdw blurRad="38100" dist="38100" dir="2700000" algn="tl">
                    <a:srgbClr val="000000">
                      <a:alpha val="43137"/>
                    </a:srgbClr>
                  </a:outerShdw>
                </a:effectLst>
                <a:latin typeface="Aptos" panose="020B0004020202020204" pitchFamily="34" charset="0"/>
              </a:rPr>
              <a:t>is</a:t>
            </a:r>
            <a:r>
              <a:rPr lang="pl-PL" sz="3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3200" dirty="0" err="1">
                <a:solidFill>
                  <a:srgbClr val="002060"/>
                </a:solidFill>
                <a:effectLst>
                  <a:outerShdw blurRad="38100" dist="38100" dir="2700000" algn="tl">
                    <a:srgbClr val="000000">
                      <a:alpha val="43137"/>
                    </a:srgbClr>
                  </a:outerShdw>
                </a:effectLst>
                <a:latin typeface="Aptos" panose="020B0004020202020204" pitchFamily="34" charset="0"/>
              </a:rPr>
              <a:t>an</a:t>
            </a:r>
            <a:r>
              <a:rPr lang="pl-PL" sz="3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3200" dirty="0" err="1">
                <a:solidFill>
                  <a:srgbClr val="002060"/>
                </a:solidFill>
                <a:effectLst>
                  <a:outerShdw blurRad="38100" dist="38100" dir="2700000" algn="tl">
                    <a:srgbClr val="000000">
                      <a:alpha val="43137"/>
                    </a:srgbClr>
                  </a:outerShdw>
                </a:effectLst>
                <a:latin typeface="Aptos" panose="020B0004020202020204" pitchFamily="34" charset="0"/>
              </a:rPr>
              <a:t>enterprise</a:t>
            </a:r>
            <a:r>
              <a:rPr lang="pl-PL" sz="3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3200" dirty="0" err="1">
                <a:solidFill>
                  <a:srgbClr val="002060"/>
                </a:solidFill>
                <a:effectLst>
                  <a:outerShdw blurRad="38100" dist="38100" dir="2700000" algn="tl">
                    <a:srgbClr val="000000">
                      <a:alpha val="43137"/>
                    </a:srgbClr>
                  </a:outerShdw>
                </a:effectLst>
                <a:latin typeface="Aptos" panose="020B0004020202020204" pitchFamily="34" charset="0"/>
              </a:rPr>
              <a:t>separately</a:t>
            </a:r>
            <a:r>
              <a:rPr lang="pl-PL" sz="3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3200" b="1" dirty="0">
                <a:solidFill>
                  <a:srgbClr val="002060"/>
                </a:solidFill>
                <a:effectLst>
                  <a:outerShdw blurRad="38100" dist="38100" dir="2700000" algn="tl">
                    <a:srgbClr val="000000">
                      <a:alpha val="43137"/>
                    </a:srgbClr>
                  </a:outerShdw>
                </a:effectLst>
                <a:latin typeface="Aptos" panose="020B0004020202020204" pitchFamily="34" charset="0"/>
              </a:rPr>
              <a:t>and not the </a:t>
            </a:r>
            <a:r>
              <a:rPr lang="pl-PL" sz="3200" b="1" dirty="0" err="1">
                <a:solidFill>
                  <a:srgbClr val="002060"/>
                </a:solidFill>
                <a:effectLst>
                  <a:outerShdw blurRad="38100" dist="38100" dir="2700000" algn="tl">
                    <a:srgbClr val="000000">
                      <a:alpha val="43137"/>
                    </a:srgbClr>
                  </a:outerShdw>
                </a:effectLst>
                <a:latin typeface="Aptos" panose="020B0004020202020204" pitchFamily="34" charset="0"/>
              </a:rPr>
              <a:t>partnership</a:t>
            </a:r>
            <a:r>
              <a:rPr lang="pl-PL" sz="3200" b="1" dirty="0">
                <a:solidFill>
                  <a:srgbClr val="002060"/>
                </a:solidFill>
                <a:effectLst>
                  <a:outerShdw blurRad="38100" dist="38100" dir="2700000" algn="tl">
                    <a:srgbClr val="000000">
                      <a:alpha val="43137"/>
                    </a:srgbClr>
                  </a:outerShdw>
                </a:effectLst>
                <a:latin typeface="Aptos" panose="020B0004020202020204" pitchFamily="34" charset="0"/>
              </a:rPr>
              <a:t> as a </a:t>
            </a:r>
            <a:r>
              <a:rPr lang="pl-PL" sz="3200" b="1" dirty="0" err="1">
                <a:solidFill>
                  <a:srgbClr val="002060"/>
                </a:solidFill>
                <a:effectLst>
                  <a:outerShdw blurRad="38100" dist="38100" dir="2700000" algn="tl">
                    <a:srgbClr val="000000">
                      <a:alpha val="43137"/>
                    </a:srgbClr>
                  </a:outerShdw>
                </a:effectLst>
                <a:latin typeface="Aptos" panose="020B0004020202020204" pitchFamily="34" charset="0"/>
              </a:rPr>
              <a:t>whole</a:t>
            </a:r>
            <a:r>
              <a:rPr lang="pl-PL" sz="3200" dirty="0">
                <a:solidFill>
                  <a:srgbClr val="002060"/>
                </a:solidFill>
                <a:effectLst>
                  <a:outerShdw blurRad="38100" dist="38100" dir="2700000" algn="tl">
                    <a:srgbClr val="000000">
                      <a:alpha val="43137"/>
                    </a:srgbClr>
                  </a:outerShdw>
                </a:effectLst>
                <a:latin typeface="Aptos" panose="020B0004020202020204" pitchFamily="34" charset="0"/>
              </a:rPr>
              <a:t>.</a:t>
            </a:r>
          </a:p>
          <a:p>
            <a:pPr eaLnBrk="1" fontAlgn="ctr" hangingPunct="1"/>
            <a:r>
              <a:rPr lang="pl-PL" sz="3200" dirty="0">
                <a:solidFill>
                  <a:srgbClr val="002060"/>
                </a:solidFill>
                <a:effectLst>
                  <a:outerShdw blurRad="38100" dist="38100" dir="2700000" algn="tl">
                    <a:srgbClr val="000000">
                      <a:alpha val="43137"/>
                    </a:srgbClr>
                  </a:outerShdw>
                </a:effectLst>
                <a:latin typeface="Aptos" panose="020B0004020202020204" pitchFamily="34" charset="0"/>
              </a:rPr>
              <a:t> </a:t>
            </a:r>
            <a:r>
              <a:rPr lang="en-US" sz="3200" dirty="0">
                <a:solidFill>
                  <a:srgbClr val="002060"/>
                </a:solidFill>
                <a:effectLst>
                  <a:outerShdw blurRad="38100" dist="38100" dir="2700000" algn="tl">
                    <a:srgbClr val="000000">
                      <a:alpha val="43137"/>
                    </a:srgbClr>
                  </a:outerShdw>
                </a:effectLst>
                <a:latin typeface="Aptos" panose="020B0004020202020204" pitchFamily="34" charset="0"/>
              </a:rPr>
              <a:t>Consequently, if permission is required for a business activity, each partner must obtain it</a:t>
            </a:r>
            <a:r>
              <a:rPr lang="pl-PL" sz="3200" dirty="0">
                <a:solidFill>
                  <a:srgbClr val="002060"/>
                </a:solidFill>
                <a:effectLst>
                  <a:outerShdw blurRad="38100" dist="38100" dir="2700000" algn="tl">
                    <a:srgbClr val="000000">
                      <a:alpha val="43137"/>
                    </a:srgbClr>
                  </a:outerShdw>
                </a:effectLst>
                <a:latin typeface="Aptos" panose="020B0004020202020204" pitchFamily="34" charset="0"/>
              </a:rPr>
              <a:t>.  </a:t>
            </a:r>
            <a:endParaRPr lang="pl-PL" sz="3200" i="0"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indent="0">
              <a:buNone/>
            </a:pPr>
            <a:endParaRPr lang="pl-PL" dirty="0"/>
          </a:p>
        </p:txBody>
      </p:sp>
    </p:spTree>
    <p:extLst>
      <p:ext uri="{BB962C8B-B14F-4D97-AF65-F5344CB8AC3E}">
        <p14:creationId xmlns:p14="http://schemas.microsoft.com/office/powerpoint/2010/main" val="1147837839"/>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65FE85A-CC15-BD33-CD2F-18DA5F0F1D38}"/>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Registration</a:t>
            </a:r>
            <a:endParaRPr lang="pl-PL" dirty="0"/>
          </a:p>
        </p:txBody>
      </p:sp>
      <p:sp>
        <p:nvSpPr>
          <p:cNvPr id="3" name="Symbol zastępczy zawartości 2">
            <a:extLst>
              <a:ext uri="{FF2B5EF4-FFF2-40B4-BE49-F238E27FC236}">
                <a16:creationId xmlns:a16="http://schemas.microsoft.com/office/drawing/2014/main" id="{41D95133-360C-4D44-7838-1C9EE97D6660}"/>
              </a:ext>
            </a:extLst>
          </p:cNvPr>
          <p:cNvSpPr>
            <a:spLocks noGrp="1"/>
          </p:cNvSpPr>
          <p:nvPr>
            <p:ph idx="1"/>
          </p:nvPr>
        </p:nvSpPr>
        <p:spPr>
          <a:xfrm>
            <a:off x="838200" y="1825624"/>
            <a:ext cx="10515600" cy="4938969"/>
          </a:xfrm>
        </p:spPr>
        <p:txBody>
          <a:bodyPr/>
          <a:lstStyle/>
          <a:p>
            <a:pPr fontAlgn="ctr"/>
            <a:r>
              <a:rPr lang="pl-PL" sz="2400" b="1" i="0" u="none" strike="noStrike" kern="1200"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Joint-</a:t>
            </a:r>
            <a:r>
              <a:rPr lang="pl-PL" sz="2400" b="1" i="0" u="none" strike="noStrike" kern="1200" dirty="0" err="1">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stock</a:t>
            </a:r>
            <a:r>
              <a:rPr lang="pl-PL" sz="2400" b="1" i="0" u="none" strike="noStrike" kern="1200"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 </a:t>
            </a:r>
            <a:r>
              <a:rPr lang="en-US" sz="2400" b="1"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companies</a:t>
            </a:r>
            <a:r>
              <a:rPr lang="pl-PL" sz="2400" b="1"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 and</a:t>
            </a:r>
            <a:r>
              <a:rPr lang="en-US" sz="2400" b="1"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 limited liability companies</a:t>
            </a:r>
            <a:r>
              <a:rPr lang="pl-PL" sz="2400" b="1"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a:t>
            </a:r>
            <a:r>
              <a:rPr lang="pl-PL" sz="2400" b="1" i="0" u="none" strike="noStrike" kern="1200"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 </a:t>
            </a:r>
            <a:r>
              <a:rPr lang="pl-PL" b="1" dirty="0" err="1">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capital-based</a:t>
            </a:r>
            <a:r>
              <a:rPr lang="pl-PL" b="1"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 </a:t>
            </a:r>
            <a:r>
              <a:rPr lang="pl-PL" b="1" dirty="0" err="1">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businesses</a:t>
            </a:r>
            <a:r>
              <a:rPr lang="pl-PL" b="1"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 and </a:t>
            </a:r>
            <a:r>
              <a:rPr lang="pl-PL" b="1" dirty="0" err="1">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partnerships</a:t>
            </a:r>
            <a:r>
              <a:rPr lang="pl-PL" b="1"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 </a:t>
            </a:r>
            <a:r>
              <a:rPr lang="pl-PL" sz="2400" b="1" i="0" u="none" strike="noStrike" kern="1200" dirty="0" err="1">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are</a:t>
            </a:r>
            <a:r>
              <a:rPr lang="pl-PL" sz="2400" b="1" i="0" u="none" strike="noStrike" kern="1200"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 </a:t>
            </a:r>
            <a:r>
              <a:rPr lang="pl-PL" sz="2400" b="1" i="0" u="none" strike="noStrike" kern="1200" dirty="0" err="1">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registered</a:t>
            </a:r>
            <a:r>
              <a:rPr lang="pl-PL" sz="2400" b="1" i="0" u="none" strike="noStrike" kern="1200"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 in the </a:t>
            </a:r>
            <a:r>
              <a:rPr lang="en-US" sz="2400" b="0" i="0" u="none" strike="noStrike" kern="1200" dirty="0">
                <a:solidFill>
                  <a:srgbClr val="002060"/>
                </a:solidFill>
                <a:effectLst>
                  <a:outerShdw blurRad="38100" dist="38100" dir="2700000" algn="tl">
                    <a:srgbClr val="000000">
                      <a:alpha val="43137"/>
                    </a:srgbClr>
                  </a:outerShdw>
                </a:effectLst>
                <a:highlight>
                  <a:srgbClr val="FFFF00"/>
                </a:highlight>
                <a:latin typeface="Aptos" panose="020B0004020202020204" pitchFamily="34" charset="0"/>
              </a:rPr>
              <a:t>National Court Register (</a:t>
            </a:r>
            <a:r>
              <a:rPr lang="en-US" sz="2400" b="1" i="0" u="none" strike="noStrike" kern="1200" dirty="0">
                <a:solidFill>
                  <a:srgbClr val="FF0000"/>
                </a:solidFill>
                <a:effectLst>
                  <a:outerShdw blurRad="38100" dist="38100" dir="2700000" algn="tl">
                    <a:srgbClr val="000000">
                      <a:alpha val="43137"/>
                    </a:srgbClr>
                  </a:outerShdw>
                </a:effectLst>
                <a:highlight>
                  <a:srgbClr val="FFFF00"/>
                </a:highlight>
                <a:latin typeface="Aptos" panose="020B0004020202020204" pitchFamily="34" charset="0"/>
              </a:rPr>
              <a:t>KRS)</a:t>
            </a:r>
            <a:r>
              <a:rPr lang="pl-PL" b="1" dirty="0">
                <a:solidFill>
                  <a:srgbClr val="FF0000"/>
                </a:solidFill>
                <a:effectLst>
                  <a:outerShdw blurRad="38100" dist="38100" dir="2700000" algn="tl">
                    <a:srgbClr val="000000">
                      <a:alpha val="43137"/>
                    </a:srgbClr>
                  </a:outerShdw>
                </a:effectLst>
                <a:highlight>
                  <a:srgbClr val="FFFF00"/>
                </a:highlight>
                <a:latin typeface="Aptos" panose="020B0004020202020204" pitchFamily="34" charset="0"/>
              </a:rPr>
              <a:t> </a:t>
            </a:r>
            <a:r>
              <a:rPr lang="pl-PL" b="1" dirty="0" err="1">
                <a:solidFill>
                  <a:srgbClr val="FF0000"/>
                </a:solidFill>
                <a:effectLst>
                  <a:outerShdw blurRad="38100" dist="38100" dir="2700000" algn="tl">
                    <a:srgbClr val="000000">
                      <a:alpha val="43137"/>
                    </a:srgbClr>
                  </a:outerShdw>
                </a:effectLst>
                <a:latin typeface="Aptos" panose="020B0004020202020204" pitchFamily="34" charset="0"/>
              </a:rPr>
              <a:t>through</a:t>
            </a:r>
            <a:r>
              <a:rPr lang="pl-PL" b="1" dirty="0">
                <a:solidFill>
                  <a:srgbClr val="FF0000"/>
                </a:solidFill>
                <a:effectLst>
                  <a:outerShdw blurRad="38100" dist="38100" dir="2700000" algn="tl">
                    <a:srgbClr val="000000">
                      <a:alpha val="43137"/>
                    </a:srgbClr>
                  </a:outerShdw>
                </a:effectLst>
                <a:latin typeface="Aptos" panose="020B0004020202020204" pitchFamily="34" charset="0"/>
              </a:rPr>
              <a:t> https://prs.ms.gov.pl/</a:t>
            </a:r>
            <a:endParaRPr lang="pl-PL" sz="2400" b="1" i="0" u="none" strike="noStrike" dirty="0">
              <a:solidFill>
                <a:srgbClr val="FF0000"/>
              </a:solidFill>
              <a:effectLst>
                <a:outerShdw blurRad="38100" dist="38100" dir="2700000" algn="tl">
                  <a:srgbClr val="000000">
                    <a:alpha val="43137"/>
                  </a:srgbClr>
                </a:outerShdw>
              </a:effectLst>
              <a:latin typeface="Arial" panose="020B0604020202020204" pitchFamily="34" charset="0"/>
            </a:endParaRPr>
          </a:p>
          <a:p>
            <a:pPr marL="0" indent="0" algn="l" rtl="0" eaLnBrk="1" fontAlgn="ctr" latinLnBrk="0" hangingPunct="1">
              <a:buNone/>
            </a:pPr>
            <a:r>
              <a:rPr lang="pl-PL" sz="2400" b="1"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Simple joint-</a:t>
            </a:r>
            <a:r>
              <a:rPr lang="pl-PL" sz="2400" b="1" i="0" u="none" strike="noStrike" kern="1200" dirty="0" err="1">
                <a:solidFill>
                  <a:srgbClr val="002060"/>
                </a:solidFill>
                <a:effectLst>
                  <a:outerShdw blurRad="38100" dist="38100" dir="2700000" algn="tl">
                    <a:srgbClr val="000000">
                      <a:alpha val="43137"/>
                    </a:srgbClr>
                  </a:outerShdw>
                </a:effectLst>
                <a:latin typeface="Aptos" panose="020B0004020202020204" pitchFamily="34" charset="0"/>
              </a:rPr>
              <a:t>stock</a:t>
            </a:r>
            <a:r>
              <a:rPr lang="pl-PL" sz="2400" b="1"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2400" b="1" i="0" u="none" strike="noStrike" kern="1200" dirty="0" err="1">
                <a:solidFill>
                  <a:srgbClr val="002060"/>
                </a:solidFill>
                <a:effectLst>
                  <a:outerShdw blurRad="38100" dist="38100" dir="2700000" algn="tl">
                    <a:srgbClr val="000000">
                      <a:alpha val="43137"/>
                    </a:srgbClr>
                  </a:outerShdw>
                </a:effectLst>
                <a:latin typeface="Aptos" panose="020B0004020202020204" pitchFamily="34" charset="0"/>
              </a:rPr>
              <a:t>company</a:t>
            </a:r>
            <a:endParaRPr lang="pl-PL" sz="24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algn="l" rtl="0" eaLnBrk="1" fontAlgn="ctr" latinLnBrk="0" hangingPunct="1"/>
            <a:r>
              <a:rPr lang="en-US" sz="24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National Court Register (KRS).</a:t>
            </a:r>
            <a:endParaRPr lang="pl-PL" sz="24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indent="0" algn="l" rtl="0" eaLnBrk="1" fontAlgn="ctr" latinLnBrk="0" hangingPunct="1">
              <a:buNone/>
            </a:pPr>
            <a:r>
              <a:rPr lang="pl-PL" sz="2400" b="1"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Joint-</a:t>
            </a:r>
            <a:r>
              <a:rPr lang="pl-PL" sz="2400" b="1" i="0" u="none" strike="noStrike" kern="1200" dirty="0" err="1">
                <a:solidFill>
                  <a:srgbClr val="002060"/>
                </a:solidFill>
                <a:effectLst>
                  <a:outerShdw blurRad="38100" dist="38100" dir="2700000" algn="tl">
                    <a:srgbClr val="000000">
                      <a:alpha val="43137"/>
                    </a:srgbClr>
                  </a:outerShdw>
                </a:effectLst>
                <a:latin typeface="Aptos" panose="020B0004020202020204" pitchFamily="34" charset="0"/>
              </a:rPr>
              <a:t>stock</a:t>
            </a:r>
            <a:r>
              <a:rPr lang="pl-PL" sz="2400" b="1"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2400" b="1" i="0" u="none" strike="noStrike" kern="1200" dirty="0" err="1">
                <a:solidFill>
                  <a:srgbClr val="002060"/>
                </a:solidFill>
                <a:effectLst>
                  <a:outerShdw blurRad="38100" dist="38100" dir="2700000" algn="tl">
                    <a:srgbClr val="000000">
                      <a:alpha val="43137"/>
                    </a:srgbClr>
                  </a:outerShdw>
                </a:effectLst>
                <a:latin typeface="Aptos" panose="020B0004020202020204" pitchFamily="34" charset="0"/>
              </a:rPr>
              <a:t>company</a:t>
            </a:r>
            <a:endParaRPr lang="pl-PL" sz="24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algn="l" rtl="0" eaLnBrk="1" fontAlgn="ctr" latinLnBrk="0" hangingPunct="1"/>
            <a:r>
              <a:rPr lang="en-US" sz="24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National Court Register (KRS).</a:t>
            </a:r>
            <a:endParaRPr lang="pl-PL" sz="24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endParaRPr lang="pl-PL" dirty="0"/>
          </a:p>
        </p:txBody>
      </p:sp>
    </p:spTree>
    <p:extLst>
      <p:ext uri="{BB962C8B-B14F-4D97-AF65-F5344CB8AC3E}">
        <p14:creationId xmlns:p14="http://schemas.microsoft.com/office/powerpoint/2010/main" val="1792066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5B37134-1303-7F46-AFE9-0231BEAEB3D9}"/>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Registration</a:t>
            </a:r>
            <a:endParaRPr lang="pl-PL" dirty="0">
              <a:solidFill>
                <a:srgbClr val="002060"/>
              </a:solidFill>
              <a:effectLst>
                <a:outerShdw blurRad="38100" dist="38100" dir="2700000" algn="tl">
                  <a:srgbClr val="000000">
                    <a:alpha val="43137"/>
                  </a:srgbClr>
                </a:outerShdw>
              </a:effectLst>
            </a:endParaRPr>
          </a:p>
        </p:txBody>
      </p:sp>
      <p:graphicFrame>
        <p:nvGraphicFramePr>
          <p:cNvPr id="4" name="Symbol zastępczy zawartości 3">
            <a:extLst>
              <a:ext uri="{FF2B5EF4-FFF2-40B4-BE49-F238E27FC236}">
                <a16:creationId xmlns:a16="http://schemas.microsoft.com/office/drawing/2014/main" id="{C0F0132C-5CB8-9790-AE04-0CDC0229B2A8}"/>
              </a:ext>
            </a:extLst>
          </p:cNvPr>
          <p:cNvGraphicFramePr>
            <a:graphicFrameLocks noGrp="1"/>
          </p:cNvGraphicFramePr>
          <p:nvPr>
            <p:ph idx="1"/>
            <p:extLst>
              <p:ext uri="{D42A27DB-BD31-4B8C-83A1-F6EECF244321}">
                <p14:modId xmlns:p14="http://schemas.microsoft.com/office/powerpoint/2010/main" val="1915229797"/>
              </p:ext>
            </p:extLst>
          </p:nvPr>
        </p:nvGraphicFramePr>
        <p:xfrm>
          <a:off x="1238865" y="1356853"/>
          <a:ext cx="9144655" cy="3203022"/>
        </p:xfrm>
        <a:graphic>
          <a:graphicData uri="http://schemas.openxmlformats.org/drawingml/2006/table">
            <a:tbl>
              <a:tblPr/>
              <a:tblGrid>
                <a:gridCol w="4633615">
                  <a:extLst>
                    <a:ext uri="{9D8B030D-6E8A-4147-A177-3AD203B41FA5}">
                      <a16:colId xmlns:a16="http://schemas.microsoft.com/office/drawing/2014/main" val="1328555603"/>
                    </a:ext>
                  </a:extLst>
                </a:gridCol>
                <a:gridCol w="4511040">
                  <a:extLst>
                    <a:ext uri="{9D8B030D-6E8A-4147-A177-3AD203B41FA5}">
                      <a16:colId xmlns:a16="http://schemas.microsoft.com/office/drawing/2014/main" val="3028002453"/>
                    </a:ext>
                  </a:extLst>
                </a:gridCol>
              </a:tblGrid>
              <a:tr h="1237492">
                <a:tc>
                  <a:txBody>
                    <a:bodyPr/>
                    <a:lstStyle/>
                    <a:p>
                      <a:r>
                        <a:rPr lang="pl-PL" sz="2000" b="1" dirty="0">
                          <a:solidFill>
                            <a:srgbClr val="002060"/>
                          </a:solidFill>
                          <a:effectLst>
                            <a:outerShdw blurRad="38100" dist="38100" dir="2700000" algn="tl">
                              <a:srgbClr val="000000">
                                <a:alpha val="43137"/>
                              </a:srgbClr>
                            </a:outerShdw>
                          </a:effectLst>
                        </a:rPr>
                        <a:t>General </a:t>
                      </a:r>
                      <a:r>
                        <a:rPr lang="pl-PL" sz="2000" b="1" dirty="0" err="1">
                          <a:solidFill>
                            <a:srgbClr val="002060"/>
                          </a:solidFill>
                          <a:effectLst>
                            <a:outerShdw blurRad="38100" dist="38100" dir="2700000" algn="tl">
                              <a:srgbClr val="000000">
                                <a:alpha val="43137"/>
                              </a:srgbClr>
                            </a:outerShdw>
                          </a:effectLst>
                        </a:rPr>
                        <a:t>partnership</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2000" dirty="0">
                          <a:solidFill>
                            <a:srgbClr val="002060"/>
                          </a:solidFill>
                          <a:effectLst>
                            <a:outerShdw blurRad="38100" dist="38100" dir="2700000" algn="tl">
                              <a:srgbClr val="000000">
                                <a:alpha val="43137"/>
                              </a:srgbClr>
                            </a:outerShdw>
                          </a:effectLst>
                        </a:rPr>
                        <a:t>National Court Register (</a:t>
                      </a:r>
                      <a:r>
                        <a:rPr lang="en-US" sz="2000" dirty="0" err="1">
                          <a:solidFill>
                            <a:srgbClr val="002060"/>
                          </a:solidFill>
                          <a:effectLst>
                            <a:outerShdw blurRad="38100" dist="38100" dir="2700000" algn="tl">
                              <a:srgbClr val="000000">
                                <a:alpha val="43137"/>
                              </a:srgbClr>
                            </a:outerShdw>
                          </a:effectLst>
                        </a:rPr>
                        <a:t>Krajowy</a:t>
                      </a:r>
                      <a:r>
                        <a:rPr lang="en-US" sz="2000" dirty="0">
                          <a:solidFill>
                            <a:srgbClr val="002060"/>
                          </a:solidFill>
                          <a:effectLst>
                            <a:outerShdw blurRad="38100" dist="38100" dir="2700000" algn="tl">
                              <a:srgbClr val="000000">
                                <a:alpha val="43137"/>
                              </a:srgbClr>
                            </a:outerShdw>
                          </a:effectLst>
                        </a:rPr>
                        <a:t> </a:t>
                      </a:r>
                      <a:r>
                        <a:rPr lang="en-US" sz="2000" dirty="0" err="1">
                          <a:solidFill>
                            <a:srgbClr val="002060"/>
                          </a:solidFill>
                          <a:effectLst>
                            <a:outerShdw blurRad="38100" dist="38100" dir="2700000" algn="tl">
                              <a:srgbClr val="000000">
                                <a:alpha val="43137"/>
                              </a:srgbClr>
                            </a:outerShdw>
                          </a:effectLst>
                        </a:rPr>
                        <a:t>Rejestr</a:t>
                      </a:r>
                      <a:r>
                        <a:rPr lang="en-US" sz="2000" dirty="0">
                          <a:solidFill>
                            <a:srgbClr val="002060"/>
                          </a:solidFill>
                          <a:effectLst>
                            <a:outerShdw blurRad="38100" dist="38100" dir="2700000" algn="tl">
                              <a:srgbClr val="000000">
                                <a:alpha val="43137"/>
                              </a:srgbClr>
                            </a:outerShdw>
                          </a:effectLst>
                        </a:rPr>
                        <a:t> </a:t>
                      </a:r>
                      <a:r>
                        <a:rPr lang="en-US" sz="2000" dirty="0" err="1">
                          <a:solidFill>
                            <a:srgbClr val="002060"/>
                          </a:solidFill>
                          <a:effectLst>
                            <a:outerShdw blurRad="38100" dist="38100" dir="2700000" algn="tl">
                              <a:srgbClr val="000000">
                                <a:alpha val="43137"/>
                              </a:srgbClr>
                            </a:outerShdw>
                          </a:effectLst>
                        </a:rPr>
                        <a:t>Sądowy</a:t>
                      </a:r>
                      <a:r>
                        <a:rPr lang="en-US" sz="2000" dirty="0">
                          <a:solidFill>
                            <a:srgbClr val="002060"/>
                          </a:solidFill>
                          <a:effectLst>
                            <a:outerShdw blurRad="38100" dist="38100" dir="2700000" algn="tl">
                              <a:srgbClr val="000000">
                                <a:alpha val="43137"/>
                              </a:srgbClr>
                            </a:outerShdw>
                          </a:effectLst>
                        </a:rPr>
                        <a:t>, KRS).</a:t>
                      </a:r>
                    </a:p>
                    <a:p>
                      <a:r>
                        <a:rPr lang="en-US" sz="2000" dirty="0">
                          <a:solidFill>
                            <a:srgbClr val="002060"/>
                          </a:solidFill>
                          <a:effectLst>
                            <a:outerShdw blurRad="38100" dist="38100" dir="2700000" algn="tl">
                              <a:srgbClr val="000000">
                                <a:alpha val="43137"/>
                              </a:srgbClr>
                            </a:outerShdw>
                          </a:effectLst>
                        </a:rPr>
                        <a:t>It is possible to register the partnership online in the S24 system.</a:t>
                      </a:r>
                    </a:p>
                  </a:txBody>
                  <a:tcPr marL="39630" marR="39630" marT="39630" marB="31704"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659683"/>
                  </a:ext>
                </a:extLst>
              </a:tr>
              <a:tr h="562496">
                <a:tc>
                  <a:txBody>
                    <a:bodyPr/>
                    <a:lstStyle/>
                    <a:p>
                      <a:r>
                        <a:rPr lang="pl-PL" sz="2000" b="1" dirty="0">
                          <a:solidFill>
                            <a:srgbClr val="002060"/>
                          </a:solidFill>
                          <a:effectLst>
                            <a:outerShdw blurRad="38100" dist="38100" dir="2700000" algn="tl">
                              <a:srgbClr val="000000">
                                <a:alpha val="43137"/>
                              </a:srgbClr>
                            </a:outerShdw>
                          </a:effectLst>
                        </a:rPr>
                        <a:t>Professional </a:t>
                      </a:r>
                      <a:r>
                        <a:rPr lang="pl-PL" sz="2000" b="1" dirty="0" err="1">
                          <a:solidFill>
                            <a:srgbClr val="002060"/>
                          </a:solidFill>
                          <a:effectLst>
                            <a:outerShdw blurRad="38100" dist="38100" dir="2700000" algn="tl">
                              <a:srgbClr val="000000">
                                <a:alpha val="43137"/>
                              </a:srgbClr>
                            </a:outerShdw>
                          </a:effectLst>
                        </a:rPr>
                        <a:t>partnership</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2000" dirty="0">
                          <a:solidFill>
                            <a:srgbClr val="002060"/>
                          </a:solidFill>
                          <a:effectLst>
                            <a:outerShdw blurRad="38100" dist="38100" dir="2700000" algn="tl">
                              <a:srgbClr val="000000">
                                <a:alpha val="43137"/>
                              </a:srgbClr>
                            </a:outerShdw>
                          </a:effectLst>
                        </a:rPr>
                        <a:t>National Court Register (KRS).</a:t>
                      </a:r>
                    </a:p>
                  </a:txBody>
                  <a:tcPr marL="39630" marR="39630" marT="39630" marB="31704"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247808716"/>
                  </a:ext>
                </a:extLst>
              </a:tr>
              <a:tr h="562496">
                <a:tc>
                  <a:txBody>
                    <a:bodyPr/>
                    <a:lstStyle/>
                    <a:p>
                      <a:r>
                        <a:rPr lang="pl-PL" sz="2000" b="1" dirty="0">
                          <a:solidFill>
                            <a:srgbClr val="002060"/>
                          </a:solidFill>
                          <a:effectLst>
                            <a:outerShdw blurRad="38100" dist="38100" dir="2700000" algn="tl">
                              <a:srgbClr val="000000">
                                <a:alpha val="43137"/>
                              </a:srgbClr>
                            </a:outerShdw>
                          </a:effectLst>
                        </a:rPr>
                        <a:t>Limited </a:t>
                      </a:r>
                      <a:r>
                        <a:rPr lang="pl-PL" sz="2000" b="1" dirty="0" err="1">
                          <a:solidFill>
                            <a:srgbClr val="002060"/>
                          </a:solidFill>
                          <a:effectLst>
                            <a:outerShdw blurRad="38100" dist="38100" dir="2700000" algn="tl">
                              <a:srgbClr val="000000">
                                <a:alpha val="43137"/>
                              </a:srgbClr>
                            </a:outerShdw>
                          </a:effectLst>
                        </a:rPr>
                        <a:t>partnership</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2000" dirty="0">
                          <a:solidFill>
                            <a:srgbClr val="002060"/>
                          </a:solidFill>
                          <a:effectLst>
                            <a:outerShdw blurRad="38100" dist="38100" dir="2700000" algn="tl">
                              <a:srgbClr val="000000">
                                <a:alpha val="43137"/>
                              </a:srgbClr>
                            </a:outerShdw>
                          </a:effectLst>
                        </a:rPr>
                        <a:t>National Court Register (KRS)</a:t>
                      </a:r>
                    </a:p>
                  </a:txBody>
                  <a:tcPr marL="39630" marR="39630" marT="39630" marB="31704"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4070903405"/>
                  </a:ext>
                </a:extLst>
              </a:tr>
              <a:tr h="787496">
                <a:tc>
                  <a:txBody>
                    <a:bodyPr/>
                    <a:lstStyle/>
                    <a:p>
                      <a:r>
                        <a:rPr lang="pl-PL" sz="2000" b="1">
                          <a:solidFill>
                            <a:srgbClr val="002060"/>
                          </a:solidFill>
                          <a:effectLst>
                            <a:outerShdw blurRad="38100" dist="38100" dir="2700000" algn="tl">
                              <a:srgbClr val="000000">
                                <a:alpha val="43137"/>
                              </a:srgbClr>
                            </a:outerShdw>
                          </a:effectLst>
                        </a:rPr>
                        <a:t>Partnership limited by shares</a:t>
                      </a:r>
                      <a:endParaRPr lang="pl-PL" sz="2000">
                        <a:solidFill>
                          <a:srgbClr val="002060"/>
                        </a:solidFill>
                        <a:effectLst>
                          <a:outerShdw blurRad="38100" dist="38100" dir="2700000" algn="tl">
                            <a:srgbClr val="000000">
                              <a:alpha val="43137"/>
                            </a:srgbClr>
                          </a:outerShdw>
                        </a:effectLst>
                      </a:endParaRPr>
                    </a:p>
                  </a:txBody>
                  <a:tcPr marL="39630" marR="39630" marT="39630" marB="31704"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2000" dirty="0">
                          <a:solidFill>
                            <a:srgbClr val="002060"/>
                          </a:solidFill>
                          <a:effectLst>
                            <a:outerShdw blurRad="38100" dist="38100" dir="2700000" algn="tl">
                              <a:srgbClr val="000000">
                                <a:alpha val="43137"/>
                              </a:srgbClr>
                            </a:outerShdw>
                          </a:effectLst>
                        </a:rPr>
                        <a:t>National Court Register (KRS).</a:t>
                      </a:r>
                    </a:p>
                    <a:p>
                      <a:r>
                        <a:rPr lang="en-US" sz="2000" dirty="0">
                          <a:solidFill>
                            <a:srgbClr val="002060"/>
                          </a:solidFill>
                          <a:effectLst>
                            <a:outerShdw blurRad="38100" dist="38100" dir="2700000" algn="tl">
                              <a:srgbClr val="000000">
                                <a:alpha val="43137"/>
                              </a:srgbClr>
                            </a:outerShdw>
                          </a:effectLst>
                        </a:rPr>
                        <a:t>.</a:t>
                      </a:r>
                    </a:p>
                  </a:txBody>
                  <a:tcPr marL="39630" marR="39630" marT="39630" marB="31704"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818962795"/>
                  </a:ext>
                </a:extLst>
              </a:tr>
            </a:tbl>
          </a:graphicData>
        </a:graphic>
      </p:graphicFrame>
    </p:spTree>
    <p:extLst>
      <p:ext uri="{BB962C8B-B14F-4D97-AF65-F5344CB8AC3E}">
        <p14:creationId xmlns:p14="http://schemas.microsoft.com/office/powerpoint/2010/main" val="4280392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E7065A4-6ABE-B9B8-B6FA-B7493D2BFB0B}"/>
              </a:ext>
            </a:extLst>
          </p:cNvPr>
          <p:cNvSpPr>
            <a:spLocks noGrp="1"/>
          </p:cNvSpPr>
          <p:nvPr>
            <p:ph type="title"/>
          </p:nvPr>
        </p:nvSpPr>
        <p:spPr/>
        <p:txBody>
          <a:bodyPr/>
          <a:lstStyle/>
          <a:p>
            <a:r>
              <a:rPr lang="pl-PL" sz="4400" dirty="0" err="1">
                <a:solidFill>
                  <a:srgbClr val="FF0000"/>
                </a:solidFill>
                <a:effectLst>
                  <a:outerShdw blurRad="38100" dist="38100" dir="2700000" algn="tl">
                    <a:srgbClr val="000000">
                      <a:alpha val="43137"/>
                    </a:srgbClr>
                  </a:outerShdw>
                </a:effectLst>
              </a:rPr>
              <a:t>Founding</a:t>
            </a:r>
            <a:r>
              <a:rPr lang="pl-PL" sz="4400" dirty="0">
                <a:solidFill>
                  <a:srgbClr val="FF0000"/>
                </a:solidFill>
                <a:effectLst>
                  <a:outerShdw blurRad="38100" dist="38100" dir="2700000" algn="tl">
                    <a:srgbClr val="000000">
                      <a:alpha val="43137"/>
                    </a:srgbClr>
                  </a:outerShdw>
                </a:effectLst>
              </a:rPr>
              <a:t> </a:t>
            </a:r>
            <a:r>
              <a:rPr lang="pl-PL" sz="4400" dirty="0" err="1">
                <a:solidFill>
                  <a:srgbClr val="FF0000"/>
                </a:solidFill>
                <a:effectLst>
                  <a:outerShdw blurRad="38100" dist="38100" dir="2700000" algn="tl">
                    <a:srgbClr val="000000">
                      <a:alpha val="43137"/>
                    </a:srgbClr>
                  </a:outerShdw>
                </a:effectLst>
              </a:rPr>
              <a:t>documents</a:t>
            </a:r>
            <a:endParaRPr lang="pl-PL" dirty="0"/>
          </a:p>
        </p:txBody>
      </p:sp>
      <p:sp>
        <p:nvSpPr>
          <p:cNvPr id="3" name="Symbol zastępczy zawartości 2">
            <a:extLst>
              <a:ext uri="{FF2B5EF4-FFF2-40B4-BE49-F238E27FC236}">
                <a16:creationId xmlns:a16="http://schemas.microsoft.com/office/drawing/2014/main" id="{052134A6-A10F-6B94-1E08-75A717B571E9}"/>
              </a:ext>
            </a:extLst>
          </p:cNvPr>
          <p:cNvSpPr>
            <a:spLocks noGrp="1"/>
          </p:cNvSpPr>
          <p:nvPr>
            <p:ph idx="1"/>
          </p:nvPr>
        </p:nvSpPr>
        <p:spPr/>
        <p:txBody>
          <a:bodyPr/>
          <a:lstStyle/>
          <a:p>
            <a:pPr marL="0" indent="0" algn="l" rtl="0" eaLnBrk="1" fontAlgn="ctr" latinLnBrk="0" hangingPunct="1">
              <a:buNone/>
            </a:pPr>
            <a:r>
              <a:rPr lang="pl-PL" b="1" dirty="0">
                <a:solidFill>
                  <a:srgbClr val="002060"/>
                </a:solidFill>
                <a:effectLst>
                  <a:outerShdw blurRad="38100" dist="38100" dir="2700000" algn="tl" rotWithShape="0">
                    <a:srgbClr val="000000">
                      <a:alpha val="43000"/>
                    </a:srgbClr>
                  </a:outerShdw>
                </a:effectLst>
                <a:latin typeface="Aptos" panose="020B0004020202020204" pitchFamily="34" charset="0"/>
              </a:rPr>
              <a:t>SOLE PROPRIETORSHIP</a:t>
            </a:r>
            <a:endParaRPr lang="pl-PL" b="0" i="0" u="none" strike="noStrike" dirty="0">
              <a:effectLst/>
              <a:latin typeface="Arial" panose="020B0604020202020204" pitchFamily="34" charset="0"/>
            </a:endParaRPr>
          </a:p>
          <a:p>
            <a:pPr marL="0" algn="l" rtl="0" eaLnBrk="1" fontAlgn="ctr" latinLnBrk="0" hangingPunct="1"/>
            <a:r>
              <a:rPr lang="en-US" b="1" i="0" u="none" strike="noStrike" kern="1200" dirty="0">
                <a:solidFill>
                  <a:srgbClr val="FF0000"/>
                </a:solidFill>
                <a:effectLst>
                  <a:outerShdw blurRad="38100" dist="38100" dir="2700000" algn="tl" rotWithShape="0">
                    <a:srgbClr val="000000">
                      <a:alpha val="43000"/>
                    </a:srgbClr>
                  </a:outerShdw>
                </a:effectLst>
                <a:highlight>
                  <a:srgbClr val="00FF00"/>
                </a:highlight>
                <a:latin typeface="Aptos" panose="020B0004020202020204" pitchFamily="34" charset="0"/>
              </a:rPr>
              <a:t>No</a:t>
            </a:r>
            <a:r>
              <a:rPr lang="pl-PL" b="1" i="0" u="none" strike="noStrike" kern="1200" dirty="0">
                <a:solidFill>
                  <a:srgbClr val="FF0000"/>
                </a:solidFill>
                <a:effectLst>
                  <a:outerShdw blurRad="38100" dist="38100" dir="2700000" algn="tl" rotWithShape="0">
                    <a:srgbClr val="000000">
                      <a:alpha val="43000"/>
                    </a:srgbClr>
                  </a:outerShdw>
                </a:effectLst>
                <a:highlight>
                  <a:srgbClr val="00FF00"/>
                </a:highlight>
                <a:latin typeface="Aptos" panose="020B0004020202020204" pitchFamily="34" charset="0"/>
              </a:rPr>
              <a:t> </a:t>
            </a:r>
            <a:r>
              <a:rPr lang="pl-PL" b="1" i="0" u="none" strike="noStrike" kern="1200" dirty="0" err="1">
                <a:solidFill>
                  <a:srgbClr val="FF0000"/>
                </a:solidFill>
                <a:effectLst>
                  <a:outerShdw blurRad="38100" dist="38100" dir="2700000" algn="tl" rotWithShape="0">
                    <a:srgbClr val="000000">
                      <a:alpha val="43000"/>
                    </a:srgbClr>
                  </a:outerShdw>
                </a:effectLst>
                <a:highlight>
                  <a:srgbClr val="00FF00"/>
                </a:highlight>
                <a:latin typeface="Aptos" panose="020B0004020202020204" pitchFamily="34" charset="0"/>
              </a:rPr>
              <a:t>founding</a:t>
            </a:r>
            <a:r>
              <a:rPr lang="pl-PL" b="1" i="0" u="none" strike="noStrike" kern="1200" dirty="0">
                <a:solidFill>
                  <a:srgbClr val="FF0000"/>
                </a:solidFill>
                <a:effectLst>
                  <a:outerShdw blurRad="38100" dist="38100" dir="2700000" algn="tl" rotWithShape="0">
                    <a:srgbClr val="000000">
                      <a:alpha val="43000"/>
                    </a:srgbClr>
                  </a:outerShdw>
                </a:effectLst>
                <a:highlight>
                  <a:srgbClr val="00FF00"/>
                </a:highlight>
                <a:latin typeface="Aptos" panose="020B0004020202020204" pitchFamily="34" charset="0"/>
              </a:rPr>
              <a:t> </a:t>
            </a:r>
            <a:r>
              <a:rPr lang="pl-PL" b="1" i="0" u="none" strike="noStrike" kern="1200" dirty="0" err="1">
                <a:solidFill>
                  <a:srgbClr val="FF0000"/>
                </a:solidFill>
                <a:effectLst>
                  <a:outerShdw blurRad="38100" dist="38100" dir="2700000" algn="tl" rotWithShape="0">
                    <a:srgbClr val="000000">
                      <a:alpha val="43000"/>
                    </a:srgbClr>
                  </a:outerShdw>
                </a:effectLst>
                <a:highlight>
                  <a:srgbClr val="00FF00"/>
                </a:highlight>
                <a:latin typeface="Aptos" panose="020B0004020202020204" pitchFamily="34" charset="0"/>
              </a:rPr>
              <a:t>agreement</a:t>
            </a:r>
            <a:r>
              <a:rPr lang="en-US" b="1" i="0" u="none" strike="noStrike" kern="1200" dirty="0">
                <a:solidFill>
                  <a:srgbClr val="FF0000"/>
                </a:solidFill>
                <a:effectLst>
                  <a:outerShdw blurRad="38100" dist="38100" dir="2700000" algn="tl" rotWithShape="0">
                    <a:srgbClr val="000000">
                      <a:alpha val="43000"/>
                    </a:srgbClr>
                  </a:outerShdw>
                </a:effectLst>
                <a:highlight>
                  <a:srgbClr val="00FF00"/>
                </a:highlight>
                <a:latin typeface="Aptos" panose="020B0004020202020204" pitchFamily="34" charset="0"/>
              </a:rPr>
              <a:t>.</a:t>
            </a:r>
            <a:endParaRPr lang="pl-PL" b="1" i="0" u="none" strike="noStrike" kern="1200" dirty="0">
              <a:solidFill>
                <a:srgbClr val="FF0000"/>
              </a:solidFill>
              <a:effectLst>
                <a:outerShdw blurRad="38100" dist="38100" dir="2700000" algn="tl" rotWithShape="0">
                  <a:srgbClr val="000000">
                    <a:alpha val="43000"/>
                  </a:srgbClr>
                </a:outerShdw>
              </a:effectLst>
              <a:highlight>
                <a:srgbClr val="00FF00"/>
              </a:highlight>
              <a:latin typeface="Aptos" panose="020B0004020202020204" pitchFamily="34" charset="0"/>
            </a:endParaRPr>
          </a:p>
          <a:p>
            <a:pPr marL="0" algn="l" rtl="0" eaLnBrk="1" fontAlgn="ctr" latinLnBrk="0" hangingPunct="1"/>
            <a:r>
              <a:rPr lang="en-US" b="1" i="0" u="none" strike="noStrike" kern="1200" dirty="0">
                <a:solidFill>
                  <a:srgbClr val="FF0000"/>
                </a:solidFill>
                <a:effectLst>
                  <a:outerShdw blurRad="38100" dist="38100" dir="2700000" algn="tl" rotWithShape="0">
                    <a:srgbClr val="000000">
                      <a:alpha val="43000"/>
                    </a:srgbClr>
                  </a:outerShdw>
                </a:effectLst>
                <a:latin typeface="Aptos" panose="020B0004020202020204" pitchFamily="34" charset="0"/>
              </a:rPr>
              <a:t>The basis for the activity is </a:t>
            </a:r>
            <a:r>
              <a:rPr lang="en-US" b="1" i="0" u="none" strike="noStrike" kern="1200" dirty="0">
                <a:solidFill>
                  <a:srgbClr val="FF0000"/>
                </a:solidFill>
                <a:effectLst>
                  <a:outerShdw blurRad="38100" dist="38100" dir="2700000" algn="tl" rotWithShape="0">
                    <a:srgbClr val="000000">
                      <a:alpha val="43000"/>
                    </a:srgbClr>
                  </a:outerShdw>
                </a:effectLst>
                <a:highlight>
                  <a:srgbClr val="00FF00"/>
                </a:highlight>
                <a:latin typeface="Aptos" panose="020B0004020202020204" pitchFamily="34" charset="0"/>
              </a:rPr>
              <a:t>registratio</a:t>
            </a:r>
            <a:r>
              <a:rPr lang="en-US" b="1" i="0" u="none" strike="noStrike" kern="1200" dirty="0">
                <a:solidFill>
                  <a:srgbClr val="FF0000"/>
                </a:solidFill>
                <a:effectLst>
                  <a:outerShdw blurRad="38100" dist="38100" dir="2700000" algn="tl" rotWithShape="0">
                    <a:srgbClr val="000000">
                      <a:alpha val="43000"/>
                    </a:srgbClr>
                  </a:outerShdw>
                </a:effectLst>
                <a:latin typeface="Aptos" panose="020B0004020202020204" pitchFamily="34" charset="0"/>
              </a:rPr>
              <a:t>n in the Business Activity Central Register and Information Record System (CEIDG).</a:t>
            </a:r>
            <a:endParaRPr lang="pl-PL" b="0" i="0" u="none" strike="noStrike" dirty="0">
              <a:effectLst/>
              <a:latin typeface="Arial" panose="020B0604020202020204" pitchFamily="34" charset="0"/>
            </a:endParaRPr>
          </a:p>
          <a:p>
            <a:pPr marL="0" indent="0" algn="l" rtl="0" eaLnBrk="1" fontAlgn="ctr" latinLnBrk="0" hangingPunct="1">
              <a:buNone/>
            </a:pPr>
            <a:r>
              <a:rPr lang="pl-PL" b="1" dirty="0">
                <a:solidFill>
                  <a:srgbClr val="002060"/>
                </a:solidFill>
                <a:effectLst>
                  <a:outerShdw blurRad="38100" dist="38100" dir="2700000" algn="tl" rotWithShape="0">
                    <a:srgbClr val="000000">
                      <a:alpha val="43000"/>
                    </a:srgbClr>
                  </a:outerShdw>
                </a:effectLst>
                <a:latin typeface="Aptos" panose="020B0004020202020204" pitchFamily="34" charset="0"/>
              </a:rPr>
              <a:t>CIVIL LAW PARTNERSHIP</a:t>
            </a:r>
          </a:p>
          <a:p>
            <a:pPr fontAlgn="ctr"/>
            <a:r>
              <a:rPr lang="en-US" b="0" i="0" u="none" strike="noStrike" kern="1200" dirty="0">
                <a:solidFill>
                  <a:srgbClr val="002060"/>
                </a:solidFill>
                <a:effectLst>
                  <a:outerShdw blurRad="38100" dist="38100" dir="2700000" algn="tl" rotWithShape="0">
                    <a:srgbClr val="000000">
                      <a:alpha val="43000"/>
                    </a:srgbClr>
                  </a:outerShdw>
                </a:effectLst>
                <a:latin typeface="Aptos" panose="020B0004020202020204" pitchFamily="34" charset="0"/>
              </a:rPr>
              <a:t>The </a:t>
            </a:r>
            <a:r>
              <a:rPr lang="en-US" b="1" i="0" u="none" strike="noStrike" kern="1200" dirty="0">
                <a:solidFill>
                  <a:srgbClr val="002060"/>
                </a:solidFill>
                <a:effectLst>
                  <a:outerShdw blurRad="38100" dist="38100" dir="2700000" algn="tl" rotWithShape="0">
                    <a:srgbClr val="000000">
                      <a:alpha val="43000"/>
                    </a:srgbClr>
                  </a:outerShdw>
                </a:effectLst>
                <a:latin typeface="Aptos" panose="020B0004020202020204" pitchFamily="34" charset="0"/>
              </a:rPr>
              <a:t>articles of partnership </a:t>
            </a:r>
            <a:r>
              <a:rPr lang="en-US" b="0" i="0" u="none" strike="noStrike" kern="1200" dirty="0">
                <a:solidFill>
                  <a:srgbClr val="002060"/>
                </a:solidFill>
                <a:effectLst>
                  <a:outerShdw blurRad="38100" dist="38100" dir="2700000" algn="tl" rotWithShape="0">
                    <a:srgbClr val="000000">
                      <a:alpha val="43000"/>
                    </a:srgbClr>
                  </a:outerShdw>
                </a:effectLst>
                <a:latin typeface="Aptos" panose="020B0004020202020204" pitchFamily="34" charset="0"/>
              </a:rPr>
              <a:t>made </a:t>
            </a:r>
            <a:r>
              <a:rPr lang="en-US" b="1" i="0" u="none" strike="noStrike" kern="1200" dirty="0">
                <a:solidFill>
                  <a:srgbClr val="FF0000"/>
                </a:solidFill>
                <a:effectLst>
                  <a:outerShdw blurRad="38100" dist="38100" dir="2700000" algn="tl" rotWithShape="0">
                    <a:srgbClr val="000000">
                      <a:alpha val="43000"/>
                    </a:srgbClr>
                  </a:outerShdw>
                </a:effectLst>
                <a:latin typeface="Aptos" panose="020B0004020202020204" pitchFamily="34" charset="0"/>
              </a:rPr>
              <a:t>in writing.</a:t>
            </a:r>
            <a:endParaRPr lang="pl-PL" b="0" i="0" u="none" strike="noStrike" dirty="0">
              <a:effectLst/>
              <a:latin typeface="Arial" panose="020B0604020202020204" pitchFamily="34" charset="0"/>
            </a:endParaRPr>
          </a:p>
          <a:p>
            <a:endParaRPr lang="pl-PL" dirty="0"/>
          </a:p>
        </p:txBody>
      </p:sp>
    </p:spTree>
    <p:extLst>
      <p:ext uri="{BB962C8B-B14F-4D97-AF65-F5344CB8AC3E}">
        <p14:creationId xmlns:p14="http://schemas.microsoft.com/office/powerpoint/2010/main" val="1214325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285603-4292-6182-38EB-252696072E97}"/>
              </a:ext>
            </a:extLst>
          </p:cNvPr>
          <p:cNvSpPr>
            <a:spLocks noGrp="1"/>
          </p:cNvSpPr>
          <p:nvPr>
            <p:ph type="title"/>
          </p:nvPr>
        </p:nvSpPr>
        <p:spPr/>
        <p:txBody>
          <a:bodyPr>
            <a:normAutofit/>
          </a:bodyPr>
          <a:lstStyle/>
          <a:p>
            <a:r>
              <a:rPr lang="pl-PL" sz="3200" dirty="0" err="1">
                <a:solidFill>
                  <a:srgbClr val="FF0000"/>
                </a:solidFill>
                <a:effectLst>
                  <a:outerShdw blurRad="38100" dist="38100" dir="2700000" algn="tl">
                    <a:srgbClr val="000000">
                      <a:alpha val="43137"/>
                    </a:srgbClr>
                  </a:outerShdw>
                </a:effectLst>
              </a:rPr>
              <a:t>Founding</a:t>
            </a:r>
            <a:r>
              <a:rPr lang="pl-PL" sz="3200" dirty="0">
                <a:solidFill>
                  <a:srgbClr val="FF0000"/>
                </a:solidFill>
                <a:effectLst>
                  <a:outerShdw blurRad="38100" dist="38100" dir="2700000" algn="tl">
                    <a:srgbClr val="000000">
                      <a:alpha val="43137"/>
                    </a:srgbClr>
                  </a:outerShdw>
                </a:effectLst>
              </a:rPr>
              <a:t> </a:t>
            </a:r>
            <a:r>
              <a:rPr lang="pl-PL" sz="3200" dirty="0" err="1">
                <a:solidFill>
                  <a:srgbClr val="FF0000"/>
                </a:solidFill>
                <a:effectLst>
                  <a:outerShdw blurRad="38100" dist="38100" dir="2700000" algn="tl">
                    <a:srgbClr val="000000">
                      <a:alpha val="43137"/>
                    </a:srgbClr>
                  </a:outerShdw>
                </a:effectLst>
              </a:rPr>
              <a:t>documents</a:t>
            </a:r>
            <a:r>
              <a:rPr lang="pl-PL" sz="3200" dirty="0">
                <a:solidFill>
                  <a:srgbClr val="002060"/>
                </a:solidFill>
                <a:effectLst>
                  <a:outerShdw blurRad="38100" dist="38100" dir="2700000" algn="tl">
                    <a:srgbClr val="000000">
                      <a:alpha val="43137"/>
                    </a:srgbClr>
                  </a:outerShdw>
                </a:effectLst>
              </a:rPr>
              <a:t> - </a:t>
            </a:r>
            <a:r>
              <a:rPr lang="pl-PL" sz="3200" dirty="0" err="1">
                <a:solidFill>
                  <a:srgbClr val="002060"/>
                </a:solidFill>
                <a:effectLst>
                  <a:outerShdw blurRad="38100" dist="38100" dir="2700000" algn="tl">
                    <a:srgbClr val="000000">
                      <a:alpha val="43137"/>
                    </a:srgbClr>
                  </a:outerShdw>
                </a:effectLst>
              </a:rPr>
              <a:t>Articles</a:t>
            </a:r>
            <a:r>
              <a:rPr lang="pl-PL" sz="3200" dirty="0">
                <a:solidFill>
                  <a:srgbClr val="002060"/>
                </a:solidFill>
                <a:effectLst>
                  <a:outerShdw blurRad="38100" dist="38100" dir="2700000" algn="tl">
                    <a:srgbClr val="000000">
                      <a:alpha val="43137"/>
                    </a:srgbClr>
                  </a:outerShdw>
                </a:effectLst>
              </a:rPr>
              <a:t> of </a:t>
            </a:r>
            <a:r>
              <a:rPr lang="pl-PL" sz="3200" dirty="0" err="1">
                <a:solidFill>
                  <a:srgbClr val="002060"/>
                </a:solidFill>
                <a:effectLst>
                  <a:outerShdw blurRad="38100" dist="38100" dir="2700000" algn="tl">
                    <a:srgbClr val="000000">
                      <a:alpha val="43137"/>
                    </a:srgbClr>
                  </a:outerShdw>
                </a:effectLst>
              </a:rPr>
              <a:t>association</a:t>
            </a:r>
            <a:r>
              <a:rPr lang="pl-PL" sz="3200" dirty="0">
                <a:solidFill>
                  <a:srgbClr val="002060"/>
                </a:solidFill>
                <a:effectLst>
                  <a:outerShdw blurRad="38100" dist="38100" dir="2700000" algn="tl">
                    <a:srgbClr val="000000">
                      <a:alpha val="43137"/>
                    </a:srgbClr>
                  </a:outerShdw>
                </a:effectLst>
              </a:rPr>
              <a:t>? A </a:t>
            </a:r>
            <a:r>
              <a:rPr lang="pl-PL" sz="3200" dirty="0" err="1">
                <a:solidFill>
                  <a:srgbClr val="002060"/>
                </a:solidFill>
                <a:effectLst>
                  <a:outerShdw blurRad="38100" dist="38100" dir="2700000" algn="tl">
                    <a:srgbClr val="000000">
                      <a:alpha val="43137"/>
                    </a:srgbClr>
                  </a:outerShdw>
                </a:effectLst>
              </a:rPr>
              <a:t>statute</a:t>
            </a:r>
            <a:r>
              <a:rPr lang="pl-PL" sz="3200" dirty="0">
                <a:solidFill>
                  <a:srgbClr val="002060"/>
                </a:solidFill>
                <a:effectLst>
                  <a:outerShdw blurRad="38100" dist="38100" dir="2700000" algn="tl">
                    <a:srgbClr val="000000">
                      <a:alpha val="43137"/>
                    </a:srgbClr>
                  </a:outerShdw>
                </a:effectLst>
              </a:rPr>
              <a:t>?</a:t>
            </a:r>
          </a:p>
        </p:txBody>
      </p:sp>
      <p:graphicFrame>
        <p:nvGraphicFramePr>
          <p:cNvPr id="4" name="Symbol zastępczy zawartości 3">
            <a:extLst>
              <a:ext uri="{FF2B5EF4-FFF2-40B4-BE49-F238E27FC236}">
                <a16:creationId xmlns:a16="http://schemas.microsoft.com/office/drawing/2014/main" id="{234B362A-2EB2-6677-3169-75D2BCC8B39C}"/>
              </a:ext>
            </a:extLst>
          </p:cNvPr>
          <p:cNvGraphicFramePr>
            <a:graphicFrameLocks noGrp="1"/>
          </p:cNvGraphicFramePr>
          <p:nvPr>
            <p:ph idx="1"/>
            <p:extLst>
              <p:ext uri="{D42A27DB-BD31-4B8C-83A1-F6EECF244321}">
                <p14:modId xmlns:p14="http://schemas.microsoft.com/office/powerpoint/2010/main" val="990733619"/>
              </p:ext>
            </p:extLst>
          </p:nvPr>
        </p:nvGraphicFramePr>
        <p:xfrm>
          <a:off x="629265" y="1268362"/>
          <a:ext cx="10628015" cy="5506064"/>
        </p:xfrm>
        <a:graphic>
          <a:graphicData uri="http://schemas.openxmlformats.org/drawingml/2006/table">
            <a:tbl>
              <a:tblPr/>
              <a:tblGrid>
                <a:gridCol w="5370215">
                  <a:extLst>
                    <a:ext uri="{9D8B030D-6E8A-4147-A177-3AD203B41FA5}">
                      <a16:colId xmlns:a16="http://schemas.microsoft.com/office/drawing/2014/main" val="360268119"/>
                    </a:ext>
                  </a:extLst>
                </a:gridCol>
                <a:gridCol w="5257800">
                  <a:extLst>
                    <a:ext uri="{9D8B030D-6E8A-4147-A177-3AD203B41FA5}">
                      <a16:colId xmlns:a16="http://schemas.microsoft.com/office/drawing/2014/main" val="77967852"/>
                    </a:ext>
                  </a:extLst>
                </a:gridCol>
              </a:tblGrid>
              <a:tr h="2228467">
                <a:tc>
                  <a:txBody>
                    <a:bodyPr/>
                    <a:lstStyle/>
                    <a:p>
                      <a:r>
                        <a:rPr lang="pl-PL" sz="1100" b="1" dirty="0">
                          <a:solidFill>
                            <a:srgbClr val="002060"/>
                          </a:solidFill>
                          <a:effectLst>
                            <a:outerShdw blurRad="38100" dist="38100" dir="2700000" algn="tl">
                              <a:srgbClr val="000000">
                                <a:alpha val="43137"/>
                              </a:srgbClr>
                            </a:outerShdw>
                          </a:effectLst>
                        </a:rPr>
                        <a:t>General </a:t>
                      </a:r>
                      <a:r>
                        <a:rPr lang="pl-PL" sz="1100" b="1" dirty="0" err="1">
                          <a:solidFill>
                            <a:srgbClr val="002060"/>
                          </a:solidFill>
                          <a:effectLst>
                            <a:outerShdw blurRad="38100" dist="38100" dir="2700000" algn="tl">
                              <a:srgbClr val="000000">
                                <a:alpha val="43137"/>
                              </a:srgbClr>
                            </a:outerShdw>
                          </a:effectLst>
                        </a:rPr>
                        <a:t>partnership</a:t>
                      </a:r>
                      <a:r>
                        <a:rPr lang="pl-PL" sz="1100" b="1" dirty="0">
                          <a:solidFill>
                            <a:srgbClr val="002060"/>
                          </a:solidFill>
                          <a:effectLst>
                            <a:outerShdw blurRad="38100" dist="38100" dir="2700000" algn="tl">
                              <a:srgbClr val="000000">
                                <a:alpha val="43137"/>
                              </a:srgbClr>
                            </a:outerShdw>
                          </a:effectLst>
                        </a:rPr>
                        <a:t> [ </a:t>
                      </a:r>
                      <a:r>
                        <a:rPr lang="pl-PL" sz="1100" b="1" dirty="0" err="1">
                          <a:solidFill>
                            <a:srgbClr val="002060"/>
                          </a:solidFill>
                          <a:effectLst>
                            <a:outerShdw blurRad="38100" dist="38100" dir="2700000" algn="tl">
                              <a:srgbClr val="000000">
                                <a:alpha val="43137"/>
                              </a:srgbClr>
                            </a:outerShdw>
                          </a:effectLst>
                        </a:rPr>
                        <a:t>Polish</a:t>
                      </a:r>
                      <a:r>
                        <a:rPr lang="pl-PL" sz="1100" b="1" dirty="0">
                          <a:solidFill>
                            <a:srgbClr val="002060"/>
                          </a:solidFill>
                          <a:effectLst>
                            <a:outerShdw blurRad="38100" dist="38100" dir="2700000" algn="tl">
                              <a:srgbClr val="000000">
                                <a:alpha val="43137"/>
                              </a:srgbClr>
                            </a:outerShdw>
                          </a:effectLst>
                        </a:rPr>
                        <a:t> – spółka jawna]</a:t>
                      </a:r>
                      <a:endParaRPr lang="pl-PL" sz="1100" dirty="0">
                        <a:solidFill>
                          <a:srgbClr val="002060"/>
                        </a:solidFill>
                        <a:effectLst>
                          <a:outerShdw blurRad="38100" dist="38100" dir="2700000" algn="tl">
                            <a:srgbClr val="000000">
                              <a:alpha val="43137"/>
                            </a:srgbClr>
                          </a:outerShdw>
                        </a:effectLst>
                      </a:endParaRPr>
                    </a:p>
                  </a:txBody>
                  <a:tcPr marL="46489" marR="46489" marT="46489" marB="37191"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100" dirty="0">
                          <a:solidFill>
                            <a:srgbClr val="002060"/>
                          </a:solidFill>
                          <a:effectLst>
                            <a:outerShdw blurRad="38100" dist="38100" dir="2700000" algn="tl">
                              <a:srgbClr val="000000">
                                <a:alpha val="43137"/>
                              </a:srgbClr>
                            </a:outerShdw>
                          </a:effectLst>
                        </a:rPr>
                        <a:t>The </a:t>
                      </a:r>
                      <a:r>
                        <a:rPr lang="en-US" sz="1100" b="1" dirty="0">
                          <a:solidFill>
                            <a:srgbClr val="FF0000"/>
                          </a:solidFill>
                          <a:effectLst>
                            <a:outerShdw blurRad="38100" dist="38100" dir="2700000" algn="tl">
                              <a:srgbClr val="000000">
                                <a:alpha val="43137"/>
                              </a:srgbClr>
                            </a:outerShdw>
                          </a:effectLst>
                        </a:rPr>
                        <a:t>articles of partnership </a:t>
                      </a:r>
                      <a:r>
                        <a:rPr lang="en-US" sz="1100" dirty="0">
                          <a:solidFill>
                            <a:srgbClr val="002060"/>
                          </a:solidFill>
                          <a:effectLst>
                            <a:outerShdw blurRad="38100" dist="38100" dir="2700000" algn="tl">
                              <a:srgbClr val="000000">
                                <a:alpha val="43137"/>
                              </a:srgbClr>
                            </a:outerShdw>
                          </a:effectLst>
                        </a:rPr>
                        <a:t>must be concluded:</a:t>
                      </a:r>
                    </a:p>
                    <a:p>
                      <a:pPr>
                        <a:buFont typeface="Arial" panose="020B0604020202020204" pitchFamily="34" charset="0"/>
                        <a:buChar char="•"/>
                      </a:pPr>
                      <a:r>
                        <a:rPr lang="en-US" sz="1100" dirty="0">
                          <a:solidFill>
                            <a:srgbClr val="002060"/>
                          </a:solidFill>
                          <a:effectLst>
                            <a:outerShdw blurRad="38100" dist="38100" dir="2700000" algn="tl">
                              <a:srgbClr val="000000">
                                <a:alpha val="43137"/>
                              </a:srgbClr>
                            </a:outerShdw>
                          </a:effectLst>
                        </a:rPr>
                        <a:t>in writing, or else they will be invalid.</a:t>
                      </a:r>
                    </a:p>
                    <a:p>
                      <a:pPr>
                        <a:buFont typeface="Arial" panose="020B0604020202020204" pitchFamily="34" charset="0"/>
                        <a:buChar char="•"/>
                      </a:pPr>
                      <a:r>
                        <a:rPr lang="en-US" sz="1100" dirty="0">
                          <a:solidFill>
                            <a:srgbClr val="002060"/>
                          </a:solidFill>
                          <a:effectLst>
                            <a:outerShdw blurRad="38100" dist="38100" dir="2700000" algn="tl">
                              <a:srgbClr val="000000">
                                <a:alpha val="43137"/>
                              </a:srgbClr>
                            </a:outerShdw>
                          </a:effectLst>
                        </a:rPr>
                        <a:t>in the form of a </a:t>
                      </a:r>
                      <a:r>
                        <a:rPr lang="en-US" sz="1100" b="1" dirty="0">
                          <a:solidFill>
                            <a:srgbClr val="FF0000"/>
                          </a:solidFill>
                          <a:effectLst>
                            <a:outerShdw blurRad="38100" dist="38100" dir="2700000" algn="tl">
                              <a:srgbClr val="000000">
                                <a:alpha val="43137"/>
                              </a:srgbClr>
                            </a:outerShdw>
                          </a:effectLst>
                        </a:rPr>
                        <a:t>notarial deed: </a:t>
                      </a:r>
                      <a:r>
                        <a:rPr lang="en-US" sz="1100" dirty="0">
                          <a:solidFill>
                            <a:srgbClr val="002060"/>
                          </a:solidFill>
                          <a:effectLst>
                            <a:outerShdw blurRad="38100" dist="38100" dir="2700000" algn="tl">
                              <a:srgbClr val="000000">
                                <a:alpha val="43137"/>
                              </a:srgbClr>
                            </a:outerShdw>
                          </a:effectLst>
                        </a:rPr>
                        <a:t>if a partner's contribution includes real estate</a:t>
                      </a:r>
                    </a:p>
                    <a:p>
                      <a:pPr>
                        <a:buFont typeface="Arial" panose="020B0604020202020204" pitchFamily="34" charset="0"/>
                        <a:buChar char="•"/>
                      </a:pPr>
                      <a:r>
                        <a:rPr lang="en-US" sz="1100" dirty="0">
                          <a:solidFill>
                            <a:srgbClr val="002060"/>
                          </a:solidFill>
                          <a:effectLst>
                            <a:outerShdw blurRad="38100" dist="38100" dir="2700000" algn="tl">
                              <a:srgbClr val="000000">
                                <a:alpha val="43137"/>
                              </a:srgbClr>
                            </a:outerShdw>
                          </a:effectLst>
                        </a:rPr>
                        <a:t>with signatures confirmed by a notary: if a partner's contribution includes an enterprise</a:t>
                      </a:r>
                    </a:p>
                    <a:p>
                      <a:pPr>
                        <a:buFont typeface="Arial" panose="020B0604020202020204" pitchFamily="34" charset="0"/>
                        <a:buChar char="•"/>
                      </a:pPr>
                      <a:r>
                        <a:rPr lang="en-US" sz="1100" dirty="0">
                          <a:solidFill>
                            <a:srgbClr val="002060"/>
                          </a:solidFill>
                          <a:effectLst>
                            <a:outerShdw blurRad="38100" dist="38100" dir="2700000" algn="tl">
                              <a:srgbClr val="000000">
                                <a:alpha val="43137"/>
                              </a:srgbClr>
                            </a:outerShdw>
                          </a:effectLst>
                        </a:rPr>
                        <a:t>through the Internet in </a:t>
                      </a:r>
                      <a:r>
                        <a:rPr lang="en-US" sz="1100" b="1" dirty="0">
                          <a:solidFill>
                            <a:srgbClr val="FF0000"/>
                          </a:solidFill>
                          <a:effectLst>
                            <a:outerShdw blurRad="38100" dist="38100" dir="2700000" algn="tl">
                              <a:srgbClr val="000000">
                                <a:alpha val="43137"/>
                              </a:srgbClr>
                            </a:outerShdw>
                          </a:effectLst>
                        </a:rPr>
                        <a:t>the S24 system </a:t>
                      </a:r>
                      <a:r>
                        <a:rPr lang="en-US" sz="1100" dirty="0">
                          <a:solidFill>
                            <a:srgbClr val="002060"/>
                          </a:solidFill>
                          <a:effectLst>
                            <a:outerShdw blurRad="38100" dist="38100" dir="2700000" algn="tl">
                              <a:srgbClr val="000000">
                                <a:alpha val="43137"/>
                              </a:srgbClr>
                            </a:outerShdw>
                          </a:effectLst>
                        </a:rPr>
                        <a:t>- if the contributions are made only in cash.</a:t>
                      </a:r>
                    </a:p>
                  </a:txBody>
                  <a:tcPr marL="46489" marR="46489" marT="46489" marB="37191"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043661327"/>
                  </a:ext>
                </a:extLst>
              </a:tr>
              <a:tr h="1704121">
                <a:tc>
                  <a:txBody>
                    <a:bodyPr/>
                    <a:lstStyle/>
                    <a:p>
                      <a:r>
                        <a:rPr lang="pl-PL" sz="1100" b="1" dirty="0">
                          <a:solidFill>
                            <a:srgbClr val="002060"/>
                          </a:solidFill>
                          <a:effectLst>
                            <a:outerShdw blurRad="38100" dist="38100" dir="2700000" algn="tl">
                              <a:srgbClr val="000000">
                                <a:alpha val="43137"/>
                              </a:srgbClr>
                            </a:outerShdw>
                          </a:effectLst>
                        </a:rPr>
                        <a:t>Professional </a:t>
                      </a:r>
                      <a:r>
                        <a:rPr lang="pl-PL" sz="1100" b="1" dirty="0" err="1">
                          <a:solidFill>
                            <a:srgbClr val="002060"/>
                          </a:solidFill>
                          <a:effectLst>
                            <a:outerShdw blurRad="38100" dist="38100" dir="2700000" algn="tl">
                              <a:srgbClr val="000000">
                                <a:alpha val="43137"/>
                              </a:srgbClr>
                            </a:outerShdw>
                          </a:effectLst>
                        </a:rPr>
                        <a:t>partnership</a:t>
                      </a:r>
                      <a:endParaRPr lang="pl-PL" sz="1100" dirty="0">
                        <a:solidFill>
                          <a:srgbClr val="002060"/>
                        </a:solidFill>
                        <a:effectLst>
                          <a:outerShdw blurRad="38100" dist="38100" dir="2700000" algn="tl">
                            <a:srgbClr val="000000">
                              <a:alpha val="43137"/>
                            </a:srgbClr>
                          </a:outerShdw>
                        </a:effectLst>
                      </a:endParaRPr>
                    </a:p>
                  </a:txBody>
                  <a:tcPr marL="46489" marR="46489" marT="46489" marB="37191"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100" dirty="0">
                          <a:solidFill>
                            <a:srgbClr val="002060"/>
                          </a:solidFill>
                          <a:effectLst>
                            <a:outerShdw blurRad="38100" dist="38100" dir="2700000" algn="tl">
                              <a:srgbClr val="000000">
                                <a:alpha val="43137"/>
                              </a:srgbClr>
                            </a:outerShdw>
                          </a:effectLst>
                        </a:rPr>
                        <a:t>The articles of partnership must be concluded:</a:t>
                      </a:r>
                    </a:p>
                    <a:p>
                      <a:pPr>
                        <a:buFont typeface="Arial" panose="020B0604020202020204" pitchFamily="34" charset="0"/>
                        <a:buChar char="•"/>
                      </a:pPr>
                      <a:r>
                        <a:rPr lang="en-US" sz="1100" dirty="0">
                          <a:solidFill>
                            <a:srgbClr val="002060"/>
                          </a:solidFill>
                          <a:effectLst>
                            <a:outerShdw blurRad="38100" dist="38100" dir="2700000" algn="tl">
                              <a:srgbClr val="000000">
                                <a:alpha val="43137"/>
                              </a:srgbClr>
                            </a:outerShdw>
                          </a:effectLst>
                        </a:rPr>
                        <a:t>in writing, or else they will be invalid.</a:t>
                      </a:r>
                    </a:p>
                    <a:p>
                      <a:pPr>
                        <a:buFont typeface="Arial" panose="020B0604020202020204" pitchFamily="34" charset="0"/>
                        <a:buChar char="•"/>
                      </a:pPr>
                      <a:r>
                        <a:rPr lang="en-US" sz="1100" dirty="0">
                          <a:solidFill>
                            <a:srgbClr val="002060"/>
                          </a:solidFill>
                          <a:effectLst>
                            <a:outerShdw blurRad="38100" dist="38100" dir="2700000" algn="tl">
                              <a:srgbClr val="000000">
                                <a:alpha val="43137"/>
                              </a:srgbClr>
                            </a:outerShdw>
                          </a:effectLst>
                        </a:rPr>
                        <a:t>in the form of a </a:t>
                      </a:r>
                      <a:r>
                        <a:rPr lang="en-US" sz="1100" b="1" dirty="0">
                          <a:solidFill>
                            <a:srgbClr val="FF0000"/>
                          </a:solidFill>
                          <a:effectLst>
                            <a:outerShdw blurRad="38100" dist="38100" dir="2700000" algn="tl">
                              <a:srgbClr val="000000">
                                <a:alpha val="43137"/>
                              </a:srgbClr>
                            </a:outerShdw>
                          </a:effectLst>
                        </a:rPr>
                        <a:t>notarial deed</a:t>
                      </a:r>
                      <a:r>
                        <a:rPr lang="en-US" sz="1100" dirty="0">
                          <a:solidFill>
                            <a:srgbClr val="002060"/>
                          </a:solidFill>
                          <a:effectLst>
                            <a:outerShdw blurRad="38100" dist="38100" dir="2700000" algn="tl">
                              <a:srgbClr val="000000">
                                <a:alpha val="43137"/>
                              </a:srgbClr>
                            </a:outerShdw>
                          </a:effectLst>
                        </a:rPr>
                        <a:t>: if a partner's contribution includes real estate</a:t>
                      </a:r>
                    </a:p>
                    <a:p>
                      <a:pPr>
                        <a:buFont typeface="Arial" panose="020B0604020202020204" pitchFamily="34" charset="0"/>
                        <a:buChar char="•"/>
                      </a:pPr>
                      <a:r>
                        <a:rPr lang="en-US" sz="1100" dirty="0">
                          <a:solidFill>
                            <a:srgbClr val="002060"/>
                          </a:solidFill>
                          <a:effectLst>
                            <a:outerShdw blurRad="38100" dist="38100" dir="2700000" algn="tl">
                              <a:srgbClr val="000000">
                                <a:alpha val="43137"/>
                              </a:srgbClr>
                            </a:outerShdw>
                          </a:effectLst>
                        </a:rPr>
                        <a:t>with signatures confirmed by a notary: if a partner's contribution includes an enterprise.</a:t>
                      </a:r>
                    </a:p>
                  </a:txBody>
                  <a:tcPr marL="46489" marR="46489" marT="46489" marB="37191"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678101879"/>
                  </a:ext>
                </a:extLst>
              </a:tr>
              <a:tr h="1179777">
                <a:tc>
                  <a:txBody>
                    <a:bodyPr/>
                    <a:lstStyle/>
                    <a:p>
                      <a:r>
                        <a:rPr lang="pl-PL" sz="1100" b="1">
                          <a:solidFill>
                            <a:srgbClr val="002060"/>
                          </a:solidFill>
                          <a:effectLst>
                            <a:outerShdw blurRad="38100" dist="38100" dir="2700000" algn="tl">
                              <a:srgbClr val="000000">
                                <a:alpha val="43137"/>
                              </a:srgbClr>
                            </a:outerShdw>
                          </a:effectLst>
                        </a:rPr>
                        <a:t>Limited partnership</a:t>
                      </a:r>
                      <a:endParaRPr lang="pl-PL" sz="1100">
                        <a:solidFill>
                          <a:srgbClr val="002060"/>
                        </a:solidFill>
                        <a:effectLst>
                          <a:outerShdw blurRad="38100" dist="38100" dir="2700000" algn="tl">
                            <a:srgbClr val="000000">
                              <a:alpha val="43137"/>
                            </a:srgbClr>
                          </a:outerShdw>
                        </a:effectLst>
                      </a:endParaRPr>
                    </a:p>
                  </a:txBody>
                  <a:tcPr marL="46489" marR="46489" marT="46489" marB="37191"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100" dirty="0">
                          <a:solidFill>
                            <a:srgbClr val="002060"/>
                          </a:solidFill>
                          <a:effectLst>
                            <a:outerShdw blurRad="38100" dist="38100" dir="2700000" algn="tl">
                              <a:srgbClr val="000000">
                                <a:alpha val="43137"/>
                              </a:srgbClr>
                            </a:outerShdw>
                          </a:effectLst>
                        </a:rPr>
                        <a:t> The articles of partnership may be concluded:</a:t>
                      </a:r>
                    </a:p>
                    <a:p>
                      <a:pPr>
                        <a:buFont typeface="Arial" panose="020B0604020202020204" pitchFamily="34" charset="0"/>
                        <a:buChar char="•"/>
                      </a:pPr>
                      <a:r>
                        <a:rPr lang="en-US" sz="1100" dirty="0">
                          <a:solidFill>
                            <a:srgbClr val="002060"/>
                          </a:solidFill>
                          <a:effectLst>
                            <a:outerShdw blurRad="38100" dist="38100" dir="2700000" algn="tl">
                              <a:srgbClr val="000000">
                                <a:alpha val="43137"/>
                              </a:srgbClr>
                            </a:outerShdw>
                          </a:effectLst>
                        </a:rPr>
                        <a:t>in the form of a </a:t>
                      </a:r>
                      <a:r>
                        <a:rPr lang="en-US" sz="1100" b="1" dirty="0">
                          <a:solidFill>
                            <a:srgbClr val="FF0000"/>
                          </a:solidFill>
                          <a:effectLst>
                            <a:outerShdw blurRad="38100" dist="38100" dir="2700000" algn="tl">
                              <a:srgbClr val="000000">
                                <a:alpha val="43137"/>
                              </a:srgbClr>
                            </a:outerShdw>
                          </a:effectLst>
                        </a:rPr>
                        <a:t>notarial deed</a:t>
                      </a:r>
                    </a:p>
                    <a:p>
                      <a:pPr>
                        <a:buFont typeface="Arial" panose="020B0604020202020204" pitchFamily="34" charset="0"/>
                        <a:buChar char="•"/>
                      </a:pPr>
                      <a:r>
                        <a:rPr lang="en-US" sz="1100" dirty="0">
                          <a:solidFill>
                            <a:srgbClr val="002060"/>
                          </a:solidFill>
                          <a:effectLst>
                            <a:outerShdw blurRad="38100" dist="38100" dir="2700000" algn="tl">
                              <a:srgbClr val="000000">
                                <a:alpha val="43137"/>
                              </a:srgbClr>
                            </a:outerShdw>
                          </a:effectLst>
                        </a:rPr>
                        <a:t>through the Internet in the S24 system - if the contributions are made only in cash.</a:t>
                      </a:r>
                    </a:p>
                  </a:txBody>
                  <a:tcPr marL="46489" marR="46489" marT="46489" marB="37191"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116358053"/>
                  </a:ext>
                </a:extLst>
              </a:tr>
              <a:tr h="393699">
                <a:tc>
                  <a:txBody>
                    <a:bodyPr/>
                    <a:lstStyle/>
                    <a:p>
                      <a:r>
                        <a:rPr lang="pl-PL" sz="1100" b="1">
                          <a:solidFill>
                            <a:srgbClr val="002060"/>
                          </a:solidFill>
                          <a:effectLst>
                            <a:outerShdw blurRad="38100" dist="38100" dir="2700000" algn="tl">
                              <a:srgbClr val="000000">
                                <a:alpha val="43137"/>
                              </a:srgbClr>
                            </a:outerShdw>
                          </a:effectLst>
                        </a:rPr>
                        <a:t>Partnership limited by shares</a:t>
                      </a:r>
                      <a:endParaRPr lang="pl-PL" sz="1100">
                        <a:solidFill>
                          <a:srgbClr val="002060"/>
                        </a:solidFill>
                        <a:effectLst>
                          <a:outerShdw blurRad="38100" dist="38100" dir="2700000" algn="tl">
                            <a:srgbClr val="000000">
                              <a:alpha val="43137"/>
                            </a:srgbClr>
                          </a:outerShdw>
                        </a:effectLst>
                      </a:endParaRPr>
                    </a:p>
                  </a:txBody>
                  <a:tcPr marL="46489" marR="46489" marT="46489" marB="37191"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pl-PL" sz="1100" b="1" dirty="0">
                          <a:solidFill>
                            <a:srgbClr val="FF0000"/>
                          </a:solidFill>
                          <a:effectLst>
                            <a:outerShdw blurRad="38100" dist="38100" dir="2700000" algn="tl">
                              <a:srgbClr val="000000">
                                <a:alpha val="43137"/>
                              </a:srgbClr>
                            </a:outerShdw>
                          </a:effectLst>
                        </a:rPr>
                        <a:t>S</a:t>
                      </a:r>
                      <a:r>
                        <a:rPr lang="en-US" sz="1100" b="1" dirty="0" err="1">
                          <a:solidFill>
                            <a:srgbClr val="FF0000"/>
                          </a:solidFill>
                          <a:effectLst>
                            <a:outerShdw blurRad="38100" dist="38100" dir="2700000" algn="tl">
                              <a:srgbClr val="000000">
                                <a:alpha val="43137"/>
                              </a:srgbClr>
                            </a:outerShdw>
                          </a:effectLst>
                        </a:rPr>
                        <a:t>tatutes</a:t>
                      </a:r>
                      <a:r>
                        <a:rPr lang="en-US" sz="1100" b="1" dirty="0">
                          <a:solidFill>
                            <a:srgbClr val="FF0000"/>
                          </a:solidFill>
                          <a:effectLst>
                            <a:outerShdw blurRad="38100" dist="38100" dir="2700000" algn="tl">
                              <a:srgbClr val="000000">
                                <a:alpha val="43137"/>
                              </a:srgbClr>
                            </a:outerShdw>
                          </a:effectLst>
                        </a:rPr>
                        <a:t> in the form of a notarial deed.</a:t>
                      </a:r>
                    </a:p>
                  </a:txBody>
                  <a:tcPr marL="46489" marR="46489" marT="46489" marB="37191"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801271061"/>
                  </a:ext>
                </a:extLst>
              </a:tr>
            </a:tbl>
          </a:graphicData>
        </a:graphic>
      </p:graphicFrame>
    </p:spTree>
    <p:extLst>
      <p:ext uri="{BB962C8B-B14F-4D97-AF65-F5344CB8AC3E}">
        <p14:creationId xmlns:p14="http://schemas.microsoft.com/office/powerpoint/2010/main" val="2950544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CCBC88B-E2B7-90F0-684C-EA1D11942604}"/>
              </a:ext>
            </a:extLst>
          </p:cNvPr>
          <p:cNvSpPr>
            <a:spLocks noGrp="1"/>
          </p:cNvSpPr>
          <p:nvPr>
            <p:ph type="title"/>
          </p:nvPr>
        </p:nvSpPr>
        <p:spPr/>
        <p:txBody>
          <a:bodyPr>
            <a:normAutofit/>
          </a:bodyPr>
          <a:lstStyle/>
          <a:p>
            <a:r>
              <a:rPr lang="pl-PL" sz="3200" dirty="0" err="1">
                <a:solidFill>
                  <a:srgbClr val="FF0000"/>
                </a:solidFill>
                <a:effectLst>
                  <a:outerShdw blurRad="38100" dist="38100" dir="2700000" algn="tl">
                    <a:srgbClr val="000000">
                      <a:alpha val="43137"/>
                    </a:srgbClr>
                  </a:outerShdw>
                </a:effectLst>
              </a:rPr>
              <a:t>Founding</a:t>
            </a:r>
            <a:r>
              <a:rPr lang="pl-PL" sz="3200" dirty="0">
                <a:solidFill>
                  <a:srgbClr val="FF0000"/>
                </a:solidFill>
                <a:effectLst>
                  <a:outerShdw blurRad="38100" dist="38100" dir="2700000" algn="tl">
                    <a:srgbClr val="000000">
                      <a:alpha val="43137"/>
                    </a:srgbClr>
                  </a:outerShdw>
                </a:effectLst>
              </a:rPr>
              <a:t> </a:t>
            </a:r>
            <a:r>
              <a:rPr lang="pl-PL" sz="3200" dirty="0" err="1">
                <a:solidFill>
                  <a:srgbClr val="FF0000"/>
                </a:solidFill>
                <a:effectLst>
                  <a:outerShdw blurRad="38100" dist="38100" dir="2700000" algn="tl">
                    <a:srgbClr val="000000">
                      <a:alpha val="43137"/>
                    </a:srgbClr>
                  </a:outerShdw>
                </a:effectLst>
              </a:rPr>
              <a:t>documents</a:t>
            </a:r>
            <a:r>
              <a:rPr lang="pl-PL" sz="3200" dirty="0">
                <a:solidFill>
                  <a:srgbClr val="002060"/>
                </a:solidFill>
                <a:effectLst>
                  <a:outerShdw blurRad="38100" dist="38100" dir="2700000" algn="tl">
                    <a:srgbClr val="000000">
                      <a:alpha val="43137"/>
                    </a:srgbClr>
                  </a:outerShdw>
                </a:effectLst>
              </a:rPr>
              <a:t> - </a:t>
            </a:r>
            <a:r>
              <a:rPr lang="pl-PL" sz="3200" dirty="0" err="1">
                <a:solidFill>
                  <a:srgbClr val="002060"/>
                </a:solidFill>
                <a:effectLst>
                  <a:outerShdw blurRad="38100" dist="38100" dir="2700000" algn="tl">
                    <a:srgbClr val="000000">
                      <a:alpha val="43137"/>
                    </a:srgbClr>
                  </a:outerShdw>
                </a:effectLst>
              </a:rPr>
              <a:t>Articles</a:t>
            </a:r>
            <a:r>
              <a:rPr lang="pl-PL" sz="3200" dirty="0">
                <a:solidFill>
                  <a:srgbClr val="002060"/>
                </a:solidFill>
                <a:effectLst>
                  <a:outerShdw blurRad="38100" dist="38100" dir="2700000" algn="tl">
                    <a:srgbClr val="000000">
                      <a:alpha val="43137"/>
                    </a:srgbClr>
                  </a:outerShdw>
                </a:effectLst>
              </a:rPr>
              <a:t> of </a:t>
            </a:r>
            <a:r>
              <a:rPr lang="pl-PL" sz="3200" dirty="0" err="1">
                <a:solidFill>
                  <a:srgbClr val="002060"/>
                </a:solidFill>
                <a:effectLst>
                  <a:outerShdw blurRad="38100" dist="38100" dir="2700000" algn="tl">
                    <a:srgbClr val="000000">
                      <a:alpha val="43137"/>
                    </a:srgbClr>
                  </a:outerShdw>
                </a:effectLst>
              </a:rPr>
              <a:t>association</a:t>
            </a:r>
            <a:r>
              <a:rPr lang="pl-PL" sz="3200" dirty="0">
                <a:solidFill>
                  <a:srgbClr val="002060"/>
                </a:solidFill>
                <a:effectLst>
                  <a:outerShdw blurRad="38100" dist="38100" dir="2700000" algn="tl">
                    <a:srgbClr val="000000">
                      <a:alpha val="43137"/>
                    </a:srgbClr>
                  </a:outerShdw>
                </a:effectLst>
              </a:rPr>
              <a:t>? A </a:t>
            </a:r>
            <a:r>
              <a:rPr lang="pl-PL" sz="3200" dirty="0" err="1">
                <a:solidFill>
                  <a:srgbClr val="002060"/>
                </a:solidFill>
                <a:effectLst>
                  <a:outerShdw blurRad="38100" dist="38100" dir="2700000" algn="tl">
                    <a:srgbClr val="000000">
                      <a:alpha val="43137"/>
                    </a:srgbClr>
                  </a:outerShdw>
                </a:effectLst>
              </a:rPr>
              <a:t>statute</a:t>
            </a:r>
            <a:r>
              <a:rPr lang="pl-PL" sz="3200" dirty="0">
                <a:solidFill>
                  <a:srgbClr val="002060"/>
                </a:solidFill>
                <a:effectLst>
                  <a:outerShdw blurRad="38100" dist="38100" dir="2700000" algn="tl">
                    <a:srgbClr val="000000">
                      <a:alpha val="43137"/>
                    </a:srgbClr>
                  </a:outerShdw>
                </a:effectLst>
              </a:rPr>
              <a:t>?</a:t>
            </a:r>
            <a:endParaRPr lang="pl-PL" sz="3200" dirty="0"/>
          </a:p>
        </p:txBody>
      </p:sp>
      <p:graphicFrame>
        <p:nvGraphicFramePr>
          <p:cNvPr id="4" name="Symbol zastępczy zawartości 3">
            <a:extLst>
              <a:ext uri="{FF2B5EF4-FFF2-40B4-BE49-F238E27FC236}">
                <a16:creationId xmlns:a16="http://schemas.microsoft.com/office/drawing/2014/main" id="{BF9E91D8-E5E7-DDB4-4F9B-E16E62E75050}"/>
              </a:ext>
            </a:extLst>
          </p:cNvPr>
          <p:cNvGraphicFramePr>
            <a:graphicFrameLocks noGrp="1"/>
          </p:cNvGraphicFramePr>
          <p:nvPr>
            <p:ph idx="1"/>
            <p:extLst>
              <p:ext uri="{D42A27DB-BD31-4B8C-83A1-F6EECF244321}">
                <p14:modId xmlns:p14="http://schemas.microsoft.com/office/powerpoint/2010/main" val="1092948815"/>
              </p:ext>
            </p:extLst>
          </p:nvPr>
        </p:nvGraphicFramePr>
        <p:xfrm>
          <a:off x="838200" y="1463040"/>
          <a:ext cx="10515600" cy="5222240"/>
        </p:xfrm>
        <a:graphic>
          <a:graphicData uri="http://schemas.openxmlformats.org/drawingml/2006/table">
            <a:tbl>
              <a:tblPr/>
              <a:tblGrid>
                <a:gridCol w="5257800">
                  <a:extLst>
                    <a:ext uri="{9D8B030D-6E8A-4147-A177-3AD203B41FA5}">
                      <a16:colId xmlns:a16="http://schemas.microsoft.com/office/drawing/2014/main" val="3296542999"/>
                    </a:ext>
                  </a:extLst>
                </a:gridCol>
                <a:gridCol w="5257800">
                  <a:extLst>
                    <a:ext uri="{9D8B030D-6E8A-4147-A177-3AD203B41FA5}">
                      <a16:colId xmlns:a16="http://schemas.microsoft.com/office/drawing/2014/main" val="1822471097"/>
                    </a:ext>
                  </a:extLst>
                </a:gridCol>
              </a:tblGrid>
              <a:tr h="2297786">
                <a:tc>
                  <a:txBody>
                    <a:bodyPr/>
                    <a:lstStyle/>
                    <a:p>
                      <a:r>
                        <a:rPr lang="pl-PL" b="1" dirty="0">
                          <a:solidFill>
                            <a:srgbClr val="0070C0"/>
                          </a:solidFill>
                          <a:effectLst>
                            <a:outerShdw blurRad="38100" dist="38100" dir="2700000" algn="tl">
                              <a:srgbClr val="000000">
                                <a:alpha val="43137"/>
                              </a:srgbClr>
                            </a:outerShdw>
                          </a:effectLst>
                        </a:rPr>
                        <a:t>Limited </a:t>
                      </a:r>
                      <a:r>
                        <a:rPr lang="pl-PL" b="1" dirty="0" err="1">
                          <a:solidFill>
                            <a:srgbClr val="0070C0"/>
                          </a:solidFill>
                          <a:effectLst>
                            <a:outerShdw blurRad="38100" dist="38100" dir="2700000" algn="tl">
                              <a:srgbClr val="000000">
                                <a:alpha val="43137"/>
                              </a:srgbClr>
                            </a:outerShdw>
                          </a:effectLst>
                        </a:rPr>
                        <a:t>liability</a:t>
                      </a:r>
                      <a:r>
                        <a:rPr lang="pl-PL" b="1" dirty="0">
                          <a:solidFill>
                            <a:srgbClr val="0070C0"/>
                          </a:solidFill>
                          <a:effectLst>
                            <a:outerShdw blurRad="38100" dist="38100" dir="2700000" algn="tl">
                              <a:srgbClr val="000000">
                                <a:alpha val="43137"/>
                              </a:srgbClr>
                            </a:outerShdw>
                          </a:effectLst>
                        </a:rPr>
                        <a:t> </a:t>
                      </a:r>
                      <a:r>
                        <a:rPr lang="pl-PL" b="1" dirty="0" err="1">
                          <a:solidFill>
                            <a:srgbClr val="0070C0"/>
                          </a:solidFill>
                          <a:effectLst>
                            <a:outerShdw blurRad="38100" dist="38100" dir="2700000" algn="tl">
                              <a:srgbClr val="000000">
                                <a:alpha val="43137"/>
                              </a:srgbClr>
                            </a:outerShdw>
                          </a:effectLst>
                        </a:rPr>
                        <a:t>company</a:t>
                      </a:r>
                      <a:r>
                        <a:rPr lang="pl-PL" b="1" dirty="0">
                          <a:solidFill>
                            <a:srgbClr val="0070C0"/>
                          </a:solidFill>
                          <a:effectLst>
                            <a:outerShdw blurRad="38100" dist="38100" dir="2700000" algn="tl">
                              <a:srgbClr val="000000">
                                <a:alpha val="43137"/>
                              </a:srgbClr>
                            </a:outerShdw>
                          </a:effectLst>
                        </a:rPr>
                        <a:t> (LLC, sp. z o.o.)</a:t>
                      </a:r>
                      <a:endParaRPr lang="pl-PL" dirty="0">
                        <a:solidFill>
                          <a:srgbClr val="0070C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a:noFill/>
                    </a:lnT>
                    <a:lnB w="7620" cap="flat" cmpd="sng" algn="ctr">
                      <a:solidFill>
                        <a:srgbClr val="E3E3E3"/>
                      </a:solidFill>
                      <a:prstDash val="solid"/>
                      <a:round/>
                      <a:headEnd type="none" w="med" len="med"/>
                      <a:tailEnd type="none" w="med" len="med"/>
                    </a:lnB>
                    <a:solidFill>
                      <a:srgbClr val="FFFFFF"/>
                    </a:solidFill>
                  </a:tcPr>
                </a:tc>
                <a:tc>
                  <a:txBody>
                    <a:bodyPr/>
                    <a:lstStyle/>
                    <a:p>
                      <a:r>
                        <a:rPr lang="en-US" dirty="0">
                          <a:solidFill>
                            <a:srgbClr val="0070C0"/>
                          </a:solidFill>
                          <a:effectLst>
                            <a:outerShdw blurRad="38100" dist="38100" dir="2700000" algn="tl">
                              <a:srgbClr val="000000">
                                <a:alpha val="43137"/>
                              </a:srgbClr>
                            </a:outerShdw>
                          </a:effectLst>
                        </a:rPr>
                        <a:t>The </a:t>
                      </a:r>
                      <a:r>
                        <a:rPr lang="en-US" b="1" dirty="0">
                          <a:solidFill>
                            <a:srgbClr val="0070C0"/>
                          </a:solidFill>
                          <a:effectLst>
                            <a:outerShdw blurRad="38100" dist="38100" dir="2700000" algn="tl">
                              <a:srgbClr val="000000">
                                <a:alpha val="43137"/>
                              </a:srgbClr>
                            </a:outerShdw>
                          </a:effectLst>
                        </a:rPr>
                        <a:t>articles of association </a:t>
                      </a:r>
                      <a:r>
                        <a:rPr lang="en-US" dirty="0">
                          <a:solidFill>
                            <a:srgbClr val="0070C0"/>
                          </a:solidFill>
                          <a:effectLst>
                            <a:outerShdw blurRad="38100" dist="38100" dir="2700000" algn="tl">
                              <a:srgbClr val="000000">
                                <a:alpha val="43137"/>
                              </a:srgbClr>
                            </a:outerShdw>
                          </a:effectLst>
                        </a:rPr>
                        <a:t>may be concluded:</a:t>
                      </a:r>
                    </a:p>
                    <a:p>
                      <a:r>
                        <a:rPr lang="en-US" dirty="0">
                          <a:solidFill>
                            <a:srgbClr val="0070C0"/>
                          </a:solidFill>
                          <a:effectLst>
                            <a:outerShdw blurRad="38100" dist="38100" dir="2700000" algn="tl">
                              <a:srgbClr val="000000">
                                <a:alpha val="43137"/>
                              </a:srgbClr>
                            </a:outerShdw>
                          </a:effectLst>
                        </a:rPr>
                        <a:t>• in the form of a </a:t>
                      </a:r>
                      <a:r>
                        <a:rPr lang="en-US" b="1" dirty="0">
                          <a:solidFill>
                            <a:srgbClr val="FF0000"/>
                          </a:solidFill>
                          <a:effectLst>
                            <a:outerShdw blurRad="38100" dist="38100" dir="2700000" algn="tl">
                              <a:srgbClr val="000000">
                                <a:alpha val="43137"/>
                              </a:srgbClr>
                            </a:outerShdw>
                          </a:effectLst>
                        </a:rPr>
                        <a:t>notarial deed </a:t>
                      </a:r>
                      <a:r>
                        <a:rPr lang="en-US" dirty="0">
                          <a:solidFill>
                            <a:srgbClr val="0070C0"/>
                          </a:solidFill>
                          <a:effectLst>
                            <a:outerShdw blurRad="38100" dist="38100" dir="2700000" algn="tl">
                              <a:srgbClr val="000000">
                                <a:alpha val="43137"/>
                              </a:srgbClr>
                            </a:outerShdw>
                          </a:effectLst>
                        </a:rPr>
                        <a:t>(if the company is formed by one person only</a:t>
                      </a:r>
                      <a:r>
                        <a:rPr lang="pl-PL" dirty="0">
                          <a:solidFill>
                            <a:srgbClr val="0070C0"/>
                          </a:solidFill>
                          <a:effectLst>
                            <a:outerShdw blurRad="38100" dist="38100" dir="2700000" algn="tl">
                              <a:srgbClr val="000000">
                                <a:alpha val="43137"/>
                              </a:srgbClr>
                            </a:outerShdw>
                          </a:effectLst>
                        </a:rPr>
                        <a:t>,</a:t>
                      </a:r>
                      <a:r>
                        <a:rPr lang="en-US" dirty="0">
                          <a:solidFill>
                            <a:srgbClr val="0070C0"/>
                          </a:solidFill>
                          <a:effectLst>
                            <a:outerShdw blurRad="38100" dist="38100" dir="2700000" algn="tl">
                              <a:srgbClr val="000000">
                                <a:alpha val="43137"/>
                              </a:srgbClr>
                            </a:outerShdw>
                          </a:effectLst>
                        </a:rPr>
                        <a:t> it is a deed of formation)</a:t>
                      </a:r>
                    </a:p>
                    <a:p>
                      <a:r>
                        <a:rPr lang="en-US" dirty="0">
                          <a:solidFill>
                            <a:srgbClr val="0070C0"/>
                          </a:solidFill>
                          <a:effectLst>
                            <a:outerShdw blurRad="38100" dist="38100" dir="2700000" algn="tl">
                              <a:srgbClr val="000000">
                                <a:alpha val="43137"/>
                              </a:srgbClr>
                            </a:outerShdw>
                          </a:effectLst>
                        </a:rPr>
                        <a:t>• through the Internet</a:t>
                      </a:r>
                      <a:r>
                        <a:rPr lang="en-US" b="1" dirty="0">
                          <a:solidFill>
                            <a:srgbClr val="FF0000"/>
                          </a:solidFill>
                          <a:effectLst>
                            <a:outerShdw blurRad="38100" dist="38100" dir="2700000" algn="tl">
                              <a:srgbClr val="000000">
                                <a:alpha val="43137"/>
                              </a:srgbClr>
                            </a:outerShdw>
                          </a:effectLst>
                        </a:rPr>
                        <a:t> </a:t>
                      </a:r>
                      <a:r>
                        <a:rPr lang="en-US" dirty="0">
                          <a:solidFill>
                            <a:srgbClr val="0070C0"/>
                          </a:solidFill>
                          <a:effectLst>
                            <a:outerShdw blurRad="38100" dist="38100" dir="2700000" algn="tl">
                              <a:srgbClr val="000000">
                                <a:alpha val="43137"/>
                              </a:srgbClr>
                            </a:outerShdw>
                          </a:effectLst>
                        </a:rPr>
                        <a:t>- if the contributions are made only in cash.</a:t>
                      </a:r>
                    </a:p>
                  </a:txBody>
                  <a:tcPr marL="76200" marR="76200" marT="76200" marB="60960" anchor="ctr">
                    <a:lnL w="7620" cap="flat" cmpd="sng" algn="ctr">
                      <a:solidFill>
                        <a:srgbClr val="E3E3E3"/>
                      </a:solidFill>
                      <a:prstDash val="solid"/>
                      <a:round/>
                      <a:headEnd type="none" w="med" len="med"/>
                      <a:tailEnd type="none" w="med" len="med"/>
                    </a:lnL>
                    <a:lnR>
                      <a:noFill/>
                    </a:lnR>
                    <a:lnT>
                      <a:noFill/>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146360242"/>
                  </a:ext>
                </a:extLst>
              </a:tr>
              <a:tr h="2297786">
                <a:tc>
                  <a:txBody>
                    <a:bodyPr/>
                    <a:lstStyle/>
                    <a:p>
                      <a:r>
                        <a:rPr lang="pl-PL" b="1" dirty="0">
                          <a:solidFill>
                            <a:srgbClr val="0070C0"/>
                          </a:solidFill>
                          <a:effectLst>
                            <a:outerShdw blurRad="38100" dist="38100" dir="2700000" algn="tl">
                              <a:srgbClr val="000000">
                                <a:alpha val="43137"/>
                              </a:srgbClr>
                            </a:outerShdw>
                          </a:effectLst>
                        </a:rPr>
                        <a:t>Simple joint-</a:t>
                      </a:r>
                      <a:r>
                        <a:rPr lang="pl-PL" b="1" dirty="0" err="1">
                          <a:solidFill>
                            <a:srgbClr val="0070C0"/>
                          </a:solidFill>
                          <a:effectLst>
                            <a:outerShdw blurRad="38100" dist="38100" dir="2700000" algn="tl">
                              <a:srgbClr val="000000">
                                <a:alpha val="43137"/>
                              </a:srgbClr>
                            </a:outerShdw>
                          </a:effectLst>
                        </a:rPr>
                        <a:t>stock</a:t>
                      </a:r>
                      <a:r>
                        <a:rPr lang="pl-PL" b="1" dirty="0">
                          <a:solidFill>
                            <a:srgbClr val="0070C0"/>
                          </a:solidFill>
                          <a:effectLst>
                            <a:outerShdw blurRad="38100" dist="38100" dir="2700000" algn="tl">
                              <a:srgbClr val="000000">
                                <a:alpha val="43137"/>
                              </a:srgbClr>
                            </a:outerShdw>
                          </a:effectLst>
                        </a:rPr>
                        <a:t> </a:t>
                      </a:r>
                      <a:r>
                        <a:rPr lang="pl-PL" b="1" dirty="0" err="1">
                          <a:solidFill>
                            <a:srgbClr val="0070C0"/>
                          </a:solidFill>
                          <a:effectLst>
                            <a:outerShdw blurRad="38100" dist="38100" dir="2700000" algn="tl">
                              <a:srgbClr val="000000">
                                <a:alpha val="43137"/>
                              </a:srgbClr>
                            </a:outerShdw>
                          </a:effectLst>
                        </a:rPr>
                        <a:t>company</a:t>
                      </a:r>
                      <a:endParaRPr lang="pl-PL" dirty="0">
                        <a:solidFill>
                          <a:srgbClr val="0070C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dirty="0">
                          <a:solidFill>
                            <a:srgbClr val="0070C0"/>
                          </a:solidFill>
                          <a:effectLst>
                            <a:outerShdw blurRad="38100" dist="38100" dir="2700000" algn="tl">
                              <a:srgbClr val="000000">
                                <a:alpha val="43137"/>
                              </a:srgbClr>
                            </a:outerShdw>
                          </a:effectLst>
                        </a:rPr>
                        <a:t>The articles of association may be concluded:</a:t>
                      </a:r>
                    </a:p>
                    <a:p>
                      <a:pPr>
                        <a:buFont typeface="Arial" panose="020B0604020202020204" pitchFamily="34" charset="0"/>
                        <a:buChar char="•"/>
                      </a:pPr>
                      <a:r>
                        <a:rPr lang="en-US" dirty="0">
                          <a:solidFill>
                            <a:srgbClr val="0070C0"/>
                          </a:solidFill>
                          <a:effectLst>
                            <a:outerShdw blurRad="38100" dist="38100" dir="2700000" algn="tl">
                              <a:srgbClr val="000000">
                                <a:alpha val="43137"/>
                              </a:srgbClr>
                            </a:outerShdw>
                          </a:effectLst>
                        </a:rPr>
                        <a:t>in the form of </a:t>
                      </a:r>
                      <a:r>
                        <a:rPr lang="en-US" b="1" dirty="0">
                          <a:solidFill>
                            <a:srgbClr val="FF0000"/>
                          </a:solidFill>
                          <a:effectLst>
                            <a:outerShdw blurRad="38100" dist="38100" dir="2700000" algn="tl">
                              <a:srgbClr val="000000">
                                <a:alpha val="43137"/>
                              </a:srgbClr>
                            </a:outerShdw>
                          </a:effectLst>
                        </a:rPr>
                        <a:t>a notarial deed </a:t>
                      </a:r>
                      <a:r>
                        <a:rPr lang="en-US" dirty="0">
                          <a:solidFill>
                            <a:srgbClr val="0070C0"/>
                          </a:solidFill>
                          <a:effectLst>
                            <a:outerShdw blurRad="38100" dist="38100" dir="2700000" algn="tl">
                              <a:srgbClr val="000000">
                                <a:alpha val="43137"/>
                              </a:srgbClr>
                            </a:outerShdw>
                          </a:effectLst>
                        </a:rPr>
                        <a:t>(if the company is formed by one person only</a:t>
                      </a:r>
                      <a:r>
                        <a:rPr lang="pl-PL" dirty="0">
                          <a:solidFill>
                            <a:srgbClr val="0070C0"/>
                          </a:solidFill>
                          <a:effectLst>
                            <a:outerShdw blurRad="38100" dist="38100" dir="2700000" algn="tl">
                              <a:srgbClr val="000000">
                                <a:alpha val="43137"/>
                              </a:srgbClr>
                            </a:outerShdw>
                          </a:effectLst>
                        </a:rPr>
                        <a:t>,</a:t>
                      </a:r>
                      <a:r>
                        <a:rPr lang="en-US" dirty="0">
                          <a:solidFill>
                            <a:srgbClr val="0070C0"/>
                          </a:solidFill>
                          <a:effectLst>
                            <a:outerShdw blurRad="38100" dist="38100" dir="2700000" algn="tl">
                              <a:srgbClr val="000000">
                                <a:alpha val="43137"/>
                              </a:srgbClr>
                            </a:outerShdw>
                          </a:effectLst>
                        </a:rPr>
                        <a:t> it is a deed of formation)</a:t>
                      </a:r>
                    </a:p>
                    <a:p>
                      <a:pPr>
                        <a:buFont typeface="Arial" panose="020B0604020202020204" pitchFamily="34" charset="0"/>
                        <a:buChar char="•"/>
                      </a:pPr>
                      <a:r>
                        <a:rPr lang="pl-PL" dirty="0">
                          <a:solidFill>
                            <a:srgbClr val="0070C0"/>
                          </a:solidFill>
                          <a:effectLst>
                            <a:outerShdw blurRad="38100" dist="38100" dir="2700000" algn="tl">
                              <a:srgbClr val="000000">
                                <a:alpha val="43137"/>
                              </a:srgbClr>
                            </a:outerShdw>
                          </a:effectLst>
                        </a:rPr>
                        <a:t>Via the </a:t>
                      </a:r>
                      <a:r>
                        <a:rPr lang="pl-PL" dirty="0" err="1">
                          <a:solidFill>
                            <a:srgbClr val="0070C0"/>
                          </a:solidFill>
                          <a:effectLst>
                            <a:outerShdw blurRad="38100" dist="38100" dir="2700000" algn="tl">
                              <a:srgbClr val="000000">
                                <a:alpha val="43137"/>
                              </a:srgbClr>
                            </a:outerShdw>
                          </a:effectLst>
                        </a:rPr>
                        <a:t>internet</a:t>
                      </a:r>
                      <a:r>
                        <a:rPr lang="en-US" dirty="0">
                          <a:solidFill>
                            <a:srgbClr val="0070C0"/>
                          </a:solidFill>
                          <a:effectLst>
                            <a:outerShdw blurRad="38100" dist="38100" dir="2700000" algn="tl">
                              <a:srgbClr val="000000">
                                <a:alpha val="43137"/>
                              </a:srgbClr>
                            </a:outerShdw>
                          </a:effectLst>
                        </a:rPr>
                        <a:t> - if the contributions are made only in cash.</a:t>
                      </a:r>
                    </a:p>
                  </a:txBody>
                  <a:tcPr marL="76200" marR="76200" marT="76200" marB="60960"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665399612"/>
                  </a:ext>
                </a:extLst>
              </a:tr>
              <a:tr h="626668">
                <a:tc>
                  <a:txBody>
                    <a:bodyPr/>
                    <a:lstStyle/>
                    <a:p>
                      <a:r>
                        <a:rPr lang="pl-PL" b="1">
                          <a:solidFill>
                            <a:srgbClr val="0070C0"/>
                          </a:solidFill>
                          <a:effectLst>
                            <a:outerShdw blurRad="38100" dist="38100" dir="2700000" algn="tl">
                              <a:srgbClr val="000000">
                                <a:alpha val="43137"/>
                              </a:srgbClr>
                            </a:outerShdw>
                          </a:effectLst>
                        </a:rPr>
                        <a:t>Joint-stock company</a:t>
                      </a:r>
                      <a:endParaRPr lang="pl-PL">
                        <a:solidFill>
                          <a:srgbClr val="0070C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a:noFill/>
                    </a:lnB>
                    <a:solidFill>
                      <a:srgbClr val="FFFFFF"/>
                    </a:solidFill>
                  </a:tcPr>
                </a:tc>
                <a:tc>
                  <a:txBody>
                    <a:bodyPr/>
                    <a:lstStyle/>
                    <a:p>
                      <a:r>
                        <a:rPr lang="en-US" dirty="0">
                          <a:solidFill>
                            <a:srgbClr val="0070C0"/>
                          </a:solidFill>
                          <a:effectLst>
                            <a:outerShdw blurRad="38100" dist="38100" dir="2700000" algn="tl">
                              <a:srgbClr val="000000">
                                <a:alpha val="43137"/>
                              </a:srgbClr>
                            </a:outerShdw>
                          </a:effectLst>
                        </a:rPr>
                        <a:t>The statutes in the form of a </a:t>
                      </a:r>
                      <a:r>
                        <a:rPr lang="en-US" b="1" dirty="0">
                          <a:solidFill>
                            <a:srgbClr val="FF0000"/>
                          </a:solidFill>
                          <a:effectLst>
                            <a:outerShdw blurRad="38100" dist="38100" dir="2700000" algn="tl">
                              <a:srgbClr val="000000">
                                <a:alpha val="43137"/>
                              </a:srgbClr>
                            </a:outerShdw>
                          </a:effectLst>
                        </a:rPr>
                        <a:t>notarial deed.</a:t>
                      </a:r>
                    </a:p>
                  </a:txBody>
                  <a:tcPr marL="76200" marR="76200" marT="76200" marB="60960"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187148669"/>
                  </a:ext>
                </a:extLst>
              </a:tr>
            </a:tbl>
          </a:graphicData>
        </a:graphic>
      </p:graphicFrame>
    </p:spTree>
    <p:extLst>
      <p:ext uri="{BB962C8B-B14F-4D97-AF65-F5344CB8AC3E}">
        <p14:creationId xmlns:p14="http://schemas.microsoft.com/office/powerpoint/2010/main" val="1684803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9BCEFB7-68B9-69AD-089A-A817C9F87149}"/>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highlight>
                  <a:srgbClr val="00FF00"/>
                </a:highlight>
              </a:rPr>
              <a:t>Minimum </a:t>
            </a:r>
            <a:r>
              <a:rPr lang="pl-PL" dirty="0" err="1">
                <a:solidFill>
                  <a:srgbClr val="FF0000"/>
                </a:solidFill>
                <a:effectLst>
                  <a:outerShdw blurRad="38100" dist="38100" dir="2700000" algn="tl">
                    <a:srgbClr val="000000">
                      <a:alpha val="43137"/>
                    </a:srgbClr>
                  </a:outerShdw>
                </a:effectLst>
                <a:highlight>
                  <a:srgbClr val="00FF00"/>
                </a:highlight>
              </a:rPr>
              <a:t>capital</a:t>
            </a:r>
            <a:endParaRPr lang="pl-PL" dirty="0">
              <a:solidFill>
                <a:srgbClr val="FF0000"/>
              </a:solidFill>
              <a:effectLst>
                <a:outerShdw blurRad="38100" dist="38100" dir="2700000" algn="tl">
                  <a:srgbClr val="000000">
                    <a:alpha val="43137"/>
                  </a:srgbClr>
                </a:outerShdw>
              </a:effectLst>
              <a:highlight>
                <a:srgbClr val="00FF00"/>
              </a:highlight>
            </a:endParaRPr>
          </a:p>
        </p:txBody>
      </p:sp>
      <p:graphicFrame>
        <p:nvGraphicFramePr>
          <p:cNvPr id="4" name="Symbol zastępczy zawartości 3">
            <a:extLst>
              <a:ext uri="{FF2B5EF4-FFF2-40B4-BE49-F238E27FC236}">
                <a16:creationId xmlns:a16="http://schemas.microsoft.com/office/drawing/2014/main" id="{FFDD8140-F723-EB6D-7977-5D49A15EDC4C}"/>
              </a:ext>
            </a:extLst>
          </p:cNvPr>
          <p:cNvGraphicFramePr>
            <a:graphicFrameLocks noGrp="1"/>
          </p:cNvGraphicFramePr>
          <p:nvPr>
            <p:ph idx="1"/>
            <p:extLst>
              <p:ext uri="{D42A27DB-BD31-4B8C-83A1-F6EECF244321}">
                <p14:modId xmlns:p14="http://schemas.microsoft.com/office/powerpoint/2010/main" val="1951949807"/>
              </p:ext>
            </p:extLst>
          </p:nvPr>
        </p:nvGraphicFramePr>
        <p:xfrm>
          <a:off x="721360" y="1685766"/>
          <a:ext cx="10759440" cy="6856097"/>
        </p:xfrm>
        <a:graphic>
          <a:graphicData uri="http://schemas.openxmlformats.org/drawingml/2006/table">
            <a:tbl>
              <a:tblPr/>
              <a:tblGrid>
                <a:gridCol w="5379720">
                  <a:extLst>
                    <a:ext uri="{9D8B030D-6E8A-4147-A177-3AD203B41FA5}">
                      <a16:colId xmlns:a16="http://schemas.microsoft.com/office/drawing/2014/main" val="4146853951"/>
                    </a:ext>
                  </a:extLst>
                </a:gridCol>
                <a:gridCol w="5379720">
                  <a:extLst>
                    <a:ext uri="{9D8B030D-6E8A-4147-A177-3AD203B41FA5}">
                      <a16:colId xmlns:a16="http://schemas.microsoft.com/office/drawing/2014/main" val="637559685"/>
                    </a:ext>
                  </a:extLst>
                </a:gridCol>
              </a:tblGrid>
              <a:tr h="221254">
                <a:tc>
                  <a:txBody>
                    <a:bodyPr/>
                    <a:lstStyle/>
                    <a:p>
                      <a:r>
                        <a:rPr lang="pl-PL" sz="1600" b="1" dirty="0">
                          <a:solidFill>
                            <a:srgbClr val="002060"/>
                          </a:solidFill>
                          <a:effectLst>
                            <a:outerShdw blurRad="38100" dist="38100" dir="2700000" algn="tl">
                              <a:srgbClr val="000000">
                                <a:alpha val="43137"/>
                              </a:srgbClr>
                            </a:outerShdw>
                          </a:effectLst>
                        </a:rPr>
                        <a:t>One-person business </a:t>
                      </a:r>
                      <a:r>
                        <a:rPr lang="pl-PL" sz="1600" b="1" dirty="0" err="1">
                          <a:solidFill>
                            <a:srgbClr val="002060"/>
                          </a:solidFill>
                          <a:effectLst>
                            <a:outerShdw blurRad="38100" dist="38100" dir="2700000" algn="tl">
                              <a:srgbClr val="000000">
                                <a:alpha val="43137"/>
                              </a:srgbClr>
                            </a:outerShdw>
                          </a:effectLst>
                        </a:rPr>
                        <a:t>activity</a:t>
                      </a:r>
                      <a:endParaRPr lang="pl-PL" sz="1600" dirty="0">
                        <a:solidFill>
                          <a:srgbClr val="002060"/>
                        </a:solidFill>
                        <a:effectLst>
                          <a:outerShdw blurRad="38100" dist="38100" dir="2700000" algn="tl">
                            <a:srgbClr val="000000">
                              <a:alpha val="43137"/>
                            </a:srgbClr>
                          </a:outerShdw>
                        </a:effectLst>
                      </a:endParaRPr>
                    </a:p>
                  </a:txBody>
                  <a:tcPr marL="40973" marR="40973" marT="40973" marB="32778" anchor="ctr">
                    <a:lnL>
                      <a:noFill/>
                    </a:lnL>
                    <a:lnR w="7620" cap="flat" cmpd="sng" algn="ctr">
                      <a:solidFill>
                        <a:srgbClr val="E3E3E3"/>
                      </a:solidFill>
                      <a:prstDash val="solid"/>
                      <a:round/>
                      <a:headEnd type="none" w="med" len="med"/>
                      <a:tailEnd type="none" w="med" len="med"/>
                    </a:lnR>
                    <a:lnT>
                      <a:noFill/>
                    </a:lnT>
                    <a:lnB w="7620" cap="flat" cmpd="sng" algn="ctr">
                      <a:solidFill>
                        <a:srgbClr val="E3E3E3"/>
                      </a:solidFill>
                      <a:prstDash val="solid"/>
                      <a:round/>
                      <a:headEnd type="none" w="med" len="med"/>
                      <a:tailEnd type="none" w="med" len="med"/>
                    </a:lnB>
                    <a:solidFill>
                      <a:srgbClr val="FFFFFF"/>
                    </a:solidFill>
                  </a:tcPr>
                </a:tc>
                <a:tc>
                  <a:txBody>
                    <a:bodyPr/>
                    <a:lstStyle/>
                    <a:p>
                      <a:r>
                        <a:rPr lang="pl-PL" sz="1600" dirty="0" err="1">
                          <a:solidFill>
                            <a:srgbClr val="002060"/>
                          </a:solidFill>
                          <a:effectLst>
                            <a:outerShdw blurRad="38100" dist="38100" dir="2700000" algn="tl">
                              <a:srgbClr val="000000">
                                <a:alpha val="43137"/>
                              </a:srgbClr>
                            </a:outerShdw>
                          </a:effectLst>
                        </a:rPr>
                        <a:t>None</a:t>
                      </a:r>
                      <a:endParaRPr lang="pl-PL" sz="1600" dirty="0">
                        <a:solidFill>
                          <a:srgbClr val="002060"/>
                        </a:solidFill>
                        <a:effectLst>
                          <a:outerShdw blurRad="38100" dist="38100" dir="2700000" algn="tl">
                            <a:srgbClr val="000000">
                              <a:alpha val="43137"/>
                            </a:srgbClr>
                          </a:outerShdw>
                        </a:effectLst>
                      </a:endParaRPr>
                    </a:p>
                  </a:txBody>
                  <a:tcPr marL="40973" marR="40973" marT="40973" marB="32778" anchor="ctr">
                    <a:lnL w="7620" cap="flat" cmpd="sng" algn="ctr">
                      <a:solidFill>
                        <a:srgbClr val="E3E3E3"/>
                      </a:solidFill>
                      <a:prstDash val="solid"/>
                      <a:round/>
                      <a:headEnd type="none" w="med" len="med"/>
                      <a:tailEnd type="none" w="med" len="med"/>
                    </a:lnL>
                    <a:lnR>
                      <a:noFill/>
                    </a:lnR>
                    <a:lnT>
                      <a:noFill/>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23474026"/>
                  </a:ext>
                </a:extLst>
              </a:tr>
              <a:tr h="516260">
                <a:tc>
                  <a:txBody>
                    <a:bodyPr/>
                    <a:lstStyle/>
                    <a:p>
                      <a:r>
                        <a:rPr lang="pl-PL" sz="1600" b="1" dirty="0" err="1">
                          <a:solidFill>
                            <a:srgbClr val="002060"/>
                          </a:solidFill>
                          <a:effectLst>
                            <a:outerShdw blurRad="38100" dist="38100" dir="2700000" algn="tl">
                              <a:srgbClr val="000000">
                                <a:alpha val="43137"/>
                              </a:srgbClr>
                            </a:outerShdw>
                          </a:effectLst>
                        </a:rPr>
                        <a:t>Civil</a:t>
                      </a:r>
                      <a:r>
                        <a:rPr lang="pl-PL" sz="1600" b="1" dirty="0">
                          <a:solidFill>
                            <a:srgbClr val="002060"/>
                          </a:solidFill>
                          <a:effectLst>
                            <a:outerShdw blurRad="38100" dist="38100" dir="2700000" algn="tl">
                              <a:srgbClr val="000000">
                                <a:alpha val="43137"/>
                              </a:srgbClr>
                            </a:outerShdw>
                          </a:effectLst>
                        </a:rPr>
                        <a:t> law </a:t>
                      </a:r>
                      <a:r>
                        <a:rPr lang="pl-PL" sz="1600" b="1" dirty="0" err="1">
                          <a:solidFill>
                            <a:srgbClr val="002060"/>
                          </a:solidFill>
                          <a:effectLst>
                            <a:outerShdw blurRad="38100" dist="38100" dir="2700000" algn="tl">
                              <a:srgbClr val="000000">
                                <a:alpha val="43137"/>
                              </a:srgbClr>
                            </a:outerShdw>
                          </a:effectLst>
                        </a:rPr>
                        <a:t>partnership</a:t>
                      </a:r>
                      <a:endParaRPr lang="pl-PL" sz="1600" dirty="0">
                        <a:solidFill>
                          <a:srgbClr val="002060"/>
                        </a:solidFill>
                        <a:effectLst>
                          <a:outerShdw blurRad="38100" dist="38100" dir="2700000" algn="tl">
                            <a:srgbClr val="000000">
                              <a:alpha val="43137"/>
                            </a:srgbClr>
                          </a:outerShdw>
                        </a:effectLst>
                      </a:endParaRPr>
                    </a:p>
                  </a:txBody>
                  <a:tcPr marL="40973" marR="40973" marT="40973" marB="32778"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600" dirty="0">
                          <a:solidFill>
                            <a:srgbClr val="002060"/>
                          </a:solidFill>
                          <a:effectLst>
                            <a:outerShdw blurRad="38100" dist="38100" dir="2700000" algn="tl">
                              <a:srgbClr val="000000">
                                <a:alpha val="43137"/>
                              </a:srgbClr>
                            </a:outerShdw>
                          </a:effectLst>
                        </a:rPr>
                        <a:t>No</a:t>
                      </a:r>
                      <a:r>
                        <a:rPr lang="pl-PL" sz="1600" dirty="0" err="1">
                          <a:solidFill>
                            <a:srgbClr val="002060"/>
                          </a:solidFill>
                          <a:effectLst>
                            <a:outerShdw blurRad="38100" dist="38100" dir="2700000" algn="tl">
                              <a:srgbClr val="000000">
                                <a:alpha val="43137"/>
                              </a:srgbClr>
                            </a:outerShdw>
                          </a:effectLst>
                        </a:rPr>
                        <a:t>ne</a:t>
                      </a:r>
                      <a:r>
                        <a:rPr lang="en-US" sz="1600" dirty="0">
                          <a:solidFill>
                            <a:srgbClr val="002060"/>
                          </a:solidFill>
                          <a:effectLst>
                            <a:outerShdw blurRad="38100" dist="38100" dir="2700000" algn="tl">
                              <a:srgbClr val="000000">
                                <a:alpha val="43137"/>
                              </a:srgbClr>
                            </a:outerShdw>
                          </a:effectLst>
                        </a:rPr>
                        <a:t>, the partners must make contributions that may consist in the transfer of ownership or other rights to the partnership or in the provision of services.</a:t>
                      </a:r>
                    </a:p>
                  </a:txBody>
                  <a:tcPr marL="40973" marR="40973" marT="40973" marB="32778"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416724665"/>
                  </a:ext>
                </a:extLst>
              </a:tr>
              <a:tr h="1401278">
                <a:tc>
                  <a:txBody>
                    <a:bodyPr/>
                    <a:lstStyle/>
                    <a:p>
                      <a:r>
                        <a:rPr lang="en-US" sz="1600" b="1" dirty="0">
                          <a:solidFill>
                            <a:srgbClr val="002060"/>
                          </a:solidFill>
                          <a:effectLst>
                            <a:outerShdw blurRad="38100" dist="38100" dir="2700000" algn="tl">
                              <a:srgbClr val="000000">
                                <a:alpha val="43137"/>
                              </a:srgbClr>
                            </a:outerShdw>
                          </a:effectLst>
                        </a:rPr>
                        <a:t>General partnership</a:t>
                      </a:r>
                      <a:endParaRPr lang="en-US" sz="1600" dirty="0">
                        <a:solidFill>
                          <a:srgbClr val="002060"/>
                        </a:solidFill>
                        <a:effectLst>
                          <a:outerShdw blurRad="38100" dist="38100" dir="2700000" algn="tl">
                            <a:srgbClr val="000000">
                              <a:alpha val="43137"/>
                            </a:srgbClr>
                          </a:outerShdw>
                        </a:effectLst>
                      </a:endParaRPr>
                    </a:p>
                    <a:p>
                      <a:r>
                        <a:rPr lang="en-US" sz="1600" b="1" dirty="0">
                          <a:solidFill>
                            <a:srgbClr val="002060"/>
                          </a:solidFill>
                          <a:effectLst>
                            <a:outerShdw blurRad="38100" dist="38100" dir="2700000" algn="tl">
                              <a:srgbClr val="000000">
                                <a:alpha val="43137"/>
                              </a:srgbClr>
                            </a:outerShdw>
                          </a:effectLst>
                        </a:rPr>
                        <a:t>Professional partnership</a:t>
                      </a:r>
                      <a:endParaRPr lang="en-US" sz="1600" dirty="0">
                        <a:solidFill>
                          <a:srgbClr val="002060"/>
                        </a:solidFill>
                        <a:effectLst>
                          <a:outerShdw blurRad="38100" dist="38100" dir="2700000" algn="tl">
                            <a:srgbClr val="000000">
                              <a:alpha val="43137"/>
                            </a:srgbClr>
                          </a:outerShdw>
                        </a:effectLst>
                      </a:endParaRPr>
                    </a:p>
                    <a:p>
                      <a:r>
                        <a:rPr lang="en-US" sz="1600" b="1" dirty="0">
                          <a:solidFill>
                            <a:srgbClr val="002060"/>
                          </a:solidFill>
                          <a:effectLst>
                            <a:outerShdw blurRad="38100" dist="38100" dir="2700000" algn="tl">
                              <a:srgbClr val="000000">
                                <a:alpha val="43137"/>
                              </a:srgbClr>
                            </a:outerShdw>
                          </a:effectLst>
                        </a:rPr>
                        <a:t>Limited partnership</a:t>
                      </a:r>
                      <a:endParaRPr lang="en-US" sz="1600" dirty="0">
                        <a:solidFill>
                          <a:srgbClr val="002060"/>
                        </a:solidFill>
                        <a:effectLst>
                          <a:outerShdw blurRad="38100" dist="38100" dir="2700000" algn="tl">
                            <a:srgbClr val="000000">
                              <a:alpha val="43137"/>
                            </a:srgbClr>
                          </a:outerShdw>
                        </a:effectLst>
                      </a:endParaRPr>
                    </a:p>
                  </a:txBody>
                  <a:tcPr marL="40973" marR="40973" marT="40973" marB="32778"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600" dirty="0">
                          <a:solidFill>
                            <a:srgbClr val="002060"/>
                          </a:solidFill>
                          <a:effectLst>
                            <a:outerShdw blurRad="38100" dist="38100" dir="2700000" algn="tl">
                              <a:srgbClr val="000000">
                                <a:alpha val="43137"/>
                              </a:srgbClr>
                            </a:outerShdw>
                          </a:effectLst>
                        </a:rPr>
                        <a:t>No</a:t>
                      </a:r>
                      <a:r>
                        <a:rPr lang="pl-PL" sz="1600" dirty="0" err="1">
                          <a:solidFill>
                            <a:srgbClr val="002060"/>
                          </a:solidFill>
                          <a:effectLst>
                            <a:outerShdw blurRad="38100" dist="38100" dir="2700000" algn="tl">
                              <a:srgbClr val="000000">
                                <a:alpha val="43137"/>
                              </a:srgbClr>
                            </a:outerShdw>
                          </a:effectLst>
                        </a:rPr>
                        <a:t>ne</a:t>
                      </a:r>
                      <a:r>
                        <a:rPr lang="en-US" sz="1600" dirty="0">
                          <a:solidFill>
                            <a:srgbClr val="002060"/>
                          </a:solidFill>
                          <a:effectLst>
                            <a:outerShdw blurRad="38100" dist="38100" dir="2700000" algn="tl">
                              <a:srgbClr val="000000">
                                <a:alpha val="43137"/>
                              </a:srgbClr>
                            </a:outerShdw>
                          </a:effectLst>
                        </a:rPr>
                        <a:t>. </a:t>
                      </a:r>
                      <a:r>
                        <a:rPr lang="en-US" sz="1600" b="1" dirty="0">
                          <a:solidFill>
                            <a:srgbClr val="002060"/>
                          </a:solidFill>
                          <a:effectLst>
                            <a:outerShdw blurRad="38100" dist="38100" dir="2700000" algn="tl">
                              <a:srgbClr val="000000">
                                <a:alpha val="43137"/>
                              </a:srgbClr>
                            </a:outerShdw>
                          </a:effectLst>
                        </a:rPr>
                        <a:t>The partnership is a separate legal entity from its partner</a:t>
                      </a:r>
                      <a:r>
                        <a:rPr lang="en-US" sz="1600" dirty="0">
                          <a:solidFill>
                            <a:srgbClr val="002060"/>
                          </a:solidFill>
                          <a:effectLst>
                            <a:outerShdw blurRad="38100" dist="38100" dir="2700000" algn="tl">
                              <a:srgbClr val="000000">
                                <a:alpha val="43137"/>
                              </a:srgbClr>
                            </a:outerShdw>
                          </a:effectLst>
                        </a:rPr>
                        <a:t>s and, in order to start its activity, it should have the assets specified in the articles of partnership. </a:t>
                      </a:r>
                      <a:endParaRPr lang="pl-PL" sz="1600" dirty="0">
                        <a:solidFill>
                          <a:srgbClr val="002060"/>
                        </a:solidFill>
                        <a:effectLst>
                          <a:outerShdw blurRad="38100" dist="38100" dir="2700000" algn="tl">
                            <a:srgbClr val="000000">
                              <a:alpha val="43137"/>
                            </a:srgbClr>
                          </a:outerShdw>
                        </a:effectLst>
                      </a:endParaRPr>
                    </a:p>
                    <a:p>
                      <a:r>
                        <a:rPr lang="en-US" sz="1600" dirty="0">
                          <a:solidFill>
                            <a:srgbClr val="002060"/>
                          </a:solidFill>
                          <a:effectLst>
                            <a:outerShdw blurRad="38100" dist="38100" dir="2700000" algn="tl">
                              <a:srgbClr val="000000">
                                <a:alpha val="43137"/>
                              </a:srgbClr>
                            </a:outerShdw>
                          </a:effectLst>
                        </a:rPr>
                        <a:t>The assets are created as a result of </a:t>
                      </a:r>
                      <a:r>
                        <a:rPr lang="en-US" sz="1600" b="1" dirty="0">
                          <a:solidFill>
                            <a:srgbClr val="002060"/>
                          </a:solidFill>
                          <a:effectLst>
                            <a:outerShdw blurRad="38100" dist="38100" dir="2700000" algn="tl">
                              <a:srgbClr val="000000">
                                <a:alpha val="43137"/>
                              </a:srgbClr>
                            </a:outerShdw>
                          </a:effectLst>
                        </a:rPr>
                        <a:t>contributions</a:t>
                      </a:r>
                      <a:r>
                        <a:rPr lang="en-US" sz="1600" dirty="0">
                          <a:solidFill>
                            <a:srgbClr val="002060"/>
                          </a:solidFill>
                          <a:effectLst>
                            <a:outerShdw blurRad="38100" dist="38100" dir="2700000" algn="tl">
                              <a:srgbClr val="000000">
                                <a:alpha val="43137"/>
                              </a:srgbClr>
                            </a:outerShdw>
                          </a:effectLst>
                        </a:rPr>
                        <a:t> made by the partners. </a:t>
                      </a:r>
                      <a:r>
                        <a:rPr lang="en-US" sz="1600" b="1" dirty="0">
                          <a:solidFill>
                            <a:srgbClr val="002060"/>
                          </a:solidFill>
                          <a:effectLst>
                            <a:outerShdw blurRad="38100" dist="38100" dir="2700000" algn="tl">
                              <a:srgbClr val="000000">
                                <a:alpha val="43137"/>
                              </a:srgbClr>
                            </a:outerShdw>
                          </a:effectLst>
                        </a:rPr>
                        <a:t>Contributions may be in cash, in kind </a:t>
                      </a:r>
                      <a:r>
                        <a:rPr lang="en-US" sz="1600" dirty="0">
                          <a:solidFill>
                            <a:srgbClr val="002060"/>
                          </a:solidFill>
                          <a:effectLst>
                            <a:outerShdw blurRad="38100" dist="38100" dir="2700000" algn="tl">
                              <a:srgbClr val="000000">
                                <a:alpha val="43137"/>
                              </a:srgbClr>
                            </a:outerShdw>
                          </a:effectLst>
                        </a:rPr>
                        <a:t>or consist of the provision </a:t>
                      </a:r>
                      <a:r>
                        <a:rPr lang="en-US" sz="1600" b="1" dirty="0">
                          <a:solidFill>
                            <a:srgbClr val="002060"/>
                          </a:solidFill>
                          <a:effectLst>
                            <a:outerShdw blurRad="38100" dist="38100" dir="2700000" algn="tl">
                              <a:srgbClr val="000000">
                                <a:alpha val="43137"/>
                              </a:srgbClr>
                            </a:outerShdw>
                          </a:effectLst>
                        </a:rPr>
                        <a:t>of services </a:t>
                      </a:r>
                      <a:r>
                        <a:rPr lang="en-US" sz="1600" dirty="0">
                          <a:solidFill>
                            <a:srgbClr val="002060"/>
                          </a:solidFill>
                          <a:effectLst>
                            <a:outerShdw blurRad="38100" dist="38100" dir="2700000" algn="tl">
                              <a:srgbClr val="000000">
                                <a:alpha val="43137"/>
                              </a:srgbClr>
                            </a:outerShdw>
                          </a:effectLst>
                        </a:rPr>
                        <a:t>to the partnership. In exchange for the contributions made, the partners receive shares (specific rights) in the partnership.</a:t>
                      </a:r>
                    </a:p>
                  </a:txBody>
                  <a:tcPr marL="40973" marR="40973" marT="40973" marB="32778"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825040849"/>
                  </a:ext>
                </a:extLst>
              </a:tr>
              <a:tr h="516260">
                <a:tc>
                  <a:txBody>
                    <a:bodyPr/>
                    <a:lstStyle/>
                    <a:p>
                      <a:r>
                        <a:rPr lang="pl-PL" sz="1600" b="1" dirty="0" err="1">
                          <a:solidFill>
                            <a:srgbClr val="002060"/>
                          </a:solidFill>
                          <a:effectLst>
                            <a:outerShdw blurRad="38100" dist="38100" dir="2700000" algn="tl">
                              <a:srgbClr val="000000">
                                <a:alpha val="43137"/>
                              </a:srgbClr>
                            </a:outerShdw>
                          </a:effectLst>
                        </a:rPr>
                        <a:t>Partnership</a:t>
                      </a:r>
                      <a:r>
                        <a:rPr lang="pl-PL" sz="1600" b="1" dirty="0">
                          <a:solidFill>
                            <a:srgbClr val="002060"/>
                          </a:solidFill>
                          <a:effectLst>
                            <a:outerShdw blurRad="38100" dist="38100" dir="2700000" algn="tl">
                              <a:srgbClr val="000000">
                                <a:alpha val="43137"/>
                              </a:srgbClr>
                            </a:outerShdw>
                          </a:effectLst>
                        </a:rPr>
                        <a:t> </a:t>
                      </a:r>
                      <a:r>
                        <a:rPr lang="pl-PL" sz="1600" b="1" dirty="0" err="1">
                          <a:solidFill>
                            <a:srgbClr val="002060"/>
                          </a:solidFill>
                          <a:effectLst>
                            <a:outerShdw blurRad="38100" dist="38100" dir="2700000" algn="tl">
                              <a:srgbClr val="000000">
                                <a:alpha val="43137"/>
                              </a:srgbClr>
                            </a:outerShdw>
                          </a:effectLst>
                        </a:rPr>
                        <a:t>limited</a:t>
                      </a:r>
                      <a:r>
                        <a:rPr lang="pl-PL" sz="1600" b="1" dirty="0">
                          <a:solidFill>
                            <a:srgbClr val="002060"/>
                          </a:solidFill>
                          <a:effectLst>
                            <a:outerShdw blurRad="38100" dist="38100" dir="2700000" algn="tl">
                              <a:srgbClr val="000000">
                                <a:alpha val="43137"/>
                              </a:srgbClr>
                            </a:outerShdw>
                          </a:effectLst>
                        </a:rPr>
                        <a:t> by </a:t>
                      </a:r>
                      <a:r>
                        <a:rPr lang="pl-PL" sz="1600" b="1" dirty="0" err="1">
                          <a:solidFill>
                            <a:srgbClr val="002060"/>
                          </a:solidFill>
                          <a:effectLst>
                            <a:outerShdw blurRad="38100" dist="38100" dir="2700000" algn="tl">
                              <a:srgbClr val="000000">
                                <a:alpha val="43137"/>
                              </a:srgbClr>
                            </a:outerShdw>
                          </a:effectLst>
                        </a:rPr>
                        <a:t>shares</a:t>
                      </a:r>
                      <a:endParaRPr lang="pl-PL" sz="1600" dirty="0">
                        <a:solidFill>
                          <a:srgbClr val="002060"/>
                        </a:solidFill>
                        <a:effectLst>
                          <a:outerShdw blurRad="38100" dist="38100" dir="2700000" algn="tl">
                            <a:srgbClr val="000000">
                              <a:alpha val="43137"/>
                            </a:srgbClr>
                          </a:outerShdw>
                        </a:effectLst>
                      </a:endParaRPr>
                    </a:p>
                  </a:txBody>
                  <a:tcPr marL="40973" marR="40973" marT="40973" marB="32778"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600" dirty="0">
                          <a:solidFill>
                            <a:srgbClr val="002060"/>
                          </a:solidFill>
                          <a:effectLst>
                            <a:outerShdw blurRad="38100" dist="38100" dir="2700000" algn="tl">
                              <a:srgbClr val="000000">
                                <a:alpha val="43137"/>
                              </a:srgbClr>
                            </a:outerShdw>
                          </a:effectLst>
                        </a:rPr>
                        <a:t>The minimum amount of the share capital is PLN </a:t>
                      </a:r>
                      <a:r>
                        <a:rPr lang="en-US" sz="1600" b="1" dirty="0">
                          <a:solidFill>
                            <a:srgbClr val="FF0000"/>
                          </a:solidFill>
                          <a:effectLst>
                            <a:outerShdw blurRad="38100" dist="38100" dir="2700000" algn="tl">
                              <a:srgbClr val="000000">
                                <a:alpha val="43137"/>
                              </a:srgbClr>
                            </a:outerShdw>
                          </a:effectLst>
                        </a:rPr>
                        <a:t>50,000</a:t>
                      </a:r>
                      <a:r>
                        <a:rPr lang="en-US" sz="1600" dirty="0">
                          <a:solidFill>
                            <a:srgbClr val="002060"/>
                          </a:solidFill>
                          <a:effectLst>
                            <a:outerShdw blurRad="38100" dist="38100" dir="2700000" algn="tl">
                              <a:srgbClr val="000000">
                                <a:alpha val="43137"/>
                              </a:srgbClr>
                            </a:outerShdw>
                          </a:effectLst>
                        </a:rPr>
                        <a:t>. The share capital may be financed by cash contributions or in-kind contributions.</a:t>
                      </a:r>
                    </a:p>
                  </a:txBody>
                  <a:tcPr marL="40973" marR="40973" marT="40973" marB="32778"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570417712"/>
                  </a:ext>
                </a:extLst>
              </a:tr>
              <a:tr h="663763">
                <a:tc>
                  <a:txBody>
                    <a:bodyPr/>
                    <a:lstStyle/>
                    <a:p>
                      <a:r>
                        <a:rPr lang="pl-PL" sz="1600" b="1" dirty="0">
                          <a:solidFill>
                            <a:srgbClr val="FF0000"/>
                          </a:solidFill>
                          <a:effectLst>
                            <a:outerShdw blurRad="38100" dist="38100" dir="2700000" algn="tl">
                              <a:srgbClr val="000000">
                                <a:alpha val="43137"/>
                              </a:srgbClr>
                            </a:outerShdw>
                          </a:effectLst>
                        </a:rPr>
                        <a:t>Limited </a:t>
                      </a:r>
                      <a:r>
                        <a:rPr lang="pl-PL" sz="1600" b="1" dirty="0" err="1">
                          <a:solidFill>
                            <a:srgbClr val="FF0000"/>
                          </a:solidFill>
                          <a:effectLst>
                            <a:outerShdw blurRad="38100" dist="38100" dir="2700000" algn="tl">
                              <a:srgbClr val="000000">
                                <a:alpha val="43137"/>
                              </a:srgbClr>
                            </a:outerShdw>
                          </a:effectLst>
                        </a:rPr>
                        <a:t>liability</a:t>
                      </a:r>
                      <a:r>
                        <a:rPr lang="pl-PL" sz="1600" b="1" dirty="0">
                          <a:solidFill>
                            <a:srgbClr val="FF0000"/>
                          </a:solidFill>
                          <a:effectLst>
                            <a:outerShdw blurRad="38100" dist="38100" dir="2700000" algn="tl">
                              <a:srgbClr val="000000">
                                <a:alpha val="43137"/>
                              </a:srgbClr>
                            </a:outerShdw>
                          </a:effectLst>
                        </a:rPr>
                        <a:t> </a:t>
                      </a:r>
                      <a:r>
                        <a:rPr lang="pl-PL" sz="1600" b="1" dirty="0" err="1">
                          <a:solidFill>
                            <a:srgbClr val="FF0000"/>
                          </a:solidFill>
                          <a:effectLst>
                            <a:outerShdw blurRad="38100" dist="38100" dir="2700000" algn="tl">
                              <a:srgbClr val="000000">
                                <a:alpha val="43137"/>
                              </a:srgbClr>
                            </a:outerShdw>
                          </a:effectLst>
                        </a:rPr>
                        <a:t>company</a:t>
                      </a:r>
                      <a:endParaRPr lang="pl-PL" sz="1600" dirty="0">
                        <a:solidFill>
                          <a:srgbClr val="FF0000"/>
                        </a:solidFill>
                        <a:effectLst>
                          <a:outerShdw blurRad="38100" dist="38100" dir="2700000" algn="tl">
                            <a:srgbClr val="000000">
                              <a:alpha val="43137"/>
                            </a:srgbClr>
                          </a:outerShdw>
                        </a:effectLst>
                      </a:endParaRPr>
                    </a:p>
                  </a:txBody>
                  <a:tcPr marL="40973" marR="40973" marT="40973" marB="32778"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600" dirty="0">
                          <a:solidFill>
                            <a:srgbClr val="002060"/>
                          </a:solidFill>
                          <a:effectLst>
                            <a:outerShdw blurRad="38100" dist="38100" dir="2700000" algn="tl">
                              <a:srgbClr val="000000">
                                <a:alpha val="43137"/>
                              </a:srgbClr>
                            </a:outerShdw>
                          </a:effectLst>
                        </a:rPr>
                        <a:t>The minimum amount of the share capital is </a:t>
                      </a:r>
                      <a:r>
                        <a:rPr lang="en-US" sz="1600" b="1" dirty="0">
                          <a:solidFill>
                            <a:srgbClr val="FF0000"/>
                          </a:solidFill>
                          <a:effectLst>
                            <a:outerShdw blurRad="38100" dist="38100" dir="2700000" algn="tl">
                              <a:srgbClr val="000000">
                                <a:alpha val="43137"/>
                              </a:srgbClr>
                            </a:outerShdw>
                          </a:effectLst>
                        </a:rPr>
                        <a:t>PLN 5,000</a:t>
                      </a:r>
                      <a:r>
                        <a:rPr lang="en-US" sz="1600" dirty="0">
                          <a:solidFill>
                            <a:srgbClr val="002060"/>
                          </a:solidFill>
                          <a:effectLst>
                            <a:outerShdw blurRad="38100" dist="38100" dir="2700000" algn="tl">
                              <a:srgbClr val="000000">
                                <a:alpha val="43137"/>
                              </a:srgbClr>
                            </a:outerShdw>
                          </a:effectLst>
                        </a:rPr>
                        <a:t>. Contributions towards the share capital </a:t>
                      </a:r>
                      <a:r>
                        <a:rPr lang="en-US" sz="1600" b="1" dirty="0">
                          <a:solidFill>
                            <a:srgbClr val="002060"/>
                          </a:solidFill>
                          <a:effectLst>
                            <a:outerShdw blurRad="38100" dist="38100" dir="2700000" algn="tl">
                              <a:srgbClr val="000000">
                                <a:alpha val="43137"/>
                              </a:srgbClr>
                            </a:outerShdw>
                          </a:effectLst>
                        </a:rPr>
                        <a:t>must be made by all </a:t>
                      </a:r>
                      <a:r>
                        <a:rPr lang="en-US" sz="1600" dirty="0">
                          <a:solidFill>
                            <a:srgbClr val="002060"/>
                          </a:solidFill>
                          <a:effectLst>
                            <a:outerShdw blurRad="38100" dist="38100" dir="2700000" algn="tl">
                              <a:srgbClr val="000000">
                                <a:alpha val="43137"/>
                              </a:srgbClr>
                            </a:outerShdw>
                          </a:effectLst>
                        </a:rPr>
                        <a:t>shareholders and </a:t>
                      </a:r>
                      <a:r>
                        <a:rPr lang="en-US" sz="1600" b="1" dirty="0">
                          <a:solidFill>
                            <a:srgbClr val="002060"/>
                          </a:solidFill>
                          <a:effectLst>
                            <a:outerShdw blurRad="38100" dist="38100" dir="2700000" algn="tl">
                              <a:srgbClr val="000000">
                                <a:alpha val="43137"/>
                              </a:srgbClr>
                            </a:outerShdw>
                          </a:effectLst>
                        </a:rPr>
                        <a:t>may be in cash or in kind</a:t>
                      </a:r>
                      <a:r>
                        <a:rPr lang="en-US" sz="1600" dirty="0">
                          <a:solidFill>
                            <a:srgbClr val="002060"/>
                          </a:solidFill>
                          <a:effectLst>
                            <a:outerShdw blurRad="38100" dist="38100" dir="2700000" algn="tl">
                              <a:srgbClr val="000000">
                                <a:alpha val="43137"/>
                              </a:srgbClr>
                            </a:outerShdw>
                          </a:effectLst>
                        </a:rPr>
                        <a:t>.</a:t>
                      </a:r>
                    </a:p>
                  </a:txBody>
                  <a:tcPr marL="40973" marR="40973" marT="40973" marB="32778"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921145644"/>
                  </a:ext>
                </a:extLst>
              </a:tr>
              <a:tr h="516260">
                <a:tc>
                  <a:txBody>
                    <a:bodyPr/>
                    <a:lstStyle/>
                    <a:p>
                      <a:r>
                        <a:rPr lang="pl-PL" sz="1600" b="1" dirty="0">
                          <a:solidFill>
                            <a:srgbClr val="FF0000"/>
                          </a:solidFill>
                          <a:effectLst>
                            <a:outerShdw blurRad="38100" dist="38100" dir="2700000" algn="tl">
                              <a:srgbClr val="000000">
                                <a:alpha val="43137"/>
                              </a:srgbClr>
                            </a:outerShdw>
                          </a:effectLst>
                        </a:rPr>
                        <a:t>Simple joint-</a:t>
                      </a:r>
                      <a:r>
                        <a:rPr lang="pl-PL" sz="1600" b="1" dirty="0" err="1">
                          <a:solidFill>
                            <a:srgbClr val="FF0000"/>
                          </a:solidFill>
                          <a:effectLst>
                            <a:outerShdw blurRad="38100" dist="38100" dir="2700000" algn="tl">
                              <a:srgbClr val="000000">
                                <a:alpha val="43137"/>
                              </a:srgbClr>
                            </a:outerShdw>
                          </a:effectLst>
                        </a:rPr>
                        <a:t>stock</a:t>
                      </a:r>
                      <a:r>
                        <a:rPr lang="pl-PL" sz="1600" b="1" dirty="0">
                          <a:solidFill>
                            <a:srgbClr val="FF0000"/>
                          </a:solidFill>
                          <a:effectLst>
                            <a:outerShdw blurRad="38100" dist="38100" dir="2700000" algn="tl">
                              <a:srgbClr val="000000">
                                <a:alpha val="43137"/>
                              </a:srgbClr>
                            </a:outerShdw>
                          </a:effectLst>
                        </a:rPr>
                        <a:t> </a:t>
                      </a:r>
                      <a:r>
                        <a:rPr lang="pl-PL" sz="1600" b="1" dirty="0" err="1">
                          <a:solidFill>
                            <a:srgbClr val="FF0000"/>
                          </a:solidFill>
                          <a:effectLst>
                            <a:outerShdw blurRad="38100" dist="38100" dir="2700000" algn="tl">
                              <a:srgbClr val="000000">
                                <a:alpha val="43137"/>
                              </a:srgbClr>
                            </a:outerShdw>
                          </a:effectLst>
                        </a:rPr>
                        <a:t>company</a:t>
                      </a:r>
                      <a:endParaRPr lang="pl-PL" sz="1600" dirty="0">
                        <a:solidFill>
                          <a:srgbClr val="FF0000"/>
                        </a:solidFill>
                        <a:effectLst>
                          <a:outerShdw blurRad="38100" dist="38100" dir="2700000" algn="tl">
                            <a:srgbClr val="000000">
                              <a:alpha val="43137"/>
                            </a:srgbClr>
                          </a:outerShdw>
                        </a:effectLst>
                      </a:endParaRPr>
                    </a:p>
                  </a:txBody>
                  <a:tcPr marL="40973" marR="40973" marT="40973" marB="32778"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600" dirty="0">
                          <a:solidFill>
                            <a:srgbClr val="002060"/>
                          </a:solidFill>
                          <a:effectLst>
                            <a:outerShdw blurRad="38100" dist="38100" dir="2700000" algn="tl">
                              <a:srgbClr val="000000">
                                <a:alpha val="43137"/>
                              </a:srgbClr>
                            </a:outerShdw>
                          </a:effectLst>
                        </a:rPr>
                        <a:t>The minimum amount of the share capital is </a:t>
                      </a:r>
                      <a:r>
                        <a:rPr lang="en-US" sz="1600" b="1" dirty="0">
                          <a:solidFill>
                            <a:srgbClr val="FF0000"/>
                          </a:solidFill>
                          <a:effectLst>
                            <a:outerShdw blurRad="38100" dist="38100" dir="2700000" algn="tl">
                              <a:srgbClr val="000000">
                                <a:alpha val="43137"/>
                              </a:srgbClr>
                            </a:outerShdw>
                          </a:effectLst>
                        </a:rPr>
                        <a:t>PLN 1.</a:t>
                      </a:r>
                      <a:r>
                        <a:rPr lang="en-US" sz="1600" dirty="0">
                          <a:solidFill>
                            <a:srgbClr val="002060"/>
                          </a:solidFill>
                          <a:effectLst>
                            <a:outerShdw blurRad="38100" dist="38100" dir="2700000" algn="tl">
                              <a:srgbClr val="000000">
                                <a:alpha val="43137"/>
                              </a:srgbClr>
                            </a:outerShdw>
                          </a:effectLst>
                        </a:rPr>
                        <a:t> Contributions to pay up the share capital may be in cash or in kind.</a:t>
                      </a:r>
                    </a:p>
                  </a:txBody>
                  <a:tcPr marL="40973" marR="40973" marT="40973" marB="32778"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896826852"/>
                  </a:ext>
                </a:extLst>
              </a:tr>
              <a:tr h="516260">
                <a:tc>
                  <a:txBody>
                    <a:bodyPr/>
                    <a:lstStyle/>
                    <a:p>
                      <a:r>
                        <a:rPr lang="pl-PL" sz="1600" b="1">
                          <a:effectLst/>
                        </a:rPr>
                        <a:t>Joint-stock company</a:t>
                      </a:r>
                      <a:endParaRPr lang="pl-PL" sz="1600">
                        <a:effectLst/>
                      </a:endParaRPr>
                    </a:p>
                  </a:txBody>
                  <a:tcPr marL="40973" marR="40973" marT="40973" marB="32778"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a:noFill/>
                    </a:lnB>
                    <a:solidFill>
                      <a:srgbClr val="FFFFFF"/>
                    </a:solidFill>
                  </a:tcPr>
                </a:tc>
                <a:tc>
                  <a:txBody>
                    <a:bodyPr/>
                    <a:lstStyle/>
                    <a:p>
                      <a:r>
                        <a:rPr lang="en-US" sz="1600" dirty="0">
                          <a:effectLst/>
                        </a:rPr>
                        <a:t>Yes. The minimum amount of the share capital is PLN 100,000. Contributions to pay up the share capital may be in cash or in kind.</a:t>
                      </a:r>
                    </a:p>
                  </a:txBody>
                  <a:tcPr marL="40973" marR="40973" marT="40973" marB="32778"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071905603"/>
                  </a:ext>
                </a:extLst>
              </a:tr>
            </a:tbl>
          </a:graphicData>
        </a:graphic>
      </p:graphicFrame>
    </p:spTree>
    <p:extLst>
      <p:ext uri="{BB962C8B-B14F-4D97-AF65-F5344CB8AC3E}">
        <p14:creationId xmlns:p14="http://schemas.microsoft.com/office/powerpoint/2010/main" val="405685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A4E030B-41B0-2DB9-76EB-17D9CF812A94}"/>
              </a:ext>
            </a:extLst>
          </p:cNvPr>
          <p:cNvSpPr>
            <a:spLocks noGrp="1"/>
          </p:cNvSpPr>
          <p:nvPr>
            <p:ph type="title"/>
          </p:nvPr>
        </p:nvSpPr>
        <p:spPr/>
        <p:txBody>
          <a:bodyPr/>
          <a:lstStyle/>
          <a:p>
            <a:r>
              <a:rPr lang="pl-PL" dirty="0" err="1">
                <a:solidFill>
                  <a:srgbClr val="FF0000"/>
                </a:solidFill>
                <a:effectLst>
                  <a:outerShdw blurRad="38100" dist="38100" dir="2700000" algn="tl">
                    <a:srgbClr val="000000">
                      <a:alpha val="43137"/>
                    </a:srgbClr>
                  </a:outerShdw>
                </a:effectLst>
                <a:highlight>
                  <a:srgbClr val="00FF00"/>
                </a:highlight>
              </a:rPr>
              <a:t>Mandatory</a:t>
            </a:r>
            <a:r>
              <a:rPr lang="pl-PL" dirty="0">
                <a:solidFill>
                  <a:srgbClr val="FF0000"/>
                </a:solidFill>
                <a:effectLst>
                  <a:outerShdw blurRad="38100" dist="38100" dir="2700000" algn="tl">
                    <a:srgbClr val="000000">
                      <a:alpha val="43137"/>
                    </a:srgbClr>
                  </a:outerShdw>
                </a:effectLst>
                <a:highlight>
                  <a:srgbClr val="00FF00"/>
                </a:highlight>
              </a:rPr>
              <a:t> </a:t>
            </a:r>
            <a:r>
              <a:rPr lang="pl-PL" dirty="0" err="1">
                <a:solidFill>
                  <a:srgbClr val="FF0000"/>
                </a:solidFill>
                <a:effectLst>
                  <a:outerShdw blurRad="38100" dist="38100" dir="2700000" algn="tl">
                    <a:srgbClr val="000000">
                      <a:alpha val="43137"/>
                    </a:srgbClr>
                  </a:outerShdw>
                </a:effectLst>
                <a:highlight>
                  <a:srgbClr val="00FF00"/>
                </a:highlight>
              </a:rPr>
              <a:t>governing</a:t>
            </a:r>
            <a:r>
              <a:rPr lang="pl-PL" dirty="0">
                <a:solidFill>
                  <a:srgbClr val="FF0000"/>
                </a:solidFill>
                <a:effectLst>
                  <a:outerShdw blurRad="38100" dist="38100" dir="2700000" algn="tl">
                    <a:srgbClr val="000000">
                      <a:alpha val="43137"/>
                    </a:srgbClr>
                  </a:outerShdw>
                </a:effectLst>
                <a:highlight>
                  <a:srgbClr val="00FF00"/>
                </a:highlight>
              </a:rPr>
              <a:t> </a:t>
            </a:r>
            <a:r>
              <a:rPr lang="pl-PL" dirty="0" err="1">
                <a:solidFill>
                  <a:srgbClr val="FF0000"/>
                </a:solidFill>
                <a:effectLst>
                  <a:outerShdw blurRad="38100" dist="38100" dir="2700000" algn="tl">
                    <a:srgbClr val="000000">
                      <a:alpha val="43137"/>
                    </a:srgbClr>
                  </a:outerShdw>
                </a:effectLst>
                <a:highlight>
                  <a:srgbClr val="00FF00"/>
                </a:highlight>
              </a:rPr>
              <a:t>bodies</a:t>
            </a:r>
            <a:endParaRPr lang="pl-PL" dirty="0">
              <a:solidFill>
                <a:srgbClr val="FF0000"/>
              </a:solidFill>
              <a:effectLst>
                <a:outerShdw blurRad="38100" dist="38100" dir="2700000" algn="tl">
                  <a:srgbClr val="000000">
                    <a:alpha val="43137"/>
                  </a:srgbClr>
                </a:outerShdw>
              </a:effectLst>
              <a:highlight>
                <a:srgbClr val="00FF00"/>
              </a:highlight>
            </a:endParaRPr>
          </a:p>
        </p:txBody>
      </p:sp>
      <p:graphicFrame>
        <p:nvGraphicFramePr>
          <p:cNvPr id="4" name="Symbol zastępczy zawartości 3">
            <a:extLst>
              <a:ext uri="{FF2B5EF4-FFF2-40B4-BE49-F238E27FC236}">
                <a16:creationId xmlns:a16="http://schemas.microsoft.com/office/drawing/2014/main" id="{FD626490-2DBA-EF71-3C66-A835D699572B}"/>
              </a:ext>
            </a:extLst>
          </p:cNvPr>
          <p:cNvGraphicFramePr>
            <a:graphicFrameLocks noGrp="1"/>
          </p:cNvGraphicFramePr>
          <p:nvPr>
            <p:ph idx="1"/>
            <p:extLst>
              <p:ext uri="{D42A27DB-BD31-4B8C-83A1-F6EECF244321}">
                <p14:modId xmlns:p14="http://schemas.microsoft.com/office/powerpoint/2010/main" val="3333448853"/>
              </p:ext>
            </p:extLst>
          </p:nvPr>
        </p:nvGraphicFramePr>
        <p:xfrm>
          <a:off x="285135" y="1300480"/>
          <a:ext cx="10982306" cy="3171204"/>
        </p:xfrm>
        <a:graphic>
          <a:graphicData uri="http://schemas.openxmlformats.org/drawingml/2006/table">
            <a:tbl>
              <a:tblPr/>
              <a:tblGrid>
                <a:gridCol w="5491153">
                  <a:extLst>
                    <a:ext uri="{9D8B030D-6E8A-4147-A177-3AD203B41FA5}">
                      <a16:colId xmlns:a16="http://schemas.microsoft.com/office/drawing/2014/main" val="539119512"/>
                    </a:ext>
                  </a:extLst>
                </a:gridCol>
                <a:gridCol w="5491153">
                  <a:extLst>
                    <a:ext uri="{9D8B030D-6E8A-4147-A177-3AD203B41FA5}">
                      <a16:colId xmlns:a16="http://schemas.microsoft.com/office/drawing/2014/main" val="2030746439"/>
                    </a:ext>
                  </a:extLst>
                </a:gridCol>
              </a:tblGrid>
              <a:tr h="266825">
                <a:tc>
                  <a:txBody>
                    <a:bodyPr/>
                    <a:lstStyle/>
                    <a:p>
                      <a:r>
                        <a:rPr lang="pl-PL" sz="2000" b="1" dirty="0">
                          <a:solidFill>
                            <a:srgbClr val="002060"/>
                          </a:solidFill>
                          <a:effectLst>
                            <a:outerShdw blurRad="38100" dist="38100" dir="2700000" algn="tl">
                              <a:srgbClr val="000000">
                                <a:alpha val="43137"/>
                              </a:srgbClr>
                            </a:outerShdw>
                          </a:effectLst>
                        </a:rPr>
                        <a:t>One-person business </a:t>
                      </a:r>
                      <a:r>
                        <a:rPr lang="pl-PL" sz="2000" b="1" dirty="0" err="1">
                          <a:solidFill>
                            <a:srgbClr val="002060"/>
                          </a:solidFill>
                          <a:effectLst>
                            <a:outerShdw blurRad="38100" dist="38100" dir="2700000" algn="tl">
                              <a:srgbClr val="000000">
                                <a:alpha val="43137"/>
                              </a:srgbClr>
                            </a:outerShdw>
                          </a:effectLst>
                        </a:rPr>
                        <a:t>activity</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a:noFill/>
                    </a:lnL>
                    <a:lnR w="7620" cap="flat" cmpd="sng" algn="ctr">
                      <a:solidFill>
                        <a:srgbClr val="E3E3E3"/>
                      </a:solidFill>
                      <a:prstDash val="solid"/>
                      <a:round/>
                      <a:headEnd type="none" w="med" len="med"/>
                      <a:tailEnd type="none" w="med" len="med"/>
                    </a:lnR>
                    <a:lnT>
                      <a:noFill/>
                    </a:lnT>
                    <a:lnB w="7620" cap="flat" cmpd="sng" algn="ctr">
                      <a:solidFill>
                        <a:srgbClr val="E3E3E3"/>
                      </a:solidFill>
                      <a:prstDash val="solid"/>
                      <a:round/>
                      <a:headEnd type="none" w="med" len="med"/>
                      <a:tailEnd type="none" w="med" len="med"/>
                    </a:lnB>
                    <a:solidFill>
                      <a:srgbClr val="FFFFFF"/>
                    </a:solidFill>
                  </a:tcPr>
                </a:tc>
                <a:tc>
                  <a:txBody>
                    <a:bodyPr/>
                    <a:lstStyle/>
                    <a:p>
                      <a:r>
                        <a:rPr lang="pl-PL" sz="2000" dirty="0" err="1">
                          <a:solidFill>
                            <a:srgbClr val="002060"/>
                          </a:solidFill>
                          <a:effectLst>
                            <a:outerShdw blurRad="38100" dist="38100" dir="2700000" algn="tl">
                              <a:srgbClr val="000000">
                                <a:alpha val="43137"/>
                              </a:srgbClr>
                            </a:outerShdw>
                          </a:effectLst>
                        </a:rPr>
                        <a:t>None</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w="7620" cap="flat" cmpd="sng" algn="ctr">
                      <a:solidFill>
                        <a:srgbClr val="E3E3E3"/>
                      </a:solidFill>
                      <a:prstDash val="solid"/>
                      <a:round/>
                      <a:headEnd type="none" w="med" len="med"/>
                      <a:tailEnd type="none" w="med" len="med"/>
                    </a:lnL>
                    <a:lnR>
                      <a:noFill/>
                    </a:lnR>
                    <a:lnT>
                      <a:noFill/>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197645041"/>
                  </a:ext>
                </a:extLst>
              </a:tr>
              <a:tr h="266825">
                <a:tc>
                  <a:txBody>
                    <a:bodyPr/>
                    <a:lstStyle/>
                    <a:p>
                      <a:r>
                        <a:rPr lang="pl-PL" sz="2000" b="1">
                          <a:solidFill>
                            <a:srgbClr val="002060"/>
                          </a:solidFill>
                          <a:effectLst>
                            <a:outerShdw blurRad="38100" dist="38100" dir="2700000" algn="tl">
                              <a:srgbClr val="000000">
                                <a:alpha val="43137"/>
                              </a:srgbClr>
                            </a:outerShdw>
                          </a:effectLst>
                        </a:rPr>
                        <a:t>Civil law partnership</a:t>
                      </a:r>
                      <a:endParaRPr lang="pl-PL" sz="2000">
                        <a:solidFill>
                          <a:srgbClr val="002060"/>
                        </a:solidFill>
                        <a:effectLst>
                          <a:outerShdw blurRad="38100" dist="38100" dir="2700000" algn="tl">
                            <a:srgbClr val="000000">
                              <a:alpha val="43137"/>
                            </a:srgbClr>
                          </a:outerShdw>
                        </a:effectLst>
                      </a:endParaRPr>
                    </a:p>
                  </a:txBody>
                  <a:tcPr marL="39630" marR="39630" marT="39630" marB="31704"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pl-PL" sz="2000" dirty="0" err="1">
                          <a:solidFill>
                            <a:srgbClr val="002060"/>
                          </a:solidFill>
                          <a:effectLst>
                            <a:outerShdw blurRad="38100" dist="38100" dir="2700000" algn="tl">
                              <a:srgbClr val="000000">
                                <a:alpha val="43137"/>
                              </a:srgbClr>
                            </a:outerShdw>
                          </a:effectLst>
                        </a:rPr>
                        <a:t>None</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931582891"/>
                  </a:ext>
                </a:extLst>
              </a:tr>
              <a:tr h="266825">
                <a:tc>
                  <a:txBody>
                    <a:bodyPr/>
                    <a:lstStyle/>
                    <a:p>
                      <a:r>
                        <a:rPr lang="pl-PL" sz="2000" b="1" dirty="0">
                          <a:solidFill>
                            <a:srgbClr val="002060"/>
                          </a:solidFill>
                          <a:effectLst>
                            <a:outerShdw blurRad="38100" dist="38100" dir="2700000" algn="tl">
                              <a:srgbClr val="000000">
                                <a:alpha val="43137"/>
                              </a:srgbClr>
                            </a:outerShdw>
                          </a:effectLst>
                        </a:rPr>
                        <a:t>General </a:t>
                      </a:r>
                      <a:r>
                        <a:rPr lang="pl-PL" sz="2000" b="1" dirty="0" err="1">
                          <a:solidFill>
                            <a:srgbClr val="002060"/>
                          </a:solidFill>
                          <a:effectLst>
                            <a:outerShdw blurRad="38100" dist="38100" dir="2700000" algn="tl">
                              <a:srgbClr val="000000">
                                <a:alpha val="43137"/>
                              </a:srgbClr>
                            </a:outerShdw>
                          </a:effectLst>
                        </a:rPr>
                        <a:t>partnership</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pl-PL" sz="2000" dirty="0" err="1">
                          <a:solidFill>
                            <a:srgbClr val="002060"/>
                          </a:solidFill>
                          <a:effectLst>
                            <a:outerShdw blurRad="38100" dist="38100" dir="2700000" algn="tl">
                              <a:srgbClr val="000000">
                                <a:alpha val="43137"/>
                              </a:srgbClr>
                            </a:outerShdw>
                          </a:effectLst>
                        </a:rPr>
                        <a:t>None</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136782536"/>
                  </a:ext>
                </a:extLst>
              </a:tr>
              <a:tr h="266825">
                <a:tc>
                  <a:txBody>
                    <a:bodyPr/>
                    <a:lstStyle/>
                    <a:p>
                      <a:r>
                        <a:rPr lang="pl-PL" sz="2000" b="1" dirty="0">
                          <a:solidFill>
                            <a:srgbClr val="002060"/>
                          </a:solidFill>
                          <a:effectLst>
                            <a:outerShdw blurRad="38100" dist="38100" dir="2700000" algn="tl">
                              <a:srgbClr val="000000">
                                <a:alpha val="43137"/>
                              </a:srgbClr>
                            </a:outerShdw>
                          </a:effectLst>
                        </a:rPr>
                        <a:t>Professional </a:t>
                      </a:r>
                      <a:r>
                        <a:rPr lang="pl-PL" sz="2000" b="1" dirty="0" err="1">
                          <a:solidFill>
                            <a:srgbClr val="002060"/>
                          </a:solidFill>
                          <a:effectLst>
                            <a:outerShdw blurRad="38100" dist="38100" dir="2700000" algn="tl">
                              <a:srgbClr val="000000">
                                <a:alpha val="43137"/>
                              </a:srgbClr>
                            </a:outerShdw>
                          </a:effectLst>
                        </a:rPr>
                        <a:t>partnership</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2000" dirty="0">
                          <a:solidFill>
                            <a:srgbClr val="002060"/>
                          </a:solidFill>
                          <a:effectLst>
                            <a:outerShdw blurRad="38100" dist="38100" dir="2700000" algn="tl">
                              <a:srgbClr val="000000">
                                <a:alpha val="43137"/>
                              </a:srgbClr>
                            </a:outerShdw>
                          </a:effectLst>
                        </a:rPr>
                        <a:t>No</a:t>
                      </a:r>
                      <a:r>
                        <a:rPr lang="pl-PL" sz="2000" dirty="0" err="1">
                          <a:solidFill>
                            <a:srgbClr val="002060"/>
                          </a:solidFill>
                          <a:effectLst>
                            <a:outerShdw blurRad="38100" dist="38100" dir="2700000" algn="tl">
                              <a:srgbClr val="000000">
                                <a:alpha val="43137"/>
                              </a:srgbClr>
                            </a:outerShdw>
                          </a:effectLst>
                        </a:rPr>
                        <a:t>ne</a:t>
                      </a:r>
                      <a:r>
                        <a:rPr lang="en-US" sz="2000" dirty="0">
                          <a:solidFill>
                            <a:srgbClr val="002060"/>
                          </a:solidFill>
                          <a:effectLst>
                            <a:outerShdw blurRad="38100" dist="38100" dir="2700000" algn="tl">
                              <a:srgbClr val="000000">
                                <a:alpha val="43137"/>
                              </a:srgbClr>
                            </a:outerShdw>
                          </a:effectLst>
                        </a:rPr>
                        <a:t>, but a management board can be appointed.</a:t>
                      </a:r>
                    </a:p>
                  </a:txBody>
                  <a:tcPr marL="39630" marR="39630" marT="39630" marB="31704"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644229744"/>
                  </a:ext>
                </a:extLst>
              </a:tr>
              <a:tr h="266825">
                <a:tc>
                  <a:txBody>
                    <a:bodyPr/>
                    <a:lstStyle/>
                    <a:p>
                      <a:r>
                        <a:rPr lang="pl-PL" sz="2000" b="1" dirty="0">
                          <a:solidFill>
                            <a:srgbClr val="002060"/>
                          </a:solidFill>
                          <a:effectLst>
                            <a:outerShdw blurRad="38100" dist="38100" dir="2700000" algn="tl">
                              <a:srgbClr val="000000">
                                <a:alpha val="43137"/>
                              </a:srgbClr>
                            </a:outerShdw>
                          </a:effectLst>
                        </a:rPr>
                        <a:t>Limited </a:t>
                      </a:r>
                      <a:r>
                        <a:rPr lang="pl-PL" sz="2000" b="1" dirty="0" err="1">
                          <a:solidFill>
                            <a:srgbClr val="002060"/>
                          </a:solidFill>
                          <a:effectLst>
                            <a:outerShdw blurRad="38100" dist="38100" dir="2700000" algn="tl">
                              <a:srgbClr val="000000">
                                <a:alpha val="43137"/>
                              </a:srgbClr>
                            </a:outerShdw>
                          </a:effectLst>
                        </a:rPr>
                        <a:t>partnership</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pl-PL" sz="2000" dirty="0" err="1">
                          <a:solidFill>
                            <a:srgbClr val="002060"/>
                          </a:solidFill>
                          <a:effectLst>
                            <a:outerShdw blurRad="38100" dist="38100" dir="2700000" algn="tl">
                              <a:srgbClr val="000000">
                                <a:alpha val="43137"/>
                              </a:srgbClr>
                            </a:outerShdw>
                          </a:effectLst>
                        </a:rPr>
                        <a:t>None</a:t>
                      </a:r>
                      <a:endParaRPr lang="pl-PL" sz="2000" dirty="0">
                        <a:solidFill>
                          <a:srgbClr val="002060"/>
                        </a:solidFill>
                        <a:effectLst>
                          <a:outerShdw blurRad="38100" dist="38100" dir="2700000" algn="tl">
                            <a:srgbClr val="000000">
                              <a:alpha val="43137"/>
                            </a:srgbClr>
                          </a:outerShdw>
                        </a:effectLst>
                      </a:endParaRPr>
                    </a:p>
                  </a:txBody>
                  <a:tcPr marL="39630" marR="39630" marT="39630" marB="31704"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390706903"/>
                  </a:ext>
                </a:extLst>
              </a:tr>
              <a:tr h="800475">
                <a:tc>
                  <a:txBody>
                    <a:bodyPr/>
                    <a:lstStyle/>
                    <a:p>
                      <a:r>
                        <a:rPr lang="pl-PL" sz="2000" b="1">
                          <a:solidFill>
                            <a:srgbClr val="002060"/>
                          </a:solidFill>
                          <a:effectLst>
                            <a:outerShdw blurRad="38100" dist="38100" dir="2700000" algn="tl">
                              <a:srgbClr val="000000">
                                <a:alpha val="43137"/>
                              </a:srgbClr>
                            </a:outerShdw>
                          </a:effectLst>
                        </a:rPr>
                        <a:t>Partnership limited by shares</a:t>
                      </a:r>
                      <a:endParaRPr lang="pl-PL" sz="2000">
                        <a:solidFill>
                          <a:srgbClr val="002060"/>
                        </a:solidFill>
                        <a:effectLst>
                          <a:outerShdw blurRad="38100" dist="38100" dir="2700000" algn="tl">
                            <a:srgbClr val="000000">
                              <a:alpha val="43137"/>
                            </a:srgbClr>
                          </a:outerShdw>
                        </a:effectLst>
                      </a:endParaRPr>
                    </a:p>
                  </a:txBody>
                  <a:tcPr marL="39630" marR="39630" marT="39630" marB="31704"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pPr>
                        <a:buFont typeface="Arial" panose="020B0604020202020204" pitchFamily="34" charset="0"/>
                        <a:buNone/>
                      </a:pPr>
                      <a:r>
                        <a:rPr lang="pl-PL" sz="2000" dirty="0">
                          <a:solidFill>
                            <a:srgbClr val="002060"/>
                          </a:solidFill>
                          <a:effectLst>
                            <a:outerShdw blurRad="38100" dist="38100" dir="2700000" algn="tl">
                              <a:srgbClr val="000000">
                                <a:alpha val="43137"/>
                              </a:srgbClr>
                            </a:outerShdw>
                          </a:effectLst>
                        </a:rPr>
                        <a:t>T</a:t>
                      </a:r>
                      <a:r>
                        <a:rPr lang="en-US" sz="2000" dirty="0">
                          <a:solidFill>
                            <a:srgbClr val="002060"/>
                          </a:solidFill>
                          <a:effectLst>
                            <a:outerShdw blurRad="38100" dist="38100" dir="2700000" algn="tl">
                              <a:srgbClr val="000000">
                                <a:alpha val="43137"/>
                              </a:srgbClr>
                            </a:outerShdw>
                          </a:effectLst>
                        </a:rPr>
                        <a:t>he general meeting</a:t>
                      </a:r>
                    </a:p>
                    <a:p>
                      <a:pPr>
                        <a:buFont typeface="Arial" panose="020B0604020202020204" pitchFamily="34" charset="0"/>
                        <a:buNone/>
                      </a:pPr>
                      <a:r>
                        <a:rPr lang="pl-PL" sz="2000" dirty="0">
                          <a:solidFill>
                            <a:srgbClr val="002060"/>
                          </a:solidFill>
                          <a:effectLst>
                            <a:outerShdw blurRad="38100" dist="38100" dir="2700000" algn="tl">
                              <a:srgbClr val="000000">
                                <a:alpha val="43137"/>
                              </a:srgbClr>
                            </a:outerShdw>
                          </a:effectLst>
                        </a:rPr>
                        <a:t>T</a:t>
                      </a:r>
                      <a:r>
                        <a:rPr lang="en-US" sz="2000" dirty="0">
                          <a:solidFill>
                            <a:srgbClr val="002060"/>
                          </a:solidFill>
                          <a:effectLst>
                            <a:outerShdw blurRad="38100" dist="38100" dir="2700000" algn="tl">
                              <a:srgbClr val="000000">
                                <a:alpha val="43137"/>
                              </a:srgbClr>
                            </a:outerShdw>
                          </a:effectLst>
                        </a:rPr>
                        <a:t>he supervisory board (if there are more than 25 shareholders in the partnership).</a:t>
                      </a:r>
                    </a:p>
                  </a:txBody>
                  <a:tcPr marL="39630" marR="39630" marT="39630" marB="31704"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4106504615"/>
                  </a:ext>
                </a:extLst>
              </a:tr>
            </a:tbl>
          </a:graphicData>
        </a:graphic>
      </p:graphicFrame>
    </p:spTree>
    <p:extLst>
      <p:ext uri="{BB962C8B-B14F-4D97-AF65-F5344CB8AC3E}">
        <p14:creationId xmlns:p14="http://schemas.microsoft.com/office/powerpoint/2010/main" val="2595762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890C161-0776-C296-E93F-99550FC2AB76}"/>
              </a:ext>
            </a:extLst>
          </p:cNvPr>
          <p:cNvSpPr>
            <a:spLocks noGrp="1"/>
          </p:cNvSpPr>
          <p:nvPr>
            <p:ph type="title"/>
          </p:nvPr>
        </p:nvSpPr>
        <p:spPr/>
        <p:txBody>
          <a:bodyPr/>
          <a:lstStyle/>
          <a:p>
            <a:r>
              <a:rPr lang="pl-PL" dirty="0" err="1">
                <a:solidFill>
                  <a:srgbClr val="FF0000"/>
                </a:solidFill>
                <a:effectLst>
                  <a:outerShdw blurRad="38100" dist="38100" dir="2700000" algn="tl">
                    <a:srgbClr val="000000">
                      <a:alpha val="43137"/>
                    </a:srgbClr>
                  </a:outerShdw>
                </a:effectLst>
              </a:rPr>
              <a:t>Mandatory</a:t>
            </a:r>
            <a:r>
              <a:rPr lang="pl-PL" dirty="0">
                <a:solidFill>
                  <a:srgbClr val="FF0000"/>
                </a:solidFill>
                <a:effectLst>
                  <a:outerShdw blurRad="38100" dist="38100" dir="2700000" algn="tl">
                    <a:srgbClr val="000000">
                      <a:alpha val="43137"/>
                    </a:srgbClr>
                  </a:outerShdw>
                </a:effectLst>
              </a:rPr>
              <a:t> </a:t>
            </a:r>
            <a:r>
              <a:rPr lang="pl-PL" dirty="0" err="1">
                <a:solidFill>
                  <a:srgbClr val="FF0000"/>
                </a:solidFill>
                <a:effectLst>
                  <a:outerShdw blurRad="38100" dist="38100" dir="2700000" algn="tl">
                    <a:srgbClr val="000000">
                      <a:alpha val="43137"/>
                    </a:srgbClr>
                  </a:outerShdw>
                </a:effectLst>
              </a:rPr>
              <a:t>governing</a:t>
            </a:r>
            <a:r>
              <a:rPr lang="pl-PL" dirty="0">
                <a:solidFill>
                  <a:srgbClr val="FF0000"/>
                </a:solidFill>
                <a:effectLst>
                  <a:outerShdw blurRad="38100" dist="38100" dir="2700000" algn="tl">
                    <a:srgbClr val="000000">
                      <a:alpha val="43137"/>
                    </a:srgbClr>
                  </a:outerShdw>
                </a:effectLst>
              </a:rPr>
              <a:t> </a:t>
            </a:r>
            <a:r>
              <a:rPr lang="pl-PL" dirty="0" err="1">
                <a:solidFill>
                  <a:srgbClr val="FF0000"/>
                </a:solidFill>
                <a:effectLst>
                  <a:outerShdw blurRad="38100" dist="38100" dir="2700000" algn="tl">
                    <a:srgbClr val="000000">
                      <a:alpha val="43137"/>
                    </a:srgbClr>
                  </a:outerShdw>
                </a:effectLst>
              </a:rPr>
              <a:t>bodies</a:t>
            </a:r>
            <a:endParaRPr lang="pl-PL"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83357FB9-9254-35C6-79AC-C5B7ECEF2167}"/>
              </a:ext>
            </a:extLst>
          </p:cNvPr>
          <p:cNvSpPr>
            <a:spLocks noGrp="1"/>
          </p:cNvSpPr>
          <p:nvPr>
            <p:ph idx="1"/>
          </p:nvPr>
        </p:nvSpPr>
        <p:spPr>
          <a:xfrm>
            <a:off x="838200" y="1825624"/>
            <a:ext cx="10515600" cy="5032375"/>
          </a:xfrm>
        </p:spPr>
        <p:txBody>
          <a:bodyPr>
            <a:normAutofit/>
          </a:bodyPr>
          <a:lstStyle/>
          <a:p>
            <a:pPr marL="0" indent="0" algn="l" rtl="0" eaLnBrk="1" fontAlgn="ctr" latinLnBrk="0" hangingPunct="1">
              <a:buNone/>
            </a:pPr>
            <a:r>
              <a:rPr lang="pl-PL" sz="1800" b="1" i="0" u="none" strike="noStrike" kern="1200" dirty="0">
                <a:solidFill>
                  <a:srgbClr val="FF0000"/>
                </a:solidFill>
                <a:effectLst>
                  <a:outerShdw blurRad="38100" dist="38100" dir="2700000" algn="tl">
                    <a:srgbClr val="000000">
                      <a:alpha val="43137"/>
                    </a:srgbClr>
                  </a:outerShdw>
                </a:effectLst>
                <a:highlight>
                  <a:srgbClr val="00FF00"/>
                </a:highlight>
                <a:latin typeface="Aptos" panose="020B0004020202020204" pitchFamily="34" charset="0"/>
              </a:rPr>
              <a:t>Limited </a:t>
            </a:r>
            <a:r>
              <a:rPr lang="pl-PL" sz="1800" b="1" i="0" u="none" strike="noStrike" kern="1200" dirty="0" err="1">
                <a:solidFill>
                  <a:srgbClr val="FF0000"/>
                </a:solidFill>
                <a:effectLst>
                  <a:outerShdw blurRad="38100" dist="38100" dir="2700000" algn="tl">
                    <a:srgbClr val="000000">
                      <a:alpha val="43137"/>
                    </a:srgbClr>
                  </a:outerShdw>
                </a:effectLst>
                <a:highlight>
                  <a:srgbClr val="00FF00"/>
                </a:highlight>
                <a:latin typeface="Aptos" panose="020B0004020202020204" pitchFamily="34" charset="0"/>
              </a:rPr>
              <a:t>liability</a:t>
            </a:r>
            <a:r>
              <a:rPr lang="pl-PL" sz="1800" b="1" i="0" u="none" strike="noStrike" kern="1200" dirty="0">
                <a:solidFill>
                  <a:srgbClr val="FF0000"/>
                </a:solidFill>
                <a:effectLst>
                  <a:outerShdw blurRad="38100" dist="38100" dir="2700000" algn="tl">
                    <a:srgbClr val="000000">
                      <a:alpha val="43137"/>
                    </a:srgbClr>
                  </a:outerShdw>
                </a:effectLst>
                <a:highlight>
                  <a:srgbClr val="00FF00"/>
                </a:highlight>
                <a:latin typeface="Aptos" panose="020B0004020202020204" pitchFamily="34" charset="0"/>
              </a:rPr>
              <a:t> </a:t>
            </a:r>
            <a:r>
              <a:rPr lang="pl-PL" sz="1800" b="1" i="0" u="none" strike="noStrike" kern="1200" dirty="0" err="1">
                <a:solidFill>
                  <a:srgbClr val="FF0000"/>
                </a:solidFill>
                <a:effectLst>
                  <a:outerShdw blurRad="38100" dist="38100" dir="2700000" algn="tl">
                    <a:srgbClr val="000000">
                      <a:alpha val="43137"/>
                    </a:srgbClr>
                  </a:outerShdw>
                </a:effectLst>
                <a:highlight>
                  <a:srgbClr val="00FF00"/>
                </a:highlight>
                <a:latin typeface="Aptos" panose="020B0004020202020204" pitchFamily="34" charset="0"/>
              </a:rPr>
              <a:t>company</a:t>
            </a:r>
            <a:endParaRPr lang="pl-PL" sz="1800" b="0" i="0" u="none" strike="noStrike" dirty="0">
              <a:solidFill>
                <a:srgbClr val="FF0000"/>
              </a:solidFill>
              <a:effectLst>
                <a:outerShdw blurRad="38100" dist="38100" dir="2700000" algn="tl">
                  <a:srgbClr val="000000">
                    <a:alpha val="43137"/>
                  </a:srgbClr>
                </a:outerShdw>
              </a:effectLst>
              <a:highlight>
                <a:srgbClr val="00FF00"/>
              </a:highlight>
              <a:latin typeface="Arial" panose="020B0604020202020204" pitchFamily="34" charset="0"/>
            </a:endParaRPr>
          </a:p>
          <a:p>
            <a:pPr marL="0" algn="l" rtl="0" eaLnBrk="1" fontAlgn="ctr" latinLnBrk="0" hangingPunct="1"/>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general meeting</a:t>
            </a:r>
            <a:endParaRPr lang="pl-PL" sz="18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algn="l" rtl="0" eaLnBrk="1" fontAlgn="ctr" latinLnBrk="0" hangingPunct="1"/>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management board</a:t>
            </a:r>
            <a:endParaRPr lang="pl-PL" sz="18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algn="l" rtl="0" eaLnBrk="1" fontAlgn="ctr" latinLnBrk="0" hangingPunct="1"/>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supervisory board </a:t>
            </a:r>
            <a:r>
              <a:rPr lang="en-US" sz="18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and/or </a:t>
            </a:r>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audit committee or both in the case of companies </a:t>
            </a:r>
            <a:r>
              <a:rPr lang="pl-PL" sz="1800" dirty="0" err="1">
                <a:solidFill>
                  <a:srgbClr val="002060"/>
                </a:solidFill>
                <a:effectLst>
                  <a:outerShdw blurRad="38100" dist="38100" dir="2700000" algn="tl">
                    <a:srgbClr val="000000">
                      <a:alpha val="43137"/>
                    </a:srgbClr>
                  </a:outerShdw>
                </a:effectLst>
                <a:latin typeface="Aptos" panose="020B0004020202020204" pitchFamily="34" charset="0"/>
              </a:rPr>
              <a:t>where</a:t>
            </a:r>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 share capital exceeds PLN </a:t>
            </a:r>
            <a:r>
              <a:rPr lang="en-US" sz="18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500,000</a:t>
            </a:r>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 </a:t>
            </a:r>
            <a:r>
              <a:rPr lang="pl-PL"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&amp;</a:t>
            </a:r>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 more than </a:t>
            </a:r>
            <a:r>
              <a:rPr lang="en-US" sz="18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25 </a:t>
            </a:r>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shareholders.</a:t>
            </a:r>
            <a:endParaRPr lang="pl-PL" sz="18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indent="0" algn="l" rtl="0" eaLnBrk="1" fontAlgn="ctr" latinLnBrk="0" hangingPunct="1">
              <a:buNone/>
            </a:pPr>
            <a:r>
              <a:rPr lang="pl-PL" sz="1800" b="1" i="0" u="none" strike="noStrike" kern="1200" dirty="0">
                <a:solidFill>
                  <a:srgbClr val="FF0000"/>
                </a:solidFill>
                <a:effectLst>
                  <a:outerShdw blurRad="38100" dist="38100" dir="2700000" algn="tl">
                    <a:srgbClr val="000000">
                      <a:alpha val="43137"/>
                    </a:srgbClr>
                  </a:outerShdw>
                </a:effectLst>
                <a:highlight>
                  <a:srgbClr val="00FF00"/>
                </a:highlight>
                <a:latin typeface="Aptos" panose="020B0004020202020204" pitchFamily="34" charset="0"/>
              </a:rPr>
              <a:t>Simple joint-</a:t>
            </a:r>
            <a:r>
              <a:rPr lang="pl-PL" sz="1800" b="1" i="0" u="none" strike="noStrike" kern="1200" dirty="0" err="1">
                <a:solidFill>
                  <a:srgbClr val="FF0000"/>
                </a:solidFill>
                <a:effectLst>
                  <a:outerShdw blurRad="38100" dist="38100" dir="2700000" algn="tl">
                    <a:srgbClr val="000000">
                      <a:alpha val="43137"/>
                    </a:srgbClr>
                  </a:outerShdw>
                </a:effectLst>
                <a:highlight>
                  <a:srgbClr val="00FF00"/>
                </a:highlight>
                <a:latin typeface="Aptos" panose="020B0004020202020204" pitchFamily="34" charset="0"/>
              </a:rPr>
              <a:t>stock</a:t>
            </a:r>
            <a:r>
              <a:rPr lang="pl-PL" sz="1800" b="1" i="0" u="none" strike="noStrike" kern="1200" dirty="0">
                <a:solidFill>
                  <a:srgbClr val="FF0000"/>
                </a:solidFill>
                <a:effectLst>
                  <a:outerShdw blurRad="38100" dist="38100" dir="2700000" algn="tl">
                    <a:srgbClr val="000000">
                      <a:alpha val="43137"/>
                    </a:srgbClr>
                  </a:outerShdw>
                </a:effectLst>
                <a:highlight>
                  <a:srgbClr val="00FF00"/>
                </a:highlight>
                <a:latin typeface="Aptos" panose="020B0004020202020204" pitchFamily="34" charset="0"/>
              </a:rPr>
              <a:t> </a:t>
            </a:r>
            <a:r>
              <a:rPr lang="pl-PL" sz="1800" b="1" i="0" u="none" strike="noStrike" kern="1200" dirty="0" err="1">
                <a:solidFill>
                  <a:srgbClr val="FF0000"/>
                </a:solidFill>
                <a:effectLst>
                  <a:outerShdw blurRad="38100" dist="38100" dir="2700000" algn="tl">
                    <a:srgbClr val="000000">
                      <a:alpha val="43137"/>
                    </a:srgbClr>
                  </a:outerShdw>
                </a:effectLst>
                <a:highlight>
                  <a:srgbClr val="00FF00"/>
                </a:highlight>
                <a:latin typeface="Aptos" panose="020B0004020202020204" pitchFamily="34" charset="0"/>
              </a:rPr>
              <a:t>company</a:t>
            </a:r>
            <a:endParaRPr lang="pl-PL" sz="1800" b="0" i="0" u="none" strike="noStrike" dirty="0">
              <a:solidFill>
                <a:srgbClr val="FF0000"/>
              </a:solidFill>
              <a:effectLst>
                <a:outerShdw blurRad="38100" dist="38100" dir="2700000" algn="tl">
                  <a:srgbClr val="000000">
                    <a:alpha val="43137"/>
                  </a:srgbClr>
                </a:outerShdw>
              </a:effectLst>
              <a:highlight>
                <a:srgbClr val="00FF00"/>
              </a:highlight>
              <a:latin typeface="Arial" panose="020B0604020202020204" pitchFamily="34" charset="0"/>
            </a:endParaRPr>
          </a:p>
          <a:p>
            <a:pPr marL="0" algn="l" rtl="0" eaLnBrk="1" fontAlgn="ctr" latinLnBrk="0" hangingPunct="1"/>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management board</a:t>
            </a:r>
            <a:endParaRPr lang="pl-PL" sz="18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algn="l" rtl="0" eaLnBrk="1" fontAlgn="ctr" latinLnBrk="0" hangingPunct="1"/>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supervisory board </a:t>
            </a:r>
            <a:r>
              <a:rPr lang="en-US" sz="18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or</a:t>
            </a:r>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 the board of directors </a:t>
            </a:r>
            <a:r>
              <a:rPr lang="en-US" sz="18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combining</a:t>
            </a:r>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 the functions of the management board and the supervisory board</a:t>
            </a:r>
            <a:endParaRPr lang="pl-PL" sz="18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algn="l" rtl="0" eaLnBrk="1" fontAlgn="ctr" latinLnBrk="0" hangingPunct="1"/>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general meeting</a:t>
            </a:r>
            <a:endParaRPr lang="pl-PL" sz="18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indent="0" algn="l" rtl="0" eaLnBrk="1" fontAlgn="ctr" latinLnBrk="0" hangingPunct="1">
              <a:buNone/>
            </a:pPr>
            <a:r>
              <a:rPr lang="pl-PL" sz="1800" b="1" i="0" u="none" strike="noStrike" kern="1200" dirty="0">
                <a:solidFill>
                  <a:srgbClr val="002060"/>
                </a:solidFill>
                <a:effectLst>
                  <a:outerShdw blurRad="38100" dist="38100" dir="2700000" algn="tl">
                    <a:srgbClr val="000000">
                      <a:alpha val="43137"/>
                    </a:srgbClr>
                  </a:outerShdw>
                </a:effectLst>
                <a:highlight>
                  <a:srgbClr val="00FF00"/>
                </a:highlight>
                <a:latin typeface="Aptos" panose="020B0004020202020204" pitchFamily="34" charset="0"/>
              </a:rPr>
              <a:t>Joint-</a:t>
            </a:r>
            <a:r>
              <a:rPr lang="pl-PL" sz="1800" b="1" i="0" u="none" strike="noStrike" kern="1200" dirty="0" err="1">
                <a:solidFill>
                  <a:srgbClr val="002060"/>
                </a:solidFill>
                <a:effectLst>
                  <a:outerShdw blurRad="38100" dist="38100" dir="2700000" algn="tl">
                    <a:srgbClr val="000000">
                      <a:alpha val="43137"/>
                    </a:srgbClr>
                  </a:outerShdw>
                </a:effectLst>
                <a:highlight>
                  <a:srgbClr val="00FF00"/>
                </a:highlight>
                <a:latin typeface="Aptos" panose="020B0004020202020204" pitchFamily="34" charset="0"/>
              </a:rPr>
              <a:t>stock</a:t>
            </a:r>
            <a:r>
              <a:rPr lang="pl-PL" sz="1800" b="1" i="0" u="none" strike="noStrike" kern="1200" dirty="0">
                <a:solidFill>
                  <a:srgbClr val="002060"/>
                </a:solidFill>
                <a:effectLst>
                  <a:outerShdw blurRad="38100" dist="38100" dir="2700000" algn="tl">
                    <a:srgbClr val="000000">
                      <a:alpha val="43137"/>
                    </a:srgbClr>
                  </a:outerShdw>
                </a:effectLst>
                <a:highlight>
                  <a:srgbClr val="00FF00"/>
                </a:highlight>
                <a:latin typeface="Aptos" panose="020B0004020202020204" pitchFamily="34" charset="0"/>
              </a:rPr>
              <a:t> </a:t>
            </a:r>
            <a:r>
              <a:rPr lang="pl-PL" sz="1800" b="1" i="0" u="none" strike="noStrike" kern="1200" dirty="0" err="1">
                <a:solidFill>
                  <a:srgbClr val="002060"/>
                </a:solidFill>
                <a:effectLst>
                  <a:outerShdw blurRad="38100" dist="38100" dir="2700000" algn="tl">
                    <a:srgbClr val="000000">
                      <a:alpha val="43137"/>
                    </a:srgbClr>
                  </a:outerShdw>
                </a:effectLst>
                <a:highlight>
                  <a:srgbClr val="00FF00"/>
                </a:highlight>
                <a:latin typeface="Aptos" panose="020B0004020202020204" pitchFamily="34" charset="0"/>
              </a:rPr>
              <a:t>company</a:t>
            </a:r>
            <a:endParaRPr lang="pl-PL" sz="1800" b="0" i="0" u="none" strike="noStrike" dirty="0">
              <a:solidFill>
                <a:srgbClr val="002060"/>
              </a:solidFill>
              <a:effectLst>
                <a:outerShdw blurRad="38100" dist="38100" dir="2700000" algn="tl">
                  <a:srgbClr val="000000">
                    <a:alpha val="43137"/>
                  </a:srgbClr>
                </a:outerShdw>
              </a:effectLst>
              <a:highlight>
                <a:srgbClr val="00FF00"/>
              </a:highlight>
              <a:latin typeface="Arial" panose="020B0604020202020204" pitchFamily="34" charset="0"/>
            </a:endParaRPr>
          </a:p>
          <a:p>
            <a:pPr marL="0" algn="l" rtl="0" eaLnBrk="1" fontAlgn="ctr" latinLnBrk="0" hangingPunct="1"/>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general meeting of shareholders</a:t>
            </a:r>
            <a:endParaRPr lang="pl-PL" sz="18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algn="l" rtl="0" eaLnBrk="1" fontAlgn="ctr" latinLnBrk="0" hangingPunct="1"/>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management board</a:t>
            </a:r>
            <a:endParaRPr lang="pl-PL" sz="18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algn="l" rtl="0" eaLnBrk="1" fontAlgn="ctr" latinLnBrk="0" hangingPunct="1"/>
            <a:r>
              <a:rPr lang="en-US" sz="18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supervisory board</a:t>
            </a:r>
            <a:endParaRPr lang="pl-PL" sz="18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p:txBody>
      </p:sp>
    </p:spTree>
    <p:extLst>
      <p:ext uri="{BB962C8B-B14F-4D97-AF65-F5344CB8AC3E}">
        <p14:creationId xmlns:p14="http://schemas.microsoft.com/office/powerpoint/2010/main" val="1127158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1104D20-447F-B2C8-F0B8-29EF36A60C4D}"/>
              </a:ext>
            </a:extLst>
          </p:cNvPr>
          <p:cNvSpPr>
            <a:spLocks noGrp="1"/>
          </p:cNvSpPr>
          <p:nvPr>
            <p:ph type="title"/>
          </p:nvPr>
        </p:nvSpPr>
        <p:spPr/>
        <p:txBody>
          <a:bodyPr>
            <a:normAutofit/>
          </a:bodyPr>
          <a:lstStyle/>
          <a:p>
            <a:r>
              <a:rPr lang="pl-PL" sz="4000" dirty="0" err="1">
                <a:solidFill>
                  <a:srgbClr val="002060"/>
                </a:solidFill>
                <a:effectLst>
                  <a:outerShdw blurRad="38100" dist="38100" dir="2700000" algn="tl">
                    <a:srgbClr val="000000">
                      <a:alpha val="43137"/>
                    </a:srgbClr>
                  </a:outerShdw>
                </a:effectLst>
              </a:rPr>
              <a:t>Separation</a:t>
            </a:r>
            <a:r>
              <a:rPr lang="pl-PL" sz="4000" dirty="0">
                <a:solidFill>
                  <a:srgbClr val="002060"/>
                </a:solidFill>
                <a:effectLst>
                  <a:outerShdw blurRad="38100" dist="38100" dir="2700000" algn="tl">
                    <a:srgbClr val="000000">
                      <a:alpha val="43137"/>
                    </a:srgbClr>
                  </a:outerShdw>
                </a:effectLst>
              </a:rPr>
              <a:t> </a:t>
            </a:r>
            <a:r>
              <a:rPr lang="pl-PL" sz="4000" dirty="0" err="1">
                <a:solidFill>
                  <a:srgbClr val="002060"/>
                </a:solidFill>
                <a:effectLst>
                  <a:outerShdw blurRad="38100" dist="38100" dir="2700000" algn="tl">
                    <a:srgbClr val="000000">
                      <a:alpha val="43137"/>
                    </a:srgbClr>
                  </a:outerShdw>
                </a:effectLst>
              </a:rPr>
              <a:t>between</a:t>
            </a:r>
            <a:r>
              <a:rPr lang="pl-PL" sz="4000" dirty="0">
                <a:solidFill>
                  <a:srgbClr val="002060"/>
                </a:solidFill>
                <a:effectLst>
                  <a:outerShdw blurRad="38100" dist="38100" dir="2700000" algn="tl">
                    <a:srgbClr val="000000">
                      <a:alpha val="43137"/>
                    </a:srgbClr>
                  </a:outerShdw>
                </a:effectLst>
              </a:rPr>
              <a:t> the </a:t>
            </a:r>
            <a:r>
              <a:rPr lang="pl-PL" sz="4000" dirty="0" err="1">
                <a:solidFill>
                  <a:srgbClr val="002060"/>
                </a:solidFill>
                <a:effectLst>
                  <a:outerShdw blurRad="38100" dist="38100" dir="2700000" algn="tl">
                    <a:srgbClr val="000000">
                      <a:alpha val="43137"/>
                    </a:srgbClr>
                  </a:outerShdw>
                </a:effectLst>
              </a:rPr>
              <a:t>owner</a:t>
            </a:r>
            <a:r>
              <a:rPr lang="pl-PL" sz="4000" dirty="0">
                <a:solidFill>
                  <a:srgbClr val="002060"/>
                </a:solidFill>
                <a:effectLst>
                  <a:outerShdw blurRad="38100" dist="38100" dir="2700000" algn="tl">
                    <a:srgbClr val="000000">
                      <a:alpha val="43137"/>
                    </a:srgbClr>
                  </a:outerShdw>
                </a:effectLst>
              </a:rPr>
              <a:t> and the business  </a:t>
            </a:r>
          </a:p>
        </p:txBody>
      </p:sp>
      <p:graphicFrame>
        <p:nvGraphicFramePr>
          <p:cNvPr id="4" name="Symbol zastępczy zawartości 3">
            <a:extLst>
              <a:ext uri="{FF2B5EF4-FFF2-40B4-BE49-F238E27FC236}">
                <a16:creationId xmlns:a16="http://schemas.microsoft.com/office/drawing/2014/main" id="{58EDD259-9DA7-FDA6-7289-F852F0AE3C7F}"/>
              </a:ext>
            </a:extLst>
          </p:cNvPr>
          <p:cNvGraphicFramePr>
            <a:graphicFrameLocks noGrp="1"/>
          </p:cNvGraphicFramePr>
          <p:nvPr>
            <p:ph idx="1"/>
            <p:extLst>
              <p:ext uri="{D42A27DB-BD31-4B8C-83A1-F6EECF244321}">
                <p14:modId xmlns:p14="http://schemas.microsoft.com/office/powerpoint/2010/main" val="3548748096"/>
              </p:ext>
            </p:extLst>
          </p:nvPr>
        </p:nvGraphicFramePr>
        <p:xfrm>
          <a:off x="1300480" y="1412240"/>
          <a:ext cx="9022080" cy="5620902"/>
        </p:xfrm>
        <a:graphic>
          <a:graphicData uri="http://schemas.openxmlformats.org/drawingml/2006/table">
            <a:tbl>
              <a:tblPr/>
              <a:tblGrid>
                <a:gridCol w="4511040">
                  <a:extLst>
                    <a:ext uri="{9D8B030D-6E8A-4147-A177-3AD203B41FA5}">
                      <a16:colId xmlns:a16="http://schemas.microsoft.com/office/drawing/2014/main" val="3990953561"/>
                    </a:ext>
                  </a:extLst>
                </a:gridCol>
                <a:gridCol w="4511040">
                  <a:extLst>
                    <a:ext uri="{9D8B030D-6E8A-4147-A177-3AD203B41FA5}">
                      <a16:colId xmlns:a16="http://schemas.microsoft.com/office/drawing/2014/main" val="2524804366"/>
                    </a:ext>
                  </a:extLst>
                </a:gridCol>
              </a:tblGrid>
              <a:tr h="631259">
                <a:tc>
                  <a:txBody>
                    <a:bodyPr/>
                    <a:lstStyle/>
                    <a:p>
                      <a:r>
                        <a:rPr lang="pl-PL" sz="1400" b="1" dirty="0">
                          <a:solidFill>
                            <a:srgbClr val="002060"/>
                          </a:solidFill>
                          <a:effectLst>
                            <a:outerShdw blurRad="38100" dist="38100" dir="2700000" algn="tl">
                              <a:srgbClr val="000000">
                                <a:alpha val="43137"/>
                              </a:srgbClr>
                            </a:outerShdw>
                          </a:effectLst>
                        </a:rPr>
                        <a:t>One-person business </a:t>
                      </a:r>
                      <a:r>
                        <a:rPr lang="pl-PL" sz="1400" b="1" dirty="0" err="1">
                          <a:solidFill>
                            <a:srgbClr val="002060"/>
                          </a:solidFill>
                          <a:effectLst>
                            <a:outerShdw blurRad="38100" dist="38100" dir="2700000" algn="tl">
                              <a:srgbClr val="000000">
                                <a:alpha val="43137"/>
                              </a:srgbClr>
                            </a:outerShdw>
                          </a:effectLst>
                        </a:rPr>
                        <a:t>activity</a:t>
                      </a:r>
                      <a:endParaRPr lang="pl-PL" sz="1400" dirty="0">
                        <a:solidFill>
                          <a:srgbClr val="002060"/>
                        </a:solidFill>
                        <a:effectLst>
                          <a:outerShdw blurRad="38100" dist="38100" dir="2700000" algn="tl">
                            <a:srgbClr val="000000">
                              <a:alpha val="43137"/>
                            </a:srgbClr>
                          </a:outerShdw>
                        </a:effectLst>
                      </a:endParaRPr>
                    </a:p>
                  </a:txBody>
                  <a:tcPr marL="26565" marR="26565" marT="26565" marB="21252" anchor="ctr">
                    <a:lnL>
                      <a:noFill/>
                    </a:lnL>
                    <a:lnR w="7620" cap="flat" cmpd="sng" algn="ctr">
                      <a:solidFill>
                        <a:srgbClr val="E3E3E3"/>
                      </a:solidFill>
                      <a:prstDash val="solid"/>
                      <a:round/>
                      <a:headEnd type="none" w="med" len="med"/>
                      <a:tailEnd type="none" w="med" len="med"/>
                    </a:lnR>
                    <a:lnT>
                      <a:noFill/>
                    </a:lnT>
                    <a:lnB w="7620" cap="flat" cmpd="sng" algn="ctr">
                      <a:solidFill>
                        <a:srgbClr val="E3E3E3"/>
                      </a:solidFill>
                      <a:prstDash val="solid"/>
                      <a:round/>
                      <a:headEnd type="none" w="med" len="med"/>
                      <a:tailEnd type="none" w="med" len="med"/>
                    </a:lnB>
                    <a:solidFill>
                      <a:srgbClr val="FFFFFF"/>
                    </a:solidFill>
                  </a:tcPr>
                </a:tc>
                <a:tc>
                  <a:txBody>
                    <a:bodyPr/>
                    <a:lstStyle/>
                    <a:p>
                      <a:r>
                        <a:rPr lang="en-US" sz="1400" b="1" dirty="0">
                          <a:solidFill>
                            <a:srgbClr val="FF0000"/>
                          </a:solidFill>
                          <a:effectLst>
                            <a:outerShdw blurRad="38100" dist="38100" dir="2700000" algn="tl">
                              <a:srgbClr val="000000">
                                <a:alpha val="43137"/>
                              </a:srgbClr>
                            </a:outerShdw>
                          </a:effectLst>
                        </a:rPr>
                        <a:t>No</a:t>
                      </a:r>
                      <a:r>
                        <a:rPr lang="pl-PL" sz="1400" b="1" dirty="0">
                          <a:solidFill>
                            <a:srgbClr val="FF0000"/>
                          </a:solidFill>
                          <a:effectLst>
                            <a:outerShdw blurRad="38100" dist="38100" dir="2700000" algn="tl">
                              <a:srgbClr val="000000">
                                <a:alpha val="43137"/>
                              </a:srgbClr>
                            </a:outerShdw>
                          </a:effectLst>
                        </a:rPr>
                        <a:t> </a:t>
                      </a:r>
                      <a:r>
                        <a:rPr lang="pl-PL" sz="1400" b="1" dirty="0" err="1">
                          <a:solidFill>
                            <a:srgbClr val="FF0000"/>
                          </a:solidFill>
                          <a:effectLst>
                            <a:outerShdw blurRad="38100" dist="38100" dir="2700000" algn="tl">
                              <a:srgbClr val="000000">
                                <a:alpha val="43137"/>
                              </a:srgbClr>
                            </a:outerShdw>
                          </a:effectLst>
                        </a:rPr>
                        <a:t>separation</a:t>
                      </a:r>
                      <a:r>
                        <a:rPr lang="pl-PL" sz="1400" dirty="0">
                          <a:solidFill>
                            <a:srgbClr val="002060"/>
                          </a:solidFill>
                          <a:effectLst>
                            <a:outerShdw blurRad="38100" dist="38100" dir="2700000" algn="tl">
                              <a:srgbClr val="000000">
                                <a:alpha val="43137"/>
                              </a:srgbClr>
                            </a:outerShdw>
                          </a:effectLst>
                        </a:rPr>
                        <a:t>.</a:t>
                      </a:r>
                      <a:r>
                        <a:rPr lang="en-US" sz="1400" dirty="0">
                          <a:solidFill>
                            <a:srgbClr val="002060"/>
                          </a:solidFill>
                          <a:effectLst>
                            <a:outerShdw blurRad="38100" dist="38100" dir="2700000" algn="tl">
                              <a:srgbClr val="000000">
                                <a:alpha val="43137"/>
                              </a:srgbClr>
                            </a:outerShdw>
                          </a:effectLst>
                        </a:rPr>
                        <a:t> </a:t>
                      </a:r>
                      <a:r>
                        <a:rPr lang="pl-PL" sz="1400" dirty="0">
                          <a:solidFill>
                            <a:srgbClr val="002060"/>
                          </a:solidFill>
                          <a:effectLst>
                            <a:outerShdw blurRad="38100" dist="38100" dir="2700000" algn="tl">
                              <a:srgbClr val="000000">
                                <a:alpha val="43137"/>
                              </a:srgbClr>
                            </a:outerShdw>
                          </a:effectLst>
                        </a:rPr>
                        <a:t>B</a:t>
                      </a:r>
                      <a:r>
                        <a:rPr lang="en-US" sz="1400" b="1" dirty="0" err="1">
                          <a:solidFill>
                            <a:srgbClr val="FF0000"/>
                          </a:solidFill>
                          <a:effectLst>
                            <a:outerShdw blurRad="38100" dist="38100" dir="2700000" algn="tl">
                              <a:srgbClr val="000000">
                                <a:alpha val="43137"/>
                              </a:srgbClr>
                            </a:outerShdw>
                          </a:effectLst>
                        </a:rPr>
                        <a:t>usiness</a:t>
                      </a:r>
                      <a:r>
                        <a:rPr lang="en-US" sz="1400" b="1" dirty="0">
                          <a:solidFill>
                            <a:srgbClr val="FF0000"/>
                          </a:solidFill>
                          <a:effectLst>
                            <a:outerShdw blurRad="38100" dist="38100" dir="2700000" algn="tl">
                              <a:srgbClr val="000000">
                                <a:alpha val="43137"/>
                              </a:srgbClr>
                            </a:outerShdw>
                          </a:effectLst>
                        </a:rPr>
                        <a:t> does not have rights and obligations</a:t>
                      </a:r>
                      <a:r>
                        <a:rPr lang="pl-PL" sz="1400" b="1" dirty="0">
                          <a:solidFill>
                            <a:srgbClr val="FF0000"/>
                          </a:solidFill>
                          <a:effectLst>
                            <a:outerShdw blurRad="38100" dist="38100" dir="2700000" algn="tl">
                              <a:srgbClr val="000000">
                                <a:alpha val="43137"/>
                              </a:srgbClr>
                            </a:outerShdw>
                          </a:effectLst>
                        </a:rPr>
                        <a:t> to </a:t>
                      </a:r>
                      <a:r>
                        <a:rPr lang="pl-PL" sz="1400" b="1" dirty="0" err="1">
                          <a:solidFill>
                            <a:srgbClr val="FF0000"/>
                          </a:solidFill>
                          <a:effectLst>
                            <a:outerShdw blurRad="38100" dist="38100" dir="2700000" algn="tl">
                              <a:srgbClr val="000000">
                                <a:alpha val="43137"/>
                              </a:srgbClr>
                            </a:outerShdw>
                          </a:effectLst>
                        </a:rPr>
                        <a:t>its</a:t>
                      </a:r>
                      <a:r>
                        <a:rPr lang="pl-PL" sz="1400" b="1" dirty="0">
                          <a:solidFill>
                            <a:srgbClr val="FF0000"/>
                          </a:solidFill>
                          <a:effectLst>
                            <a:outerShdw blurRad="38100" dist="38100" dir="2700000" algn="tl">
                              <a:srgbClr val="000000">
                                <a:alpha val="43137"/>
                              </a:srgbClr>
                            </a:outerShdw>
                          </a:effectLst>
                        </a:rPr>
                        <a:t> </a:t>
                      </a:r>
                      <a:r>
                        <a:rPr lang="pl-PL" sz="1400" b="1" dirty="0" err="1">
                          <a:solidFill>
                            <a:srgbClr val="FF0000"/>
                          </a:solidFill>
                          <a:effectLst>
                            <a:outerShdw blurRad="38100" dist="38100" dir="2700000" algn="tl">
                              <a:srgbClr val="000000">
                                <a:alpha val="43137"/>
                              </a:srgbClr>
                            </a:outerShdw>
                          </a:effectLst>
                        </a:rPr>
                        <a:t>name</a:t>
                      </a:r>
                      <a:r>
                        <a:rPr lang="en-US" sz="1400" dirty="0">
                          <a:solidFill>
                            <a:srgbClr val="002060"/>
                          </a:solidFill>
                          <a:effectLst>
                            <a:outerShdw blurRad="38100" dist="38100" dir="2700000" algn="tl">
                              <a:srgbClr val="000000">
                                <a:alpha val="43137"/>
                              </a:srgbClr>
                            </a:outerShdw>
                          </a:effectLst>
                        </a:rPr>
                        <a:t>. </a:t>
                      </a:r>
                      <a:r>
                        <a:rPr lang="pl-PL" sz="1400" dirty="0">
                          <a:solidFill>
                            <a:srgbClr val="002060"/>
                          </a:solidFill>
                          <a:effectLst>
                            <a:outerShdw blurRad="38100" dist="38100" dir="2700000" algn="tl">
                              <a:srgbClr val="000000">
                                <a:alpha val="43137"/>
                              </a:srgbClr>
                            </a:outerShdw>
                          </a:effectLst>
                        </a:rPr>
                        <a:t>T</a:t>
                      </a:r>
                      <a:r>
                        <a:rPr lang="en-US" sz="1400" dirty="0">
                          <a:solidFill>
                            <a:srgbClr val="002060"/>
                          </a:solidFill>
                          <a:effectLst>
                            <a:outerShdw blurRad="38100" dist="38100" dir="2700000" algn="tl">
                              <a:srgbClr val="000000">
                                <a:alpha val="43137"/>
                              </a:srgbClr>
                            </a:outerShdw>
                          </a:effectLst>
                        </a:rPr>
                        <a:t>he natural person </a:t>
                      </a:r>
                      <a:r>
                        <a:rPr lang="pl-PL" sz="1400" dirty="0">
                          <a:solidFill>
                            <a:srgbClr val="002060"/>
                          </a:solidFill>
                          <a:effectLst>
                            <a:outerShdw blurRad="38100" dist="38100" dir="2700000" algn="tl">
                              <a:srgbClr val="000000">
                                <a:alpha val="43137"/>
                              </a:srgbClr>
                            </a:outerShdw>
                          </a:effectLst>
                        </a:rPr>
                        <a:t>(</a:t>
                      </a:r>
                      <a:r>
                        <a:rPr lang="pl-PL" sz="1400" dirty="0" err="1">
                          <a:solidFill>
                            <a:srgbClr val="002060"/>
                          </a:solidFill>
                          <a:effectLst>
                            <a:outerShdw blurRad="38100" dist="38100" dir="2700000" algn="tl">
                              <a:srgbClr val="000000">
                                <a:alpha val="43137"/>
                              </a:srgbClr>
                            </a:outerShdw>
                          </a:effectLst>
                        </a:rPr>
                        <a:t>owner</a:t>
                      </a:r>
                      <a:r>
                        <a:rPr lang="pl-PL" sz="1400" dirty="0">
                          <a:solidFill>
                            <a:srgbClr val="002060"/>
                          </a:solidFill>
                          <a:effectLst>
                            <a:outerShdw blurRad="38100" dist="38100" dir="2700000" algn="tl">
                              <a:srgbClr val="000000">
                                <a:alpha val="43137"/>
                              </a:srgbClr>
                            </a:outerShdw>
                          </a:effectLst>
                        </a:rPr>
                        <a:t>) </a:t>
                      </a:r>
                      <a:r>
                        <a:rPr lang="en-US" sz="1400" dirty="0">
                          <a:solidFill>
                            <a:srgbClr val="002060"/>
                          </a:solidFill>
                          <a:effectLst>
                            <a:outerShdw blurRad="38100" dist="38100" dir="2700000" algn="tl">
                              <a:srgbClr val="000000">
                                <a:alpha val="43137"/>
                              </a:srgbClr>
                            </a:outerShdw>
                          </a:effectLst>
                        </a:rPr>
                        <a:t>conducting the business activity has rights and obligations </a:t>
                      </a:r>
                    </a:p>
                  </a:txBody>
                  <a:tcPr marL="26565" marR="26565" marT="26565" marB="21252" anchor="ctr">
                    <a:lnL w="7620" cap="flat" cmpd="sng" algn="ctr">
                      <a:solidFill>
                        <a:srgbClr val="E3E3E3"/>
                      </a:solidFill>
                      <a:prstDash val="solid"/>
                      <a:round/>
                      <a:headEnd type="none" w="med" len="med"/>
                      <a:tailEnd type="none" w="med" len="med"/>
                    </a:lnL>
                    <a:lnR>
                      <a:noFill/>
                    </a:lnR>
                    <a:lnT>
                      <a:noFill/>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421957076"/>
                  </a:ext>
                </a:extLst>
              </a:tr>
              <a:tr h="631259">
                <a:tc>
                  <a:txBody>
                    <a:bodyPr/>
                    <a:lstStyle/>
                    <a:p>
                      <a:r>
                        <a:rPr lang="pl-PL" sz="1400" b="1" dirty="0" err="1">
                          <a:solidFill>
                            <a:srgbClr val="002060"/>
                          </a:solidFill>
                          <a:effectLst>
                            <a:outerShdw blurRad="38100" dist="38100" dir="2700000" algn="tl">
                              <a:srgbClr val="000000">
                                <a:alpha val="43137"/>
                              </a:srgbClr>
                            </a:outerShdw>
                          </a:effectLst>
                        </a:rPr>
                        <a:t>Civil</a:t>
                      </a:r>
                      <a:r>
                        <a:rPr lang="pl-PL" sz="1400" b="1" dirty="0">
                          <a:solidFill>
                            <a:srgbClr val="002060"/>
                          </a:solidFill>
                          <a:effectLst>
                            <a:outerShdw blurRad="38100" dist="38100" dir="2700000" algn="tl">
                              <a:srgbClr val="000000">
                                <a:alpha val="43137"/>
                              </a:srgbClr>
                            </a:outerShdw>
                          </a:effectLst>
                        </a:rPr>
                        <a:t> law </a:t>
                      </a:r>
                      <a:r>
                        <a:rPr lang="pl-PL" sz="1400" b="1" dirty="0" err="1">
                          <a:solidFill>
                            <a:srgbClr val="002060"/>
                          </a:solidFill>
                          <a:effectLst>
                            <a:outerShdw blurRad="38100" dist="38100" dir="2700000" algn="tl">
                              <a:srgbClr val="000000">
                                <a:alpha val="43137"/>
                              </a:srgbClr>
                            </a:outerShdw>
                          </a:effectLst>
                        </a:rPr>
                        <a:t>partnership</a:t>
                      </a:r>
                      <a:endParaRPr lang="pl-PL" sz="1400" dirty="0">
                        <a:solidFill>
                          <a:srgbClr val="002060"/>
                        </a:solidFill>
                        <a:effectLst>
                          <a:outerShdw blurRad="38100" dist="38100" dir="2700000" algn="tl">
                            <a:srgbClr val="000000">
                              <a:alpha val="43137"/>
                            </a:srgbClr>
                          </a:outerShdw>
                        </a:effectLst>
                      </a:endParaRPr>
                    </a:p>
                  </a:txBody>
                  <a:tcPr marL="26565" marR="26565" marT="26565" marB="21252"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400" b="1" dirty="0">
                          <a:solidFill>
                            <a:srgbClr val="FF0000"/>
                          </a:solidFill>
                          <a:effectLst>
                            <a:outerShdw blurRad="38100" dist="38100" dir="2700000" algn="tl">
                              <a:srgbClr val="000000">
                                <a:alpha val="43137"/>
                              </a:srgbClr>
                            </a:outerShdw>
                          </a:effectLst>
                        </a:rPr>
                        <a:t>No</a:t>
                      </a:r>
                      <a:r>
                        <a:rPr lang="pl-PL" sz="1400" b="1" dirty="0">
                          <a:solidFill>
                            <a:srgbClr val="FF0000"/>
                          </a:solidFill>
                          <a:effectLst>
                            <a:outerShdw blurRad="38100" dist="38100" dir="2700000" algn="tl">
                              <a:srgbClr val="000000">
                                <a:alpha val="43137"/>
                              </a:srgbClr>
                            </a:outerShdw>
                          </a:effectLst>
                        </a:rPr>
                        <a:t> </a:t>
                      </a:r>
                      <a:r>
                        <a:rPr lang="pl-PL" sz="1400" b="1" dirty="0" err="1">
                          <a:solidFill>
                            <a:srgbClr val="FF0000"/>
                          </a:solidFill>
                          <a:effectLst>
                            <a:outerShdw blurRad="38100" dist="38100" dir="2700000" algn="tl">
                              <a:srgbClr val="000000">
                                <a:alpha val="43137"/>
                              </a:srgbClr>
                            </a:outerShdw>
                          </a:effectLst>
                        </a:rPr>
                        <a:t>separation</a:t>
                      </a:r>
                      <a:r>
                        <a:rPr lang="pl-PL" sz="1400" dirty="0">
                          <a:solidFill>
                            <a:srgbClr val="002060"/>
                          </a:solidFill>
                          <a:effectLst>
                            <a:outerShdw blurRad="38100" dist="38100" dir="2700000" algn="tl">
                              <a:srgbClr val="000000">
                                <a:alpha val="43137"/>
                              </a:srgbClr>
                            </a:outerShdw>
                          </a:effectLst>
                        </a:rPr>
                        <a:t>. </a:t>
                      </a:r>
                      <a:r>
                        <a:rPr lang="en-US" sz="1400" dirty="0">
                          <a:solidFill>
                            <a:srgbClr val="002060"/>
                          </a:solidFill>
                          <a:effectLst>
                            <a:outerShdw blurRad="38100" dist="38100" dir="2700000" algn="tl">
                              <a:srgbClr val="000000">
                                <a:alpha val="43137"/>
                              </a:srgbClr>
                            </a:outerShdw>
                          </a:effectLst>
                        </a:rPr>
                        <a:t>In business dealings a civil law partnership does not act as a separate legal entity from its partners. It does not have rights and obligations and does not perform legal acts in its name, </a:t>
                      </a:r>
                      <a:r>
                        <a:rPr lang="en-US" sz="1400" b="1" dirty="0">
                          <a:solidFill>
                            <a:srgbClr val="FF0000"/>
                          </a:solidFill>
                          <a:effectLst>
                            <a:outerShdw blurRad="38100" dist="38100" dir="2700000" algn="tl">
                              <a:srgbClr val="000000">
                                <a:alpha val="43137"/>
                              </a:srgbClr>
                            </a:outerShdw>
                          </a:effectLst>
                        </a:rPr>
                        <a:t>only the partners do</a:t>
                      </a:r>
                      <a:r>
                        <a:rPr lang="en-US" sz="1400" dirty="0">
                          <a:solidFill>
                            <a:srgbClr val="002060"/>
                          </a:solidFill>
                          <a:effectLst>
                            <a:outerShdw blurRad="38100" dist="38100" dir="2700000" algn="tl">
                              <a:srgbClr val="000000">
                                <a:alpha val="43137"/>
                              </a:srgbClr>
                            </a:outerShdw>
                          </a:effectLst>
                        </a:rPr>
                        <a:t>.</a:t>
                      </a:r>
                    </a:p>
                  </a:txBody>
                  <a:tcPr marL="26565" marR="26565" marT="26565" marB="21252"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708774279"/>
                  </a:ext>
                </a:extLst>
              </a:tr>
              <a:tr h="516485">
                <a:tc>
                  <a:txBody>
                    <a:bodyPr/>
                    <a:lstStyle/>
                    <a:p>
                      <a:r>
                        <a:rPr lang="pl-PL" sz="1400" b="1" dirty="0">
                          <a:solidFill>
                            <a:srgbClr val="002060"/>
                          </a:solidFill>
                          <a:effectLst>
                            <a:outerShdw blurRad="38100" dist="38100" dir="2700000" algn="tl">
                              <a:srgbClr val="000000">
                                <a:alpha val="43137"/>
                              </a:srgbClr>
                            </a:outerShdw>
                          </a:effectLst>
                        </a:rPr>
                        <a:t>General </a:t>
                      </a:r>
                      <a:r>
                        <a:rPr lang="pl-PL" sz="1400" b="1" dirty="0" err="1">
                          <a:solidFill>
                            <a:srgbClr val="002060"/>
                          </a:solidFill>
                          <a:effectLst>
                            <a:outerShdw blurRad="38100" dist="38100" dir="2700000" algn="tl">
                              <a:srgbClr val="000000">
                                <a:alpha val="43137"/>
                              </a:srgbClr>
                            </a:outerShdw>
                          </a:effectLst>
                        </a:rPr>
                        <a:t>partnership</a:t>
                      </a:r>
                      <a:endParaRPr lang="pl-PL" sz="1400" dirty="0">
                        <a:solidFill>
                          <a:srgbClr val="002060"/>
                        </a:solidFill>
                        <a:effectLst>
                          <a:outerShdw blurRad="38100" dist="38100" dir="2700000" algn="tl">
                            <a:srgbClr val="000000">
                              <a:alpha val="43137"/>
                            </a:srgbClr>
                          </a:outerShdw>
                        </a:effectLst>
                      </a:endParaRPr>
                    </a:p>
                  </a:txBody>
                  <a:tcPr marL="26565" marR="26565" marT="26565" marB="21252"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400" dirty="0">
                          <a:solidFill>
                            <a:srgbClr val="002060"/>
                          </a:solidFill>
                          <a:effectLst>
                            <a:outerShdw blurRad="38100" dist="38100" dir="2700000" algn="tl">
                              <a:srgbClr val="000000">
                                <a:alpha val="43137"/>
                              </a:srgbClr>
                            </a:outerShdw>
                          </a:effectLst>
                        </a:rPr>
                        <a:t>The partnership is </a:t>
                      </a:r>
                      <a:r>
                        <a:rPr lang="en-US" sz="1400" b="1" dirty="0">
                          <a:solidFill>
                            <a:srgbClr val="FF0000"/>
                          </a:solidFill>
                          <a:effectLst>
                            <a:outerShdw blurRad="38100" dist="38100" dir="2700000" algn="tl">
                              <a:srgbClr val="000000">
                                <a:alpha val="43137"/>
                              </a:srgbClr>
                            </a:outerShdw>
                          </a:effectLst>
                        </a:rPr>
                        <a:t>a separate legal entity </a:t>
                      </a:r>
                      <a:r>
                        <a:rPr lang="en-US" sz="1400" dirty="0">
                          <a:solidFill>
                            <a:srgbClr val="002060"/>
                          </a:solidFill>
                          <a:effectLst>
                            <a:outerShdw blurRad="38100" dist="38100" dir="2700000" algn="tl">
                              <a:srgbClr val="000000">
                                <a:alpha val="43137"/>
                              </a:srgbClr>
                            </a:outerShdw>
                          </a:effectLst>
                        </a:rPr>
                        <a:t>from its partners. It may acquire rights (including ownership), incur obligations and be a party to legal proceedings. It does not have a legal personality.</a:t>
                      </a:r>
                    </a:p>
                  </a:txBody>
                  <a:tcPr marL="26565" marR="26565" marT="26565" marB="21252"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963867329"/>
                  </a:ext>
                </a:extLst>
              </a:tr>
              <a:tr h="516485">
                <a:tc>
                  <a:txBody>
                    <a:bodyPr/>
                    <a:lstStyle/>
                    <a:p>
                      <a:r>
                        <a:rPr lang="pl-PL" sz="1400" b="1">
                          <a:solidFill>
                            <a:srgbClr val="002060"/>
                          </a:solidFill>
                          <a:effectLst>
                            <a:outerShdw blurRad="38100" dist="38100" dir="2700000" algn="tl">
                              <a:srgbClr val="000000">
                                <a:alpha val="43137"/>
                              </a:srgbClr>
                            </a:outerShdw>
                          </a:effectLst>
                        </a:rPr>
                        <a:t>Professional partnership</a:t>
                      </a:r>
                      <a:endParaRPr lang="pl-PL" sz="1400">
                        <a:solidFill>
                          <a:srgbClr val="002060"/>
                        </a:solidFill>
                        <a:effectLst>
                          <a:outerShdw blurRad="38100" dist="38100" dir="2700000" algn="tl">
                            <a:srgbClr val="000000">
                              <a:alpha val="43137"/>
                            </a:srgbClr>
                          </a:outerShdw>
                        </a:effectLst>
                      </a:endParaRPr>
                    </a:p>
                  </a:txBody>
                  <a:tcPr marL="26565" marR="26565" marT="26565" marB="21252"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400" dirty="0">
                          <a:solidFill>
                            <a:srgbClr val="002060"/>
                          </a:solidFill>
                          <a:effectLst>
                            <a:outerShdw blurRad="38100" dist="38100" dir="2700000" algn="tl">
                              <a:srgbClr val="000000">
                                <a:alpha val="43137"/>
                              </a:srgbClr>
                            </a:outerShdw>
                          </a:effectLst>
                        </a:rPr>
                        <a:t>The partnership is </a:t>
                      </a:r>
                      <a:r>
                        <a:rPr lang="en-US" sz="1400" b="1" dirty="0">
                          <a:solidFill>
                            <a:srgbClr val="FF0000"/>
                          </a:solidFill>
                          <a:effectLst>
                            <a:outerShdw blurRad="38100" dist="38100" dir="2700000" algn="tl">
                              <a:srgbClr val="000000">
                                <a:alpha val="43137"/>
                              </a:srgbClr>
                            </a:outerShdw>
                          </a:effectLst>
                        </a:rPr>
                        <a:t>a separate legal entity </a:t>
                      </a:r>
                      <a:r>
                        <a:rPr lang="en-US" sz="1400" dirty="0">
                          <a:solidFill>
                            <a:srgbClr val="002060"/>
                          </a:solidFill>
                          <a:effectLst>
                            <a:outerShdw blurRad="38100" dist="38100" dir="2700000" algn="tl">
                              <a:srgbClr val="000000">
                                <a:alpha val="43137"/>
                              </a:srgbClr>
                            </a:outerShdw>
                          </a:effectLst>
                        </a:rPr>
                        <a:t>from its partners. It may acquire rights (including ownership), incur obligations, sue and be sued. It does not have a legal personality.</a:t>
                      </a:r>
                    </a:p>
                  </a:txBody>
                  <a:tcPr marL="26565" marR="26565" marT="26565" marB="21252"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908339065"/>
                  </a:ext>
                </a:extLst>
              </a:tr>
              <a:tr h="516485">
                <a:tc>
                  <a:txBody>
                    <a:bodyPr/>
                    <a:lstStyle/>
                    <a:p>
                      <a:r>
                        <a:rPr lang="pl-PL" sz="1400" b="1">
                          <a:solidFill>
                            <a:srgbClr val="002060"/>
                          </a:solidFill>
                          <a:effectLst>
                            <a:outerShdw blurRad="38100" dist="38100" dir="2700000" algn="tl">
                              <a:srgbClr val="000000">
                                <a:alpha val="43137"/>
                              </a:srgbClr>
                            </a:outerShdw>
                          </a:effectLst>
                        </a:rPr>
                        <a:t>Limited partnership</a:t>
                      </a:r>
                      <a:endParaRPr lang="pl-PL" sz="1400">
                        <a:solidFill>
                          <a:srgbClr val="002060"/>
                        </a:solidFill>
                        <a:effectLst>
                          <a:outerShdw blurRad="38100" dist="38100" dir="2700000" algn="tl">
                            <a:srgbClr val="000000">
                              <a:alpha val="43137"/>
                            </a:srgbClr>
                          </a:outerShdw>
                        </a:effectLst>
                      </a:endParaRPr>
                    </a:p>
                  </a:txBody>
                  <a:tcPr marL="26565" marR="26565" marT="26565" marB="21252"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400" dirty="0">
                          <a:solidFill>
                            <a:srgbClr val="002060"/>
                          </a:solidFill>
                          <a:effectLst>
                            <a:outerShdw blurRad="38100" dist="38100" dir="2700000" algn="tl">
                              <a:srgbClr val="000000">
                                <a:alpha val="43137"/>
                              </a:srgbClr>
                            </a:outerShdw>
                          </a:effectLst>
                        </a:rPr>
                        <a:t>The partnership </a:t>
                      </a:r>
                      <a:r>
                        <a:rPr lang="en-US" sz="1400" b="1" dirty="0">
                          <a:solidFill>
                            <a:srgbClr val="FF0000"/>
                          </a:solidFill>
                          <a:effectLst>
                            <a:outerShdw blurRad="38100" dist="38100" dir="2700000" algn="tl">
                              <a:srgbClr val="000000">
                                <a:alpha val="43137"/>
                              </a:srgbClr>
                            </a:outerShdw>
                          </a:effectLst>
                        </a:rPr>
                        <a:t>is a separate legal entity </a:t>
                      </a:r>
                      <a:r>
                        <a:rPr lang="en-US" sz="1400" dirty="0">
                          <a:solidFill>
                            <a:srgbClr val="002060"/>
                          </a:solidFill>
                          <a:effectLst>
                            <a:outerShdw blurRad="38100" dist="38100" dir="2700000" algn="tl">
                              <a:srgbClr val="000000">
                                <a:alpha val="43137"/>
                              </a:srgbClr>
                            </a:outerShdw>
                          </a:effectLst>
                        </a:rPr>
                        <a:t>from its partners. It may acquire rights (including ownership), incur obligations, sue and be sued</a:t>
                      </a:r>
                      <a:r>
                        <a:rPr lang="en-US" sz="1400" b="1" dirty="0">
                          <a:solidFill>
                            <a:srgbClr val="002060"/>
                          </a:solidFill>
                          <a:effectLst>
                            <a:outerShdw blurRad="38100" dist="38100" dir="2700000" algn="tl">
                              <a:srgbClr val="000000">
                                <a:alpha val="43137"/>
                              </a:srgbClr>
                            </a:outerShdw>
                          </a:effectLst>
                        </a:rPr>
                        <a:t>. It does not have a legal personality.</a:t>
                      </a:r>
                    </a:p>
                  </a:txBody>
                  <a:tcPr marL="26565" marR="26565" marT="26565" marB="21252"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254759444"/>
                  </a:ext>
                </a:extLst>
              </a:tr>
              <a:tr h="516485">
                <a:tc>
                  <a:txBody>
                    <a:bodyPr/>
                    <a:lstStyle/>
                    <a:p>
                      <a:r>
                        <a:rPr lang="pl-PL" sz="1400" b="1" dirty="0" err="1">
                          <a:solidFill>
                            <a:srgbClr val="002060"/>
                          </a:solidFill>
                          <a:effectLst>
                            <a:outerShdw blurRad="38100" dist="38100" dir="2700000" algn="tl">
                              <a:srgbClr val="000000">
                                <a:alpha val="43137"/>
                              </a:srgbClr>
                            </a:outerShdw>
                          </a:effectLst>
                        </a:rPr>
                        <a:t>Partnership</a:t>
                      </a:r>
                      <a:r>
                        <a:rPr lang="pl-PL" sz="1400" b="1" dirty="0">
                          <a:solidFill>
                            <a:srgbClr val="002060"/>
                          </a:solidFill>
                          <a:effectLst>
                            <a:outerShdw blurRad="38100" dist="38100" dir="2700000" algn="tl">
                              <a:srgbClr val="000000">
                                <a:alpha val="43137"/>
                              </a:srgbClr>
                            </a:outerShdw>
                          </a:effectLst>
                        </a:rPr>
                        <a:t> </a:t>
                      </a:r>
                      <a:r>
                        <a:rPr lang="pl-PL" sz="1400" b="1" dirty="0" err="1">
                          <a:solidFill>
                            <a:srgbClr val="002060"/>
                          </a:solidFill>
                          <a:effectLst>
                            <a:outerShdw blurRad="38100" dist="38100" dir="2700000" algn="tl">
                              <a:srgbClr val="000000">
                                <a:alpha val="43137"/>
                              </a:srgbClr>
                            </a:outerShdw>
                          </a:effectLst>
                        </a:rPr>
                        <a:t>limited</a:t>
                      </a:r>
                      <a:r>
                        <a:rPr lang="pl-PL" sz="1400" b="1" dirty="0">
                          <a:solidFill>
                            <a:srgbClr val="002060"/>
                          </a:solidFill>
                          <a:effectLst>
                            <a:outerShdw blurRad="38100" dist="38100" dir="2700000" algn="tl">
                              <a:srgbClr val="000000">
                                <a:alpha val="43137"/>
                              </a:srgbClr>
                            </a:outerShdw>
                          </a:effectLst>
                        </a:rPr>
                        <a:t> by </a:t>
                      </a:r>
                      <a:r>
                        <a:rPr lang="pl-PL" sz="1400" b="1" dirty="0" err="1">
                          <a:solidFill>
                            <a:srgbClr val="002060"/>
                          </a:solidFill>
                          <a:effectLst>
                            <a:outerShdw blurRad="38100" dist="38100" dir="2700000" algn="tl">
                              <a:srgbClr val="000000">
                                <a:alpha val="43137"/>
                              </a:srgbClr>
                            </a:outerShdw>
                          </a:effectLst>
                        </a:rPr>
                        <a:t>shares</a:t>
                      </a:r>
                      <a:endParaRPr lang="pl-PL" sz="1400" dirty="0">
                        <a:solidFill>
                          <a:srgbClr val="002060"/>
                        </a:solidFill>
                        <a:effectLst>
                          <a:outerShdw blurRad="38100" dist="38100" dir="2700000" algn="tl">
                            <a:srgbClr val="000000">
                              <a:alpha val="43137"/>
                            </a:srgbClr>
                          </a:outerShdw>
                        </a:effectLst>
                      </a:endParaRPr>
                    </a:p>
                  </a:txBody>
                  <a:tcPr marL="26565" marR="26565" marT="26565" marB="21252"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1400" dirty="0">
                          <a:solidFill>
                            <a:srgbClr val="002060"/>
                          </a:solidFill>
                          <a:effectLst>
                            <a:outerShdw blurRad="38100" dist="38100" dir="2700000" algn="tl">
                              <a:srgbClr val="000000">
                                <a:alpha val="43137"/>
                              </a:srgbClr>
                            </a:outerShdw>
                          </a:effectLst>
                        </a:rPr>
                        <a:t>The partnership is </a:t>
                      </a:r>
                      <a:r>
                        <a:rPr lang="en-US" sz="1400" b="1" dirty="0">
                          <a:solidFill>
                            <a:srgbClr val="FF0000"/>
                          </a:solidFill>
                          <a:effectLst>
                            <a:outerShdw blurRad="38100" dist="38100" dir="2700000" algn="tl">
                              <a:srgbClr val="000000">
                                <a:alpha val="43137"/>
                              </a:srgbClr>
                            </a:outerShdw>
                          </a:effectLst>
                        </a:rPr>
                        <a:t>a separate legal entity </a:t>
                      </a:r>
                      <a:r>
                        <a:rPr lang="en-US" sz="1400" dirty="0">
                          <a:solidFill>
                            <a:srgbClr val="002060"/>
                          </a:solidFill>
                          <a:effectLst>
                            <a:outerShdw blurRad="38100" dist="38100" dir="2700000" algn="tl">
                              <a:srgbClr val="000000">
                                <a:alpha val="43137"/>
                              </a:srgbClr>
                            </a:outerShdw>
                          </a:effectLst>
                        </a:rPr>
                        <a:t>from its partners. It may acquire rights (including ownership), incur obligations, sue and be sued. </a:t>
                      </a:r>
                      <a:r>
                        <a:rPr lang="en-US" sz="1400" b="1" dirty="0">
                          <a:solidFill>
                            <a:srgbClr val="002060"/>
                          </a:solidFill>
                          <a:effectLst>
                            <a:outerShdw blurRad="38100" dist="38100" dir="2700000" algn="tl">
                              <a:srgbClr val="000000">
                                <a:alpha val="43137"/>
                              </a:srgbClr>
                            </a:outerShdw>
                          </a:effectLst>
                        </a:rPr>
                        <a:t>It does not have a legal personality.</a:t>
                      </a:r>
                    </a:p>
                  </a:txBody>
                  <a:tcPr marL="26565" marR="26565" marT="26565" marB="21252"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639539057"/>
                  </a:ext>
                </a:extLst>
              </a:tr>
            </a:tbl>
          </a:graphicData>
        </a:graphic>
      </p:graphicFrame>
    </p:spTree>
    <p:extLst>
      <p:ext uri="{BB962C8B-B14F-4D97-AF65-F5344CB8AC3E}">
        <p14:creationId xmlns:p14="http://schemas.microsoft.com/office/powerpoint/2010/main" val="3159095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C4A9623-7573-ACF4-723C-C9B097793DD3}"/>
              </a:ext>
            </a:extLst>
          </p:cNvPr>
          <p:cNvSpPr>
            <a:spLocks noGrp="1"/>
          </p:cNvSpPr>
          <p:nvPr>
            <p:ph type="title"/>
          </p:nvPr>
        </p:nvSpPr>
        <p:spPr/>
        <p:txBody>
          <a:bodyPr>
            <a:normAutofit/>
          </a:bodyPr>
          <a:lstStyle/>
          <a:p>
            <a:r>
              <a:rPr lang="pl-PL" sz="3600" dirty="0" err="1">
                <a:solidFill>
                  <a:srgbClr val="002060"/>
                </a:solidFill>
                <a:effectLst>
                  <a:outerShdw blurRad="38100" dist="38100" dir="2700000" algn="tl">
                    <a:srgbClr val="000000">
                      <a:alpha val="43137"/>
                    </a:srgbClr>
                  </a:outerShdw>
                </a:effectLst>
              </a:rPr>
              <a:t>Separation</a:t>
            </a:r>
            <a:r>
              <a:rPr lang="pl-PL" sz="3600" dirty="0">
                <a:solidFill>
                  <a:srgbClr val="002060"/>
                </a:solidFill>
                <a:effectLst>
                  <a:outerShdw blurRad="38100" dist="38100" dir="2700000" algn="tl">
                    <a:srgbClr val="000000">
                      <a:alpha val="43137"/>
                    </a:srgbClr>
                  </a:outerShdw>
                </a:effectLst>
              </a:rPr>
              <a:t> </a:t>
            </a:r>
            <a:r>
              <a:rPr lang="pl-PL" sz="3600" dirty="0" err="1">
                <a:solidFill>
                  <a:srgbClr val="002060"/>
                </a:solidFill>
                <a:effectLst>
                  <a:outerShdw blurRad="38100" dist="38100" dir="2700000" algn="tl">
                    <a:srgbClr val="000000">
                      <a:alpha val="43137"/>
                    </a:srgbClr>
                  </a:outerShdw>
                </a:effectLst>
              </a:rPr>
              <a:t>between</a:t>
            </a:r>
            <a:r>
              <a:rPr lang="pl-PL" sz="3600" dirty="0">
                <a:solidFill>
                  <a:srgbClr val="002060"/>
                </a:solidFill>
                <a:effectLst>
                  <a:outerShdw blurRad="38100" dist="38100" dir="2700000" algn="tl">
                    <a:srgbClr val="000000">
                      <a:alpha val="43137"/>
                    </a:srgbClr>
                  </a:outerShdw>
                </a:effectLst>
              </a:rPr>
              <a:t> the </a:t>
            </a:r>
            <a:r>
              <a:rPr lang="pl-PL" sz="3600" dirty="0" err="1">
                <a:solidFill>
                  <a:srgbClr val="002060"/>
                </a:solidFill>
                <a:effectLst>
                  <a:outerShdw blurRad="38100" dist="38100" dir="2700000" algn="tl">
                    <a:srgbClr val="000000">
                      <a:alpha val="43137"/>
                    </a:srgbClr>
                  </a:outerShdw>
                </a:effectLst>
              </a:rPr>
              <a:t>owner</a:t>
            </a:r>
            <a:r>
              <a:rPr lang="pl-PL" sz="3600" dirty="0">
                <a:solidFill>
                  <a:srgbClr val="002060"/>
                </a:solidFill>
                <a:effectLst>
                  <a:outerShdw blurRad="38100" dist="38100" dir="2700000" algn="tl">
                    <a:srgbClr val="000000">
                      <a:alpha val="43137"/>
                    </a:srgbClr>
                  </a:outerShdw>
                </a:effectLst>
              </a:rPr>
              <a:t> and the business </a:t>
            </a:r>
          </a:p>
        </p:txBody>
      </p:sp>
      <p:sp>
        <p:nvSpPr>
          <p:cNvPr id="3" name="Symbol zastępczy zawartości 2">
            <a:extLst>
              <a:ext uri="{FF2B5EF4-FFF2-40B4-BE49-F238E27FC236}">
                <a16:creationId xmlns:a16="http://schemas.microsoft.com/office/drawing/2014/main" id="{14EE74DC-C506-C027-7AD3-DD255A458AA7}"/>
              </a:ext>
            </a:extLst>
          </p:cNvPr>
          <p:cNvSpPr>
            <a:spLocks noGrp="1"/>
          </p:cNvSpPr>
          <p:nvPr>
            <p:ph idx="1"/>
          </p:nvPr>
        </p:nvSpPr>
        <p:spPr>
          <a:xfrm>
            <a:off x="838200" y="1825625"/>
            <a:ext cx="10515600" cy="4850478"/>
          </a:xfrm>
        </p:spPr>
        <p:txBody>
          <a:bodyPr>
            <a:normAutofit/>
          </a:bodyPr>
          <a:lstStyle/>
          <a:p>
            <a:pPr marL="0" indent="0" algn="l" rtl="0" eaLnBrk="1" fontAlgn="ctr" latinLnBrk="0" hangingPunct="1">
              <a:buNone/>
            </a:pPr>
            <a:r>
              <a:rPr lang="pl-PL" sz="24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Limited </a:t>
            </a:r>
            <a:r>
              <a:rPr lang="pl-PL" sz="2400" b="1" i="0" u="none" strike="noStrike" kern="1200" dirty="0" err="1">
                <a:solidFill>
                  <a:srgbClr val="FF0000"/>
                </a:solidFill>
                <a:effectLst>
                  <a:outerShdw blurRad="38100" dist="38100" dir="2700000" algn="tl">
                    <a:srgbClr val="000000">
                      <a:alpha val="43137"/>
                    </a:srgbClr>
                  </a:outerShdw>
                </a:effectLst>
                <a:latin typeface="Aptos" panose="020B0004020202020204" pitchFamily="34" charset="0"/>
              </a:rPr>
              <a:t>liability</a:t>
            </a:r>
            <a:r>
              <a:rPr lang="pl-PL" sz="24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 </a:t>
            </a:r>
            <a:r>
              <a:rPr lang="pl-PL" sz="2400" b="1" i="0" u="none" strike="noStrike" kern="1200" dirty="0" err="1">
                <a:solidFill>
                  <a:srgbClr val="FF0000"/>
                </a:solidFill>
                <a:effectLst>
                  <a:outerShdw blurRad="38100" dist="38100" dir="2700000" algn="tl">
                    <a:srgbClr val="000000">
                      <a:alpha val="43137"/>
                    </a:srgbClr>
                  </a:outerShdw>
                </a:effectLst>
                <a:latin typeface="Aptos" panose="020B0004020202020204" pitchFamily="34" charset="0"/>
              </a:rPr>
              <a:t>company</a:t>
            </a:r>
            <a:r>
              <a:rPr lang="pl-PL" sz="2400" dirty="0">
                <a:solidFill>
                  <a:srgbClr val="FF0000"/>
                </a:solidFill>
                <a:effectLst>
                  <a:outerShdw blurRad="38100" dist="38100" dir="2700000" algn="tl">
                    <a:srgbClr val="000000">
                      <a:alpha val="43137"/>
                    </a:srgbClr>
                  </a:outerShdw>
                </a:effectLst>
                <a:latin typeface="Arial" panose="020B0604020202020204" pitchFamily="34" charset="0"/>
              </a:rPr>
              <a:t> </a:t>
            </a:r>
          </a:p>
          <a:p>
            <a:pPr fontAlgn="ctr"/>
            <a:r>
              <a:rPr lang="en-US" sz="24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company </a:t>
            </a:r>
            <a:r>
              <a:rPr lang="en-US" sz="2400" b="1"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has a legal personality </a:t>
            </a:r>
            <a:r>
              <a:rPr lang="en-US" sz="24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and full rights and obligations separate to those of its shareholders. It may carry out all legal actions in its own name, including any in-court or out-of-court procedures.</a:t>
            </a:r>
            <a:endParaRPr lang="pl-PL" sz="24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indent="0" algn="l" rtl="0" eaLnBrk="1" fontAlgn="ctr" latinLnBrk="0" hangingPunct="1">
              <a:buNone/>
            </a:pPr>
            <a:r>
              <a:rPr lang="pl-PL" sz="24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Simple joint-</a:t>
            </a:r>
            <a:r>
              <a:rPr lang="pl-PL" sz="2400" b="1" i="0" u="none" strike="noStrike" kern="1200" dirty="0" err="1">
                <a:solidFill>
                  <a:srgbClr val="FF0000"/>
                </a:solidFill>
                <a:effectLst>
                  <a:outerShdw blurRad="38100" dist="38100" dir="2700000" algn="tl">
                    <a:srgbClr val="000000">
                      <a:alpha val="43137"/>
                    </a:srgbClr>
                  </a:outerShdw>
                </a:effectLst>
                <a:latin typeface="Aptos" panose="020B0004020202020204" pitchFamily="34" charset="0"/>
              </a:rPr>
              <a:t>stock</a:t>
            </a:r>
            <a:r>
              <a:rPr lang="pl-PL" sz="24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 </a:t>
            </a:r>
            <a:r>
              <a:rPr lang="pl-PL" sz="2400" b="1" i="0" u="none" strike="noStrike" kern="1200" dirty="0" err="1">
                <a:solidFill>
                  <a:srgbClr val="FF0000"/>
                </a:solidFill>
                <a:effectLst>
                  <a:outerShdw blurRad="38100" dist="38100" dir="2700000" algn="tl">
                    <a:srgbClr val="000000">
                      <a:alpha val="43137"/>
                    </a:srgbClr>
                  </a:outerShdw>
                </a:effectLst>
                <a:latin typeface="Aptos" panose="020B0004020202020204" pitchFamily="34" charset="0"/>
              </a:rPr>
              <a:t>company</a:t>
            </a:r>
            <a:endParaRPr lang="pl-PL" sz="2400" b="0" i="0" u="none" strike="noStrike" dirty="0">
              <a:solidFill>
                <a:srgbClr val="FF0000"/>
              </a:solidFill>
              <a:effectLst>
                <a:outerShdw blurRad="38100" dist="38100" dir="2700000" algn="tl">
                  <a:srgbClr val="000000">
                    <a:alpha val="43137"/>
                  </a:srgbClr>
                </a:outerShdw>
              </a:effectLst>
              <a:latin typeface="Arial" panose="020B0604020202020204" pitchFamily="34" charset="0"/>
            </a:endParaRPr>
          </a:p>
          <a:p>
            <a:pPr fontAlgn="ctr"/>
            <a:r>
              <a:rPr lang="en-US" sz="24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The company has a legal personality and full rights and obligations separate to those of its shareholders. It may carry out all legal actions in its own name, including any in-court or out-of-court procedures.</a:t>
            </a:r>
            <a:endParaRPr lang="pl-PL" sz="24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pPr marL="0" indent="0" algn="l" rtl="0" eaLnBrk="1" fontAlgn="ctr" latinLnBrk="0" hangingPunct="1">
              <a:buNone/>
            </a:pPr>
            <a:r>
              <a:rPr lang="pl-PL" sz="24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Joint-</a:t>
            </a:r>
            <a:r>
              <a:rPr lang="pl-PL" sz="2400" b="1" i="0" u="none" strike="noStrike" kern="1200" dirty="0" err="1">
                <a:solidFill>
                  <a:srgbClr val="FF0000"/>
                </a:solidFill>
                <a:effectLst>
                  <a:outerShdw blurRad="38100" dist="38100" dir="2700000" algn="tl">
                    <a:srgbClr val="000000">
                      <a:alpha val="43137"/>
                    </a:srgbClr>
                  </a:outerShdw>
                </a:effectLst>
                <a:latin typeface="Aptos" panose="020B0004020202020204" pitchFamily="34" charset="0"/>
              </a:rPr>
              <a:t>stock</a:t>
            </a:r>
            <a:r>
              <a:rPr lang="pl-PL" sz="2400" b="1" i="0" u="none" strike="noStrike" kern="1200" dirty="0">
                <a:solidFill>
                  <a:srgbClr val="FF0000"/>
                </a:solidFill>
                <a:effectLst>
                  <a:outerShdw blurRad="38100" dist="38100" dir="2700000" algn="tl">
                    <a:srgbClr val="000000">
                      <a:alpha val="43137"/>
                    </a:srgbClr>
                  </a:outerShdw>
                </a:effectLst>
                <a:latin typeface="Aptos" panose="020B0004020202020204" pitchFamily="34" charset="0"/>
              </a:rPr>
              <a:t> </a:t>
            </a:r>
            <a:r>
              <a:rPr lang="pl-PL" sz="2400" b="1" i="0" u="none" strike="noStrike" kern="1200" dirty="0" err="1">
                <a:solidFill>
                  <a:srgbClr val="FF0000"/>
                </a:solidFill>
                <a:effectLst>
                  <a:outerShdw blurRad="38100" dist="38100" dir="2700000" algn="tl">
                    <a:srgbClr val="000000">
                      <a:alpha val="43137"/>
                    </a:srgbClr>
                  </a:outerShdw>
                </a:effectLst>
                <a:latin typeface="Aptos" panose="020B0004020202020204" pitchFamily="34" charset="0"/>
              </a:rPr>
              <a:t>company</a:t>
            </a:r>
            <a:endParaRPr lang="pl-PL" sz="2400" b="0" i="0" u="none" strike="noStrike" dirty="0">
              <a:solidFill>
                <a:srgbClr val="FF0000"/>
              </a:solidFill>
              <a:effectLst>
                <a:outerShdw blurRad="38100" dist="38100" dir="2700000" algn="tl">
                  <a:srgbClr val="000000">
                    <a:alpha val="43137"/>
                  </a:srgbClr>
                </a:outerShdw>
              </a:effectLst>
              <a:latin typeface="Arial" panose="020B0604020202020204" pitchFamily="34" charset="0"/>
            </a:endParaRPr>
          </a:p>
          <a:p>
            <a:pPr marL="0" algn="l" rtl="0" eaLnBrk="1" fontAlgn="ctr" latinLnBrk="0" hangingPunct="1"/>
            <a:r>
              <a:rPr lang="en-US" sz="2400" b="0" i="0" u="none" strike="noStrike" kern="1200" dirty="0">
                <a:solidFill>
                  <a:srgbClr val="002060"/>
                </a:solidFill>
                <a:effectLst>
                  <a:outerShdw blurRad="38100" dist="38100" dir="2700000" algn="tl">
                    <a:srgbClr val="000000">
                      <a:alpha val="43137"/>
                    </a:srgbClr>
                  </a:outerShdw>
                </a:effectLst>
                <a:latin typeface="Aptos" panose="020B0004020202020204" pitchFamily="34" charset="0"/>
              </a:rPr>
              <a:t>Yes. The company has a legal personality and full rights and obligations separate to those of its shareholders. It may carry out all legal actions in its own name, including any in-court or out-of-court procedures.</a:t>
            </a:r>
            <a:endParaRPr lang="pl-PL" sz="2400" b="0" i="0" u="none" strike="noStrike" dirty="0">
              <a:solidFill>
                <a:srgbClr val="002060"/>
              </a:solidFill>
              <a:effectLst>
                <a:outerShdw blurRad="38100" dist="38100" dir="2700000" algn="tl">
                  <a:srgbClr val="000000">
                    <a:alpha val="43137"/>
                  </a:srgbClr>
                </a:outerShdw>
              </a:effectLst>
              <a:latin typeface="Arial" panose="020B0604020202020204" pitchFamily="34" charset="0"/>
            </a:endParaRPr>
          </a:p>
          <a:p>
            <a:endParaRPr lang="pl-PL" dirty="0"/>
          </a:p>
        </p:txBody>
      </p:sp>
    </p:spTree>
    <p:extLst>
      <p:ext uri="{BB962C8B-B14F-4D97-AF65-F5344CB8AC3E}">
        <p14:creationId xmlns:p14="http://schemas.microsoft.com/office/powerpoint/2010/main" val="189181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557C160-60CF-658D-867B-580BB62AFA35}"/>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Liability</a:t>
            </a:r>
            <a:r>
              <a:rPr lang="pl-PL" dirty="0">
                <a:solidFill>
                  <a:srgbClr val="002060"/>
                </a:solidFill>
                <a:effectLst>
                  <a:outerShdw blurRad="38100" dist="38100" dir="2700000" algn="tl">
                    <a:srgbClr val="000000">
                      <a:alpha val="43137"/>
                    </a:srgbClr>
                  </a:outerShdw>
                </a:effectLst>
              </a:rPr>
              <a:t> – </a:t>
            </a:r>
            <a:r>
              <a:rPr lang="pl-PL" dirty="0" err="1">
                <a:solidFill>
                  <a:srgbClr val="002060"/>
                </a:solidFill>
                <a:effectLst>
                  <a:outerShdw blurRad="38100" dist="38100" dir="2700000" algn="tl">
                    <a:srgbClr val="000000">
                      <a:alpha val="43137"/>
                    </a:srgbClr>
                  </a:outerShdw>
                </a:effectLst>
              </a:rPr>
              <a:t>who</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is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liable</a:t>
            </a:r>
            <a:r>
              <a:rPr lang="pl-PL" dirty="0">
                <a:solidFill>
                  <a:srgbClr val="002060"/>
                </a:solidFill>
                <a:effectLst>
                  <a:outerShdw blurRad="38100" dist="38100" dir="2700000" algn="tl">
                    <a:srgbClr val="000000">
                      <a:alpha val="43137"/>
                    </a:srgbClr>
                  </a:outerShdw>
                </a:effectLst>
              </a:rPr>
              <a:t> for business </a:t>
            </a:r>
            <a:r>
              <a:rPr lang="pl-PL" dirty="0" err="1">
                <a:solidFill>
                  <a:srgbClr val="002060"/>
                </a:solidFill>
                <a:effectLst>
                  <a:outerShdw blurRad="38100" dist="38100" dir="2700000" algn="tl">
                    <a:srgbClr val="000000">
                      <a:alpha val="43137"/>
                    </a:srgbClr>
                  </a:outerShdw>
                </a:effectLst>
              </a:rPr>
              <a:t>obligations</a:t>
            </a:r>
            <a:r>
              <a:rPr lang="pl-PL" dirty="0">
                <a:solidFill>
                  <a:srgbClr val="002060"/>
                </a:solidFill>
                <a:effectLst>
                  <a:outerShdw blurRad="38100" dist="38100" dir="2700000" algn="tl">
                    <a:srgbClr val="000000">
                      <a:alpha val="43137"/>
                    </a:srgbClr>
                  </a:outerShdw>
                </a:effectLst>
              </a:rPr>
              <a:t> (1)</a:t>
            </a:r>
          </a:p>
        </p:txBody>
      </p:sp>
      <p:graphicFrame>
        <p:nvGraphicFramePr>
          <p:cNvPr id="4" name="Symbol zastępczy zawartości 3">
            <a:extLst>
              <a:ext uri="{FF2B5EF4-FFF2-40B4-BE49-F238E27FC236}">
                <a16:creationId xmlns:a16="http://schemas.microsoft.com/office/drawing/2014/main" id="{8B403099-8950-B96C-E4EB-559C3BC305A9}"/>
              </a:ext>
            </a:extLst>
          </p:cNvPr>
          <p:cNvGraphicFramePr>
            <a:graphicFrameLocks noGrp="1"/>
          </p:cNvGraphicFramePr>
          <p:nvPr>
            <p:ph idx="1"/>
            <p:extLst>
              <p:ext uri="{D42A27DB-BD31-4B8C-83A1-F6EECF244321}">
                <p14:modId xmlns:p14="http://schemas.microsoft.com/office/powerpoint/2010/main" val="2660329692"/>
              </p:ext>
            </p:extLst>
          </p:nvPr>
        </p:nvGraphicFramePr>
        <p:xfrm>
          <a:off x="838200" y="1690688"/>
          <a:ext cx="10515600" cy="5093569"/>
        </p:xfrm>
        <a:graphic>
          <a:graphicData uri="http://schemas.openxmlformats.org/drawingml/2006/table">
            <a:tbl>
              <a:tblPr/>
              <a:tblGrid>
                <a:gridCol w="5257800">
                  <a:extLst>
                    <a:ext uri="{9D8B030D-6E8A-4147-A177-3AD203B41FA5}">
                      <a16:colId xmlns:a16="http://schemas.microsoft.com/office/drawing/2014/main" val="406130913"/>
                    </a:ext>
                  </a:extLst>
                </a:gridCol>
                <a:gridCol w="5257800">
                  <a:extLst>
                    <a:ext uri="{9D8B030D-6E8A-4147-A177-3AD203B41FA5}">
                      <a16:colId xmlns:a16="http://schemas.microsoft.com/office/drawing/2014/main" val="792501352"/>
                    </a:ext>
                  </a:extLst>
                </a:gridCol>
              </a:tblGrid>
              <a:tr h="1152117">
                <a:tc>
                  <a:txBody>
                    <a:bodyPr/>
                    <a:lstStyle/>
                    <a:p>
                      <a:r>
                        <a:rPr lang="pl-PL" sz="2400" b="1" dirty="0">
                          <a:solidFill>
                            <a:srgbClr val="002060"/>
                          </a:solidFill>
                          <a:effectLst>
                            <a:outerShdw blurRad="38100" dist="38100" dir="2700000" algn="tl">
                              <a:srgbClr val="000000">
                                <a:alpha val="43137"/>
                              </a:srgbClr>
                            </a:outerShdw>
                          </a:effectLst>
                        </a:rPr>
                        <a:t>One-person business </a:t>
                      </a:r>
                      <a:r>
                        <a:rPr lang="pl-PL" sz="2400" b="1" dirty="0" err="1">
                          <a:solidFill>
                            <a:srgbClr val="002060"/>
                          </a:solidFill>
                          <a:effectLst>
                            <a:outerShdw blurRad="38100" dist="38100" dir="2700000" algn="tl">
                              <a:srgbClr val="000000">
                                <a:alpha val="43137"/>
                              </a:srgbClr>
                            </a:outerShdw>
                          </a:effectLst>
                        </a:rPr>
                        <a:t>activity</a:t>
                      </a:r>
                      <a:endParaRPr lang="pl-PL" sz="2400" dirty="0">
                        <a:solidFill>
                          <a:srgbClr val="00206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a:noFill/>
                    </a:lnT>
                    <a:lnB w="7620" cap="flat" cmpd="sng" algn="ctr">
                      <a:solidFill>
                        <a:srgbClr val="E3E3E3"/>
                      </a:solidFill>
                      <a:prstDash val="solid"/>
                      <a:round/>
                      <a:headEnd type="none" w="med" len="med"/>
                      <a:tailEnd type="none" w="med" len="med"/>
                    </a:lnB>
                    <a:solidFill>
                      <a:srgbClr val="FFFFFF"/>
                    </a:solidFill>
                  </a:tcPr>
                </a:tc>
                <a:tc>
                  <a:txBody>
                    <a:bodyPr/>
                    <a:lstStyle/>
                    <a:p>
                      <a:r>
                        <a:rPr lang="en-US" sz="2400">
                          <a:solidFill>
                            <a:srgbClr val="002060"/>
                          </a:solidFill>
                          <a:effectLst>
                            <a:outerShdw blurRad="38100" dist="38100" dir="2700000" algn="tl">
                              <a:srgbClr val="000000">
                                <a:alpha val="43137"/>
                              </a:srgbClr>
                            </a:outerShdw>
                          </a:effectLst>
                        </a:rPr>
                        <a:t>The natural person conducting the business activity.</a:t>
                      </a:r>
                    </a:p>
                  </a:txBody>
                  <a:tcPr marL="76200" marR="76200" marT="76200" marB="60960" anchor="ctr">
                    <a:lnL w="7620" cap="flat" cmpd="sng" algn="ctr">
                      <a:solidFill>
                        <a:srgbClr val="E3E3E3"/>
                      </a:solidFill>
                      <a:prstDash val="solid"/>
                      <a:round/>
                      <a:headEnd type="none" w="med" len="med"/>
                      <a:tailEnd type="none" w="med" len="med"/>
                    </a:lnL>
                    <a:lnR>
                      <a:noFill/>
                    </a:lnR>
                    <a:lnT>
                      <a:noFill/>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270515015"/>
                  </a:ext>
                </a:extLst>
              </a:tr>
              <a:tr h="667015">
                <a:tc>
                  <a:txBody>
                    <a:bodyPr/>
                    <a:lstStyle/>
                    <a:p>
                      <a:r>
                        <a:rPr lang="pl-PL" sz="2400" b="1">
                          <a:solidFill>
                            <a:srgbClr val="002060"/>
                          </a:solidFill>
                          <a:effectLst>
                            <a:outerShdw blurRad="38100" dist="38100" dir="2700000" algn="tl">
                              <a:srgbClr val="000000">
                                <a:alpha val="43137"/>
                              </a:srgbClr>
                            </a:outerShdw>
                          </a:effectLst>
                        </a:rPr>
                        <a:t>Civil law partnership</a:t>
                      </a:r>
                      <a:endParaRPr lang="pl-PL" sz="2400">
                        <a:solidFill>
                          <a:srgbClr val="00206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2400">
                          <a:solidFill>
                            <a:srgbClr val="002060"/>
                          </a:solidFill>
                          <a:effectLst>
                            <a:outerShdw blurRad="38100" dist="38100" dir="2700000" algn="tl">
                              <a:srgbClr val="000000">
                                <a:alpha val="43137"/>
                              </a:srgbClr>
                            </a:outerShdw>
                          </a:effectLst>
                        </a:rPr>
                        <a:t>The partners of the partnership.</a:t>
                      </a:r>
                    </a:p>
                  </a:txBody>
                  <a:tcPr marL="76200" marR="76200" marT="76200" marB="60960"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783072193"/>
                  </a:ext>
                </a:extLst>
              </a:tr>
              <a:tr h="667015">
                <a:tc>
                  <a:txBody>
                    <a:bodyPr/>
                    <a:lstStyle/>
                    <a:p>
                      <a:r>
                        <a:rPr lang="pl-PL" sz="2400" b="1" dirty="0">
                          <a:solidFill>
                            <a:srgbClr val="002060"/>
                          </a:solidFill>
                          <a:effectLst>
                            <a:outerShdw blurRad="38100" dist="38100" dir="2700000" algn="tl">
                              <a:srgbClr val="000000">
                                <a:alpha val="43137"/>
                              </a:srgbClr>
                            </a:outerShdw>
                          </a:effectLst>
                        </a:rPr>
                        <a:t>General </a:t>
                      </a:r>
                      <a:r>
                        <a:rPr lang="pl-PL" sz="2400" b="1" dirty="0" err="1">
                          <a:solidFill>
                            <a:srgbClr val="002060"/>
                          </a:solidFill>
                          <a:effectLst>
                            <a:outerShdw blurRad="38100" dist="38100" dir="2700000" algn="tl">
                              <a:srgbClr val="000000">
                                <a:alpha val="43137"/>
                              </a:srgbClr>
                            </a:outerShdw>
                          </a:effectLst>
                        </a:rPr>
                        <a:t>partnership</a:t>
                      </a:r>
                      <a:endParaRPr lang="pl-PL" sz="2400" dirty="0">
                        <a:solidFill>
                          <a:srgbClr val="00206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2400">
                          <a:solidFill>
                            <a:srgbClr val="002060"/>
                          </a:solidFill>
                          <a:effectLst>
                            <a:outerShdw blurRad="38100" dist="38100" dir="2700000" algn="tl">
                              <a:srgbClr val="000000">
                                <a:alpha val="43137"/>
                              </a:srgbClr>
                            </a:outerShdw>
                          </a:effectLst>
                        </a:rPr>
                        <a:t>The partnership and its partners.</a:t>
                      </a:r>
                    </a:p>
                  </a:txBody>
                  <a:tcPr marL="76200" marR="76200" marT="76200" marB="60960"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513783412"/>
                  </a:ext>
                </a:extLst>
              </a:tr>
              <a:tr h="2607422">
                <a:tc>
                  <a:txBody>
                    <a:bodyPr/>
                    <a:lstStyle/>
                    <a:p>
                      <a:r>
                        <a:rPr lang="pl-PL" sz="2400" b="1">
                          <a:solidFill>
                            <a:srgbClr val="002060"/>
                          </a:solidFill>
                          <a:effectLst>
                            <a:outerShdw blurRad="38100" dist="38100" dir="2700000" algn="tl">
                              <a:srgbClr val="000000">
                                <a:alpha val="43137"/>
                              </a:srgbClr>
                            </a:outerShdw>
                          </a:effectLst>
                        </a:rPr>
                        <a:t>Professional partnership</a:t>
                      </a:r>
                      <a:endParaRPr lang="pl-PL" sz="2400">
                        <a:solidFill>
                          <a:srgbClr val="00206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2400" dirty="0">
                          <a:solidFill>
                            <a:srgbClr val="002060"/>
                          </a:solidFill>
                          <a:effectLst>
                            <a:outerShdw blurRad="38100" dist="38100" dir="2700000" algn="tl">
                              <a:srgbClr val="000000">
                                <a:alpha val="43137"/>
                              </a:srgbClr>
                            </a:outerShdw>
                          </a:effectLst>
                        </a:rPr>
                        <a:t>The partnership and its partners.</a:t>
                      </a:r>
                      <a:endParaRPr lang="pl-PL" sz="2400" dirty="0">
                        <a:solidFill>
                          <a:srgbClr val="002060"/>
                        </a:solidFill>
                        <a:effectLst>
                          <a:outerShdw blurRad="38100" dist="38100" dir="2700000" algn="tl">
                            <a:srgbClr val="000000">
                              <a:alpha val="43137"/>
                            </a:srgbClr>
                          </a:outerShdw>
                        </a:effectLst>
                      </a:endParaRPr>
                    </a:p>
                    <a:p>
                      <a:r>
                        <a:rPr lang="en-US" sz="2400" dirty="0">
                          <a:solidFill>
                            <a:srgbClr val="002060"/>
                          </a:solidFill>
                          <a:effectLst>
                            <a:outerShdw blurRad="38100" dist="38100" dir="2700000" algn="tl">
                              <a:srgbClr val="000000">
                                <a:alpha val="43137"/>
                              </a:srgbClr>
                            </a:outerShdw>
                          </a:effectLst>
                        </a:rPr>
                        <a:t> </a:t>
                      </a:r>
                      <a:r>
                        <a:rPr lang="en-US" sz="2400" b="1" dirty="0">
                          <a:solidFill>
                            <a:srgbClr val="FF0000"/>
                          </a:solidFill>
                          <a:effectLst>
                            <a:outerShdw blurRad="38100" dist="38100" dir="2700000" algn="tl">
                              <a:srgbClr val="000000">
                                <a:alpha val="43137"/>
                              </a:srgbClr>
                            </a:outerShdw>
                          </a:effectLst>
                        </a:rPr>
                        <a:t>A partner is not liable </a:t>
                      </a:r>
                      <a:r>
                        <a:rPr lang="en-US" sz="2400" dirty="0">
                          <a:solidFill>
                            <a:srgbClr val="002060"/>
                          </a:solidFill>
                          <a:effectLst>
                            <a:outerShdw blurRad="38100" dist="38100" dir="2700000" algn="tl">
                              <a:srgbClr val="000000">
                                <a:alpha val="43137"/>
                              </a:srgbClr>
                            </a:outerShdw>
                          </a:effectLst>
                        </a:rPr>
                        <a:t>for debts and obligations </a:t>
                      </a:r>
                      <a:r>
                        <a:rPr lang="pl-PL" sz="2400" dirty="0" err="1">
                          <a:solidFill>
                            <a:srgbClr val="002060"/>
                          </a:solidFill>
                          <a:effectLst>
                            <a:outerShdw blurRad="38100" dist="38100" dir="2700000" algn="tl">
                              <a:srgbClr val="000000">
                                <a:alpha val="43137"/>
                              </a:srgbClr>
                            </a:outerShdw>
                          </a:effectLst>
                        </a:rPr>
                        <a:t>that</a:t>
                      </a:r>
                      <a:r>
                        <a:rPr lang="en-US" sz="2400" dirty="0">
                          <a:solidFill>
                            <a:srgbClr val="002060"/>
                          </a:solidFill>
                          <a:effectLst>
                            <a:outerShdw blurRad="38100" dist="38100" dir="2700000" algn="tl">
                              <a:srgbClr val="000000">
                                <a:alpha val="43137"/>
                              </a:srgbClr>
                            </a:outerShdw>
                          </a:effectLst>
                        </a:rPr>
                        <a:t> arise in connection with the exercise of a liberal profession by another partner in the partnership.</a:t>
                      </a:r>
                    </a:p>
                  </a:txBody>
                  <a:tcPr marL="76200" marR="76200" marT="76200" marB="60960"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32881825"/>
                  </a:ext>
                </a:extLst>
              </a:tr>
            </a:tbl>
          </a:graphicData>
        </a:graphic>
      </p:graphicFrame>
    </p:spTree>
    <p:extLst>
      <p:ext uri="{BB962C8B-B14F-4D97-AF65-F5344CB8AC3E}">
        <p14:creationId xmlns:p14="http://schemas.microsoft.com/office/powerpoint/2010/main" val="2803502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62C3858-B095-8484-7A72-FEF7D7F7A25E}"/>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Liability</a:t>
            </a:r>
            <a:r>
              <a:rPr lang="pl-PL" dirty="0">
                <a:solidFill>
                  <a:srgbClr val="002060"/>
                </a:solidFill>
                <a:effectLst>
                  <a:outerShdw blurRad="38100" dist="38100" dir="2700000" algn="tl">
                    <a:srgbClr val="000000">
                      <a:alpha val="43137"/>
                    </a:srgbClr>
                  </a:outerShdw>
                </a:effectLst>
              </a:rPr>
              <a:t> – </a:t>
            </a:r>
            <a:r>
              <a:rPr lang="pl-PL" dirty="0" err="1">
                <a:solidFill>
                  <a:srgbClr val="002060"/>
                </a:solidFill>
                <a:effectLst>
                  <a:outerShdw blurRad="38100" dist="38100" dir="2700000" algn="tl">
                    <a:srgbClr val="000000">
                      <a:alpha val="43137"/>
                    </a:srgbClr>
                  </a:outerShdw>
                </a:effectLst>
              </a:rPr>
              <a:t>who</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is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liable</a:t>
            </a:r>
            <a:r>
              <a:rPr lang="pl-PL" dirty="0">
                <a:solidFill>
                  <a:srgbClr val="002060"/>
                </a:solidFill>
                <a:effectLst>
                  <a:outerShdw blurRad="38100" dist="38100" dir="2700000" algn="tl">
                    <a:srgbClr val="000000">
                      <a:alpha val="43137"/>
                    </a:srgbClr>
                  </a:outerShdw>
                </a:effectLst>
              </a:rPr>
              <a:t> for business’ </a:t>
            </a:r>
            <a:r>
              <a:rPr lang="pl-PL" dirty="0" err="1">
                <a:solidFill>
                  <a:srgbClr val="002060"/>
                </a:solidFill>
                <a:effectLst>
                  <a:outerShdw blurRad="38100" dist="38100" dir="2700000" algn="tl">
                    <a:srgbClr val="000000">
                      <a:alpha val="43137"/>
                    </a:srgbClr>
                  </a:outerShdw>
                </a:effectLst>
              </a:rPr>
              <a:t>obligations</a:t>
            </a:r>
            <a:r>
              <a:rPr lang="pl-PL" dirty="0">
                <a:solidFill>
                  <a:srgbClr val="002060"/>
                </a:solidFill>
                <a:effectLst>
                  <a:outerShdw blurRad="38100" dist="38100" dir="2700000" algn="tl">
                    <a:srgbClr val="000000">
                      <a:alpha val="43137"/>
                    </a:srgbClr>
                  </a:outerShdw>
                </a:effectLst>
              </a:rPr>
              <a:t> (2)</a:t>
            </a:r>
          </a:p>
        </p:txBody>
      </p:sp>
      <p:graphicFrame>
        <p:nvGraphicFramePr>
          <p:cNvPr id="4" name="Symbol zastępczy zawartości 3">
            <a:extLst>
              <a:ext uri="{FF2B5EF4-FFF2-40B4-BE49-F238E27FC236}">
                <a16:creationId xmlns:a16="http://schemas.microsoft.com/office/drawing/2014/main" id="{C8993AB9-DEBC-99D0-2DBE-908C3AC8F41B}"/>
              </a:ext>
            </a:extLst>
          </p:cNvPr>
          <p:cNvGraphicFramePr>
            <a:graphicFrameLocks noGrp="1"/>
          </p:cNvGraphicFramePr>
          <p:nvPr>
            <p:ph idx="1"/>
            <p:extLst>
              <p:ext uri="{D42A27DB-BD31-4B8C-83A1-F6EECF244321}">
                <p14:modId xmlns:p14="http://schemas.microsoft.com/office/powerpoint/2010/main" val="2508348120"/>
              </p:ext>
            </p:extLst>
          </p:nvPr>
        </p:nvGraphicFramePr>
        <p:xfrm>
          <a:off x="838200" y="1877961"/>
          <a:ext cx="10515600" cy="5702508"/>
        </p:xfrm>
        <a:graphic>
          <a:graphicData uri="http://schemas.openxmlformats.org/drawingml/2006/table">
            <a:tbl>
              <a:tblPr/>
              <a:tblGrid>
                <a:gridCol w="5257800">
                  <a:extLst>
                    <a:ext uri="{9D8B030D-6E8A-4147-A177-3AD203B41FA5}">
                      <a16:colId xmlns:a16="http://schemas.microsoft.com/office/drawing/2014/main" val="3930446569"/>
                    </a:ext>
                  </a:extLst>
                </a:gridCol>
                <a:gridCol w="5257800">
                  <a:extLst>
                    <a:ext uri="{9D8B030D-6E8A-4147-A177-3AD203B41FA5}">
                      <a16:colId xmlns:a16="http://schemas.microsoft.com/office/drawing/2014/main" val="3204688654"/>
                    </a:ext>
                  </a:extLst>
                </a:gridCol>
              </a:tblGrid>
              <a:tr h="725274">
                <a:tc>
                  <a:txBody>
                    <a:bodyPr/>
                    <a:lstStyle/>
                    <a:p>
                      <a:r>
                        <a:rPr lang="pl-PL" sz="2800" b="1" dirty="0">
                          <a:solidFill>
                            <a:srgbClr val="002060"/>
                          </a:solidFill>
                          <a:effectLst>
                            <a:outerShdw blurRad="38100" dist="38100" dir="2700000" algn="tl">
                              <a:srgbClr val="000000">
                                <a:alpha val="43137"/>
                              </a:srgbClr>
                            </a:outerShdw>
                          </a:effectLst>
                        </a:rPr>
                        <a:t>Limited </a:t>
                      </a:r>
                      <a:r>
                        <a:rPr lang="pl-PL" sz="2800" b="1" dirty="0" err="1">
                          <a:solidFill>
                            <a:srgbClr val="002060"/>
                          </a:solidFill>
                          <a:effectLst>
                            <a:outerShdw blurRad="38100" dist="38100" dir="2700000" algn="tl">
                              <a:srgbClr val="000000">
                                <a:alpha val="43137"/>
                              </a:srgbClr>
                            </a:outerShdw>
                          </a:effectLst>
                        </a:rPr>
                        <a:t>partnership</a:t>
                      </a:r>
                      <a:endParaRPr lang="pl-PL" sz="2800" dirty="0">
                        <a:solidFill>
                          <a:srgbClr val="00206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a:noFill/>
                    </a:lnT>
                    <a:lnB w="7620" cap="flat" cmpd="sng" algn="ctr">
                      <a:solidFill>
                        <a:srgbClr val="E3E3E3"/>
                      </a:solidFill>
                      <a:prstDash val="solid"/>
                      <a:round/>
                      <a:headEnd type="none" w="med" len="med"/>
                      <a:tailEnd type="none" w="med" len="med"/>
                    </a:lnB>
                    <a:solidFill>
                      <a:srgbClr val="FFFFFF"/>
                    </a:solidFill>
                  </a:tcPr>
                </a:tc>
                <a:tc>
                  <a:txBody>
                    <a:bodyPr/>
                    <a:lstStyle/>
                    <a:p>
                      <a:r>
                        <a:rPr lang="en-US" sz="2800">
                          <a:solidFill>
                            <a:srgbClr val="002060"/>
                          </a:solidFill>
                          <a:effectLst>
                            <a:outerShdw blurRad="38100" dist="38100" dir="2700000" algn="tl">
                              <a:srgbClr val="000000">
                                <a:alpha val="43137"/>
                              </a:srgbClr>
                            </a:outerShdw>
                          </a:effectLst>
                        </a:rPr>
                        <a:t>The partnership and its partners.</a:t>
                      </a:r>
                    </a:p>
                  </a:txBody>
                  <a:tcPr marL="76200" marR="76200" marT="76200" marB="60960" anchor="ctr">
                    <a:lnL w="7620" cap="flat" cmpd="sng" algn="ctr">
                      <a:solidFill>
                        <a:srgbClr val="E3E3E3"/>
                      </a:solidFill>
                      <a:prstDash val="solid"/>
                      <a:round/>
                      <a:headEnd type="none" w="med" len="med"/>
                      <a:tailEnd type="none" w="med" len="med"/>
                    </a:lnL>
                    <a:lnR>
                      <a:noFill/>
                    </a:lnR>
                    <a:lnT>
                      <a:noFill/>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873401557"/>
                  </a:ext>
                </a:extLst>
              </a:tr>
              <a:tr h="725274">
                <a:tc>
                  <a:txBody>
                    <a:bodyPr/>
                    <a:lstStyle/>
                    <a:p>
                      <a:r>
                        <a:rPr lang="pl-PL" sz="2800" b="1" dirty="0" err="1">
                          <a:solidFill>
                            <a:srgbClr val="002060"/>
                          </a:solidFill>
                          <a:effectLst>
                            <a:outerShdw blurRad="38100" dist="38100" dir="2700000" algn="tl">
                              <a:srgbClr val="000000">
                                <a:alpha val="43137"/>
                              </a:srgbClr>
                            </a:outerShdw>
                          </a:effectLst>
                        </a:rPr>
                        <a:t>Partnership</a:t>
                      </a:r>
                      <a:r>
                        <a:rPr lang="pl-PL" sz="2800" b="1" dirty="0">
                          <a:solidFill>
                            <a:srgbClr val="002060"/>
                          </a:solidFill>
                          <a:effectLst>
                            <a:outerShdw blurRad="38100" dist="38100" dir="2700000" algn="tl">
                              <a:srgbClr val="000000">
                                <a:alpha val="43137"/>
                              </a:srgbClr>
                            </a:outerShdw>
                          </a:effectLst>
                        </a:rPr>
                        <a:t> </a:t>
                      </a:r>
                      <a:r>
                        <a:rPr lang="pl-PL" sz="2800" b="1" dirty="0" err="1">
                          <a:solidFill>
                            <a:srgbClr val="002060"/>
                          </a:solidFill>
                          <a:effectLst>
                            <a:outerShdw blurRad="38100" dist="38100" dir="2700000" algn="tl">
                              <a:srgbClr val="000000">
                                <a:alpha val="43137"/>
                              </a:srgbClr>
                            </a:outerShdw>
                          </a:effectLst>
                        </a:rPr>
                        <a:t>limited</a:t>
                      </a:r>
                      <a:r>
                        <a:rPr lang="pl-PL" sz="2800" b="1" dirty="0">
                          <a:solidFill>
                            <a:srgbClr val="002060"/>
                          </a:solidFill>
                          <a:effectLst>
                            <a:outerShdw blurRad="38100" dist="38100" dir="2700000" algn="tl">
                              <a:srgbClr val="000000">
                                <a:alpha val="43137"/>
                              </a:srgbClr>
                            </a:outerShdw>
                          </a:effectLst>
                        </a:rPr>
                        <a:t> by </a:t>
                      </a:r>
                      <a:r>
                        <a:rPr lang="pl-PL" sz="2800" b="1" dirty="0" err="1">
                          <a:solidFill>
                            <a:srgbClr val="002060"/>
                          </a:solidFill>
                          <a:effectLst>
                            <a:outerShdw blurRad="38100" dist="38100" dir="2700000" algn="tl">
                              <a:srgbClr val="000000">
                                <a:alpha val="43137"/>
                              </a:srgbClr>
                            </a:outerShdw>
                          </a:effectLst>
                        </a:rPr>
                        <a:t>shares</a:t>
                      </a:r>
                      <a:endParaRPr lang="pl-PL" sz="2800" dirty="0">
                        <a:solidFill>
                          <a:srgbClr val="00206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2800" b="1" dirty="0">
                          <a:solidFill>
                            <a:srgbClr val="FF0000"/>
                          </a:solidFill>
                          <a:effectLst>
                            <a:outerShdw blurRad="38100" dist="38100" dir="2700000" algn="tl">
                              <a:srgbClr val="000000">
                                <a:alpha val="43137"/>
                              </a:srgbClr>
                            </a:outerShdw>
                          </a:effectLst>
                        </a:rPr>
                        <a:t>The partnership and its general</a:t>
                      </a:r>
                      <a:r>
                        <a:rPr lang="pl-PL" sz="2800" b="1" dirty="0">
                          <a:solidFill>
                            <a:srgbClr val="FF0000"/>
                          </a:solidFill>
                          <a:effectLst>
                            <a:outerShdw blurRad="38100" dist="38100" dir="2700000" algn="tl">
                              <a:srgbClr val="000000">
                                <a:alpha val="43137"/>
                              </a:srgbClr>
                            </a:outerShdw>
                          </a:effectLst>
                        </a:rPr>
                        <a:t> (</a:t>
                      </a:r>
                      <a:r>
                        <a:rPr lang="pl-PL" sz="2800" b="1" dirty="0" err="1">
                          <a:solidFill>
                            <a:srgbClr val="FF0000"/>
                          </a:solidFill>
                          <a:effectLst>
                            <a:outerShdw blurRad="38100" dist="38100" dir="2700000" algn="tl">
                              <a:srgbClr val="000000">
                                <a:alpha val="43137"/>
                              </a:srgbClr>
                            </a:outerShdw>
                          </a:effectLst>
                        </a:rPr>
                        <a:t>unlimited</a:t>
                      </a:r>
                      <a:r>
                        <a:rPr lang="pl-PL" sz="2800" b="1" dirty="0">
                          <a:solidFill>
                            <a:srgbClr val="FF0000"/>
                          </a:solidFill>
                          <a:effectLst>
                            <a:outerShdw blurRad="38100" dist="38100" dir="2700000" algn="tl">
                              <a:srgbClr val="000000">
                                <a:alpha val="43137"/>
                              </a:srgbClr>
                            </a:outerShdw>
                          </a:effectLst>
                        </a:rPr>
                        <a:t>)</a:t>
                      </a:r>
                      <a:r>
                        <a:rPr lang="en-US" sz="2800" b="1" dirty="0">
                          <a:solidFill>
                            <a:srgbClr val="FF0000"/>
                          </a:solidFill>
                          <a:effectLst>
                            <a:outerShdw blurRad="38100" dist="38100" dir="2700000" algn="tl">
                              <a:srgbClr val="000000">
                                <a:alpha val="43137"/>
                              </a:srgbClr>
                            </a:outerShdw>
                          </a:effectLst>
                        </a:rPr>
                        <a:t> partners.</a:t>
                      </a:r>
                    </a:p>
                  </a:txBody>
                  <a:tcPr marL="76200" marR="76200" marT="76200" marB="60960"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324321033"/>
                  </a:ext>
                </a:extLst>
              </a:tr>
              <a:tr h="1208789">
                <a:tc>
                  <a:txBody>
                    <a:bodyPr/>
                    <a:lstStyle/>
                    <a:p>
                      <a:r>
                        <a:rPr lang="pl-PL" sz="2800" b="1" dirty="0">
                          <a:solidFill>
                            <a:srgbClr val="002060"/>
                          </a:solidFill>
                          <a:effectLst>
                            <a:outerShdw blurRad="38100" dist="38100" dir="2700000" algn="tl">
                              <a:srgbClr val="000000">
                                <a:alpha val="43137"/>
                              </a:srgbClr>
                            </a:outerShdw>
                          </a:effectLst>
                        </a:rPr>
                        <a:t>Limited </a:t>
                      </a:r>
                      <a:r>
                        <a:rPr lang="pl-PL" sz="2800" b="1" dirty="0" err="1">
                          <a:solidFill>
                            <a:srgbClr val="002060"/>
                          </a:solidFill>
                          <a:effectLst>
                            <a:outerShdw blurRad="38100" dist="38100" dir="2700000" algn="tl">
                              <a:srgbClr val="000000">
                                <a:alpha val="43137"/>
                              </a:srgbClr>
                            </a:outerShdw>
                          </a:effectLst>
                        </a:rPr>
                        <a:t>liability</a:t>
                      </a:r>
                      <a:r>
                        <a:rPr lang="pl-PL" sz="2800" b="1" dirty="0">
                          <a:solidFill>
                            <a:srgbClr val="002060"/>
                          </a:solidFill>
                          <a:effectLst>
                            <a:outerShdw blurRad="38100" dist="38100" dir="2700000" algn="tl">
                              <a:srgbClr val="000000">
                                <a:alpha val="43137"/>
                              </a:srgbClr>
                            </a:outerShdw>
                          </a:effectLst>
                        </a:rPr>
                        <a:t> </a:t>
                      </a:r>
                      <a:r>
                        <a:rPr lang="pl-PL" sz="2800" b="1" dirty="0" err="1">
                          <a:solidFill>
                            <a:srgbClr val="002060"/>
                          </a:solidFill>
                          <a:effectLst>
                            <a:outerShdw blurRad="38100" dist="38100" dir="2700000" algn="tl">
                              <a:srgbClr val="000000">
                                <a:alpha val="43137"/>
                              </a:srgbClr>
                            </a:outerShdw>
                          </a:effectLst>
                        </a:rPr>
                        <a:t>company</a:t>
                      </a:r>
                      <a:endParaRPr lang="pl-PL" sz="2800" dirty="0">
                        <a:solidFill>
                          <a:srgbClr val="00206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en-US" sz="2800" dirty="0">
                          <a:solidFill>
                            <a:srgbClr val="002060"/>
                          </a:solidFill>
                          <a:effectLst>
                            <a:outerShdw blurRad="38100" dist="38100" dir="2700000" algn="tl">
                              <a:srgbClr val="000000">
                                <a:alpha val="43137"/>
                              </a:srgbClr>
                            </a:outerShdw>
                          </a:effectLst>
                        </a:rPr>
                        <a:t>The company. </a:t>
                      </a:r>
                      <a:endParaRPr lang="pl-PL" sz="2800" dirty="0">
                        <a:solidFill>
                          <a:srgbClr val="002060"/>
                        </a:solidFill>
                        <a:effectLst>
                          <a:outerShdw blurRad="38100" dist="38100" dir="2700000" algn="tl">
                            <a:srgbClr val="000000">
                              <a:alpha val="43137"/>
                            </a:srgbClr>
                          </a:outerShdw>
                        </a:effectLst>
                      </a:endParaRPr>
                    </a:p>
                    <a:p>
                      <a:r>
                        <a:rPr lang="en-US" sz="2800" b="1" dirty="0">
                          <a:solidFill>
                            <a:srgbClr val="FF0000"/>
                          </a:solidFill>
                          <a:effectLst>
                            <a:outerShdw blurRad="38100" dist="38100" dir="2700000" algn="tl">
                              <a:srgbClr val="000000">
                                <a:alpha val="43137"/>
                              </a:srgbClr>
                            </a:outerShdw>
                          </a:effectLst>
                        </a:rPr>
                        <a:t>In certain situations, the management board may be liable</a:t>
                      </a:r>
                    </a:p>
                  </a:txBody>
                  <a:tcPr marL="76200" marR="76200" marT="76200" marB="60960"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219833853"/>
                  </a:ext>
                </a:extLst>
              </a:tr>
              <a:tr h="725274">
                <a:tc>
                  <a:txBody>
                    <a:bodyPr/>
                    <a:lstStyle/>
                    <a:p>
                      <a:r>
                        <a:rPr lang="pl-PL" sz="2800" b="1">
                          <a:solidFill>
                            <a:srgbClr val="002060"/>
                          </a:solidFill>
                          <a:effectLst>
                            <a:outerShdw blurRad="38100" dist="38100" dir="2700000" algn="tl">
                              <a:srgbClr val="000000">
                                <a:alpha val="43137"/>
                              </a:srgbClr>
                            </a:outerShdw>
                          </a:effectLst>
                        </a:rPr>
                        <a:t>Simple joint-stock company</a:t>
                      </a:r>
                      <a:endParaRPr lang="pl-PL" sz="2800">
                        <a:solidFill>
                          <a:srgbClr val="00206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r>
                        <a:rPr lang="pl-PL" sz="2800" dirty="0">
                          <a:solidFill>
                            <a:srgbClr val="002060"/>
                          </a:solidFill>
                          <a:effectLst>
                            <a:outerShdw blurRad="38100" dist="38100" dir="2700000" algn="tl">
                              <a:srgbClr val="000000">
                                <a:alpha val="43137"/>
                              </a:srgbClr>
                            </a:outerShdw>
                          </a:effectLst>
                        </a:rPr>
                        <a:t>The </a:t>
                      </a:r>
                      <a:r>
                        <a:rPr lang="pl-PL" sz="2800" dirty="0" err="1">
                          <a:solidFill>
                            <a:srgbClr val="002060"/>
                          </a:solidFill>
                          <a:effectLst>
                            <a:outerShdw blurRad="38100" dist="38100" dir="2700000" algn="tl">
                              <a:srgbClr val="000000">
                                <a:alpha val="43137"/>
                              </a:srgbClr>
                            </a:outerShdw>
                          </a:effectLst>
                        </a:rPr>
                        <a:t>company</a:t>
                      </a:r>
                      <a:r>
                        <a:rPr lang="pl-PL" sz="2800" dirty="0">
                          <a:solidFill>
                            <a:srgbClr val="002060"/>
                          </a:solidFill>
                          <a:effectLst>
                            <a:outerShdw blurRad="38100" dist="38100" dir="2700000" algn="tl">
                              <a:srgbClr val="000000">
                                <a:alpha val="43137"/>
                              </a:srgbClr>
                            </a:outerShdw>
                          </a:effectLst>
                        </a:rPr>
                        <a:t>.</a:t>
                      </a:r>
                    </a:p>
                  </a:txBody>
                  <a:tcPr marL="76200" marR="76200" marT="76200" marB="60960"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285548616"/>
                  </a:ext>
                </a:extLst>
              </a:tr>
              <a:tr h="725274">
                <a:tc>
                  <a:txBody>
                    <a:bodyPr/>
                    <a:lstStyle/>
                    <a:p>
                      <a:r>
                        <a:rPr lang="pl-PL" sz="2800" b="1">
                          <a:solidFill>
                            <a:srgbClr val="002060"/>
                          </a:solidFill>
                          <a:effectLst>
                            <a:outerShdw blurRad="38100" dist="38100" dir="2700000" algn="tl">
                              <a:srgbClr val="000000">
                                <a:alpha val="43137"/>
                              </a:srgbClr>
                            </a:outerShdw>
                          </a:effectLst>
                        </a:rPr>
                        <a:t>Joint-stock company</a:t>
                      </a:r>
                      <a:endParaRPr lang="pl-PL" sz="2800">
                        <a:solidFill>
                          <a:srgbClr val="002060"/>
                        </a:solidFill>
                        <a:effectLst>
                          <a:outerShdw blurRad="38100" dist="38100" dir="2700000" algn="tl">
                            <a:srgbClr val="000000">
                              <a:alpha val="43137"/>
                            </a:srgbClr>
                          </a:outerShdw>
                        </a:effectLst>
                      </a:endParaRPr>
                    </a:p>
                  </a:txBody>
                  <a:tcPr marL="76200" marR="76200" marT="76200" marB="60960" anchor="ctr">
                    <a:lnL>
                      <a:noFill/>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a:noFill/>
                    </a:lnB>
                    <a:solidFill>
                      <a:srgbClr val="FFFFFF"/>
                    </a:solidFill>
                  </a:tcPr>
                </a:tc>
                <a:tc>
                  <a:txBody>
                    <a:bodyPr/>
                    <a:lstStyle/>
                    <a:p>
                      <a:r>
                        <a:rPr lang="pl-PL" sz="2800" dirty="0">
                          <a:solidFill>
                            <a:srgbClr val="002060"/>
                          </a:solidFill>
                          <a:effectLst>
                            <a:outerShdw blurRad="38100" dist="38100" dir="2700000" algn="tl">
                              <a:srgbClr val="000000">
                                <a:alpha val="43137"/>
                              </a:srgbClr>
                            </a:outerShdw>
                          </a:effectLst>
                        </a:rPr>
                        <a:t>The </a:t>
                      </a:r>
                      <a:r>
                        <a:rPr lang="pl-PL" sz="2800" dirty="0" err="1">
                          <a:solidFill>
                            <a:srgbClr val="002060"/>
                          </a:solidFill>
                          <a:effectLst>
                            <a:outerShdw blurRad="38100" dist="38100" dir="2700000" algn="tl">
                              <a:srgbClr val="000000">
                                <a:alpha val="43137"/>
                              </a:srgbClr>
                            </a:outerShdw>
                          </a:effectLst>
                        </a:rPr>
                        <a:t>company</a:t>
                      </a:r>
                      <a:r>
                        <a:rPr lang="pl-PL" sz="2800" dirty="0">
                          <a:solidFill>
                            <a:srgbClr val="002060"/>
                          </a:solidFill>
                          <a:effectLst>
                            <a:outerShdw blurRad="38100" dist="38100" dir="2700000" algn="tl">
                              <a:srgbClr val="000000">
                                <a:alpha val="43137"/>
                              </a:srgbClr>
                            </a:outerShdw>
                          </a:effectLst>
                        </a:rPr>
                        <a:t>.</a:t>
                      </a:r>
                    </a:p>
                  </a:txBody>
                  <a:tcPr marL="76200" marR="76200" marT="76200" marB="60960" anchor="ctr">
                    <a:lnL w="7620" cap="flat" cmpd="sng" algn="ctr">
                      <a:solidFill>
                        <a:srgbClr val="E3E3E3"/>
                      </a:solidFill>
                      <a:prstDash val="solid"/>
                      <a:round/>
                      <a:headEnd type="none" w="med" len="med"/>
                      <a:tailEnd type="none" w="med" len="med"/>
                    </a:lnL>
                    <a:lnR>
                      <a:noFill/>
                    </a:lnR>
                    <a:lnT w="7620" cap="flat" cmpd="sng" algn="ctr">
                      <a:solidFill>
                        <a:srgbClr val="E3E3E3"/>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135544124"/>
                  </a:ext>
                </a:extLst>
              </a:tr>
            </a:tbl>
          </a:graphicData>
        </a:graphic>
      </p:graphicFrame>
    </p:spTree>
    <p:extLst>
      <p:ext uri="{BB962C8B-B14F-4D97-AF65-F5344CB8AC3E}">
        <p14:creationId xmlns:p14="http://schemas.microsoft.com/office/powerpoint/2010/main" val="1670588116"/>
      </p:ext>
    </p:extLst>
  </p:cSld>
  <p:clrMapOvr>
    <a:masterClrMapping/>
  </p:clrMapOvr>
</p:sld>
</file>

<file path=ppt/theme/theme1.xml><?xml version="1.0" encoding="utf-8"?>
<a:theme xmlns:a="http://schemas.openxmlformats.org/drawingml/2006/main" name="+ WZÓR prezentacja_podstawowa_ENG_16x9">
  <a:themeElements>
    <a:clrScheme name="Motyw pakietu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tyw pakietu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yw pakietu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ozminski University Prezentacja 2025_ 09">
  <a:themeElements>
    <a:clrScheme name="Kozminski colorurs">
      <a:dk1>
        <a:srgbClr val="030928"/>
      </a:dk1>
      <a:lt1>
        <a:srgbClr val="EFF2FC"/>
      </a:lt1>
      <a:dk2>
        <a:srgbClr val="030928"/>
      </a:dk2>
      <a:lt2>
        <a:srgbClr val="EFF2FC"/>
      </a:lt2>
      <a:accent1>
        <a:srgbClr val="030928"/>
      </a:accent1>
      <a:accent2>
        <a:srgbClr val="B4865E"/>
      </a:accent2>
      <a:accent3>
        <a:srgbClr val="C5A181"/>
      </a:accent3>
      <a:accent4>
        <a:srgbClr val="CFB399"/>
      </a:accent4>
      <a:accent5>
        <a:srgbClr val="DAC4B0"/>
      </a:accent5>
      <a:accent6>
        <a:srgbClr val="EBDFD5"/>
      </a:accent6>
      <a:hlink>
        <a:srgbClr val="EFF2FC"/>
      </a:hlink>
      <a:folHlink>
        <a:srgbClr val="EFF2FC"/>
      </a:folHlink>
    </a:clrScheme>
    <a:fontScheme name="Open Sans">
      <a:majorFont>
        <a:latin typeface="Open Sans Semibold"/>
        <a:ea typeface=""/>
        <a:cs typeface=""/>
      </a:majorFont>
      <a:minorFont>
        <a:latin typeface="Open Sans"/>
        <a:ea typeface=""/>
        <a:cs typeface=""/>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5D0351C22CE7E441BEC9C9B4FA111FAA" ma:contentTypeVersion="4" ma:contentTypeDescription="Utwórz nowy dokument." ma:contentTypeScope="" ma:versionID="beebdfd951f92fa956284ddfa4fd9294">
  <xsd:schema xmlns:xsd="http://www.w3.org/2001/XMLSchema" xmlns:xs="http://www.w3.org/2001/XMLSchema" xmlns:p="http://schemas.microsoft.com/office/2006/metadata/properties" xmlns:ns2="631a6e70-9f0c-41a4-a6bc-701bc4b7572b" targetNamespace="http://schemas.microsoft.com/office/2006/metadata/properties" ma:root="true" ma:fieldsID="32fb36224731cfbc9d0daf343f0f2acf" ns2:_="">
    <xsd:import namespace="631a6e70-9f0c-41a4-a6bc-701bc4b757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1a6e70-9f0c-41a4-a6bc-701bc4b757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0D04D37-6366-4B48-88C6-695F597A62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1a6e70-9f0c-41a4-a6bc-701bc4b757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5A3DDA-5D28-4613-9831-BE3B23717FBB}">
  <ds:schemaRefs>
    <ds:schemaRef ds:uri="http://schemas.microsoft.com/sharepoint/v3/contenttype/forms"/>
  </ds:schemaRefs>
</ds:datastoreItem>
</file>

<file path=customXml/itemProps3.xml><?xml version="1.0" encoding="utf-8"?>
<ds:datastoreItem xmlns:ds="http://schemas.openxmlformats.org/officeDocument/2006/customXml" ds:itemID="{FC20BED0-AAD2-4C17-896E-AE87B0C47395}">
  <ds:schemaRefs>
    <ds:schemaRef ds:uri="http://schemas.microsoft.com/office/2006/documentManagement/types"/>
    <ds:schemaRef ds:uri="http://www.w3.org/XML/1998/namespace"/>
    <ds:schemaRef ds:uri="http://purl.org/dc/dcmitype/"/>
    <ds:schemaRef ds:uri="http://schemas.openxmlformats.org/package/2006/metadata/core-properties"/>
    <ds:schemaRef ds:uri="http://purl.org/dc/elements/1.1/"/>
    <ds:schemaRef ds:uri="631a6e70-9f0c-41a4-a6bc-701bc4b7572b"/>
    <ds:schemaRef ds:uri="http://schemas.microsoft.com/office/infopath/2007/PartnerControl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1207</TotalTime>
  <Words>3512</Words>
  <Application>Microsoft Office PowerPoint</Application>
  <PresentationFormat>Panoramiczny</PresentationFormat>
  <Paragraphs>302</Paragraphs>
  <Slides>35</Slides>
  <Notes>0</Notes>
  <HiddenSlides>0</HiddenSlides>
  <MMClips>0</MMClips>
  <ScaleCrop>false</ScaleCrop>
  <HeadingPairs>
    <vt:vector size="6" baseType="variant">
      <vt:variant>
        <vt:lpstr>Używane czcionki</vt:lpstr>
      </vt:variant>
      <vt:variant>
        <vt:i4>11</vt:i4>
      </vt:variant>
      <vt:variant>
        <vt:lpstr>Motyw</vt:lpstr>
      </vt:variant>
      <vt:variant>
        <vt:i4>2</vt:i4>
      </vt:variant>
      <vt:variant>
        <vt:lpstr>Tytuły slajdów</vt:lpstr>
      </vt:variant>
      <vt:variant>
        <vt:i4>35</vt:i4>
      </vt:variant>
    </vt:vector>
  </HeadingPairs>
  <TitlesOfParts>
    <vt:vector size="48" baseType="lpstr">
      <vt:lpstr>Aptos</vt:lpstr>
      <vt:lpstr>Arial</vt:lpstr>
      <vt:lpstr>Calibri</vt:lpstr>
      <vt:lpstr>Calibri Light</vt:lpstr>
      <vt:lpstr>Courier New</vt:lpstr>
      <vt:lpstr>Google Sans</vt:lpstr>
      <vt:lpstr>Open Sans</vt:lpstr>
      <vt:lpstr>Open Sans Semibold</vt:lpstr>
      <vt:lpstr>Roboto</vt:lpstr>
      <vt:lpstr>Times New Roman</vt:lpstr>
      <vt:lpstr>Wingdings</vt:lpstr>
      <vt:lpstr>+ WZÓR prezentacja_podstawowa_ENG_16x9</vt:lpstr>
      <vt:lpstr>Kozminski University Prezentacja 2025_ 09</vt:lpstr>
      <vt:lpstr>Starting Business in Poland</vt:lpstr>
      <vt:lpstr>Authorisation to perform business activity</vt:lpstr>
      <vt:lpstr>License versus permission (permit)</vt:lpstr>
      <vt:lpstr>Types of business authorization</vt:lpstr>
      <vt:lpstr>Indirect forms of business authorization:  </vt:lpstr>
      <vt:lpstr>State monopoly</vt:lpstr>
      <vt:lpstr>PERMITS (examples)</vt:lpstr>
      <vt:lpstr>PERMITS (examples)</vt:lpstr>
      <vt:lpstr>PERMITS (examples)</vt:lpstr>
      <vt:lpstr>LICENSE: different models of a license</vt:lpstr>
      <vt:lpstr>License under the Polish law</vt:lpstr>
      <vt:lpstr>License under the Polish law</vt:lpstr>
      <vt:lpstr>License - examples</vt:lpstr>
      <vt:lpstr>License - examples</vt:lpstr>
      <vt:lpstr>License - examples</vt:lpstr>
      <vt:lpstr>License - examples</vt:lpstr>
      <vt:lpstr>Refusal to grant a license</vt:lpstr>
      <vt:lpstr>Notification (a variation of the permit system) </vt:lpstr>
      <vt:lpstr>Administrative promise [Polish: promesa]</vt:lpstr>
      <vt:lpstr>Unregistered Business Activity</vt:lpstr>
      <vt:lpstr>Benefits of an unregistered business activity</vt:lpstr>
      <vt:lpstr>Obligations in an unregistered business activity</vt:lpstr>
      <vt:lpstr>Registration</vt:lpstr>
      <vt:lpstr>Registration</vt:lpstr>
      <vt:lpstr>Registration</vt:lpstr>
      <vt:lpstr>Founding documents</vt:lpstr>
      <vt:lpstr>Founding documents - Articles of association? A statute?</vt:lpstr>
      <vt:lpstr>Founding documents - Articles of association? A statute?</vt:lpstr>
      <vt:lpstr>Minimum capital</vt:lpstr>
      <vt:lpstr>Mandatory governing bodies</vt:lpstr>
      <vt:lpstr>Mandatory governing bodies</vt:lpstr>
      <vt:lpstr>Separation between the owner and the business  </vt:lpstr>
      <vt:lpstr>Separation between the owner and the business </vt:lpstr>
      <vt:lpstr>Liability – who is liable for business obligations (1)</vt:lpstr>
      <vt:lpstr>Liability – who is liable for business’ obligations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Waldemar Hoff</dc:creator>
  <cp:lastModifiedBy>Waldemar Hoff</cp:lastModifiedBy>
  <cp:revision>18</cp:revision>
  <cp:lastPrinted>2024-12-18T14:35:44Z</cp:lastPrinted>
  <dcterms:created xsi:type="dcterms:W3CDTF">2024-12-07T09:13:35Z</dcterms:created>
  <dcterms:modified xsi:type="dcterms:W3CDTF">2026-01-26T21:37:18Z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0x0101005D0351C22CE7E441BEC9C9B4FA111FAA</vt:lpwstr>
  </property>
</Properties>
</file>